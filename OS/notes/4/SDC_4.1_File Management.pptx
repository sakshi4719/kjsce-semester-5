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xml" Extension="xml"/>
  <Default ContentType="image/png" Extension="png"/>
  <Default ContentType="application/vnd.openxmlformats-officedocument.wordprocessingml.document" Extension="docx"/>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wordprocessingml.document" PartName="/ppt/embeddings/Microsoft_Office_Word_Document2.docx"/>
  <Override ContentType="application/vnd.openxmlformats-officedocument.wordprocessingml.document" PartName="/ppt/embeddings/Microsoft_Office_Word_Document1.docx"/>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Lst>
  <p:sldSz cy="6858000" cx="9144000"/>
  <p:notesSz cx="6858000" cy="9144000"/>
  <p:embeddedFontLst>
    <p:embeddedFont>
      <p:font typeface="Lustria"/>
      <p:regular r:id="rId135"/>
    </p:embeddedFont>
    <p:embeddedFont>
      <p:font typeface="Cutive"/>
      <p:regular r:id="rId1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37" roundtripDataSignature="AMtx7mhE84+1sshY3t98UpplOauzDIgI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7" Type="http://customschemas.google.com/relationships/presentationmetadata" Target="metadata"/><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font" Target="fonts/Cutive-regular.fntdata"/><Relationship Id="rId135" Type="http://schemas.openxmlformats.org/officeDocument/2006/relationships/font" Target="fonts/Lustria-regular.fntdata"/><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5" name="Google Shape;22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latin typeface="Times New Roman"/>
                <a:ea typeface="Times New Roman"/>
                <a:cs typeface="Times New Roman"/>
                <a:sym typeface="Times New Roman"/>
              </a:rPr>
              <a:t>“Operating Systems: Internal and Design Principles”, 7/e, by William Stallings, Chapter 12 “File Management”.</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
        <p:nvSpPr>
          <p:cNvPr id="226" name="Google Shape;22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2" name="Google Shape;232;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From the user’s point of view, one of the most important parts of an operating</a:t>
            </a:r>
            <a:endParaRPr/>
          </a:p>
          <a:p>
            <a:pPr indent="0" lvl="0" marL="0" rtl="0" algn="l">
              <a:spcBef>
                <a:spcPts val="360"/>
              </a:spcBef>
              <a:spcAft>
                <a:spcPts val="0"/>
              </a:spcAft>
              <a:buNone/>
            </a:pPr>
            <a:r>
              <a:rPr lang="en-US"/>
              <a:t>system is the file system. The file system provides the resource abstractions typically</a:t>
            </a:r>
            <a:endParaRPr/>
          </a:p>
          <a:p>
            <a:pPr indent="0" lvl="0" marL="0" rtl="0" algn="l">
              <a:spcBef>
                <a:spcPts val="360"/>
              </a:spcBef>
              <a:spcAft>
                <a:spcPts val="0"/>
              </a:spcAft>
              <a:buNone/>
            </a:pPr>
            <a:r>
              <a:rPr lang="en-US"/>
              <a:t>associated with secondary storage. The file system permits users to create data</a:t>
            </a:r>
            <a:endParaRPr/>
          </a:p>
          <a:p>
            <a:pPr indent="0" lvl="0" marL="0" rtl="0" algn="l">
              <a:spcBef>
                <a:spcPts val="360"/>
              </a:spcBef>
              <a:spcAft>
                <a:spcPts val="0"/>
              </a:spcAft>
              <a:buNone/>
            </a:pPr>
            <a:r>
              <a:rPr lang="en-US"/>
              <a:t>collections, called files, with desirable properties, such as: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Long-term existence: Files are stored on disk or other secondary storage and</a:t>
            </a:r>
            <a:endParaRPr/>
          </a:p>
          <a:p>
            <a:pPr indent="0" lvl="0" marL="0" rtl="0" algn="l">
              <a:spcBef>
                <a:spcPts val="360"/>
              </a:spcBef>
              <a:spcAft>
                <a:spcPts val="0"/>
              </a:spcAft>
              <a:buNone/>
            </a:pPr>
            <a:r>
              <a:rPr lang="en-US"/>
              <a:t>do not disappear when a user logs off.</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Sharable between processes: Files have names and can have associated access</a:t>
            </a:r>
            <a:endParaRPr/>
          </a:p>
          <a:p>
            <a:pPr indent="0" lvl="0" marL="0" rtl="0" algn="l">
              <a:spcBef>
                <a:spcPts val="360"/>
              </a:spcBef>
              <a:spcAft>
                <a:spcPts val="0"/>
              </a:spcAft>
              <a:buNone/>
            </a:pPr>
            <a:r>
              <a:rPr lang="en-US"/>
              <a:t>permissions that permit controlled sharing.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Structure: Depending on the file system, a file can have an internal structure</a:t>
            </a:r>
            <a:endParaRPr/>
          </a:p>
          <a:p>
            <a:pPr indent="0" lvl="0" marL="0" rtl="0" algn="l">
              <a:spcBef>
                <a:spcPts val="360"/>
              </a:spcBef>
              <a:spcAft>
                <a:spcPts val="0"/>
              </a:spcAft>
              <a:buNone/>
            </a:pPr>
            <a:r>
              <a:rPr lang="en-US"/>
              <a:t>that is convenient for particular applications. In addition, files can be organized</a:t>
            </a:r>
            <a:endParaRPr/>
          </a:p>
          <a:p>
            <a:pPr indent="0" lvl="0" marL="0" rtl="0" algn="l">
              <a:spcBef>
                <a:spcPts val="360"/>
              </a:spcBef>
              <a:spcAft>
                <a:spcPts val="0"/>
              </a:spcAft>
              <a:buNone/>
            </a:pPr>
            <a:r>
              <a:rPr lang="en-US"/>
              <a:t>into hierarchical or more complex structure to reflect the relationships</a:t>
            </a:r>
            <a:endParaRPr/>
          </a:p>
          <a:p>
            <a:pPr indent="0" lvl="0" marL="0" rtl="0" algn="l">
              <a:spcBef>
                <a:spcPts val="360"/>
              </a:spcBef>
              <a:spcAft>
                <a:spcPts val="0"/>
              </a:spcAft>
              <a:buNone/>
            </a:pPr>
            <a:r>
              <a:rPr lang="en-US"/>
              <a:t>among files.</a:t>
            </a:r>
            <a:endParaRPr/>
          </a:p>
        </p:txBody>
      </p:sp>
      <p:sp>
        <p:nvSpPr>
          <p:cNvPr id="233" name="Google Shape;233;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9" name="Google Shape;239;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From the user’s point of view, one of the most important parts of an operating</a:t>
            </a:r>
            <a:endParaRPr/>
          </a:p>
          <a:p>
            <a:pPr indent="0" lvl="0" marL="0" rtl="0" algn="l">
              <a:spcBef>
                <a:spcPts val="360"/>
              </a:spcBef>
              <a:spcAft>
                <a:spcPts val="0"/>
              </a:spcAft>
              <a:buNone/>
            </a:pPr>
            <a:r>
              <a:rPr lang="en-US"/>
              <a:t>system is the file system. The file system provides the resource abstractions typically</a:t>
            </a:r>
            <a:endParaRPr/>
          </a:p>
          <a:p>
            <a:pPr indent="0" lvl="0" marL="0" rtl="0" algn="l">
              <a:spcBef>
                <a:spcPts val="360"/>
              </a:spcBef>
              <a:spcAft>
                <a:spcPts val="0"/>
              </a:spcAft>
              <a:buNone/>
            </a:pPr>
            <a:r>
              <a:rPr lang="en-US"/>
              <a:t>associated with secondary storage. The file system permits users to create data</a:t>
            </a:r>
            <a:endParaRPr/>
          </a:p>
          <a:p>
            <a:pPr indent="0" lvl="0" marL="0" rtl="0" algn="l">
              <a:spcBef>
                <a:spcPts val="360"/>
              </a:spcBef>
              <a:spcAft>
                <a:spcPts val="0"/>
              </a:spcAft>
              <a:buNone/>
            </a:pPr>
            <a:r>
              <a:rPr lang="en-US"/>
              <a:t>collections, called files, with desirable properties, such as: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Long-term existence: Files are stored on disk or other secondary storage and</a:t>
            </a:r>
            <a:endParaRPr/>
          </a:p>
          <a:p>
            <a:pPr indent="0" lvl="0" marL="0" rtl="0" algn="l">
              <a:spcBef>
                <a:spcPts val="360"/>
              </a:spcBef>
              <a:spcAft>
                <a:spcPts val="0"/>
              </a:spcAft>
              <a:buNone/>
            </a:pPr>
            <a:r>
              <a:rPr lang="en-US"/>
              <a:t>do not disappear when a user logs off.</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Sharable between processes: Files have names and can have associated access</a:t>
            </a:r>
            <a:endParaRPr/>
          </a:p>
          <a:p>
            <a:pPr indent="0" lvl="0" marL="0" rtl="0" algn="l">
              <a:spcBef>
                <a:spcPts val="360"/>
              </a:spcBef>
              <a:spcAft>
                <a:spcPts val="0"/>
              </a:spcAft>
              <a:buNone/>
            </a:pPr>
            <a:r>
              <a:rPr lang="en-US"/>
              <a:t>permissions that permit controlled sharing.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Structure: Depending on the file system, a file can have an internal structure</a:t>
            </a:r>
            <a:endParaRPr/>
          </a:p>
          <a:p>
            <a:pPr indent="0" lvl="0" marL="0" rtl="0" algn="l">
              <a:spcBef>
                <a:spcPts val="360"/>
              </a:spcBef>
              <a:spcAft>
                <a:spcPts val="0"/>
              </a:spcAft>
              <a:buNone/>
            </a:pPr>
            <a:r>
              <a:rPr lang="en-US"/>
              <a:t>that is convenient for particular applications. In addition, files can be organized</a:t>
            </a:r>
            <a:endParaRPr/>
          </a:p>
          <a:p>
            <a:pPr indent="0" lvl="0" marL="0" rtl="0" algn="l">
              <a:spcBef>
                <a:spcPts val="360"/>
              </a:spcBef>
              <a:spcAft>
                <a:spcPts val="0"/>
              </a:spcAft>
              <a:buNone/>
            </a:pPr>
            <a:r>
              <a:rPr lang="en-US"/>
              <a:t>into hierarchical or more complex structure to reflect the relationships</a:t>
            </a:r>
            <a:endParaRPr/>
          </a:p>
          <a:p>
            <a:pPr indent="0" lvl="0" marL="0" rtl="0" algn="l">
              <a:spcBef>
                <a:spcPts val="360"/>
              </a:spcBef>
              <a:spcAft>
                <a:spcPts val="0"/>
              </a:spcAft>
              <a:buNone/>
            </a:pPr>
            <a:r>
              <a:rPr lang="en-US"/>
              <a:t>among files.</a:t>
            </a:r>
            <a:endParaRPr/>
          </a:p>
        </p:txBody>
      </p:sp>
      <p:sp>
        <p:nvSpPr>
          <p:cNvPr id="240" name="Google Shape;240;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9" name="Google Shape;25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Any file system provides not only a means to store data organized as files, but</a:t>
            </a:r>
            <a:endParaRPr/>
          </a:p>
          <a:p>
            <a:pPr indent="0" lvl="0" marL="0" rtl="0" algn="l">
              <a:spcBef>
                <a:spcPts val="360"/>
              </a:spcBef>
              <a:spcAft>
                <a:spcPts val="0"/>
              </a:spcAft>
              <a:buNone/>
            </a:pPr>
            <a:r>
              <a:rPr lang="en-US"/>
              <a:t>a collection of functions that can be performed on files. Typical operations include</a:t>
            </a:r>
            <a:endParaRPr/>
          </a:p>
          <a:p>
            <a:pPr indent="0" lvl="0" marL="0" rtl="0" algn="l">
              <a:spcBef>
                <a:spcPts val="360"/>
              </a:spcBef>
              <a:spcAft>
                <a:spcPts val="0"/>
              </a:spcAft>
              <a:buNone/>
            </a:pPr>
            <a:r>
              <a:rPr lang="en-US"/>
              <a:t>the following: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Create: A new file is defined and positioned within the structure of files.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Delete: A file is removed from the file structure and destroyed.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Open: An existing file is declared to be “opened” by a process, allowing the</a:t>
            </a:r>
            <a:endParaRPr/>
          </a:p>
          <a:p>
            <a:pPr indent="0" lvl="0" marL="0" rtl="0" algn="l">
              <a:spcBef>
                <a:spcPts val="360"/>
              </a:spcBef>
              <a:spcAft>
                <a:spcPts val="0"/>
              </a:spcAft>
              <a:buNone/>
            </a:pPr>
            <a:r>
              <a:rPr lang="en-US"/>
              <a:t>process to perform functions on the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Close: The file is closed with respect to a process, so that the process no longer</a:t>
            </a:r>
            <a:endParaRPr/>
          </a:p>
          <a:p>
            <a:pPr indent="0" lvl="0" marL="0" rtl="0" algn="l">
              <a:spcBef>
                <a:spcPts val="360"/>
              </a:spcBef>
              <a:spcAft>
                <a:spcPts val="0"/>
              </a:spcAft>
              <a:buNone/>
            </a:pPr>
            <a:r>
              <a:rPr lang="en-US"/>
              <a:t>may perform functions on the file, until the process opens the file again.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Read: A process reads all or a portion of the data in a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Write: A process updates a file, either by adding new data that expands the</a:t>
            </a:r>
            <a:endParaRPr/>
          </a:p>
          <a:p>
            <a:pPr indent="0" lvl="0" marL="0" rtl="0" algn="l">
              <a:spcBef>
                <a:spcPts val="360"/>
              </a:spcBef>
              <a:spcAft>
                <a:spcPts val="0"/>
              </a:spcAft>
              <a:buNone/>
            </a:pPr>
            <a:r>
              <a:rPr lang="en-US"/>
              <a:t>size of the file or by changing the values of existing data items in the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Typically, a file system maintains a set of attributes associated with the file.</a:t>
            </a:r>
            <a:endParaRPr/>
          </a:p>
          <a:p>
            <a:pPr indent="0" lvl="0" marL="0" rtl="0" algn="l">
              <a:spcBef>
                <a:spcPts val="360"/>
              </a:spcBef>
              <a:spcAft>
                <a:spcPts val="0"/>
              </a:spcAft>
              <a:buNone/>
            </a:pPr>
            <a:r>
              <a:rPr lang="en-US"/>
              <a:t>These include owner, creation time, time last modified, access privileges, and so on.</a:t>
            </a:r>
            <a:endParaRPr/>
          </a:p>
        </p:txBody>
      </p:sp>
      <p:sp>
        <p:nvSpPr>
          <p:cNvPr id="260" name="Google Shape;260;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7" name="Google Shape;26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Four terms are in common use when discussing files: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Field</a:t>
            </a:r>
            <a:endParaRPr/>
          </a:p>
          <a:p>
            <a:pPr indent="0" lvl="0" marL="0" rtl="0" algn="l">
              <a:spcBef>
                <a:spcPts val="360"/>
              </a:spcBef>
              <a:spcAft>
                <a:spcPts val="0"/>
              </a:spcAft>
              <a:buNone/>
            </a:pPr>
            <a:r>
              <a:rPr lang="en-US"/>
              <a:t>• Record</a:t>
            </a:r>
            <a:endParaRPr/>
          </a:p>
          <a:p>
            <a:pPr indent="0" lvl="0" marL="0" rtl="0" algn="l">
              <a:spcBef>
                <a:spcPts val="360"/>
              </a:spcBef>
              <a:spcAft>
                <a:spcPts val="0"/>
              </a:spcAft>
              <a:buNone/>
            </a:pPr>
            <a:r>
              <a:rPr lang="en-US"/>
              <a:t>• File</a:t>
            </a:r>
            <a:endParaRPr/>
          </a:p>
          <a:p>
            <a:pPr indent="0" lvl="0" marL="0" rtl="0" algn="l">
              <a:spcBef>
                <a:spcPts val="360"/>
              </a:spcBef>
              <a:spcAft>
                <a:spcPts val="0"/>
              </a:spcAft>
              <a:buNone/>
            </a:pPr>
            <a:r>
              <a:rPr lang="en-US"/>
              <a:t>• Database</a:t>
            </a:r>
            <a:endParaRPr/>
          </a:p>
          <a:p>
            <a:pPr indent="0" lvl="0" marL="0" rtl="0" algn="l">
              <a:spcBef>
                <a:spcPts val="360"/>
              </a:spcBef>
              <a:spcAft>
                <a:spcPts val="0"/>
              </a:spcAft>
              <a:buNone/>
            </a:pPr>
            <a:r>
              <a:t/>
            </a:r>
            <a:endParaRPr/>
          </a:p>
        </p:txBody>
      </p:sp>
      <p:sp>
        <p:nvSpPr>
          <p:cNvPr id="268" name="Google Shape;268;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93" name="Google Shape;29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9" name="Google Shape;29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a:t>
            </a:r>
            <a:r>
              <a:rPr b="1" lang="en-US"/>
              <a:t>field is the basic element of data. An individual field contains a single value,</a:t>
            </a:r>
            <a:endParaRPr/>
          </a:p>
          <a:p>
            <a:pPr indent="0" lvl="0" marL="0" rtl="0" algn="l">
              <a:spcBef>
                <a:spcPts val="360"/>
              </a:spcBef>
              <a:spcAft>
                <a:spcPts val="0"/>
              </a:spcAft>
              <a:buNone/>
            </a:pPr>
            <a:r>
              <a:rPr lang="en-US"/>
              <a:t>such as an employee’s last name, a date, or the value of a sensor reading. It is characterized</a:t>
            </a:r>
            <a:endParaRPr/>
          </a:p>
          <a:p>
            <a:pPr indent="0" lvl="0" marL="0" rtl="0" algn="l">
              <a:spcBef>
                <a:spcPts val="360"/>
              </a:spcBef>
              <a:spcAft>
                <a:spcPts val="0"/>
              </a:spcAft>
              <a:buNone/>
            </a:pPr>
            <a:r>
              <a:rPr lang="en-US"/>
              <a:t>by its length and data type (e.g., ASCII string, decimal). Depending on the</a:t>
            </a:r>
            <a:endParaRPr/>
          </a:p>
          <a:p>
            <a:pPr indent="0" lvl="0" marL="0" rtl="0" algn="l">
              <a:spcBef>
                <a:spcPts val="360"/>
              </a:spcBef>
              <a:spcAft>
                <a:spcPts val="0"/>
              </a:spcAft>
              <a:buNone/>
            </a:pPr>
            <a:r>
              <a:rPr lang="en-US"/>
              <a:t>file design, fields may be fixed length or variable length. In the latter case, the field</a:t>
            </a:r>
            <a:endParaRPr/>
          </a:p>
          <a:p>
            <a:pPr indent="0" lvl="0" marL="0" rtl="0" algn="l">
              <a:spcBef>
                <a:spcPts val="360"/>
              </a:spcBef>
              <a:spcAft>
                <a:spcPts val="0"/>
              </a:spcAft>
              <a:buNone/>
            </a:pPr>
            <a:r>
              <a:rPr lang="en-US"/>
              <a:t>often consists of two or three subfields: the actual value to be stored, the name of</a:t>
            </a:r>
            <a:endParaRPr/>
          </a:p>
          <a:p>
            <a:pPr indent="0" lvl="0" marL="0" rtl="0" algn="l">
              <a:spcBef>
                <a:spcPts val="360"/>
              </a:spcBef>
              <a:spcAft>
                <a:spcPts val="0"/>
              </a:spcAft>
              <a:buNone/>
            </a:pPr>
            <a:r>
              <a:rPr lang="en-US"/>
              <a:t>the field, and, in some cases, the length of the field. In other cases of variable-length</a:t>
            </a:r>
            <a:endParaRPr/>
          </a:p>
          <a:p>
            <a:pPr indent="0" lvl="0" marL="0" rtl="0" algn="l">
              <a:spcBef>
                <a:spcPts val="360"/>
              </a:spcBef>
              <a:spcAft>
                <a:spcPts val="0"/>
              </a:spcAft>
              <a:buNone/>
            </a:pPr>
            <a:r>
              <a:rPr lang="en-US"/>
              <a:t>fields, the length of the field is indicated by the use of special demarcation symbols</a:t>
            </a:r>
            <a:endParaRPr/>
          </a:p>
          <a:p>
            <a:pPr indent="0" lvl="0" marL="0" rtl="0" algn="l">
              <a:spcBef>
                <a:spcPts val="360"/>
              </a:spcBef>
              <a:spcAft>
                <a:spcPts val="0"/>
              </a:spcAft>
              <a:buNone/>
            </a:pPr>
            <a:r>
              <a:rPr lang="en-US"/>
              <a:t>between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record is a collection of related fields that can be treated as a unit by some</a:t>
            </a:r>
            <a:endParaRPr/>
          </a:p>
          <a:p>
            <a:pPr indent="0" lvl="0" marL="0" rtl="0" algn="l">
              <a:spcBef>
                <a:spcPts val="360"/>
              </a:spcBef>
              <a:spcAft>
                <a:spcPts val="0"/>
              </a:spcAft>
              <a:buNone/>
            </a:pPr>
            <a:r>
              <a:rPr lang="en-US"/>
              <a:t>application program. For example, an employee record would contain such fields</a:t>
            </a:r>
            <a:endParaRPr/>
          </a:p>
          <a:p>
            <a:pPr indent="0" lvl="0" marL="0" rtl="0" algn="l">
              <a:spcBef>
                <a:spcPts val="360"/>
              </a:spcBef>
              <a:spcAft>
                <a:spcPts val="0"/>
              </a:spcAft>
              <a:buNone/>
            </a:pPr>
            <a:r>
              <a:rPr lang="en-US"/>
              <a:t>as name, social security number, job classification, date of hire, and so on. Again,</a:t>
            </a:r>
            <a:endParaRPr/>
          </a:p>
          <a:p>
            <a:pPr indent="0" lvl="0" marL="0" rtl="0" algn="l">
              <a:spcBef>
                <a:spcPts val="360"/>
              </a:spcBef>
              <a:spcAft>
                <a:spcPts val="0"/>
              </a:spcAft>
              <a:buNone/>
            </a:pPr>
            <a:r>
              <a:rPr lang="en-US"/>
              <a:t>depending on design, records may be of fixed length or variable length. A record</a:t>
            </a:r>
            <a:endParaRPr/>
          </a:p>
          <a:p>
            <a:pPr indent="0" lvl="0" marL="0" rtl="0" algn="l">
              <a:spcBef>
                <a:spcPts val="360"/>
              </a:spcBef>
              <a:spcAft>
                <a:spcPts val="0"/>
              </a:spcAft>
              <a:buNone/>
            </a:pPr>
            <a:r>
              <a:rPr lang="en-US"/>
              <a:t>will be of variable length if some of its fields are of variable length or if the number</a:t>
            </a:r>
            <a:endParaRPr/>
          </a:p>
          <a:p>
            <a:pPr indent="0" lvl="0" marL="0" rtl="0" algn="l">
              <a:spcBef>
                <a:spcPts val="360"/>
              </a:spcBef>
              <a:spcAft>
                <a:spcPts val="0"/>
              </a:spcAft>
              <a:buNone/>
            </a:pPr>
            <a:r>
              <a:rPr lang="en-US"/>
              <a:t>of fields may vary. In the latter case, each field is usually accompanied by a field</a:t>
            </a:r>
            <a:endParaRPr/>
          </a:p>
          <a:p>
            <a:pPr indent="0" lvl="0" marL="0" rtl="0" algn="l">
              <a:spcBef>
                <a:spcPts val="360"/>
              </a:spcBef>
              <a:spcAft>
                <a:spcPts val="0"/>
              </a:spcAft>
              <a:buNone/>
            </a:pPr>
            <a:r>
              <a:rPr lang="en-US"/>
              <a:t>name. In either case, the entire record usually includes a length field.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file is a collection of similar records. The file is treated as a single entity by</a:t>
            </a:r>
            <a:endParaRPr/>
          </a:p>
          <a:p>
            <a:pPr indent="0" lvl="0" marL="0" rtl="0" algn="l">
              <a:spcBef>
                <a:spcPts val="360"/>
              </a:spcBef>
              <a:spcAft>
                <a:spcPts val="0"/>
              </a:spcAft>
              <a:buNone/>
            </a:pPr>
            <a:r>
              <a:rPr lang="en-US"/>
              <a:t>users and applications and may be referenced by name. Files have file names and</a:t>
            </a:r>
            <a:endParaRPr/>
          </a:p>
          <a:p>
            <a:pPr indent="0" lvl="0" marL="0" rtl="0" algn="l">
              <a:spcBef>
                <a:spcPts val="360"/>
              </a:spcBef>
              <a:spcAft>
                <a:spcPts val="0"/>
              </a:spcAft>
              <a:buNone/>
            </a:pPr>
            <a:r>
              <a:rPr lang="en-US"/>
              <a:t>may be created and deleted. Access control restrictions usually apply at the file</a:t>
            </a:r>
            <a:endParaRPr/>
          </a:p>
          <a:p>
            <a:pPr indent="0" lvl="0" marL="0" rtl="0" algn="l">
              <a:spcBef>
                <a:spcPts val="360"/>
              </a:spcBef>
              <a:spcAft>
                <a:spcPts val="0"/>
              </a:spcAft>
              <a:buNone/>
            </a:pPr>
            <a:r>
              <a:rPr lang="en-US"/>
              <a:t>level. That is, in a shared system, users and programs are granted or denied access</a:t>
            </a:r>
            <a:endParaRPr/>
          </a:p>
          <a:p>
            <a:pPr indent="0" lvl="0" marL="0" rtl="0" algn="l">
              <a:spcBef>
                <a:spcPts val="360"/>
              </a:spcBef>
              <a:spcAft>
                <a:spcPts val="0"/>
              </a:spcAft>
              <a:buNone/>
            </a:pPr>
            <a:r>
              <a:rPr lang="en-US"/>
              <a:t>to entire files. In some more sophisticated systems, such controls are enforced at the</a:t>
            </a:r>
            <a:endParaRPr/>
          </a:p>
          <a:p>
            <a:pPr indent="0" lvl="0" marL="0" rtl="0" algn="l">
              <a:spcBef>
                <a:spcPts val="360"/>
              </a:spcBef>
              <a:spcAft>
                <a:spcPts val="0"/>
              </a:spcAft>
              <a:buNone/>
            </a:pPr>
            <a:r>
              <a:rPr lang="en-US"/>
              <a:t>record or even the field level.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Some file systems are structured only in terms of fields, not records. In that</a:t>
            </a:r>
            <a:endParaRPr/>
          </a:p>
          <a:p>
            <a:pPr indent="0" lvl="0" marL="0" rtl="0" algn="l">
              <a:spcBef>
                <a:spcPts val="360"/>
              </a:spcBef>
              <a:spcAft>
                <a:spcPts val="0"/>
              </a:spcAft>
              <a:buNone/>
            </a:pPr>
            <a:r>
              <a:rPr lang="en-US"/>
              <a:t>case, a file is a collection of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database is a collection of related data. The essential aspects of a database</a:t>
            </a:r>
            <a:endParaRPr/>
          </a:p>
          <a:p>
            <a:pPr indent="0" lvl="0" marL="0" rtl="0" algn="l">
              <a:spcBef>
                <a:spcPts val="360"/>
              </a:spcBef>
              <a:spcAft>
                <a:spcPts val="0"/>
              </a:spcAft>
              <a:buNone/>
            </a:pPr>
            <a:r>
              <a:rPr lang="en-US"/>
              <a:t>are that the relationships that exist among elements of data are explicit and that the</a:t>
            </a:r>
            <a:endParaRPr/>
          </a:p>
          <a:p>
            <a:pPr indent="0" lvl="0" marL="0" rtl="0" algn="l">
              <a:spcBef>
                <a:spcPts val="360"/>
              </a:spcBef>
              <a:spcAft>
                <a:spcPts val="0"/>
              </a:spcAft>
              <a:buNone/>
            </a:pPr>
            <a:r>
              <a:rPr lang="en-US"/>
              <a:t>database is designed for use by a number of different applications. A database may</a:t>
            </a:r>
            <a:endParaRPr/>
          </a:p>
          <a:p>
            <a:pPr indent="0" lvl="0" marL="0" rtl="0" algn="l">
              <a:spcBef>
                <a:spcPts val="360"/>
              </a:spcBef>
              <a:spcAft>
                <a:spcPts val="0"/>
              </a:spcAft>
              <a:buNone/>
            </a:pPr>
            <a:r>
              <a:rPr lang="en-US"/>
              <a:t>contain all of the information related to an organization or project, such as a business</a:t>
            </a:r>
            <a:endParaRPr/>
          </a:p>
          <a:p>
            <a:pPr indent="0" lvl="0" marL="0" rtl="0" algn="l">
              <a:spcBef>
                <a:spcPts val="360"/>
              </a:spcBef>
              <a:spcAft>
                <a:spcPts val="0"/>
              </a:spcAft>
              <a:buNone/>
            </a:pPr>
            <a:r>
              <a:rPr lang="en-US"/>
              <a:t>or a scientific study. The database itself consists of one or more types of files. Usually,</a:t>
            </a:r>
            <a:endParaRPr/>
          </a:p>
          <a:p>
            <a:pPr indent="0" lvl="0" marL="0" rtl="0" algn="l">
              <a:spcBef>
                <a:spcPts val="360"/>
              </a:spcBef>
              <a:spcAft>
                <a:spcPts val="0"/>
              </a:spcAft>
              <a:buNone/>
            </a:pPr>
            <a:r>
              <a:rPr lang="en-US"/>
              <a:t>there is a separate database management system that is independent of the operating</a:t>
            </a:r>
            <a:endParaRPr/>
          </a:p>
          <a:p>
            <a:pPr indent="0" lvl="0" marL="0" rtl="0" algn="l">
              <a:spcBef>
                <a:spcPts val="360"/>
              </a:spcBef>
              <a:spcAft>
                <a:spcPts val="0"/>
              </a:spcAft>
              <a:buNone/>
            </a:pPr>
            <a:r>
              <a:rPr lang="en-US"/>
              <a:t>system, although that system may make use of some file management programs.</a:t>
            </a:r>
            <a:endParaRPr/>
          </a:p>
          <a:p>
            <a:pPr indent="0" lvl="0" marL="0" rtl="0" algn="l">
              <a:spcBef>
                <a:spcPts val="360"/>
              </a:spcBef>
              <a:spcAft>
                <a:spcPts val="0"/>
              </a:spcAft>
              <a:buNone/>
            </a:pPr>
            <a:r>
              <a:t/>
            </a:r>
            <a:endParaRPr/>
          </a:p>
        </p:txBody>
      </p:sp>
      <p:sp>
        <p:nvSpPr>
          <p:cNvPr id="300" name="Google Shape;300;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7" name="Google Shape;30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a:t>
            </a:r>
            <a:r>
              <a:rPr b="1" lang="en-US"/>
              <a:t>field is the basic element of data. An individual field contains a single value,</a:t>
            </a:r>
            <a:endParaRPr/>
          </a:p>
          <a:p>
            <a:pPr indent="0" lvl="0" marL="0" rtl="0" algn="l">
              <a:spcBef>
                <a:spcPts val="360"/>
              </a:spcBef>
              <a:spcAft>
                <a:spcPts val="0"/>
              </a:spcAft>
              <a:buNone/>
            </a:pPr>
            <a:r>
              <a:rPr lang="en-US"/>
              <a:t>such as an employee’s last name, a date, or the value of a sensor reading. It is characterized</a:t>
            </a:r>
            <a:endParaRPr/>
          </a:p>
          <a:p>
            <a:pPr indent="0" lvl="0" marL="0" rtl="0" algn="l">
              <a:spcBef>
                <a:spcPts val="360"/>
              </a:spcBef>
              <a:spcAft>
                <a:spcPts val="0"/>
              </a:spcAft>
              <a:buNone/>
            </a:pPr>
            <a:r>
              <a:rPr lang="en-US"/>
              <a:t>by its length and data type (e.g., ASCII string, decimal). Depending on the</a:t>
            </a:r>
            <a:endParaRPr/>
          </a:p>
          <a:p>
            <a:pPr indent="0" lvl="0" marL="0" rtl="0" algn="l">
              <a:spcBef>
                <a:spcPts val="360"/>
              </a:spcBef>
              <a:spcAft>
                <a:spcPts val="0"/>
              </a:spcAft>
              <a:buNone/>
            </a:pPr>
            <a:r>
              <a:rPr lang="en-US"/>
              <a:t>file design, fields may be fixed length or variable length. In the latter case, the field</a:t>
            </a:r>
            <a:endParaRPr/>
          </a:p>
          <a:p>
            <a:pPr indent="0" lvl="0" marL="0" rtl="0" algn="l">
              <a:spcBef>
                <a:spcPts val="360"/>
              </a:spcBef>
              <a:spcAft>
                <a:spcPts val="0"/>
              </a:spcAft>
              <a:buNone/>
            </a:pPr>
            <a:r>
              <a:rPr lang="en-US"/>
              <a:t>often consists of two or three subfields: the actual value to be stored, the name of</a:t>
            </a:r>
            <a:endParaRPr/>
          </a:p>
          <a:p>
            <a:pPr indent="0" lvl="0" marL="0" rtl="0" algn="l">
              <a:spcBef>
                <a:spcPts val="360"/>
              </a:spcBef>
              <a:spcAft>
                <a:spcPts val="0"/>
              </a:spcAft>
              <a:buNone/>
            </a:pPr>
            <a:r>
              <a:rPr lang="en-US"/>
              <a:t>the field, and, in some cases, the length of the field. In other cases of variable-length</a:t>
            </a:r>
            <a:endParaRPr/>
          </a:p>
          <a:p>
            <a:pPr indent="0" lvl="0" marL="0" rtl="0" algn="l">
              <a:spcBef>
                <a:spcPts val="360"/>
              </a:spcBef>
              <a:spcAft>
                <a:spcPts val="0"/>
              </a:spcAft>
              <a:buNone/>
            </a:pPr>
            <a:r>
              <a:rPr lang="en-US"/>
              <a:t>fields, the length of the field is indicated by the use of special demarcation symbols</a:t>
            </a:r>
            <a:endParaRPr/>
          </a:p>
          <a:p>
            <a:pPr indent="0" lvl="0" marL="0" rtl="0" algn="l">
              <a:spcBef>
                <a:spcPts val="360"/>
              </a:spcBef>
              <a:spcAft>
                <a:spcPts val="0"/>
              </a:spcAft>
              <a:buNone/>
            </a:pPr>
            <a:r>
              <a:rPr lang="en-US"/>
              <a:t>between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record is a collection of related fields that can be treated as a unit by some</a:t>
            </a:r>
            <a:endParaRPr/>
          </a:p>
          <a:p>
            <a:pPr indent="0" lvl="0" marL="0" rtl="0" algn="l">
              <a:spcBef>
                <a:spcPts val="360"/>
              </a:spcBef>
              <a:spcAft>
                <a:spcPts val="0"/>
              </a:spcAft>
              <a:buNone/>
            </a:pPr>
            <a:r>
              <a:rPr lang="en-US"/>
              <a:t>application program. For example, an employee record would contain such fields</a:t>
            </a:r>
            <a:endParaRPr/>
          </a:p>
          <a:p>
            <a:pPr indent="0" lvl="0" marL="0" rtl="0" algn="l">
              <a:spcBef>
                <a:spcPts val="360"/>
              </a:spcBef>
              <a:spcAft>
                <a:spcPts val="0"/>
              </a:spcAft>
              <a:buNone/>
            </a:pPr>
            <a:r>
              <a:rPr lang="en-US"/>
              <a:t>as name, social security number, job classification, date of hire, and so on. Again,</a:t>
            </a:r>
            <a:endParaRPr/>
          </a:p>
          <a:p>
            <a:pPr indent="0" lvl="0" marL="0" rtl="0" algn="l">
              <a:spcBef>
                <a:spcPts val="360"/>
              </a:spcBef>
              <a:spcAft>
                <a:spcPts val="0"/>
              </a:spcAft>
              <a:buNone/>
            </a:pPr>
            <a:r>
              <a:rPr lang="en-US"/>
              <a:t>depending on design, records may be of fixed length or variable length. A record</a:t>
            </a:r>
            <a:endParaRPr/>
          </a:p>
          <a:p>
            <a:pPr indent="0" lvl="0" marL="0" rtl="0" algn="l">
              <a:spcBef>
                <a:spcPts val="360"/>
              </a:spcBef>
              <a:spcAft>
                <a:spcPts val="0"/>
              </a:spcAft>
              <a:buNone/>
            </a:pPr>
            <a:r>
              <a:rPr lang="en-US"/>
              <a:t>will be of variable length if some of its fields are of variable length or if the number</a:t>
            </a:r>
            <a:endParaRPr/>
          </a:p>
          <a:p>
            <a:pPr indent="0" lvl="0" marL="0" rtl="0" algn="l">
              <a:spcBef>
                <a:spcPts val="360"/>
              </a:spcBef>
              <a:spcAft>
                <a:spcPts val="0"/>
              </a:spcAft>
              <a:buNone/>
            </a:pPr>
            <a:r>
              <a:rPr lang="en-US"/>
              <a:t>of fields may vary. In the latter case, each field is usually accompanied by a field</a:t>
            </a:r>
            <a:endParaRPr/>
          </a:p>
          <a:p>
            <a:pPr indent="0" lvl="0" marL="0" rtl="0" algn="l">
              <a:spcBef>
                <a:spcPts val="360"/>
              </a:spcBef>
              <a:spcAft>
                <a:spcPts val="0"/>
              </a:spcAft>
              <a:buNone/>
            </a:pPr>
            <a:r>
              <a:rPr lang="en-US"/>
              <a:t>name. In either case, the entire record usually includes a length field.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file is a collection of similar records. The file is treated as a single entity by</a:t>
            </a:r>
            <a:endParaRPr/>
          </a:p>
          <a:p>
            <a:pPr indent="0" lvl="0" marL="0" rtl="0" algn="l">
              <a:spcBef>
                <a:spcPts val="360"/>
              </a:spcBef>
              <a:spcAft>
                <a:spcPts val="0"/>
              </a:spcAft>
              <a:buNone/>
            </a:pPr>
            <a:r>
              <a:rPr lang="en-US"/>
              <a:t>users and applications and may be referenced by name. Files have file names and</a:t>
            </a:r>
            <a:endParaRPr/>
          </a:p>
          <a:p>
            <a:pPr indent="0" lvl="0" marL="0" rtl="0" algn="l">
              <a:spcBef>
                <a:spcPts val="360"/>
              </a:spcBef>
              <a:spcAft>
                <a:spcPts val="0"/>
              </a:spcAft>
              <a:buNone/>
            </a:pPr>
            <a:r>
              <a:rPr lang="en-US"/>
              <a:t>may be created and deleted. Access control restrictions usually apply at the file</a:t>
            </a:r>
            <a:endParaRPr/>
          </a:p>
          <a:p>
            <a:pPr indent="0" lvl="0" marL="0" rtl="0" algn="l">
              <a:spcBef>
                <a:spcPts val="360"/>
              </a:spcBef>
              <a:spcAft>
                <a:spcPts val="0"/>
              </a:spcAft>
              <a:buNone/>
            </a:pPr>
            <a:r>
              <a:rPr lang="en-US"/>
              <a:t>level. That is, in a shared system, users and programs are granted or denied access</a:t>
            </a:r>
            <a:endParaRPr/>
          </a:p>
          <a:p>
            <a:pPr indent="0" lvl="0" marL="0" rtl="0" algn="l">
              <a:spcBef>
                <a:spcPts val="360"/>
              </a:spcBef>
              <a:spcAft>
                <a:spcPts val="0"/>
              </a:spcAft>
              <a:buNone/>
            </a:pPr>
            <a:r>
              <a:rPr lang="en-US"/>
              <a:t>to entire files. In some more sophisticated systems, such controls are enforced at the</a:t>
            </a:r>
            <a:endParaRPr/>
          </a:p>
          <a:p>
            <a:pPr indent="0" lvl="0" marL="0" rtl="0" algn="l">
              <a:spcBef>
                <a:spcPts val="360"/>
              </a:spcBef>
              <a:spcAft>
                <a:spcPts val="0"/>
              </a:spcAft>
              <a:buNone/>
            </a:pPr>
            <a:r>
              <a:rPr lang="en-US"/>
              <a:t>record or even the field level.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Some file systems are structured only in terms of fields, not records. In that</a:t>
            </a:r>
            <a:endParaRPr/>
          </a:p>
          <a:p>
            <a:pPr indent="0" lvl="0" marL="0" rtl="0" algn="l">
              <a:spcBef>
                <a:spcPts val="360"/>
              </a:spcBef>
              <a:spcAft>
                <a:spcPts val="0"/>
              </a:spcAft>
              <a:buNone/>
            </a:pPr>
            <a:r>
              <a:rPr lang="en-US"/>
              <a:t>case, a file is a collection of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database is a collection of related data. The essential aspects of a database</a:t>
            </a:r>
            <a:endParaRPr/>
          </a:p>
          <a:p>
            <a:pPr indent="0" lvl="0" marL="0" rtl="0" algn="l">
              <a:spcBef>
                <a:spcPts val="360"/>
              </a:spcBef>
              <a:spcAft>
                <a:spcPts val="0"/>
              </a:spcAft>
              <a:buNone/>
            </a:pPr>
            <a:r>
              <a:rPr lang="en-US"/>
              <a:t>are that the relationships that exist among elements of data are explicit and that the</a:t>
            </a:r>
            <a:endParaRPr/>
          </a:p>
          <a:p>
            <a:pPr indent="0" lvl="0" marL="0" rtl="0" algn="l">
              <a:spcBef>
                <a:spcPts val="360"/>
              </a:spcBef>
              <a:spcAft>
                <a:spcPts val="0"/>
              </a:spcAft>
              <a:buNone/>
            </a:pPr>
            <a:r>
              <a:rPr lang="en-US"/>
              <a:t>database is designed for use by a number of different applications. A database may</a:t>
            </a:r>
            <a:endParaRPr/>
          </a:p>
          <a:p>
            <a:pPr indent="0" lvl="0" marL="0" rtl="0" algn="l">
              <a:spcBef>
                <a:spcPts val="360"/>
              </a:spcBef>
              <a:spcAft>
                <a:spcPts val="0"/>
              </a:spcAft>
              <a:buNone/>
            </a:pPr>
            <a:r>
              <a:rPr lang="en-US"/>
              <a:t>contain all of the information related to an organization or project, such as a business</a:t>
            </a:r>
            <a:endParaRPr/>
          </a:p>
          <a:p>
            <a:pPr indent="0" lvl="0" marL="0" rtl="0" algn="l">
              <a:spcBef>
                <a:spcPts val="360"/>
              </a:spcBef>
              <a:spcAft>
                <a:spcPts val="0"/>
              </a:spcAft>
              <a:buNone/>
            </a:pPr>
            <a:r>
              <a:rPr lang="en-US"/>
              <a:t>or a scientific study. The database itself consists of one or more types of files. Usually,</a:t>
            </a:r>
            <a:endParaRPr/>
          </a:p>
          <a:p>
            <a:pPr indent="0" lvl="0" marL="0" rtl="0" algn="l">
              <a:spcBef>
                <a:spcPts val="360"/>
              </a:spcBef>
              <a:spcAft>
                <a:spcPts val="0"/>
              </a:spcAft>
              <a:buNone/>
            </a:pPr>
            <a:r>
              <a:rPr lang="en-US"/>
              <a:t>there is a separate database management system that is independent of the operating</a:t>
            </a:r>
            <a:endParaRPr/>
          </a:p>
          <a:p>
            <a:pPr indent="0" lvl="0" marL="0" rtl="0" algn="l">
              <a:spcBef>
                <a:spcPts val="360"/>
              </a:spcBef>
              <a:spcAft>
                <a:spcPts val="0"/>
              </a:spcAft>
              <a:buNone/>
            </a:pPr>
            <a:r>
              <a:rPr lang="en-US"/>
              <a:t>system, although that system may make use of some file management programs.</a:t>
            </a:r>
            <a:endParaRPr/>
          </a:p>
          <a:p>
            <a:pPr indent="0" lvl="0" marL="0" rtl="0" algn="l">
              <a:spcBef>
                <a:spcPts val="360"/>
              </a:spcBef>
              <a:spcAft>
                <a:spcPts val="0"/>
              </a:spcAft>
              <a:buNone/>
            </a:pPr>
            <a:r>
              <a:t/>
            </a:r>
            <a:endParaRPr/>
          </a:p>
        </p:txBody>
      </p:sp>
      <p:sp>
        <p:nvSpPr>
          <p:cNvPr id="308" name="Google Shape;308;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5" name="Google Shape;31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a:t>
            </a:r>
            <a:r>
              <a:rPr b="1" lang="en-US"/>
              <a:t>field is the basic element of data. An individual field contains a single value,</a:t>
            </a:r>
            <a:endParaRPr/>
          </a:p>
          <a:p>
            <a:pPr indent="0" lvl="0" marL="0" rtl="0" algn="l">
              <a:spcBef>
                <a:spcPts val="360"/>
              </a:spcBef>
              <a:spcAft>
                <a:spcPts val="0"/>
              </a:spcAft>
              <a:buNone/>
            </a:pPr>
            <a:r>
              <a:rPr lang="en-US"/>
              <a:t>such as an employee’s last name, a date, or the value of a sensor reading. It is characterized</a:t>
            </a:r>
            <a:endParaRPr/>
          </a:p>
          <a:p>
            <a:pPr indent="0" lvl="0" marL="0" rtl="0" algn="l">
              <a:spcBef>
                <a:spcPts val="360"/>
              </a:spcBef>
              <a:spcAft>
                <a:spcPts val="0"/>
              </a:spcAft>
              <a:buNone/>
            </a:pPr>
            <a:r>
              <a:rPr lang="en-US"/>
              <a:t>by its length and data type (e.g., ASCII string, decimal). Depending on the</a:t>
            </a:r>
            <a:endParaRPr/>
          </a:p>
          <a:p>
            <a:pPr indent="0" lvl="0" marL="0" rtl="0" algn="l">
              <a:spcBef>
                <a:spcPts val="360"/>
              </a:spcBef>
              <a:spcAft>
                <a:spcPts val="0"/>
              </a:spcAft>
              <a:buNone/>
            </a:pPr>
            <a:r>
              <a:rPr lang="en-US"/>
              <a:t>file design, fields may be fixed length or variable length. In the latter case, the field</a:t>
            </a:r>
            <a:endParaRPr/>
          </a:p>
          <a:p>
            <a:pPr indent="0" lvl="0" marL="0" rtl="0" algn="l">
              <a:spcBef>
                <a:spcPts val="360"/>
              </a:spcBef>
              <a:spcAft>
                <a:spcPts val="0"/>
              </a:spcAft>
              <a:buNone/>
            </a:pPr>
            <a:r>
              <a:rPr lang="en-US"/>
              <a:t>often consists of two or three subfields: the actual value to be stored, the name of</a:t>
            </a:r>
            <a:endParaRPr/>
          </a:p>
          <a:p>
            <a:pPr indent="0" lvl="0" marL="0" rtl="0" algn="l">
              <a:spcBef>
                <a:spcPts val="360"/>
              </a:spcBef>
              <a:spcAft>
                <a:spcPts val="0"/>
              </a:spcAft>
              <a:buNone/>
            </a:pPr>
            <a:r>
              <a:rPr lang="en-US"/>
              <a:t>the field, and, in some cases, the length of the field. In other cases of variable-length</a:t>
            </a:r>
            <a:endParaRPr/>
          </a:p>
          <a:p>
            <a:pPr indent="0" lvl="0" marL="0" rtl="0" algn="l">
              <a:spcBef>
                <a:spcPts val="360"/>
              </a:spcBef>
              <a:spcAft>
                <a:spcPts val="0"/>
              </a:spcAft>
              <a:buNone/>
            </a:pPr>
            <a:r>
              <a:rPr lang="en-US"/>
              <a:t>fields, the length of the field is indicated by the use of special demarcation symbols</a:t>
            </a:r>
            <a:endParaRPr/>
          </a:p>
          <a:p>
            <a:pPr indent="0" lvl="0" marL="0" rtl="0" algn="l">
              <a:spcBef>
                <a:spcPts val="360"/>
              </a:spcBef>
              <a:spcAft>
                <a:spcPts val="0"/>
              </a:spcAft>
              <a:buNone/>
            </a:pPr>
            <a:r>
              <a:rPr lang="en-US"/>
              <a:t>between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record is a collection of related fields that can be treated as a unit by some</a:t>
            </a:r>
            <a:endParaRPr/>
          </a:p>
          <a:p>
            <a:pPr indent="0" lvl="0" marL="0" rtl="0" algn="l">
              <a:spcBef>
                <a:spcPts val="360"/>
              </a:spcBef>
              <a:spcAft>
                <a:spcPts val="0"/>
              </a:spcAft>
              <a:buNone/>
            </a:pPr>
            <a:r>
              <a:rPr lang="en-US"/>
              <a:t>application program. For example, an employee record would contain such fields</a:t>
            </a:r>
            <a:endParaRPr/>
          </a:p>
          <a:p>
            <a:pPr indent="0" lvl="0" marL="0" rtl="0" algn="l">
              <a:spcBef>
                <a:spcPts val="360"/>
              </a:spcBef>
              <a:spcAft>
                <a:spcPts val="0"/>
              </a:spcAft>
              <a:buNone/>
            </a:pPr>
            <a:r>
              <a:rPr lang="en-US"/>
              <a:t>as name, social security number, job classification, date of hire, and so on. Again,</a:t>
            </a:r>
            <a:endParaRPr/>
          </a:p>
          <a:p>
            <a:pPr indent="0" lvl="0" marL="0" rtl="0" algn="l">
              <a:spcBef>
                <a:spcPts val="360"/>
              </a:spcBef>
              <a:spcAft>
                <a:spcPts val="0"/>
              </a:spcAft>
              <a:buNone/>
            </a:pPr>
            <a:r>
              <a:rPr lang="en-US"/>
              <a:t>depending on design, records may be of fixed length or variable length. A record</a:t>
            </a:r>
            <a:endParaRPr/>
          </a:p>
          <a:p>
            <a:pPr indent="0" lvl="0" marL="0" rtl="0" algn="l">
              <a:spcBef>
                <a:spcPts val="360"/>
              </a:spcBef>
              <a:spcAft>
                <a:spcPts val="0"/>
              </a:spcAft>
              <a:buNone/>
            </a:pPr>
            <a:r>
              <a:rPr lang="en-US"/>
              <a:t>will be of variable length if some of its fields are of variable length or if the number</a:t>
            </a:r>
            <a:endParaRPr/>
          </a:p>
          <a:p>
            <a:pPr indent="0" lvl="0" marL="0" rtl="0" algn="l">
              <a:spcBef>
                <a:spcPts val="360"/>
              </a:spcBef>
              <a:spcAft>
                <a:spcPts val="0"/>
              </a:spcAft>
              <a:buNone/>
            </a:pPr>
            <a:r>
              <a:rPr lang="en-US"/>
              <a:t>of fields may vary. In the latter case, each field is usually accompanied by a field</a:t>
            </a:r>
            <a:endParaRPr/>
          </a:p>
          <a:p>
            <a:pPr indent="0" lvl="0" marL="0" rtl="0" algn="l">
              <a:spcBef>
                <a:spcPts val="360"/>
              </a:spcBef>
              <a:spcAft>
                <a:spcPts val="0"/>
              </a:spcAft>
              <a:buNone/>
            </a:pPr>
            <a:r>
              <a:rPr lang="en-US"/>
              <a:t>name. In either case, the entire record usually includes a length field.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file is a collection of similar records. The file is treated as a single entity by</a:t>
            </a:r>
            <a:endParaRPr/>
          </a:p>
          <a:p>
            <a:pPr indent="0" lvl="0" marL="0" rtl="0" algn="l">
              <a:spcBef>
                <a:spcPts val="360"/>
              </a:spcBef>
              <a:spcAft>
                <a:spcPts val="0"/>
              </a:spcAft>
              <a:buNone/>
            </a:pPr>
            <a:r>
              <a:rPr lang="en-US"/>
              <a:t>users and applications and may be referenced by name. Files have file names and</a:t>
            </a:r>
            <a:endParaRPr/>
          </a:p>
          <a:p>
            <a:pPr indent="0" lvl="0" marL="0" rtl="0" algn="l">
              <a:spcBef>
                <a:spcPts val="360"/>
              </a:spcBef>
              <a:spcAft>
                <a:spcPts val="0"/>
              </a:spcAft>
              <a:buNone/>
            </a:pPr>
            <a:r>
              <a:rPr lang="en-US"/>
              <a:t>may be created and deleted. Access control restrictions usually apply at the file</a:t>
            </a:r>
            <a:endParaRPr/>
          </a:p>
          <a:p>
            <a:pPr indent="0" lvl="0" marL="0" rtl="0" algn="l">
              <a:spcBef>
                <a:spcPts val="360"/>
              </a:spcBef>
              <a:spcAft>
                <a:spcPts val="0"/>
              </a:spcAft>
              <a:buNone/>
            </a:pPr>
            <a:r>
              <a:rPr lang="en-US"/>
              <a:t>level. That is, in a shared system, users and programs are granted or denied access</a:t>
            </a:r>
            <a:endParaRPr/>
          </a:p>
          <a:p>
            <a:pPr indent="0" lvl="0" marL="0" rtl="0" algn="l">
              <a:spcBef>
                <a:spcPts val="360"/>
              </a:spcBef>
              <a:spcAft>
                <a:spcPts val="0"/>
              </a:spcAft>
              <a:buNone/>
            </a:pPr>
            <a:r>
              <a:rPr lang="en-US"/>
              <a:t>to entire files. In some more sophisticated systems, such controls are enforced at the</a:t>
            </a:r>
            <a:endParaRPr/>
          </a:p>
          <a:p>
            <a:pPr indent="0" lvl="0" marL="0" rtl="0" algn="l">
              <a:spcBef>
                <a:spcPts val="360"/>
              </a:spcBef>
              <a:spcAft>
                <a:spcPts val="0"/>
              </a:spcAft>
              <a:buNone/>
            </a:pPr>
            <a:r>
              <a:rPr lang="en-US"/>
              <a:t>record or even the field level.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Some file systems are structured only in terms of fields, not records. In that</a:t>
            </a:r>
            <a:endParaRPr/>
          </a:p>
          <a:p>
            <a:pPr indent="0" lvl="0" marL="0" rtl="0" algn="l">
              <a:spcBef>
                <a:spcPts val="360"/>
              </a:spcBef>
              <a:spcAft>
                <a:spcPts val="0"/>
              </a:spcAft>
              <a:buNone/>
            </a:pPr>
            <a:r>
              <a:rPr lang="en-US"/>
              <a:t>case, a file is a collection of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database is a collection of related data. The essential aspects of a database</a:t>
            </a:r>
            <a:endParaRPr/>
          </a:p>
          <a:p>
            <a:pPr indent="0" lvl="0" marL="0" rtl="0" algn="l">
              <a:spcBef>
                <a:spcPts val="360"/>
              </a:spcBef>
              <a:spcAft>
                <a:spcPts val="0"/>
              </a:spcAft>
              <a:buNone/>
            </a:pPr>
            <a:r>
              <a:rPr lang="en-US"/>
              <a:t>are that the relationships that exist among elements of data are explicit and that the</a:t>
            </a:r>
            <a:endParaRPr/>
          </a:p>
          <a:p>
            <a:pPr indent="0" lvl="0" marL="0" rtl="0" algn="l">
              <a:spcBef>
                <a:spcPts val="360"/>
              </a:spcBef>
              <a:spcAft>
                <a:spcPts val="0"/>
              </a:spcAft>
              <a:buNone/>
            </a:pPr>
            <a:r>
              <a:rPr lang="en-US"/>
              <a:t>database is designed for use by a number of different applications. A database may</a:t>
            </a:r>
            <a:endParaRPr/>
          </a:p>
          <a:p>
            <a:pPr indent="0" lvl="0" marL="0" rtl="0" algn="l">
              <a:spcBef>
                <a:spcPts val="360"/>
              </a:spcBef>
              <a:spcAft>
                <a:spcPts val="0"/>
              </a:spcAft>
              <a:buNone/>
            </a:pPr>
            <a:r>
              <a:rPr lang="en-US"/>
              <a:t>contain all of the information related to an organization or project, such as a business</a:t>
            </a:r>
            <a:endParaRPr/>
          </a:p>
          <a:p>
            <a:pPr indent="0" lvl="0" marL="0" rtl="0" algn="l">
              <a:spcBef>
                <a:spcPts val="360"/>
              </a:spcBef>
              <a:spcAft>
                <a:spcPts val="0"/>
              </a:spcAft>
              <a:buNone/>
            </a:pPr>
            <a:r>
              <a:rPr lang="en-US"/>
              <a:t>or a scientific study. The database itself consists of one or more types of files. Usually,</a:t>
            </a:r>
            <a:endParaRPr/>
          </a:p>
          <a:p>
            <a:pPr indent="0" lvl="0" marL="0" rtl="0" algn="l">
              <a:spcBef>
                <a:spcPts val="360"/>
              </a:spcBef>
              <a:spcAft>
                <a:spcPts val="0"/>
              </a:spcAft>
              <a:buNone/>
            </a:pPr>
            <a:r>
              <a:rPr lang="en-US"/>
              <a:t>there is a separate database management system that is independent of the operating</a:t>
            </a:r>
            <a:endParaRPr/>
          </a:p>
          <a:p>
            <a:pPr indent="0" lvl="0" marL="0" rtl="0" algn="l">
              <a:spcBef>
                <a:spcPts val="360"/>
              </a:spcBef>
              <a:spcAft>
                <a:spcPts val="0"/>
              </a:spcAft>
              <a:buNone/>
            </a:pPr>
            <a:r>
              <a:rPr lang="en-US"/>
              <a:t>system, although that system may make use of some file management programs.</a:t>
            </a:r>
            <a:endParaRPr/>
          </a:p>
          <a:p>
            <a:pPr indent="0" lvl="0" marL="0" rtl="0" algn="l">
              <a:spcBef>
                <a:spcPts val="360"/>
              </a:spcBef>
              <a:spcAft>
                <a:spcPts val="0"/>
              </a:spcAft>
              <a:buNone/>
            </a:pPr>
            <a:r>
              <a:t/>
            </a:r>
            <a:endParaRPr/>
          </a:p>
        </p:txBody>
      </p:sp>
      <p:sp>
        <p:nvSpPr>
          <p:cNvPr id="316" name="Google Shape;31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3" name="Google Shape;323;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a:t>
            </a:r>
            <a:r>
              <a:rPr b="1" lang="en-US"/>
              <a:t>field is the basic element of data. An individual field contains a single value,</a:t>
            </a:r>
            <a:endParaRPr/>
          </a:p>
          <a:p>
            <a:pPr indent="0" lvl="0" marL="0" rtl="0" algn="l">
              <a:spcBef>
                <a:spcPts val="360"/>
              </a:spcBef>
              <a:spcAft>
                <a:spcPts val="0"/>
              </a:spcAft>
              <a:buNone/>
            </a:pPr>
            <a:r>
              <a:rPr lang="en-US"/>
              <a:t>such as an employee’s last name, a date, or the value of a sensor reading. It is characterized</a:t>
            </a:r>
            <a:endParaRPr/>
          </a:p>
          <a:p>
            <a:pPr indent="0" lvl="0" marL="0" rtl="0" algn="l">
              <a:spcBef>
                <a:spcPts val="360"/>
              </a:spcBef>
              <a:spcAft>
                <a:spcPts val="0"/>
              </a:spcAft>
              <a:buNone/>
            </a:pPr>
            <a:r>
              <a:rPr lang="en-US"/>
              <a:t>by its length and data type (e.g., ASCII string, decimal). Depending on the</a:t>
            </a:r>
            <a:endParaRPr/>
          </a:p>
          <a:p>
            <a:pPr indent="0" lvl="0" marL="0" rtl="0" algn="l">
              <a:spcBef>
                <a:spcPts val="360"/>
              </a:spcBef>
              <a:spcAft>
                <a:spcPts val="0"/>
              </a:spcAft>
              <a:buNone/>
            </a:pPr>
            <a:r>
              <a:rPr lang="en-US"/>
              <a:t>file design, fields may be fixed length or variable length. In the latter case, the field</a:t>
            </a:r>
            <a:endParaRPr/>
          </a:p>
          <a:p>
            <a:pPr indent="0" lvl="0" marL="0" rtl="0" algn="l">
              <a:spcBef>
                <a:spcPts val="360"/>
              </a:spcBef>
              <a:spcAft>
                <a:spcPts val="0"/>
              </a:spcAft>
              <a:buNone/>
            </a:pPr>
            <a:r>
              <a:rPr lang="en-US"/>
              <a:t>often consists of two or three subfields: the actual value to be stored, the name of</a:t>
            </a:r>
            <a:endParaRPr/>
          </a:p>
          <a:p>
            <a:pPr indent="0" lvl="0" marL="0" rtl="0" algn="l">
              <a:spcBef>
                <a:spcPts val="360"/>
              </a:spcBef>
              <a:spcAft>
                <a:spcPts val="0"/>
              </a:spcAft>
              <a:buNone/>
            </a:pPr>
            <a:r>
              <a:rPr lang="en-US"/>
              <a:t>the field, and, in some cases, the length of the field. In other cases of variable-length</a:t>
            </a:r>
            <a:endParaRPr/>
          </a:p>
          <a:p>
            <a:pPr indent="0" lvl="0" marL="0" rtl="0" algn="l">
              <a:spcBef>
                <a:spcPts val="360"/>
              </a:spcBef>
              <a:spcAft>
                <a:spcPts val="0"/>
              </a:spcAft>
              <a:buNone/>
            </a:pPr>
            <a:r>
              <a:rPr lang="en-US"/>
              <a:t>fields, the length of the field is indicated by the use of special demarcation symbols</a:t>
            </a:r>
            <a:endParaRPr/>
          </a:p>
          <a:p>
            <a:pPr indent="0" lvl="0" marL="0" rtl="0" algn="l">
              <a:spcBef>
                <a:spcPts val="360"/>
              </a:spcBef>
              <a:spcAft>
                <a:spcPts val="0"/>
              </a:spcAft>
              <a:buNone/>
            </a:pPr>
            <a:r>
              <a:rPr lang="en-US"/>
              <a:t>between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record is a collection of related fields that can be treated as a unit by some</a:t>
            </a:r>
            <a:endParaRPr/>
          </a:p>
          <a:p>
            <a:pPr indent="0" lvl="0" marL="0" rtl="0" algn="l">
              <a:spcBef>
                <a:spcPts val="360"/>
              </a:spcBef>
              <a:spcAft>
                <a:spcPts val="0"/>
              </a:spcAft>
              <a:buNone/>
            </a:pPr>
            <a:r>
              <a:rPr lang="en-US"/>
              <a:t>application program. For example, an employee record would contain such fields</a:t>
            </a:r>
            <a:endParaRPr/>
          </a:p>
          <a:p>
            <a:pPr indent="0" lvl="0" marL="0" rtl="0" algn="l">
              <a:spcBef>
                <a:spcPts val="360"/>
              </a:spcBef>
              <a:spcAft>
                <a:spcPts val="0"/>
              </a:spcAft>
              <a:buNone/>
            </a:pPr>
            <a:r>
              <a:rPr lang="en-US"/>
              <a:t>as name, social security number, job classification, date of hire, and so on. Again,</a:t>
            </a:r>
            <a:endParaRPr/>
          </a:p>
          <a:p>
            <a:pPr indent="0" lvl="0" marL="0" rtl="0" algn="l">
              <a:spcBef>
                <a:spcPts val="360"/>
              </a:spcBef>
              <a:spcAft>
                <a:spcPts val="0"/>
              </a:spcAft>
              <a:buNone/>
            </a:pPr>
            <a:r>
              <a:rPr lang="en-US"/>
              <a:t>depending on design, records may be of fixed length or variable length. A record</a:t>
            </a:r>
            <a:endParaRPr/>
          </a:p>
          <a:p>
            <a:pPr indent="0" lvl="0" marL="0" rtl="0" algn="l">
              <a:spcBef>
                <a:spcPts val="360"/>
              </a:spcBef>
              <a:spcAft>
                <a:spcPts val="0"/>
              </a:spcAft>
              <a:buNone/>
            </a:pPr>
            <a:r>
              <a:rPr lang="en-US"/>
              <a:t>will be of variable length if some of its fields are of variable length or if the number</a:t>
            </a:r>
            <a:endParaRPr/>
          </a:p>
          <a:p>
            <a:pPr indent="0" lvl="0" marL="0" rtl="0" algn="l">
              <a:spcBef>
                <a:spcPts val="360"/>
              </a:spcBef>
              <a:spcAft>
                <a:spcPts val="0"/>
              </a:spcAft>
              <a:buNone/>
            </a:pPr>
            <a:r>
              <a:rPr lang="en-US"/>
              <a:t>of fields may vary. In the latter case, each field is usually accompanied by a field</a:t>
            </a:r>
            <a:endParaRPr/>
          </a:p>
          <a:p>
            <a:pPr indent="0" lvl="0" marL="0" rtl="0" algn="l">
              <a:spcBef>
                <a:spcPts val="360"/>
              </a:spcBef>
              <a:spcAft>
                <a:spcPts val="0"/>
              </a:spcAft>
              <a:buNone/>
            </a:pPr>
            <a:r>
              <a:rPr lang="en-US"/>
              <a:t>name. In either case, the entire record usually includes a length field.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file is a collection of similar records. The file is treated as a single entity by</a:t>
            </a:r>
            <a:endParaRPr/>
          </a:p>
          <a:p>
            <a:pPr indent="0" lvl="0" marL="0" rtl="0" algn="l">
              <a:spcBef>
                <a:spcPts val="360"/>
              </a:spcBef>
              <a:spcAft>
                <a:spcPts val="0"/>
              </a:spcAft>
              <a:buNone/>
            </a:pPr>
            <a:r>
              <a:rPr lang="en-US"/>
              <a:t>users and applications and may be referenced by name. Files have file names and</a:t>
            </a:r>
            <a:endParaRPr/>
          </a:p>
          <a:p>
            <a:pPr indent="0" lvl="0" marL="0" rtl="0" algn="l">
              <a:spcBef>
                <a:spcPts val="360"/>
              </a:spcBef>
              <a:spcAft>
                <a:spcPts val="0"/>
              </a:spcAft>
              <a:buNone/>
            </a:pPr>
            <a:r>
              <a:rPr lang="en-US"/>
              <a:t>may be created and deleted. Access control restrictions usually apply at the file</a:t>
            </a:r>
            <a:endParaRPr/>
          </a:p>
          <a:p>
            <a:pPr indent="0" lvl="0" marL="0" rtl="0" algn="l">
              <a:spcBef>
                <a:spcPts val="360"/>
              </a:spcBef>
              <a:spcAft>
                <a:spcPts val="0"/>
              </a:spcAft>
              <a:buNone/>
            </a:pPr>
            <a:r>
              <a:rPr lang="en-US"/>
              <a:t>level. That is, in a shared system, users and programs are granted or denied access</a:t>
            </a:r>
            <a:endParaRPr/>
          </a:p>
          <a:p>
            <a:pPr indent="0" lvl="0" marL="0" rtl="0" algn="l">
              <a:spcBef>
                <a:spcPts val="360"/>
              </a:spcBef>
              <a:spcAft>
                <a:spcPts val="0"/>
              </a:spcAft>
              <a:buNone/>
            </a:pPr>
            <a:r>
              <a:rPr lang="en-US"/>
              <a:t>to entire files. In some more sophisticated systems, such controls are enforced at the</a:t>
            </a:r>
            <a:endParaRPr/>
          </a:p>
          <a:p>
            <a:pPr indent="0" lvl="0" marL="0" rtl="0" algn="l">
              <a:spcBef>
                <a:spcPts val="360"/>
              </a:spcBef>
              <a:spcAft>
                <a:spcPts val="0"/>
              </a:spcAft>
              <a:buNone/>
            </a:pPr>
            <a:r>
              <a:rPr lang="en-US"/>
              <a:t>record or even the field level.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Some file systems are structured only in terms of fields, not records. In that</a:t>
            </a:r>
            <a:endParaRPr/>
          </a:p>
          <a:p>
            <a:pPr indent="0" lvl="0" marL="0" rtl="0" algn="l">
              <a:spcBef>
                <a:spcPts val="360"/>
              </a:spcBef>
              <a:spcAft>
                <a:spcPts val="0"/>
              </a:spcAft>
              <a:buNone/>
            </a:pPr>
            <a:r>
              <a:rPr lang="en-US"/>
              <a:t>case, a file is a collection of fields.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a:t>
            </a:r>
            <a:r>
              <a:rPr b="1" lang="en-US"/>
              <a:t>database is a collection of related data. The essential aspects of a database</a:t>
            </a:r>
            <a:endParaRPr/>
          </a:p>
          <a:p>
            <a:pPr indent="0" lvl="0" marL="0" rtl="0" algn="l">
              <a:spcBef>
                <a:spcPts val="360"/>
              </a:spcBef>
              <a:spcAft>
                <a:spcPts val="0"/>
              </a:spcAft>
              <a:buNone/>
            </a:pPr>
            <a:r>
              <a:rPr lang="en-US"/>
              <a:t>are that the relationships that exist among elements of data are explicit and that the</a:t>
            </a:r>
            <a:endParaRPr/>
          </a:p>
          <a:p>
            <a:pPr indent="0" lvl="0" marL="0" rtl="0" algn="l">
              <a:spcBef>
                <a:spcPts val="360"/>
              </a:spcBef>
              <a:spcAft>
                <a:spcPts val="0"/>
              </a:spcAft>
              <a:buNone/>
            </a:pPr>
            <a:r>
              <a:rPr lang="en-US"/>
              <a:t>database is designed for use by a number of different applications. A database may</a:t>
            </a:r>
            <a:endParaRPr/>
          </a:p>
          <a:p>
            <a:pPr indent="0" lvl="0" marL="0" rtl="0" algn="l">
              <a:spcBef>
                <a:spcPts val="360"/>
              </a:spcBef>
              <a:spcAft>
                <a:spcPts val="0"/>
              </a:spcAft>
              <a:buNone/>
            </a:pPr>
            <a:r>
              <a:rPr lang="en-US"/>
              <a:t>contain all of the information related to an organization or project, such as a business</a:t>
            </a:r>
            <a:endParaRPr/>
          </a:p>
          <a:p>
            <a:pPr indent="0" lvl="0" marL="0" rtl="0" algn="l">
              <a:spcBef>
                <a:spcPts val="360"/>
              </a:spcBef>
              <a:spcAft>
                <a:spcPts val="0"/>
              </a:spcAft>
              <a:buNone/>
            </a:pPr>
            <a:r>
              <a:rPr lang="en-US"/>
              <a:t>or a scientific study. The database itself consists of one or more types of files. Usually,</a:t>
            </a:r>
            <a:endParaRPr/>
          </a:p>
          <a:p>
            <a:pPr indent="0" lvl="0" marL="0" rtl="0" algn="l">
              <a:spcBef>
                <a:spcPts val="360"/>
              </a:spcBef>
              <a:spcAft>
                <a:spcPts val="0"/>
              </a:spcAft>
              <a:buNone/>
            </a:pPr>
            <a:r>
              <a:rPr lang="en-US"/>
              <a:t>there is a separate database management system that is independent of the operating</a:t>
            </a:r>
            <a:endParaRPr/>
          </a:p>
          <a:p>
            <a:pPr indent="0" lvl="0" marL="0" rtl="0" algn="l">
              <a:spcBef>
                <a:spcPts val="360"/>
              </a:spcBef>
              <a:spcAft>
                <a:spcPts val="0"/>
              </a:spcAft>
              <a:buNone/>
            </a:pPr>
            <a:r>
              <a:rPr lang="en-US"/>
              <a:t>system, although that system may make use of some file management programs.</a:t>
            </a:r>
            <a:endParaRPr/>
          </a:p>
          <a:p>
            <a:pPr indent="0" lvl="0" marL="0" rtl="0" algn="l">
              <a:spcBef>
                <a:spcPts val="360"/>
              </a:spcBef>
              <a:spcAft>
                <a:spcPts val="0"/>
              </a:spcAft>
              <a:buNone/>
            </a:pPr>
            <a:r>
              <a:t/>
            </a:r>
            <a:endParaRPr/>
          </a:p>
        </p:txBody>
      </p:sp>
      <p:sp>
        <p:nvSpPr>
          <p:cNvPr id="324" name="Google Shape;324;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1" name="Google Shape;33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file management system is that set of system software that provides services to</a:t>
            </a:r>
            <a:endParaRPr/>
          </a:p>
          <a:p>
            <a:pPr indent="0" lvl="0" marL="0" rtl="0" algn="l">
              <a:spcBef>
                <a:spcPts val="360"/>
              </a:spcBef>
              <a:spcAft>
                <a:spcPts val="0"/>
              </a:spcAft>
              <a:buNone/>
            </a:pPr>
            <a:r>
              <a:rPr lang="en-US"/>
              <a:t>users and applications in the use of files. Typically, the only way that a user or application</a:t>
            </a:r>
            <a:endParaRPr/>
          </a:p>
          <a:p>
            <a:pPr indent="0" lvl="0" marL="0" rtl="0" algn="l">
              <a:spcBef>
                <a:spcPts val="360"/>
              </a:spcBef>
              <a:spcAft>
                <a:spcPts val="0"/>
              </a:spcAft>
              <a:buNone/>
            </a:pPr>
            <a:r>
              <a:rPr lang="en-US"/>
              <a:t>may access files is through the file management system. This relieves the user</a:t>
            </a:r>
            <a:endParaRPr/>
          </a:p>
          <a:p>
            <a:pPr indent="0" lvl="0" marL="0" rtl="0" algn="l">
              <a:spcBef>
                <a:spcPts val="360"/>
              </a:spcBef>
              <a:spcAft>
                <a:spcPts val="0"/>
              </a:spcAft>
              <a:buNone/>
            </a:pPr>
            <a:r>
              <a:rPr lang="en-US"/>
              <a:t>or programmer of the necessity of developing special-purpose software for each</a:t>
            </a:r>
            <a:endParaRPr/>
          </a:p>
          <a:p>
            <a:pPr indent="0" lvl="0" marL="0" rtl="0" algn="l">
              <a:spcBef>
                <a:spcPts val="360"/>
              </a:spcBef>
              <a:spcAft>
                <a:spcPts val="0"/>
              </a:spcAft>
              <a:buNone/>
            </a:pPr>
            <a:r>
              <a:rPr lang="en-US"/>
              <a:t>application and provides the system with a consistent, well-defined means of controlling</a:t>
            </a:r>
            <a:endParaRPr/>
          </a:p>
          <a:p>
            <a:pPr indent="0" lvl="0" marL="0" rtl="0" algn="l">
              <a:spcBef>
                <a:spcPts val="360"/>
              </a:spcBef>
              <a:spcAft>
                <a:spcPts val="0"/>
              </a:spcAft>
              <a:buNone/>
            </a:pPr>
            <a:r>
              <a:rPr lang="en-US"/>
              <a:t>its most important asset. [GROS86] suggests the following objectives for a</a:t>
            </a:r>
            <a:endParaRPr/>
          </a:p>
          <a:p>
            <a:pPr indent="0" lvl="0" marL="0" rtl="0" algn="l">
              <a:spcBef>
                <a:spcPts val="360"/>
              </a:spcBef>
              <a:spcAft>
                <a:spcPts val="0"/>
              </a:spcAft>
              <a:buNone/>
            </a:pPr>
            <a:r>
              <a:rPr lang="en-US"/>
              <a:t>file management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meet the data management needs and requirements of the user, which include</a:t>
            </a:r>
            <a:endParaRPr/>
          </a:p>
          <a:p>
            <a:pPr indent="0" lvl="0" marL="0" rtl="0" algn="l">
              <a:spcBef>
                <a:spcPts val="360"/>
              </a:spcBef>
              <a:spcAft>
                <a:spcPts val="0"/>
              </a:spcAft>
              <a:buNone/>
            </a:pPr>
            <a:r>
              <a:rPr lang="en-US"/>
              <a:t>storage of data and the ability to perform the aforementioned operations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guarantee, to the extent possible, that the data in the file are valid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optimize performance, both from the system point of view in terms of</a:t>
            </a:r>
            <a:endParaRPr/>
          </a:p>
          <a:p>
            <a:pPr indent="0" lvl="0" marL="0" rtl="0" algn="l">
              <a:spcBef>
                <a:spcPts val="360"/>
              </a:spcBef>
              <a:spcAft>
                <a:spcPts val="0"/>
              </a:spcAft>
              <a:buNone/>
            </a:pPr>
            <a:r>
              <a:rPr lang="en-US"/>
              <a:t>overall throughput and from the user’s point of view in terms of response time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provide I/O support for a variety of storage device types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minimize or eliminate the potential for lost or destroyed data</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provide a standardized set of I/O interface routines to user processes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provide I/O support for multiple users, in the case of multiple-user systems</a:t>
            </a:r>
            <a:endParaRPr/>
          </a:p>
          <a:p>
            <a:pPr indent="0" lvl="0" marL="0" rtl="0" algn="l">
              <a:spcBef>
                <a:spcPts val="360"/>
              </a:spcBef>
              <a:spcAft>
                <a:spcPts val="0"/>
              </a:spcAft>
              <a:buNone/>
            </a:pPr>
            <a:r>
              <a:t/>
            </a:r>
            <a:endParaRPr/>
          </a:p>
        </p:txBody>
      </p:sp>
      <p:sp>
        <p:nvSpPr>
          <p:cNvPr id="332" name="Google Shape;332;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8" name="Google Shape;33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file management system is that set of system software that provides services to</a:t>
            </a:r>
            <a:endParaRPr/>
          </a:p>
          <a:p>
            <a:pPr indent="0" lvl="0" marL="0" rtl="0" algn="l">
              <a:spcBef>
                <a:spcPts val="360"/>
              </a:spcBef>
              <a:spcAft>
                <a:spcPts val="0"/>
              </a:spcAft>
              <a:buNone/>
            </a:pPr>
            <a:r>
              <a:rPr lang="en-US"/>
              <a:t>users and applications in the use of files. Typically, the only way that a user or application</a:t>
            </a:r>
            <a:endParaRPr/>
          </a:p>
          <a:p>
            <a:pPr indent="0" lvl="0" marL="0" rtl="0" algn="l">
              <a:spcBef>
                <a:spcPts val="360"/>
              </a:spcBef>
              <a:spcAft>
                <a:spcPts val="0"/>
              </a:spcAft>
              <a:buNone/>
            </a:pPr>
            <a:r>
              <a:rPr lang="en-US"/>
              <a:t>may access files is through the file management system. This relieves the user</a:t>
            </a:r>
            <a:endParaRPr/>
          </a:p>
          <a:p>
            <a:pPr indent="0" lvl="0" marL="0" rtl="0" algn="l">
              <a:spcBef>
                <a:spcPts val="360"/>
              </a:spcBef>
              <a:spcAft>
                <a:spcPts val="0"/>
              </a:spcAft>
              <a:buNone/>
            </a:pPr>
            <a:r>
              <a:rPr lang="en-US"/>
              <a:t>or programmer of the necessity of developing special-purpose software for each</a:t>
            </a:r>
            <a:endParaRPr/>
          </a:p>
          <a:p>
            <a:pPr indent="0" lvl="0" marL="0" rtl="0" algn="l">
              <a:spcBef>
                <a:spcPts val="360"/>
              </a:spcBef>
              <a:spcAft>
                <a:spcPts val="0"/>
              </a:spcAft>
              <a:buNone/>
            </a:pPr>
            <a:r>
              <a:rPr lang="en-US"/>
              <a:t>application and provides the system with a consistent, well-defined means of controlling</a:t>
            </a:r>
            <a:endParaRPr/>
          </a:p>
          <a:p>
            <a:pPr indent="0" lvl="0" marL="0" rtl="0" algn="l">
              <a:spcBef>
                <a:spcPts val="360"/>
              </a:spcBef>
              <a:spcAft>
                <a:spcPts val="0"/>
              </a:spcAft>
              <a:buNone/>
            </a:pPr>
            <a:r>
              <a:rPr lang="en-US"/>
              <a:t>its most important asset. [GROS86] suggests the following objectives for a</a:t>
            </a:r>
            <a:endParaRPr/>
          </a:p>
          <a:p>
            <a:pPr indent="0" lvl="0" marL="0" rtl="0" algn="l">
              <a:spcBef>
                <a:spcPts val="360"/>
              </a:spcBef>
              <a:spcAft>
                <a:spcPts val="0"/>
              </a:spcAft>
              <a:buNone/>
            </a:pPr>
            <a:r>
              <a:rPr lang="en-US"/>
              <a:t>file management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meet the data management needs and requirements of the user, which include</a:t>
            </a:r>
            <a:endParaRPr/>
          </a:p>
          <a:p>
            <a:pPr indent="0" lvl="0" marL="0" rtl="0" algn="l">
              <a:spcBef>
                <a:spcPts val="360"/>
              </a:spcBef>
              <a:spcAft>
                <a:spcPts val="0"/>
              </a:spcAft>
              <a:buNone/>
            </a:pPr>
            <a:r>
              <a:rPr lang="en-US"/>
              <a:t>storage of data and the ability to perform the aforementioned operations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guarantee, to the extent possible, that the data in the file are valid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optimize performance, both from the system point of view in terms of</a:t>
            </a:r>
            <a:endParaRPr/>
          </a:p>
          <a:p>
            <a:pPr indent="0" lvl="0" marL="0" rtl="0" algn="l">
              <a:spcBef>
                <a:spcPts val="360"/>
              </a:spcBef>
              <a:spcAft>
                <a:spcPts val="0"/>
              </a:spcAft>
              <a:buNone/>
            </a:pPr>
            <a:r>
              <a:rPr lang="en-US"/>
              <a:t>overall throughput and from the user’s point of view in terms of response time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provide I/O support for a variety of storage device types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minimize or eliminate the potential for lost or destroyed data</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provide a standardized set of I/O interface routines to user processes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To provide I/O support for multiple users, in the case of multiple-user systems</a:t>
            </a:r>
            <a:endParaRPr/>
          </a:p>
          <a:p>
            <a:pPr indent="0" lvl="0" marL="0" rtl="0" algn="l">
              <a:spcBef>
                <a:spcPts val="360"/>
              </a:spcBef>
              <a:spcAft>
                <a:spcPts val="0"/>
              </a:spcAft>
              <a:buNone/>
            </a:pPr>
            <a:r>
              <a:t/>
            </a:r>
            <a:endParaRPr/>
          </a:p>
        </p:txBody>
      </p:sp>
      <p:sp>
        <p:nvSpPr>
          <p:cNvPr id="339" name="Google Shape;339;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5" name="Google Shape;34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One way of getting a feel for the scope of file</a:t>
            </a:r>
            <a:endParaRPr/>
          </a:p>
          <a:p>
            <a:pPr indent="0" lvl="0" marL="0" rtl="0" algn="l">
              <a:spcBef>
                <a:spcPts val="360"/>
              </a:spcBef>
              <a:spcAft>
                <a:spcPts val="0"/>
              </a:spcAft>
              <a:buNone/>
            </a:pPr>
            <a:r>
              <a:rPr lang="en-US"/>
              <a:t>management is to look at a depiction of a typical software organization, as suggested</a:t>
            </a:r>
            <a:endParaRPr/>
          </a:p>
          <a:p>
            <a:pPr indent="0" lvl="0" marL="0" rtl="0" algn="l">
              <a:spcBef>
                <a:spcPts val="360"/>
              </a:spcBef>
              <a:spcAft>
                <a:spcPts val="0"/>
              </a:spcAft>
              <a:buNone/>
            </a:pPr>
            <a:r>
              <a:rPr lang="en-US"/>
              <a:t>in Figure 12.1 . Of course, different systems will be organized differently, but this</a:t>
            </a:r>
            <a:endParaRPr/>
          </a:p>
          <a:p>
            <a:pPr indent="0" lvl="0" marL="0" rtl="0" algn="l">
              <a:spcBef>
                <a:spcPts val="360"/>
              </a:spcBef>
              <a:spcAft>
                <a:spcPts val="0"/>
              </a:spcAft>
              <a:buNone/>
            </a:pPr>
            <a:r>
              <a:rPr lang="en-US"/>
              <a:t>organization is reasonably representative.</a:t>
            </a:r>
            <a:endParaRPr/>
          </a:p>
        </p:txBody>
      </p:sp>
      <p:sp>
        <p:nvSpPr>
          <p:cNvPr id="346" name="Google Shape;34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352" name="Google Shape;352;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9" name="Google Shape;359;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At the lowest level, </a:t>
            </a:r>
            <a:r>
              <a:rPr b="1" lang="en-US"/>
              <a:t>device drivers</a:t>
            </a:r>
            <a:endParaRPr/>
          </a:p>
          <a:p>
            <a:pPr indent="0" lvl="0" marL="0" rtl="0" algn="l">
              <a:spcBef>
                <a:spcPts val="360"/>
              </a:spcBef>
              <a:spcAft>
                <a:spcPts val="0"/>
              </a:spcAft>
              <a:buNone/>
            </a:pPr>
            <a:r>
              <a:rPr lang="en-US"/>
              <a:t>communicate directly with peripheral devices or their controllers or channels. A</a:t>
            </a:r>
            <a:endParaRPr/>
          </a:p>
          <a:p>
            <a:pPr indent="0" lvl="0" marL="0" rtl="0" algn="l">
              <a:spcBef>
                <a:spcPts val="360"/>
              </a:spcBef>
              <a:spcAft>
                <a:spcPts val="0"/>
              </a:spcAft>
              <a:buNone/>
            </a:pPr>
            <a:r>
              <a:rPr lang="en-US"/>
              <a:t>device driver is responsible for starting I/O operations on a device and processing</a:t>
            </a:r>
            <a:endParaRPr/>
          </a:p>
          <a:p>
            <a:pPr indent="0" lvl="0" marL="0" rtl="0" algn="l">
              <a:spcBef>
                <a:spcPts val="360"/>
              </a:spcBef>
              <a:spcAft>
                <a:spcPts val="0"/>
              </a:spcAft>
              <a:buNone/>
            </a:pPr>
            <a:r>
              <a:rPr lang="en-US"/>
              <a:t>the completion of an I/O request. For file operations, the typical devices controlled</a:t>
            </a:r>
            <a:endParaRPr/>
          </a:p>
          <a:p>
            <a:pPr indent="0" lvl="0" marL="0" rtl="0" algn="l">
              <a:spcBef>
                <a:spcPts val="360"/>
              </a:spcBef>
              <a:spcAft>
                <a:spcPts val="0"/>
              </a:spcAft>
              <a:buNone/>
            </a:pPr>
            <a:r>
              <a:rPr lang="en-US"/>
              <a:t>are disk and tape drives. Device drivers are usually considered to be part of the</a:t>
            </a:r>
            <a:endParaRPr/>
          </a:p>
          <a:p>
            <a:pPr indent="0" lvl="0" marL="0" rtl="0" algn="l">
              <a:spcBef>
                <a:spcPts val="360"/>
              </a:spcBef>
              <a:spcAft>
                <a:spcPts val="0"/>
              </a:spcAft>
              <a:buNone/>
            </a:pPr>
            <a:r>
              <a:rPr lang="en-US"/>
              <a:t>operating system.</a:t>
            </a:r>
            <a:endParaRPr/>
          </a:p>
        </p:txBody>
      </p:sp>
      <p:sp>
        <p:nvSpPr>
          <p:cNvPr id="360" name="Google Shape;360;p15: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7" name="Google Shape;367;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next level is referred to as the </a:t>
            </a:r>
            <a:r>
              <a:rPr b="1" lang="en-US"/>
              <a:t>basic file system , or the physical I/O level.</a:t>
            </a:r>
            <a:endParaRPr/>
          </a:p>
          <a:p>
            <a:pPr indent="0" lvl="0" marL="0" rtl="0" algn="l">
              <a:spcBef>
                <a:spcPts val="360"/>
              </a:spcBef>
              <a:spcAft>
                <a:spcPts val="0"/>
              </a:spcAft>
              <a:buNone/>
            </a:pPr>
            <a:r>
              <a:rPr lang="en-US"/>
              <a:t>This is the primary interface with the environment outside of the computer system.</a:t>
            </a:r>
            <a:endParaRPr/>
          </a:p>
          <a:p>
            <a:pPr indent="0" lvl="0" marL="0" rtl="0" algn="l">
              <a:spcBef>
                <a:spcPts val="360"/>
              </a:spcBef>
              <a:spcAft>
                <a:spcPts val="0"/>
              </a:spcAft>
              <a:buNone/>
            </a:pPr>
            <a:r>
              <a:rPr lang="en-US"/>
              <a:t>It deals with blocks of data that are exchanged with disk or tape systems. Thus, it is</a:t>
            </a:r>
            <a:endParaRPr/>
          </a:p>
          <a:p>
            <a:pPr indent="0" lvl="0" marL="0" rtl="0" algn="l">
              <a:spcBef>
                <a:spcPts val="360"/>
              </a:spcBef>
              <a:spcAft>
                <a:spcPts val="0"/>
              </a:spcAft>
              <a:buNone/>
            </a:pPr>
            <a:r>
              <a:rPr lang="en-US"/>
              <a:t>concerned with the placement of those blocks on the secondary storage device and</a:t>
            </a:r>
            <a:endParaRPr/>
          </a:p>
          <a:p>
            <a:pPr indent="0" lvl="0" marL="0" rtl="0" algn="l">
              <a:spcBef>
                <a:spcPts val="360"/>
              </a:spcBef>
              <a:spcAft>
                <a:spcPts val="0"/>
              </a:spcAft>
              <a:buNone/>
            </a:pPr>
            <a:r>
              <a:rPr lang="en-US"/>
              <a:t>on the buffering of those blocks in main memory. It does not understand the content</a:t>
            </a:r>
            <a:endParaRPr/>
          </a:p>
          <a:p>
            <a:pPr indent="0" lvl="0" marL="0" rtl="0" algn="l">
              <a:spcBef>
                <a:spcPts val="360"/>
              </a:spcBef>
              <a:spcAft>
                <a:spcPts val="0"/>
              </a:spcAft>
              <a:buNone/>
            </a:pPr>
            <a:r>
              <a:rPr lang="en-US"/>
              <a:t>of the data or the structure of the files involved. The basic file system is often</a:t>
            </a:r>
            <a:endParaRPr/>
          </a:p>
          <a:p>
            <a:pPr indent="0" lvl="0" marL="0" rtl="0" algn="l">
              <a:spcBef>
                <a:spcPts val="360"/>
              </a:spcBef>
              <a:spcAft>
                <a:spcPts val="0"/>
              </a:spcAft>
              <a:buNone/>
            </a:pPr>
            <a:r>
              <a:rPr lang="en-US"/>
              <a:t>considered part of the operating system.</a:t>
            </a:r>
            <a:endParaRPr/>
          </a:p>
        </p:txBody>
      </p:sp>
      <p:sp>
        <p:nvSpPr>
          <p:cNvPr id="368" name="Google Shape;368;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6" name="Google Shape;376;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
            </a:r>
            <a:r>
              <a:rPr b="1" lang="en-US"/>
              <a:t>basic I/O supervisor is responsible for all file I/O initiation and termination.</a:t>
            </a:r>
            <a:endParaRPr/>
          </a:p>
          <a:p>
            <a:pPr indent="0" lvl="0" marL="0" rtl="0" algn="l">
              <a:spcBef>
                <a:spcPts val="360"/>
              </a:spcBef>
              <a:spcAft>
                <a:spcPts val="0"/>
              </a:spcAft>
              <a:buNone/>
            </a:pPr>
            <a:r>
              <a:rPr lang="en-US"/>
              <a:t>At this level, control structures are maintained that deal with device I/O,</a:t>
            </a:r>
            <a:endParaRPr/>
          </a:p>
          <a:p>
            <a:pPr indent="0" lvl="0" marL="0" rtl="0" algn="l">
              <a:spcBef>
                <a:spcPts val="360"/>
              </a:spcBef>
              <a:spcAft>
                <a:spcPts val="0"/>
              </a:spcAft>
              <a:buNone/>
            </a:pPr>
            <a:r>
              <a:rPr lang="en-US"/>
              <a:t>scheduling, and file status. The basic I/O supervisor selects the device on which file</a:t>
            </a:r>
            <a:endParaRPr/>
          </a:p>
          <a:p>
            <a:pPr indent="0" lvl="0" marL="0" rtl="0" algn="l">
              <a:spcBef>
                <a:spcPts val="360"/>
              </a:spcBef>
              <a:spcAft>
                <a:spcPts val="0"/>
              </a:spcAft>
              <a:buNone/>
            </a:pPr>
            <a:r>
              <a:rPr lang="en-US"/>
              <a:t>I/O is to be performed, based on the particular file selected. It is also concerned</a:t>
            </a:r>
            <a:endParaRPr/>
          </a:p>
          <a:p>
            <a:pPr indent="0" lvl="0" marL="0" rtl="0" algn="l">
              <a:spcBef>
                <a:spcPts val="360"/>
              </a:spcBef>
              <a:spcAft>
                <a:spcPts val="0"/>
              </a:spcAft>
              <a:buNone/>
            </a:pPr>
            <a:r>
              <a:rPr lang="en-US"/>
              <a:t>with scheduling disk and tape accesses to optimize performance. I/O buffers are</a:t>
            </a:r>
            <a:endParaRPr/>
          </a:p>
          <a:p>
            <a:pPr indent="0" lvl="0" marL="0" rtl="0" algn="l">
              <a:spcBef>
                <a:spcPts val="360"/>
              </a:spcBef>
              <a:spcAft>
                <a:spcPts val="0"/>
              </a:spcAft>
              <a:buNone/>
            </a:pPr>
            <a:r>
              <a:rPr lang="en-US"/>
              <a:t>assigned and secondary memory is allocated at this level. The basic I/O supervisor is</a:t>
            </a:r>
            <a:endParaRPr/>
          </a:p>
          <a:p>
            <a:pPr indent="0" lvl="0" marL="0" rtl="0" algn="l">
              <a:spcBef>
                <a:spcPts val="360"/>
              </a:spcBef>
              <a:spcAft>
                <a:spcPts val="0"/>
              </a:spcAft>
              <a:buNone/>
            </a:pPr>
            <a:r>
              <a:rPr lang="en-US"/>
              <a:t>part of the operating system.</a:t>
            </a:r>
            <a:endParaRPr/>
          </a:p>
        </p:txBody>
      </p:sp>
      <p:sp>
        <p:nvSpPr>
          <p:cNvPr id="377" name="Google Shape;377;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4" name="Google Shape;384;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Logical I/O enables users and applications to access records. Thus, whereas</a:t>
            </a:r>
            <a:endParaRPr/>
          </a:p>
          <a:p>
            <a:pPr indent="0" lvl="0" marL="0" rtl="0" algn="l">
              <a:spcBef>
                <a:spcPts val="360"/>
              </a:spcBef>
              <a:spcAft>
                <a:spcPts val="0"/>
              </a:spcAft>
              <a:buNone/>
            </a:pPr>
            <a:r>
              <a:rPr lang="en-US"/>
              <a:t>the basic file system deals with blocks of data, the logical I/O module deals with file</a:t>
            </a:r>
            <a:endParaRPr/>
          </a:p>
          <a:p>
            <a:pPr indent="0" lvl="0" marL="0" rtl="0" algn="l">
              <a:spcBef>
                <a:spcPts val="360"/>
              </a:spcBef>
              <a:spcAft>
                <a:spcPts val="0"/>
              </a:spcAft>
              <a:buNone/>
            </a:pPr>
            <a:r>
              <a:rPr lang="en-US"/>
              <a:t>records. Logical I/O provides a general-purpose record I/O capability and maintains</a:t>
            </a:r>
            <a:endParaRPr/>
          </a:p>
          <a:p>
            <a:pPr indent="0" lvl="0" marL="0" rtl="0" algn="l">
              <a:spcBef>
                <a:spcPts val="360"/>
              </a:spcBef>
              <a:spcAft>
                <a:spcPts val="0"/>
              </a:spcAft>
              <a:buNone/>
            </a:pPr>
            <a:r>
              <a:rPr lang="en-US"/>
              <a:t>basic data about files.</a:t>
            </a:r>
            <a:endParaRPr/>
          </a:p>
        </p:txBody>
      </p:sp>
      <p:sp>
        <p:nvSpPr>
          <p:cNvPr id="385" name="Google Shape;385;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2" name="Google Shape;40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Logical I/O enables users and applications to access records. Thus, whereas</a:t>
            </a:r>
            <a:endParaRPr/>
          </a:p>
          <a:p>
            <a:pPr indent="0" lvl="0" marL="0" rtl="0" algn="l">
              <a:spcBef>
                <a:spcPts val="360"/>
              </a:spcBef>
              <a:spcAft>
                <a:spcPts val="0"/>
              </a:spcAft>
              <a:buNone/>
            </a:pPr>
            <a:r>
              <a:rPr lang="en-US"/>
              <a:t>the basic file system deals with blocks of data, the logical I/O module deals with file</a:t>
            </a:r>
            <a:endParaRPr/>
          </a:p>
          <a:p>
            <a:pPr indent="0" lvl="0" marL="0" rtl="0" algn="l">
              <a:spcBef>
                <a:spcPts val="360"/>
              </a:spcBef>
              <a:spcAft>
                <a:spcPts val="0"/>
              </a:spcAft>
              <a:buNone/>
            </a:pPr>
            <a:r>
              <a:rPr lang="en-US"/>
              <a:t>records. Logical I/O provides a general-purpose record I/O capability and maintains</a:t>
            </a:r>
            <a:endParaRPr/>
          </a:p>
          <a:p>
            <a:pPr indent="0" lvl="0" marL="0" rtl="0" algn="l">
              <a:spcBef>
                <a:spcPts val="360"/>
              </a:spcBef>
              <a:spcAft>
                <a:spcPts val="0"/>
              </a:spcAft>
              <a:buNone/>
            </a:pPr>
            <a:r>
              <a:rPr lang="en-US"/>
              <a:t>basic data about files.</a:t>
            </a:r>
            <a:endParaRPr/>
          </a:p>
        </p:txBody>
      </p:sp>
      <p:sp>
        <p:nvSpPr>
          <p:cNvPr id="403" name="Google Shape;403;p19:notes"/>
          <p:cNvSpPr txBox="1"/>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9" name="Google Shape;409;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level of the file system closest to the user is often termed the </a:t>
            </a:r>
            <a:r>
              <a:rPr b="1" lang="en-US"/>
              <a:t>access</a:t>
            </a:r>
            <a:endParaRPr/>
          </a:p>
          <a:p>
            <a:pPr indent="0" lvl="0" marL="0" rtl="0" algn="l">
              <a:spcBef>
                <a:spcPts val="360"/>
              </a:spcBef>
              <a:spcAft>
                <a:spcPts val="0"/>
              </a:spcAft>
              <a:buNone/>
            </a:pPr>
            <a:r>
              <a:rPr b="1" lang="en-US"/>
              <a:t>method . It provides a standard interface between applications and the file systems</a:t>
            </a:r>
            <a:endParaRPr/>
          </a:p>
          <a:p>
            <a:pPr indent="0" lvl="0" marL="0" rtl="0" algn="l">
              <a:spcBef>
                <a:spcPts val="360"/>
              </a:spcBef>
              <a:spcAft>
                <a:spcPts val="0"/>
              </a:spcAft>
              <a:buNone/>
            </a:pPr>
            <a:r>
              <a:rPr lang="en-US"/>
              <a:t>and devices that hold the data. Different access methods reflect different file structures</a:t>
            </a:r>
            <a:endParaRPr/>
          </a:p>
          <a:p>
            <a:pPr indent="0" lvl="0" marL="0" rtl="0" algn="l">
              <a:spcBef>
                <a:spcPts val="360"/>
              </a:spcBef>
              <a:spcAft>
                <a:spcPts val="0"/>
              </a:spcAft>
              <a:buNone/>
            </a:pPr>
            <a:r>
              <a:rPr lang="en-US"/>
              <a:t>and different ways of accessing and processing the data. Some of the most</a:t>
            </a:r>
            <a:endParaRPr/>
          </a:p>
          <a:p>
            <a:pPr indent="0" lvl="0" marL="0" rtl="0" algn="l">
              <a:spcBef>
                <a:spcPts val="360"/>
              </a:spcBef>
              <a:spcAft>
                <a:spcPts val="0"/>
              </a:spcAft>
              <a:buNone/>
            </a:pPr>
            <a:r>
              <a:rPr lang="en-US"/>
              <a:t>common access methods are shown in Figure 12.1 , and these are briefly described</a:t>
            </a:r>
            <a:endParaRPr/>
          </a:p>
          <a:p>
            <a:pPr indent="0" lvl="0" marL="0" rtl="0" algn="l">
              <a:spcBef>
                <a:spcPts val="360"/>
              </a:spcBef>
              <a:spcAft>
                <a:spcPts val="0"/>
              </a:spcAft>
              <a:buNone/>
            </a:pPr>
            <a:r>
              <a:rPr lang="en-US"/>
              <a:t>in Section 12.2 .</a:t>
            </a:r>
            <a:endParaRPr/>
          </a:p>
        </p:txBody>
      </p:sp>
      <p:sp>
        <p:nvSpPr>
          <p:cNvPr id="410" name="Google Shape;410;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7" name="Google Shape;41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In this section, we use the term </a:t>
            </a:r>
            <a:r>
              <a:rPr i="1" lang="en-US"/>
              <a:t>file organization to refer to the logical structuring</a:t>
            </a:r>
            <a:endParaRPr/>
          </a:p>
          <a:p>
            <a:pPr indent="0" lvl="0" marL="0" rtl="0" algn="l">
              <a:spcBef>
                <a:spcPts val="360"/>
              </a:spcBef>
              <a:spcAft>
                <a:spcPts val="0"/>
              </a:spcAft>
              <a:buNone/>
            </a:pPr>
            <a:r>
              <a:rPr lang="en-US"/>
              <a:t>of the records as determined by the way in which they are accessed. The physical</a:t>
            </a:r>
            <a:endParaRPr/>
          </a:p>
          <a:p>
            <a:pPr indent="0" lvl="0" marL="0" rtl="0" algn="l">
              <a:spcBef>
                <a:spcPts val="360"/>
              </a:spcBef>
              <a:spcAft>
                <a:spcPts val="0"/>
              </a:spcAft>
              <a:buNone/>
            </a:pPr>
            <a:r>
              <a:rPr lang="en-US"/>
              <a:t>organization of the file on secondary storage depends on the blocking strategy and</a:t>
            </a:r>
            <a:endParaRPr/>
          </a:p>
          <a:p>
            <a:pPr indent="0" lvl="0" marL="0" rtl="0" algn="l">
              <a:spcBef>
                <a:spcPts val="360"/>
              </a:spcBef>
              <a:spcAft>
                <a:spcPts val="0"/>
              </a:spcAft>
              <a:buNone/>
            </a:pPr>
            <a:r>
              <a:rPr lang="en-US"/>
              <a:t>the file allocation strategy, issues dealt with later in this chapter.</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In choosing a file organization, several criteria are important: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Short access time</a:t>
            </a:r>
            <a:endParaRPr/>
          </a:p>
          <a:p>
            <a:pPr indent="0" lvl="0" marL="0" rtl="0" algn="l">
              <a:spcBef>
                <a:spcPts val="360"/>
              </a:spcBef>
              <a:spcAft>
                <a:spcPts val="0"/>
              </a:spcAft>
              <a:buNone/>
            </a:pPr>
            <a:r>
              <a:rPr lang="en-US"/>
              <a:t>• Ease of update</a:t>
            </a:r>
            <a:endParaRPr/>
          </a:p>
          <a:p>
            <a:pPr indent="0" lvl="0" marL="0" rtl="0" algn="l">
              <a:spcBef>
                <a:spcPts val="360"/>
              </a:spcBef>
              <a:spcAft>
                <a:spcPts val="0"/>
              </a:spcAft>
              <a:buNone/>
            </a:pPr>
            <a:r>
              <a:rPr lang="en-US"/>
              <a:t>• Economy of storage</a:t>
            </a:r>
            <a:endParaRPr/>
          </a:p>
          <a:p>
            <a:pPr indent="0" lvl="0" marL="0" rtl="0" algn="l">
              <a:spcBef>
                <a:spcPts val="360"/>
              </a:spcBef>
              <a:spcAft>
                <a:spcPts val="0"/>
              </a:spcAft>
              <a:buNone/>
            </a:pPr>
            <a:r>
              <a:rPr lang="en-US"/>
              <a:t>• Simple maintenance</a:t>
            </a:r>
            <a:endParaRPr/>
          </a:p>
          <a:p>
            <a:pPr indent="0" lvl="0" marL="0" rtl="0" algn="l">
              <a:spcBef>
                <a:spcPts val="360"/>
              </a:spcBef>
              <a:spcAft>
                <a:spcPts val="0"/>
              </a:spcAft>
              <a:buNone/>
            </a:pPr>
            <a:r>
              <a:rPr lang="en-US"/>
              <a:t>• Reliability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relative priority of these criteria will depend on the applications that will</a:t>
            </a:r>
            <a:endParaRPr/>
          </a:p>
          <a:p>
            <a:pPr indent="0" lvl="0" marL="0" rtl="0" algn="l">
              <a:spcBef>
                <a:spcPts val="360"/>
              </a:spcBef>
              <a:spcAft>
                <a:spcPts val="0"/>
              </a:spcAft>
              <a:buNone/>
            </a:pPr>
            <a:r>
              <a:rPr lang="en-US"/>
              <a:t>use the file. For example, if a file is only to be processed in batch mode, with all of</a:t>
            </a:r>
            <a:endParaRPr/>
          </a:p>
          <a:p>
            <a:pPr indent="0" lvl="0" marL="0" rtl="0" algn="l">
              <a:spcBef>
                <a:spcPts val="360"/>
              </a:spcBef>
              <a:spcAft>
                <a:spcPts val="0"/>
              </a:spcAft>
              <a:buNone/>
            </a:pPr>
            <a:r>
              <a:rPr lang="en-US"/>
              <a:t>the records accessed every time, then rapid access for retrieval of a single record is</a:t>
            </a:r>
            <a:endParaRPr/>
          </a:p>
          <a:p>
            <a:pPr indent="0" lvl="0" marL="0" rtl="0" algn="l">
              <a:spcBef>
                <a:spcPts val="360"/>
              </a:spcBef>
              <a:spcAft>
                <a:spcPts val="0"/>
              </a:spcAft>
              <a:buNone/>
            </a:pPr>
            <a:r>
              <a:rPr lang="en-US"/>
              <a:t>of minimal concern. A file stored on CD-ROM will never be updated, and so ease</a:t>
            </a:r>
            <a:endParaRPr/>
          </a:p>
          <a:p>
            <a:pPr indent="0" lvl="0" marL="0" rtl="0" algn="l">
              <a:spcBef>
                <a:spcPts val="360"/>
              </a:spcBef>
              <a:spcAft>
                <a:spcPts val="0"/>
              </a:spcAft>
              <a:buNone/>
            </a:pPr>
            <a:r>
              <a:rPr lang="en-US"/>
              <a:t>of update is not an issue.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These criteria may conflict. For example, for economy of storage, there should be</a:t>
            </a:r>
            <a:endParaRPr/>
          </a:p>
          <a:p>
            <a:pPr indent="0" lvl="0" marL="0" rtl="0" algn="l">
              <a:spcBef>
                <a:spcPts val="360"/>
              </a:spcBef>
              <a:spcAft>
                <a:spcPts val="0"/>
              </a:spcAft>
              <a:buNone/>
            </a:pPr>
            <a:r>
              <a:rPr lang="en-US"/>
              <a:t>minimum redundancy in the data. On the other hand, redundancy is a primary means</a:t>
            </a:r>
            <a:endParaRPr/>
          </a:p>
          <a:p>
            <a:pPr indent="0" lvl="0" marL="0" rtl="0" algn="l">
              <a:spcBef>
                <a:spcPts val="360"/>
              </a:spcBef>
              <a:spcAft>
                <a:spcPts val="0"/>
              </a:spcAft>
              <a:buNone/>
            </a:pPr>
            <a:r>
              <a:rPr lang="en-US"/>
              <a:t>of increasing the speed of access to data. An example of this is the use of indexes.</a:t>
            </a:r>
            <a:endParaRPr/>
          </a:p>
        </p:txBody>
      </p:sp>
      <p:sp>
        <p:nvSpPr>
          <p:cNvPr id="418" name="Google Shape;41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5" name="Google Shape;425;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number of alternative file organizations that have been implemented or</a:t>
            </a:r>
            <a:endParaRPr/>
          </a:p>
          <a:p>
            <a:pPr indent="0" lvl="0" marL="0" rtl="0" algn="l">
              <a:spcBef>
                <a:spcPts val="360"/>
              </a:spcBef>
              <a:spcAft>
                <a:spcPts val="0"/>
              </a:spcAft>
              <a:buNone/>
            </a:pPr>
            <a:r>
              <a:rPr lang="en-US"/>
              <a:t>just proposed is unmanageably large, even for a book devoted to file systems. In this</a:t>
            </a:r>
            <a:endParaRPr/>
          </a:p>
          <a:p>
            <a:pPr indent="0" lvl="0" marL="0" rtl="0" algn="l">
              <a:spcBef>
                <a:spcPts val="360"/>
              </a:spcBef>
              <a:spcAft>
                <a:spcPts val="0"/>
              </a:spcAft>
              <a:buNone/>
            </a:pPr>
            <a:r>
              <a:rPr lang="en-US"/>
              <a:t>brief survey, we will outline five fundamental organizations. Most structures used in</a:t>
            </a:r>
            <a:endParaRPr/>
          </a:p>
          <a:p>
            <a:pPr indent="0" lvl="0" marL="0" rtl="0" algn="l">
              <a:spcBef>
                <a:spcPts val="360"/>
              </a:spcBef>
              <a:spcAft>
                <a:spcPts val="0"/>
              </a:spcAft>
              <a:buNone/>
            </a:pPr>
            <a:r>
              <a:rPr lang="en-US"/>
              <a:t>actual systems either fall into one of these categories or can be implemented with a</a:t>
            </a:r>
            <a:endParaRPr/>
          </a:p>
          <a:p>
            <a:pPr indent="0" lvl="0" marL="0" rtl="0" algn="l">
              <a:spcBef>
                <a:spcPts val="360"/>
              </a:spcBef>
              <a:spcAft>
                <a:spcPts val="0"/>
              </a:spcAft>
              <a:buNone/>
            </a:pPr>
            <a:r>
              <a:rPr lang="en-US"/>
              <a:t>combination of these organizations. The five organizations, the first four of which</a:t>
            </a:r>
            <a:endParaRPr/>
          </a:p>
          <a:p>
            <a:pPr indent="0" lvl="0" marL="0" rtl="0" algn="l">
              <a:spcBef>
                <a:spcPts val="360"/>
              </a:spcBef>
              <a:spcAft>
                <a:spcPts val="0"/>
              </a:spcAft>
              <a:buNone/>
            </a:pPr>
            <a:r>
              <a:rPr lang="en-US"/>
              <a:t>are depicted in Figure 12.3 , are as follows:</a:t>
            </a:r>
            <a:endParaRPr/>
          </a:p>
          <a:p>
            <a:pPr indent="0" lvl="0" marL="0" rtl="0" algn="l">
              <a:spcBef>
                <a:spcPts val="360"/>
              </a:spcBef>
              <a:spcAft>
                <a:spcPts val="0"/>
              </a:spcAft>
              <a:buNone/>
            </a:pPr>
            <a:r>
              <a:t/>
            </a:r>
            <a:endParaRPr/>
          </a:p>
          <a:p>
            <a:pPr indent="-76200" lvl="0" marL="0" rtl="0" algn="l">
              <a:spcBef>
                <a:spcPts val="360"/>
              </a:spcBef>
              <a:spcAft>
                <a:spcPts val="0"/>
              </a:spcAft>
              <a:buClr>
                <a:schemeClr val="dk1"/>
              </a:buClr>
              <a:buSzPts val="1200"/>
              <a:buFont typeface="Calibri"/>
              <a:buChar char="•"/>
            </a:pPr>
            <a:r>
              <a:rPr lang="en-US"/>
              <a:t>The pile</a:t>
            </a:r>
            <a:endParaRPr/>
          </a:p>
          <a:p>
            <a:pPr indent="0" lvl="0" marL="0" rtl="0" algn="l">
              <a:spcBef>
                <a:spcPts val="360"/>
              </a:spcBef>
              <a:spcAft>
                <a:spcPts val="0"/>
              </a:spcAft>
              <a:buNone/>
            </a:pPr>
            <a:r>
              <a:rPr lang="en-US"/>
              <a:t>• The sequential file</a:t>
            </a:r>
            <a:endParaRPr/>
          </a:p>
          <a:p>
            <a:pPr indent="0" lvl="0" marL="0" rtl="0" algn="l">
              <a:spcBef>
                <a:spcPts val="360"/>
              </a:spcBef>
              <a:spcAft>
                <a:spcPts val="0"/>
              </a:spcAft>
              <a:buNone/>
            </a:pPr>
            <a:r>
              <a:rPr lang="en-US"/>
              <a:t>• The indexed sequential file</a:t>
            </a:r>
            <a:endParaRPr/>
          </a:p>
          <a:p>
            <a:pPr indent="0" lvl="0" marL="0" rtl="0" algn="l">
              <a:spcBef>
                <a:spcPts val="360"/>
              </a:spcBef>
              <a:spcAft>
                <a:spcPts val="0"/>
              </a:spcAft>
              <a:buNone/>
            </a:pPr>
            <a:r>
              <a:rPr lang="en-US"/>
              <a:t>• The indexed file</a:t>
            </a:r>
            <a:endParaRPr/>
          </a:p>
          <a:p>
            <a:pPr indent="0" lvl="0" marL="0" rtl="0" algn="l">
              <a:spcBef>
                <a:spcPts val="360"/>
              </a:spcBef>
              <a:spcAft>
                <a:spcPts val="0"/>
              </a:spcAft>
              <a:buNone/>
            </a:pPr>
            <a:r>
              <a:rPr lang="en-US"/>
              <a:t>• The direct, or hashed, file</a:t>
            </a:r>
            <a:endParaRPr/>
          </a:p>
        </p:txBody>
      </p:sp>
      <p:sp>
        <p:nvSpPr>
          <p:cNvPr id="426" name="Google Shape;426;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54" name="Google Shape;454;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least-complicated form of file organization may be termed the </a:t>
            </a:r>
            <a:r>
              <a:rPr i="1" lang="en-US"/>
              <a:t>pile . Data are</a:t>
            </a:r>
            <a:endParaRPr/>
          </a:p>
          <a:p>
            <a:pPr indent="0" lvl="0" marL="0" rtl="0" algn="l">
              <a:spcBef>
                <a:spcPts val="360"/>
              </a:spcBef>
              <a:spcAft>
                <a:spcPts val="0"/>
              </a:spcAft>
              <a:buNone/>
            </a:pPr>
            <a:r>
              <a:rPr lang="en-US"/>
              <a:t>collected in the order in which they arrive. Each record consists of one burst of</a:t>
            </a:r>
            <a:endParaRPr/>
          </a:p>
          <a:p>
            <a:pPr indent="0" lvl="0" marL="0" rtl="0" algn="l">
              <a:spcBef>
                <a:spcPts val="360"/>
              </a:spcBef>
              <a:spcAft>
                <a:spcPts val="0"/>
              </a:spcAft>
              <a:buNone/>
            </a:pPr>
            <a:r>
              <a:rPr lang="en-US"/>
              <a:t>data. The purpose of the pile is simply to accumulate the mass of data and save it.</a:t>
            </a:r>
            <a:endParaRPr/>
          </a:p>
          <a:p>
            <a:pPr indent="0" lvl="0" marL="0" rtl="0" algn="l">
              <a:spcBef>
                <a:spcPts val="360"/>
              </a:spcBef>
              <a:spcAft>
                <a:spcPts val="0"/>
              </a:spcAft>
              <a:buNone/>
            </a:pPr>
            <a:r>
              <a:rPr lang="en-US"/>
              <a:t>Records may have different fields, or similar fields in different orders. Thus, each</a:t>
            </a:r>
            <a:endParaRPr/>
          </a:p>
          <a:p>
            <a:pPr indent="0" lvl="0" marL="0" rtl="0" algn="l">
              <a:spcBef>
                <a:spcPts val="360"/>
              </a:spcBef>
              <a:spcAft>
                <a:spcPts val="0"/>
              </a:spcAft>
              <a:buNone/>
            </a:pPr>
            <a:r>
              <a:rPr lang="en-US"/>
              <a:t>field should be self-describing, including a field name as well as a value. The length</a:t>
            </a:r>
            <a:endParaRPr/>
          </a:p>
          <a:p>
            <a:pPr indent="0" lvl="0" marL="0" rtl="0" algn="l">
              <a:spcBef>
                <a:spcPts val="360"/>
              </a:spcBef>
              <a:spcAft>
                <a:spcPts val="0"/>
              </a:spcAft>
              <a:buNone/>
            </a:pPr>
            <a:r>
              <a:rPr lang="en-US"/>
              <a:t>of each field must be implicitly indicated by delimiters, explicitly included as a subfield,</a:t>
            </a:r>
            <a:endParaRPr/>
          </a:p>
          <a:p>
            <a:pPr indent="0" lvl="0" marL="0" rtl="0" algn="l">
              <a:spcBef>
                <a:spcPts val="360"/>
              </a:spcBef>
              <a:spcAft>
                <a:spcPts val="0"/>
              </a:spcAft>
              <a:buNone/>
            </a:pPr>
            <a:r>
              <a:rPr lang="en-US"/>
              <a:t>or known as default for that field type.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Because there is no structure to the pile file, record access is by exhaustive</a:t>
            </a:r>
            <a:endParaRPr/>
          </a:p>
          <a:p>
            <a:pPr indent="0" lvl="0" marL="0" rtl="0" algn="l">
              <a:spcBef>
                <a:spcPts val="360"/>
              </a:spcBef>
              <a:spcAft>
                <a:spcPts val="0"/>
              </a:spcAft>
              <a:buNone/>
            </a:pPr>
            <a:r>
              <a:rPr lang="en-US"/>
              <a:t>search. That is, if we wish to find a record that contains a particular field with a</a:t>
            </a:r>
            <a:endParaRPr/>
          </a:p>
          <a:p>
            <a:pPr indent="0" lvl="0" marL="0" rtl="0" algn="l">
              <a:spcBef>
                <a:spcPts val="360"/>
              </a:spcBef>
              <a:spcAft>
                <a:spcPts val="0"/>
              </a:spcAft>
              <a:buNone/>
            </a:pPr>
            <a:r>
              <a:rPr lang="en-US"/>
              <a:t>particular value, it is necessary to examine each record in the pile until the desired</a:t>
            </a:r>
            <a:endParaRPr/>
          </a:p>
          <a:p>
            <a:pPr indent="0" lvl="0" marL="0" rtl="0" algn="l">
              <a:spcBef>
                <a:spcPts val="360"/>
              </a:spcBef>
              <a:spcAft>
                <a:spcPts val="0"/>
              </a:spcAft>
              <a:buNone/>
            </a:pPr>
            <a:r>
              <a:rPr lang="en-US"/>
              <a:t>record is found or the entire file has been searched. If we wish to find all records</a:t>
            </a:r>
            <a:endParaRPr/>
          </a:p>
          <a:p>
            <a:pPr indent="0" lvl="0" marL="0" rtl="0" algn="l">
              <a:spcBef>
                <a:spcPts val="360"/>
              </a:spcBef>
              <a:spcAft>
                <a:spcPts val="0"/>
              </a:spcAft>
              <a:buNone/>
            </a:pPr>
            <a:r>
              <a:rPr lang="en-US"/>
              <a:t>that contain a particular field or contain that field with a particular value, then the</a:t>
            </a:r>
            <a:endParaRPr/>
          </a:p>
          <a:p>
            <a:pPr indent="0" lvl="0" marL="0" rtl="0" algn="l">
              <a:spcBef>
                <a:spcPts val="360"/>
              </a:spcBef>
              <a:spcAft>
                <a:spcPts val="0"/>
              </a:spcAft>
              <a:buNone/>
            </a:pPr>
            <a:r>
              <a:rPr lang="en-US"/>
              <a:t>entire file must be searched.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Pile files are encountered when data are collected and stored prior to processing</a:t>
            </a:r>
            <a:endParaRPr/>
          </a:p>
          <a:p>
            <a:pPr indent="0" lvl="0" marL="0" rtl="0" algn="l">
              <a:spcBef>
                <a:spcPts val="360"/>
              </a:spcBef>
              <a:spcAft>
                <a:spcPts val="0"/>
              </a:spcAft>
              <a:buNone/>
            </a:pPr>
            <a:r>
              <a:rPr lang="en-US"/>
              <a:t>or when data are not easy to organize. This type of file uses space well when the</a:t>
            </a:r>
            <a:endParaRPr/>
          </a:p>
          <a:p>
            <a:pPr indent="0" lvl="0" marL="0" rtl="0" algn="l">
              <a:spcBef>
                <a:spcPts val="360"/>
              </a:spcBef>
              <a:spcAft>
                <a:spcPts val="0"/>
              </a:spcAft>
              <a:buNone/>
            </a:pPr>
            <a:r>
              <a:rPr lang="en-US"/>
              <a:t>stored data vary in size and structure, is perfectly adequate for exhaustive searches,</a:t>
            </a:r>
            <a:endParaRPr/>
          </a:p>
          <a:p>
            <a:pPr indent="0" lvl="0" marL="0" rtl="0" algn="l">
              <a:spcBef>
                <a:spcPts val="360"/>
              </a:spcBef>
              <a:spcAft>
                <a:spcPts val="0"/>
              </a:spcAft>
              <a:buNone/>
            </a:pPr>
            <a:r>
              <a:rPr lang="en-US"/>
              <a:t>and is easy to update. However, beyond these limited uses, this type of file is unsuitable</a:t>
            </a:r>
            <a:endParaRPr/>
          </a:p>
          <a:p>
            <a:pPr indent="0" lvl="0" marL="0" rtl="0" algn="l">
              <a:spcBef>
                <a:spcPts val="360"/>
              </a:spcBef>
              <a:spcAft>
                <a:spcPts val="0"/>
              </a:spcAft>
              <a:buNone/>
            </a:pPr>
            <a:r>
              <a:rPr lang="en-US"/>
              <a:t>for most applications.</a:t>
            </a:r>
            <a:endParaRPr/>
          </a:p>
        </p:txBody>
      </p:sp>
      <p:sp>
        <p:nvSpPr>
          <p:cNvPr id="455" name="Google Shape;45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2" name="Google Shape;462;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least-complicated form of file organization may be termed the </a:t>
            </a:r>
            <a:r>
              <a:rPr i="1" lang="en-US"/>
              <a:t>pile . Data are</a:t>
            </a:r>
            <a:endParaRPr/>
          </a:p>
          <a:p>
            <a:pPr indent="0" lvl="0" marL="0" rtl="0" algn="l">
              <a:spcBef>
                <a:spcPts val="360"/>
              </a:spcBef>
              <a:spcAft>
                <a:spcPts val="0"/>
              </a:spcAft>
              <a:buNone/>
            </a:pPr>
            <a:r>
              <a:rPr lang="en-US"/>
              <a:t>collected in the order in which they arrive. Each record consists of one burst of</a:t>
            </a:r>
            <a:endParaRPr/>
          </a:p>
          <a:p>
            <a:pPr indent="0" lvl="0" marL="0" rtl="0" algn="l">
              <a:spcBef>
                <a:spcPts val="360"/>
              </a:spcBef>
              <a:spcAft>
                <a:spcPts val="0"/>
              </a:spcAft>
              <a:buNone/>
            </a:pPr>
            <a:r>
              <a:rPr lang="en-US"/>
              <a:t>data. The purpose of the pile is simply to accumulate the mass of data and save it.</a:t>
            </a:r>
            <a:endParaRPr/>
          </a:p>
          <a:p>
            <a:pPr indent="0" lvl="0" marL="0" rtl="0" algn="l">
              <a:spcBef>
                <a:spcPts val="360"/>
              </a:spcBef>
              <a:spcAft>
                <a:spcPts val="0"/>
              </a:spcAft>
              <a:buNone/>
            </a:pPr>
            <a:r>
              <a:rPr lang="en-US"/>
              <a:t>Records may have different fields, or similar fields in different orders. Thus, each</a:t>
            </a:r>
            <a:endParaRPr/>
          </a:p>
          <a:p>
            <a:pPr indent="0" lvl="0" marL="0" rtl="0" algn="l">
              <a:spcBef>
                <a:spcPts val="360"/>
              </a:spcBef>
              <a:spcAft>
                <a:spcPts val="0"/>
              </a:spcAft>
              <a:buNone/>
            </a:pPr>
            <a:r>
              <a:rPr lang="en-US"/>
              <a:t>field should be self-describing, including a field name as well as a value. The length</a:t>
            </a:r>
            <a:endParaRPr/>
          </a:p>
          <a:p>
            <a:pPr indent="0" lvl="0" marL="0" rtl="0" algn="l">
              <a:spcBef>
                <a:spcPts val="360"/>
              </a:spcBef>
              <a:spcAft>
                <a:spcPts val="0"/>
              </a:spcAft>
              <a:buNone/>
            </a:pPr>
            <a:r>
              <a:rPr lang="en-US"/>
              <a:t>of each field must be implicitly indicated by delimiters, explicitly included as a subfield,</a:t>
            </a:r>
            <a:endParaRPr/>
          </a:p>
          <a:p>
            <a:pPr indent="0" lvl="0" marL="0" rtl="0" algn="l">
              <a:spcBef>
                <a:spcPts val="360"/>
              </a:spcBef>
              <a:spcAft>
                <a:spcPts val="0"/>
              </a:spcAft>
              <a:buNone/>
            </a:pPr>
            <a:r>
              <a:rPr lang="en-US"/>
              <a:t>or known as default for that field type.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Because there is no structure to the pile file, record access is by exhaustive</a:t>
            </a:r>
            <a:endParaRPr/>
          </a:p>
          <a:p>
            <a:pPr indent="0" lvl="0" marL="0" rtl="0" algn="l">
              <a:spcBef>
                <a:spcPts val="360"/>
              </a:spcBef>
              <a:spcAft>
                <a:spcPts val="0"/>
              </a:spcAft>
              <a:buNone/>
            </a:pPr>
            <a:r>
              <a:rPr lang="en-US"/>
              <a:t>search. That is, if we wish to find a record that contains a particular field with a</a:t>
            </a:r>
            <a:endParaRPr/>
          </a:p>
          <a:p>
            <a:pPr indent="0" lvl="0" marL="0" rtl="0" algn="l">
              <a:spcBef>
                <a:spcPts val="360"/>
              </a:spcBef>
              <a:spcAft>
                <a:spcPts val="0"/>
              </a:spcAft>
              <a:buNone/>
            </a:pPr>
            <a:r>
              <a:rPr lang="en-US"/>
              <a:t>particular value, it is necessary to examine each record in the pile until the desired</a:t>
            </a:r>
            <a:endParaRPr/>
          </a:p>
          <a:p>
            <a:pPr indent="0" lvl="0" marL="0" rtl="0" algn="l">
              <a:spcBef>
                <a:spcPts val="360"/>
              </a:spcBef>
              <a:spcAft>
                <a:spcPts val="0"/>
              </a:spcAft>
              <a:buNone/>
            </a:pPr>
            <a:r>
              <a:rPr lang="en-US"/>
              <a:t>record is found or the entire file has been searched. If we wish to find all records</a:t>
            </a:r>
            <a:endParaRPr/>
          </a:p>
          <a:p>
            <a:pPr indent="0" lvl="0" marL="0" rtl="0" algn="l">
              <a:spcBef>
                <a:spcPts val="360"/>
              </a:spcBef>
              <a:spcAft>
                <a:spcPts val="0"/>
              </a:spcAft>
              <a:buNone/>
            </a:pPr>
            <a:r>
              <a:rPr lang="en-US"/>
              <a:t>that contain a particular field or contain that field with a particular value, then the</a:t>
            </a:r>
            <a:endParaRPr/>
          </a:p>
          <a:p>
            <a:pPr indent="0" lvl="0" marL="0" rtl="0" algn="l">
              <a:spcBef>
                <a:spcPts val="360"/>
              </a:spcBef>
              <a:spcAft>
                <a:spcPts val="0"/>
              </a:spcAft>
              <a:buNone/>
            </a:pPr>
            <a:r>
              <a:rPr lang="en-US"/>
              <a:t>entire file must be searched.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Pile files are encountered when data are collected and stored prior to processing</a:t>
            </a:r>
            <a:endParaRPr/>
          </a:p>
          <a:p>
            <a:pPr indent="0" lvl="0" marL="0" rtl="0" algn="l">
              <a:spcBef>
                <a:spcPts val="360"/>
              </a:spcBef>
              <a:spcAft>
                <a:spcPts val="0"/>
              </a:spcAft>
              <a:buNone/>
            </a:pPr>
            <a:r>
              <a:rPr lang="en-US"/>
              <a:t>or when data are not easy to organize. This type of file uses space well when the</a:t>
            </a:r>
            <a:endParaRPr/>
          </a:p>
          <a:p>
            <a:pPr indent="0" lvl="0" marL="0" rtl="0" algn="l">
              <a:spcBef>
                <a:spcPts val="360"/>
              </a:spcBef>
              <a:spcAft>
                <a:spcPts val="0"/>
              </a:spcAft>
              <a:buNone/>
            </a:pPr>
            <a:r>
              <a:rPr lang="en-US"/>
              <a:t>stored data vary in size and structure, is perfectly adequate for exhaustive searches,</a:t>
            </a:r>
            <a:endParaRPr/>
          </a:p>
          <a:p>
            <a:pPr indent="0" lvl="0" marL="0" rtl="0" algn="l">
              <a:spcBef>
                <a:spcPts val="360"/>
              </a:spcBef>
              <a:spcAft>
                <a:spcPts val="0"/>
              </a:spcAft>
              <a:buNone/>
            </a:pPr>
            <a:r>
              <a:rPr lang="en-US"/>
              <a:t>and is easy to update. However, beyond these limited uses, this type of file is unsuitable</a:t>
            </a:r>
            <a:endParaRPr/>
          </a:p>
          <a:p>
            <a:pPr indent="0" lvl="0" marL="0" rtl="0" algn="l">
              <a:spcBef>
                <a:spcPts val="360"/>
              </a:spcBef>
              <a:spcAft>
                <a:spcPts val="0"/>
              </a:spcAft>
              <a:buNone/>
            </a:pPr>
            <a:r>
              <a:rPr lang="en-US"/>
              <a:t>for most applications.</a:t>
            </a:r>
            <a:endParaRPr/>
          </a:p>
        </p:txBody>
      </p:sp>
      <p:sp>
        <p:nvSpPr>
          <p:cNvPr id="463" name="Google Shape;463;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70" name="Google Shape;47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least-complicated form of file organization may be termed the </a:t>
            </a:r>
            <a:r>
              <a:rPr i="1" lang="en-US"/>
              <a:t>pile . Data are</a:t>
            </a:r>
            <a:endParaRPr/>
          </a:p>
          <a:p>
            <a:pPr indent="0" lvl="0" marL="0" rtl="0" algn="l">
              <a:spcBef>
                <a:spcPts val="360"/>
              </a:spcBef>
              <a:spcAft>
                <a:spcPts val="0"/>
              </a:spcAft>
              <a:buNone/>
            </a:pPr>
            <a:r>
              <a:rPr lang="en-US"/>
              <a:t>collected in the order in which they arrive. Each record consists of one burst of</a:t>
            </a:r>
            <a:endParaRPr/>
          </a:p>
          <a:p>
            <a:pPr indent="0" lvl="0" marL="0" rtl="0" algn="l">
              <a:spcBef>
                <a:spcPts val="360"/>
              </a:spcBef>
              <a:spcAft>
                <a:spcPts val="0"/>
              </a:spcAft>
              <a:buNone/>
            </a:pPr>
            <a:r>
              <a:rPr lang="en-US"/>
              <a:t>data. The purpose of the pile is simply to accumulate the mass of data and save it.</a:t>
            </a:r>
            <a:endParaRPr/>
          </a:p>
          <a:p>
            <a:pPr indent="0" lvl="0" marL="0" rtl="0" algn="l">
              <a:spcBef>
                <a:spcPts val="360"/>
              </a:spcBef>
              <a:spcAft>
                <a:spcPts val="0"/>
              </a:spcAft>
              <a:buNone/>
            </a:pPr>
            <a:r>
              <a:rPr lang="en-US"/>
              <a:t>Records may have different fields, or similar fields in different orders. Thus, each</a:t>
            </a:r>
            <a:endParaRPr/>
          </a:p>
          <a:p>
            <a:pPr indent="0" lvl="0" marL="0" rtl="0" algn="l">
              <a:spcBef>
                <a:spcPts val="360"/>
              </a:spcBef>
              <a:spcAft>
                <a:spcPts val="0"/>
              </a:spcAft>
              <a:buNone/>
            </a:pPr>
            <a:r>
              <a:rPr lang="en-US"/>
              <a:t>field should be self-describing, including a field name as well as a value. The length</a:t>
            </a:r>
            <a:endParaRPr/>
          </a:p>
          <a:p>
            <a:pPr indent="0" lvl="0" marL="0" rtl="0" algn="l">
              <a:spcBef>
                <a:spcPts val="360"/>
              </a:spcBef>
              <a:spcAft>
                <a:spcPts val="0"/>
              </a:spcAft>
              <a:buNone/>
            </a:pPr>
            <a:r>
              <a:rPr lang="en-US"/>
              <a:t>of each field must be implicitly indicated by delimiters, explicitly included as a subfield,</a:t>
            </a:r>
            <a:endParaRPr/>
          </a:p>
          <a:p>
            <a:pPr indent="0" lvl="0" marL="0" rtl="0" algn="l">
              <a:spcBef>
                <a:spcPts val="360"/>
              </a:spcBef>
              <a:spcAft>
                <a:spcPts val="0"/>
              </a:spcAft>
              <a:buNone/>
            </a:pPr>
            <a:r>
              <a:rPr lang="en-US"/>
              <a:t>or known as default for that field type.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Because there is no structure to the pile file, record access is by exhaustive</a:t>
            </a:r>
            <a:endParaRPr/>
          </a:p>
          <a:p>
            <a:pPr indent="0" lvl="0" marL="0" rtl="0" algn="l">
              <a:spcBef>
                <a:spcPts val="360"/>
              </a:spcBef>
              <a:spcAft>
                <a:spcPts val="0"/>
              </a:spcAft>
              <a:buNone/>
            </a:pPr>
            <a:r>
              <a:rPr lang="en-US"/>
              <a:t>search. That is, if we wish to find a record that contains a particular field with a</a:t>
            </a:r>
            <a:endParaRPr/>
          </a:p>
          <a:p>
            <a:pPr indent="0" lvl="0" marL="0" rtl="0" algn="l">
              <a:spcBef>
                <a:spcPts val="360"/>
              </a:spcBef>
              <a:spcAft>
                <a:spcPts val="0"/>
              </a:spcAft>
              <a:buNone/>
            </a:pPr>
            <a:r>
              <a:rPr lang="en-US"/>
              <a:t>particular value, it is necessary to examine each record in the pile until the desired</a:t>
            </a:r>
            <a:endParaRPr/>
          </a:p>
          <a:p>
            <a:pPr indent="0" lvl="0" marL="0" rtl="0" algn="l">
              <a:spcBef>
                <a:spcPts val="360"/>
              </a:spcBef>
              <a:spcAft>
                <a:spcPts val="0"/>
              </a:spcAft>
              <a:buNone/>
            </a:pPr>
            <a:r>
              <a:rPr lang="en-US"/>
              <a:t>record is found or the entire file has been searched. If we wish to find all records</a:t>
            </a:r>
            <a:endParaRPr/>
          </a:p>
          <a:p>
            <a:pPr indent="0" lvl="0" marL="0" rtl="0" algn="l">
              <a:spcBef>
                <a:spcPts val="360"/>
              </a:spcBef>
              <a:spcAft>
                <a:spcPts val="0"/>
              </a:spcAft>
              <a:buNone/>
            </a:pPr>
            <a:r>
              <a:rPr lang="en-US"/>
              <a:t>that contain a particular field or contain that field with a particular value, then the</a:t>
            </a:r>
            <a:endParaRPr/>
          </a:p>
          <a:p>
            <a:pPr indent="0" lvl="0" marL="0" rtl="0" algn="l">
              <a:spcBef>
                <a:spcPts val="360"/>
              </a:spcBef>
              <a:spcAft>
                <a:spcPts val="0"/>
              </a:spcAft>
              <a:buNone/>
            </a:pPr>
            <a:r>
              <a:rPr lang="en-US"/>
              <a:t>entire file must be searched.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Pile files are encountered when data are collected and stored prior to processing</a:t>
            </a:r>
            <a:endParaRPr/>
          </a:p>
          <a:p>
            <a:pPr indent="0" lvl="0" marL="0" rtl="0" algn="l">
              <a:spcBef>
                <a:spcPts val="360"/>
              </a:spcBef>
              <a:spcAft>
                <a:spcPts val="0"/>
              </a:spcAft>
              <a:buNone/>
            </a:pPr>
            <a:r>
              <a:rPr lang="en-US"/>
              <a:t>or when data are not easy to organize. This type of file uses space well when the</a:t>
            </a:r>
            <a:endParaRPr/>
          </a:p>
          <a:p>
            <a:pPr indent="0" lvl="0" marL="0" rtl="0" algn="l">
              <a:spcBef>
                <a:spcPts val="360"/>
              </a:spcBef>
              <a:spcAft>
                <a:spcPts val="0"/>
              </a:spcAft>
              <a:buNone/>
            </a:pPr>
            <a:r>
              <a:rPr lang="en-US"/>
              <a:t>stored data vary in size and structure, is perfectly adequate for exhaustive searches,</a:t>
            </a:r>
            <a:endParaRPr/>
          </a:p>
          <a:p>
            <a:pPr indent="0" lvl="0" marL="0" rtl="0" algn="l">
              <a:spcBef>
                <a:spcPts val="360"/>
              </a:spcBef>
              <a:spcAft>
                <a:spcPts val="0"/>
              </a:spcAft>
              <a:buNone/>
            </a:pPr>
            <a:r>
              <a:rPr lang="en-US"/>
              <a:t>and is easy to update. However, beyond these limited uses, this type of file is unsuitable</a:t>
            </a:r>
            <a:endParaRPr/>
          </a:p>
          <a:p>
            <a:pPr indent="0" lvl="0" marL="0" rtl="0" algn="l">
              <a:spcBef>
                <a:spcPts val="360"/>
              </a:spcBef>
              <a:spcAft>
                <a:spcPts val="0"/>
              </a:spcAft>
              <a:buNone/>
            </a:pPr>
            <a:r>
              <a:rPr lang="en-US"/>
              <a:t>for most applications.</a:t>
            </a:r>
            <a:endParaRPr/>
          </a:p>
        </p:txBody>
      </p:sp>
      <p:sp>
        <p:nvSpPr>
          <p:cNvPr id="471" name="Google Shape;471;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78" name="Google Shape;478;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most common form of file structure is the sequential file. In this type of file,</a:t>
            </a:r>
            <a:endParaRPr/>
          </a:p>
          <a:p>
            <a:pPr indent="0" lvl="0" marL="0" rtl="0" algn="l">
              <a:spcBef>
                <a:spcPts val="360"/>
              </a:spcBef>
              <a:spcAft>
                <a:spcPts val="0"/>
              </a:spcAft>
              <a:buNone/>
            </a:pPr>
            <a:r>
              <a:rPr lang="en-US"/>
              <a:t>a fixed format is used for records. All records are of the same length, consisting of</a:t>
            </a:r>
            <a:endParaRPr/>
          </a:p>
          <a:p>
            <a:pPr indent="0" lvl="0" marL="0" rtl="0" algn="l">
              <a:spcBef>
                <a:spcPts val="360"/>
              </a:spcBef>
              <a:spcAft>
                <a:spcPts val="0"/>
              </a:spcAft>
              <a:buNone/>
            </a:pPr>
            <a:r>
              <a:rPr lang="en-US"/>
              <a:t>the same number of fixed-length fields in a particular order. Because the length and</a:t>
            </a:r>
            <a:endParaRPr/>
          </a:p>
          <a:p>
            <a:pPr indent="0" lvl="0" marL="0" rtl="0" algn="l">
              <a:spcBef>
                <a:spcPts val="360"/>
              </a:spcBef>
              <a:spcAft>
                <a:spcPts val="0"/>
              </a:spcAft>
              <a:buNone/>
            </a:pPr>
            <a:r>
              <a:rPr lang="en-US"/>
              <a:t>position of each field are known, only the values of fields need to be stored; the field</a:t>
            </a:r>
            <a:endParaRPr/>
          </a:p>
          <a:p>
            <a:pPr indent="0" lvl="0" marL="0" rtl="0" algn="l">
              <a:spcBef>
                <a:spcPts val="360"/>
              </a:spcBef>
              <a:spcAft>
                <a:spcPts val="0"/>
              </a:spcAft>
              <a:buNone/>
            </a:pPr>
            <a:r>
              <a:rPr lang="en-US"/>
              <a:t>name and length for each field are attributes of the file structure.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One particular field, usually the first field in each record, is referred to as the</a:t>
            </a:r>
            <a:endParaRPr/>
          </a:p>
          <a:p>
            <a:pPr indent="0" lvl="0" marL="0" rtl="0" algn="l">
              <a:spcBef>
                <a:spcPts val="360"/>
              </a:spcBef>
              <a:spcAft>
                <a:spcPts val="0"/>
              </a:spcAft>
              <a:buNone/>
            </a:pPr>
            <a:r>
              <a:rPr b="1" lang="en-US"/>
              <a:t>key field . The key field uniquely identifies the record; thus key values for different</a:t>
            </a:r>
            <a:endParaRPr/>
          </a:p>
          <a:p>
            <a:pPr indent="0" lvl="0" marL="0" rtl="0" algn="l">
              <a:spcBef>
                <a:spcPts val="360"/>
              </a:spcBef>
              <a:spcAft>
                <a:spcPts val="0"/>
              </a:spcAft>
              <a:buNone/>
            </a:pPr>
            <a:r>
              <a:rPr lang="en-US"/>
              <a:t>records are always different. Further, the records are stored in key sequence: alphabetical</a:t>
            </a:r>
            <a:endParaRPr/>
          </a:p>
          <a:p>
            <a:pPr indent="0" lvl="0" marL="0" rtl="0" algn="l">
              <a:spcBef>
                <a:spcPts val="360"/>
              </a:spcBef>
              <a:spcAft>
                <a:spcPts val="0"/>
              </a:spcAft>
              <a:buNone/>
            </a:pPr>
            <a:r>
              <a:rPr lang="en-US"/>
              <a:t>order for a text key, and numerical order for a numerical key.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Sequential files are typically used in batch applications and are generally</a:t>
            </a:r>
            <a:endParaRPr/>
          </a:p>
          <a:p>
            <a:pPr indent="0" lvl="0" marL="0" rtl="0" algn="l">
              <a:spcBef>
                <a:spcPts val="360"/>
              </a:spcBef>
              <a:spcAft>
                <a:spcPts val="0"/>
              </a:spcAft>
              <a:buNone/>
            </a:pPr>
            <a:r>
              <a:rPr lang="en-US"/>
              <a:t>optimum for such applications if they involve the processing of all the records (e.g.,</a:t>
            </a:r>
            <a:endParaRPr/>
          </a:p>
          <a:p>
            <a:pPr indent="0" lvl="0" marL="0" rtl="0" algn="l">
              <a:spcBef>
                <a:spcPts val="360"/>
              </a:spcBef>
              <a:spcAft>
                <a:spcPts val="0"/>
              </a:spcAft>
              <a:buNone/>
            </a:pPr>
            <a:r>
              <a:rPr lang="en-US"/>
              <a:t>a billing or payroll application). The sequential file organization is the only one that</a:t>
            </a:r>
            <a:endParaRPr/>
          </a:p>
          <a:p>
            <a:pPr indent="0" lvl="0" marL="0" rtl="0" algn="l">
              <a:spcBef>
                <a:spcPts val="360"/>
              </a:spcBef>
              <a:spcAft>
                <a:spcPts val="0"/>
              </a:spcAft>
              <a:buNone/>
            </a:pPr>
            <a:r>
              <a:rPr lang="en-US"/>
              <a:t>is easily stored on tape as well as disk.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For interactive applications that involve queries and/or updates of individual</a:t>
            </a:r>
            <a:endParaRPr/>
          </a:p>
          <a:p>
            <a:pPr indent="0" lvl="0" marL="0" rtl="0" algn="l">
              <a:spcBef>
                <a:spcPts val="360"/>
              </a:spcBef>
              <a:spcAft>
                <a:spcPts val="0"/>
              </a:spcAft>
              <a:buNone/>
            </a:pPr>
            <a:r>
              <a:rPr lang="en-US"/>
              <a:t>records, the sequential file provides poor performance. Access requires the sequential</a:t>
            </a:r>
            <a:endParaRPr/>
          </a:p>
          <a:p>
            <a:pPr indent="0" lvl="0" marL="0" rtl="0" algn="l">
              <a:spcBef>
                <a:spcPts val="360"/>
              </a:spcBef>
              <a:spcAft>
                <a:spcPts val="0"/>
              </a:spcAft>
              <a:buNone/>
            </a:pPr>
            <a:r>
              <a:rPr lang="en-US"/>
              <a:t>search of the file for a key match. If the entire file, or a large portion of the</a:t>
            </a:r>
            <a:endParaRPr/>
          </a:p>
          <a:p>
            <a:pPr indent="0" lvl="0" marL="0" rtl="0" algn="l">
              <a:spcBef>
                <a:spcPts val="360"/>
              </a:spcBef>
              <a:spcAft>
                <a:spcPts val="0"/>
              </a:spcAft>
              <a:buNone/>
            </a:pPr>
            <a:r>
              <a:rPr lang="en-US"/>
              <a:t>file, can be brought into main memory at one time, more efficient search techniques</a:t>
            </a:r>
            <a:endParaRPr/>
          </a:p>
          <a:p>
            <a:pPr indent="0" lvl="0" marL="0" rtl="0" algn="l">
              <a:spcBef>
                <a:spcPts val="360"/>
              </a:spcBef>
              <a:spcAft>
                <a:spcPts val="0"/>
              </a:spcAft>
              <a:buNone/>
            </a:pPr>
            <a:r>
              <a:rPr lang="en-US"/>
              <a:t>are possible. Nevertheless, considerable processing and delay are encountered to</a:t>
            </a:r>
            <a:endParaRPr/>
          </a:p>
          <a:p>
            <a:pPr indent="0" lvl="0" marL="0" rtl="0" algn="l">
              <a:spcBef>
                <a:spcPts val="360"/>
              </a:spcBef>
              <a:spcAft>
                <a:spcPts val="0"/>
              </a:spcAft>
              <a:buNone/>
            </a:pPr>
            <a:r>
              <a:rPr lang="en-US"/>
              <a:t>access a record in a large sequential file. Additions to the file also present problems.</a:t>
            </a:r>
            <a:endParaRPr/>
          </a:p>
          <a:p>
            <a:pPr indent="0" lvl="0" marL="0" rtl="0" algn="l">
              <a:spcBef>
                <a:spcPts val="360"/>
              </a:spcBef>
              <a:spcAft>
                <a:spcPts val="0"/>
              </a:spcAft>
              <a:buNone/>
            </a:pPr>
            <a:r>
              <a:rPr lang="en-US"/>
              <a:t>Typically, a sequential file is stored in simple sequential ordering of the records within</a:t>
            </a:r>
            <a:endParaRPr/>
          </a:p>
          <a:p>
            <a:pPr indent="0" lvl="0" marL="0" rtl="0" algn="l">
              <a:spcBef>
                <a:spcPts val="360"/>
              </a:spcBef>
              <a:spcAft>
                <a:spcPts val="0"/>
              </a:spcAft>
              <a:buNone/>
            </a:pPr>
            <a:r>
              <a:rPr lang="en-US"/>
              <a:t>blocks. That is, the physical organization of the file on tape or disk directly matches</a:t>
            </a:r>
            <a:endParaRPr/>
          </a:p>
          <a:p>
            <a:pPr indent="0" lvl="0" marL="0" rtl="0" algn="l">
              <a:spcBef>
                <a:spcPts val="360"/>
              </a:spcBef>
              <a:spcAft>
                <a:spcPts val="0"/>
              </a:spcAft>
              <a:buNone/>
            </a:pPr>
            <a:r>
              <a:rPr lang="en-US"/>
              <a:t>the logical organization of the file. In this case, the usual procedure is to place new</a:t>
            </a:r>
            <a:endParaRPr/>
          </a:p>
          <a:p>
            <a:pPr indent="0" lvl="0" marL="0" rtl="0" algn="l">
              <a:spcBef>
                <a:spcPts val="360"/>
              </a:spcBef>
              <a:spcAft>
                <a:spcPts val="0"/>
              </a:spcAft>
              <a:buNone/>
            </a:pPr>
            <a:r>
              <a:rPr lang="en-US"/>
              <a:t>records in a separate pile file, called a log file or transaction file. Periodically, a batch</a:t>
            </a:r>
            <a:endParaRPr/>
          </a:p>
          <a:p>
            <a:pPr indent="0" lvl="0" marL="0" rtl="0" algn="l">
              <a:spcBef>
                <a:spcPts val="360"/>
              </a:spcBef>
              <a:spcAft>
                <a:spcPts val="0"/>
              </a:spcAft>
              <a:buNone/>
            </a:pPr>
            <a:r>
              <a:rPr lang="en-US"/>
              <a:t>update is performed that merges the log file with the master file to produce a new file</a:t>
            </a:r>
            <a:endParaRPr/>
          </a:p>
          <a:p>
            <a:pPr indent="0" lvl="0" marL="0" rtl="0" algn="l">
              <a:spcBef>
                <a:spcPts val="360"/>
              </a:spcBef>
              <a:spcAft>
                <a:spcPts val="0"/>
              </a:spcAft>
              <a:buNone/>
            </a:pPr>
            <a:r>
              <a:rPr lang="en-US"/>
              <a:t>in correct key sequence.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An alternative is to organize the sequential file physically as a linked list. One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or more records are stored in each physical block. Each block on disk contains a</a:t>
            </a:r>
            <a:endParaRPr/>
          </a:p>
          <a:p>
            <a:pPr indent="0" lvl="0" marL="0" rtl="0" algn="l">
              <a:spcBef>
                <a:spcPts val="360"/>
              </a:spcBef>
              <a:spcAft>
                <a:spcPts val="0"/>
              </a:spcAft>
              <a:buNone/>
            </a:pPr>
            <a:r>
              <a:rPr lang="en-US"/>
              <a:t>pointer to the next block. The insertion of new records involves pointer manipulation</a:t>
            </a:r>
            <a:endParaRPr/>
          </a:p>
          <a:p>
            <a:pPr indent="0" lvl="0" marL="0" rtl="0" algn="l">
              <a:spcBef>
                <a:spcPts val="360"/>
              </a:spcBef>
              <a:spcAft>
                <a:spcPts val="0"/>
              </a:spcAft>
              <a:buNone/>
            </a:pPr>
            <a:r>
              <a:rPr lang="en-US"/>
              <a:t>but does not require that the new records occupy a particular physical block</a:t>
            </a:r>
            <a:endParaRPr/>
          </a:p>
          <a:p>
            <a:pPr indent="0" lvl="0" marL="0" rtl="0" algn="l">
              <a:spcBef>
                <a:spcPts val="360"/>
              </a:spcBef>
              <a:spcAft>
                <a:spcPts val="0"/>
              </a:spcAft>
              <a:buNone/>
            </a:pPr>
            <a:r>
              <a:rPr lang="en-US"/>
              <a:t>position. Thus, some added convenience is obtained at the cost of additional</a:t>
            </a:r>
            <a:endParaRPr/>
          </a:p>
          <a:p>
            <a:pPr indent="0" lvl="0" marL="0" rtl="0" algn="l">
              <a:spcBef>
                <a:spcPts val="360"/>
              </a:spcBef>
              <a:spcAft>
                <a:spcPts val="0"/>
              </a:spcAft>
              <a:buNone/>
            </a:pPr>
            <a:r>
              <a:rPr lang="en-US"/>
              <a:t>processing and overhead.</a:t>
            </a:r>
            <a:endParaRPr/>
          </a:p>
        </p:txBody>
      </p:sp>
      <p:sp>
        <p:nvSpPr>
          <p:cNvPr id="479" name="Google Shape;479;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86" name="Google Shape;486;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most common form of file structure is the sequential file. In this type of file,</a:t>
            </a:r>
            <a:endParaRPr/>
          </a:p>
          <a:p>
            <a:pPr indent="0" lvl="0" marL="0" rtl="0" algn="l">
              <a:spcBef>
                <a:spcPts val="360"/>
              </a:spcBef>
              <a:spcAft>
                <a:spcPts val="0"/>
              </a:spcAft>
              <a:buNone/>
            </a:pPr>
            <a:r>
              <a:rPr lang="en-US"/>
              <a:t>a fixed format is used for records. All records are of the same length, consisting of</a:t>
            </a:r>
            <a:endParaRPr/>
          </a:p>
          <a:p>
            <a:pPr indent="0" lvl="0" marL="0" rtl="0" algn="l">
              <a:spcBef>
                <a:spcPts val="360"/>
              </a:spcBef>
              <a:spcAft>
                <a:spcPts val="0"/>
              </a:spcAft>
              <a:buNone/>
            </a:pPr>
            <a:r>
              <a:rPr lang="en-US"/>
              <a:t>the same number of fixed-length fields in a particular order. Because the length and</a:t>
            </a:r>
            <a:endParaRPr/>
          </a:p>
          <a:p>
            <a:pPr indent="0" lvl="0" marL="0" rtl="0" algn="l">
              <a:spcBef>
                <a:spcPts val="360"/>
              </a:spcBef>
              <a:spcAft>
                <a:spcPts val="0"/>
              </a:spcAft>
              <a:buNone/>
            </a:pPr>
            <a:r>
              <a:rPr lang="en-US"/>
              <a:t>position of each field are known, only the values of fields need to be stored; the field</a:t>
            </a:r>
            <a:endParaRPr/>
          </a:p>
          <a:p>
            <a:pPr indent="0" lvl="0" marL="0" rtl="0" algn="l">
              <a:spcBef>
                <a:spcPts val="360"/>
              </a:spcBef>
              <a:spcAft>
                <a:spcPts val="0"/>
              </a:spcAft>
              <a:buNone/>
            </a:pPr>
            <a:r>
              <a:rPr lang="en-US"/>
              <a:t>name and length for each field are attributes of the file structure.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One particular field, usually the first field in each record, is referred to as the</a:t>
            </a:r>
            <a:endParaRPr/>
          </a:p>
          <a:p>
            <a:pPr indent="0" lvl="0" marL="0" rtl="0" algn="l">
              <a:spcBef>
                <a:spcPts val="360"/>
              </a:spcBef>
              <a:spcAft>
                <a:spcPts val="0"/>
              </a:spcAft>
              <a:buNone/>
            </a:pPr>
            <a:r>
              <a:rPr b="1" lang="en-US"/>
              <a:t>key field . The key field uniquely identifies the record; thus key values for different</a:t>
            </a:r>
            <a:endParaRPr/>
          </a:p>
          <a:p>
            <a:pPr indent="0" lvl="0" marL="0" rtl="0" algn="l">
              <a:spcBef>
                <a:spcPts val="360"/>
              </a:spcBef>
              <a:spcAft>
                <a:spcPts val="0"/>
              </a:spcAft>
              <a:buNone/>
            </a:pPr>
            <a:r>
              <a:rPr lang="en-US"/>
              <a:t>records are always different. Further, the records are stored in key sequence: alphabetical</a:t>
            </a:r>
            <a:endParaRPr/>
          </a:p>
          <a:p>
            <a:pPr indent="0" lvl="0" marL="0" rtl="0" algn="l">
              <a:spcBef>
                <a:spcPts val="360"/>
              </a:spcBef>
              <a:spcAft>
                <a:spcPts val="0"/>
              </a:spcAft>
              <a:buNone/>
            </a:pPr>
            <a:r>
              <a:rPr lang="en-US"/>
              <a:t>order for a text key, and numerical order for a numerical key.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Sequential files are typically used in batch applications and are generally</a:t>
            </a:r>
            <a:endParaRPr/>
          </a:p>
          <a:p>
            <a:pPr indent="0" lvl="0" marL="0" rtl="0" algn="l">
              <a:spcBef>
                <a:spcPts val="360"/>
              </a:spcBef>
              <a:spcAft>
                <a:spcPts val="0"/>
              </a:spcAft>
              <a:buNone/>
            </a:pPr>
            <a:r>
              <a:rPr lang="en-US"/>
              <a:t>optimum for such applications if they involve the processing of all the records (e.g.,</a:t>
            </a:r>
            <a:endParaRPr/>
          </a:p>
          <a:p>
            <a:pPr indent="0" lvl="0" marL="0" rtl="0" algn="l">
              <a:spcBef>
                <a:spcPts val="360"/>
              </a:spcBef>
              <a:spcAft>
                <a:spcPts val="0"/>
              </a:spcAft>
              <a:buNone/>
            </a:pPr>
            <a:r>
              <a:rPr lang="en-US"/>
              <a:t>a billing or payroll application). The sequential file organization is the only one that</a:t>
            </a:r>
            <a:endParaRPr/>
          </a:p>
          <a:p>
            <a:pPr indent="0" lvl="0" marL="0" rtl="0" algn="l">
              <a:spcBef>
                <a:spcPts val="360"/>
              </a:spcBef>
              <a:spcAft>
                <a:spcPts val="0"/>
              </a:spcAft>
              <a:buNone/>
            </a:pPr>
            <a:r>
              <a:rPr lang="en-US"/>
              <a:t>is easily stored on tape as well as disk.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For interactive applications that involve queries and/or updates of individual</a:t>
            </a:r>
            <a:endParaRPr/>
          </a:p>
          <a:p>
            <a:pPr indent="0" lvl="0" marL="0" rtl="0" algn="l">
              <a:spcBef>
                <a:spcPts val="360"/>
              </a:spcBef>
              <a:spcAft>
                <a:spcPts val="0"/>
              </a:spcAft>
              <a:buNone/>
            </a:pPr>
            <a:r>
              <a:rPr lang="en-US"/>
              <a:t>records, the sequential file provides poor performance. Access requires the sequential</a:t>
            </a:r>
            <a:endParaRPr/>
          </a:p>
          <a:p>
            <a:pPr indent="0" lvl="0" marL="0" rtl="0" algn="l">
              <a:spcBef>
                <a:spcPts val="360"/>
              </a:spcBef>
              <a:spcAft>
                <a:spcPts val="0"/>
              </a:spcAft>
              <a:buNone/>
            </a:pPr>
            <a:r>
              <a:rPr lang="en-US"/>
              <a:t>search of the file for a key match. If the entire file, or a large portion of the</a:t>
            </a:r>
            <a:endParaRPr/>
          </a:p>
          <a:p>
            <a:pPr indent="0" lvl="0" marL="0" rtl="0" algn="l">
              <a:spcBef>
                <a:spcPts val="360"/>
              </a:spcBef>
              <a:spcAft>
                <a:spcPts val="0"/>
              </a:spcAft>
              <a:buNone/>
            </a:pPr>
            <a:r>
              <a:rPr lang="en-US"/>
              <a:t>file, can be brought into main memory at one time, more efficient search techniques</a:t>
            </a:r>
            <a:endParaRPr/>
          </a:p>
          <a:p>
            <a:pPr indent="0" lvl="0" marL="0" rtl="0" algn="l">
              <a:spcBef>
                <a:spcPts val="360"/>
              </a:spcBef>
              <a:spcAft>
                <a:spcPts val="0"/>
              </a:spcAft>
              <a:buNone/>
            </a:pPr>
            <a:r>
              <a:rPr lang="en-US"/>
              <a:t>are possible. Nevertheless, considerable processing and delay are encountered to</a:t>
            </a:r>
            <a:endParaRPr/>
          </a:p>
          <a:p>
            <a:pPr indent="0" lvl="0" marL="0" rtl="0" algn="l">
              <a:spcBef>
                <a:spcPts val="360"/>
              </a:spcBef>
              <a:spcAft>
                <a:spcPts val="0"/>
              </a:spcAft>
              <a:buNone/>
            </a:pPr>
            <a:r>
              <a:rPr lang="en-US"/>
              <a:t>access a record in a large sequential file. Additions to the file also present problems.</a:t>
            </a:r>
            <a:endParaRPr/>
          </a:p>
          <a:p>
            <a:pPr indent="0" lvl="0" marL="0" rtl="0" algn="l">
              <a:spcBef>
                <a:spcPts val="360"/>
              </a:spcBef>
              <a:spcAft>
                <a:spcPts val="0"/>
              </a:spcAft>
              <a:buNone/>
            </a:pPr>
            <a:r>
              <a:rPr lang="en-US"/>
              <a:t>Typically, a sequential file is stored in simple sequential ordering of the records within</a:t>
            </a:r>
            <a:endParaRPr/>
          </a:p>
          <a:p>
            <a:pPr indent="0" lvl="0" marL="0" rtl="0" algn="l">
              <a:spcBef>
                <a:spcPts val="360"/>
              </a:spcBef>
              <a:spcAft>
                <a:spcPts val="0"/>
              </a:spcAft>
              <a:buNone/>
            </a:pPr>
            <a:r>
              <a:rPr lang="en-US"/>
              <a:t>blocks. That is, the physical organization of the file on tape or disk directly matches</a:t>
            </a:r>
            <a:endParaRPr/>
          </a:p>
          <a:p>
            <a:pPr indent="0" lvl="0" marL="0" rtl="0" algn="l">
              <a:spcBef>
                <a:spcPts val="360"/>
              </a:spcBef>
              <a:spcAft>
                <a:spcPts val="0"/>
              </a:spcAft>
              <a:buNone/>
            </a:pPr>
            <a:r>
              <a:rPr lang="en-US"/>
              <a:t>the logical organization of the file. In this case, the usual procedure is to place new</a:t>
            </a:r>
            <a:endParaRPr/>
          </a:p>
          <a:p>
            <a:pPr indent="0" lvl="0" marL="0" rtl="0" algn="l">
              <a:spcBef>
                <a:spcPts val="360"/>
              </a:spcBef>
              <a:spcAft>
                <a:spcPts val="0"/>
              </a:spcAft>
              <a:buNone/>
            </a:pPr>
            <a:r>
              <a:rPr lang="en-US"/>
              <a:t>records in a separate pile file, called a log file or transaction file. Periodically, a batch</a:t>
            </a:r>
            <a:endParaRPr/>
          </a:p>
          <a:p>
            <a:pPr indent="0" lvl="0" marL="0" rtl="0" algn="l">
              <a:spcBef>
                <a:spcPts val="360"/>
              </a:spcBef>
              <a:spcAft>
                <a:spcPts val="0"/>
              </a:spcAft>
              <a:buNone/>
            </a:pPr>
            <a:r>
              <a:rPr lang="en-US"/>
              <a:t>update is performed that merges the log file with the master file to produce a new file</a:t>
            </a:r>
            <a:endParaRPr/>
          </a:p>
          <a:p>
            <a:pPr indent="0" lvl="0" marL="0" rtl="0" algn="l">
              <a:spcBef>
                <a:spcPts val="360"/>
              </a:spcBef>
              <a:spcAft>
                <a:spcPts val="0"/>
              </a:spcAft>
              <a:buNone/>
            </a:pPr>
            <a:r>
              <a:rPr lang="en-US"/>
              <a:t>in correct key sequence.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An alternative is to organize the sequential file physically as a linked list. One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or more records are stored in each physical block. Each block on disk contains a</a:t>
            </a:r>
            <a:endParaRPr/>
          </a:p>
          <a:p>
            <a:pPr indent="0" lvl="0" marL="0" rtl="0" algn="l">
              <a:spcBef>
                <a:spcPts val="360"/>
              </a:spcBef>
              <a:spcAft>
                <a:spcPts val="0"/>
              </a:spcAft>
              <a:buNone/>
            </a:pPr>
            <a:r>
              <a:rPr lang="en-US"/>
              <a:t>pointer to the next block. The insertion of new records involves pointer manipulation</a:t>
            </a:r>
            <a:endParaRPr/>
          </a:p>
          <a:p>
            <a:pPr indent="0" lvl="0" marL="0" rtl="0" algn="l">
              <a:spcBef>
                <a:spcPts val="360"/>
              </a:spcBef>
              <a:spcAft>
                <a:spcPts val="0"/>
              </a:spcAft>
              <a:buNone/>
            </a:pPr>
            <a:r>
              <a:rPr lang="en-US"/>
              <a:t>but does not require that the new records occupy a particular physical block</a:t>
            </a:r>
            <a:endParaRPr/>
          </a:p>
          <a:p>
            <a:pPr indent="0" lvl="0" marL="0" rtl="0" algn="l">
              <a:spcBef>
                <a:spcPts val="360"/>
              </a:spcBef>
              <a:spcAft>
                <a:spcPts val="0"/>
              </a:spcAft>
              <a:buNone/>
            </a:pPr>
            <a:r>
              <a:rPr lang="en-US"/>
              <a:t>position. Thus, some added convenience is obtained at the cost of additional</a:t>
            </a:r>
            <a:endParaRPr/>
          </a:p>
          <a:p>
            <a:pPr indent="0" lvl="0" marL="0" rtl="0" algn="l">
              <a:spcBef>
                <a:spcPts val="360"/>
              </a:spcBef>
              <a:spcAft>
                <a:spcPts val="0"/>
              </a:spcAft>
              <a:buNone/>
            </a:pPr>
            <a:r>
              <a:rPr lang="en-US"/>
              <a:t>processing and overhead.</a:t>
            </a:r>
            <a:endParaRPr/>
          </a:p>
        </p:txBody>
      </p:sp>
      <p:sp>
        <p:nvSpPr>
          <p:cNvPr id="487" name="Google Shape;487;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94" name="Google Shape;494;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most common form of file structure is the sequential file. In this type of file,</a:t>
            </a:r>
            <a:endParaRPr/>
          </a:p>
          <a:p>
            <a:pPr indent="0" lvl="0" marL="0" rtl="0" algn="l">
              <a:spcBef>
                <a:spcPts val="360"/>
              </a:spcBef>
              <a:spcAft>
                <a:spcPts val="0"/>
              </a:spcAft>
              <a:buNone/>
            </a:pPr>
            <a:r>
              <a:rPr lang="en-US"/>
              <a:t>a fixed format is used for records. All records are of the same length, consisting of</a:t>
            </a:r>
            <a:endParaRPr/>
          </a:p>
          <a:p>
            <a:pPr indent="0" lvl="0" marL="0" rtl="0" algn="l">
              <a:spcBef>
                <a:spcPts val="360"/>
              </a:spcBef>
              <a:spcAft>
                <a:spcPts val="0"/>
              </a:spcAft>
              <a:buNone/>
            </a:pPr>
            <a:r>
              <a:rPr lang="en-US"/>
              <a:t>the same number of fixed-length fields in a particular order. Because the length and</a:t>
            </a:r>
            <a:endParaRPr/>
          </a:p>
          <a:p>
            <a:pPr indent="0" lvl="0" marL="0" rtl="0" algn="l">
              <a:spcBef>
                <a:spcPts val="360"/>
              </a:spcBef>
              <a:spcAft>
                <a:spcPts val="0"/>
              </a:spcAft>
              <a:buNone/>
            </a:pPr>
            <a:r>
              <a:rPr lang="en-US"/>
              <a:t>position of each field are known, only the values of fields need to be stored; the field</a:t>
            </a:r>
            <a:endParaRPr/>
          </a:p>
          <a:p>
            <a:pPr indent="0" lvl="0" marL="0" rtl="0" algn="l">
              <a:spcBef>
                <a:spcPts val="360"/>
              </a:spcBef>
              <a:spcAft>
                <a:spcPts val="0"/>
              </a:spcAft>
              <a:buNone/>
            </a:pPr>
            <a:r>
              <a:rPr lang="en-US"/>
              <a:t>name and length for each field are attributes of the file structure.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One particular field, usually the first field in each record, is referred to as the</a:t>
            </a:r>
            <a:endParaRPr/>
          </a:p>
          <a:p>
            <a:pPr indent="0" lvl="0" marL="0" rtl="0" algn="l">
              <a:spcBef>
                <a:spcPts val="360"/>
              </a:spcBef>
              <a:spcAft>
                <a:spcPts val="0"/>
              </a:spcAft>
              <a:buNone/>
            </a:pPr>
            <a:r>
              <a:rPr b="1" lang="en-US"/>
              <a:t>key field . The key field uniquely identifies the record; thus key values for different</a:t>
            </a:r>
            <a:endParaRPr/>
          </a:p>
          <a:p>
            <a:pPr indent="0" lvl="0" marL="0" rtl="0" algn="l">
              <a:spcBef>
                <a:spcPts val="360"/>
              </a:spcBef>
              <a:spcAft>
                <a:spcPts val="0"/>
              </a:spcAft>
              <a:buNone/>
            </a:pPr>
            <a:r>
              <a:rPr lang="en-US"/>
              <a:t>records are always different. Further, the records are stored in key sequence: alphabetical</a:t>
            </a:r>
            <a:endParaRPr/>
          </a:p>
          <a:p>
            <a:pPr indent="0" lvl="0" marL="0" rtl="0" algn="l">
              <a:spcBef>
                <a:spcPts val="360"/>
              </a:spcBef>
              <a:spcAft>
                <a:spcPts val="0"/>
              </a:spcAft>
              <a:buNone/>
            </a:pPr>
            <a:r>
              <a:rPr lang="en-US"/>
              <a:t>order for a text key, and numerical order for a numerical key.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Sequential files are typically used in batch applications and are generally</a:t>
            </a:r>
            <a:endParaRPr/>
          </a:p>
          <a:p>
            <a:pPr indent="0" lvl="0" marL="0" rtl="0" algn="l">
              <a:spcBef>
                <a:spcPts val="360"/>
              </a:spcBef>
              <a:spcAft>
                <a:spcPts val="0"/>
              </a:spcAft>
              <a:buNone/>
            </a:pPr>
            <a:r>
              <a:rPr lang="en-US"/>
              <a:t>optimum for such applications if they involve the processing of all the records (e.g.,</a:t>
            </a:r>
            <a:endParaRPr/>
          </a:p>
          <a:p>
            <a:pPr indent="0" lvl="0" marL="0" rtl="0" algn="l">
              <a:spcBef>
                <a:spcPts val="360"/>
              </a:spcBef>
              <a:spcAft>
                <a:spcPts val="0"/>
              </a:spcAft>
              <a:buNone/>
            </a:pPr>
            <a:r>
              <a:rPr lang="en-US"/>
              <a:t>a billing or payroll application). The sequential file organization is the only one that</a:t>
            </a:r>
            <a:endParaRPr/>
          </a:p>
          <a:p>
            <a:pPr indent="0" lvl="0" marL="0" rtl="0" algn="l">
              <a:spcBef>
                <a:spcPts val="360"/>
              </a:spcBef>
              <a:spcAft>
                <a:spcPts val="0"/>
              </a:spcAft>
              <a:buNone/>
            </a:pPr>
            <a:r>
              <a:rPr lang="en-US"/>
              <a:t>is easily stored on tape as well as disk.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For interactive applications that involve queries and/or updates of individual</a:t>
            </a:r>
            <a:endParaRPr/>
          </a:p>
          <a:p>
            <a:pPr indent="0" lvl="0" marL="0" rtl="0" algn="l">
              <a:spcBef>
                <a:spcPts val="360"/>
              </a:spcBef>
              <a:spcAft>
                <a:spcPts val="0"/>
              </a:spcAft>
              <a:buNone/>
            </a:pPr>
            <a:r>
              <a:rPr lang="en-US"/>
              <a:t>records, the sequential file provides poor performance. Access requires the sequential</a:t>
            </a:r>
            <a:endParaRPr/>
          </a:p>
          <a:p>
            <a:pPr indent="0" lvl="0" marL="0" rtl="0" algn="l">
              <a:spcBef>
                <a:spcPts val="360"/>
              </a:spcBef>
              <a:spcAft>
                <a:spcPts val="0"/>
              </a:spcAft>
              <a:buNone/>
            </a:pPr>
            <a:r>
              <a:rPr lang="en-US"/>
              <a:t>search of the file for a key match. If the entire file, or a large portion of the</a:t>
            </a:r>
            <a:endParaRPr/>
          </a:p>
          <a:p>
            <a:pPr indent="0" lvl="0" marL="0" rtl="0" algn="l">
              <a:spcBef>
                <a:spcPts val="360"/>
              </a:spcBef>
              <a:spcAft>
                <a:spcPts val="0"/>
              </a:spcAft>
              <a:buNone/>
            </a:pPr>
            <a:r>
              <a:rPr lang="en-US"/>
              <a:t>file, can be brought into main memory at one time, more efficient search techniques</a:t>
            </a:r>
            <a:endParaRPr/>
          </a:p>
          <a:p>
            <a:pPr indent="0" lvl="0" marL="0" rtl="0" algn="l">
              <a:spcBef>
                <a:spcPts val="360"/>
              </a:spcBef>
              <a:spcAft>
                <a:spcPts val="0"/>
              </a:spcAft>
              <a:buNone/>
            </a:pPr>
            <a:r>
              <a:rPr lang="en-US"/>
              <a:t>are possible. Nevertheless, considerable processing and delay are encountered to</a:t>
            </a:r>
            <a:endParaRPr/>
          </a:p>
          <a:p>
            <a:pPr indent="0" lvl="0" marL="0" rtl="0" algn="l">
              <a:spcBef>
                <a:spcPts val="360"/>
              </a:spcBef>
              <a:spcAft>
                <a:spcPts val="0"/>
              </a:spcAft>
              <a:buNone/>
            </a:pPr>
            <a:r>
              <a:rPr lang="en-US"/>
              <a:t>access a record in a large sequential file. Additions to the file also present problems.</a:t>
            </a:r>
            <a:endParaRPr/>
          </a:p>
          <a:p>
            <a:pPr indent="0" lvl="0" marL="0" rtl="0" algn="l">
              <a:spcBef>
                <a:spcPts val="360"/>
              </a:spcBef>
              <a:spcAft>
                <a:spcPts val="0"/>
              </a:spcAft>
              <a:buNone/>
            </a:pPr>
            <a:r>
              <a:rPr lang="en-US"/>
              <a:t>Typically, a sequential file is stored in simple sequential ordering of the records within</a:t>
            </a:r>
            <a:endParaRPr/>
          </a:p>
          <a:p>
            <a:pPr indent="0" lvl="0" marL="0" rtl="0" algn="l">
              <a:spcBef>
                <a:spcPts val="360"/>
              </a:spcBef>
              <a:spcAft>
                <a:spcPts val="0"/>
              </a:spcAft>
              <a:buNone/>
            </a:pPr>
            <a:r>
              <a:rPr lang="en-US"/>
              <a:t>blocks. That is, the physical organization of the file on tape or disk directly matches</a:t>
            </a:r>
            <a:endParaRPr/>
          </a:p>
          <a:p>
            <a:pPr indent="0" lvl="0" marL="0" rtl="0" algn="l">
              <a:spcBef>
                <a:spcPts val="360"/>
              </a:spcBef>
              <a:spcAft>
                <a:spcPts val="0"/>
              </a:spcAft>
              <a:buNone/>
            </a:pPr>
            <a:r>
              <a:rPr lang="en-US"/>
              <a:t>the logical organization of the file. In this case, the usual procedure is to place new</a:t>
            </a:r>
            <a:endParaRPr/>
          </a:p>
          <a:p>
            <a:pPr indent="0" lvl="0" marL="0" rtl="0" algn="l">
              <a:spcBef>
                <a:spcPts val="360"/>
              </a:spcBef>
              <a:spcAft>
                <a:spcPts val="0"/>
              </a:spcAft>
              <a:buNone/>
            </a:pPr>
            <a:r>
              <a:rPr lang="en-US"/>
              <a:t>records in a separate pile file, called a log file or transaction file. Periodically, a batch</a:t>
            </a:r>
            <a:endParaRPr/>
          </a:p>
          <a:p>
            <a:pPr indent="0" lvl="0" marL="0" rtl="0" algn="l">
              <a:spcBef>
                <a:spcPts val="360"/>
              </a:spcBef>
              <a:spcAft>
                <a:spcPts val="0"/>
              </a:spcAft>
              <a:buNone/>
            </a:pPr>
            <a:r>
              <a:rPr lang="en-US"/>
              <a:t>update is performed that merges the log file with the master file to produce a new file</a:t>
            </a:r>
            <a:endParaRPr/>
          </a:p>
          <a:p>
            <a:pPr indent="0" lvl="0" marL="0" rtl="0" algn="l">
              <a:spcBef>
                <a:spcPts val="360"/>
              </a:spcBef>
              <a:spcAft>
                <a:spcPts val="0"/>
              </a:spcAft>
              <a:buNone/>
            </a:pPr>
            <a:r>
              <a:rPr lang="en-US"/>
              <a:t>in correct key sequence.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An alternative is to organize the sequential file physically as a linked list. One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or more records are stored in each physical block. Each block on disk contains a</a:t>
            </a:r>
            <a:endParaRPr/>
          </a:p>
          <a:p>
            <a:pPr indent="0" lvl="0" marL="0" rtl="0" algn="l">
              <a:spcBef>
                <a:spcPts val="360"/>
              </a:spcBef>
              <a:spcAft>
                <a:spcPts val="0"/>
              </a:spcAft>
              <a:buNone/>
            </a:pPr>
            <a:r>
              <a:rPr lang="en-US"/>
              <a:t>pointer to the next block. The insertion of new records involves pointer manipulation</a:t>
            </a:r>
            <a:endParaRPr/>
          </a:p>
          <a:p>
            <a:pPr indent="0" lvl="0" marL="0" rtl="0" algn="l">
              <a:spcBef>
                <a:spcPts val="360"/>
              </a:spcBef>
              <a:spcAft>
                <a:spcPts val="0"/>
              </a:spcAft>
              <a:buNone/>
            </a:pPr>
            <a:r>
              <a:rPr lang="en-US"/>
              <a:t>but does not require that the new records occupy a particular physical block</a:t>
            </a:r>
            <a:endParaRPr/>
          </a:p>
          <a:p>
            <a:pPr indent="0" lvl="0" marL="0" rtl="0" algn="l">
              <a:spcBef>
                <a:spcPts val="360"/>
              </a:spcBef>
              <a:spcAft>
                <a:spcPts val="0"/>
              </a:spcAft>
              <a:buNone/>
            </a:pPr>
            <a:r>
              <a:rPr lang="en-US"/>
              <a:t>position. Thus, some added convenience is obtained at the cost of additional</a:t>
            </a:r>
            <a:endParaRPr/>
          </a:p>
          <a:p>
            <a:pPr indent="0" lvl="0" marL="0" rtl="0" algn="l">
              <a:spcBef>
                <a:spcPts val="360"/>
              </a:spcBef>
              <a:spcAft>
                <a:spcPts val="0"/>
              </a:spcAft>
              <a:buNone/>
            </a:pPr>
            <a:r>
              <a:rPr lang="en-US"/>
              <a:t>processing and overhead.</a:t>
            </a:r>
            <a:endParaRPr/>
          </a:p>
        </p:txBody>
      </p:sp>
      <p:sp>
        <p:nvSpPr>
          <p:cNvPr id="495" name="Google Shape;49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2" name="Google Shape;502;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most common form of file structure is the sequential file. In this type of file,</a:t>
            </a:r>
            <a:endParaRPr/>
          </a:p>
          <a:p>
            <a:pPr indent="0" lvl="0" marL="0" rtl="0" algn="l">
              <a:spcBef>
                <a:spcPts val="360"/>
              </a:spcBef>
              <a:spcAft>
                <a:spcPts val="0"/>
              </a:spcAft>
              <a:buNone/>
            </a:pPr>
            <a:r>
              <a:rPr lang="en-US"/>
              <a:t>a fixed format is used for records. All records are of the same length, consisting of</a:t>
            </a:r>
            <a:endParaRPr/>
          </a:p>
          <a:p>
            <a:pPr indent="0" lvl="0" marL="0" rtl="0" algn="l">
              <a:spcBef>
                <a:spcPts val="360"/>
              </a:spcBef>
              <a:spcAft>
                <a:spcPts val="0"/>
              </a:spcAft>
              <a:buNone/>
            </a:pPr>
            <a:r>
              <a:rPr lang="en-US"/>
              <a:t>the same number of fixed-length fields in a particular order. Because the length and</a:t>
            </a:r>
            <a:endParaRPr/>
          </a:p>
          <a:p>
            <a:pPr indent="0" lvl="0" marL="0" rtl="0" algn="l">
              <a:spcBef>
                <a:spcPts val="360"/>
              </a:spcBef>
              <a:spcAft>
                <a:spcPts val="0"/>
              </a:spcAft>
              <a:buNone/>
            </a:pPr>
            <a:r>
              <a:rPr lang="en-US"/>
              <a:t>position of each field are known, only the values of fields need to be stored; the field</a:t>
            </a:r>
            <a:endParaRPr/>
          </a:p>
          <a:p>
            <a:pPr indent="0" lvl="0" marL="0" rtl="0" algn="l">
              <a:spcBef>
                <a:spcPts val="360"/>
              </a:spcBef>
              <a:spcAft>
                <a:spcPts val="0"/>
              </a:spcAft>
              <a:buNone/>
            </a:pPr>
            <a:r>
              <a:rPr lang="en-US"/>
              <a:t>name and length for each field are attributes of the file structure.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One particular field, usually the first field in each record, is referred to as the</a:t>
            </a:r>
            <a:endParaRPr/>
          </a:p>
          <a:p>
            <a:pPr indent="0" lvl="0" marL="0" rtl="0" algn="l">
              <a:spcBef>
                <a:spcPts val="360"/>
              </a:spcBef>
              <a:spcAft>
                <a:spcPts val="0"/>
              </a:spcAft>
              <a:buNone/>
            </a:pPr>
            <a:r>
              <a:rPr b="1" lang="en-US"/>
              <a:t>key field . The key field uniquely identifies the record; thus key values for different</a:t>
            </a:r>
            <a:endParaRPr/>
          </a:p>
          <a:p>
            <a:pPr indent="0" lvl="0" marL="0" rtl="0" algn="l">
              <a:spcBef>
                <a:spcPts val="360"/>
              </a:spcBef>
              <a:spcAft>
                <a:spcPts val="0"/>
              </a:spcAft>
              <a:buNone/>
            </a:pPr>
            <a:r>
              <a:rPr lang="en-US"/>
              <a:t>records are always different. Further, the records are stored in key sequence: alphabetical</a:t>
            </a:r>
            <a:endParaRPr/>
          </a:p>
          <a:p>
            <a:pPr indent="0" lvl="0" marL="0" rtl="0" algn="l">
              <a:spcBef>
                <a:spcPts val="360"/>
              </a:spcBef>
              <a:spcAft>
                <a:spcPts val="0"/>
              </a:spcAft>
              <a:buNone/>
            </a:pPr>
            <a:r>
              <a:rPr lang="en-US"/>
              <a:t>order for a text key, and numerical order for a numerical key.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Sequential files are typically used in batch applications and are generally</a:t>
            </a:r>
            <a:endParaRPr/>
          </a:p>
          <a:p>
            <a:pPr indent="0" lvl="0" marL="0" rtl="0" algn="l">
              <a:spcBef>
                <a:spcPts val="360"/>
              </a:spcBef>
              <a:spcAft>
                <a:spcPts val="0"/>
              </a:spcAft>
              <a:buNone/>
            </a:pPr>
            <a:r>
              <a:rPr lang="en-US"/>
              <a:t>optimum for such applications if they involve the processing of all the records (e.g.,</a:t>
            </a:r>
            <a:endParaRPr/>
          </a:p>
          <a:p>
            <a:pPr indent="0" lvl="0" marL="0" rtl="0" algn="l">
              <a:spcBef>
                <a:spcPts val="360"/>
              </a:spcBef>
              <a:spcAft>
                <a:spcPts val="0"/>
              </a:spcAft>
              <a:buNone/>
            </a:pPr>
            <a:r>
              <a:rPr lang="en-US"/>
              <a:t>a billing or payroll application). The sequential file organization is the only one that</a:t>
            </a:r>
            <a:endParaRPr/>
          </a:p>
          <a:p>
            <a:pPr indent="0" lvl="0" marL="0" rtl="0" algn="l">
              <a:spcBef>
                <a:spcPts val="360"/>
              </a:spcBef>
              <a:spcAft>
                <a:spcPts val="0"/>
              </a:spcAft>
              <a:buNone/>
            </a:pPr>
            <a:r>
              <a:rPr lang="en-US"/>
              <a:t>is easily stored on tape as well as disk.</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For interactive applications that involve queries and/or updates of individual</a:t>
            </a:r>
            <a:endParaRPr/>
          </a:p>
          <a:p>
            <a:pPr indent="0" lvl="0" marL="0" rtl="0" algn="l">
              <a:spcBef>
                <a:spcPts val="360"/>
              </a:spcBef>
              <a:spcAft>
                <a:spcPts val="0"/>
              </a:spcAft>
              <a:buNone/>
            </a:pPr>
            <a:r>
              <a:rPr lang="en-US"/>
              <a:t>records, the sequential file provides poor performance. Access requires the sequential</a:t>
            </a:r>
            <a:endParaRPr/>
          </a:p>
          <a:p>
            <a:pPr indent="0" lvl="0" marL="0" rtl="0" algn="l">
              <a:spcBef>
                <a:spcPts val="360"/>
              </a:spcBef>
              <a:spcAft>
                <a:spcPts val="0"/>
              </a:spcAft>
              <a:buNone/>
            </a:pPr>
            <a:r>
              <a:rPr lang="en-US"/>
              <a:t>search of the file for a key match. If the entire file, or a large portion of the</a:t>
            </a:r>
            <a:endParaRPr/>
          </a:p>
          <a:p>
            <a:pPr indent="0" lvl="0" marL="0" rtl="0" algn="l">
              <a:spcBef>
                <a:spcPts val="360"/>
              </a:spcBef>
              <a:spcAft>
                <a:spcPts val="0"/>
              </a:spcAft>
              <a:buNone/>
            </a:pPr>
            <a:r>
              <a:rPr lang="en-US"/>
              <a:t>file, can be brought into main memory at one time, more efficient search techniques</a:t>
            </a:r>
            <a:endParaRPr/>
          </a:p>
          <a:p>
            <a:pPr indent="0" lvl="0" marL="0" rtl="0" algn="l">
              <a:spcBef>
                <a:spcPts val="360"/>
              </a:spcBef>
              <a:spcAft>
                <a:spcPts val="0"/>
              </a:spcAft>
              <a:buNone/>
            </a:pPr>
            <a:r>
              <a:rPr lang="en-US"/>
              <a:t>are possible. Nevertheless, considerable processing and delay are encountered to</a:t>
            </a:r>
            <a:endParaRPr/>
          </a:p>
          <a:p>
            <a:pPr indent="0" lvl="0" marL="0" rtl="0" algn="l">
              <a:spcBef>
                <a:spcPts val="360"/>
              </a:spcBef>
              <a:spcAft>
                <a:spcPts val="0"/>
              </a:spcAft>
              <a:buNone/>
            </a:pPr>
            <a:r>
              <a:rPr lang="en-US"/>
              <a:t>access a record in a large sequential file. Additions to the file also present problems.</a:t>
            </a:r>
            <a:endParaRPr/>
          </a:p>
          <a:p>
            <a:pPr indent="0" lvl="0" marL="0" rtl="0" algn="l">
              <a:spcBef>
                <a:spcPts val="360"/>
              </a:spcBef>
              <a:spcAft>
                <a:spcPts val="0"/>
              </a:spcAft>
              <a:buNone/>
            </a:pPr>
            <a:r>
              <a:rPr lang="en-US"/>
              <a:t>Typically, a sequential file is stored in simple sequential ordering of the records within</a:t>
            </a:r>
            <a:endParaRPr/>
          </a:p>
          <a:p>
            <a:pPr indent="0" lvl="0" marL="0" rtl="0" algn="l">
              <a:spcBef>
                <a:spcPts val="360"/>
              </a:spcBef>
              <a:spcAft>
                <a:spcPts val="0"/>
              </a:spcAft>
              <a:buNone/>
            </a:pPr>
            <a:r>
              <a:rPr lang="en-US"/>
              <a:t>blocks. That is, the physical organization of the file on tape or disk directly matches</a:t>
            </a:r>
            <a:endParaRPr/>
          </a:p>
          <a:p>
            <a:pPr indent="0" lvl="0" marL="0" rtl="0" algn="l">
              <a:spcBef>
                <a:spcPts val="360"/>
              </a:spcBef>
              <a:spcAft>
                <a:spcPts val="0"/>
              </a:spcAft>
              <a:buNone/>
            </a:pPr>
            <a:r>
              <a:rPr lang="en-US"/>
              <a:t>the logical organization of the file. In this case, the usual procedure is to place new</a:t>
            </a:r>
            <a:endParaRPr/>
          </a:p>
          <a:p>
            <a:pPr indent="0" lvl="0" marL="0" rtl="0" algn="l">
              <a:spcBef>
                <a:spcPts val="360"/>
              </a:spcBef>
              <a:spcAft>
                <a:spcPts val="0"/>
              </a:spcAft>
              <a:buNone/>
            </a:pPr>
            <a:r>
              <a:rPr lang="en-US"/>
              <a:t>records in a separate pile file, called a log file or transaction file. Periodically, a batch</a:t>
            </a:r>
            <a:endParaRPr/>
          </a:p>
          <a:p>
            <a:pPr indent="0" lvl="0" marL="0" rtl="0" algn="l">
              <a:spcBef>
                <a:spcPts val="360"/>
              </a:spcBef>
              <a:spcAft>
                <a:spcPts val="0"/>
              </a:spcAft>
              <a:buNone/>
            </a:pPr>
            <a:r>
              <a:rPr lang="en-US"/>
              <a:t>update is performed that merges the log file with the master file to produce a new file</a:t>
            </a:r>
            <a:endParaRPr/>
          </a:p>
          <a:p>
            <a:pPr indent="0" lvl="0" marL="0" rtl="0" algn="l">
              <a:spcBef>
                <a:spcPts val="360"/>
              </a:spcBef>
              <a:spcAft>
                <a:spcPts val="0"/>
              </a:spcAft>
              <a:buNone/>
            </a:pPr>
            <a:r>
              <a:rPr lang="en-US"/>
              <a:t>in correct key sequence.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An alternative is to organize the sequential file physically as a linked list. One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or more records are stored in each physical block. Each block on disk contains a</a:t>
            </a:r>
            <a:endParaRPr/>
          </a:p>
          <a:p>
            <a:pPr indent="0" lvl="0" marL="0" rtl="0" algn="l">
              <a:spcBef>
                <a:spcPts val="360"/>
              </a:spcBef>
              <a:spcAft>
                <a:spcPts val="0"/>
              </a:spcAft>
              <a:buNone/>
            </a:pPr>
            <a:r>
              <a:rPr lang="en-US"/>
              <a:t>pointer to the next block. The insertion of new records involves pointer manipulation</a:t>
            </a:r>
            <a:endParaRPr/>
          </a:p>
          <a:p>
            <a:pPr indent="0" lvl="0" marL="0" rtl="0" algn="l">
              <a:spcBef>
                <a:spcPts val="360"/>
              </a:spcBef>
              <a:spcAft>
                <a:spcPts val="0"/>
              </a:spcAft>
              <a:buNone/>
            </a:pPr>
            <a:r>
              <a:rPr lang="en-US"/>
              <a:t>but does not require that the new records occupy a particular physical block</a:t>
            </a:r>
            <a:endParaRPr/>
          </a:p>
          <a:p>
            <a:pPr indent="0" lvl="0" marL="0" rtl="0" algn="l">
              <a:spcBef>
                <a:spcPts val="360"/>
              </a:spcBef>
              <a:spcAft>
                <a:spcPts val="0"/>
              </a:spcAft>
              <a:buNone/>
            </a:pPr>
            <a:r>
              <a:rPr lang="en-US"/>
              <a:t>position. Thus, some added convenience is obtained at the cost of additional</a:t>
            </a:r>
            <a:endParaRPr/>
          </a:p>
          <a:p>
            <a:pPr indent="0" lvl="0" marL="0" rtl="0" algn="l">
              <a:spcBef>
                <a:spcPts val="360"/>
              </a:spcBef>
              <a:spcAft>
                <a:spcPts val="0"/>
              </a:spcAft>
              <a:buNone/>
            </a:pPr>
            <a:r>
              <a:rPr lang="en-US"/>
              <a:t>processing and overhead.</a:t>
            </a:r>
            <a:endParaRPr/>
          </a:p>
        </p:txBody>
      </p:sp>
      <p:sp>
        <p:nvSpPr>
          <p:cNvPr id="503" name="Google Shape;503;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0" name="Google Shape;510;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390"/>
              <a:t>A popular approach to overcoming the disadvantages of the sequential file is the</a:t>
            </a:r>
            <a:endParaRPr/>
          </a:p>
          <a:p>
            <a:pPr indent="0" lvl="0" marL="0" rtl="0" algn="l">
              <a:lnSpc>
                <a:spcPct val="80000"/>
              </a:lnSpc>
              <a:spcBef>
                <a:spcPts val="117"/>
              </a:spcBef>
              <a:spcAft>
                <a:spcPts val="0"/>
              </a:spcAft>
              <a:buNone/>
            </a:pPr>
            <a:r>
              <a:rPr lang="en-US" sz="390"/>
              <a:t>indexed sequential file. The indexed sequential file maintains the key characteristic</a:t>
            </a:r>
            <a:endParaRPr/>
          </a:p>
          <a:p>
            <a:pPr indent="0" lvl="0" marL="0" rtl="0" algn="l">
              <a:lnSpc>
                <a:spcPct val="80000"/>
              </a:lnSpc>
              <a:spcBef>
                <a:spcPts val="117"/>
              </a:spcBef>
              <a:spcAft>
                <a:spcPts val="0"/>
              </a:spcAft>
              <a:buNone/>
            </a:pPr>
            <a:r>
              <a:rPr lang="en-US" sz="390"/>
              <a:t>of the sequential file: Records are organized in sequence based on a key field. Two</a:t>
            </a:r>
            <a:endParaRPr/>
          </a:p>
          <a:p>
            <a:pPr indent="0" lvl="0" marL="0" rtl="0" algn="l">
              <a:lnSpc>
                <a:spcPct val="80000"/>
              </a:lnSpc>
              <a:spcBef>
                <a:spcPts val="117"/>
              </a:spcBef>
              <a:spcAft>
                <a:spcPts val="0"/>
              </a:spcAft>
              <a:buNone/>
            </a:pPr>
            <a:r>
              <a:rPr lang="en-US" sz="390"/>
              <a:t>features are added: an index to the file to support random access, and an overflow</a:t>
            </a:r>
            <a:endParaRPr/>
          </a:p>
          <a:p>
            <a:pPr indent="0" lvl="0" marL="0" rtl="0" algn="l">
              <a:lnSpc>
                <a:spcPct val="80000"/>
              </a:lnSpc>
              <a:spcBef>
                <a:spcPts val="117"/>
              </a:spcBef>
              <a:spcAft>
                <a:spcPts val="0"/>
              </a:spcAft>
              <a:buNone/>
            </a:pPr>
            <a:r>
              <a:rPr lang="en-US" sz="390"/>
              <a:t>file. The index provides a lookup capability to reach quickly the vicinity of a desired</a:t>
            </a:r>
            <a:endParaRPr/>
          </a:p>
          <a:p>
            <a:pPr indent="0" lvl="0" marL="0" rtl="0" algn="l">
              <a:lnSpc>
                <a:spcPct val="80000"/>
              </a:lnSpc>
              <a:spcBef>
                <a:spcPts val="117"/>
              </a:spcBef>
              <a:spcAft>
                <a:spcPts val="0"/>
              </a:spcAft>
              <a:buNone/>
            </a:pPr>
            <a:r>
              <a:rPr lang="en-US" sz="390"/>
              <a:t>record. The overflow file is similar to the log file used with a sequential file but is</a:t>
            </a:r>
            <a:endParaRPr/>
          </a:p>
          <a:p>
            <a:pPr indent="0" lvl="0" marL="0" rtl="0" algn="l">
              <a:lnSpc>
                <a:spcPct val="80000"/>
              </a:lnSpc>
              <a:spcBef>
                <a:spcPts val="117"/>
              </a:spcBef>
              <a:spcAft>
                <a:spcPts val="0"/>
              </a:spcAft>
              <a:buNone/>
            </a:pPr>
            <a:r>
              <a:rPr lang="en-US" sz="390"/>
              <a:t>integrated so that a record in the overflow file is located by following a pointer from</a:t>
            </a:r>
            <a:endParaRPr/>
          </a:p>
          <a:p>
            <a:pPr indent="0" lvl="0" marL="0" rtl="0" algn="l">
              <a:lnSpc>
                <a:spcPct val="80000"/>
              </a:lnSpc>
              <a:spcBef>
                <a:spcPts val="117"/>
              </a:spcBef>
              <a:spcAft>
                <a:spcPts val="0"/>
              </a:spcAft>
              <a:buNone/>
            </a:pPr>
            <a:r>
              <a:rPr lang="en-US" sz="390"/>
              <a:t>its predecessor record.</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In the simplest indexed sequential structure, a single level of indexing is</a:t>
            </a:r>
            <a:endParaRPr/>
          </a:p>
          <a:p>
            <a:pPr indent="0" lvl="0" marL="0" rtl="0" algn="l">
              <a:lnSpc>
                <a:spcPct val="80000"/>
              </a:lnSpc>
              <a:spcBef>
                <a:spcPts val="117"/>
              </a:spcBef>
              <a:spcAft>
                <a:spcPts val="0"/>
              </a:spcAft>
              <a:buNone/>
            </a:pPr>
            <a:r>
              <a:rPr lang="en-US" sz="390"/>
              <a:t>used. The index in this case is a simple sequential file. Each record in the index file</a:t>
            </a:r>
            <a:endParaRPr/>
          </a:p>
          <a:p>
            <a:pPr indent="0" lvl="0" marL="0" rtl="0" algn="l">
              <a:lnSpc>
                <a:spcPct val="80000"/>
              </a:lnSpc>
              <a:spcBef>
                <a:spcPts val="117"/>
              </a:spcBef>
              <a:spcAft>
                <a:spcPts val="0"/>
              </a:spcAft>
              <a:buNone/>
            </a:pPr>
            <a:r>
              <a:rPr lang="en-US" sz="390"/>
              <a:t>consists of two fields: a key field, which is the same as the key field in the main file,</a:t>
            </a:r>
            <a:endParaRPr/>
          </a:p>
          <a:p>
            <a:pPr indent="0" lvl="0" marL="0" rtl="0" algn="l">
              <a:lnSpc>
                <a:spcPct val="80000"/>
              </a:lnSpc>
              <a:spcBef>
                <a:spcPts val="117"/>
              </a:spcBef>
              <a:spcAft>
                <a:spcPts val="0"/>
              </a:spcAft>
              <a:buNone/>
            </a:pPr>
            <a:r>
              <a:rPr lang="en-US" sz="390"/>
              <a:t>and a pointer into the main file. To find a specific field, the index is searched to find</a:t>
            </a:r>
            <a:endParaRPr/>
          </a:p>
          <a:p>
            <a:pPr indent="0" lvl="0" marL="0" rtl="0" algn="l">
              <a:lnSpc>
                <a:spcPct val="80000"/>
              </a:lnSpc>
              <a:spcBef>
                <a:spcPts val="117"/>
              </a:spcBef>
              <a:spcAft>
                <a:spcPts val="0"/>
              </a:spcAft>
              <a:buNone/>
            </a:pPr>
            <a:r>
              <a:rPr lang="en-US" sz="390"/>
              <a:t>the highest key value that is equal to or precedes the desired key value. The search</a:t>
            </a:r>
            <a:endParaRPr/>
          </a:p>
          <a:p>
            <a:pPr indent="0" lvl="0" marL="0" rtl="0" algn="l">
              <a:lnSpc>
                <a:spcPct val="80000"/>
              </a:lnSpc>
              <a:spcBef>
                <a:spcPts val="117"/>
              </a:spcBef>
              <a:spcAft>
                <a:spcPts val="0"/>
              </a:spcAft>
              <a:buNone/>
            </a:pPr>
            <a:r>
              <a:rPr lang="en-US" sz="390"/>
              <a:t>continues in the main file at the location indicated by the pointer.</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see the effectiveness of this approach, consider a sequential file with</a:t>
            </a:r>
            <a:endParaRPr/>
          </a:p>
          <a:p>
            <a:pPr indent="0" lvl="0" marL="0" rtl="0" algn="l">
              <a:lnSpc>
                <a:spcPct val="80000"/>
              </a:lnSpc>
              <a:spcBef>
                <a:spcPts val="117"/>
              </a:spcBef>
              <a:spcAft>
                <a:spcPts val="0"/>
              </a:spcAft>
              <a:buNone/>
            </a:pPr>
            <a:r>
              <a:rPr lang="en-US" sz="390"/>
              <a:t>1 million records. To search for a particular key value will require on average one-half</a:t>
            </a:r>
            <a:endParaRPr/>
          </a:p>
          <a:p>
            <a:pPr indent="0" lvl="0" marL="0" rtl="0" algn="l">
              <a:lnSpc>
                <a:spcPct val="80000"/>
              </a:lnSpc>
              <a:spcBef>
                <a:spcPts val="117"/>
              </a:spcBef>
              <a:spcAft>
                <a:spcPts val="0"/>
              </a:spcAft>
              <a:buNone/>
            </a:pPr>
            <a:r>
              <a:rPr lang="en-US" sz="390"/>
              <a:t>million record accesses. Now suppose that an index containing 1,000 entries</a:t>
            </a:r>
            <a:endParaRPr/>
          </a:p>
          <a:p>
            <a:pPr indent="0" lvl="0" marL="0" rtl="0" algn="l">
              <a:lnSpc>
                <a:spcPct val="80000"/>
              </a:lnSpc>
              <a:spcBef>
                <a:spcPts val="117"/>
              </a:spcBef>
              <a:spcAft>
                <a:spcPts val="0"/>
              </a:spcAft>
              <a:buNone/>
            </a:pPr>
            <a:r>
              <a:rPr lang="en-US" sz="390"/>
              <a:t>is constructed, with the keys in the index more or less evenly distributed over</a:t>
            </a:r>
            <a:endParaRPr/>
          </a:p>
          <a:p>
            <a:pPr indent="0" lvl="0" marL="0" rtl="0" algn="l">
              <a:lnSpc>
                <a:spcPct val="80000"/>
              </a:lnSpc>
              <a:spcBef>
                <a:spcPts val="117"/>
              </a:spcBef>
              <a:spcAft>
                <a:spcPts val="0"/>
              </a:spcAft>
              <a:buNone/>
            </a:pPr>
            <a:r>
              <a:rPr lang="en-US" sz="390"/>
              <a:t>the main file. Now it will take on average 500 accesses to the index file followed</a:t>
            </a:r>
            <a:endParaRPr/>
          </a:p>
          <a:p>
            <a:pPr indent="0" lvl="0" marL="0" rtl="0" algn="l">
              <a:lnSpc>
                <a:spcPct val="80000"/>
              </a:lnSpc>
              <a:spcBef>
                <a:spcPts val="117"/>
              </a:spcBef>
              <a:spcAft>
                <a:spcPts val="0"/>
              </a:spcAft>
              <a:buNone/>
            </a:pPr>
            <a:r>
              <a:rPr lang="en-US" sz="390"/>
              <a:t>by 500 accesses to the main file to find the record. The average search length is</a:t>
            </a:r>
            <a:endParaRPr/>
          </a:p>
          <a:p>
            <a:pPr indent="0" lvl="0" marL="0" rtl="0" algn="l">
              <a:lnSpc>
                <a:spcPct val="80000"/>
              </a:lnSpc>
              <a:spcBef>
                <a:spcPts val="117"/>
              </a:spcBef>
              <a:spcAft>
                <a:spcPts val="0"/>
              </a:spcAft>
              <a:buNone/>
            </a:pPr>
            <a:r>
              <a:rPr lang="en-US" sz="390"/>
              <a:t>reduced from 500,000 to 1,000.</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Additions to the file are handled in the following manner: Each record in</a:t>
            </a:r>
            <a:endParaRPr/>
          </a:p>
          <a:p>
            <a:pPr indent="0" lvl="0" marL="0" rtl="0" algn="l">
              <a:lnSpc>
                <a:spcPct val="80000"/>
              </a:lnSpc>
              <a:spcBef>
                <a:spcPts val="117"/>
              </a:spcBef>
              <a:spcAft>
                <a:spcPts val="0"/>
              </a:spcAft>
              <a:buNone/>
            </a:pPr>
            <a:r>
              <a:rPr lang="en-US" sz="390"/>
              <a:t>the main file contains an additional field not visible to the application, which is a</a:t>
            </a:r>
            <a:endParaRPr/>
          </a:p>
          <a:p>
            <a:pPr indent="0" lvl="0" marL="0" rtl="0" algn="l">
              <a:lnSpc>
                <a:spcPct val="80000"/>
              </a:lnSpc>
              <a:spcBef>
                <a:spcPts val="117"/>
              </a:spcBef>
              <a:spcAft>
                <a:spcPts val="0"/>
              </a:spcAft>
              <a:buNone/>
            </a:pPr>
            <a:r>
              <a:rPr lang="en-US" sz="390"/>
              <a:t>pointer to the overflow file. When a new record is to be inserted into the file, it is</a:t>
            </a:r>
            <a:endParaRPr/>
          </a:p>
          <a:p>
            <a:pPr indent="0" lvl="0" marL="0" rtl="0" algn="l">
              <a:lnSpc>
                <a:spcPct val="80000"/>
              </a:lnSpc>
              <a:spcBef>
                <a:spcPts val="117"/>
              </a:spcBef>
              <a:spcAft>
                <a:spcPts val="0"/>
              </a:spcAft>
              <a:buNone/>
            </a:pPr>
            <a:r>
              <a:rPr lang="en-US" sz="390"/>
              <a:t>added to the overflow file. The record in the main file that immediately precedes</a:t>
            </a:r>
            <a:endParaRPr/>
          </a:p>
          <a:p>
            <a:pPr indent="0" lvl="0" marL="0" rtl="0" algn="l">
              <a:lnSpc>
                <a:spcPct val="80000"/>
              </a:lnSpc>
              <a:spcBef>
                <a:spcPts val="117"/>
              </a:spcBef>
              <a:spcAft>
                <a:spcPts val="0"/>
              </a:spcAft>
              <a:buNone/>
            </a:pPr>
            <a:r>
              <a:rPr lang="en-US" sz="390"/>
              <a:t>the new record in logical sequence is updated to contain a pointer to the new record</a:t>
            </a:r>
            <a:endParaRPr/>
          </a:p>
          <a:p>
            <a:pPr indent="0" lvl="0" marL="0" rtl="0" algn="l">
              <a:lnSpc>
                <a:spcPct val="80000"/>
              </a:lnSpc>
              <a:spcBef>
                <a:spcPts val="117"/>
              </a:spcBef>
              <a:spcAft>
                <a:spcPts val="0"/>
              </a:spcAft>
              <a:buNone/>
            </a:pPr>
            <a:r>
              <a:rPr lang="en-US" sz="390"/>
              <a:t>in the overflow file. If the immediately preceding record is itself in the overflow file,</a:t>
            </a:r>
            <a:endParaRPr/>
          </a:p>
          <a:p>
            <a:pPr indent="0" lvl="0" marL="0" rtl="0" algn="l">
              <a:lnSpc>
                <a:spcPct val="80000"/>
              </a:lnSpc>
              <a:spcBef>
                <a:spcPts val="117"/>
              </a:spcBef>
              <a:spcAft>
                <a:spcPts val="0"/>
              </a:spcAft>
              <a:buNone/>
            </a:pPr>
            <a:r>
              <a:rPr lang="en-US" sz="390"/>
              <a:t>then the pointer in that record is updated. As with the sequential file, the indexed</a:t>
            </a:r>
            <a:endParaRPr/>
          </a:p>
          <a:p>
            <a:pPr indent="0" lvl="0" marL="0" rtl="0" algn="l">
              <a:lnSpc>
                <a:spcPct val="80000"/>
              </a:lnSpc>
              <a:spcBef>
                <a:spcPts val="117"/>
              </a:spcBef>
              <a:spcAft>
                <a:spcPts val="0"/>
              </a:spcAft>
              <a:buNone/>
            </a:pPr>
            <a:r>
              <a:rPr lang="en-US" sz="390"/>
              <a:t>sequential file is occasionally merged with the overflow file in batch mode.</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The indexed sequential file greatly reduces the time required to access a single</a:t>
            </a:r>
            <a:endParaRPr/>
          </a:p>
          <a:p>
            <a:pPr indent="0" lvl="0" marL="0" rtl="0" algn="l">
              <a:lnSpc>
                <a:spcPct val="80000"/>
              </a:lnSpc>
              <a:spcBef>
                <a:spcPts val="117"/>
              </a:spcBef>
              <a:spcAft>
                <a:spcPts val="0"/>
              </a:spcAft>
              <a:buNone/>
            </a:pPr>
            <a:r>
              <a:rPr lang="en-US" sz="390"/>
              <a:t>record, without sacrificing the sequential nature of the file. To process the entire file</a:t>
            </a:r>
            <a:endParaRPr/>
          </a:p>
          <a:p>
            <a:pPr indent="0" lvl="0" marL="0" rtl="0" algn="l">
              <a:lnSpc>
                <a:spcPct val="80000"/>
              </a:lnSpc>
              <a:spcBef>
                <a:spcPts val="117"/>
              </a:spcBef>
              <a:spcAft>
                <a:spcPts val="0"/>
              </a:spcAft>
              <a:buNone/>
            </a:pPr>
            <a:r>
              <a:rPr lang="en-US" sz="390"/>
              <a:t>sequentially, the records of the main file are processed in sequence until a pointer</a:t>
            </a:r>
            <a:endParaRPr/>
          </a:p>
          <a:p>
            <a:pPr indent="0" lvl="0" marL="0" rtl="0" algn="l">
              <a:lnSpc>
                <a:spcPct val="80000"/>
              </a:lnSpc>
              <a:spcBef>
                <a:spcPts val="117"/>
              </a:spcBef>
              <a:spcAft>
                <a:spcPts val="0"/>
              </a:spcAft>
              <a:buNone/>
            </a:pPr>
            <a:r>
              <a:rPr lang="en-US" sz="390"/>
              <a:t>to the overflow file is found, then accessing continues in the overflow file until a null</a:t>
            </a:r>
            <a:endParaRPr/>
          </a:p>
          <a:p>
            <a:pPr indent="0" lvl="0" marL="0" rtl="0" algn="l">
              <a:lnSpc>
                <a:spcPct val="80000"/>
              </a:lnSpc>
              <a:spcBef>
                <a:spcPts val="117"/>
              </a:spcBef>
              <a:spcAft>
                <a:spcPts val="0"/>
              </a:spcAft>
              <a:buNone/>
            </a:pPr>
            <a:r>
              <a:rPr lang="en-US" sz="390"/>
              <a:t>pointer is encountered, at which time accessing of the main file is resumed where it</a:t>
            </a:r>
            <a:endParaRPr/>
          </a:p>
          <a:p>
            <a:pPr indent="0" lvl="0" marL="0" rtl="0" algn="l">
              <a:lnSpc>
                <a:spcPct val="80000"/>
              </a:lnSpc>
              <a:spcBef>
                <a:spcPts val="117"/>
              </a:spcBef>
              <a:spcAft>
                <a:spcPts val="0"/>
              </a:spcAft>
              <a:buNone/>
            </a:pPr>
            <a:r>
              <a:rPr lang="en-US" sz="390"/>
              <a:t>left off.</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provide even greater efficiency in access, multiple levels of indexing can be</a:t>
            </a:r>
            <a:endParaRPr/>
          </a:p>
          <a:p>
            <a:pPr indent="0" lvl="0" marL="0" rtl="0" algn="l">
              <a:lnSpc>
                <a:spcPct val="80000"/>
              </a:lnSpc>
              <a:spcBef>
                <a:spcPts val="117"/>
              </a:spcBef>
              <a:spcAft>
                <a:spcPts val="0"/>
              </a:spcAft>
              <a:buNone/>
            </a:pPr>
            <a:r>
              <a:rPr lang="en-US" sz="390"/>
              <a:t>used. Thus the lowest level of index file is treated as a sequential file and a higher level</a:t>
            </a:r>
            <a:endParaRPr/>
          </a:p>
          <a:p>
            <a:pPr indent="0" lvl="0" marL="0" rtl="0" algn="l">
              <a:lnSpc>
                <a:spcPct val="80000"/>
              </a:lnSpc>
              <a:spcBef>
                <a:spcPts val="117"/>
              </a:spcBef>
              <a:spcAft>
                <a:spcPts val="0"/>
              </a:spcAft>
              <a:buNone/>
            </a:pPr>
            <a:r>
              <a:rPr lang="en-US" sz="390"/>
              <a:t>index file is created for that file. Consider again a file with 1 million records.</a:t>
            </a:r>
            <a:endParaRPr/>
          </a:p>
          <a:p>
            <a:pPr indent="0" lvl="0" marL="0" rtl="0" algn="l">
              <a:lnSpc>
                <a:spcPct val="80000"/>
              </a:lnSpc>
              <a:spcBef>
                <a:spcPts val="117"/>
              </a:spcBef>
              <a:spcAft>
                <a:spcPts val="0"/>
              </a:spcAft>
              <a:buNone/>
            </a:pPr>
            <a:r>
              <a:rPr lang="en-US" sz="390"/>
              <a:t>A lower-level index with 10,000 entries is constructed. A higher-level index into</a:t>
            </a:r>
            <a:endParaRPr/>
          </a:p>
          <a:p>
            <a:pPr indent="0" lvl="0" marL="0" rtl="0" algn="l">
              <a:lnSpc>
                <a:spcPct val="80000"/>
              </a:lnSpc>
              <a:spcBef>
                <a:spcPts val="117"/>
              </a:spcBef>
              <a:spcAft>
                <a:spcPts val="0"/>
              </a:spcAft>
              <a:buNone/>
            </a:pPr>
            <a:r>
              <a:rPr lang="en-US" sz="390"/>
              <a:t>the lower-level index of 100 entries can then be constructed. The search begins at</a:t>
            </a:r>
            <a:endParaRPr/>
          </a:p>
          <a:p>
            <a:pPr indent="0" lvl="0" marL="0" rtl="0" algn="l">
              <a:lnSpc>
                <a:spcPct val="80000"/>
              </a:lnSpc>
              <a:spcBef>
                <a:spcPts val="117"/>
              </a:spcBef>
              <a:spcAft>
                <a:spcPts val="0"/>
              </a:spcAft>
              <a:buNone/>
            </a:pPr>
            <a:r>
              <a:rPr lang="en-US" sz="390"/>
              <a:t>the higher-level index (average length = 50 accesses) to find an entry point into the</a:t>
            </a:r>
            <a:endParaRPr/>
          </a:p>
          <a:p>
            <a:pPr indent="0" lvl="0" marL="0" rtl="0" algn="l">
              <a:lnSpc>
                <a:spcPct val="80000"/>
              </a:lnSpc>
              <a:spcBef>
                <a:spcPts val="117"/>
              </a:spcBef>
              <a:spcAft>
                <a:spcPts val="0"/>
              </a:spcAft>
              <a:buNone/>
            </a:pPr>
            <a:r>
              <a:rPr lang="en-US" sz="390"/>
              <a:t>lower-level index. This index is then searched (average length = 50) to find an entry</a:t>
            </a:r>
            <a:endParaRPr/>
          </a:p>
          <a:p>
            <a:pPr indent="0" lvl="0" marL="0" rtl="0" algn="l">
              <a:lnSpc>
                <a:spcPct val="80000"/>
              </a:lnSpc>
              <a:spcBef>
                <a:spcPts val="117"/>
              </a:spcBef>
              <a:spcAft>
                <a:spcPts val="0"/>
              </a:spcAft>
              <a:buNone/>
            </a:pPr>
            <a:r>
              <a:rPr lang="en-US" sz="390"/>
              <a:t>point into the main file, which is then searched (average length = 50). Thus the average</a:t>
            </a:r>
            <a:endParaRPr/>
          </a:p>
          <a:p>
            <a:pPr indent="0" lvl="0" marL="0" rtl="0" algn="l">
              <a:lnSpc>
                <a:spcPct val="80000"/>
              </a:lnSpc>
              <a:spcBef>
                <a:spcPts val="117"/>
              </a:spcBef>
              <a:spcAft>
                <a:spcPts val="0"/>
              </a:spcAft>
              <a:buNone/>
            </a:pPr>
            <a:r>
              <a:rPr lang="en-US" sz="390"/>
              <a:t>length of search has been reduced from 500,000 to 1,000 to 150.</a:t>
            </a:r>
            <a:endParaRPr sz="390"/>
          </a:p>
        </p:txBody>
      </p:sp>
      <p:sp>
        <p:nvSpPr>
          <p:cNvPr id="511" name="Google Shape;511;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8" name="Google Shape;51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390"/>
              <a:t>A popular approach to overcoming the disadvantages of the sequential file is the</a:t>
            </a:r>
            <a:endParaRPr/>
          </a:p>
          <a:p>
            <a:pPr indent="0" lvl="0" marL="0" rtl="0" algn="l">
              <a:lnSpc>
                <a:spcPct val="80000"/>
              </a:lnSpc>
              <a:spcBef>
                <a:spcPts val="117"/>
              </a:spcBef>
              <a:spcAft>
                <a:spcPts val="0"/>
              </a:spcAft>
              <a:buNone/>
            </a:pPr>
            <a:r>
              <a:rPr lang="en-US" sz="390"/>
              <a:t>indexed sequential file. The indexed sequential file maintains the key characteristic</a:t>
            </a:r>
            <a:endParaRPr/>
          </a:p>
          <a:p>
            <a:pPr indent="0" lvl="0" marL="0" rtl="0" algn="l">
              <a:lnSpc>
                <a:spcPct val="80000"/>
              </a:lnSpc>
              <a:spcBef>
                <a:spcPts val="117"/>
              </a:spcBef>
              <a:spcAft>
                <a:spcPts val="0"/>
              </a:spcAft>
              <a:buNone/>
            </a:pPr>
            <a:r>
              <a:rPr lang="en-US" sz="390"/>
              <a:t>of the sequential file: Records are organized in sequence based on a key field. Two</a:t>
            </a:r>
            <a:endParaRPr/>
          </a:p>
          <a:p>
            <a:pPr indent="0" lvl="0" marL="0" rtl="0" algn="l">
              <a:lnSpc>
                <a:spcPct val="80000"/>
              </a:lnSpc>
              <a:spcBef>
                <a:spcPts val="117"/>
              </a:spcBef>
              <a:spcAft>
                <a:spcPts val="0"/>
              </a:spcAft>
              <a:buNone/>
            </a:pPr>
            <a:r>
              <a:rPr lang="en-US" sz="390"/>
              <a:t>features are added: an index to the file to support random access, and an overflow</a:t>
            </a:r>
            <a:endParaRPr/>
          </a:p>
          <a:p>
            <a:pPr indent="0" lvl="0" marL="0" rtl="0" algn="l">
              <a:lnSpc>
                <a:spcPct val="80000"/>
              </a:lnSpc>
              <a:spcBef>
                <a:spcPts val="117"/>
              </a:spcBef>
              <a:spcAft>
                <a:spcPts val="0"/>
              </a:spcAft>
              <a:buNone/>
            </a:pPr>
            <a:r>
              <a:rPr lang="en-US" sz="390"/>
              <a:t>file. The index provides a lookup capability to reach quickly the vicinity of a desired</a:t>
            </a:r>
            <a:endParaRPr/>
          </a:p>
          <a:p>
            <a:pPr indent="0" lvl="0" marL="0" rtl="0" algn="l">
              <a:lnSpc>
                <a:spcPct val="80000"/>
              </a:lnSpc>
              <a:spcBef>
                <a:spcPts val="117"/>
              </a:spcBef>
              <a:spcAft>
                <a:spcPts val="0"/>
              </a:spcAft>
              <a:buNone/>
            </a:pPr>
            <a:r>
              <a:rPr lang="en-US" sz="390"/>
              <a:t>record. The overflow file is similar to the log file used with a sequential file but is</a:t>
            </a:r>
            <a:endParaRPr/>
          </a:p>
          <a:p>
            <a:pPr indent="0" lvl="0" marL="0" rtl="0" algn="l">
              <a:lnSpc>
                <a:spcPct val="80000"/>
              </a:lnSpc>
              <a:spcBef>
                <a:spcPts val="117"/>
              </a:spcBef>
              <a:spcAft>
                <a:spcPts val="0"/>
              </a:spcAft>
              <a:buNone/>
            </a:pPr>
            <a:r>
              <a:rPr lang="en-US" sz="390"/>
              <a:t>integrated so that a record in the overflow file is located by following a pointer from</a:t>
            </a:r>
            <a:endParaRPr/>
          </a:p>
          <a:p>
            <a:pPr indent="0" lvl="0" marL="0" rtl="0" algn="l">
              <a:lnSpc>
                <a:spcPct val="80000"/>
              </a:lnSpc>
              <a:spcBef>
                <a:spcPts val="117"/>
              </a:spcBef>
              <a:spcAft>
                <a:spcPts val="0"/>
              </a:spcAft>
              <a:buNone/>
            </a:pPr>
            <a:r>
              <a:rPr lang="en-US" sz="390"/>
              <a:t>its predecessor record.</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In the simplest indexed sequential structure, a single level of indexing is</a:t>
            </a:r>
            <a:endParaRPr/>
          </a:p>
          <a:p>
            <a:pPr indent="0" lvl="0" marL="0" rtl="0" algn="l">
              <a:lnSpc>
                <a:spcPct val="80000"/>
              </a:lnSpc>
              <a:spcBef>
                <a:spcPts val="117"/>
              </a:spcBef>
              <a:spcAft>
                <a:spcPts val="0"/>
              </a:spcAft>
              <a:buNone/>
            </a:pPr>
            <a:r>
              <a:rPr lang="en-US" sz="390"/>
              <a:t>used. The index in this case is a simple sequential file. Each record in the index file</a:t>
            </a:r>
            <a:endParaRPr/>
          </a:p>
          <a:p>
            <a:pPr indent="0" lvl="0" marL="0" rtl="0" algn="l">
              <a:lnSpc>
                <a:spcPct val="80000"/>
              </a:lnSpc>
              <a:spcBef>
                <a:spcPts val="117"/>
              </a:spcBef>
              <a:spcAft>
                <a:spcPts val="0"/>
              </a:spcAft>
              <a:buNone/>
            </a:pPr>
            <a:r>
              <a:rPr lang="en-US" sz="390"/>
              <a:t>consists of two fields: a key field, which is the same as the key field in the main file,</a:t>
            </a:r>
            <a:endParaRPr/>
          </a:p>
          <a:p>
            <a:pPr indent="0" lvl="0" marL="0" rtl="0" algn="l">
              <a:lnSpc>
                <a:spcPct val="80000"/>
              </a:lnSpc>
              <a:spcBef>
                <a:spcPts val="117"/>
              </a:spcBef>
              <a:spcAft>
                <a:spcPts val="0"/>
              </a:spcAft>
              <a:buNone/>
            </a:pPr>
            <a:r>
              <a:rPr lang="en-US" sz="390"/>
              <a:t>and a pointer into the main file. To find a specific field, the index is searched to find</a:t>
            </a:r>
            <a:endParaRPr/>
          </a:p>
          <a:p>
            <a:pPr indent="0" lvl="0" marL="0" rtl="0" algn="l">
              <a:lnSpc>
                <a:spcPct val="80000"/>
              </a:lnSpc>
              <a:spcBef>
                <a:spcPts val="117"/>
              </a:spcBef>
              <a:spcAft>
                <a:spcPts val="0"/>
              </a:spcAft>
              <a:buNone/>
            </a:pPr>
            <a:r>
              <a:rPr lang="en-US" sz="390"/>
              <a:t>the highest key value that is equal to or precedes the desired key value. The search</a:t>
            </a:r>
            <a:endParaRPr/>
          </a:p>
          <a:p>
            <a:pPr indent="0" lvl="0" marL="0" rtl="0" algn="l">
              <a:lnSpc>
                <a:spcPct val="80000"/>
              </a:lnSpc>
              <a:spcBef>
                <a:spcPts val="117"/>
              </a:spcBef>
              <a:spcAft>
                <a:spcPts val="0"/>
              </a:spcAft>
              <a:buNone/>
            </a:pPr>
            <a:r>
              <a:rPr lang="en-US" sz="390"/>
              <a:t>continues in the main file at the location indicated by the pointer.</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see the effectiveness of this approach, consider a sequential file with</a:t>
            </a:r>
            <a:endParaRPr/>
          </a:p>
          <a:p>
            <a:pPr indent="0" lvl="0" marL="0" rtl="0" algn="l">
              <a:lnSpc>
                <a:spcPct val="80000"/>
              </a:lnSpc>
              <a:spcBef>
                <a:spcPts val="117"/>
              </a:spcBef>
              <a:spcAft>
                <a:spcPts val="0"/>
              </a:spcAft>
              <a:buNone/>
            </a:pPr>
            <a:r>
              <a:rPr lang="en-US" sz="390"/>
              <a:t>1 million records. To search for a particular key value will require on average one-half</a:t>
            </a:r>
            <a:endParaRPr/>
          </a:p>
          <a:p>
            <a:pPr indent="0" lvl="0" marL="0" rtl="0" algn="l">
              <a:lnSpc>
                <a:spcPct val="80000"/>
              </a:lnSpc>
              <a:spcBef>
                <a:spcPts val="117"/>
              </a:spcBef>
              <a:spcAft>
                <a:spcPts val="0"/>
              </a:spcAft>
              <a:buNone/>
            </a:pPr>
            <a:r>
              <a:rPr lang="en-US" sz="390"/>
              <a:t>million record accesses. Now suppose that an index containing 1,000 entries</a:t>
            </a:r>
            <a:endParaRPr/>
          </a:p>
          <a:p>
            <a:pPr indent="0" lvl="0" marL="0" rtl="0" algn="l">
              <a:lnSpc>
                <a:spcPct val="80000"/>
              </a:lnSpc>
              <a:spcBef>
                <a:spcPts val="117"/>
              </a:spcBef>
              <a:spcAft>
                <a:spcPts val="0"/>
              </a:spcAft>
              <a:buNone/>
            </a:pPr>
            <a:r>
              <a:rPr lang="en-US" sz="390"/>
              <a:t>is constructed, with the keys in the index more or less evenly distributed over</a:t>
            </a:r>
            <a:endParaRPr/>
          </a:p>
          <a:p>
            <a:pPr indent="0" lvl="0" marL="0" rtl="0" algn="l">
              <a:lnSpc>
                <a:spcPct val="80000"/>
              </a:lnSpc>
              <a:spcBef>
                <a:spcPts val="117"/>
              </a:spcBef>
              <a:spcAft>
                <a:spcPts val="0"/>
              </a:spcAft>
              <a:buNone/>
            </a:pPr>
            <a:r>
              <a:rPr lang="en-US" sz="390"/>
              <a:t>the main file. Now it will take on average 500 accesses to the index file followed</a:t>
            </a:r>
            <a:endParaRPr/>
          </a:p>
          <a:p>
            <a:pPr indent="0" lvl="0" marL="0" rtl="0" algn="l">
              <a:lnSpc>
                <a:spcPct val="80000"/>
              </a:lnSpc>
              <a:spcBef>
                <a:spcPts val="117"/>
              </a:spcBef>
              <a:spcAft>
                <a:spcPts val="0"/>
              </a:spcAft>
              <a:buNone/>
            </a:pPr>
            <a:r>
              <a:rPr lang="en-US" sz="390"/>
              <a:t>by 500 accesses to the main file to find the record. The average search length is</a:t>
            </a:r>
            <a:endParaRPr/>
          </a:p>
          <a:p>
            <a:pPr indent="0" lvl="0" marL="0" rtl="0" algn="l">
              <a:lnSpc>
                <a:spcPct val="80000"/>
              </a:lnSpc>
              <a:spcBef>
                <a:spcPts val="117"/>
              </a:spcBef>
              <a:spcAft>
                <a:spcPts val="0"/>
              </a:spcAft>
              <a:buNone/>
            </a:pPr>
            <a:r>
              <a:rPr lang="en-US" sz="390"/>
              <a:t>reduced from 500,000 to 1,000.</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Additions to the file are handled in the following manner: Each record in</a:t>
            </a:r>
            <a:endParaRPr/>
          </a:p>
          <a:p>
            <a:pPr indent="0" lvl="0" marL="0" rtl="0" algn="l">
              <a:lnSpc>
                <a:spcPct val="80000"/>
              </a:lnSpc>
              <a:spcBef>
                <a:spcPts val="117"/>
              </a:spcBef>
              <a:spcAft>
                <a:spcPts val="0"/>
              </a:spcAft>
              <a:buNone/>
            </a:pPr>
            <a:r>
              <a:rPr lang="en-US" sz="390"/>
              <a:t>the main file contains an additional field not visible to the application, which is a</a:t>
            </a:r>
            <a:endParaRPr/>
          </a:p>
          <a:p>
            <a:pPr indent="0" lvl="0" marL="0" rtl="0" algn="l">
              <a:lnSpc>
                <a:spcPct val="80000"/>
              </a:lnSpc>
              <a:spcBef>
                <a:spcPts val="117"/>
              </a:spcBef>
              <a:spcAft>
                <a:spcPts val="0"/>
              </a:spcAft>
              <a:buNone/>
            </a:pPr>
            <a:r>
              <a:rPr lang="en-US" sz="390"/>
              <a:t>pointer to the overflow file. When a new record is to be inserted into the file, it is</a:t>
            </a:r>
            <a:endParaRPr/>
          </a:p>
          <a:p>
            <a:pPr indent="0" lvl="0" marL="0" rtl="0" algn="l">
              <a:lnSpc>
                <a:spcPct val="80000"/>
              </a:lnSpc>
              <a:spcBef>
                <a:spcPts val="117"/>
              </a:spcBef>
              <a:spcAft>
                <a:spcPts val="0"/>
              </a:spcAft>
              <a:buNone/>
            </a:pPr>
            <a:r>
              <a:rPr lang="en-US" sz="390"/>
              <a:t>added to the overflow file. The record in the main file that immediately precedes</a:t>
            </a:r>
            <a:endParaRPr/>
          </a:p>
          <a:p>
            <a:pPr indent="0" lvl="0" marL="0" rtl="0" algn="l">
              <a:lnSpc>
                <a:spcPct val="80000"/>
              </a:lnSpc>
              <a:spcBef>
                <a:spcPts val="117"/>
              </a:spcBef>
              <a:spcAft>
                <a:spcPts val="0"/>
              </a:spcAft>
              <a:buNone/>
            </a:pPr>
            <a:r>
              <a:rPr lang="en-US" sz="390"/>
              <a:t>the new record in logical sequence is updated to contain a pointer to the new record</a:t>
            </a:r>
            <a:endParaRPr/>
          </a:p>
          <a:p>
            <a:pPr indent="0" lvl="0" marL="0" rtl="0" algn="l">
              <a:lnSpc>
                <a:spcPct val="80000"/>
              </a:lnSpc>
              <a:spcBef>
                <a:spcPts val="117"/>
              </a:spcBef>
              <a:spcAft>
                <a:spcPts val="0"/>
              </a:spcAft>
              <a:buNone/>
            </a:pPr>
            <a:r>
              <a:rPr lang="en-US" sz="390"/>
              <a:t>in the overflow file. If the immediately preceding record is itself in the overflow file,</a:t>
            </a:r>
            <a:endParaRPr/>
          </a:p>
          <a:p>
            <a:pPr indent="0" lvl="0" marL="0" rtl="0" algn="l">
              <a:lnSpc>
                <a:spcPct val="80000"/>
              </a:lnSpc>
              <a:spcBef>
                <a:spcPts val="117"/>
              </a:spcBef>
              <a:spcAft>
                <a:spcPts val="0"/>
              </a:spcAft>
              <a:buNone/>
            </a:pPr>
            <a:r>
              <a:rPr lang="en-US" sz="390"/>
              <a:t>then the pointer in that record is updated. As with the sequential file, the indexed</a:t>
            </a:r>
            <a:endParaRPr/>
          </a:p>
          <a:p>
            <a:pPr indent="0" lvl="0" marL="0" rtl="0" algn="l">
              <a:lnSpc>
                <a:spcPct val="80000"/>
              </a:lnSpc>
              <a:spcBef>
                <a:spcPts val="117"/>
              </a:spcBef>
              <a:spcAft>
                <a:spcPts val="0"/>
              </a:spcAft>
              <a:buNone/>
            </a:pPr>
            <a:r>
              <a:rPr lang="en-US" sz="390"/>
              <a:t>sequential file is occasionally merged with the overflow file in batch mode.</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The indexed sequential file greatly reduces the time required to access a single</a:t>
            </a:r>
            <a:endParaRPr/>
          </a:p>
          <a:p>
            <a:pPr indent="0" lvl="0" marL="0" rtl="0" algn="l">
              <a:lnSpc>
                <a:spcPct val="80000"/>
              </a:lnSpc>
              <a:spcBef>
                <a:spcPts val="117"/>
              </a:spcBef>
              <a:spcAft>
                <a:spcPts val="0"/>
              </a:spcAft>
              <a:buNone/>
            </a:pPr>
            <a:r>
              <a:rPr lang="en-US" sz="390"/>
              <a:t>record, without sacrificing the sequential nature of the file. To process the entire file</a:t>
            </a:r>
            <a:endParaRPr/>
          </a:p>
          <a:p>
            <a:pPr indent="0" lvl="0" marL="0" rtl="0" algn="l">
              <a:lnSpc>
                <a:spcPct val="80000"/>
              </a:lnSpc>
              <a:spcBef>
                <a:spcPts val="117"/>
              </a:spcBef>
              <a:spcAft>
                <a:spcPts val="0"/>
              </a:spcAft>
              <a:buNone/>
            </a:pPr>
            <a:r>
              <a:rPr lang="en-US" sz="390"/>
              <a:t>sequentially, the records of the main file are processed in sequence until a pointer</a:t>
            </a:r>
            <a:endParaRPr/>
          </a:p>
          <a:p>
            <a:pPr indent="0" lvl="0" marL="0" rtl="0" algn="l">
              <a:lnSpc>
                <a:spcPct val="80000"/>
              </a:lnSpc>
              <a:spcBef>
                <a:spcPts val="117"/>
              </a:spcBef>
              <a:spcAft>
                <a:spcPts val="0"/>
              </a:spcAft>
              <a:buNone/>
            </a:pPr>
            <a:r>
              <a:rPr lang="en-US" sz="390"/>
              <a:t>to the overflow file is found, then accessing continues in the overflow file until a null</a:t>
            </a:r>
            <a:endParaRPr/>
          </a:p>
          <a:p>
            <a:pPr indent="0" lvl="0" marL="0" rtl="0" algn="l">
              <a:lnSpc>
                <a:spcPct val="80000"/>
              </a:lnSpc>
              <a:spcBef>
                <a:spcPts val="117"/>
              </a:spcBef>
              <a:spcAft>
                <a:spcPts val="0"/>
              </a:spcAft>
              <a:buNone/>
            </a:pPr>
            <a:r>
              <a:rPr lang="en-US" sz="390"/>
              <a:t>pointer is encountered, at which time accessing of the main file is resumed where it</a:t>
            </a:r>
            <a:endParaRPr/>
          </a:p>
          <a:p>
            <a:pPr indent="0" lvl="0" marL="0" rtl="0" algn="l">
              <a:lnSpc>
                <a:spcPct val="80000"/>
              </a:lnSpc>
              <a:spcBef>
                <a:spcPts val="117"/>
              </a:spcBef>
              <a:spcAft>
                <a:spcPts val="0"/>
              </a:spcAft>
              <a:buNone/>
            </a:pPr>
            <a:r>
              <a:rPr lang="en-US" sz="390"/>
              <a:t>left off.</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provide even greater efficiency in access, multiple levels of indexing can be</a:t>
            </a:r>
            <a:endParaRPr/>
          </a:p>
          <a:p>
            <a:pPr indent="0" lvl="0" marL="0" rtl="0" algn="l">
              <a:lnSpc>
                <a:spcPct val="80000"/>
              </a:lnSpc>
              <a:spcBef>
                <a:spcPts val="117"/>
              </a:spcBef>
              <a:spcAft>
                <a:spcPts val="0"/>
              </a:spcAft>
              <a:buNone/>
            </a:pPr>
            <a:r>
              <a:rPr lang="en-US" sz="390"/>
              <a:t>used. Thus the lowest level of index file is treated as a sequential file and a higher level</a:t>
            </a:r>
            <a:endParaRPr/>
          </a:p>
          <a:p>
            <a:pPr indent="0" lvl="0" marL="0" rtl="0" algn="l">
              <a:lnSpc>
                <a:spcPct val="80000"/>
              </a:lnSpc>
              <a:spcBef>
                <a:spcPts val="117"/>
              </a:spcBef>
              <a:spcAft>
                <a:spcPts val="0"/>
              </a:spcAft>
              <a:buNone/>
            </a:pPr>
            <a:r>
              <a:rPr lang="en-US" sz="390"/>
              <a:t>index file is created for that file. Consider again a file with 1 million records.</a:t>
            </a:r>
            <a:endParaRPr/>
          </a:p>
          <a:p>
            <a:pPr indent="0" lvl="0" marL="0" rtl="0" algn="l">
              <a:lnSpc>
                <a:spcPct val="80000"/>
              </a:lnSpc>
              <a:spcBef>
                <a:spcPts val="117"/>
              </a:spcBef>
              <a:spcAft>
                <a:spcPts val="0"/>
              </a:spcAft>
              <a:buNone/>
            </a:pPr>
            <a:r>
              <a:rPr lang="en-US" sz="390"/>
              <a:t>A lower-level index with 10,000 entries is constructed. A higher-level index into</a:t>
            </a:r>
            <a:endParaRPr/>
          </a:p>
          <a:p>
            <a:pPr indent="0" lvl="0" marL="0" rtl="0" algn="l">
              <a:lnSpc>
                <a:spcPct val="80000"/>
              </a:lnSpc>
              <a:spcBef>
                <a:spcPts val="117"/>
              </a:spcBef>
              <a:spcAft>
                <a:spcPts val="0"/>
              </a:spcAft>
              <a:buNone/>
            </a:pPr>
            <a:r>
              <a:rPr lang="en-US" sz="390"/>
              <a:t>the lower-level index of 100 entries can then be constructed. The search begins at</a:t>
            </a:r>
            <a:endParaRPr/>
          </a:p>
          <a:p>
            <a:pPr indent="0" lvl="0" marL="0" rtl="0" algn="l">
              <a:lnSpc>
                <a:spcPct val="80000"/>
              </a:lnSpc>
              <a:spcBef>
                <a:spcPts val="117"/>
              </a:spcBef>
              <a:spcAft>
                <a:spcPts val="0"/>
              </a:spcAft>
              <a:buNone/>
            </a:pPr>
            <a:r>
              <a:rPr lang="en-US" sz="390"/>
              <a:t>the higher-level index (average length = 50 accesses) to find an entry point into the</a:t>
            </a:r>
            <a:endParaRPr/>
          </a:p>
          <a:p>
            <a:pPr indent="0" lvl="0" marL="0" rtl="0" algn="l">
              <a:lnSpc>
                <a:spcPct val="80000"/>
              </a:lnSpc>
              <a:spcBef>
                <a:spcPts val="117"/>
              </a:spcBef>
              <a:spcAft>
                <a:spcPts val="0"/>
              </a:spcAft>
              <a:buNone/>
            </a:pPr>
            <a:r>
              <a:rPr lang="en-US" sz="390"/>
              <a:t>lower-level index. This index is then searched (average length = 50) to find an entry</a:t>
            </a:r>
            <a:endParaRPr/>
          </a:p>
          <a:p>
            <a:pPr indent="0" lvl="0" marL="0" rtl="0" algn="l">
              <a:lnSpc>
                <a:spcPct val="80000"/>
              </a:lnSpc>
              <a:spcBef>
                <a:spcPts val="117"/>
              </a:spcBef>
              <a:spcAft>
                <a:spcPts val="0"/>
              </a:spcAft>
              <a:buNone/>
            </a:pPr>
            <a:r>
              <a:rPr lang="en-US" sz="390"/>
              <a:t>point into the main file, which is then searched (average length = 50). Thus the average</a:t>
            </a:r>
            <a:endParaRPr/>
          </a:p>
          <a:p>
            <a:pPr indent="0" lvl="0" marL="0" rtl="0" algn="l">
              <a:lnSpc>
                <a:spcPct val="80000"/>
              </a:lnSpc>
              <a:spcBef>
                <a:spcPts val="117"/>
              </a:spcBef>
              <a:spcAft>
                <a:spcPts val="0"/>
              </a:spcAft>
              <a:buNone/>
            </a:pPr>
            <a:r>
              <a:rPr lang="en-US" sz="390"/>
              <a:t>length of search has been reduced from 500,000 to 1,000 to 150.</a:t>
            </a:r>
            <a:endParaRPr sz="390"/>
          </a:p>
        </p:txBody>
      </p:sp>
      <p:sp>
        <p:nvSpPr>
          <p:cNvPr id="519" name="Google Shape;519;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26" name="Google Shape;52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390"/>
              <a:t>A popular approach to overcoming the disadvantages of the sequential file is the</a:t>
            </a:r>
            <a:endParaRPr/>
          </a:p>
          <a:p>
            <a:pPr indent="0" lvl="0" marL="0" rtl="0" algn="l">
              <a:lnSpc>
                <a:spcPct val="80000"/>
              </a:lnSpc>
              <a:spcBef>
                <a:spcPts val="117"/>
              </a:spcBef>
              <a:spcAft>
                <a:spcPts val="0"/>
              </a:spcAft>
              <a:buNone/>
            </a:pPr>
            <a:r>
              <a:rPr lang="en-US" sz="390"/>
              <a:t>indexed sequential file. The indexed sequential file maintains the key characteristic</a:t>
            </a:r>
            <a:endParaRPr/>
          </a:p>
          <a:p>
            <a:pPr indent="0" lvl="0" marL="0" rtl="0" algn="l">
              <a:lnSpc>
                <a:spcPct val="80000"/>
              </a:lnSpc>
              <a:spcBef>
                <a:spcPts val="117"/>
              </a:spcBef>
              <a:spcAft>
                <a:spcPts val="0"/>
              </a:spcAft>
              <a:buNone/>
            </a:pPr>
            <a:r>
              <a:rPr lang="en-US" sz="390"/>
              <a:t>of the sequential file: Records are organized in sequence based on a key field. Two</a:t>
            </a:r>
            <a:endParaRPr/>
          </a:p>
          <a:p>
            <a:pPr indent="0" lvl="0" marL="0" rtl="0" algn="l">
              <a:lnSpc>
                <a:spcPct val="80000"/>
              </a:lnSpc>
              <a:spcBef>
                <a:spcPts val="117"/>
              </a:spcBef>
              <a:spcAft>
                <a:spcPts val="0"/>
              </a:spcAft>
              <a:buNone/>
            </a:pPr>
            <a:r>
              <a:rPr lang="en-US" sz="390"/>
              <a:t>features are added: an index to the file to support random access, and an overflow</a:t>
            </a:r>
            <a:endParaRPr/>
          </a:p>
          <a:p>
            <a:pPr indent="0" lvl="0" marL="0" rtl="0" algn="l">
              <a:lnSpc>
                <a:spcPct val="80000"/>
              </a:lnSpc>
              <a:spcBef>
                <a:spcPts val="117"/>
              </a:spcBef>
              <a:spcAft>
                <a:spcPts val="0"/>
              </a:spcAft>
              <a:buNone/>
            </a:pPr>
            <a:r>
              <a:rPr lang="en-US" sz="390"/>
              <a:t>file. The index provides a lookup capability to reach quickly the vicinity of a desired</a:t>
            </a:r>
            <a:endParaRPr/>
          </a:p>
          <a:p>
            <a:pPr indent="0" lvl="0" marL="0" rtl="0" algn="l">
              <a:lnSpc>
                <a:spcPct val="80000"/>
              </a:lnSpc>
              <a:spcBef>
                <a:spcPts val="117"/>
              </a:spcBef>
              <a:spcAft>
                <a:spcPts val="0"/>
              </a:spcAft>
              <a:buNone/>
            </a:pPr>
            <a:r>
              <a:rPr lang="en-US" sz="390"/>
              <a:t>record. The overflow file is similar to the log file used with a sequential file but is</a:t>
            </a:r>
            <a:endParaRPr/>
          </a:p>
          <a:p>
            <a:pPr indent="0" lvl="0" marL="0" rtl="0" algn="l">
              <a:lnSpc>
                <a:spcPct val="80000"/>
              </a:lnSpc>
              <a:spcBef>
                <a:spcPts val="117"/>
              </a:spcBef>
              <a:spcAft>
                <a:spcPts val="0"/>
              </a:spcAft>
              <a:buNone/>
            </a:pPr>
            <a:r>
              <a:rPr lang="en-US" sz="390"/>
              <a:t>integrated so that a record in the overflow file is located by following a pointer from</a:t>
            </a:r>
            <a:endParaRPr/>
          </a:p>
          <a:p>
            <a:pPr indent="0" lvl="0" marL="0" rtl="0" algn="l">
              <a:lnSpc>
                <a:spcPct val="80000"/>
              </a:lnSpc>
              <a:spcBef>
                <a:spcPts val="117"/>
              </a:spcBef>
              <a:spcAft>
                <a:spcPts val="0"/>
              </a:spcAft>
              <a:buNone/>
            </a:pPr>
            <a:r>
              <a:rPr lang="en-US" sz="390"/>
              <a:t>its predecessor record.</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In the simplest indexed sequential structure, a single level of indexing is</a:t>
            </a:r>
            <a:endParaRPr/>
          </a:p>
          <a:p>
            <a:pPr indent="0" lvl="0" marL="0" rtl="0" algn="l">
              <a:lnSpc>
                <a:spcPct val="80000"/>
              </a:lnSpc>
              <a:spcBef>
                <a:spcPts val="117"/>
              </a:spcBef>
              <a:spcAft>
                <a:spcPts val="0"/>
              </a:spcAft>
              <a:buNone/>
            </a:pPr>
            <a:r>
              <a:rPr lang="en-US" sz="390"/>
              <a:t>used. The index in this case is a simple sequential file. Each record in the index file</a:t>
            </a:r>
            <a:endParaRPr/>
          </a:p>
          <a:p>
            <a:pPr indent="0" lvl="0" marL="0" rtl="0" algn="l">
              <a:lnSpc>
                <a:spcPct val="80000"/>
              </a:lnSpc>
              <a:spcBef>
                <a:spcPts val="117"/>
              </a:spcBef>
              <a:spcAft>
                <a:spcPts val="0"/>
              </a:spcAft>
              <a:buNone/>
            </a:pPr>
            <a:r>
              <a:rPr lang="en-US" sz="390"/>
              <a:t>consists of two fields: a key field, which is the same as the key field in the main file,</a:t>
            </a:r>
            <a:endParaRPr/>
          </a:p>
          <a:p>
            <a:pPr indent="0" lvl="0" marL="0" rtl="0" algn="l">
              <a:lnSpc>
                <a:spcPct val="80000"/>
              </a:lnSpc>
              <a:spcBef>
                <a:spcPts val="117"/>
              </a:spcBef>
              <a:spcAft>
                <a:spcPts val="0"/>
              </a:spcAft>
              <a:buNone/>
            </a:pPr>
            <a:r>
              <a:rPr lang="en-US" sz="390"/>
              <a:t>and a pointer into the main file. To find a specific field, the index is searched to find</a:t>
            </a:r>
            <a:endParaRPr/>
          </a:p>
          <a:p>
            <a:pPr indent="0" lvl="0" marL="0" rtl="0" algn="l">
              <a:lnSpc>
                <a:spcPct val="80000"/>
              </a:lnSpc>
              <a:spcBef>
                <a:spcPts val="117"/>
              </a:spcBef>
              <a:spcAft>
                <a:spcPts val="0"/>
              </a:spcAft>
              <a:buNone/>
            </a:pPr>
            <a:r>
              <a:rPr lang="en-US" sz="390"/>
              <a:t>the highest key value that is equal to or precedes the desired key value. The search</a:t>
            </a:r>
            <a:endParaRPr/>
          </a:p>
          <a:p>
            <a:pPr indent="0" lvl="0" marL="0" rtl="0" algn="l">
              <a:lnSpc>
                <a:spcPct val="80000"/>
              </a:lnSpc>
              <a:spcBef>
                <a:spcPts val="117"/>
              </a:spcBef>
              <a:spcAft>
                <a:spcPts val="0"/>
              </a:spcAft>
              <a:buNone/>
            </a:pPr>
            <a:r>
              <a:rPr lang="en-US" sz="390"/>
              <a:t>continues in the main file at the location indicated by the pointer.</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see the effectiveness of this approach, consider a sequential file with</a:t>
            </a:r>
            <a:endParaRPr/>
          </a:p>
          <a:p>
            <a:pPr indent="0" lvl="0" marL="0" rtl="0" algn="l">
              <a:lnSpc>
                <a:spcPct val="80000"/>
              </a:lnSpc>
              <a:spcBef>
                <a:spcPts val="117"/>
              </a:spcBef>
              <a:spcAft>
                <a:spcPts val="0"/>
              </a:spcAft>
              <a:buNone/>
            </a:pPr>
            <a:r>
              <a:rPr lang="en-US" sz="390"/>
              <a:t>1 million records. To search for a particular key value will require on average one-half</a:t>
            </a:r>
            <a:endParaRPr/>
          </a:p>
          <a:p>
            <a:pPr indent="0" lvl="0" marL="0" rtl="0" algn="l">
              <a:lnSpc>
                <a:spcPct val="80000"/>
              </a:lnSpc>
              <a:spcBef>
                <a:spcPts val="117"/>
              </a:spcBef>
              <a:spcAft>
                <a:spcPts val="0"/>
              </a:spcAft>
              <a:buNone/>
            </a:pPr>
            <a:r>
              <a:rPr lang="en-US" sz="390"/>
              <a:t>million record accesses. Now suppose that an index containing 1,000 entries</a:t>
            </a:r>
            <a:endParaRPr/>
          </a:p>
          <a:p>
            <a:pPr indent="0" lvl="0" marL="0" rtl="0" algn="l">
              <a:lnSpc>
                <a:spcPct val="80000"/>
              </a:lnSpc>
              <a:spcBef>
                <a:spcPts val="117"/>
              </a:spcBef>
              <a:spcAft>
                <a:spcPts val="0"/>
              </a:spcAft>
              <a:buNone/>
            </a:pPr>
            <a:r>
              <a:rPr lang="en-US" sz="390"/>
              <a:t>is constructed, with the keys in the index more or less evenly distributed over</a:t>
            </a:r>
            <a:endParaRPr/>
          </a:p>
          <a:p>
            <a:pPr indent="0" lvl="0" marL="0" rtl="0" algn="l">
              <a:lnSpc>
                <a:spcPct val="80000"/>
              </a:lnSpc>
              <a:spcBef>
                <a:spcPts val="117"/>
              </a:spcBef>
              <a:spcAft>
                <a:spcPts val="0"/>
              </a:spcAft>
              <a:buNone/>
            </a:pPr>
            <a:r>
              <a:rPr lang="en-US" sz="390"/>
              <a:t>the main file. Now it will take on average 500 accesses to the index file followed</a:t>
            </a:r>
            <a:endParaRPr/>
          </a:p>
          <a:p>
            <a:pPr indent="0" lvl="0" marL="0" rtl="0" algn="l">
              <a:lnSpc>
                <a:spcPct val="80000"/>
              </a:lnSpc>
              <a:spcBef>
                <a:spcPts val="117"/>
              </a:spcBef>
              <a:spcAft>
                <a:spcPts val="0"/>
              </a:spcAft>
              <a:buNone/>
            </a:pPr>
            <a:r>
              <a:rPr lang="en-US" sz="390"/>
              <a:t>by 500 accesses to the main file to find the record. The average search length is</a:t>
            </a:r>
            <a:endParaRPr/>
          </a:p>
          <a:p>
            <a:pPr indent="0" lvl="0" marL="0" rtl="0" algn="l">
              <a:lnSpc>
                <a:spcPct val="80000"/>
              </a:lnSpc>
              <a:spcBef>
                <a:spcPts val="117"/>
              </a:spcBef>
              <a:spcAft>
                <a:spcPts val="0"/>
              </a:spcAft>
              <a:buNone/>
            </a:pPr>
            <a:r>
              <a:rPr lang="en-US" sz="390"/>
              <a:t>reduced from 500,000 to 1,000.</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Additions to the file are handled in the following manner: Each record in</a:t>
            </a:r>
            <a:endParaRPr/>
          </a:p>
          <a:p>
            <a:pPr indent="0" lvl="0" marL="0" rtl="0" algn="l">
              <a:lnSpc>
                <a:spcPct val="80000"/>
              </a:lnSpc>
              <a:spcBef>
                <a:spcPts val="117"/>
              </a:spcBef>
              <a:spcAft>
                <a:spcPts val="0"/>
              </a:spcAft>
              <a:buNone/>
            </a:pPr>
            <a:r>
              <a:rPr lang="en-US" sz="390"/>
              <a:t>the main file contains an additional field not visible to the application, which is a</a:t>
            </a:r>
            <a:endParaRPr/>
          </a:p>
          <a:p>
            <a:pPr indent="0" lvl="0" marL="0" rtl="0" algn="l">
              <a:lnSpc>
                <a:spcPct val="80000"/>
              </a:lnSpc>
              <a:spcBef>
                <a:spcPts val="117"/>
              </a:spcBef>
              <a:spcAft>
                <a:spcPts val="0"/>
              </a:spcAft>
              <a:buNone/>
            </a:pPr>
            <a:r>
              <a:rPr lang="en-US" sz="390"/>
              <a:t>pointer to the overflow file. When a new record is to be inserted into the file, it is</a:t>
            </a:r>
            <a:endParaRPr/>
          </a:p>
          <a:p>
            <a:pPr indent="0" lvl="0" marL="0" rtl="0" algn="l">
              <a:lnSpc>
                <a:spcPct val="80000"/>
              </a:lnSpc>
              <a:spcBef>
                <a:spcPts val="117"/>
              </a:spcBef>
              <a:spcAft>
                <a:spcPts val="0"/>
              </a:spcAft>
              <a:buNone/>
            </a:pPr>
            <a:r>
              <a:rPr lang="en-US" sz="390"/>
              <a:t>added to the overflow file. The record in the main file that immediately precedes</a:t>
            </a:r>
            <a:endParaRPr/>
          </a:p>
          <a:p>
            <a:pPr indent="0" lvl="0" marL="0" rtl="0" algn="l">
              <a:lnSpc>
                <a:spcPct val="80000"/>
              </a:lnSpc>
              <a:spcBef>
                <a:spcPts val="117"/>
              </a:spcBef>
              <a:spcAft>
                <a:spcPts val="0"/>
              </a:spcAft>
              <a:buNone/>
            </a:pPr>
            <a:r>
              <a:rPr lang="en-US" sz="390"/>
              <a:t>the new record in logical sequence is updated to contain a pointer to the new record</a:t>
            </a:r>
            <a:endParaRPr/>
          </a:p>
          <a:p>
            <a:pPr indent="0" lvl="0" marL="0" rtl="0" algn="l">
              <a:lnSpc>
                <a:spcPct val="80000"/>
              </a:lnSpc>
              <a:spcBef>
                <a:spcPts val="117"/>
              </a:spcBef>
              <a:spcAft>
                <a:spcPts val="0"/>
              </a:spcAft>
              <a:buNone/>
            </a:pPr>
            <a:r>
              <a:rPr lang="en-US" sz="390"/>
              <a:t>in the overflow file. If the immediately preceding record is itself in the overflow file,</a:t>
            </a:r>
            <a:endParaRPr/>
          </a:p>
          <a:p>
            <a:pPr indent="0" lvl="0" marL="0" rtl="0" algn="l">
              <a:lnSpc>
                <a:spcPct val="80000"/>
              </a:lnSpc>
              <a:spcBef>
                <a:spcPts val="117"/>
              </a:spcBef>
              <a:spcAft>
                <a:spcPts val="0"/>
              </a:spcAft>
              <a:buNone/>
            </a:pPr>
            <a:r>
              <a:rPr lang="en-US" sz="390"/>
              <a:t>then the pointer in that record is updated. As with the sequential file, the indexed</a:t>
            </a:r>
            <a:endParaRPr/>
          </a:p>
          <a:p>
            <a:pPr indent="0" lvl="0" marL="0" rtl="0" algn="l">
              <a:lnSpc>
                <a:spcPct val="80000"/>
              </a:lnSpc>
              <a:spcBef>
                <a:spcPts val="117"/>
              </a:spcBef>
              <a:spcAft>
                <a:spcPts val="0"/>
              </a:spcAft>
              <a:buNone/>
            </a:pPr>
            <a:r>
              <a:rPr lang="en-US" sz="390"/>
              <a:t>sequential file is occasionally merged with the overflow file in batch mode.</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The indexed sequential file greatly reduces the time required to access a single</a:t>
            </a:r>
            <a:endParaRPr/>
          </a:p>
          <a:p>
            <a:pPr indent="0" lvl="0" marL="0" rtl="0" algn="l">
              <a:lnSpc>
                <a:spcPct val="80000"/>
              </a:lnSpc>
              <a:spcBef>
                <a:spcPts val="117"/>
              </a:spcBef>
              <a:spcAft>
                <a:spcPts val="0"/>
              </a:spcAft>
              <a:buNone/>
            </a:pPr>
            <a:r>
              <a:rPr lang="en-US" sz="390"/>
              <a:t>record, without sacrificing the sequential nature of the file. To process the entire file</a:t>
            </a:r>
            <a:endParaRPr/>
          </a:p>
          <a:p>
            <a:pPr indent="0" lvl="0" marL="0" rtl="0" algn="l">
              <a:lnSpc>
                <a:spcPct val="80000"/>
              </a:lnSpc>
              <a:spcBef>
                <a:spcPts val="117"/>
              </a:spcBef>
              <a:spcAft>
                <a:spcPts val="0"/>
              </a:spcAft>
              <a:buNone/>
            </a:pPr>
            <a:r>
              <a:rPr lang="en-US" sz="390"/>
              <a:t>sequentially, the records of the main file are processed in sequence until a pointer</a:t>
            </a:r>
            <a:endParaRPr/>
          </a:p>
          <a:p>
            <a:pPr indent="0" lvl="0" marL="0" rtl="0" algn="l">
              <a:lnSpc>
                <a:spcPct val="80000"/>
              </a:lnSpc>
              <a:spcBef>
                <a:spcPts val="117"/>
              </a:spcBef>
              <a:spcAft>
                <a:spcPts val="0"/>
              </a:spcAft>
              <a:buNone/>
            </a:pPr>
            <a:r>
              <a:rPr lang="en-US" sz="390"/>
              <a:t>to the overflow file is found, then accessing continues in the overflow file until a null</a:t>
            </a:r>
            <a:endParaRPr/>
          </a:p>
          <a:p>
            <a:pPr indent="0" lvl="0" marL="0" rtl="0" algn="l">
              <a:lnSpc>
                <a:spcPct val="80000"/>
              </a:lnSpc>
              <a:spcBef>
                <a:spcPts val="117"/>
              </a:spcBef>
              <a:spcAft>
                <a:spcPts val="0"/>
              </a:spcAft>
              <a:buNone/>
            </a:pPr>
            <a:r>
              <a:rPr lang="en-US" sz="390"/>
              <a:t>pointer is encountered, at which time accessing of the main file is resumed where it</a:t>
            </a:r>
            <a:endParaRPr/>
          </a:p>
          <a:p>
            <a:pPr indent="0" lvl="0" marL="0" rtl="0" algn="l">
              <a:lnSpc>
                <a:spcPct val="80000"/>
              </a:lnSpc>
              <a:spcBef>
                <a:spcPts val="117"/>
              </a:spcBef>
              <a:spcAft>
                <a:spcPts val="0"/>
              </a:spcAft>
              <a:buNone/>
            </a:pPr>
            <a:r>
              <a:rPr lang="en-US" sz="390"/>
              <a:t>left off.</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provide even greater efficiency in access, multiple levels of indexing can be</a:t>
            </a:r>
            <a:endParaRPr/>
          </a:p>
          <a:p>
            <a:pPr indent="0" lvl="0" marL="0" rtl="0" algn="l">
              <a:lnSpc>
                <a:spcPct val="80000"/>
              </a:lnSpc>
              <a:spcBef>
                <a:spcPts val="117"/>
              </a:spcBef>
              <a:spcAft>
                <a:spcPts val="0"/>
              </a:spcAft>
              <a:buNone/>
            </a:pPr>
            <a:r>
              <a:rPr lang="en-US" sz="390"/>
              <a:t>used. Thus the lowest level of index file is treated as a sequential file and a higher level</a:t>
            </a:r>
            <a:endParaRPr/>
          </a:p>
          <a:p>
            <a:pPr indent="0" lvl="0" marL="0" rtl="0" algn="l">
              <a:lnSpc>
                <a:spcPct val="80000"/>
              </a:lnSpc>
              <a:spcBef>
                <a:spcPts val="117"/>
              </a:spcBef>
              <a:spcAft>
                <a:spcPts val="0"/>
              </a:spcAft>
              <a:buNone/>
            </a:pPr>
            <a:r>
              <a:rPr lang="en-US" sz="390"/>
              <a:t>index file is created for that file. Consider again a file with 1 million records.</a:t>
            </a:r>
            <a:endParaRPr/>
          </a:p>
          <a:p>
            <a:pPr indent="0" lvl="0" marL="0" rtl="0" algn="l">
              <a:lnSpc>
                <a:spcPct val="80000"/>
              </a:lnSpc>
              <a:spcBef>
                <a:spcPts val="117"/>
              </a:spcBef>
              <a:spcAft>
                <a:spcPts val="0"/>
              </a:spcAft>
              <a:buNone/>
            </a:pPr>
            <a:r>
              <a:rPr lang="en-US" sz="390"/>
              <a:t>A lower-level index with 10,000 entries is constructed. A higher-level index into</a:t>
            </a:r>
            <a:endParaRPr/>
          </a:p>
          <a:p>
            <a:pPr indent="0" lvl="0" marL="0" rtl="0" algn="l">
              <a:lnSpc>
                <a:spcPct val="80000"/>
              </a:lnSpc>
              <a:spcBef>
                <a:spcPts val="117"/>
              </a:spcBef>
              <a:spcAft>
                <a:spcPts val="0"/>
              </a:spcAft>
              <a:buNone/>
            </a:pPr>
            <a:r>
              <a:rPr lang="en-US" sz="390"/>
              <a:t>the lower-level index of 100 entries can then be constructed. The search begins at</a:t>
            </a:r>
            <a:endParaRPr/>
          </a:p>
          <a:p>
            <a:pPr indent="0" lvl="0" marL="0" rtl="0" algn="l">
              <a:lnSpc>
                <a:spcPct val="80000"/>
              </a:lnSpc>
              <a:spcBef>
                <a:spcPts val="117"/>
              </a:spcBef>
              <a:spcAft>
                <a:spcPts val="0"/>
              </a:spcAft>
              <a:buNone/>
            </a:pPr>
            <a:r>
              <a:rPr lang="en-US" sz="390"/>
              <a:t>the higher-level index (average length = 50 accesses) to find an entry point into the</a:t>
            </a:r>
            <a:endParaRPr/>
          </a:p>
          <a:p>
            <a:pPr indent="0" lvl="0" marL="0" rtl="0" algn="l">
              <a:lnSpc>
                <a:spcPct val="80000"/>
              </a:lnSpc>
              <a:spcBef>
                <a:spcPts val="117"/>
              </a:spcBef>
              <a:spcAft>
                <a:spcPts val="0"/>
              </a:spcAft>
              <a:buNone/>
            </a:pPr>
            <a:r>
              <a:rPr lang="en-US" sz="390"/>
              <a:t>lower-level index. This index is then searched (average length = 50) to find an entry</a:t>
            </a:r>
            <a:endParaRPr/>
          </a:p>
          <a:p>
            <a:pPr indent="0" lvl="0" marL="0" rtl="0" algn="l">
              <a:lnSpc>
                <a:spcPct val="80000"/>
              </a:lnSpc>
              <a:spcBef>
                <a:spcPts val="117"/>
              </a:spcBef>
              <a:spcAft>
                <a:spcPts val="0"/>
              </a:spcAft>
              <a:buNone/>
            </a:pPr>
            <a:r>
              <a:rPr lang="en-US" sz="390"/>
              <a:t>point into the main file, which is then searched (average length = 50). Thus the average</a:t>
            </a:r>
            <a:endParaRPr/>
          </a:p>
          <a:p>
            <a:pPr indent="0" lvl="0" marL="0" rtl="0" algn="l">
              <a:lnSpc>
                <a:spcPct val="80000"/>
              </a:lnSpc>
              <a:spcBef>
                <a:spcPts val="117"/>
              </a:spcBef>
              <a:spcAft>
                <a:spcPts val="0"/>
              </a:spcAft>
              <a:buNone/>
            </a:pPr>
            <a:r>
              <a:rPr lang="en-US" sz="390"/>
              <a:t>length of search has been reduced from 500,000 to 1,000 to 150.</a:t>
            </a:r>
            <a:endParaRPr sz="390"/>
          </a:p>
        </p:txBody>
      </p:sp>
      <p:sp>
        <p:nvSpPr>
          <p:cNvPr id="527" name="Google Shape;527;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34" name="Google Shape;534;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390"/>
              <a:t>A popular approach to overcoming the disadvantages of the sequential file is the</a:t>
            </a:r>
            <a:endParaRPr/>
          </a:p>
          <a:p>
            <a:pPr indent="0" lvl="0" marL="0" rtl="0" algn="l">
              <a:lnSpc>
                <a:spcPct val="80000"/>
              </a:lnSpc>
              <a:spcBef>
                <a:spcPts val="117"/>
              </a:spcBef>
              <a:spcAft>
                <a:spcPts val="0"/>
              </a:spcAft>
              <a:buNone/>
            </a:pPr>
            <a:r>
              <a:rPr lang="en-US" sz="390"/>
              <a:t>indexed sequential file. The indexed sequential file maintains the key characteristic</a:t>
            </a:r>
            <a:endParaRPr/>
          </a:p>
          <a:p>
            <a:pPr indent="0" lvl="0" marL="0" rtl="0" algn="l">
              <a:lnSpc>
                <a:spcPct val="80000"/>
              </a:lnSpc>
              <a:spcBef>
                <a:spcPts val="117"/>
              </a:spcBef>
              <a:spcAft>
                <a:spcPts val="0"/>
              </a:spcAft>
              <a:buNone/>
            </a:pPr>
            <a:r>
              <a:rPr lang="en-US" sz="390"/>
              <a:t>of the sequential file: Records are organized in sequence based on a key field. Two</a:t>
            </a:r>
            <a:endParaRPr/>
          </a:p>
          <a:p>
            <a:pPr indent="0" lvl="0" marL="0" rtl="0" algn="l">
              <a:lnSpc>
                <a:spcPct val="80000"/>
              </a:lnSpc>
              <a:spcBef>
                <a:spcPts val="117"/>
              </a:spcBef>
              <a:spcAft>
                <a:spcPts val="0"/>
              </a:spcAft>
              <a:buNone/>
            </a:pPr>
            <a:r>
              <a:rPr lang="en-US" sz="390"/>
              <a:t>features are added: an index to the file to support random access, and an overflow</a:t>
            </a:r>
            <a:endParaRPr/>
          </a:p>
          <a:p>
            <a:pPr indent="0" lvl="0" marL="0" rtl="0" algn="l">
              <a:lnSpc>
                <a:spcPct val="80000"/>
              </a:lnSpc>
              <a:spcBef>
                <a:spcPts val="117"/>
              </a:spcBef>
              <a:spcAft>
                <a:spcPts val="0"/>
              </a:spcAft>
              <a:buNone/>
            </a:pPr>
            <a:r>
              <a:rPr lang="en-US" sz="390"/>
              <a:t>file. The index provides a lookup capability to reach quickly the vicinity of a desired</a:t>
            </a:r>
            <a:endParaRPr/>
          </a:p>
          <a:p>
            <a:pPr indent="0" lvl="0" marL="0" rtl="0" algn="l">
              <a:lnSpc>
                <a:spcPct val="80000"/>
              </a:lnSpc>
              <a:spcBef>
                <a:spcPts val="117"/>
              </a:spcBef>
              <a:spcAft>
                <a:spcPts val="0"/>
              </a:spcAft>
              <a:buNone/>
            </a:pPr>
            <a:r>
              <a:rPr lang="en-US" sz="390"/>
              <a:t>record. The overflow file is similar to the log file used with a sequential file but is</a:t>
            </a:r>
            <a:endParaRPr/>
          </a:p>
          <a:p>
            <a:pPr indent="0" lvl="0" marL="0" rtl="0" algn="l">
              <a:lnSpc>
                <a:spcPct val="80000"/>
              </a:lnSpc>
              <a:spcBef>
                <a:spcPts val="117"/>
              </a:spcBef>
              <a:spcAft>
                <a:spcPts val="0"/>
              </a:spcAft>
              <a:buNone/>
            </a:pPr>
            <a:r>
              <a:rPr lang="en-US" sz="390"/>
              <a:t>integrated so that a record in the overflow file is located by following a pointer from</a:t>
            </a:r>
            <a:endParaRPr/>
          </a:p>
          <a:p>
            <a:pPr indent="0" lvl="0" marL="0" rtl="0" algn="l">
              <a:lnSpc>
                <a:spcPct val="80000"/>
              </a:lnSpc>
              <a:spcBef>
                <a:spcPts val="117"/>
              </a:spcBef>
              <a:spcAft>
                <a:spcPts val="0"/>
              </a:spcAft>
              <a:buNone/>
            </a:pPr>
            <a:r>
              <a:rPr lang="en-US" sz="390"/>
              <a:t>its predecessor record.</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In the simplest indexed sequential structure, a single level of indexing is</a:t>
            </a:r>
            <a:endParaRPr/>
          </a:p>
          <a:p>
            <a:pPr indent="0" lvl="0" marL="0" rtl="0" algn="l">
              <a:lnSpc>
                <a:spcPct val="80000"/>
              </a:lnSpc>
              <a:spcBef>
                <a:spcPts val="117"/>
              </a:spcBef>
              <a:spcAft>
                <a:spcPts val="0"/>
              </a:spcAft>
              <a:buNone/>
            </a:pPr>
            <a:r>
              <a:rPr lang="en-US" sz="390"/>
              <a:t>used. The index in this case is a simple sequential file. Each record in the index file</a:t>
            </a:r>
            <a:endParaRPr/>
          </a:p>
          <a:p>
            <a:pPr indent="0" lvl="0" marL="0" rtl="0" algn="l">
              <a:lnSpc>
                <a:spcPct val="80000"/>
              </a:lnSpc>
              <a:spcBef>
                <a:spcPts val="117"/>
              </a:spcBef>
              <a:spcAft>
                <a:spcPts val="0"/>
              </a:spcAft>
              <a:buNone/>
            </a:pPr>
            <a:r>
              <a:rPr lang="en-US" sz="390"/>
              <a:t>consists of two fields: a key field, which is the same as the key field in the main file,</a:t>
            </a:r>
            <a:endParaRPr/>
          </a:p>
          <a:p>
            <a:pPr indent="0" lvl="0" marL="0" rtl="0" algn="l">
              <a:lnSpc>
                <a:spcPct val="80000"/>
              </a:lnSpc>
              <a:spcBef>
                <a:spcPts val="117"/>
              </a:spcBef>
              <a:spcAft>
                <a:spcPts val="0"/>
              </a:spcAft>
              <a:buNone/>
            </a:pPr>
            <a:r>
              <a:rPr lang="en-US" sz="390"/>
              <a:t>and a pointer into the main file. To find a specific field, the index is searched to find</a:t>
            </a:r>
            <a:endParaRPr/>
          </a:p>
          <a:p>
            <a:pPr indent="0" lvl="0" marL="0" rtl="0" algn="l">
              <a:lnSpc>
                <a:spcPct val="80000"/>
              </a:lnSpc>
              <a:spcBef>
                <a:spcPts val="117"/>
              </a:spcBef>
              <a:spcAft>
                <a:spcPts val="0"/>
              </a:spcAft>
              <a:buNone/>
            </a:pPr>
            <a:r>
              <a:rPr lang="en-US" sz="390"/>
              <a:t>the highest key value that is equal to or precedes the desired key value. The search</a:t>
            </a:r>
            <a:endParaRPr/>
          </a:p>
          <a:p>
            <a:pPr indent="0" lvl="0" marL="0" rtl="0" algn="l">
              <a:lnSpc>
                <a:spcPct val="80000"/>
              </a:lnSpc>
              <a:spcBef>
                <a:spcPts val="117"/>
              </a:spcBef>
              <a:spcAft>
                <a:spcPts val="0"/>
              </a:spcAft>
              <a:buNone/>
            </a:pPr>
            <a:r>
              <a:rPr lang="en-US" sz="390"/>
              <a:t>continues in the main file at the location indicated by the pointer.</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see the effectiveness of this approach, consider a sequential file with</a:t>
            </a:r>
            <a:endParaRPr/>
          </a:p>
          <a:p>
            <a:pPr indent="0" lvl="0" marL="0" rtl="0" algn="l">
              <a:lnSpc>
                <a:spcPct val="80000"/>
              </a:lnSpc>
              <a:spcBef>
                <a:spcPts val="117"/>
              </a:spcBef>
              <a:spcAft>
                <a:spcPts val="0"/>
              </a:spcAft>
              <a:buNone/>
            </a:pPr>
            <a:r>
              <a:rPr lang="en-US" sz="390"/>
              <a:t>1 million records. To search for a particular key value will require on average one-half</a:t>
            </a:r>
            <a:endParaRPr/>
          </a:p>
          <a:p>
            <a:pPr indent="0" lvl="0" marL="0" rtl="0" algn="l">
              <a:lnSpc>
                <a:spcPct val="80000"/>
              </a:lnSpc>
              <a:spcBef>
                <a:spcPts val="117"/>
              </a:spcBef>
              <a:spcAft>
                <a:spcPts val="0"/>
              </a:spcAft>
              <a:buNone/>
            </a:pPr>
            <a:r>
              <a:rPr lang="en-US" sz="390"/>
              <a:t>million record accesses. Now suppose that an index containing 1,000 entries</a:t>
            </a:r>
            <a:endParaRPr/>
          </a:p>
          <a:p>
            <a:pPr indent="0" lvl="0" marL="0" rtl="0" algn="l">
              <a:lnSpc>
                <a:spcPct val="80000"/>
              </a:lnSpc>
              <a:spcBef>
                <a:spcPts val="117"/>
              </a:spcBef>
              <a:spcAft>
                <a:spcPts val="0"/>
              </a:spcAft>
              <a:buNone/>
            </a:pPr>
            <a:r>
              <a:rPr lang="en-US" sz="390"/>
              <a:t>is constructed, with the keys in the index more or less evenly distributed over</a:t>
            </a:r>
            <a:endParaRPr/>
          </a:p>
          <a:p>
            <a:pPr indent="0" lvl="0" marL="0" rtl="0" algn="l">
              <a:lnSpc>
                <a:spcPct val="80000"/>
              </a:lnSpc>
              <a:spcBef>
                <a:spcPts val="117"/>
              </a:spcBef>
              <a:spcAft>
                <a:spcPts val="0"/>
              </a:spcAft>
              <a:buNone/>
            </a:pPr>
            <a:r>
              <a:rPr lang="en-US" sz="390"/>
              <a:t>the main file. Now it will take on average 500 accesses to the index file followed</a:t>
            </a:r>
            <a:endParaRPr/>
          </a:p>
          <a:p>
            <a:pPr indent="0" lvl="0" marL="0" rtl="0" algn="l">
              <a:lnSpc>
                <a:spcPct val="80000"/>
              </a:lnSpc>
              <a:spcBef>
                <a:spcPts val="117"/>
              </a:spcBef>
              <a:spcAft>
                <a:spcPts val="0"/>
              </a:spcAft>
              <a:buNone/>
            </a:pPr>
            <a:r>
              <a:rPr lang="en-US" sz="390"/>
              <a:t>by 500 accesses to the main file to find the record. The average search length is</a:t>
            </a:r>
            <a:endParaRPr/>
          </a:p>
          <a:p>
            <a:pPr indent="0" lvl="0" marL="0" rtl="0" algn="l">
              <a:lnSpc>
                <a:spcPct val="80000"/>
              </a:lnSpc>
              <a:spcBef>
                <a:spcPts val="117"/>
              </a:spcBef>
              <a:spcAft>
                <a:spcPts val="0"/>
              </a:spcAft>
              <a:buNone/>
            </a:pPr>
            <a:r>
              <a:rPr lang="en-US" sz="390"/>
              <a:t>reduced from 500,000 to 1,000.</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Additions to the file are handled in the following manner: Each record in</a:t>
            </a:r>
            <a:endParaRPr/>
          </a:p>
          <a:p>
            <a:pPr indent="0" lvl="0" marL="0" rtl="0" algn="l">
              <a:lnSpc>
                <a:spcPct val="80000"/>
              </a:lnSpc>
              <a:spcBef>
                <a:spcPts val="117"/>
              </a:spcBef>
              <a:spcAft>
                <a:spcPts val="0"/>
              </a:spcAft>
              <a:buNone/>
            </a:pPr>
            <a:r>
              <a:rPr lang="en-US" sz="390"/>
              <a:t>the main file contains an additional field not visible to the application, which is a</a:t>
            </a:r>
            <a:endParaRPr/>
          </a:p>
          <a:p>
            <a:pPr indent="0" lvl="0" marL="0" rtl="0" algn="l">
              <a:lnSpc>
                <a:spcPct val="80000"/>
              </a:lnSpc>
              <a:spcBef>
                <a:spcPts val="117"/>
              </a:spcBef>
              <a:spcAft>
                <a:spcPts val="0"/>
              </a:spcAft>
              <a:buNone/>
            </a:pPr>
            <a:r>
              <a:rPr lang="en-US" sz="390"/>
              <a:t>pointer to the overflow file. When a new record is to be inserted into the file, it is</a:t>
            </a:r>
            <a:endParaRPr/>
          </a:p>
          <a:p>
            <a:pPr indent="0" lvl="0" marL="0" rtl="0" algn="l">
              <a:lnSpc>
                <a:spcPct val="80000"/>
              </a:lnSpc>
              <a:spcBef>
                <a:spcPts val="117"/>
              </a:spcBef>
              <a:spcAft>
                <a:spcPts val="0"/>
              </a:spcAft>
              <a:buNone/>
            </a:pPr>
            <a:r>
              <a:rPr lang="en-US" sz="390"/>
              <a:t>added to the overflow file. The record in the main file that immediately precedes</a:t>
            </a:r>
            <a:endParaRPr/>
          </a:p>
          <a:p>
            <a:pPr indent="0" lvl="0" marL="0" rtl="0" algn="l">
              <a:lnSpc>
                <a:spcPct val="80000"/>
              </a:lnSpc>
              <a:spcBef>
                <a:spcPts val="117"/>
              </a:spcBef>
              <a:spcAft>
                <a:spcPts val="0"/>
              </a:spcAft>
              <a:buNone/>
            </a:pPr>
            <a:r>
              <a:rPr lang="en-US" sz="390"/>
              <a:t>the new record in logical sequence is updated to contain a pointer to the new record</a:t>
            </a:r>
            <a:endParaRPr/>
          </a:p>
          <a:p>
            <a:pPr indent="0" lvl="0" marL="0" rtl="0" algn="l">
              <a:lnSpc>
                <a:spcPct val="80000"/>
              </a:lnSpc>
              <a:spcBef>
                <a:spcPts val="117"/>
              </a:spcBef>
              <a:spcAft>
                <a:spcPts val="0"/>
              </a:spcAft>
              <a:buNone/>
            </a:pPr>
            <a:r>
              <a:rPr lang="en-US" sz="390"/>
              <a:t>in the overflow file. If the immediately preceding record is itself in the overflow file,</a:t>
            </a:r>
            <a:endParaRPr/>
          </a:p>
          <a:p>
            <a:pPr indent="0" lvl="0" marL="0" rtl="0" algn="l">
              <a:lnSpc>
                <a:spcPct val="80000"/>
              </a:lnSpc>
              <a:spcBef>
                <a:spcPts val="117"/>
              </a:spcBef>
              <a:spcAft>
                <a:spcPts val="0"/>
              </a:spcAft>
              <a:buNone/>
            </a:pPr>
            <a:r>
              <a:rPr lang="en-US" sz="390"/>
              <a:t>then the pointer in that record is updated. As with the sequential file, the indexed</a:t>
            </a:r>
            <a:endParaRPr/>
          </a:p>
          <a:p>
            <a:pPr indent="0" lvl="0" marL="0" rtl="0" algn="l">
              <a:lnSpc>
                <a:spcPct val="80000"/>
              </a:lnSpc>
              <a:spcBef>
                <a:spcPts val="117"/>
              </a:spcBef>
              <a:spcAft>
                <a:spcPts val="0"/>
              </a:spcAft>
              <a:buNone/>
            </a:pPr>
            <a:r>
              <a:rPr lang="en-US" sz="390"/>
              <a:t>sequential file is occasionally merged with the overflow file in batch mode.</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The indexed sequential file greatly reduces the time required to access a single</a:t>
            </a:r>
            <a:endParaRPr/>
          </a:p>
          <a:p>
            <a:pPr indent="0" lvl="0" marL="0" rtl="0" algn="l">
              <a:lnSpc>
                <a:spcPct val="80000"/>
              </a:lnSpc>
              <a:spcBef>
                <a:spcPts val="117"/>
              </a:spcBef>
              <a:spcAft>
                <a:spcPts val="0"/>
              </a:spcAft>
              <a:buNone/>
            </a:pPr>
            <a:r>
              <a:rPr lang="en-US" sz="390"/>
              <a:t>record, without sacrificing the sequential nature of the file. To process the entire file</a:t>
            </a:r>
            <a:endParaRPr/>
          </a:p>
          <a:p>
            <a:pPr indent="0" lvl="0" marL="0" rtl="0" algn="l">
              <a:lnSpc>
                <a:spcPct val="80000"/>
              </a:lnSpc>
              <a:spcBef>
                <a:spcPts val="117"/>
              </a:spcBef>
              <a:spcAft>
                <a:spcPts val="0"/>
              </a:spcAft>
              <a:buNone/>
            </a:pPr>
            <a:r>
              <a:rPr lang="en-US" sz="390"/>
              <a:t>sequentially, the records of the main file are processed in sequence until a pointer</a:t>
            </a:r>
            <a:endParaRPr/>
          </a:p>
          <a:p>
            <a:pPr indent="0" lvl="0" marL="0" rtl="0" algn="l">
              <a:lnSpc>
                <a:spcPct val="80000"/>
              </a:lnSpc>
              <a:spcBef>
                <a:spcPts val="117"/>
              </a:spcBef>
              <a:spcAft>
                <a:spcPts val="0"/>
              </a:spcAft>
              <a:buNone/>
            </a:pPr>
            <a:r>
              <a:rPr lang="en-US" sz="390"/>
              <a:t>to the overflow file is found, then accessing continues in the overflow file until a null</a:t>
            </a:r>
            <a:endParaRPr/>
          </a:p>
          <a:p>
            <a:pPr indent="0" lvl="0" marL="0" rtl="0" algn="l">
              <a:lnSpc>
                <a:spcPct val="80000"/>
              </a:lnSpc>
              <a:spcBef>
                <a:spcPts val="117"/>
              </a:spcBef>
              <a:spcAft>
                <a:spcPts val="0"/>
              </a:spcAft>
              <a:buNone/>
            </a:pPr>
            <a:r>
              <a:rPr lang="en-US" sz="390"/>
              <a:t>pointer is encountered, at which time accessing of the main file is resumed where it</a:t>
            </a:r>
            <a:endParaRPr/>
          </a:p>
          <a:p>
            <a:pPr indent="0" lvl="0" marL="0" rtl="0" algn="l">
              <a:lnSpc>
                <a:spcPct val="80000"/>
              </a:lnSpc>
              <a:spcBef>
                <a:spcPts val="117"/>
              </a:spcBef>
              <a:spcAft>
                <a:spcPts val="0"/>
              </a:spcAft>
              <a:buNone/>
            </a:pPr>
            <a:r>
              <a:rPr lang="en-US" sz="390"/>
              <a:t>left off.</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provide even greater efficiency in access, multiple levels of indexing can be</a:t>
            </a:r>
            <a:endParaRPr/>
          </a:p>
          <a:p>
            <a:pPr indent="0" lvl="0" marL="0" rtl="0" algn="l">
              <a:lnSpc>
                <a:spcPct val="80000"/>
              </a:lnSpc>
              <a:spcBef>
                <a:spcPts val="117"/>
              </a:spcBef>
              <a:spcAft>
                <a:spcPts val="0"/>
              </a:spcAft>
              <a:buNone/>
            </a:pPr>
            <a:r>
              <a:rPr lang="en-US" sz="390"/>
              <a:t>used. Thus the lowest level of index file is treated as a sequential file and a higher level</a:t>
            </a:r>
            <a:endParaRPr/>
          </a:p>
          <a:p>
            <a:pPr indent="0" lvl="0" marL="0" rtl="0" algn="l">
              <a:lnSpc>
                <a:spcPct val="80000"/>
              </a:lnSpc>
              <a:spcBef>
                <a:spcPts val="117"/>
              </a:spcBef>
              <a:spcAft>
                <a:spcPts val="0"/>
              </a:spcAft>
              <a:buNone/>
            </a:pPr>
            <a:r>
              <a:rPr lang="en-US" sz="390"/>
              <a:t>index file is created for that file. Consider again a file with 1 million records.</a:t>
            </a:r>
            <a:endParaRPr/>
          </a:p>
          <a:p>
            <a:pPr indent="0" lvl="0" marL="0" rtl="0" algn="l">
              <a:lnSpc>
                <a:spcPct val="80000"/>
              </a:lnSpc>
              <a:spcBef>
                <a:spcPts val="117"/>
              </a:spcBef>
              <a:spcAft>
                <a:spcPts val="0"/>
              </a:spcAft>
              <a:buNone/>
            </a:pPr>
            <a:r>
              <a:rPr lang="en-US" sz="390"/>
              <a:t>A lower-level index with 10,000 entries is constructed. A higher-level index into</a:t>
            </a:r>
            <a:endParaRPr/>
          </a:p>
          <a:p>
            <a:pPr indent="0" lvl="0" marL="0" rtl="0" algn="l">
              <a:lnSpc>
                <a:spcPct val="80000"/>
              </a:lnSpc>
              <a:spcBef>
                <a:spcPts val="117"/>
              </a:spcBef>
              <a:spcAft>
                <a:spcPts val="0"/>
              </a:spcAft>
              <a:buNone/>
            </a:pPr>
            <a:r>
              <a:rPr lang="en-US" sz="390"/>
              <a:t>the lower-level index of 100 entries can then be constructed. The search begins at</a:t>
            </a:r>
            <a:endParaRPr/>
          </a:p>
          <a:p>
            <a:pPr indent="0" lvl="0" marL="0" rtl="0" algn="l">
              <a:lnSpc>
                <a:spcPct val="80000"/>
              </a:lnSpc>
              <a:spcBef>
                <a:spcPts val="117"/>
              </a:spcBef>
              <a:spcAft>
                <a:spcPts val="0"/>
              </a:spcAft>
              <a:buNone/>
            </a:pPr>
            <a:r>
              <a:rPr lang="en-US" sz="390"/>
              <a:t>the higher-level index (average length = 50 accesses) to find an entry point into the</a:t>
            </a:r>
            <a:endParaRPr/>
          </a:p>
          <a:p>
            <a:pPr indent="0" lvl="0" marL="0" rtl="0" algn="l">
              <a:lnSpc>
                <a:spcPct val="80000"/>
              </a:lnSpc>
              <a:spcBef>
                <a:spcPts val="117"/>
              </a:spcBef>
              <a:spcAft>
                <a:spcPts val="0"/>
              </a:spcAft>
              <a:buNone/>
            </a:pPr>
            <a:r>
              <a:rPr lang="en-US" sz="390"/>
              <a:t>lower-level index. This index is then searched (average length = 50) to find an entry</a:t>
            </a:r>
            <a:endParaRPr/>
          </a:p>
          <a:p>
            <a:pPr indent="0" lvl="0" marL="0" rtl="0" algn="l">
              <a:lnSpc>
                <a:spcPct val="80000"/>
              </a:lnSpc>
              <a:spcBef>
                <a:spcPts val="117"/>
              </a:spcBef>
              <a:spcAft>
                <a:spcPts val="0"/>
              </a:spcAft>
              <a:buNone/>
            </a:pPr>
            <a:r>
              <a:rPr lang="en-US" sz="390"/>
              <a:t>point into the main file, which is then searched (average length = 50). Thus the average</a:t>
            </a:r>
            <a:endParaRPr/>
          </a:p>
          <a:p>
            <a:pPr indent="0" lvl="0" marL="0" rtl="0" algn="l">
              <a:lnSpc>
                <a:spcPct val="80000"/>
              </a:lnSpc>
              <a:spcBef>
                <a:spcPts val="117"/>
              </a:spcBef>
              <a:spcAft>
                <a:spcPts val="0"/>
              </a:spcAft>
              <a:buNone/>
            </a:pPr>
            <a:r>
              <a:rPr lang="en-US" sz="390"/>
              <a:t>length of search has been reduced from 500,000 to 1,000 to 150.</a:t>
            </a:r>
            <a:endParaRPr sz="390"/>
          </a:p>
        </p:txBody>
      </p:sp>
      <p:sp>
        <p:nvSpPr>
          <p:cNvPr id="535" name="Google Shape;535;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42" name="Google Shape;54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390"/>
              <a:t>A popular approach to overcoming the disadvantages of the sequential file is the</a:t>
            </a:r>
            <a:endParaRPr/>
          </a:p>
          <a:p>
            <a:pPr indent="0" lvl="0" marL="0" rtl="0" algn="l">
              <a:lnSpc>
                <a:spcPct val="80000"/>
              </a:lnSpc>
              <a:spcBef>
                <a:spcPts val="117"/>
              </a:spcBef>
              <a:spcAft>
                <a:spcPts val="0"/>
              </a:spcAft>
              <a:buNone/>
            </a:pPr>
            <a:r>
              <a:rPr lang="en-US" sz="390"/>
              <a:t>indexed sequential file. The indexed sequential file maintains the key characteristic</a:t>
            </a:r>
            <a:endParaRPr/>
          </a:p>
          <a:p>
            <a:pPr indent="0" lvl="0" marL="0" rtl="0" algn="l">
              <a:lnSpc>
                <a:spcPct val="80000"/>
              </a:lnSpc>
              <a:spcBef>
                <a:spcPts val="117"/>
              </a:spcBef>
              <a:spcAft>
                <a:spcPts val="0"/>
              </a:spcAft>
              <a:buNone/>
            </a:pPr>
            <a:r>
              <a:rPr lang="en-US" sz="390"/>
              <a:t>of the sequential file: Records are organized in sequence based on a key field. Two</a:t>
            </a:r>
            <a:endParaRPr/>
          </a:p>
          <a:p>
            <a:pPr indent="0" lvl="0" marL="0" rtl="0" algn="l">
              <a:lnSpc>
                <a:spcPct val="80000"/>
              </a:lnSpc>
              <a:spcBef>
                <a:spcPts val="117"/>
              </a:spcBef>
              <a:spcAft>
                <a:spcPts val="0"/>
              </a:spcAft>
              <a:buNone/>
            </a:pPr>
            <a:r>
              <a:rPr lang="en-US" sz="390"/>
              <a:t>features are added: an index to the file to support random access, and an overflow</a:t>
            </a:r>
            <a:endParaRPr/>
          </a:p>
          <a:p>
            <a:pPr indent="0" lvl="0" marL="0" rtl="0" algn="l">
              <a:lnSpc>
                <a:spcPct val="80000"/>
              </a:lnSpc>
              <a:spcBef>
                <a:spcPts val="117"/>
              </a:spcBef>
              <a:spcAft>
                <a:spcPts val="0"/>
              </a:spcAft>
              <a:buNone/>
            </a:pPr>
            <a:r>
              <a:rPr lang="en-US" sz="390"/>
              <a:t>file. The index provides a lookup capability to reach quickly the vicinity of a desired</a:t>
            </a:r>
            <a:endParaRPr/>
          </a:p>
          <a:p>
            <a:pPr indent="0" lvl="0" marL="0" rtl="0" algn="l">
              <a:lnSpc>
                <a:spcPct val="80000"/>
              </a:lnSpc>
              <a:spcBef>
                <a:spcPts val="117"/>
              </a:spcBef>
              <a:spcAft>
                <a:spcPts val="0"/>
              </a:spcAft>
              <a:buNone/>
            </a:pPr>
            <a:r>
              <a:rPr lang="en-US" sz="390"/>
              <a:t>record. The overflow file is similar to the log file used with a sequential file but is</a:t>
            </a:r>
            <a:endParaRPr/>
          </a:p>
          <a:p>
            <a:pPr indent="0" lvl="0" marL="0" rtl="0" algn="l">
              <a:lnSpc>
                <a:spcPct val="80000"/>
              </a:lnSpc>
              <a:spcBef>
                <a:spcPts val="117"/>
              </a:spcBef>
              <a:spcAft>
                <a:spcPts val="0"/>
              </a:spcAft>
              <a:buNone/>
            </a:pPr>
            <a:r>
              <a:rPr lang="en-US" sz="390"/>
              <a:t>integrated so that a record in the overflow file is located by following a pointer from</a:t>
            </a:r>
            <a:endParaRPr/>
          </a:p>
          <a:p>
            <a:pPr indent="0" lvl="0" marL="0" rtl="0" algn="l">
              <a:lnSpc>
                <a:spcPct val="80000"/>
              </a:lnSpc>
              <a:spcBef>
                <a:spcPts val="117"/>
              </a:spcBef>
              <a:spcAft>
                <a:spcPts val="0"/>
              </a:spcAft>
              <a:buNone/>
            </a:pPr>
            <a:r>
              <a:rPr lang="en-US" sz="390"/>
              <a:t>its predecessor record.</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In the simplest indexed sequential structure, a single level of indexing is</a:t>
            </a:r>
            <a:endParaRPr/>
          </a:p>
          <a:p>
            <a:pPr indent="0" lvl="0" marL="0" rtl="0" algn="l">
              <a:lnSpc>
                <a:spcPct val="80000"/>
              </a:lnSpc>
              <a:spcBef>
                <a:spcPts val="117"/>
              </a:spcBef>
              <a:spcAft>
                <a:spcPts val="0"/>
              </a:spcAft>
              <a:buNone/>
            </a:pPr>
            <a:r>
              <a:rPr lang="en-US" sz="390"/>
              <a:t>used. The index in this case is a simple sequential file. Each record in the index file</a:t>
            </a:r>
            <a:endParaRPr/>
          </a:p>
          <a:p>
            <a:pPr indent="0" lvl="0" marL="0" rtl="0" algn="l">
              <a:lnSpc>
                <a:spcPct val="80000"/>
              </a:lnSpc>
              <a:spcBef>
                <a:spcPts val="117"/>
              </a:spcBef>
              <a:spcAft>
                <a:spcPts val="0"/>
              </a:spcAft>
              <a:buNone/>
            </a:pPr>
            <a:r>
              <a:rPr lang="en-US" sz="390"/>
              <a:t>consists of two fields: a key field, which is the same as the key field in the main file,</a:t>
            </a:r>
            <a:endParaRPr/>
          </a:p>
          <a:p>
            <a:pPr indent="0" lvl="0" marL="0" rtl="0" algn="l">
              <a:lnSpc>
                <a:spcPct val="80000"/>
              </a:lnSpc>
              <a:spcBef>
                <a:spcPts val="117"/>
              </a:spcBef>
              <a:spcAft>
                <a:spcPts val="0"/>
              </a:spcAft>
              <a:buNone/>
            </a:pPr>
            <a:r>
              <a:rPr lang="en-US" sz="390"/>
              <a:t>and a pointer into the main file. To find a specific field, the index is searched to find</a:t>
            </a:r>
            <a:endParaRPr/>
          </a:p>
          <a:p>
            <a:pPr indent="0" lvl="0" marL="0" rtl="0" algn="l">
              <a:lnSpc>
                <a:spcPct val="80000"/>
              </a:lnSpc>
              <a:spcBef>
                <a:spcPts val="117"/>
              </a:spcBef>
              <a:spcAft>
                <a:spcPts val="0"/>
              </a:spcAft>
              <a:buNone/>
            </a:pPr>
            <a:r>
              <a:rPr lang="en-US" sz="390"/>
              <a:t>the highest key value that is equal to or precedes the desired key value. The search</a:t>
            </a:r>
            <a:endParaRPr/>
          </a:p>
          <a:p>
            <a:pPr indent="0" lvl="0" marL="0" rtl="0" algn="l">
              <a:lnSpc>
                <a:spcPct val="80000"/>
              </a:lnSpc>
              <a:spcBef>
                <a:spcPts val="117"/>
              </a:spcBef>
              <a:spcAft>
                <a:spcPts val="0"/>
              </a:spcAft>
              <a:buNone/>
            </a:pPr>
            <a:r>
              <a:rPr lang="en-US" sz="390"/>
              <a:t>continues in the main file at the location indicated by the pointer.</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see the effectiveness of this approach, consider a sequential file with</a:t>
            </a:r>
            <a:endParaRPr/>
          </a:p>
          <a:p>
            <a:pPr indent="0" lvl="0" marL="0" rtl="0" algn="l">
              <a:lnSpc>
                <a:spcPct val="80000"/>
              </a:lnSpc>
              <a:spcBef>
                <a:spcPts val="117"/>
              </a:spcBef>
              <a:spcAft>
                <a:spcPts val="0"/>
              </a:spcAft>
              <a:buNone/>
            </a:pPr>
            <a:r>
              <a:rPr lang="en-US" sz="390"/>
              <a:t>1 million records. To search for a particular key value will require on average one-half</a:t>
            </a:r>
            <a:endParaRPr/>
          </a:p>
          <a:p>
            <a:pPr indent="0" lvl="0" marL="0" rtl="0" algn="l">
              <a:lnSpc>
                <a:spcPct val="80000"/>
              </a:lnSpc>
              <a:spcBef>
                <a:spcPts val="117"/>
              </a:spcBef>
              <a:spcAft>
                <a:spcPts val="0"/>
              </a:spcAft>
              <a:buNone/>
            </a:pPr>
            <a:r>
              <a:rPr lang="en-US" sz="390"/>
              <a:t>million record accesses. Now suppose that an index containing 1,000 entries</a:t>
            </a:r>
            <a:endParaRPr/>
          </a:p>
          <a:p>
            <a:pPr indent="0" lvl="0" marL="0" rtl="0" algn="l">
              <a:lnSpc>
                <a:spcPct val="80000"/>
              </a:lnSpc>
              <a:spcBef>
                <a:spcPts val="117"/>
              </a:spcBef>
              <a:spcAft>
                <a:spcPts val="0"/>
              </a:spcAft>
              <a:buNone/>
            </a:pPr>
            <a:r>
              <a:rPr lang="en-US" sz="390"/>
              <a:t>is constructed, with the keys in the index more or less evenly distributed over</a:t>
            </a:r>
            <a:endParaRPr/>
          </a:p>
          <a:p>
            <a:pPr indent="0" lvl="0" marL="0" rtl="0" algn="l">
              <a:lnSpc>
                <a:spcPct val="80000"/>
              </a:lnSpc>
              <a:spcBef>
                <a:spcPts val="117"/>
              </a:spcBef>
              <a:spcAft>
                <a:spcPts val="0"/>
              </a:spcAft>
              <a:buNone/>
            </a:pPr>
            <a:r>
              <a:rPr lang="en-US" sz="390"/>
              <a:t>the main file. Now it will take on average 500 accesses to the index file followed</a:t>
            </a:r>
            <a:endParaRPr/>
          </a:p>
          <a:p>
            <a:pPr indent="0" lvl="0" marL="0" rtl="0" algn="l">
              <a:lnSpc>
                <a:spcPct val="80000"/>
              </a:lnSpc>
              <a:spcBef>
                <a:spcPts val="117"/>
              </a:spcBef>
              <a:spcAft>
                <a:spcPts val="0"/>
              </a:spcAft>
              <a:buNone/>
            </a:pPr>
            <a:r>
              <a:rPr lang="en-US" sz="390"/>
              <a:t>by 500 accesses to the main file to find the record. The average search length is</a:t>
            </a:r>
            <a:endParaRPr/>
          </a:p>
          <a:p>
            <a:pPr indent="0" lvl="0" marL="0" rtl="0" algn="l">
              <a:lnSpc>
                <a:spcPct val="80000"/>
              </a:lnSpc>
              <a:spcBef>
                <a:spcPts val="117"/>
              </a:spcBef>
              <a:spcAft>
                <a:spcPts val="0"/>
              </a:spcAft>
              <a:buNone/>
            </a:pPr>
            <a:r>
              <a:rPr lang="en-US" sz="390"/>
              <a:t>reduced from 500,000 to 1,000.</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Additions to the file are handled in the following manner: Each record in</a:t>
            </a:r>
            <a:endParaRPr/>
          </a:p>
          <a:p>
            <a:pPr indent="0" lvl="0" marL="0" rtl="0" algn="l">
              <a:lnSpc>
                <a:spcPct val="80000"/>
              </a:lnSpc>
              <a:spcBef>
                <a:spcPts val="117"/>
              </a:spcBef>
              <a:spcAft>
                <a:spcPts val="0"/>
              </a:spcAft>
              <a:buNone/>
            </a:pPr>
            <a:r>
              <a:rPr lang="en-US" sz="390"/>
              <a:t>the main file contains an additional field not visible to the application, which is a</a:t>
            </a:r>
            <a:endParaRPr/>
          </a:p>
          <a:p>
            <a:pPr indent="0" lvl="0" marL="0" rtl="0" algn="l">
              <a:lnSpc>
                <a:spcPct val="80000"/>
              </a:lnSpc>
              <a:spcBef>
                <a:spcPts val="117"/>
              </a:spcBef>
              <a:spcAft>
                <a:spcPts val="0"/>
              </a:spcAft>
              <a:buNone/>
            </a:pPr>
            <a:r>
              <a:rPr lang="en-US" sz="390"/>
              <a:t>pointer to the overflow file. When a new record is to be inserted into the file, it is</a:t>
            </a:r>
            <a:endParaRPr/>
          </a:p>
          <a:p>
            <a:pPr indent="0" lvl="0" marL="0" rtl="0" algn="l">
              <a:lnSpc>
                <a:spcPct val="80000"/>
              </a:lnSpc>
              <a:spcBef>
                <a:spcPts val="117"/>
              </a:spcBef>
              <a:spcAft>
                <a:spcPts val="0"/>
              </a:spcAft>
              <a:buNone/>
            </a:pPr>
            <a:r>
              <a:rPr lang="en-US" sz="390"/>
              <a:t>added to the overflow file. The record in the main file that immediately precedes</a:t>
            </a:r>
            <a:endParaRPr/>
          </a:p>
          <a:p>
            <a:pPr indent="0" lvl="0" marL="0" rtl="0" algn="l">
              <a:lnSpc>
                <a:spcPct val="80000"/>
              </a:lnSpc>
              <a:spcBef>
                <a:spcPts val="117"/>
              </a:spcBef>
              <a:spcAft>
                <a:spcPts val="0"/>
              </a:spcAft>
              <a:buNone/>
            </a:pPr>
            <a:r>
              <a:rPr lang="en-US" sz="390"/>
              <a:t>the new record in logical sequence is updated to contain a pointer to the new record</a:t>
            </a:r>
            <a:endParaRPr/>
          </a:p>
          <a:p>
            <a:pPr indent="0" lvl="0" marL="0" rtl="0" algn="l">
              <a:lnSpc>
                <a:spcPct val="80000"/>
              </a:lnSpc>
              <a:spcBef>
                <a:spcPts val="117"/>
              </a:spcBef>
              <a:spcAft>
                <a:spcPts val="0"/>
              </a:spcAft>
              <a:buNone/>
            </a:pPr>
            <a:r>
              <a:rPr lang="en-US" sz="390"/>
              <a:t>in the overflow file. If the immediately preceding record is itself in the overflow file,</a:t>
            </a:r>
            <a:endParaRPr/>
          </a:p>
          <a:p>
            <a:pPr indent="0" lvl="0" marL="0" rtl="0" algn="l">
              <a:lnSpc>
                <a:spcPct val="80000"/>
              </a:lnSpc>
              <a:spcBef>
                <a:spcPts val="117"/>
              </a:spcBef>
              <a:spcAft>
                <a:spcPts val="0"/>
              </a:spcAft>
              <a:buNone/>
            </a:pPr>
            <a:r>
              <a:rPr lang="en-US" sz="390"/>
              <a:t>then the pointer in that record is updated. As with the sequential file, the indexed</a:t>
            </a:r>
            <a:endParaRPr/>
          </a:p>
          <a:p>
            <a:pPr indent="0" lvl="0" marL="0" rtl="0" algn="l">
              <a:lnSpc>
                <a:spcPct val="80000"/>
              </a:lnSpc>
              <a:spcBef>
                <a:spcPts val="117"/>
              </a:spcBef>
              <a:spcAft>
                <a:spcPts val="0"/>
              </a:spcAft>
              <a:buNone/>
            </a:pPr>
            <a:r>
              <a:rPr lang="en-US" sz="390"/>
              <a:t>sequential file is occasionally merged with the overflow file in batch mode.</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The indexed sequential file greatly reduces the time required to access a single</a:t>
            </a:r>
            <a:endParaRPr/>
          </a:p>
          <a:p>
            <a:pPr indent="0" lvl="0" marL="0" rtl="0" algn="l">
              <a:lnSpc>
                <a:spcPct val="80000"/>
              </a:lnSpc>
              <a:spcBef>
                <a:spcPts val="117"/>
              </a:spcBef>
              <a:spcAft>
                <a:spcPts val="0"/>
              </a:spcAft>
              <a:buNone/>
            </a:pPr>
            <a:r>
              <a:rPr lang="en-US" sz="390"/>
              <a:t>record, without sacrificing the sequential nature of the file. To process the entire file</a:t>
            </a:r>
            <a:endParaRPr/>
          </a:p>
          <a:p>
            <a:pPr indent="0" lvl="0" marL="0" rtl="0" algn="l">
              <a:lnSpc>
                <a:spcPct val="80000"/>
              </a:lnSpc>
              <a:spcBef>
                <a:spcPts val="117"/>
              </a:spcBef>
              <a:spcAft>
                <a:spcPts val="0"/>
              </a:spcAft>
              <a:buNone/>
            </a:pPr>
            <a:r>
              <a:rPr lang="en-US" sz="390"/>
              <a:t>sequentially, the records of the main file are processed in sequence until a pointer</a:t>
            </a:r>
            <a:endParaRPr/>
          </a:p>
          <a:p>
            <a:pPr indent="0" lvl="0" marL="0" rtl="0" algn="l">
              <a:lnSpc>
                <a:spcPct val="80000"/>
              </a:lnSpc>
              <a:spcBef>
                <a:spcPts val="117"/>
              </a:spcBef>
              <a:spcAft>
                <a:spcPts val="0"/>
              </a:spcAft>
              <a:buNone/>
            </a:pPr>
            <a:r>
              <a:rPr lang="en-US" sz="390"/>
              <a:t>to the overflow file is found, then accessing continues in the overflow file until a null</a:t>
            </a:r>
            <a:endParaRPr/>
          </a:p>
          <a:p>
            <a:pPr indent="0" lvl="0" marL="0" rtl="0" algn="l">
              <a:lnSpc>
                <a:spcPct val="80000"/>
              </a:lnSpc>
              <a:spcBef>
                <a:spcPts val="117"/>
              </a:spcBef>
              <a:spcAft>
                <a:spcPts val="0"/>
              </a:spcAft>
              <a:buNone/>
            </a:pPr>
            <a:r>
              <a:rPr lang="en-US" sz="390"/>
              <a:t>pointer is encountered, at which time accessing of the main file is resumed where it</a:t>
            </a:r>
            <a:endParaRPr/>
          </a:p>
          <a:p>
            <a:pPr indent="0" lvl="0" marL="0" rtl="0" algn="l">
              <a:lnSpc>
                <a:spcPct val="80000"/>
              </a:lnSpc>
              <a:spcBef>
                <a:spcPts val="117"/>
              </a:spcBef>
              <a:spcAft>
                <a:spcPts val="0"/>
              </a:spcAft>
              <a:buNone/>
            </a:pPr>
            <a:r>
              <a:rPr lang="en-US" sz="390"/>
              <a:t>left off.</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provide even greater efficiency in access, multiple levels of indexing can be</a:t>
            </a:r>
            <a:endParaRPr/>
          </a:p>
          <a:p>
            <a:pPr indent="0" lvl="0" marL="0" rtl="0" algn="l">
              <a:lnSpc>
                <a:spcPct val="80000"/>
              </a:lnSpc>
              <a:spcBef>
                <a:spcPts val="117"/>
              </a:spcBef>
              <a:spcAft>
                <a:spcPts val="0"/>
              </a:spcAft>
              <a:buNone/>
            </a:pPr>
            <a:r>
              <a:rPr lang="en-US" sz="390"/>
              <a:t>used. Thus the lowest level of index file is treated as a sequential file and a higher level</a:t>
            </a:r>
            <a:endParaRPr/>
          </a:p>
          <a:p>
            <a:pPr indent="0" lvl="0" marL="0" rtl="0" algn="l">
              <a:lnSpc>
                <a:spcPct val="80000"/>
              </a:lnSpc>
              <a:spcBef>
                <a:spcPts val="117"/>
              </a:spcBef>
              <a:spcAft>
                <a:spcPts val="0"/>
              </a:spcAft>
              <a:buNone/>
            </a:pPr>
            <a:r>
              <a:rPr lang="en-US" sz="390"/>
              <a:t>index file is created for that file. Consider again a file with 1 million records.</a:t>
            </a:r>
            <a:endParaRPr/>
          </a:p>
          <a:p>
            <a:pPr indent="0" lvl="0" marL="0" rtl="0" algn="l">
              <a:lnSpc>
                <a:spcPct val="80000"/>
              </a:lnSpc>
              <a:spcBef>
                <a:spcPts val="117"/>
              </a:spcBef>
              <a:spcAft>
                <a:spcPts val="0"/>
              </a:spcAft>
              <a:buNone/>
            </a:pPr>
            <a:r>
              <a:rPr lang="en-US" sz="390"/>
              <a:t>A lower-level index with 10,000 entries is constructed. A higher-level index into</a:t>
            </a:r>
            <a:endParaRPr/>
          </a:p>
          <a:p>
            <a:pPr indent="0" lvl="0" marL="0" rtl="0" algn="l">
              <a:lnSpc>
                <a:spcPct val="80000"/>
              </a:lnSpc>
              <a:spcBef>
                <a:spcPts val="117"/>
              </a:spcBef>
              <a:spcAft>
                <a:spcPts val="0"/>
              </a:spcAft>
              <a:buNone/>
            </a:pPr>
            <a:r>
              <a:rPr lang="en-US" sz="390"/>
              <a:t>the lower-level index of 100 entries can then be constructed. The search begins at</a:t>
            </a:r>
            <a:endParaRPr/>
          </a:p>
          <a:p>
            <a:pPr indent="0" lvl="0" marL="0" rtl="0" algn="l">
              <a:lnSpc>
                <a:spcPct val="80000"/>
              </a:lnSpc>
              <a:spcBef>
                <a:spcPts val="117"/>
              </a:spcBef>
              <a:spcAft>
                <a:spcPts val="0"/>
              </a:spcAft>
              <a:buNone/>
            </a:pPr>
            <a:r>
              <a:rPr lang="en-US" sz="390"/>
              <a:t>the higher-level index (average length = 50 accesses) to find an entry point into the</a:t>
            </a:r>
            <a:endParaRPr/>
          </a:p>
          <a:p>
            <a:pPr indent="0" lvl="0" marL="0" rtl="0" algn="l">
              <a:lnSpc>
                <a:spcPct val="80000"/>
              </a:lnSpc>
              <a:spcBef>
                <a:spcPts val="117"/>
              </a:spcBef>
              <a:spcAft>
                <a:spcPts val="0"/>
              </a:spcAft>
              <a:buNone/>
            </a:pPr>
            <a:r>
              <a:rPr lang="en-US" sz="390"/>
              <a:t>lower-level index. This index is then searched (average length = 50) to find an entry</a:t>
            </a:r>
            <a:endParaRPr/>
          </a:p>
          <a:p>
            <a:pPr indent="0" lvl="0" marL="0" rtl="0" algn="l">
              <a:lnSpc>
                <a:spcPct val="80000"/>
              </a:lnSpc>
              <a:spcBef>
                <a:spcPts val="117"/>
              </a:spcBef>
              <a:spcAft>
                <a:spcPts val="0"/>
              </a:spcAft>
              <a:buNone/>
            </a:pPr>
            <a:r>
              <a:rPr lang="en-US" sz="390"/>
              <a:t>point into the main file, which is then searched (average length = 50). Thus the average</a:t>
            </a:r>
            <a:endParaRPr/>
          </a:p>
          <a:p>
            <a:pPr indent="0" lvl="0" marL="0" rtl="0" algn="l">
              <a:lnSpc>
                <a:spcPct val="80000"/>
              </a:lnSpc>
              <a:spcBef>
                <a:spcPts val="117"/>
              </a:spcBef>
              <a:spcAft>
                <a:spcPts val="0"/>
              </a:spcAft>
              <a:buNone/>
            </a:pPr>
            <a:r>
              <a:rPr lang="en-US" sz="390"/>
              <a:t>length of search has been reduced from 500,000 to 1,000 to 150.</a:t>
            </a:r>
            <a:endParaRPr sz="390"/>
          </a:p>
        </p:txBody>
      </p:sp>
      <p:sp>
        <p:nvSpPr>
          <p:cNvPr id="543" name="Google Shape;54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0" name="Google Shape;55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a:t>A popular approach to overcoming the disadvantages of the sequential file is the</a:t>
            </a:r>
            <a:endParaRPr/>
          </a:p>
          <a:p>
            <a:pPr indent="0" lvl="0" marL="0" rtl="0" algn="l">
              <a:lnSpc>
                <a:spcPct val="80000"/>
              </a:lnSpc>
              <a:spcBef>
                <a:spcPts val="117"/>
              </a:spcBef>
              <a:spcAft>
                <a:spcPts val="0"/>
              </a:spcAft>
              <a:buNone/>
            </a:pPr>
            <a:r>
              <a:rPr lang="en-US"/>
              <a:t>indexed sequential file. The indexed sequential file maintains the key characteristic</a:t>
            </a:r>
            <a:endParaRPr/>
          </a:p>
          <a:p>
            <a:pPr indent="0" lvl="0" marL="0" rtl="0" algn="l">
              <a:lnSpc>
                <a:spcPct val="80000"/>
              </a:lnSpc>
              <a:spcBef>
                <a:spcPts val="117"/>
              </a:spcBef>
              <a:spcAft>
                <a:spcPts val="0"/>
              </a:spcAft>
              <a:buNone/>
            </a:pPr>
            <a:r>
              <a:rPr lang="en-US"/>
              <a:t>of the sequential file: Records are organized in sequence based on a key field. Two</a:t>
            </a:r>
            <a:endParaRPr/>
          </a:p>
          <a:p>
            <a:pPr indent="0" lvl="0" marL="0" rtl="0" algn="l">
              <a:lnSpc>
                <a:spcPct val="80000"/>
              </a:lnSpc>
              <a:spcBef>
                <a:spcPts val="117"/>
              </a:spcBef>
              <a:spcAft>
                <a:spcPts val="0"/>
              </a:spcAft>
              <a:buNone/>
            </a:pPr>
            <a:r>
              <a:rPr lang="en-US"/>
              <a:t>features are added: an index to the file to support random access, and an overflow</a:t>
            </a:r>
            <a:endParaRPr/>
          </a:p>
          <a:p>
            <a:pPr indent="0" lvl="0" marL="0" rtl="0" algn="l">
              <a:lnSpc>
                <a:spcPct val="80000"/>
              </a:lnSpc>
              <a:spcBef>
                <a:spcPts val="117"/>
              </a:spcBef>
              <a:spcAft>
                <a:spcPts val="0"/>
              </a:spcAft>
              <a:buNone/>
            </a:pPr>
            <a:r>
              <a:rPr lang="en-US"/>
              <a:t>file. The index provides a lookup capability to reach quickly the vicinity of a desired</a:t>
            </a:r>
            <a:endParaRPr/>
          </a:p>
          <a:p>
            <a:pPr indent="0" lvl="0" marL="0" rtl="0" algn="l">
              <a:lnSpc>
                <a:spcPct val="80000"/>
              </a:lnSpc>
              <a:spcBef>
                <a:spcPts val="117"/>
              </a:spcBef>
              <a:spcAft>
                <a:spcPts val="0"/>
              </a:spcAft>
              <a:buNone/>
            </a:pPr>
            <a:r>
              <a:rPr lang="en-US"/>
              <a:t>record. The overflow file is similar to the log file used with a sequential file but is</a:t>
            </a:r>
            <a:endParaRPr/>
          </a:p>
          <a:p>
            <a:pPr indent="0" lvl="0" marL="0" rtl="0" algn="l">
              <a:lnSpc>
                <a:spcPct val="80000"/>
              </a:lnSpc>
              <a:spcBef>
                <a:spcPts val="117"/>
              </a:spcBef>
              <a:spcAft>
                <a:spcPts val="0"/>
              </a:spcAft>
              <a:buNone/>
            </a:pPr>
            <a:r>
              <a:rPr lang="en-US"/>
              <a:t>integrated so that a record in the overflow file is located by following a pointer from</a:t>
            </a:r>
            <a:endParaRPr/>
          </a:p>
          <a:p>
            <a:pPr indent="0" lvl="0" marL="0" rtl="0" algn="l">
              <a:lnSpc>
                <a:spcPct val="80000"/>
              </a:lnSpc>
              <a:spcBef>
                <a:spcPts val="117"/>
              </a:spcBef>
              <a:spcAft>
                <a:spcPts val="0"/>
              </a:spcAft>
              <a:buNone/>
            </a:pPr>
            <a:r>
              <a:rPr lang="en-US"/>
              <a:t>its predecessor record.</a:t>
            </a:r>
            <a:endParaRPr/>
          </a:p>
          <a:p>
            <a:pPr indent="0" lvl="0" marL="0" rtl="0" algn="l">
              <a:lnSpc>
                <a:spcPct val="80000"/>
              </a:lnSpc>
              <a:spcBef>
                <a:spcPts val="117"/>
              </a:spcBef>
              <a:spcAft>
                <a:spcPts val="0"/>
              </a:spcAft>
              <a:buNone/>
            </a:pPr>
            <a:r>
              <a:t/>
            </a:r>
            <a:endParaRPr/>
          </a:p>
          <a:p>
            <a:pPr indent="0" lvl="0" marL="0" rtl="0" algn="l">
              <a:lnSpc>
                <a:spcPct val="80000"/>
              </a:lnSpc>
              <a:spcBef>
                <a:spcPts val="117"/>
              </a:spcBef>
              <a:spcAft>
                <a:spcPts val="0"/>
              </a:spcAft>
              <a:buNone/>
            </a:pPr>
            <a:r>
              <a:rPr lang="en-US"/>
              <a:t>In the simplest indexed sequential structure, a single level of indexing is</a:t>
            </a:r>
            <a:endParaRPr/>
          </a:p>
          <a:p>
            <a:pPr indent="0" lvl="0" marL="0" rtl="0" algn="l">
              <a:lnSpc>
                <a:spcPct val="80000"/>
              </a:lnSpc>
              <a:spcBef>
                <a:spcPts val="117"/>
              </a:spcBef>
              <a:spcAft>
                <a:spcPts val="0"/>
              </a:spcAft>
              <a:buNone/>
            </a:pPr>
            <a:r>
              <a:rPr lang="en-US"/>
              <a:t>used. The index in this case is a simple sequential file. Each record in the index file</a:t>
            </a:r>
            <a:endParaRPr/>
          </a:p>
          <a:p>
            <a:pPr indent="0" lvl="0" marL="0" rtl="0" algn="l">
              <a:lnSpc>
                <a:spcPct val="80000"/>
              </a:lnSpc>
              <a:spcBef>
                <a:spcPts val="117"/>
              </a:spcBef>
              <a:spcAft>
                <a:spcPts val="0"/>
              </a:spcAft>
              <a:buNone/>
            </a:pPr>
            <a:r>
              <a:rPr lang="en-US"/>
              <a:t>consists of two fields: a key field, which is the same as the key field in the main file,</a:t>
            </a:r>
            <a:endParaRPr/>
          </a:p>
          <a:p>
            <a:pPr indent="0" lvl="0" marL="0" rtl="0" algn="l">
              <a:lnSpc>
                <a:spcPct val="80000"/>
              </a:lnSpc>
              <a:spcBef>
                <a:spcPts val="117"/>
              </a:spcBef>
              <a:spcAft>
                <a:spcPts val="0"/>
              </a:spcAft>
              <a:buNone/>
            </a:pPr>
            <a:r>
              <a:rPr lang="en-US"/>
              <a:t>and a pointer into the main file. To find a specific field, the index is searched to find</a:t>
            </a:r>
            <a:endParaRPr/>
          </a:p>
          <a:p>
            <a:pPr indent="0" lvl="0" marL="0" rtl="0" algn="l">
              <a:lnSpc>
                <a:spcPct val="80000"/>
              </a:lnSpc>
              <a:spcBef>
                <a:spcPts val="117"/>
              </a:spcBef>
              <a:spcAft>
                <a:spcPts val="0"/>
              </a:spcAft>
              <a:buNone/>
            </a:pPr>
            <a:r>
              <a:rPr lang="en-US"/>
              <a:t>the highest key value that is equal to or precedes the desired key value. The search</a:t>
            </a:r>
            <a:endParaRPr/>
          </a:p>
          <a:p>
            <a:pPr indent="0" lvl="0" marL="0" rtl="0" algn="l">
              <a:lnSpc>
                <a:spcPct val="80000"/>
              </a:lnSpc>
              <a:spcBef>
                <a:spcPts val="117"/>
              </a:spcBef>
              <a:spcAft>
                <a:spcPts val="0"/>
              </a:spcAft>
              <a:buNone/>
            </a:pPr>
            <a:r>
              <a:rPr lang="en-US"/>
              <a:t>continues in the main file at the location indicated by the pointer.</a:t>
            </a:r>
            <a:endParaRPr/>
          </a:p>
          <a:p>
            <a:pPr indent="0" lvl="0" marL="0" rtl="0" algn="l">
              <a:lnSpc>
                <a:spcPct val="80000"/>
              </a:lnSpc>
              <a:spcBef>
                <a:spcPts val="117"/>
              </a:spcBef>
              <a:spcAft>
                <a:spcPts val="0"/>
              </a:spcAft>
              <a:buNone/>
            </a:pPr>
            <a:r>
              <a:t/>
            </a:r>
            <a:endParaRPr/>
          </a:p>
          <a:p>
            <a:pPr indent="0" lvl="0" marL="0" rtl="0" algn="l">
              <a:lnSpc>
                <a:spcPct val="80000"/>
              </a:lnSpc>
              <a:spcBef>
                <a:spcPts val="117"/>
              </a:spcBef>
              <a:spcAft>
                <a:spcPts val="0"/>
              </a:spcAft>
              <a:buNone/>
            </a:pPr>
            <a:r>
              <a:rPr lang="en-US"/>
              <a:t>To see the effectiveness of this approach, consider a sequential file with</a:t>
            </a:r>
            <a:endParaRPr/>
          </a:p>
          <a:p>
            <a:pPr indent="0" lvl="0" marL="0" rtl="0" algn="l">
              <a:lnSpc>
                <a:spcPct val="80000"/>
              </a:lnSpc>
              <a:spcBef>
                <a:spcPts val="117"/>
              </a:spcBef>
              <a:spcAft>
                <a:spcPts val="0"/>
              </a:spcAft>
              <a:buNone/>
            </a:pPr>
            <a:r>
              <a:rPr lang="en-US"/>
              <a:t>1 million records. To search for a particular key value will require on average one-half</a:t>
            </a:r>
            <a:endParaRPr/>
          </a:p>
          <a:p>
            <a:pPr indent="0" lvl="0" marL="0" rtl="0" algn="l">
              <a:lnSpc>
                <a:spcPct val="80000"/>
              </a:lnSpc>
              <a:spcBef>
                <a:spcPts val="117"/>
              </a:spcBef>
              <a:spcAft>
                <a:spcPts val="0"/>
              </a:spcAft>
              <a:buNone/>
            </a:pPr>
            <a:r>
              <a:rPr lang="en-US"/>
              <a:t>million record accesses. Now suppose that an index containing 1,000 entries</a:t>
            </a:r>
            <a:endParaRPr/>
          </a:p>
          <a:p>
            <a:pPr indent="0" lvl="0" marL="0" rtl="0" algn="l">
              <a:lnSpc>
                <a:spcPct val="80000"/>
              </a:lnSpc>
              <a:spcBef>
                <a:spcPts val="117"/>
              </a:spcBef>
              <a:spcAft>
                <a:spcPts val="0"/>
              </a:spcAft>
              <a:buNone/>
            </a:pPr>
            <a:r>
              <a:rPr lang="en-US"/>
              <a:t>is constructed, with the keys in the index more or less evenly distributed over</a:t>
            </a:r>
            <a:endParaRPr/>
          </a:p>
          <a:p>
            <a:pPr indent="0" lvl="0" marL="0" rtl="0" algn="l">
              <a:lnSpc>
                <a:spcPct val="80000"/>
              </a:lnSpc>
              <a:spcBef>
                <a:spcPts val="117"/>
              </a:spcBef>
              <a:spcAft>
                <a:spcPts val="0"/>
              </a:spcAft>
              <a:buNone/>
            </a:pPr>
            <a:r>
              <a:rPr lang="en-US"/>
              <a:t>the main file. Now it will take on average 500 accesses to the index file followed</a:t>
            </a:r>
            <a:endParaRPr/>
          </a:p>
          <a:p>
            <a:pPr indent="0" lvl="0" marL="0" rtl="0" algn="l">
              <a:lnSpc>
                <a:spcPct val="80000"/>
              </a:lnSpc>
              <a:spcBef>
                <a:spcPts val="117"/>
              </a:spcBef>
              <a:spcAft>
                <a:spcPts val="0"/>
              </a:spcAft>
              <a:buNone/>
            </a:pPr>
            <a:r>
              <a:rPr lang="en-US"/>
              <a:t>by 500 accesses to the main file to find the record. The average search length is</a:t>
            </a:r>
            <a:endParaRPr/>
          </a:p>
          <a:p>
            <a:pPr indent="0" lvl="0" marL="0" rtl="0" algn="l">
              <a:lnSpc>
                <a:spcPct val="80000"/>
              </a:lnSpc>
              <a:spcBef>
                <a:spcPts val="117"/>
              </a:spcBef>
              <a:spcAft>
                <a:spcPts val="0"/>
              </a:spcAft>
              <a:buNone/>
            </a:pPr>
            <a:r>
              <a:rPr lang="en-US"/>
              <a:t>reduced from 500,000 to 1,000.</a:t>
            </a:r>
            <a:endParaRPr/>
          </a:p>
          <a:p>
            <a:pPr indent="0" lvl="0" marL="0" rtl="0" algn="l">
              <a:lnSpc>
                <a:spcPct val="80000"/>
              </a:lnSpc>
              <a:spcBef>
                <a:spcPts val="117"/>
              </a:spcBef>
              <a:spcAft>
                <a:spcPts val="0"/>
              </a:spcAft>
              <a:buNone/>
            </a:pPr>
            <a:r>
              <a:t/>
            </a:r>
            <a:endParaRPr/>
          </a:p>
          <a:p>
            <a:pPr indent="0" lvl="0" marL="0" rtl="0" algn="l">
              <a:lnSpc>
                <a:spcPct val="80000"/>
              </a:lnSpc>
              <a:spcBef>
                <a:spcPts val="117"/>
              </a:spcBef>
              <a:spcAft>
                <a:spcPts val="0"/>
              </a:spcAft>
              <a:buNone/>
            </a:pPr>
            <a:r>
              <a:rPr lang="en-US"/>
              <a:t>Additions to the file are handled in the following manner: Each record in</a:t>
            </a:r>
            <a:endParaRPr/>
          </a:p>
          <a:p>
            <a:pPr indent="0" lvl="0" marL="0" rtl="0" algn="l">
              <a:lnSpc>
                <a:spcPct val="80000"/>
              </a:lnSpc>
              <a:spcBef>
                <a:spcPts val="117"/>
              </a:spcBef>
              <a:spcAft>
                <a:spcPts val="0"/>
              </a:spcAft>
              <a:buNone/>
            </a:pPr>
            <a:r>
              <a:rPr lang="en-US"/>
              <a:t>the main file contains an additional field not visible to the application, which is a</a:t>
            </a:r>
            <a:endParaRPr/>
          </a:p>
          <a:p>
            <a:pPr indent="0" lvl="0" marL="0" rtl="0" algn="l">
              <a:lnSpc>
                <a:spcPct val="80000"/>
              </a:lnSpc>
              <a:spcBef>
                <a:spcPts val="117"/>
              </a:spcBef>
              <a:spcAft>
                <a:spcPts val="0"/>
              </a:spcAft>
              <a:buNone/>
            </a:pPr>
            <a:r>
              <a:rPr lang="en-US"/>
              <a:t>pointer to the overflow file. When a new record is to be inserted into the file, it is</a:t>
            </a:r>
            <a:endParaRPr/>
          </a:p>
          <a:p>
            <a:pPr indent="0" lvl="0" marL="0" rtl="0" algn="l">
              <a:lnSpc>
                <a:spcPct val="80000"/>
              </a:lnSpc>
              <a:spcBef>
                <a:spcPts val="117"/>
              </a:spcBef>
              <a:spcAft>
                <a:spcPts val="0"/>
              </a:spcAft>
              <a:buNone/>
            </a:pPr>
            <a:r>
              <a:rPr lang="en-US"/>
              <a:t>added to the overflow file. The record in the main file that immediately precedes</a:t>
            </a:r>
            <a:endParaRPr/>
          </a:p>
          <a:p>
            <a:pPr indent="0" lvl="0" marL="0" rtl="0" algn="l">
              <a:lnSpc>
                <a:spcPct val="80000"/>
              </a:lnSpc>
              <a:spcBef>
                <a:spcPts val="117"/>
              </a:spcBef>
              <a:spcAft>
                <a:spcPts val="0"/>
              </a:spcAft>
              <a:buNone/>
            </a:pPr>
            <a:r>
              <a:rPr lang="en-US"/>
              <a:t>the new record in logical sequence is updated to contain a pointer to the new record</a:t>
            </a:r>
            <a:endParaRPr/>
          </a:p>
          <a:p>
            <a:pPr indent="0" lvl="0" marL="0" rtl="0" algn="l">
              <a:lnSpc>
                <a:spcPct val="80000"/>
              </a:lnSpc>
              <a:spcBef>
                <a:spcPts val="117"/>
              </a:spcBef>
              <a:spcAft>
                <a:spcPts val="0"/>
              </a:spcAft>
              <a:buNone/>
            </a:pPr>
            <a:r>
              <a:rPr lang="en-US"/>
              <a:t>in the overflow file. If the immediately preceding record is itself in the overflow file,</a:t>
            </a:r>
            <a:endParaRPr/>
          </a:p>
          <a:p>
            <a:pPr indent="0" lvl="0" marL="0" rtl="0" algn="l">
              <a:lnSpc>
                <a:spcPct val="80000"/>
              </a:lnSpc>
              <a:spcBef>
                <a:spcPts val="117"/>
              </a:spcBef>
              <a:spcAft>
                <a:spcPts val="0"/>
              </a:spcAft>
              <a:buNone/>
            </a:pPr>
            <a:r>
              <a:rPr lang="en-US"/>
              <a:t>then the pointer in that record is updated. As with the sequential file, the indexed</a:t>
            </a:r>
            <a:endParaRPr/>
          </a:p>
          <a:p>
            <a:pPr indent="0" lvl="0" marL="0" rtl="0" algn="l">
              <a:lnSpc>
                <a:spcPct val="80000"/>
              </a:lnSpc>
              <a:spcBef>
                <a:spcPts val="117"/>
              </a:spcBef>
              <a:spcAft>
                <a:spcPts val="0"/>
              </a:spcAft>
              <a:buNone/>
            </a:pPr>
            <a:r>
              <a:rPr lang="en-US"/>
              <a:t>sequential file is occasionally merged with the overflow file in batch mode.</a:t>
            </a:r>
            <a:endParaRPr/>
          </a:p>
          <a:p>
            <a:pPr indent="0" lvl="0" marL="0" rtl="0" algn="l">
              <a:lnSpc>
                <a:spcPct val="80000"/>
              </a:lnSpc>
              <a:spcBef>
                <a:spcPts val="117"/>
              </a:spcBef>
              <a:spcAft>
                <a:spcPts val="0"/>
              </a:spcAft>
              <a:buNone/>
            </a:pPr>
            <a:r>
              <a:t/>
            </a:r>
            <a:endParaRPr/>
          </a:p>
          <a:p>
            <a:pPr indent="0" lvl="0" marL="0" rtl="0" algn="l">
              <a:lnSpc>
                <a:spcPct val="80000"/>
              </a:lnSpc>
              <a:spcBef>
                <a:spcPts val="117"/>
              </a:spcBef>
              <a:spcAft>
                <a:spcPts val="0"/>
              </a:spcAft>
              <a:buNone/>
            </a:pPr>
            <a:r>
              <a:rPr lang="en-US"/>
              <a:t>The indexed sequential file greatly reduces the time required to access a single</a:t>
            </a:r>
            <a:endParaRPr/>
          </a:p>
          <a:p>
            <a:pPr indent="0" lvl="0" marL="0" rtl="0" algn="l">
              <a:lnSpc>
                <a:spcPct val="80000"/>
              </a:lnSpc>
              <a:spcBef>
                <a:spcPts val="117"/>
              </a:spcBef>
              <a:spcAft>
                <a:spcPts val="0"/>
              </a:spcAft>
              <a:buNone/>
            </a:pPr>
            <a:r>
              <a:rPr lang="en-US"/>
              <a:t>record, without sacrificing the sequential nature of the file. To process the entire file</a:t>
            </a:r>
            <a:endParaRPr/>
          </a:p>
          <a:p>
            <a:pPr indent="0" lvl="0" marL="0" rtl="0" algn="l">
              <a:lnSpc>
                <a:spcPct val="80000"/>
              </a:lnSpc>
              <a:spcBef>
                <a:spcPts val="117"/>
              </a:spcBef>
              <a:spcAft>
                <a:spcPts val="0"/>
              </a:spcAft>
              <a:buNone/>
            </a:pPr>
            <a:r>
              <a:rPr lang="en-US"/>
              <a:t>sequentially, the records of the main file are processed in sequence until a pointer</a:t>
            </a:r>
            <a:endParaRPr/>
          </a:p>
          <a:p>
            <a:pPr indent="0" lvl="0" marL="0" rtl="0" algn="l">
              <a:lnSpc>
                <a:spcPct val="80000"/>
              </a:lnSpc>
              <a:spcBef>
                <a:spcPts val="117"/>
              </a:spcBef>
              <a:spcAft>
                <a:spcPts val="0"/>
              </a:spcAft>
              <a:buNone/>
            </a:pPr>
            <a:r>
              <a:rPr lang="en-US"/>
              <a:t>to the overflow file is found, then accessing continues in the overflow file until a null</a:t>
            </a:r>
            <a:endParaRPr/>
          </a:p>
          <a:p>
            <a:pPr indent="0" lvl="0" marL="0" rtl="0" algn="l">
              <a:lnSpc>
                <a:spcPct val="80000"/>
              </a:lnSpc>
              <a:spcBef>
                <a:spcPts val="117"/>
              </a:spcBef>
              <a:spcAft>
                <a:spcPts val="0"/>
              </a:spcAft>
              <a:buNone/>
            </a:pPr>
            <a:r>
              <a:rPr lang="en-US"/>
              <a:t>pointer is encountered, at which time accessing of the main file is resumed where it</a:t>
            </a:r>
            <a:endParaRPr/>
          </a:p>
          <a:p>
            <a:pPr indent="0" lvl="0" marL="0" rtl="0" algn="l">
              <a:lnSpc>
                <a:spcPct val="80000"/>
              </a:lnSpc>
              <a:spcBef>
                <a:spcPts val="117"/>
              </a:spcBef>
              <a:spcAft>
                <a:spcPts val="0"/>
              </a:spcAft>
              <a:buNone/>
            </a:pPr>
            <a:r>
              <a:rPr lang="en-US"/>
              <a:t>left off.</a:t>
            </a:r>
            <a:endParaRPr/>
          </a:p>
          <a:p>
            <a:pPr indent="0" lvl="0" marL="0" rtl="0" algn="l">
              <a:lnSpc>
                <a:spcPct val="80000"/>
              </a:lnSpc>
              <a:spcBef>
                <a:spcPts val="117"/>
              </a:spcBef>
              <a:spcAft>
                <a:spcPts val="0"/>
              </a:spcAft>
              <a:buNone/>
            </a:pPr>
            <a:r>
              <a:t/>
            </a:r>
            <a:endParaRPr/>
          </a:p>
          <a:p>
            <a:pPr indent="0" lvl="0" marL="0" rtl="0" algn="l">
              <a:lnSpc>
                <a:spcPct val="80000"/>
              </a:lnSpc>
              <a:spcBef>
                <a:spcPts val="117"/>
              </a:spcBef>
              <a:spcAft>
                <a:spcPts val="0"/>
              </a:spcAft>
              <a:buNone/>
            </a:pPr>
            <a:r>
              <a:rPr lang="en-US"/>
              <a:t>To provide even greater efficiency in access, multiple levels of indexing can be</a:t>
            </a:r>
            <a:endParaRPr/>
          </a:p>
          <a:p>
            <a:pPr indent="0" lvl="0" marL="0" rtl="0" algn="l">
              <a:lnSpc>
                <a:spcPct val="80000"/>
              </a:lnSpc>
              <a:spcBef>
                <a:spcPts val="117"/>
              </a:spcBef>
              <a:spcAft>
                <a:spcPts val="0"/>
              </a:spcAft>
              <a:buNone/>
            </a:pPr>
            <a:r>
              <a:rPr lang="en-US"/>
              <a:t>used. Thus the lowest level of index file is treated as a sequential file and a higher level</a:t>
            </a:r>
            <a:endParaRPr/>
          </a:p>
          <a:p>
            <a:pPr indent="0" lvl="0" marL="0" rtl="0" algn="l">
              <a:lnSpc>
                <a:spcPct val="80000"/>
              </a:lnSpc>
              <a:spcBef>
                <a:spcPts val="117"/>
              </a:spcBef>
              <a:spcAft>
                <a:spcPts val="0"/>
              </a:spcAft>
              <a:buNone/>
            </a:pPr>
            <a:r>
              <a:rPr lang="en-US"/>
              <a:t>index file is created for that file. Consider again a file with 1 million records.</a:t>
            </a:r>
            <a:endParaRPr/>
          </a:p>
          <a:p>
            <a:pPr indent="0" lvl="0" marL="0" rtl="0" algn="l">
              <a:lnSpc>
                <a:spcPct val="80000"/>
              </a:lnSpc>
              <a:spcBef>
                <a:spcPts val="117"/>
              </a:spcBef>
              <a:spcAft>
                <a:spcPts val="0"/>
              </a:spcAft>
              <a:buNone/>
            </a:pPr>
            <a:r>
              <a:rPr lang="en-US"/>
              <a:t>A lower-level index with 10,000 entries is constructed. A higher-level index into</a:t>
            </a:r>
            <a:endParaRPr/>
          </a:p>
          <a:p>
            <a:pPr indent="0" lvl="0" marL="0" rtl="0" algn="l">
              <a:lnSpc>
                <a:spcPct val="80000"/>
              </a:lnSpc>
              <a:spcBef>
                <a:spcPts val="117"/>
              </a:spcBef>
              <a:spcAft>
                <a:spcPts val="0"/>
              </a:spcAft>
              <a:buNone/>
            </a:pPr>
            <a:r>
              <a:rPr lang="en-US"/>
              <a:t>the lower-level index of 100 entries can then be constructed. The search begins at</a:t>
            </a:r>
            <a:endParaRPr/>
          </a:p>
          <a:p>
            <a:pPr indent="0" lvl="0" marL="0" rtl="0" algn="l">
              <a:lnSpc>
                <a:spcPct val="80000"/>
              </a:lnSpc>
              <a:spcBef>
                <a:spcPts val="117"/>
              </a:spcBef>
              <a:spcAft>
                <a:spcPts val="0"/>
              </a:spcAft>
              <a:buNone/>
            </a:pPr>
            <a:r>
              <a:rPr lang="en-US"/>
              <a:t>the higher-level index (average length = 50 accesses) to find an entry point into the</a:t>
            </a:r>
            <a:endParaRPr/>
          </a:p>
          <a:p>
            <a:pPr indent="0" lvl="0" marL="0" rtl="0" algn="l">
              <a:lnSpc>
                <a:spcPct val="80000"/>
              </a:lnSpc>
              <a:spcBef>
                <a:spcPts val="117"/>
              </a:spcBef>
              <a:spcAft>
                <a:spcPts val="0"/>
              </a:spcAft>
              <a:buNone/>
            </a:pPr>
            <a:r>
              <a:rPr lang="en-US"/>
              <a:t>lower-level index. This index is then searched (average length = 50) to find an entry</a:t>
            </a:r>
            <a:endParaRPr/>
          </a:p>
          <a:p>
            <a:pPr indent="0" lvl="0" marL="0" rtl="0" algn="l">
              <a:lnSpc>
                <a:spcPct val="80000"/>
              </a:lnSpc>
              <a:spcBef>
                <a:spcPts val="117"/>
              </a:spcBef>
              <a:spcAft>
                <a:spcPts val="0"/>
              </a:spcAft>
              <a:buNone/>
            </a:pPr>
            <a:r>
              <a:rPr lang="en-US"/>
              <a:t>point into the main file, which is then searched (average length = 50). Thus the average</a:t>
            </a:r>
            <a:endParaRPr/>
          </a:p>
          <a:p>
            <a:pPr indent="0" lvl="0" marL="0" rtl="0" algn="l">
              <a:lnSpc>
                <a:spcPct val="80000"/>
              </a:lnSpc>
              <a:spcBef>
                <a:spcPts val="117"/>
              </a:spcBef>
              <a:spcAft>
                <a:spcPts val="0"/>
              </a:spcAft>
              <a:buNone/>
            </a:pPr>
            <a:r>
              <a:rPr lang="en-US"/>
              <a:t>length of search has been reduced from 500,000 to 1,000 to 150.</a:t>
            </a:r>
            <a:endParaRPr/>
          </a:p>
        </p:txBody>
      </p:sp>
      <p:sp>
        <p:nvSpPr>
          <p:cNvPr id="551" name="Google Shape;55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58" name="Google Shape;558;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390"/>
              <a:t>A popular approach to overcoming the disadvantages of the sequential file is the</a:t>
            </a:r>
            <a:endParaRPr/>
          </a:p>
          <a:p>
            <a:pPr indent="0" lvl="0" marL="0" rtl="0" algn="l">
              <a:lnSpc>
                <a:spcPct val="80000"/>
              </a:lnSpc>
              <a:spcBef>
                <a:spcPts val="117"/>
              </a:spcBef>
              <a:spcAft>
                <a:spcPts val="0"/>
              </a:spcAft>
              <a:buNone/>
            </a:pPr>
            <a:r>
              <a:rPr lang="en-US" sz="390"/>
              <a:t>indexed sequential file. The indexed sequential file maintains the key characteristic</a:t>
            </a:r>
            <a:endParaRPr/>
          </a:p>
          <a:p>
            <a:pPr indent="0" lvl="0" marL="0" rtl="0" algn="l">
              <a:lnSpc>
                <a:spcPct val="80000"/>
              </a:lnSpc>
              <a:spcBef>
                <a:spcPts val="117"/>
              </a:spcBef>
              <a:spcAft>
                <a:spcPts val="0"/>
              </a:spcAft>
              <a:buNone/>
            </a:pPr>
            <a:r>
              <a:rPr lang="en-US" sz="390"/>
              <a:t>of the sequential file: Records are organized in sequence based on a key field. Two</a:t>
            </a:r>
            <a:endParaRPr/>
          </a:p>
          <a:p>
            <a:pPr indent="0" lvl="0" marL="0" rtl="0" algn="l">
              <a:lnSpc>
                <a:spcPct val="80000"/>
              </a:lnSpc>
              <a:spcBef>
                <a:spcPts val="117"/>
              </a:spcBef>
              <a:spcAft>
                <a:spcPts val="0"/>
              </a:spcAft>
              <a:buNone/>
            </a:pPr>
            <a:r>
              <a:rPr lang="en-US" sz="390"/>
              <a:t>features are added: an index to the file to support random access, and an overflow</a:t>
            </a:r>
            <a:endParaRPr/>
          </a:p>
          <a:p>
            <a:pPr indent="0" lvl="0" marL="0" rtl="0" algn="l">
              <a:lnSpc>
                <a:spcPct val="80000"/>
              </a:lnSpc>
              <a:spcBef>
                <a:spcPts val="117"/>
              </a:spcBef>
              <a:spcAft>
                <a:spcPts val="0"/>
              </a:spcAft>
              <a:buNone/>
            </a:pPr>
            <a:r>
              <a:rPr lang="en-US" sz="390"/>
              <a:t>file. The index provides a lookup capability to reach quickly the vicinity of a desired</a:t>
            </a:r>
            <a:endParaRPr/>
          </a:p>
          <a:p>
            <a:pPr indent="0" lvl="0" marL="0" rtl="0" algn="l">
              <a:lnSpc>
                <a:spcPct val="80000"/>
              </a:lnSpc>
              <a:spcBef>
                <a:spcPts val="117"/>
              </a:spcBef>
              <a:spcAft>
                <a:spcPts val="0"/>
              </a:spcAft>
              <a:buNone/>
            </a:pPr>
            <a:r>
              <a:rPr lang="en-US" sz="390"/>
              <a:t>record. The overflow file is similar to the log file used with a sequential file but is</a:t>
            </a:r>
            <a:endParaRPr/>
          </a:p>
          <a:p>
            <a:pPr indent="0" lvl="0" marL="0" rtl="0" algn="l">
              <a:lnSpc>
                <a:spcPct val="80000"/>
              </a:lnSpc>
              <a:spcBef>
                <a:spcPts val="117"/>
              </a:spcBef>
              <a:spcAft>
                <a:spcPts val="0"/>
              </a:spcAft>
              <a:buNone/>
            </a:pPr>
            <a:r>
              <a:rPr lang="en-US" sz="390"/>
              <a:t>integrated so that a record in the overflow file is located by following a pointer from</a:t>
            </a:r>
            <a:endParaRPr/>
          </a:p>
          <a:p>
            <a:pPr indent="0" lvl="0" marL="0" rtl="0" algn="l">
              <a:lnSpc>
                <a:spcPct val="80000"/>
              </a:lnSpc>
              <a:spcBef>
                <a:spcPts val="117"/>
              </a:spcBef>
              <a:spcAft>
                <a:spcPts val="0"/>
              </a:spcAft>
              <a:buNone/>
            </a:pPr>
            <a:r>
              <a:rPr lang="en-US" sz="390"/>
              <a:t>its predecessor record.</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In the simplest indexed sequential structure, a single level of indexing is</a:t>
            </a:r>
            <a:endParaRPr/>
          </a:p>
          <a:p>
            <a:pPr indent="0" lvl="0" marL="0" rtl="0" algn="l">
              <a:lnSpc>
                <a:spcPct val="80000"/>
              </a:lnSpc>
              <a:spcBef>
                <a:spcPts val="117"/>
              </a:spcBef>
              <a:spcAft>
                <a:spcPts val="0"/>
              </a:spcAft>
              <a:buNone/>
            </a:pPr>
            <a:r>
              <a:rPr lang="en-US" sz="390"/>
              <a:t>used. The index in this case is a simple sequential file. Each record in the index file</a:t>
            </a:r>
            <a:endParaRPr/>
          </a:p>
          <a:p>
            <a:pPr indent="0" lvl="0" marL="0" rtl="0" algn="l">
              <a:lnSpc>
                <a:spcPct val="80000"/>
              </a:lnSpc>
              <a:spcBef>
                <a:spcPts val="117"/>
              </a:spcBef>
              <a:spcAft>
                <a:spcPts val="0"/>
              </a:spcAft>
              <a:buNone/>
            </a:pPr>
            <a:r>
              <a:rPr lang="en-US" sz="390"/>
              <a:t>consists of two fields: a key field, which is the same as the key field in the main file,</a:t>
            </a:r>
            <a:endParaRPr/>
          </a:p>
          <a:p>
            <a:pPr indent="0" lvl="0" marL="0" rtl="0" algn="l">
              <a:lnSpc>
                <a:spcPct val="80000"/>
              </a:lnSpc>
              <a:spcBef>
                <a:spcPts val="117"/>
              </a:spcBef>
              <a:spcAft>
                <a:spcPts val="0"/>
              </a:spcAft>
              <a:buNone/>
            </a:pPr>
            <a:r>
              <a:rPr lang="en-US" sz="390"/>
              <a:t>and a pointer into the main file. To find a specific field, the index is searched to find</a:t>
            </a:r>
            <a:endParaRPr/>
          </a:p>
          <a:p>
            <a:pPr indent="0" lvl="0" marL="0" rtl="0" algn="l">
              <a:lnSpc>
                <a:spcPct val="80000"/>
              </a:lnSpc>
              <a:spcBef>
                <a:spcPts val="117"/>
              </a:spcBef>
              <a:spcAft>
                <a:spcPts val="0"/>
              </a:spcAft>
              <a:buNone/>
            </a:pPr>
            <a:r>
              <a:rPr lang="en-US" sz="390"/>
              <a:t>the highest key value that is equal to or precedes the desired key value. The search</a:t>
            </a:r>
            <a:endParaRPr/>
          </a:p>
          <a:p>
            <a:pPr indent="0" lvl="0" marL="0" rtl="0" algn="l">
              <a:lnSpc>
                <a:spcPct val="80000"/>
              </a:lnSpc>
              <a:spcBef>
                <a:spcPts val="117"/>
              </a:spcBef>
              <a:spcAft>
                <a:spcPts val="0"/>
              </a:spcAft>
              <a:buNone/>
            </a:pPr>
            <a:r>
              <a:rPr lang="en-US" sz="390"/>
              <a:t>continues in the main file at the location indicated by the pointer.</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see the effectiveness of this approach, consider a sequential file with</a:t>
            </a:r>
            <a:endParaRPr/>
          </a:p>
          <a:p>
            <a:pPr indent="0" lvl="0" marL="0" rtl="0" algn="l">
              <a:lnSpc>
                <a:spcPct val="80000"/>
              </a:lnSpc>
              <a:spcBef>
                <a:spcPts val="117"/>
              </a:spcBef>
              <a:spcAft>
                <a:spcPts val="0"/>
              </a:spcAft>
              <a:buNone/>
            </a:pPr>
            <a:r>
              <a:rPr lang="en-US" sz="390"/>
              <a:t>1 million records. To search for a particular key value will require on average one-half</a:t>
            </a:r>
            <a:endParaRPr/>
          </a:p>
          <a:p>
            <a:pPr indent="0" lvl="0" marL="0" rtl="0" algn="l">
              <a:lnSpc>
                <a:spcPct val="80000"/>
              </a:lnSpc>
              <a:spcBef>
                <a:spcPts val="117"/>
              </a:spcBef>
              <a:spcAft>
                <a:spcPts val="0"/>
              </a:spcAft>
              <a:buNone/>
            </a:pPr>
            <a:r>
              <a:rPr lang="en-US" sz="390"/>
              <a:t>million record accesses. Now suppose that an index containing 1,000 entries</a:t>
            </a:r>
            <a:endParaRPr/>
          </a:p>
          <a:p>
            <a:pPr indent="0" lvl="0" marL="0" rtl="0" algn="l">
              <a:lnSpc>
                <a:spcPct val="80000"/>
              </a:lnSpc>
              <a:spcBef>
                <a:spcPts val="117"/>
              </a:spcBef>
              <a:spcAft>
                <a:spcPts val="0"/>
              </a:spcAft>
              <a:buNone/>
            </a:pPr>
            <a:r>
              <a:rPr lang="en-US" sz="390"/>
              <a:t>is constructed, with the keys in the index more or less evenly distributed over</a:t>
            </a:r>
            <a:endParaRPr/>
          </a:p>
          <a:p>
            <a:pPr indent="0" lvl="0" marL="0" rtl="0" algn="l">
              <a:lnSpc>
                <a:spcPct val="80000"/>
              </a:lnSpc>
              <a:spcBef>
                <a:spcPts val="117"/>
              </a:spcBef>
              <a:spcAft>
                <a:spcPts val="0"/>
              </a:spcAft>
              <a:buNone/>
            </a:pPr>
            <a:r>
              <a:rPr lang="en-US" sz="390"/>
              <a:t>the main file. Now it will take on average 500 accesses to the index file followed</a:t>
            </a:r>
            <a:endParaRPr/>
          </a:p>
          <a:p>
            <a:pPr indent="0" lvl="0" marL="0" rtl="0" algn="l">
              <a:lnSpc>
                <a:spcPct val="80000"/>
              </a:lnSpc>
              <a:spcBef>
                <a:spcPts val="117"/>
              </a:spcBef>
              <a:spcAft>
                <a:spcPts val="0"/>
              </a:spcAft>
              <a:buNone/>
            </a:pPr>
            <a:r>
              <a:rPr lang="en-US" sz="390"/>
              <a:t>by 500 accesses to the main file to find the record. The average search length is</a:t>
            </a:r>
            <a:endParaRPr/>
          </a:p>
          <a:p>
            <a:pPr indent="0" lvl="0" marL="0" rtl="0" algn="l">
              <a:lnSpc>
                <a:spcPct val="80000"/>
              </a:lnSpc>
              <a:spcBef>
                <a:spcPts val="117"/>
              </a:spcBef>
              <a:spcAft>
                <a:spcPts val="0"/>
              </a:spcAft>
              <a:buNone/>
            </a:pPr>
            <a:r>
              <a:rPr lang="en-US" sz="390"/>
              <a:t>reduced from 500,000 to 1,000.</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Additions to the file are handled in the following manner: Each record in</a:t>
            </a:r>
            <a:endParaRPr/>
          </a:p>
          <a:p>
            <a:pPr indent="0" lvl="0" marL="0" rtl="0" algn="l">
              <a:lnSpc>
                <a:spcPct val="80000"/>
              </a:lnSpc>
              <a:spcBef>
                <a:spcPts val="117"/>
              </a:spcBef>
              <a:spcAft>
                <a:spcPts val="0"/>
              </a:spcAft>
              <a:buNone/>
            </a:pPr>
            <a:r>
              <a:rPr lang="en-US" sz="390"/>
              <a:t>the main file contains an additional field not visible to the application, which is a</a:t>
            </a:r>
            <a:endParaRPr/>
          </a:p>
          <a:p>
            <a:pPr indent="0" lvl="0" marL="0" rtl="0" algn="l">
              <a:lnSpc>
                <a:spcPct val="80000"/>
              </a:lnSpc>
              <a:spcBef>
                <a:spcPts val="117"/>
              </a:spcBef>
              <a:spcAft>
                <a:spcPts val="0"/>
              </a:spcAft>
              <a:buNone/>
            </a:pPr>
            <a:r>
              <a:rPr lang="en-US" sz="390"/>
              <a:t>pointer to the overflow file. When a new record is to be inserted into the file, it is</a:t>
            </a:r>
            <a:endParaRPr/>
          </a:p>
          <a:p>
            <a:pPr indent="0" lvl="0" marL="0" rtl="0" algn="l">
              <a:lnSpc>
                <a:spcPct val="80000"/>
              </a:lnSpc>
              <a:spcBef>
                <a:spcPts val="117"/>
              </a:spcBef>
              <a:spcAft>
                <a:spcPts val="0"/>
              </a:spcAft>
              <a:buNone/>
            </a:pPr>
            <a:r>
              <a:rPr lang="en-US" sz="390"/>
              <a:t>added to the overflow file. The record in the main file that immediately precedes</a:t>
            </a:r>
            <a:endParaRPr/>
          </a:p>
          <a:p>
            <a:pPr indent="0" lvl="0" marL="0" rtl="0" algn="l">
              <a:lnSpc>
                <a:spcPct val="80000"/>
              </a:lnSpc>
              <a:spcBef>
                <a:spcPts val="117"/>
              </a:spcBef>
              <a:spcAft>
                <a:spcPts val="0"/>
              </a:spcAft>
              <a:buNone/>
            </a:pPr>
            <a:r>
              <a:rPr lang="en-US" sz="390"/>
              <a:t>the new record in logical sequence is updated to contain a pointer to the new record</a:t>
            </a:r>
            <a:endParaRPr/>
          </a:p>
          <a:p>
            <a:pPr indent="0" lvl="0" marL="0" rtl="0" algn="l">
              <a:lnSpc>
                <a:spcPct val="80000"/>
              </a:lnSpc>
              <a:spcBef>
                <a:spcPts val="117"/>
              </a:spcBef>
              <a:spcAft>
                <a:spcPts val="0"/>
              </a:spcAft>
              <a:buNone/>
            </a:pPr>
            <a:r>
              <a:rPr lang="en-US" sz="390"/>
              <a:t>in the overflow file. If the immediately preceding record is itself in the overflow file,</a:t>
            </a:r>
            <a:endParaRPr/>
          </a:p>
          <a:p>
            <a:pPr indent="0" lvl="0" marL="0" rtl="0" algn="l">
              <a:lnSpc>
                <a:spcPct val="80000"/>
              </a:lnSpc>
              <a:spcBef>
                <a:spcPts val="117"/>
              </a:spcBef>
              <a:spcAft>
                <a:spcPts val="0"/>
              </a:spcAft>
              <a:buNone/>
            </a:pPr>
            <a:r>
              <a:rPr lang="en-US" sz="390"/>
              <a:t>then the pointer in that record is updated. As with the sequential file, the indexed</a:t>
            </a:r>
            <a:endParaRPr/>
          </a:p>
          <a:p>
            <a:pPr indent="0" lvl="0" marL="0" rtl="0" algn="l">
              <a:lnSpc>
                <a:spcPct val="80000"/>
              </a:lnSpc>
              <a:spcBef>
                <a:spcPts val="117"/>
              </a:spcBef>
              <a:spcAft>
                <a:spcPts val="0"/>
              </a:spcAft>
              <a:buNone/>
            </a:pPr>
            <a:r>
              <a:rPr lang="en-US" sz="390"/>
              <a:t>sequential file is occasionally merged with the overflow file in batch mode.</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The indexed sequential file greatly reduces the time required to access a single</a:t>
            </a:r>
            <a:endParaRPr/>
          </a:p>
          <a:p>
            <a:pPr indent="0" lvl="0" marL="0" rtl="0" algn="l">
              <a:lnSpc>
                <a:spcPct val="80000"/>
              </a:lnSpc>
              <a:spcBef>
                <a:spcPts val="117"/>
              </a:spcBef>
              <a:spcAft>
                <a:spcPts val="0"/>
              </a:spcAft>
              <a:buNone/>
            </a:pPr>
            <a:r>
              <a:rPr lang="en-US" sz="390"/>
              <a:t>record, without sacrificing the sequential nature of the file. To process the entire file</a:t>
            </a:r>
            <a:endParaRPr/>
          </a:p>
          <a:p>
            <a:pPr indent="0" lvl="0" marL="0" rtl="0" algn="l">
              <a:lnSpc>
                <a:spcPct val="80000"/>
              </a:lnSpc>
              <a:spcBef>
                <a:spcPts val="117"/>
              </a:spcBef>
              <a:spcAft>
                <a:spcPts val="0"/>
              </a:spcAft>
              <a:buNone/>
            </a:pPr>
            <a:r>
              <a:rPr lang="en-US" sz="390"/>
              <a:t>sequentially, the records of the main file are processed in sequence until a pointer</a:t>
            </a:r>
            <a:endParaRPr/>
          </a:p>
          <a:p>
            <a:pPr indent="0" lvl="0" marL="0" rtl="0" algn="l">
              <a:lnSpc>
                <a:spcPct val="80000"/>
              </a:lnSpc>
              <a:spcBef>
                <a:spcPts val="117"/>
              </a:spcBef>
              <a:spcAft>
                <a:spcPts val="0"/>
              </a:spcAft>
              <a:buNone/>
            </a:pPr>
            <a:r>
              <a:rPr lang="en-US" sz="390"/>
              <a:t>to the overflow file is found, then accessing continues in the overflow file until a null</a:t>
            </a:r>
            <a:endParaRPr/>
          </a:p>
          <a:p>
            <a:pPr indent="0" lvl="0" marL="0" rtl="0" algn="l">
              <a:lnSpc>
                <a:spcPct val="80000"/>
              </a:lnSpc>
              <a:spcBef>
                <a:spcPts val="117"/>
              </a:spcBef>
              <a:spcAft>
                <a:spcPts val="0"/>
              </a:spcAft>
              <a:buNone/>
            </a:pPr>
            <a:r>
              <a:rPr lang="en-US" sz="390"/>
              <a:t>pointer is encountered, at which time accessing of the main file is resumed where it</a:t>
            </a:r>
            <a:endParaRPr/>
          </a:p>
          <a:p>
            <a:pPr indent="0" lvl="0" marL="0" rtl="0" algn="l">
              <a:lnSpc>
                <a:spcPct val="80000"/>
              </a:lnSpc>
              <a:spcBef>
                <a:spcPts val="117"/>
              </a:spcBef>
              <a:spcAft>
                <a:spcPts val="0"/>
              </a:spcAft>
              <a:buNone/>
            </a:pPr>
            <a:r>
              <a:rPr lang="en-US" sz="390"/>
              <a:t>left off.</a:t>
            </a:r>
            <a:endParaRPr/>
          </a:p>
          <a:p>
            <a:pPr indent="0" lvl="0" marL="0" rtl="0" algn="l">
              <a:lnSpc>
                <a:spcPct val="80000"/>
              </a:lnSpc>
              <a:spcBef>
                <a:spcPts val="117"/>
              </a:spcBef>
              <a:spcAft>
                <a:spcPts val="0"/>
              </a:spcAft>
              <a:buNone/>
            </a:pPr>
            <a:r>
              <a:t/>
            </a:r>
            <a:endParaRPr sz="390"/>
          </a:p>
          <a:p>
            <a:pPr indent="0" lvl="0" marL="0" rtl="0" algn="l">
              <a:lnSpc>
                <a:spcPct val="80000"/>
              </a:lnSpc>
              <a:spcBef>
                <a:spcPts val="117"/>
              </a:spcBef>
              <a:spcAft>
                <a:spcPts val="0"/>
              </a:spcAft>
              <a:buNone/>
            </a:pPr>
            <a:r>
              <a:rPr lang="en-US" sz="390"/>
              <a:t>To provide even greater efficiency in access, multiple levels of indexing can be</a:t>
            </a:r>
            <a:endParaRPr/>
          </a:p>
          <a:p>
            <a:pPr indent="0" lvl="0" marL="0" rtl="0" algn="l">
              <a:lnSpc>
                <a:spcPct val="80000"/>
              </a:lnSpc>
              <a:spcBef>
                <a:spcPts val="117"/>
              </a:spcBef>
              <a:spcAft>
                <a:spcPts val="0"/>
              </a:spcAft>
              <a:buNone/>
            </a:pPr>
            <a:r>
              <a:rPr lang="en-US" sz="390"/>
              <a:t>used. Thus the lowest level of index file is treated as a sequential file and a higher level</a:t>
            </a:r>
            <a:endParaRPr/>
          </a:p>
          <a:p>
            <a:pPr indent="0" lvl="0" marL="0" rtl="0" algn="l">
              <a:lnSpc>
                <a:spcPct val="80000"/>
              </a:lnSpc>
              <a:spcBef>
                <a:spcPts val="117"/>
              </a:spcBef>
              <a:spcAft>
                <a:spcPts val="0"/>
              </a:spcAft>
              <a:buNone/>
            </a:pPr>
            <a:r>
              <a:rPr lang="en-US" sz="390"/>
              <a:t>index file is created for that file. Consider again a file with 1 million records.</a:t>
            </a:r>
            <a:endParaRPr/>
          </a:p>
          <a:p>
            <a:pPr indent="0" lvl="0" marL="0" rtl="0" algn="l">
              <a:lnSpc>
                <a:spcPct val="80000"/>
              </a:lnSpc>
              <a:spcBef>
                <a:spcPts val="117"/>
              </a:spcBef>
              <a:spcAft>
                <a:spcPts val="0"/>
              </a:spcAft>
              <a:buNone/>
            </a:pPr>
            <a:r>
              <a:rPr lang="en-US" sz="390"/>
              <a:t>A lower-level index with 10,000 entries is constructed. A higher-level index into</a:t>
            </a:r>
            <a:endParaRPr/>
          </a:p>
          <a:p>
            <a:pPr indent="0" lvl="0" marL="0" rtl="0" algn="l">
              <a:lnSpc>
                <a:spcPct val="80000"/>
              </a:lnSpc>
              <a:spcBef>
                <a:spcPts val="117"/>
              </a:spcBef>
              <a:spcAft>
                <a:spcPts val="0"/>
              </a:spcAft>
              <a:buNone/>
            </a:pPr>
            <a:r>
              <a:rPr lang="en-US" sz="390"/>
              <a:t>the lower-level index of 100 entries can then be constructed. The search begins at</a:t>
            </a:r>
            <a:endParaRPr/>
          </a:p>
          <a:p>
            <a:pPr indent="0" lvl="0" marL="0" rtl="0" algn="l">
              <a:lnSpc>
                <a:spcPct val="80000"/>
              </a:lnSpc>
              <a:spcBef>
                <a:spcPts val="117"/>
              </a:spcBef>
              <a:spcAft>
                <a:spcPts val="0"/>
              </a:spcAft>
              <a:buNone/>
            </a:pPr>
            <a:r>
              <a:rPr lang="en-US" sz="390"/>
              <a:t>the higher-level index (average length = 50 accesses) to find an entry point into the</a:t>
            </a:r>
            <a:endParaRPr/>
          </a:p>
          <a:p>
            <a:pPr indent="0" lvl="0" marL="0" rtl="0" algn="l">
              <a:lnSpc>
                <a:spcPct val="80000"/>
              </a:lnSpc>
              <a:spcBef>
                <a:spcPts val="117"/>
              </a:spcBef>
              <a:spcAft>
                <a:spcPts val="0"/>
              </a:spcAft>
              <a:buNone/>
            </a:pPr>
            <a:r>
              <a:rPr lang="en-US" sz="390"/>
              <a:t>lower-level index. This index is then searched (average length = 50) to find an entry</a:t>
            </a:r>
            <a:endParaRPr/>
          </a:p>
          <a:p>
            <a:pPr indent="0" lvl="0" marL="0" rtl="0" algn="l">
              <a:lnSpc>
                <a:spcPct val="80000"/>
              </a:lnSpc>
              <a:spcBef>
                <a:spcPts val="117"/>
              </a:spcBef>
              <a:spcAft>
                <a:spcPts val="0"/>
              </a:spcAft>
              <a:buNone/>
            </a:pPr>
            <a:r>
              <a:rPr lang="en-US" sz="390"/>
              <a:t>point into the main file, which is then searched (average length = 50). Thus the average</a:t>
            </a:r>
            <a:endParaRPr/>
          </a:p>
          <a:p>
            <a:pPr indent="0" lvl="0" marL="0" rtl="0" algn="l">
              <a:lnSpc>
                <a:spcPct val="80000"/>
              </a:lnSpc>
              <a:spcBef>
                <a:spcPts val="117"/>
              </a:spcBef>
              <a:spcAft>
                <a:spcPts val="0"/>
              </a:spcAft>
              <a:buNone/>
            </a:pPr>
            <a:r>
              <a:rPr lang="en-US" sz="390"/>
              <a:t>length of search has been reduced from 500,000 to 1,000 to 150.</a:t>
            </a:r>
            <a:endParaRPr sz="390"/>
          </a:p>
        </p:txBody>
      </p:sp>
      <p:sp>
        <p:nvSpPr>
          <p:cNvPr id="559" name="Google Shape;559;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66" name="Google Shape;56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110"/>
              <a:t>The indexed sequential file retains one limitation of the sequential file: Effective</a:t>
            </a:r>
            <a:endParaRPr/>
          </a:p>
          <a:p>
            <a:pPr indent="0" lvl="0" marL="0" rtl="0" algn="l">
              <a:lnSpc>
                <a:spcPct val="80000"/>
              </a:lnSpc>
              <a:spcBef>
                <a:spcPts val="333"/>
              </a:spcBef>
              <a:spcAft>
                <a:spcPts val="0"/>
              </a:spcAft>
              <a:buNone/>
            </a:pPr>
            <a:r>
              <a:rPr lang="en-US" sz="1110"/>
              <a:t>processing is limited to that which is based on a single field of the file. For example,</a:t>
            </a:r>
            <a:endParaRPr/>
          </a:p>
          <a:p>
            <a:pPr indent="0" lvl="0" marL="0" rtl="0" algn="l">
              <a:lnSpc>
                <a:spcPct val="80000"/>
              </a:lnSpc>
              <a:spcBef>
                <a:spcPts val="333"/>
              </a:spcBef>
              <a:spcAft>
                <a:spcPts val="0"/>
              </a:spcAft>
              <a:buNone/>
            </a:pPr>
            <a:r>
              <a:rPr lang="en-US" sz="1110"/>
              <a:t>when it is necessary to search for a record on the basis of some other attribute than</a:t>
            </a:r>
            <a:endParaRPr/>
          </a:p>
          <a:p>
            <a:pPr indent="0" lvl="0" marL="0" rtl="0" algn="l">
              <a:lnSpc>
                <a:spcPct val="80000"/>
              </a:lnSpc>
              <a:spcBef>
                <a:spcPts val="333"/>
              </a:spcBef>
              <a:spcAft>
                <a:spcPts val="0"/>
              </a:spcAft>
              <a:buNone/>
            </a:pPr>
            <a:r>
              <a:rPr lang="en-US" sz="1110"/>
              <a:t>the key field, both forms of sequential file are inadequate. In some applications, the</a:t>
            </a:r>
            <a:endParaRPr/>
          </a:p>
          <a:p>
            <a:pPr indent="0" lvl="0" marL="0" rtl="0" algn="l">
              <a:lnSpc>
                <a:spcPct val="80000"/>
              </a:lnSpc>
              <a:spcBef>
                <a:spcPts val="333"/>
              </a:spcBef>
              <a:spcAft>
                <a:spcPts val="0"/>
              </a:spcAft>
              <a:buNone/>
            </a:pPr>
            <a:r>
              <a:rPr lang="en-US" sz="1110"/>
              <a:t>flexibility of efficiently searching by various attributes is desirable.</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To achieve this flexibility, a structure is needed that employs multiple indexes,</a:t>
            </a:r>
            <a:endParaRPr/>
          </a:p>
          <a:p>
            <a:pPr indent="0" lvl="0" marL="0" rtl="0" algn="l">
              <a:lnSpc>
                <a:spcPct val="80000"/>
              </a:lnSpc>
              <a:spcBef>
                <a:spcPts val="333"/>
              </a:spcBef>
              <a:spcAft>
                <a:spcPts val="0"/>
              </a:spcAft>
              <a:buNone/>
            </a:pPr>
            <a:r>
              <a:rPr lang="en-US" sz="1110"/>
              <a:t>one for each type of field that may be the subject of a search. In the general indexed</a:t>
            </a:r>
            <a:endParaRPr/>
          </a:p>
          <a:p>
            <a:pPr indent="0" lvl="0" marL="0" rtl="0" algn="l">
              <a:lnSpc>
                <a:spcPct val="80000"/>
              </a:lnSpc>
              <a:spcBef>
                <a:spcPts val="333"/>
              </a:spcBef>
              <a:spcAft>
                <a:spcPts val="0"/>
              </a:spcAft>
              <a:buNone/>
            </a:pPr>
            <a:r>
              <a:rPr lang="en-US" sz="1110"/>
              <a:t>file, the concept of sequentially and a single key are abandoned. Records are</a:t>
            </a:r>
            <a:endParaRPr/>
          </a:p>
          <a:p>
            <a:pPr indent="0" lvl="0" marL="0" rtl="0" algn="l">
              <a:lnSpc>
                <a:spcPct val="80000"/>
              </a:lnSpc>
              <a:spcBef>
                <a:spcPts val="333"/>
              </a:spcBef>
              <a:spcAft>
                <a:spcPts val="0"/>
              </a:spcAft>
              <a:buNone/>
            </a:pPr>
            <a:r>
              <a:rPr lang="en-US" sz="1110"/>
              <a:t>accessed only through their indexes. The result is that there is now no restriction</a:t>
            </a:r>
            <a:endParaRPr/>
          </a:p>
          <a:p>
            <a:pPr indent="0" lvl="0" marL="0" rtl="0" algn="l">
              <a:lnSpc>
                <a:spcPct val="80000"/>
              </a:lnSpc>
              <a:spcBef>
                <a:spcPts val="333"/>
              </a:spcBef>
              <a:spcAft>
                <a:spcPts val="0"/>
              </a:spcAft>
              <a:buNone/>
            </a:pPr>
            <a:r>
              <a:rPr lang="en-US" sz="1110"/>
              <a:t>on the placement of records as long as a pointer in at least one index refers to that</a:t>
            </a:r>
            <a:endParaRPr/>
          </a:p>
          <a:p>
            <a:pPr indent="0" lvl="0" marL="0" rtl="0" algn="l">
              <a:lnSpc>
                <a:spcPct val="80000"/>
              </a:lnSpc>
              <a:spcBef>
                <a:spcPts val="333"/>
              </a:spcBef>
              <a:spcAft>
                <a:spcPts val="0"/>
              </a:spcAft>
              <a:buNone/>
            </a:pPr>
            <a:r>
              <a:rPr lang="en-US" sz="1110"/>
              <a:t>record. Furthermore, variable-length records can be employed.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Two types of indexes are used. An exhaustive index contains one entry for</a:t>
            </a:r>
            <a:endParaRPr/>
          </a:p>
          <a:p>
            <a:pPr indent="0" lvl="0" marL="0" rtl="0" algn="l">
              <a:lnSpc>
                <a:spcPct val="80000"/>
              </a:lnSpc>
              <a:spcBef>
                <a:spcPts val="333"/>
              </a:spcBef>
              <a:spcAft>
                <a:spcPts val="0"/>
              </a:spcAft>
              <a:buNone/>
            </a:pPr>
            <a:r>
              <a:rPr lang="en-US" sz="1110"/>
              <a:t>every record in the main file. The index itself is organized as a sequential file for</a:t>
            </a:r>
            <a:endParaRPr/>
          </a:p>
          <a:p>
            <a:pPr indent="0" lvl="0" marL="0" rtl="0" algn="l">
              <a:lnSpc>
                <a:spcPct val="80000"/>
              </a:lnSpc>
              <a:spcBef>
                <a:spcPts val="333"/>
              </a:spcBef>
              <a:spcAft>
                <a:spcPts val="0"/>
              </a:spcAft>
              <a:buNone/>
            </a:pPr>
            <a:r>
              <a:rPr lang="en-US" sz="1110"/>
              <a:t>ease of searching. A partial index contains entries to records where the field of</a:t>
            </a:r>
            <a:endParaRPr/>
          </a:p>
          <a:p>
            <a:pPr indent="0" lvl="0" marL="0" rtl="0" algn="l">
              <a:lnSpc>
                <a:spcPct val="80000"/>
              </a:lnSpc>
              <a:spcBef>
                <a:spcPts val="333"/>
              </a:spcBef>
              <a:spcAft>
                <a:spcPts val="0"/>
              </a:spcAft>
              <a:buNone/>
            </a:pPr>
            <a:r>
              <a:rPr lang="en-US" sz="1110"/>
              <a:t>interest exists. With variable-length records, some records will not contain all fields.</a:t>
            </a:r>
            <a:endParaRPr/>
          </a:p>
          <a:p>
            <a:pPr indent="0" lvl="0" marL="0" rtl="0" algn="l">
              <a:lnSpc>
                <a:spcPct val="80000"/>
              </a:lnSpc>
              <a:spcBef>
                <a:spcPts val="333"/>
              </a:spcBef>
              <a:spcAft>
                <a:spcPts val="0"/>
              </a:spcAft>
              <a:buNone/>
            </a:pPr>
            <a:r>
              <a:rPr lang="en-US" sz="1110"/>
              <a:t>When a new record is added to the main file, all of the index files must be updated.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Indexed files are used mostly in applications where timeliness of information</a:t>
            </a:r>
            <a:endParaRPr/>
          </a:p>
          <a:p>
            <a:pPr indent="0" lvl="0" marL="0" rtl="0" algn="l">
              <a:lnSpc>
                <a:spcPct val="80000"/>
              </a:lnSpc>
              <a:spcBef>
                <a:spcPts val="333"/>
              </a:spcBef>
              <a:spcAft>
                <a:spcPts val="0"/>
              </a:spcAft>
              <a:buNone/>
            </a:pPr>
            <a:r>
              <a:rPr lang="en-US" sz="1110"/>
              <a:t>is critical and where data are rarely processed exhaustively. Examples are airline</a:t>
            </a:r>
            <a:endParaRPr/>
          </a:p>
          <a:p>
            <a:pPr indent="0" lvl="0" marL="0" rtl="0" algn="l">
              <a:lnSpc>
                <a:spcPct val="80000"/>
              </a:lnSpc>
              <a:spcBef>
                <a:spcPts val="333"/>
              </a:spcBef>
              <a:spcAft>
                <a:spcPts val="0"/>
              </a:spcAft>
              <a:buNone/>
            </a:pPr>
            <a:r>
              <a:rPr lang="en-US" sz="1110"/>
              <a:t>reservation systems and inventory control systems.</a:t>
            </a:r>
            <a:endParaRPr sz="1110"/>
          </a:p>
        </p:txBody>
      </p:sp>
      <p:sp>
        <p:nvSpPr>
          <p:cNvPr id="567" name="Google Shape;567;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4" name="Google Shape;574;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110"/>
              <a:t>The indexed sequential file retains one limitation of the sequential file: Effective</a:t>
            </a:r>
            <a:endParaRPr/>
          </a:p>
          <a:p>
            <a:pPr indent="0" lvl="0" marL="0" rtl="0" algn="l">
              <a:lnSpc>
                <a:spcPct val="80000"/>
              </a:lnSpc>
              <a:spcBef>
                <a:spcPts val="333"/>
              </a:spcBef>
              <a:spcAft>
                <a:spcPts val="0"/>
              </a:spcAft>
              <a:buNone/>
            </a:pPr>
            <a:r>
              <a:rPr lang="en-US" sz="1110"/>
              <a:t>processing is limited to that which is based on a single field of the file. For example,</a:t>
            </a:r>
            <a:endParaRPr/>
          </a:p>
          <a:p>
            <a:pPr indent="0" lvl="0" marL="0" rtl="0" algn="l">
              <a:lnSpc>
                <a:spcPct val="80000"/>
              </a:lnSpc>
              <a:spcBef>
                <a:spcPts val="333"/>
              </a:spcBef>
              <a:spcAft>
                <a:spcPts val="0"/>
              </a:spcAft>
              <a:buNone/>
            </a:pPr>
            <a:r>
              <a:rPr lang="en-US" sz="1110"/>
              <a:t>when it is necessary to search for a record on the basis of some other attribute than</a:t>
            </a:r>
            <a:endParaRPr/>
          </a:p>
          <a:p>
            <a:pPr indent="0" lvl="0" marL="0" rtl="0" algn="l">
              <a:lnSpc>
                <a:spcPct val="80000"/>
              </a:lnSpc>
              <a:spcBef>
                <a:spcPts val="333"/>
              </a:spcBef>
              <a:spcAft>
                <a:spcPts val="0"/>
              </a:spcAft>
              <a:buNone/>
            </a:pPr>
            <a:r>
              <a:rPr lang="en-US" sz="1110"/>
              <a:t>the key field, both forms of sequential file are inadequate. In some applications, the</a:t>
            </a:r>
            <a:endParaRPr/>
          </a:p>
          <a:p>
            <a:pPr indent="0" lvl="0" marL="0" rtl="0" algn="l">
              <a:lnSpc>
                <a:spcPct val="80000"/>
              </a:lnSpc>
              <a:spcBef>
                <a:spcPts val="333"/>
              </a:spcBef>
              <a:spcAft>
                <a:spcPts val="0"/>
              </a:spcAft>
              <a:buNone/>
            </a:pPr>
            <a:r>
              <a:rPr lang="en-US" sz="1110"/>
              <a:t>flexibility of efficiently searching by various attributes is desirable.</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To achieve this flexibility, a structure is needed that employs multiple indexes,</a:t>
            </a:r>
            <a:endParaRPr/>
          </a:p>
          <a:p>
            <a:pPr indent="0" lvl="0" marL="0" rtl="0" algn="l">
              <a:lnSpc>
                <a:spcPct val="80000"/>
              </a:lnSpc>
              <a:spcBef>
                <a:spcPts val="333"/>
              </a:spcBef>
              <a:spcAft>
                <a:spcPts val="0"/>
              </a:spcAft>
              <a:buNone/>
            </a:pPr>
            <a:r>
              <a:rPr lang="en-US" sz="1110"/>
              <a:t>one for each type of field that may be the subject of a search. In the general indexed</a:t>
            </a:r>
            <a:endParaRPr/>
          </a:p>
          <a:p>
            <a:pPr indent="0" lvl="0" marL="0" rtl="0" algn="l">
              <a:lnSpc>
                <a:spcPct val="80000"/>
              </a:lnSpc>
              <a:spcBef>
                <a:spcPts val="333"/>
              </a:spcBef>
              <a:spcAft>
                <a:spcPts val="0"/>
              </a:spcAft>
              <a:buNone/>
            </a:pPr>
            <a:r>
              <a:rPr lang="en-US" sz="1110"/>
              <a:t>file, the concept of sequentially and a single key are abandoned. Records are</a:t>
            </a:r>
            <a:endParaRPr/>
          </a:p>
          <a:p>
            <a:pPr indent="0" lvl="0" marL="0" rtl="0" algn="l">
              <a:lnSpc>
                <a:spcPct val="80000"/>
              </a:lnSpc>
              <a:spcBef>
                <a:spcPts val="333"/>
              </a:spcBef>
              <a:spcAft>
                <a:spcPts val="0"/>
              </a:spcAft>
              <a:buNone/>
            </a:pPr>
            <a:r>
              <a:rPr lang="en-US" sz="1110"/>
              <a:t>accessed only through their indexes. The result is that there is now no restriction</a:t>
            </a:r>
            <a:endParaRPr/>
          </a:p>
          <a:p>
            <a:pPr indent="0" lvl="0" marL="0" rtl="0" algn="l">
              <a:lnSpc>
                <a:spcPct val="80000"/>
              </a:lnSpc>
              <a:spcBef>
                <a:spcPts val="333"/>
              </a:spcBef>
              <a:spcAft>
                <a:spcPts val="0"/>
              </a:spcAft>
              <a:buNone/>
            </a:pPr>
            <a:r>
              <a:rPr lang="en-US" sz="1110"/>
              <a:t>on the placement of records as long as a pointer in at least one index refers to that</a:t>
            </a:r>
            <a:endParaRPr/>
          </a:p>
          <a:p>
            <a:pPr indent="0" lvl="0" marL="0" rtl="0" algn="l">
              <a:lnSpc>
                <a:spcPct val="80000"/>
              </a:lnSpc>
              <a:spcBef>
                <a:spcPts val="333"/>
              </a:spcBef>
              <a:spcAft>
                <a:spcPts val="0"/>
              </a:spcAft>
              <a:buNone/>
            </a:pPr>
            <a:r>
              <a:rPr lang="en-US" sz="1110"/>
              <a:t>record. Furthermore, variable-length records can be employed.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Two types of indexes are used. An exhaustive index contains one entry for</a:t>
            </a:r>
            <a:endParaRPr/>
          </a:p>
          <a:p>
            <a:pPr indent="0" lvl="0" marL="0" rtl="0" algn="l">
              <a:lnSpc>
                <a:spcPct val="80000"/>
              </a:lnSpc>
              <a:spcBef>
                <a:spcPts val="333"/>
              </a:spcBef>
              <a:spcAft>
                <a:spcPts val="0"/>
              </a:spcAft>
              <a:buNone/>
            </a:pPr>
            <a:r>
              <a:rPr lang="en-US" sz="1110"/>
              <a:t>every record in the main file. The index itself is organized as a sequential file for</a:t>
            </a:r>
            <a:endParaRPr/>
          </a:p>
          <a:p>
            <a:pPr indent="0" lvl="0" marL="0" rtl="0" algn="l">
              <a:lnSpc>
                <a:spcPct val="80000"/>
              </a:lnSpc>
              <a:spcBef>
                <a:spcPts val="333"/>
              </a:spcBef>
              <a:spcAft>
                <a:spcPts val="0"/>
              </a:spcAft>
              <a:buNone/>
            </a:pPr>
            <a:r>
              <a:rPr lang="en-US" sz="1110"/>
              <a:t>ease of searching. A partial index contains entries to records where the field of</a:t>
            </a:r>
            <a:endParaRPr/>
          </a:p>
          <a:p>
            <a:pPr indent="0" lvl="0" marL="0" rtl="0" algn="l">
              <a:lnSpc>
                <a:spcPct val="80000"/>
              </a:lnSpc>
              <a:spcBef>
                <a:spcPts val="333"/>
              </a:spcBef>
              <a:spcAft>
                <a:spcPts val="0"/>
              </a:spcAft>
              <a:buNone/>
            </a:pPr>
            <a:r>
              <a:rPr lang="en-US" sz="1110"/>
              <a:t>interest exists. With variable-length records, some records will not contain all fields.</a:t>
            </a:r>
            <a:endParaRPr/>
          </a:p>
          <a:p>
            <a:pPr indent="0" lvl="0" marL="0" rtl="0" algn="l">
              <a:lnSpc>
                <a:spcPct val="80000"/>
              </a:lnSpc>
              <a:spcBef>
                <a:spcPts val="333"/>
              </a:spcBef>
              <a:spcAft>
                <a:spcPts val="0"/>
              </a:spcAft>
              <a:buNone/>
            </a:pPr>
            <a:r>
              <a:rPr lang="en-US" sz="1110"/>
              <a:t>When a new record is added to the main file, all of the index files must be updated.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Indexed files are used mostly in applications where timeliness of information</a:t>
            </a:r>
            <a:endParaRPr/>
          </a:p>
          <a:p>
            <a:pPr indent="0" lvl="0" marL="0" rtl="0" algn="l">
              <a:lnSpc>
                <a:spcPct val="80000"/>
              </a:lnSpc>
              <a:spcBef>
                <a:spcPts val="333"/>
              </a:spcBef>
              <a:spcAft>
                <a:spcPts val="0"/>
              </a:spcAft>
              <a:buNone/>
            </a:pPr>
            <a:r>
              <a:rPr lang="en-US" sz="1110"/>
              <a:t>is critical and where data are rarely processed exhaustively. Examples are airline</a:t>
            </a:r>
            <a:endParaRPr/>
          </a:p>
          <a:p>
            <a:pPr indent="0" lvl="0" marL="0" rtl="0" algn="l">
              <a:lnSpc>
                <a:spcPct val="80000"/>
              </a:lnSpc>
              <a:spcBef>
                <a:spcPts val="333"/>
              </a:spcBef>
              <a:spcAft>
                <a:spcPts val="0"/>
              </a:spcAft>
              <a:buNone/>
            </a:pPr>
            <a:r>
              <a:rPr lang="en-US" sz="1110"/>
              <a:t>reservation systems and inventory control systems.</a:t>
            </a:r>
            <a:endParaRPr sz="1110"/>
          </a:p>
        </p:txBody>
      </p:sp>
      <p:sp>
        <p:nvSpPr>
          <p:cNvPr id="575" name="Google Shape;575;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2" name="Google Shape;582;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110"/>
              <a:t>The indexed sequential file retains one limitation of the sequential file: Effective</a:t>
            </a:r>
            <a:endParaRPr/>
          </a:p>
          <a:p>
            <a:pPr indent="0" lvl="0" marL="0" rtl="0" algn="l">
              <a:lnSpc>
                <a:spcPct val="80000"/>
              </a:lnSpc>
              <a:spcBef>
                <a:spcPts val="333"/>
              </a:spcBef>
              <a:spcAft>
                <a:spcPts val="0"/>
              </a:spcAft>
              <a:buNone/>
            </a:pPr>
            <a:r>
              <a:rPr lang="en-US" sz="1110"/>
              <a:t>processing is limited to that which is based on a single field of the file. For example,</a:t>
            </a:r>
            <a:endParaRPr/>
          </a:p>
          <a:p>
            <a:pPr indent="0" lvl="0" marL="0" rtl="0" algn="l">
              <a:lnSpc>
                <a:spcPct val="80000"/>
              </a:lnSpc>
              <a:spcBef>
                <a:spcPts val="333"/>
              </a:spcBef>
              <a:spcAft>
                <a:spcPts val="0"/>
              </a:spcAft>
              <a:buNone/>
            </a:pPr>
            <a:r>
              <a:rPr lang="en-US" sz="1110"/>
              <a:t>when it is necessary to search for a record on the basis of some other attribute than</a:t>
            </a:r>
            <a:endParaRPr/>
          </a:p>
          <a:p>
            <a:pPr indent="0" lvl="0" marL="0" rtl="0" algn="l">
              <a:lnSpc>
                <a:spcPct val="80000"/>
              </a:lnSpc>
              <a:spcBef>
                <a:spcPts val="333"/>
              </a:spcBef>
              <a:spcAft>
                <a:spcPts val="0"/>
              </a:spcAft>
              <a:buNone/>
            </a:pPr>
            <a:r>
              <a:rPr lang="en-US" sz="1110"/>
              <a:t>the key field, both forms of sequential file are inadequate. In some applications, the</a:t>
            </a:r>
            <a:endParaRPr/>
          </a:p>
          <a:p>
            <a:pPr indent="0" lvl="0" marL="0" rtl="0" algn="l">
              <a:lnSpc>
                <a:spcPct val="80000"/>
              </a:lnSpc>
              <a:spcBef>
                <a:spcPts val="333"/>
              </a:spcBef>
              <a:spcAft>
                <a:spcPts val="0"/>
              </a:spcAft>
              <a:buNone/>
            </a:pPr>
            <a:r>
              <a:rPr lang="en-US" sz="1110"/>
              <a:t>flexibility of efficiently searching by various attributes is desirable.</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To achieve this flexibility, a structure is needed that employs multiple indexes,</a:t>
            </a:r>
            <a:endParaRPr/>
          </a:p>
          <a:p>
            <a:pPr indent="0" lvl="0" marL="0" rtl="0" algn="l">
              <a:lnSpc>
                <a:spcPct val="80000"/>
              </a:lnSpc>
              <a:spcBef>
                <a:spcPts val="333"/>
              </a:spcBef>
              <a:spcAft>
                <a:spcPts val="0"/>
              </a:spcAft>
              <a:buNone/>
            </a:pPr>
            <a:r>
              <a:rPr lang="en-US" sz="1110"/>
              <a:t>one for each type of field that may be the subject of a search. In the general indexed</a:t>
            </a:r>
            <a:endParaRPr/>
          </a:p>
          <a:p>
            <a:pPr indent="0" lvl="0" marL="0" rtl="0" algn="l">
              <a:lnSpc>
                <a:spcPct val="80000"/>
              </a:lnSpc>
              <a:spcBef>
                <a:spcPts val="333"/>
              </a:spcBef>
              <a:spcAft>
                <a:spcPts val="0"/>
              </a:spcAft>
              <a:buNone/>
            </a:pPr>
            <a:r>
              <a:rPr lang="en-US" sz="1110"/>
              <a:t>file, the concept of sequentially and a single key are abandoned. Records are</a:t>
            </a:r>
            <a:endParaRPr/>
          </a:p>
          <a:p>
            <a:pPr indent="0" lvl="0" marL="0" rtl="0" algn="l">
              <a:lnSpc>
                <a:spcPct val="80000"/>
              </a:lnSpc>
              <a:spcBef>
                <a:spcPts val="333"/>
              </a:spcBef>
              <a:spcAft>
                <a:spcPts val="0"/>
              </a:spcAft>
              <a:buNone/>
            </a:pPr>
            <a:r>
              <a:rPr lang="en-US" sz="1110"/>
              <a:t>accessed only through their indexes. The result is that there is now no restriction</a:t>
            </a:r>
            <a:endParaRPr/>
          </a:p>
          <a:p>
            <a:pPr indent="0" lvl="0" marL="0" rtl="0" algn="l">
              <a:lnSpc>
                <a:spcPct val="80000"/>
              </a:lnSpc>
              <a:spcBef>
                <a:spcPts val="333"/>
              </a:spcBef>
              <a:spcAft>
                <a:spcPts val="0"/>
              </a:spcAft>
              <a:buNone/>
            </a:pPr>
            <a:r>
              <a:rPr lang="en-US" sz="1110"/>
              <a:t>on the placement of records as long as a pointer in at least one index refers to that</a:t>
            </a:r>
            <a:endParaRPr/>
          </a:p>
          <a:p>
            <a:pPr indent="0" lvl="0" marL="0" rtl="0" algn="l">
              <a:lnSpc>
                <a:spcPct val="80000"/>
              </a:lnSpc>
              <a:spcBef>
                <a:spcPts val="333"/>
              </a:spcBef>
              <a:spcAft>
                <a:spcPts val="0"/>
              </a:spcAft>
              <a:buNone/>
            </a:pPr>
            <a:r>
              <a:rPr lang="en-US" sz="1110"/>
              <a:t>record. Furthermore, variable-length records can be employed.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Two types of indexes are used. An exhaustive index contains one entry for</a:t>
            </a:r>
            <a:endParaRPr/>
          </a:p>
          <a:p>
            <a:pPr indent="0" lvl="0" marL="0" rtl="0" algn="l">
              <a:lnSpc>
                <a:spcPct val="80000"/>
              </a:lnSpc>
              <a:spcBef>
                <a:spcPts val="333"/>
              </a:spcBef>
              <a:spcAft>
                <a:spcPts val="0"/>
              </a:spcAft>
              <a:buNone/>
            </a:pPr>
            <a:r>
              <a:rPr lang="en-US" sz="1110"/>
              <a:t>every record in the main file. The index itself is organized as a sequential file for</a:t>
            </a:r>
            <a:endParaRPr/>
          </a:p>
          <a:p>
            <a:pPr indent="0" lvl="0" marL="0" rtl="0" algn="l">
              <a:lnSpc>
                <a:spcPct val="80000"/>
              </a:lnSpc>
              <a:spcBef>
                <a:spcPts val="333"/>
              </a:spcBef>
              <a:spcAft>
                <a:spcPts val="0"/>
              </a:spcAft>
              <a:buNone/>
            </a:pPr>
            <a:r>
              <a:rPr lang="en-US" sz="1110"/>
              <a:t>ease of searching. A partial index contains entries to records where the field of</a:t>
            </a:r>
            <a:endParaRPr/>
          </a:p>
          <a:p>
            <a:pPr indent="0" lvl="0" marL="0" rtl="0" algn="l">
              <a:lnSpc>
                <a:spcPct val="80000"/>
              </a:lnSpc>
              <a:spcBef>
                <a:spcPts val="333"/>
              </a:spcBef>
              <a:spcAft>
                <a:spcPts val="0"/>
              </a:spcAft>
              <a:buNone/>
            </a:pPr>
            <a:r>
              <a:rPr lang="en-US" sz="1110"/>
              <a:t>interest exists. With variable-length records, some records will not contain all fields.</a:t>
            </a:r>
            <a:endParaRPr/>
          </a:p>
          <a:p>
            <a:pPr indent="0" lvl="0" marL="0" rtl="0" algn="l">
              <a:lnSpc>
                <a:spcPct val="80000"/>
              </a:lnSpc>
              <a:spcBef>
                <a:spcPts val="333"/>
              </a:spcBef>
              <a:spcAft>
                <a:spcPts val="0"/>
              </a:spcAft>
              <a:buNone/>
            </a:pPr>
            <a:r>
              <a:rPr lang="en-US" sz="1110"/>
              <a:t>When a new record is added to the main file, all of the index files must be updated.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Indexed files are used mostly in applications where timeliness of information</a:t>
            </a:r>
            <a:endParaRPr/>
          </a:p>
          <a:p>
            <a:pPr indent="0" lvl="0" marL="0" rtl="0" algn="l">
              <a:lnSpc>
                <a:spcPct val="80000"/>
              </a:lnSpc>
              <a:spcBef>
                <a:spcPts val="333"/>
              </a:spcBef>
              <a:spcAft>
                <a:spcPts val="0"/>
              </a:spcAft>
              <a:buNone/>
            </a:pPr>
            <a:r>
              <a:rPr lang="en-US" sz="1110"/>
              <a:t>is critical and where data are rarely processed exhaustively. Examples are airline</a:t>
            </a:r>
            <a:endParaRPr/>
          </a:p>
          <a:p>
            <a:pPr indent="0" lvl="0" marL="0" rtl="0" algn="l">
              <a:lnSpc>
                <a:spcPct val="80000"/>
              </a:lnSpc>
              <a:spcBef>
                <a:spcPts val="333"/>
              </a:spcBef>
              <a:spcAft>
                <a:spcPts val="0"/>
              </a:spcAft>
              <a:buNone/>
            </a:pPr>
            <a:r>
              <a:rPr lang="en-US" sz="1110"/>
              <a:t>reservation systems and inventory control systems.</a:t>
            </a:r>
            <a:endParaRPr sz="1110"/>
          </a:p>
        </p:txBody>
      </p:sp>
      <p:sp>
        <p:nvSpPr>
          <p:cNvPr id="583" name="Google Shape;583;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90" name="Google Shape;590;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lang="en-US" sz="1110"/>
              <a:t>The indexed sequential file retains one limitation of the sequential file: Effective</a:t>
            </a:r>
            <a:endParaRPr/>
          </a:p>
          <a:p>
            <a:pPr indent="0" lvl="0" marL="0" rtl="0" algn="l">
              <a:lnSpc>
                <a:spcPct val="80000"/>
              </a:lnSpc>
              <a:spcBef>
                <a:spcPts val="333"/>
              </a:spcBef>
              <a:spcAft>
                <a:spcPts val="0"/>
              </a:spcAft>
              <a:buNone/>
            </a:pPr>
            <a:r>
              <a:rPr lang="en-US" sz="1110"/>
              <a:t>processing is limited to that which is based on a single field of the file. For example,</a:t>
            </a:r>
            <a:endParaRPr/>
          </a:p>
          <a:p>
            <a:pPr indent="0" lvl="0" marL="0" rtl="0" algn="l">
              <a:lnSpc>
                <a:spcPct val="80000"/>
              </a:lnSpc>
              <a:spcBef>
                <a:spcPts val="333"/>
              </a:spcBef>
              <a:spcAft>
                <a:spcPts val="0"/>
              </a:spcAft>
              <a:buNone/>
            </a:pPr>
            <a:r>
              <a:rPr lang="en-US" sz="1110"/>
              <a:t>when it is necessary to search for a record on the basis of some other attribute than</a:t>
            </a:r>
            <a:endParaRPr/>
          </a:p>
          <a:p>
            <a:pPr indent="0" lvl="0" marL="0" rtl="0" algn="l">
              <a:lnSpc>
                <a:spcPct val="80000"/>
              </a:lnSpc>
              <a:spcBef>
                <a:spcPts val="333"/>
              </a:spcBef>
              <a:spcAft>
                <a:spcPts val="0"/>
              </a:spcAft>
              <a:buNone/>
            </a:pPr>
            <a:r>
              <a:rPr lang="en-US" sz="1110"/>
              <a:t>the key field, both forms of sequential file are inadequate. In some applications, the</a:t>
            </a:r>
            <a:endParaRPr/>
          </a:p>
          <a:p>
            <a:pPr indent="0" lvl="0" marL="0" rtl="0" algn="l">
              <a:lnSpc>
                <a:spcPct val="80000"/>
              </a:lnSpc>
              <a:spcBef>
                <a:spcPts val="333"/>
              </a:spcBef>
              <a:spcAft>
                <a:spcPts val="0"/>
              </a:spcAft>
              <a:buNone/>
            </a:pPr>
            <a:r>
              <a:rPr lang="en-US" sz="1110"/>
              <a:t>flexibility of efficiently searching by various attributes is desirable.</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To achieve this flexibility, a structure is needed that employs multiple indexes,</a:t>
            </a:r>
            <a:endParaRPr/>
          </a:p>
          <a:p>
            <a:pPr indent="0" lvl="0" marL="0" rtl="0" algn="l">
              <a:lnSpc>
                <a:spcPct val="80000"/>
              </a:lnSpc>
              <a:spcBef>
                <a:spcPts val="333"/>
              </a:spcBef>
              <a:spcAft>
                <a:spcPts val="0"/>
              </a:spcAft>
              <a:buNone/>
            </a:pPr>
            <a:r>
              <a:rPr lang="en-US" sz="1110"/>
              <a:t>one for each type of field that may be the subject of a search. In the general indexed</a:t>
            </a:r>
            <a:endParaRPr/>
          </a:p>
          <a:p>
            <a:pPr indent="0" lvl="0" marL="0" rtl="0" algn="l">
              <a:lnSpc>
                <a:spcPct val="80000"/>
              </a:lnSpc>
              <a:spcBef>
                <a:spcPts val="333"/>
              </a:spcBef>
              <a:spcAft>
                <a:spcPts val="0"/>
              </a:spcAft>
              <a:buNone/>
            </a:pPr>
            <a:r>
              <a:rPr lang="en-US" sz="1110"/>
              <a:t>file, the concept of sequentially and a single key are abandoned. Records are</a:t>
            </a:r>
            <a:endParaRPr/>
          </a:p>
          <a:p>
            <a:pPr indent="0" lvl="0" marL="0" rtl="0" algn="l">
              <a:lnSpc>
                <a:spcPct val="80000"/>
              </a:lnSpc>
              <a:spcBef>
                <a:spcPts val="333"/>
              </a:spcBef>
              <a:spcAft>
                <a:spcPts val="0"/>
              </a:spcAft>
              <a:buNone/>
            </a:pPr>
            <a:r>
              <a:rPr lang="en-US" sz="1110"/>
              <a:t>accessed only through their indexes. The result is that there is now no restriction</a:t>
            </a:r>
            <a:endParaRPr/>
          </a:p>
          <a:p>
            <a:pPr indent="0" lvl="0" marL="0" rtl="0" algn="l">
              <a:lnSpc>
                <a:spcPct val="80000"/>
              </a:lnSpc>
              <a:spcBef>
                <a:spcPts val="333"/>
              </a:spcBef>
              <a:spcAft>
                <a:spcPts val="0"/>
              </a:spcAft>
              <a:buNone/>
            </a:pPr>
            <a:r>
              <a:rPr lang="en-US" sz="1110"/>
              <a:t>on the placement of records as long as a pointer in at least one index refers to that</a:t>
            </a:r>
            <a:endParaRPr/>
          </a:p>
          <a:p>
            <a:pPr indent="0" lvl="0" marL="0" rtl="0" algn="l">
              <a:lnSpc>
                <a:spcPct val="80000"/>
              </a:lnSpc>
              <a:spcBef>
                <a:spcPts val="333"/>
              </a:spcBef>
              <a:spcAft>
                <a:spcPts val="0"/>
              </a:spcAft>
              <a:buNone/>
            </a:pPr>
            <a:r>
              <a:rPr lang="en-US" sz="1110"/>
              <a:t>record. Furthermore, variable-length records can be employed.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Two types of indexes are used. An exhaustive index contains one entry for</a:t>
            </a:r>
            <a:endParaRPr/>
          </a:p>
          <a:p>
            <a:pPr indent="0" lvl="0" marL="0" rtl="0" algn="l">
              <a:lnSpc>
                <a:spcPct val="80000"/>
              </a:lnSpc>
              <a:spcBef>
                <a:spcPts val="333"/>
              </a:spcBef>
              <a:spcAft>
                <a:spcPts val="0"/>
              </a:spcAft>
              <a:buNone/>
            </a:pPr>
            <a:r>
              <a:rPr lang="en-US" sz="1110"/>
              <a:t>every record in the main file. The index itself is organized as a sequential file for</a:t>
            </a:r>
            <a:endParaRPr/>
          </a:p>
          <a:p>
            <a:pPr indent="0" lvl="0" marL="0" rtl="0" algn="l">
              <a:lnSpc>
                <a:spcPct val="80000"/>
              </a:lnSpc>
              <a:spcBef>
                <a:spcPts val="333"/>
              </a:spcBef>
              <a:spcAft>
                <a:spcPts val="0"/>
              </a:spcAft>
              <a:buNone/>
            </a:pPr>
            <a:r>
              <a:rPr lang="en-US" sz="1110"/>
              <a:t>ease of searching. A partial index contains entries to records where the field of</a:t>
            </a:r>
            <a:endParaRPr/>
          </a:p>
          <a:p>
            <a:pPr indent="0" lvl="0" marL="0" rtl="0" algn="l">
              <a:lnSpc>
                <a:spcPct val="80000"/>
              </a:lnSpc>
              <a:spcBef>
                <a:spcPts val="333"/>
              </a:spcBef>
              <a:spcAft>
                <a:spcPts val="0"/>
              </a:spcAft>
              <a:buNone/>
            </a:pPr>
            <a:r>
              <a:rPr lang="en-US" sz="1110"/>
              <a:t>interest exists. With variable-length records, some records will not contain all fields.</a:t>
            </a:r>
            <a:endParaRPr/>
          </a:p>
          <a:p>
            <a:pPr indent="0" lvl="0" marL="0" rtl="0" algn="l">
              <a:lnSpc>
                <a:spcPct val="80000"/>
              </a:lnSpc>
              <a:spcBef>
                <a:spcPts val="333"/>
              </a:spcBef>
              <a:spcAft>
                <a:spcPts val="0"/>
              </a:spcAft>
              <a:buNone/>
            </a:pPr>
            <a:r>
              <a:rPr lang="en-US" sz="1110"/>
              <a:t>When a new record is added to the main file, all of the index files must be updated.</a:t>
            </a:r>
            <a:endParaRPr/>
          </a:p>
          <a:p>
            <a:pPr indent="0" lvl="0" marL="0" rtl="0" algn="l">
              <a:lnSpc>
                <a:spcPct val="80000"/>
              </a:lnSpc>
              <a:spcBef>
                <a:spcPts val="333"/>
              </a:spcBef>
              <a:spcAft>
                <a:spcPts val="0"/>
              </a:spcAft>
              <a:buNone/>
            </a:pPr>
            <a:r>
              <a:t/>
            </a:r>
            <a:endParaRPr sz="1110"/>
          </a:p>
          <a:p>
            <a:pPr indent="0" lvl="0" marL="0" rtl="0" algn="l">
              <a:lnSpc>
                <a:spcPct val="80000"/>
              </a:lnSpc>
              <a:spcBef>
                <a:spcPts val="333"/>
              </a:spcBef>
              <a:spcAft>
                <a:spcPts val="0"/>
              </a:spcAft>
              <a:buNone/>
            </a:pPr>
            <a:r>
              <a:rPr lang="en-US" sz="1110"/>
              <a:t>Indexed files are used mostly in applications where timeliness of information</a:t>
            </a:r>
            <a:endParaRPr/>
          </a:p>
          <a:p>
            <a:pPr indent="0" lvl="0" marL="0" rtl="0" algn="l">
              <a:lnSpc>
                <a:spcPct val="80000"/>
              </a:lnSpc>
              <a:spcBef>
                <a:spcPts val="333"/>
              </a:spcBef>
              <a:spcAft>
                <a:spcPts val="0"/>
              </a:spcAft>
              <a:buNone/>
            </a:pPr>
            <a:r>
              <a:rPr lang="en-US" sz="1110"/>
              <a:t>is critical and where data are rarely processed exhaustively. Examples are airline</a:t>
            </a:r>
            <a:endParaRPr/>
          </a:p>
          <a:p>
            <a:pPr indent="0" lvl="0" marL="0" rtl="0" algn="l">
              <a:lnSpc>
                <a:spcPct val="80000"/>
              </a:lnSpc>
              <a:spcBef>
                <a:spcPts val="333"/>
              </a:spcBef>
              <a:spcAft>
                <a:spcPts val="0"/>
              </a:spcAft>
              <a:buNone/>
            </a:pPr>
            <a:r>
              <a:rPr lang="en-US" sz="1110"/>
              <a:t>reservation systems and inventory control systems.</a:t>
            </a:r>
            <a:endParaRPr sz="1110"/>
          </a:p>
        </p:txBody>
      </p:sp>
      <p:sp>
        <p:nvSpPr>
          <p:cNvPr id="591" name="Google Shape;591;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98" name="Google Shape;59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direct, or hashed, file exploits the capability found on disks to access directly any</a:t>
            </a:r>
            <a:endParaRPr/>
          </a:p>
          <a:p>
            <a:pPr indent="0" lvl="0" marL="0" rtl="0" algn="l">
              <a:spcBef>
                <a:spcPts val="360"/>
              </a:spcBef>
              <a:spcAft>
                <a:spcPts val="0"/>
              </a:spcAft>
              <a:buNone/>
            </a:pPr>
            <a:r>
              <a:rPr lang="en-US"/>
              <a:t>block of a known address. As with sequential and indexed sequential files, a key field</a:t>
            </a:r>
            <a:endParaRPr/>
          </a:p>
          <a:p>
            <a:pPr indent="0" lvl="0" marL="0" rtl="0" algn="l">
              <a:spcBef>
                <a:spcPts val="360"/>
              </a:spcBef>
              <a:spcAft>
                <a:spcPts val="0"/>
              </a:spcAft>
              <a:buNone/>
            </a:pPr>
            <a:r>
              <a:rPr lang="en-US"/>
              <a:t>is required in each record. However, there is no concept of sequential ordering here.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direct file makes use of hashing on the key value. This function is explained</a:t>
            </a:r>
            <a:endParaRPr/>
          </a:p>
          <a:p>
            <a:pPr indent="0" lvl="0" marL="0" rtl="0" algn="l">
              <a:spcBef>
                <a:spcPts val="360"/>
              </a:spcBef>
              <a:spcAft>
                <a:spcPts val="0"/>
              </a:spcAft>
              <a:buNone/>
            </a:pPr>
            <a:r>
              <a:rPr lang="en-US"/>
              <a:t>in Appendix F . Figure F.1b shows the type of hashing organization with an overflow</a:t>
            </a:r>
            <a:endParaRPr/>
          </a:p>
          <a:p>
            <a:pPr indent="0" lvl="0" marL="0" rtl="0" algn="l">
              <a:spcBef>
                <a:spcPts val="360"/>
              </a:spcBef>
              <a:spcAft>
                <a:spcPts val="0"/>
              </a:spcAft>
              <a:buNone/>
            </a:pPr>
            <a:r>
              <a:rPr lang="en-US"/>
              <a:t>file that is typically used in a hash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Direct files are often used where very rapid access is required, where fixed length</a:t>
            </a:r>
            <a:endParaRPr/>
          </a:p>
          <a:p>
            <a:pPr indent="0" lvl="0" marL="0" rtl="0" algn="l">
              <a:spcBef>
                <a:spcPts val="360"/>
              </a:spcBef>
              <a:spcAft>
                <a:spcPts val="0"/>
              </a:spcAft>
              <a:buNone/>
            </a:pPr>
            <a:r>
              <a:rPr lang="en-US"/>
              <a:t>records are used, and where records are always accessed one at a time.</a:t>
            </a:r>
            <a:endParaRPr/>
          </a:p>
          <a:p>
            <a:pPr indent="0" lvl="0" marL="0" rtl="0" algn="l">
              <a:spcBef>
                <a:spcPts val="360"/>
              </a:spcBef>
              <a:spcAft>
                <a:spcPts val="0"/>
              </a:spcAft>
              <a:buNone/>
            </a:pPr>
            <a:r>
              <a:rPr lang="en-US"/>
              <a:t>Examples are directories, pricing tables, schedules, and name lists.</a:t>
            </a:r>
            <a:endParaRPr/>
          </a:p>
        </p:txBody>
      </p:sp>
      <p:sp>
        <p:nvSpPr>
          <p:cNvPr id="599" name="Google Shape;599;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10" name="Google Shape;610;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direct, or hashed, file exploits the capability found on disks to access directly any</a:t>
            </a:r>
            <a:endParaRPr/>
          </a:p>
          <a:p>
            <a:pPr indent="0" lvl="0" marL="0" rtl="0" algn="l">
              <a:spcBef>
                <a:spcPts val="360"/>
              </a:spcBef>
              <a:spcAft>
                <a:spcPts val="0"/>
              </a:spcAft>
              <a:buNone/>
            </a:pPr>
            <a:r>
              <a:rPr lang="en-US"/>
              <a:t>block of a known address. As with sequential and indexed sequential files, a key field</a:t>
            </a:r>
            <a:endParaRPr/>
          </a:p>
          <a:p>
            <a:pPr indent="0" lvl="0" marL="0" rtl="0" algn="l">
              <a:spcBef>
                <a:spcPts val="360"/>
              </a:spcBef>
              <a:spcAft>
                <a:spcPts val="0"/>
              </a:spcAft>
              <a:buNone/>
            </a:pPr>
            <a:r>
              <a:rPr lang="en-US"/>
              <a:t>is required in each record. However, there is no concept of sequential ordering here.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direct file makes use of hashing on the key value. This function is explained</a:t>
            </a:r>
            <a:endParaRPr/>
          </a:p>
          <a:p>
            <a:pPr indent="0" lvl="0" marL="0" rtl="0" algn="l">
              <a:spcBef>
                <a:spcPts val="360"/>
              </a:spcBef>
              <a:spcAft>
                <a:spcPts val="0"/>
              </a:spcAft>
              <a:buNone/>
            </a:pPr>
            <a:r>
              <a:rPr lang="en-US"/>
              <a:t>in Appendix F . Figure F.1b shows the type of hashing organization with an overflow</a:t>
            </a:r>
            <a:endParaRPr/>
          </a:p>
          <a:p>
            <a:pPr indent="0" lvl="0" marL="0" rtl="0" algn="l">
              <a:spcBef>
                <a:spcPts val="360"/>
              </a:spcBef>
              <a:spcAft>
                <a:spcPts val="0"/>
              </a:spcAft>
              <a:buNone/>
            </a:pPr>
            <a:r>
              <a:rPr lang="en-US"/>
              <a:t>file that is typically used in a hash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Direct files are often used where very rapid access is required, where fixed length</a:t>
            </a:r>
            <a:endParaRPr/>
          </a:p>
          <a:p>
            <a:pPr indent="0" lvl="0" marL="0" rtl="0" algn="l">
              <a:spcBef>
                <a:spcPts val="360"/>
              </a:spcBef>
              <a:spcAft>
                <a:spcPts val="0"/>
              </a:spcAft>
              <a:buNone/>
            </a:pPr>
            <a:r>
              <a:rPr lang="en-US"/>
              <a:t>records are used, and where records are always accessed one at a time.</a:t>
            </a:r>
            <a:endParaRPr/>
          </a:p>
          <a:p>
            <a:pPr indent="0" lvl="0" marL="0" rtl="0" algn="l">
              <a:spcBef>
                <a:spcPts val="360"/>
              </a:spcBef>
              <a:spcAft>
                <a:spcPts val="0"/>
              </a:spcAft>
              <a:buNone/>
            </a:pPr>
            <a:r>
              <a:rPr lang="en-US"/>
              <a:t>Examples are directories, pricing tables, schedules, and name lists.</a:t>
            </a:r>
            <a:endParaRPr/>
          </a:p>
        </p:txBody>
      </p:sp>
      <p:sp>
        <p:nvSpPr>
          <p:cNvPr id="611" name="Google Shape;611;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22" name="Google Shape;622;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Associated with any file management system and collection of files is a file directory.</a:t>
            </a:r>
            <a:endParaRPr/>
          </a:p>
          <a:p>
            <a:pPr indent="0" lvl="0" marL="0" rtl="0" algn="l">
              <a:spcBef>
                <a:spcPts val="360"/>
              </a:spcBef>
              <a:spcAft>
                <a:spcPts val="0"/>
              </a:spcAft>
              <a:buNone/>
            </a:pPr>
            <a:r>
              <a:rPr lang="en-US"/>
              <a:t>The directory contains information about the files, including attributes, location,</a:t>
            </a:r>
            <a:endParaRPr/>
          </a:p>
          <a:p>
            <a:pPr indent="0" lvl="0" marL="0" rtl="0" algn="l">
              <a:spcBef>
                <a:spcPts val="360"/>
              </a:spcBef>
              <a:spcAft>
                <a:spcPts val="0"/>
              </a:spcAft>
              <a:buNone/>
            </a:pPr>
            <a:r>
              <a:rPr lang="en-US"/>
              <a:t>and ownership. Much of this information, especially that concerned with storage,</a:t>
            </a:r>
            <a:endParaRPr/>
          </a:p>
          <a:p>
            <a:pPr indent="0" lvl="0" marL="0" rtl="0" algn="l">
              <a:spcBef>
                <a:spcPts val="360"/>
              </a:spcBef>
              <a:spcAft>
                <a:spcPts val="0"/>
              </a:spcAft>
              <a:buNone/>
            </a:pPr>
            <a:r>
              <a:rPr lang="en-US"/>
              <a:t>is managed by the operating system. The directory is itself a file, accessible by various</a:t>
            </a:r>
            <a:endParaRPr/>
          </a:p>
          <a:p>
            <a:pPr indent="0" lvl="0" marL="0" rtl="0" algn="l">
              <a:spcBef>
                <a:spcPts val="360"/>
              </a:spcBef>
              <a:spcAft>
                <a:spcPts val="0"/>
              </a:spcAft>
              <a:buNone/>
            </a:pPr>
            <a:r>
              <a:rPr lang="en-US"/>
              <a:t>file management routines. Although some of the information in directories is</a:t>
            </a:r>
            <a:endParaRPr/>
          </a:p>
          <a:p>
            <a:pPr indent="0" lvl="0" marL="0" rtl="0" algn="l">
              <a:spcBef>
                <a:spcPts val="360"/>
              </a:spcBef>
              <a:spcAft>
                <a:spcPts val="0"/>
              </a:spcAft>
              <a:buNone/>
            </a:pPr>
            <a:r>
              <a:rPr lang="en-US"/>
              <a:t>available to users and applications, this is generally provided indirectly by system</a:t>
            </a:r>
            <a:endParaRPr/>
          </a:p>
          <a:p>
            <a:pPr indent="0" lvl="0" marL="0" rtl="0" algn="l">
              <a:spcBef>
                <a:spcPts val="360"/>
              </a:spcBef>
              <a:spcAft>
                <a:spcPts val="0"/>
              </a:spcAft>
              <a:buNone/>
            </a:pPr>
            <a:r>
              <a:rPr lang="en-US"/>
              <a:t>routines.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Table 12.2 suggests the information typically stored in the directory for each</a:t>
            </a:r>
            <a:endParaRPr/>
          </a:p>
          <a:p>
            <a:pPr indent="0" lvl="0" marL="0" rtl="0" algn="l">
              <a:spcBef>
                <a:spcPts val="360"/>
              </a:spcBef>
              <a:spcAft>
                <a:spcPts val="0"/>
              </a:spcAft>
              <a:buNone/>
            </a:pPr>
            <a:r>
              <a:rPr lang="en-US"/>
              <a:t>file in the system. From the user’s point of view, the directory provides a mapping</a:t>
            </a:r>
            <a:endParaRPr/>
          </a:p>
          <a:p>
            <a:pPr indent="0" lvl="0" marL="0" rtl="0" algn="l">
              <a:spcBef>
                <a:spcPts val="360"/>
              </a:spcBef>
              <a:spcAft>
                <a:spcPts val="0"/>
              </a:spcAft>
              <a:buNone/>
            </a:pPr>
            <a:r>
              <a:rPr lang="en-US"/>
              <a:t>between file names, known to users and applications, and the files themselves. Thus,</a:t>
            </a:r>
            <a:endParaRPr/>
          </a:p>
          <a:p>
            <a:pPr indent="0" lvl="0" marL="0" rtl="0" algn="l">
              <a:spcBef>
                <a:spcPts val="360"/>
              </a:spcBef>
              <a:spcAft>
                <a:spcPts val="0"/>
              </a:spcAft>
              <a:buNone/>
            </a:pPr>
            <a:r>
              <a:rPr lang="en-US"/>
              <a:t>each file entry includes the name of the file. Virtually all systems deal with different</a:t>
            </a:r>
            <a:endParaRPr/>
          </a:p>
          <a:p>
            <a:pPr indent="0" lvl="0" marL="0" rtl="0" algn="l">
              <a:spcBef>
                <a:spcPts val="360"/>
              </a:spcBef>
              <a:spcAft>
                <a:spcPts val="0"/>
              </a:spcAft>
              <a:buNone/>
            </a:pPr>
            <a:r>
              <a:rPr lang="en-US"/>
              <a:t>types of files and different file organizations, and this information is also provided.</a:t>
            </a:r>
            <a:endParaRPr/>
          </a:p>
          <a:p>
            <a:pPr indent="0" lvl="0" marL="0" rtl="0" algn="l">
              <a:spcBef>
                <a:spcPts val="360"/>
              </a:spcBef>
              <a:spcAft>
                <a:spcPts val="0"/>
              </a:spcAft>
              <a:buNone/>
            </a:pPr>
            <a:r>
              <a:rPr lang="en-US"/>
              <a:t>An important category of information about each file concerns its storage, including</a:t>
            </a:r>
            <a:endParaRPr/>
          </a:p>
          <a:p>
            <a:pPr indent="0" lvl="0" marL="0" rtl="0" algn="l">
              <a:spcBef>
                <a:spcPts val="360"/>
              </a:spcBef>
              <a:spcAft>
                <a:spcPts val="0"/>
              </a:spcAft>
              <a:buNone/>
            </a:pPr>
            <a:r>
              <a:rPr lang="en-US"/>
              <a:t>its location and size. In shared systems, it is also important to provide information</a:t>
            </a:r>
            <a:endParaRPr/>
          </a:p>
          <a:p>
            <a:pPr indent="0" lvl="0" marL="0" rtl="0" algn="l">
              <a:spcBef>
                <a:spcPts val="360"/>
              </a:spcBef>
              <a:spcAft>
                <a:spcPts val="0"/>
              </a:spcAft>
              <a:buNone/>
            </a:pPr>
            <a:r>
              <a:rPr lang="en-US"/>
              <a:t>that is used to control access to the file. Typically, one user is the owner of the file</a:t>
            </a:r>
            <a:endParaRPr/>
          </a:p>
          <a:p>
            <a:pPr indent="0" lvl="0" marL="0" rtl="0" algn="l">
              <a:spcBef>
                <a:spcPts val="360"/>
              </a:spcBef>
              <a:spcAft>
                <a:spcPts val="0"/>
              </a:spcAft>
              <a:buNone/>
            </a:pPr>
            <a:r>
              <a:rPr lang="en-US"/>
              <a:t>and may grant certain access privileges to other users. Finally, usage information is</a:t>
            </a:r>
            <a:endParaRPr/>
          </a:p>
          <a:p>
            <a:pPr indent="0" lvl="0" marL="0" rtl="0" algn="l">
              <a:spcBef>
                <a:spcPts val="360"/>
              </a:spcBef>
              <a:spcAft>
                <a:spcPts val="0"/>
              </a:spcAft>
              <a:buNone/>
            </a:pPr>
            <a:r>
              <a:rPr lang="en-US"/>
              <a:t>needed to manage the current use of the file and to record the history of its usage.</a:t>
            </a:r>
            <a:endParaRPr/>
          </a:p>
        </p:txBody>
      </p:sp>
      <p:sp>
        <p:nvSpPr>
          <p:cNvPr id="623" name="Google Shape;623;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32" name="Google Shape;632;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Associated with any file management system and collection of files is a file directory.</a:t>
            </a:r>
            <a:endParaRPr/>
          </a:p>
          <a:p>
            <a:pPr indent="0" lvl="0" marL="0" rtl="0" algn="l">
              <a:spcBef>
                <a:spcPts val="360"/>
              </a:spcBef>
              <a:spcAft>
                <a:spcPts val="0"/>
              </a:spcAft>
              <a:buNone/>
            </a:pPr>
            <a:r>
              <a:rPr lang="en-US"/>
              <a:t>The directory contains information about the files, including attributes, location,</a:t>
            </a:r>
            <a:endParaRPr/>
          </a:p>
          <a:p>
            <a:pPr indent="0" lvl="0" marL="0" rtl="0" algn="l">
              <a:spcBef>
                <a:spcPts val="360"/>
              </a:spcBef>
              <a:spcAft>
                <a:spcPts val="0"/>
              </a:spcAft>
              <a:buNone/>
            </a:pPr>
            <a:r>
              <a:rPr lang="en-US"/>
              <a:t>and ownership. Much of this information, especially that concerned with storage,</a:t>
            </a:r>
            <a:endParaRPr/>
          </a:p>
          <a:p>
            <a:pPr indent="0" lvl="0" marL="0" rtl="0" algn="l">
              <a:spcBef>
                <a:spcPts val="360"/>
              </a:spcBef>
              <a:spcAft>
                <a:spcPts val="0"/>
              </a:spcAft>
              <a:buNone/>
            </a:pPr>
            <a:r>
              <a:rPr lang="en-US"/>
              <a:t>is managed by the operating system. The directory is itself a file, accessible by various</a:t>
            </a:r>
            <a:endParaRPr/>
          </a:p>
          <a:p>
            <a:pPr indent="0" lvl="0" marL="0" rtl="0" algn="l">
              <a:spcBef>
                <a:spcPts val="360"/>
              </a:spcBef>
              <a:spcAft>
                <a:spcPts val="0"/>
              </a:spcAft>
              <a:buNone/>
            </a:pPr>
            <a:r>
              <a:rPr lang="en-US"/>
              <a:t>file management routines. Although some of the information in directories is</a:t>
            </a:r>
            <a:endParaRPr/>
          </a:p>
          <a:p>
            <a:pPr indent="0" lvl="0" marL="0" rtl="0" algn="l">
              <a:spcBef>
                <a:spcPts val="360"/>
              </a:spcBef>
              <a:spcAft>
                <a:spcPts val="0"/>
              </a:spcAft>
              <a:buNone/>
            </a:pPr>
            <a:r>
              <a:rPr lang="en-US"/>
              <a:t>available to users and applications, this is generally provided indirectly by system</a:t>
            </a:r>
            <a:endParaRPr/>
          </a:p>
          <a:p>
            <a:pPr indent="0" lvl="0" marL="0" rtl="0" algn="l">
              <a:spcBef>
                <a:spcPts val="360"/>
              </a:spcBef>
              <a:spcAft>
                <a:spcPts val="0"/>
              </a:spcAft>
              <a:buNone/>
            </a:pPr>
            <a:r>
              <a:rPr lang="en-US"/>
              <a:t>routines.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Table 12.2 suggests the information typically stored in the directory for each</a:t>
            </a:r>
            <a:endParaRPr/>
          </a:p>
          <a:p>
            <a:pPr indent="0" lvl="0" marL="0" rtl="0" algn="l">
              <a:spcBef>
                <a:spcPts val="360"/>
              </a:spcBef>
              <a:spcAft>
                <a:spcPts val="0"/>
              </a:spcAft>
              <a:buNone/>
            </a:pPr>
            <a:r>
              <a:rPr lang="en-US"/>
              <a:t>file in the system. From the user’s point of view, the directory provides a mapping</a:t>
            </a:r>
            <a:endParaRPr/>
          </a:p>
          <a:p>
            <a:pPr indent="0" lvl="0" marL="0" rtl="0" algn="l">
              <a:spcBef>
                <a:spcPts val="360"/>
              </a:spcBef>
              <a:spcAft>
                <a:spcPts val="0"/>
              </a:spcAft>
              <a:buNone/>
            </a:pPr>
            <a:r>
              <a:rPr lang="en-US"/>
              <a:t>between file names, known to users and applications, and the files themselves. Thus,</a:t>
            </a:r>
            <a:endParaRPr/>
          </a:p>
          <a:p>
            <a:pPr indent="0" lvl="0" marL="0" rtl="0" algn="l">
              <a:spcBef>
                <a:spcPts val="360"/>
              </a:spcBef>
              <a:spcAft>
                <a:spcPts val="0"/>
              </a:spcAft>
              <a:buNone/>
            </a:pPr>
            <a:r>
              <a:rPr lang="en-US"/>
              <a:t>each file entry includes the name of the file. Virtually all systems deal with different</a:t>
            </a:r>
            <a:endParaRPr/>
          </a:p>
          <a:p>
            <a:pPr indent="0" lvl="0" marL="0" rtl="0" algn="l">
              <a:spcBef>
                <a:spcPts val="360"/>
              </a:spcBef>
              <a:spcAft>
                <a:spcPts val="0"/>
              </a:spcAft>
              <a:buNone/>
            </a:pPr>
            <a:r>
              <a:rPr lang="en-US"/>
              <a:t>types of files and different file organizations, and this information is also provided.</a:t>
            </a:r>
            <a:endParaRPr/>
          </a:p>
          <a:p>
            <a:pPr indent="0" lvl="0" marL="0" rtl="0" algn="l">
              <a:spcBef>
                <a:spcPts val="360"/>
              </a:spcBef>
              <a:spcAft>
                <a:spcPts val="0"/>
              </a:spcAft>
              <a:buNone/>
            </a:pPr>
            <a:r>
              <a:rPr lang="en-US"/>
              <a:t>An important category of information about each file concerns its storage, including</a:t>
            </a:r>
            <a:endParaRPr/>
          </a:p>
          <a:p>
            <a:pPr indent="0" lvl="0" marL="0" rtl="0" algn="l">
              <a:spcBef>
                <a:spcPts val="360"/>
              </a:spcBef>
              <a:spcAft>
                <a:spcPts val="0"/>
              </a:spcAft>
              <a:buNone/>
            </a:pPr>
            <a:r>
              <a:rPr lang="en-US"/>
              <a:t>its location and size. In shared systems, it is also important to provide information</a:t>
            </a:r>
            <a:endParaRPr/>
          </a:p>
          <a:p>
            <a:pPr indent="0" lvl="0" marL="0" rtl="0" algn="l">
              <a:spcBef>
                <a:spcPts val="360"/>
              </a:spcBef>
              <a:spcAft>
                <a:spcPts val="0"/>
              </a:spcAft>
              <a:buNone/>
            </a:pPr>
            <a:r>
              <a:rPr lang="en-US"/>
              <a:t>that is used to control access to the file. Typically, one user is the owner of the file</a:t>
            </a:r>
            <a:endParaRPr/>
          </a:p>
          <a:p>
            <a:pPr indent="0" lvl="0" marL="0" rtl="0" algn="l">
              <a:spcBef>
                <a:spcPts val="360"/>
              </a:spcBef>
              <a:spcAft>
                <a:spcPts val="0"/>
              </a:spcAft>
              <a:buNone/>
            </a:pPr>
            <a:r>
              <a:rPr lang="en-US"/>
              <a:t>and may grant certain access privileges to other users. Finally, usage information is</a:t>
            </a:r>
            <a:endParaRPr/>
          </a:p>
          <a:p>
            <a:pPr indent="0" lvl="0" marL="0" rtl="0" algn="l">
              <a:spcBef>
                <a:spcPts val="360"/>
              </a:spcBef>
              <a:spcAft>
                <a:spcPts val="0"/>
              </a:spcAft>
              <a:buNone/>
            </a:pPr>
            <a:r>
              <a:rPr lang="en-US"/>
              <a:t>needed to manage the current use of the file and to record the history of its usage.</a:t>
            </a:r>
            <a:endParaRPr/>
          </a:p>
        </p:txBody>
      </p:sp>
      <p:sp>
        <p:nvSpPr>
          <p:cNvPr id="633" name="Google Shape;633;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42" name="Google Shape;642;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To understand the requirements for a file structure, it is helpful to consider</a:t>
            </a:r>
            <a:endParaRPr/>
          </a:p>
          <a:p>
            <a:pPr indent="0" lvl="0" marL="0" rtl="0" algn="l">
              <a:spcBef>
                <a:spcPts val="360"/>
              </a:spcBef>
              <a:spcAft>
                <a:spcPts val="0"/>
              </a:spcAft>
              <a:buNone/>
            </a:pPr>
            <a:r>
              <a:rPr lang="en-US"/>
              <a:t>the types of operations that may be performed on the directory: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Search: When a user or application references a file, the directory must be</a:t>
            </a:r>
            <a:endParaRPr/>
          </a:p>
          <a:p>
            <a:pPr indent="0" lvl="0" marL="0" rtl="0" algn="l">
              <a:spcBef>
                <a:spcPts val="360"/>
              </a:spcBef>
              <a:spcAft>
                <a:spcPts val="0"/>
              </a:spcAft>
              <a:buNone/>
            </a:pPr>
            <a:r>
              <a:rPr lang="en-US"/>
              <a:t>searched to find the entry corresponding to that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Create file: When a new file is created, an entry must be added to the directory.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Delete file: When a file is deleted, an entry must be removed from the directory.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List directory: All or a portion of the directory may be requested. Generally,</a:t>
            </a:r>
            <a:endParaRPr/>
          </a:p>
          <a:p>
            <a:pPr indent="0" lvl="0" marL="0" rtl="0" algn="l">
              <a:spcBef>
                <a:spcPts val="360"/>
              </a:spcBef>
              <a:spcAft>
                <a:spcPts val="0"/>
              </a:spcAft>
              <a:buNone/>
            </a:pPr>
            <a:r>
              <a:rPr lang="en-US"/>
              <a:t>this request is made by a user and results in a listing of all files owned by that</a:t>
            </a:r>
            <a:endParaRPr/>
          </a:p>
          <a:p>
            <a:pPr indent="0" lvl="0" marL="0" rtl="0" algn="l">
              <a:spcBef>
                <a:spcPts val="360"/>
              </a:spcBef>
              <a:spcAft>
                <a:spcPts val="0"/>
              </a:spcAft>
              <a:buNone/>
            </a:pPr>
            <a:r>
              <a:rPr lang="en-US"/>
              <a:t>user, plus some of the attributes of each file (e.g., type, access control information,</a:t>
            </a:r>
            <a:endParaRPr/>
          </a:p>
          <a:p>
            <a:pPr indent="0" lvl="0" marL="0" rtl="0" algn="l">
              <a:spcBef>
                <a:spcPts val="360"/>
              </a:spcBef>
              <a:spcAft>
                <a:spcPts val="0"/>
              </a:spcAft>
              <a:buNone/>
            </a:pPr>
            <a:r>
              <a:rPr lang="en-US"/>
              <a:t>usage information).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Update directory: Because some file attributes are stored in the directory, a</a:t>
            </a:r>
            <a:endParaRPr/>
          </a:p>
          <a:p>
            <a:pPr indent="0" lvl="0" marL="0" rtl="0" algn="l">
              <a:spcBef>
                <a:spcPts val="360"/>
              </a:spcBef>
              <a:spcAft>
                <a:spcPts val="0"/>
              </a:spcAft>
              <a:buNone/>
            </a:pPr>
            <a:r>
              <a:rPr lang="en-US"/>
              <a:t>change in one of these attributes requires a change in the corresponding directory</a:t>
            </a:r>
            <a:endParaRPr/>
          </a:p>
          <a:p>
            <a:pPr indent="0" lvl="0" marL="0" rtl="0" algn="l">
              <a:spcBef>
                <a:spcPts val="360"/>
              </a:spcBef>
              <a:spcAft>
                <a:spcPts val="0"/>
              </a:spcAft>
              <a:buNone/>
            </a:pPr>
            <a:r>
              <a:rPr lang="en-US"/>
              <a:t>entry.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simple list is not suited to supporting these operations. Consider the needs</a:t>
            </a:r>
            <a:endParaRPr/>
          </a:p>
          <a:p>
            <a:pPr indent="0" lvl="0" marL="0" rtl="0" algn="l">
              <a:spcBef>
                <a:spcPts val="360"/>
              </a:spcBef>
              <a:spcAft>
                <a:spcPts val="0"/>
              </a:spcAft>
              <a:buNone/>
            </a:pPr>
            <a:r>
              <a:rPr lang="en-US"/>
              <a:t>of a single user. The user may have many types of files, including word-processing</a:t>
            </a:r>
            <a:endParaRPr/>
          </a:p>
          <a:p>
            <a:pPr indent="0" lvl="0" marL="0" rtl="0" algn="l">
              <a:spcBef>
                <a:spcPts val="360"/>
              </a:spcBef>
              <a:spcAft>
                <a:spcPts val="0"/>
              </a:spcAft>
              <a:buNone/>
            </a:pPr>
            <a:r>
              <a:rPr lang="en-US"/>
              <a:t>text files, graphic files, spreadsheets, and so on. The user may like to have these</a:t>
            </a:r>
            <a:endParaRPr/>
          </a:p>
          <a:p>
            <a:pPr indent="0" lvl="0" marL="0" rtl="0" algn="l">
              <a:spcBef>
                <a:spcPts val="360"/>
              </a:spcBef>
              <a:spcAft>
                <a:spcPts val="0"/>
              </a:spcAft>
              <a:buNone/>
            </a:pPr>
            <a:r>
              <a:rPr lang="en-US"/>
              <a:t>organized by project, by type, or in some other convenient way. If the directory is a</a:t>
            </a:r>
            <a:endParaRPr/>
          </a:p>
          <a:p>
            <a:pPr indent="0" lvl="0" marL="0" rtl="0" algn="l">
              <a:spcBef>
                <a:spcPts val="360"/>
              </a:spcBef>
              <a:spcAft>
                <a:spcPts val="0"/>
              </a:spcAft>
              <a:buNone/>
            </a:pPr>
            <a:r>
              <a:rPr lang="en-US"/>
              <a:t>simple sequential list, it provides no help in organizing the files and forces the user</a:t>
            </a:r>
            <a:endParaRPr/>
          </a:p>
          <a:p>
            <a:pPr indent="0" lvl="0" marL="0" rtl="0" algn="l">
              <a:spcBef>
                <a:spcPts val="360"/>
              </a:spcBef>
              <a:spcAft>
                <a:spcPts val="0"/>
              </a:spcAft>
              <a:buNone/>
            </a:pPr>
            <a:r>
              <a:rPr lang="en-US"/>
              <a:t>to be careful not to use the same name for two different types of files. The problem</a:t>
            </a:r>
            <a:endParaRPr/>
          </a:p>
          <a:p>
            <a:pPr indent="0" lvl="0" marL="0" rtl="0" algn="l">
              <a:spcBef>
                <a:spcPts val="360"/>
              </a:spcBef>
              <a:spcAft>
                <a:spcPts val="0"/>
              </a:spcAft>
              <a:buNone/>
            </a:pPr>
            <a:r>
              <a:rPr lang="en-US"/>
              <a:t>is much worse in a shared system. Unique naming becomes a serious problem.</a:t>
            </a:r>
            <a:endParaRPr/>
          </a:p>
          <a:p>
            <a:pPr indent="0" lvl="0" marL="0" rtl="0" algn="l">
              <a:spcBef>
                <a:spcPts val="360"/>
              </a:spcBef>
              <a:spcAft>
                <a:spcPts val="0"/>
              </a:spcAft>
              <a:buNone/>
            </a:pPr>
            <a:r>
              <a:rPr lang="en-US"/>
              <a:t>Furthermore, it is difficult to conceal portions of the overall directory from users</a:t>
            </a:r>
            <a:endParaRPr/>
          </a:p>
          <a:p>
            <a:pPr indent="0" lvl="0" marL="0" rtl="0" algn="l">
              <a:spcBef>
                <a:spcPts val="360"/>
              </a:spcBef>
              <a:spcAft>
                <a:spcPts val="0"/>
              </a:spcAft>
              <a:buNone/>
            </a:pPr>
            <a:r>
              <a:rPr lang="en-US"/>
              <a:t>when there is no inherent structure in the directory.</a:t>
            </a:r>
            <a:endParaRPr/>
          </a:p>
        </p:txBody>
      </p:sp>
      <p:sp>
        <p:nvSpPr>
          <p:cNvPr id="643" name="Google Shape;643;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1" name="Google Shape;661;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start in solving these problems would be to go to a two-level scheme. In</a:t>
            </a:r>
            <a:endParaRPr/>
          </a:p>
          <a:p>
            <a:pPr indent="0" lvl="0" marL="0" rtl="0" algn="l">
              <a:spcBef>
                <a:spcPts val="360"/>
              </a:spcBef>
              <a:spcAft>
                <a:spcPts val="0"/>
              </a:spcAft>
              <a:buNone/>
            </a:pPr>
            <a:r>
              <a:rPr lang="en-US"/>
              <a:t>this case, there is one directory for each user, and a master directory. The master</a:t>
            </a:r>
            <a:endParaRPr/>
          </a:p>
          <a:p>
            <a:pPr indent="0" lvl="0" marL="0" rtl="0" algn="l">
              <a:spcBef>
                <a:spcPts val="360"/>
              </a:spcBef>
              <a:spcAft>
                <a:spcPts val="0"/>
              </a:spcAft>
              <a:buNone/>
            </a:pPr>
            <a:r>
              <a:rPr lang="en-US"/>
              <a:t>directory has an entry for each user directory, providing address and access control</a:t>
            </a:r>
            <a:endParaRPr/>
          </a:p>
          <a:p>
            <a:pPr indent="0" lvl="0" marL="0" rtl="0" algn="l">
              <a:spcBef>
                <a:spcPts val="360"/>
              </a:spcBef>
              <a:spcAft>
                <a:spcPts val="0"/>
              </a:spcAft>
              <a:buNone/>
            </a:pPr>
            <a:r>
              <a:rPr lang="en-US"/>
              <a:t>information. Each user directory is a simple list of the files of that user. This</a:t>
            </a:r>
            <a:endParaRPr/>
          </a:p>
          <a:p>
            <a:pPr indent="0" lvl="0" marL="0" rtl="0" algn="l">
              <a:spcBef>
                <a:spcPts val="360"/>
              </a:spcBef>
              <a:spcAft>
                <a:spcPts val="0"/>
              </a:spcAft>
              <a:buNone/>
            </a:pPr>
            <a:r>
              <a:rPr lang="en-US"/>
              <a:t>arrangement means that names must be unique only within the collection of files</a:t>
            </a:r>
            <a:endParaRPr/>
          </a:p>
          <a:p>
            <a:pPr indent="0" lvl="0" marL="0" rtl="0" algn="l">
              <a:spcBef>
                <a:spcPts val="360"/>
              </a:spcBef>
              <a:spcAft>
                <a:spcPts val="0"/>
              </a:spcAft>
              <a:buNone/>
            </a:pPr>
            <a:r>
              <a:rPr lang="en-US"/>
              <a:t>of a single user and that the file system can easily enforce access restriction on</a:t>
            </a:r>
            <a:endParaRPr/>
          </a:p>
          <a:p>
            <a:pPr indent="0" lvl="0" marL="0" rtl="0" algn="l">
              <a:spcBef>
                <a:spcPts val="360"/>
              </a:spcBef>
              <a:spcAft>
                <a:spcPts val="0"/>
              </a:spcAft>
              <a:buNone/>
            </a:pPr>
            <a:r>
              <a:rPr lang="en-US"/>
              <a:t>directories. However, it still provides users with no help in structuring collections</a:t>
            </a:r>
            <a:endParaRPr/>
          </a:p>
          <a:p>
            <a:pPr indent="0" lvl="0" marL="0" rtl="0" algn="l">
              <a:spcBef>
                <a:spcPts val="360"/>
              </a:spcBef>
              <a:spcAft>
                <a:spcPts val="0"/>
              </a:spcAft>
              <a:buNone/>
            </a:pPr>
            <a:r>
              <a:rPr lang="en-US"/>
              <a:t>of files.</a:t>
            </a:r>
            <a:endParaRPr/>
          </a:p>
        </p:txBody>
      </p:sp>
      <p:sp>
        <p:nvSpPr>
          <p:cNvPr id="662" name="Google Shape;662;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78" name="Google Shape;678;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more powerful and flexible approach, and one that is almost universally</a:t>
            </a:r>
            <a:endParaRPr/>
          </a:p>
          <a:p>
            <a:pPr indent="0" lvl="0" marL="0" rtl="0" algn="l">
              <a:spcBef>
                <a:spcPts val="360"/>
              </a:spcBef>
              <a:spcAft>
                <a:spcPts val="0"/>
              </a:spcAft>
              <a:buNone/>
            </a:pPr>
            <a:r>
              <a:rPr lang="en-US"/>
              <a:t>adopted, is the hierarchical, or tree-structure, approach ( Figure 12.6 ). As before,</a:t>
            </a:r>
            <a:endParaRPr/>
          </a:p>
          <a:p>
            <a:pPr indent="0" lvl="0" marL="0" rtl="0" algn="l">
              <a:spcBef>
                <a:spcPts val="360"/>
              </a:spcBef>
              <a:spcAft>
                <a:spcPts val="0"/>
              </a:spcAft>
              <a:buNone/>
            </a:pPr>
            <a:r>
              <a:rPr lang="en-US"/>
              <a:t>there is a master directory, which has under it a number of user directories. Each of</a:t>
            </a:r>
            <a:endParaRPr/>
          </a:p>
          <a:p>
            <a:pPr indent="0" lvl="0" marL="0" rtl="0" algn="l">
              <a:spcBef>
                <a:spcPts val="360"/>
              </a:spcBef>
              <a:spcAft>
                <a:spcPts val="0"/>
              </a:spcAft>
              <a:buNone/>
            </a:pPr>
            <a:r>
              <a:rPr lang="en-US"/>
              <a:t>these user directories, in turn, may have subdirectories and files as entries. This is</a:t>
            </a:r>
            <a:endParaRPr/>
          </a:p>
          <a:p>
            <a:pPr indent="0" lvl="0" marL="0" rtl="0" algn="l">
              <a:spcBef>
                <a:spcPts val="360"/>
              </a:spcBef>
              <a:spcAft>
                <a:spcPts val="0"/>
              </a:spcAft>
              <a:buNone/>
            </a:pPr>
            <a:r>
              <a:rPr lang="en-US"/>
              <a:t>true at any level: That is, at any level, a directory may consist of entries for subdirectories</a:t>
            </a:r>
            <a:endParaRPr/>
          </a:p>
          <a:p>
            <a:pPr indent="0" lvl="0" marL="0" rtl="0" algn="l">
              <a:spcBef>
                <a:spcPts val="360"/>
              </a:spcBef>
              <a:spcAft>
                <a:spcPts val="0"/>
              </a:spcAft>
              <a:buNone/>
            </a:pPr>
            <a:r>
              <a:rPr lang="en-US"/>
              <a:t>and/or entries for files.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It remains to say how each directory and subdirectory is organized. The simplest</a:t>
            </a:r>
            <a:endParaRPr/>
          </a:p>
          <a:p>
            <a:pPr indent="0" lvl="0" marL="0" rtl="0" algn="l">
              <a:spcBef>
                <a:spcPts val="360"/>
              </a:spcBef>
              <a:spcAft>
                <a:spcPts val="0"/>
              </a:spcAft>
              <a:buNone/>
            </a:pPr>
            <a:r>
              <a:rPr lang="en-US"/>
              <a:t>approach, of course, is to store each directory as a sequential file. When directories</a:t>
            </a:r>
            <a:endParaRPr/>
          </a:p>
          <a:p>
            <a:pPr indent="0" lvl="0" marL="0" rtl="0" algn="l">
              <a:spcBef>
                <a:spcPts val="360"/>
              </a:spcBef>
              <a:spcAft>
                <a:spcPts val="0"/>
              </a:spcAft>
              <a:buNone/>
            </a:pPr>
            <a:r>
              <a:rPr lang="en-US"/>
              <a:t>may contain a very large number of entries, such an organization may lead to unnecessarily</a:t>
            </a:r>
            <a:endParaRPr/>
          </a:p>
          <a:p>
            <a:pPr indent="0" lvl="0" marL="0" rtl="0" algn="l">
              <a:spcBef>
                <a:spcPts val="360"/>
              </a:spcBef>
              <a:spcAft>
                <a:spcPts val="0"/>
              </a:spcAft>
              <a:buNone/>
            </a:pPr>
            <a:r>
              <a:rPr lang="en-US"/>
              <a:t>long search times. In that case, a hashed structure is to be preferred.</a:t>
            </a:r>
            <a:endParaRPr/>
          </a:p>
        </p:txBody>
      </p:sp>
      <p:sp>
        <p:nvSpPr>
          <p:cNvPr id="679" name="Google Shape;679;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87" name="Google Shape;687;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Users need to be able to refer to a file by a symbolic name. Clearly, each file in the</a:t>
            </a:r>
            <a:endParaRPr/>
          </a:p>
          <a:p>
            <a:pPr indent="0" lvl="0" marL="0" rtl="0" algn="l">
              <a:spcBef>
                <a:spcPts val="360"/>
              </a:spcBef>
              <a:spcAft>
                <a:spcPts val="0"/>
              </a:spcAft>
              <a:buNone/>
            </a:pPr>
            <a:r>
              <a:rPr lang="en-US"/>
              <a:t>system must have a unique name in order that file references be unambiguous. On</a:t>
            </a:r>
            <a:endParaRPr/>
          </a:p>
          <a:p>
            <a:pPr indent="0" lvl="0" marL="0" rtl="0" algn="l">
              <a:spcBef>
                <a:spcPts val="360"/>
              </a:spcBef>
              <a:spcAft>
                <a:spcPts val="0"/>
              </a:spcAft>
              <a:buNone/>
            </a:pPr>
            <a:r>
              <a:rPr lang="en-US"/>
              <a:t>the other hand, it is an unacceptable burden on users to require that they provide</a:t>
            </a:r>
            <a:endParaRPr/>
          </a:p>
          <a:p>
            <a:pPr indent="0" lvl="0" marL="0" rtl="0" algn="l">
              <a:spcBef>
                <a:spcPts val="360"/>
              </a:spcBef>
              <a:spcAft>
                <a:spcPts val="0"/>
              </a:spcAft>
              <a:buNone/>
            </a:pPr>
            <a:r>
              <a:rPr lang="en-US"/>
              <a:t>unique names, especially in a shared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use of a tree-structured directory minimizes the difficulty in assigning</a:t>
            </a:r>
            <a:endParaRPr/>
          </a:p>
          <a:p>
            <a:pPr indent="0" lvl="0" marL="0" rtl="0" algn="l">
              <a:spcBef>
                <a:spcPts val="360"/>
              </a:spcBef>
              <a:spcAft>
                <a:spcPts val="0"/>
              </a:spcAft>
              <a:buNone/>
            </a:pPr>
            <a:r>
              <a:rPr lang="en-US"/>
              <a:t>unique names. Any file in the system can be located by following a path from the</a:t>
            </a:r>
            <a:endParaRPr/>
          </a:p>
          <a:p>
            <a:pPr indent="0" lvl="0" marL="0" rtl="0" algn="l">
              <a:spcBef>
                <a:spcPts val="360"/>
              </a:spcBef>
              <a:spcAft>
                <a:spcPts val="0"/>
              </a:spcAft>
              <a:buNone/>
            </a:pPr>
            <a:r>
              <a:rPr lang="en-US"/>
              <a:t>root or master directory down various branches until the file is reached. The series</a:t>
            </a:r>
            <a:endParaRPr/>
          </a:p>
          <a:p>
            <a:pPr indent="0" lvl="0" marL="0" rtl="0" algn="l">
              <a:spcBef>
                <a:spcPts val="360"/>
              </a:spcBef>
              <a:spcAft>
                <a:spcPts val="0"/>
              </a:spcAft>
              <a:buNone/>
            </a:pPr>
            <a:r>
              <a:rPr lang="en-US"/>
              <a:t>of directory names, culminating in the file name itself, constitutes a </a:t>
            </a:r>
            <a:r>
              <a:rPr b="1" lang="en-US"/>
              <a:t>pathname for</a:t>
            </a:r>
            <a:endParaRPr/>
          </a:p>
          <a:p>
            <a:pPr indent="0" lvl="0" marL="0" rtl="0" algn="l">
              <a:spcBef>
                <a:spcPts val="360"/>
              </a:spcBef>
              <a:spcAft>
                <a:spcPts val="0"/>
              </a:spcAft>
              <a:buNone/>
            </a:pPr>
            <a:r>
              <a:rPr lang="en-US"/>
              <a:t>the file. As an example, the file in the lower left-hand corner of Figure 12.7 . has the</a:t>
            </a:r>
            <a:endParaRPr/>
          </a:p>
          <a:p>
            <a:pPr indent="0" lvl="0" marL="0" rtl="0" algn="l">
              <a:spcBef>
                <a:spcPts val="360"/>
              </a:spcBef>
              <a:spcAft>
                <a:spcPts val="0"/>
              </a:spcAft>
              <a:buNone/>
            </a:pPr>
            <a:r>
              <a:rPr lang="en-US"/>
              <a:t>pathname User_B/Word/Unit_A/ABC . The slash is used to delimit names in the</a:t>
            </a:r>
            <a:endParaRPr/>
          </a:p>
          <a:p>
            <a:pPr indent="0" lvl="0" marL="0" rtl="0" algn="l">
              <a:spcBef>
                <a:spcPts val="360"/>
              </a:spcBef>
              <a:spcAft>
                <a:spcPts val="0"/>
              </a:spcAft>
              <a:buNone/>
            </a:pPr>
            <a:r>
              <a:rPr lang="en-US"/>
              <a:t>sequence. The name of the master directory is implicit, because all paths start at</a:t>
            </a:r>
            <a:endParaRPr/>
          </a:p>
          <a:p>
            <a:pPr indent="0" lvl="0" marL="0" rtl="0" algn="l">
              <a:spcBef>
                <a:spcPts val="360"/>
              </a:spcBef>
              <a:spcAft>
                <a:spcPts val="0"/>
              </a:spcAft>
              <a:buNone/>
            </a:pPr>
            <a:r>
              <a:rPr lang="en-US"/>
              <a:t>that directory. Note that it is perfectly acceptable to have several files with the same</a:t>
            </a:r>
            <a:endParaRPr/>
          </a:p>
          <a:p>
            <a:pPr indent="0" lvl="0" marL="0" rtl="0" algn="l">
              <a:spcBef>
                <a:spcPts val="360"/>
              </a:spcBef>
              <a:spcAft>
                <a:spcPts val="0"/>
              </a:spcAft>
              <a:buNone/>
            </a:pPr>
            <a:r>
              <a:rPr lang="en-US"/>
              <a:t>file name, as long as they have unique pathnames, which is equivalent to saying</a:t>
            </a:r>
            <a:endParaRPr/>
          </a:p>
          <a:p>
            <a:pPr indent="0" lvl="0" marL="0" rtl="0" algn="l">
              <a:spcBef>
                <a:spcPts val="360"/>
              </a:spcBef>
              <a:spcAft>
                <a:spcPts val="0"/>
              </a:spcAft>
              <a:buNone/>
            </a:pPr>
            <a:r>
              <a:rPr lang="en-US"/>
              <a:t>that the same file name may be used in different directories. In our example, there</a:t>
            </a:r>
            <a:endParaRPr/>
          </a:p>
          <a:p>
            <a:pPr indent="0" lvl="0" marL="0" rtl="0" algn="l">
              <a:spcBef>
                <a:spcPts val="360"/>
              </a:spcBef>
              <a:spcAft>
                <a:spcPts val="0"/>
              </a:spcAft>
              <a:buNone/>
            </a:pPr>
            <a:r>
              <a:rPr lang="en-US"/>
              <a:t>is another file in the system with the file name ABC, but that has the pathname</a:t>
            </a:r>
            <a:endParaRPr/>
          </a:p>
          <a:p>
            <a:pPr indent="0" lvl="0" marL="0" rtl="0" algn="l">
              <a:spcBef>
                <a:spcPts val="360"/>
              </a:spcBef>
              <a:spcAft>
                <a:spcPts val="0"/>
              </a:spcAft>
              <a:buNone/>
            </a:pPr>
            <a:r>
              <a:rPr lang="en-US"/>
              <a:t>/User_B/Draw/ABC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Although the pathname facilitates the selection of file names, it would be awkward</a:t>
            </a:r>
            <a:endParaRPr/>
          </a:p>
          <a:p>
            <a:pPr indent="0" lvl="0" marL="0" rtl="0" algn="l">
              <a:spcBef>
                <a:spcPts val="360"/>
              </a:spcBef>
              <a:spcAft>
                <a:spcPts val="0"/>
              </a:spcAft>
              <a:buNone/>
            </a:pPr>
            <a:r>
              <a:rPr lang="en-US"/>
              <a:t>for a user to have to spell out the entire pathname every time a reference is</a:t>
            </a:r>
            <a:endParaRPr/>
          </a:p>
          <a:p>
            <a:pPr indent="0" lvl="0" marL="0" rtl="0" algn="l">
              <a:spcBef>
                <a:spcPts val="360"/>
              </a:spcBef>
              <a:spcAft>
                <a:spcPts val="0"/>
              </a:spcAft>
              <a:buNone/>
            </a:pPr>
            <a:r>
              <a:rPr lang="en-US"/>
              <a:t>made to a file. Typically, an interactive user or a process has associated with it a</a:t>
            </a:r>
            <a:endParaRPr/>
          </a:p>
          <a:p>
            <a:pPr indent="0" lvl="0" marL="0" rtl="0" algn="l">
              <a:spcBef>
                <a:spcPts val="360"/>
              </a:spcBef>
              <a:spcAft>
                <a:spcPts val="0"/>
              </a:spcAft>
              <a:buNone/>
            </a:pPr>
            <a:r>
              <a:rPr lang="en-US"/>
              <a:t>current directory, often referred to as the </a:t>
            </a:r>
            <a:r>
              <a:rPr b="1" lang="en-US"/>
              <a:t>working directory . Files are then referenced</a:t>
            </a:r>
            <a:endParaRPr/>
          </a:p>
          <a:p>
            <a:pPr indent="0" lvl="0" marL="0" rtl="0" algn="l">
              <a:spcBef>
                <a:spcPts val="360"/>
              </a:spcBef>
              <a:spcAft>
                <a:spcPts val="0"/>
              </a:spcAft>
              <a:buNone/>
            </a:pPr>
            <a:r>
              <a:rPr lang="en-US"/>
              <a:t>relative to the working directory. For example, if the working directory for</a:t>
            </a:r>
            <a:endParaRPr/>
          </a:p>
          <a:p>
            <a:pPr indent="0" lvl="0" marL="0" rtl="0" algn="l">
              <a:spcBef>
                <a:spcPts val="360"/>
              </a:spcBef>
              <a:spcAft>
                <a:spcPts val="0"/>
              </a:spcAft>
              <a:buNone/>
            </a:pPr>
            <a:r>
              <a:rPr lang="en-US"/>
              <a:t>user B is “Word,” then the pathname Unit_A/ABC is sufficient to identify the file</a:t>
            </a:r>
            <a:endParaRPr/>
          </a:p>
          <a:p>
            <a:pPr indent="0" lvl="0" marL="0" rtl="0" algn="l">
              <a:spcBef>
                <a:spcPts val="360"/>
              </a:spcBef>
              <a:spcAft>
                <a:spcPts val="0"/>
              </a:spcAft>
              <a:buNone/>
            </a:pPr>
            <a:r>
              <a:rPr lang="en-US"/>
              <a:t>in the lower left-hand corner of Figure 12.7 . When an interactive user logs on, or</a:t>
            </a:r>
            <a:endParaRPr/>
          </a:p>
          <a:p>
            <a:pPr indent="0" lvl="0" marL="0" rtl="0" algn="l">
              <a:spcBef>
                <a:spcPts val="360"/>
              </a:spcBef>
              <a:spcAft>
                <a:spcPts val="0"/>
              </a:spcAft>
              <a:buNone/>
            </a:pPr>
            <a:r>
              <a:rPr lang="en-US"/>
              <a:t>when a process is created, the default for the working directory is the user home</a:t>
            </a:r>
            <a:endParaRPr/>
          </a:p>
          <a:p>
            <a:pPr indent="0" lvl="0" marL="0" rtl="0" algn="l">
              <a:spcBef>
                <a:spcPts val="360"/>
              </a:spcBef>
              <a:spcAft>
                <a:spcPts val="0"/>
              </a:spcAft>
              <a:buNone/>
            </a:pPr>
            <a:r>
              <a:rPr lang="en-US"/>
              <a:t>directory. During execution, the user can navigate up or down in the tree to change</a:t>
            </a:r>
            <a:endParaRPr/>
          </a:p>
          <a:p>
            <a:pPr indent="0" lvl="0" marL="0" rtl="0" algn="l">
              <a:spcBef>
                <a:spcPts val="360"/>
              </a:spcBef>
              <a:spcAft>
                <a:spcPts val="0"/>
              </a:spcAft>
              <a:buNone/>
            </a:pPr>
            <a:r>
              <a:rPr lang="en-US"/>
              <a:t>to a different working directory.</a:t>
            </a:r>
            <a:endParaRPr/>
          </a:p>
        </p:txBody>
      </p:sp>
      <p:sp>
        <p:nvSpPr>
          <p:cNvPr id="688" name="Google Shape;688;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94" name="Google Shape;694;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In a multiuser system, there is almost always a requirement for allowing files to be</a:t>
            </a:r>
            <a:endParaRPr/>
          </a:p>
          <a:p>
            <a:pPr indent="0" lvl="0" marL="0" rtl="0" algn="l">
              <a:spcBef>
                <a:spcPts val="360"/>
              </a:spcBef>
              <a:spcAft>
                <a:spcPts val="0"/>
              </a:spcAft>
              <a:buNone/>
            </a:pPr>
            <a:r>
              <a:rPr lang="en-US"/>
              <a:t>shared among a number of users. Two issues arise: access rights and the management</a:t>
            </a:r>
            <a:endParaRPr/>
          </a:p>
          <a:p>
            <a:pPr indent="0" lvl="0" marL="0" rtl="0" algn="l">
              <a:spcBef>
                <a:spcPts val="360"/>
              </a:spcBef>
              <a:spcAft>
                <a:spcPts val="0"/>
              </a:spcAft>
              <a:buNone/>
            </a:pPr>
            <a:r>
              <a:rPr lang="en-US"/>
              <a:t>of simultaneous access.</a:t>
            </a:r>
            <a:endParaRPr/>
          </a:p>
        </p:txBody>
      </p:sp>
      <p:sp>
        <p:nvSpPr>
          <p:cNvPr id="695" name="Google Shape;695;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13" name="Google Shape;71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file system should provide a flexible tool for allowing extensive file sharing</a:t>
            </a:r>
            <a:endParaRPr/>
          </a:p>
          <a:p>
            <a:pPr indent="0" lvl="0" marL="0" rtl="0" algn="l">
              <a:spcBef>
                <a:spcPts val="360"/>
              </a:spcBef>
              <a:spcAft>
                <a:spcPts val="0"/>
              </a:spcAft>
              <a:buNone/>
            </a:pPr>
            <a:r>
              <a:rPr lang="en-US"/>
              <a:t>among users. The file system should provide a number of options so that the way</a:t>
            </a:r>
            <a:endParaRPr/>
          </a:p>
          <a:p>
            <a:pPr indent="0" lvl="0" marL="0" rtl="0" algn="l">
              <a:spcBef>
                <a:spcPts val="360"/>
              </a:spcBef>
              <a:spcAft>
                <a:spcPts val="0"/>
              </a:spcAft>
              <a:buNone/>
            </a:pPr>
            <a:r>
              <a:rPr lang="en-US"/>
              <a:t>in which a particular file is accessed can be controlled. Typically, users or groups</a:t>
            </a:r>
            <a:endParaRPr/>
          </a:p>
          <a:p>
            <a:pPr indent="0" lvl="0" marL="0" rtl="0" algn="l">
              <a:spcBef>
                <a:spcPts val="360"/>
              </a:spcBef>
              <a:spcAft>
                <a:spcPts val="0"/>
              </a:spcAft>
              <a:buNone/>
            </a:pPr>
            <a:r>
              <a:rPr lang="en-US"/>
              <a:t>of users are granted certain access rights to a file. A wide range of access rights has</a:t>
            </a:r>
            <a:endParaRPr/>
          </a:p>
          <a:p>
            <a:pPr indent="0" lvl="0" marL="0" rtl="0" algn="l">
              <a:spcBef>
                <a:spcPts val="360"/>
              </a:spcBef>
              <a:spcAft>
                <a:spcPts val="0"/>
              </a:spcAft>
              <a:buNone/>
            </a:pPr>
            <a:r>
              <a:rPr lang="en-US"/>
              <a:t>been used. The following list is representative of access rights that can be assigned</a:t>
            </a:r>
            <a:endParaRPr/>
          </a:p>
          <a:p>
            <a:pPr indent="0" lvl="0" marL="0" rtl="0" algn="l">
              <a:spcBef>
                <a:spcPts val="360"/>
              </a:spcBef>
              <a:spcAft>
                <a:spcPts val="0"/>
              </a:spcAft>
              <a:buNone/>
            </a:pPr>
            <a:r>
              <a:rPr lang="en-US"/>
              <a:t>to a particular user for a particular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None: The user may not even learn of the existence of the file, much less</a:t>
            </a:r>
            <a:endParaRPr/>
          </a:p>
          <a:p>
            <a:pPr indent="0" lvl="0" marL="0" rtl="0" algn="l">
              <a:spcBef>
                <a:spcPts val="360"/>
              </a:spcBef>
              <a:spcAft>
                <a:spcPts val="0"/>
              </a:spcAft>
              <a:buNone/>
            </a:pPr>
            <a:r>
              <a:rPr lang="en-US"/>
              <a:t>access it. To enforce this restriction, the user would not be allowed to read the</a:t>
            </a:r>
            <a:endParaRPr/>
          </a:p>
          <a:p>
            <a:pPr indent="0" lvl="0" marL="0" rtl="0" algn="l">
              <a:spcBef>
                <a:spcPts val="360"/>
              </a:spcBef>
              <a:spcAft>
                <a:spcPts val="0"/>
              </a:spcAft>
              <a:buNone/>
            </a:pPr>
            <a:r>
              <a:rPr lang="en-US"/>
              <a:t>user directory that includes this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Knowledge: The user can determine that the file exists and who its owner is.</a:t>
            </a:r>
            <a:endParaRPr/>
          </a:p>
          <a:p>
            <a:pPr indent="0" lvl="0" marL="0" rtl="0" algn="l">
              <a:spcBef>
                <a:spcPts val="360"/>
              </a:spcBef>
              <a:spcAft>
                <a:spcPts val="0"/>
              </a:spcAft>
              <a:buNone/>
            </a:pPr>
            <a:r>
              <a:rPr lang="en-US"/>
              <a:t>The user is then able to petition the owner for additional access rights.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Execution: The user can load and execute a program but cannot copy it.</a:t>
            </a:r>
            <a:endParaRPr/>
          </a:p>
          <a:p>
            <a:pPr indent="0" lvl="0" marL="0" rtl="0" algn="l">
              <a:spcBef>
                <a:spcPts val="360"/>
              </a:spcBef>
              <a:spcAft>
                <a:spcPts val="0"/>
              </a:spcAft>
              <a:buNone/>
            </a:pPr>
            <a:r>
              <a:rPr lang="en-US"/>
              <a:t>Proprietary programs are often made accessible with this restriction.</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Reading: The user can read the file for any purpose, including copying and</a:t>
            </a:r>
            <a:endParaRPr/>
          </a:p>
          <a:p>
            <a:pPr indent="0" lvl="0" marL="0" rtl="0" algn="l">
              <a:spcBef>
                <a:spcPts val="360"/>
              </a:spcBef>
              <a:spcAft>
                <a:spcPts val="0"/>
              </a:spcAft>
              <a:buNone/>
            </a:pPr>
            <a:r>
              <a:rPr lang="en-US"/>
              <a:t>execution. Some systems are able to enforce a distinction between viewing</a:t>
            </a:r>
            <a:endParaRPr/>
          </a:p>
          <a:p>
            <a:pPr indent="0" lvl="0" marL="0" rtl="0" algn="l">
              <a:spcBef>
                <a:spcPts val="360"/>
              </a:spcBef>
              <a:spcAft>
                <a:spcPts val="0"/>
              </a:spcAft>
              <a:buNone/>
            </a:pPr>
            <a:r>
              <a:rPr lang="en-US"/>
              <a:t>and copying. In the former case, the contents of the file can be displayed to the</a:t>
            </a:r>
            <a:endParaRPr/>
          </a:p>
          <a:p>
            <a:pPr indent="0" lvl="0" marL="0" rtl="0" algn="l">
              <a:spcBef>
                <a:spcPts val="360"/>
              </a:spcBef>
              <a:spcAft>
                <a:spcPts val="0"/>
              </a:spcAft>
              <a:buNone/>
            </a:pPr>
            <a:r>
              <a:rPr lang="en-US"/>
              <a:t>user, but the user has no means for making a copy.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Appending: The user can add data to the file, often only at the end, but cannot</a:t>
            </a:r>
            <a:endParaRPr/>
          </a:p>
          <a:p>
            <a:pPr indent="0" lvl="0" marL="0" rtl="0" algn="l">
              <a:spcBef>
                <a:spcPts val="360"/>
              </a:spcBef>
              <a:spcAft>
                <a:spcPts val="0"/>
              </a:spcAft>
              <a:buNone/>
            </a:pPr>
            <a:r>
              <a:rPr lang="en-US"/>
              <a:t>modify or delete any of the file’s contents. This right is useful in collecting data</a:t>
            </a:r>
            <a:endParaRPr/>
          </a:p>
          <a:p>
            <a:pPr indent="0" lvl="0" marL="0" rtl="0" algn="l">
              <a:spcBef>
                <a:spcPts val="360"/>
              </a:spcBef>
              <a:spcAft>
                <a:spcPts val="0"/>
              </a:spcAft>
              <a:buNone/>
            </a:pPr>
            <a:r>
              <a:rPr lang="en-US"/>
              <a:t>from a number of sources.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Updating: The user can modify, delete, and add to the file’s data. This normally</a:t>
            </a:r>
            <a:endParaRPr/>
          </a:p>
          <a:p>
            <a:pPr indent="0" lvl="0" marL="0" rtl="0" algn="l">
              <a:spcBef>
                <a:spcPts val="360"/>
              </a:spcBef>
              <a:spcAft>
                <a:spcPts val="0"/>
              </a:spcAft>
              <a:buNone/>
            </a:pPr>
            <a:r>
              <a:rPr lang="en-US"/>
              <a:t>includes writing the file initially, rewriting it completely or in part, and removing</a:t>
            </a:r>
            <a:endParaRPr/>
          </a:p>
          <a:p>
            <a:pPr indent="0" lvl="0" marL="0" rtl="0" algn="l">
              <a:spcBef>
                <a:spcPts val="360"/>
              </a:spcBef>
              <a:spcAft>
                <a:spcPts val="0"/>
              </a:spcAft>
              <a:buNone/>
            </a:pPr>
            <a:r>
              <a:rPr lang="en-US"/>
              <a:t>all or a portion of the data. Some systems distinguish among different</a:t>
            </a:r>
            <a:endParaRPr/>
          </a:p>
          <a:p>
            <a:pPr indent="0" lvl="0" marL="0" rtl="0" algn="l">
              <a:spcBef>
                <a:spcPts val="360"/>
              </a:spcBef>
              <a:spcAft>
                <a:spcPts val="0"/>
              </a:spcAft>
              <a:buNone/>
            </a:pPr>
            <a:r>
              <a:rPr lang="en-US"/>
              <a:t>degrees of updating.</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Changing protection: The user can change the access rights granted to other</a:t>
            </a:r>
            <a:endParaRPr/>
          </a:p>
          <a:p>
            <a:pPr indent="0" lvl="0" marL="0" rtl="0" algn="l">
              <a:spcBef>
                <a:spcPts val="360"/>
              </a:spcBef>
              <a:spcAft>
                <a:spcPts val="0"/>
              </a:spcAft>
              <a:buNone/>
            </a:pPr>
            <a:r>
              <a:rPr lang="en-US"/>
              <a:t>users. Typically, this right is held only by the owner of the file. In some systems,</a:t>
            </a:r>
            <a:endParaRPr/>
          </a:p>
          <a:p>
            <a:pPr indent="0" lvl="0" marL="0" rtl="0" algn="l">
              <a:spcBef>
                <a:spcPts val="360"/>
              </a:spcBef>
              <a:spcAft>
                <a:spcPts val="0"/>
              </a:spcAft>
              <a:buNone/>
            </a:pPr>
            <a:r>
              <a:rPr lang="en-US"/>
              <a:t>the owner can extend this right to others. To prevent abuse of this mechanism,</a:t>
            </a:r>
            <a:endParaRPr/>
          </a:p>
          <a:p>
            <a:pPr indent="0" lvl="0" marL="0" rtl="0" algn="l">
              <a:spcBef>
                <a:spcPts val="360"/>
              </a:spcBef>
              <a:spcAft>
                <a:spcPts val="0"/>
              </a:spcAft>
              <a:buNone/>
            </a:pPr>
            <a:r>
              <a:rPr lang="en-US"/>
              <a:t>the file owner will typically be able to specify which rights can be changed by</a:t>
            </a:r>
            <a:endParaRPr/>
          </a:p>
          <a:p>
            <a:pPr indent="0" lvl="0" marL="0" rtl="0" algn="l">
              <a:spcBef>
                <a:spcPts val="360"/>
              </a:spcBef>
              <a:spcAft>
                <a:spcPts val="0"/>
              </a:spcAft>
              <a:buNone/>
            </a:pPr>
            <a:r>
              <a:rPr lang="en-US"/>
              <a:t>the holder of this right.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Deletion: The user can delete the file from the file system.</a:t>
            </a:r>
            <a:endParaRPr/>
          </a:p>
          <a:p>
            <a:pPr indent="0" lvl="0" marL="0" rtl="0" algn="l">
              <a:spcBef>
                <a:spcPts val="360"/>
              </a:spcBef>
              <a:spcAft>
                <a:spcPts val="0"/>
              </a:spcAft>
              <a:buNone/>
            </a:pPr>
            <a:r>
              <a:t/>
            </a:r>
            <a:endParaRPr b="1"/>
          </a:p>
          <a:p>
            <a:pPr indent="0" lvl="0" marL="0" rtl="0" algn="l">
              <a:spcBef>
                <a:spcPts val="360"/>
              </a:spcBef>
              <a:spcAft>
                <a:spcPts val="0"/>
              </a:spcAft>
              <a:buNone/>
            </a:pPr>
            <a:r>
              <a:rPr lang="en-US"/>
              <a:t>These rights can be considered to constitute a hierarchy, with each right implying</a:t>
            </a:r>
            <a:endParaRPr/>
          </a:p>
          <a:p>
            <a:pPr indent="0" lvl="0" marL="0" rtl="0" algn="l">
              <a:spcBef>
                <a:spcPts val="360"/>
              </a:spcBef>
              <a:spcAft>
                <a:spcPts val="0"/>
              </a:spcAft>
              <a:buNone/>
            </a:pPr>
            <a:r>
              <a:rPr lang="en-US"/>
              <a:t>those that precede it. Thus, if a particular user is granted the updating right for a</a:t>
            </a:r>
            <a:endParaRPr/>
          </a:p>
          <a:p>
            <a:pPr indent="0" lvl="0" marL="0" rtl="0" algn="l">
              <a:spcBef>
                <a:spcPts val="360"/>
              </a:spcBef>
              <a:spcAft>
                <a:spcPts val="0"/>
              </a:spcAft>
              <a:buNone/>
            </a:pPr>
            <a:r>
              <a:rPr lang="en-US"/>
              <a:t>particular file, then that user is also granted the following rights: knowledge, execution,</a:t>
            </a:r>
            <a:endParaRPr/>
          </a:p>
          <a:p>
            <a:pPr indent="0" lvl="0" marL="0" rtl="0" algn="l">
              <a:spcBef>
                <a:spcPts val="360"/>
              </a:spcBef>
              <a:spcAft>
                <a:spcPts val="0"/>
              </a:spcAft>
              <a:buNone/>
            </a:pPr>
            <a:r>
              <a:rPr lang="en-US"/>
              <a:t>reading, and appending.</a:t>
            </a:r>
            <a:endParaRPr/>
          </a:p>
        </p:txBody>
      </p:sp>
      <p:sp>
        <p:nvSpPr>
          <p:cNvPr id="714" name="Google Shape;714;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22" name="Google Shape;722;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One user is designated as owner of a given file, usually the person who initially</a:t>
            </a:r>
            <a:endParaRPr/>
          </a:p>
          <a:p>
            <a:pPr indent="0" lvl="0" marL="0" rtl="0" algn="l">
              <a:spcBef>
                <a:spcPts val="360"/>
              </a:spcBef>
              <a:spcAft>
                <a:spcPts val="0"/>
              </a:spcAft>
              <a:buNone/>
            </a:pPr>
            <a:r>
              <a:rPr lang="en-US"/>
              <a:t>created a file. The owner has all of the access rights listed previously and may grant</a:t>
            </a:r>
            <a:endParaRPr/>
          </a:p>
          <a:p>
            <a:pPr indent="0" lvl="0" marL="0" rtl="0" algn="l">
              <a:spcBef>
                <a:spcPts val="360"/>
              </a:spcBef>
              <a:spcAft>
                <a:spcPts val="0"/>
              </a:spcAft>
              <a:buNone/>
            </a:pPr>
            <a:r>
              <a:rPr lang="en-US"/>
              <a:t>rights to others. Access can be provided to different classes of users: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Specific user: Individual users who are designated by user ID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User groups: A set of users who are not individually defined. The system must</a:t>
            </a:r>
            <a:endParaRPr/>
          </a:p>
          <a:p>
            <a:pPr indent="0" lvl="0" marL="0" rtl="0" algn="l">
              <a:spcBef>
                <a:spcPts val="360"/>
              </a:spcBef>
              <a:spcAft>
                <a:spcPts val="0"/>
              </a:spcAft>
              <a:buNone/>
            </a:pPr>
            <a:r>
              <a:rPr lang="en-US"/>
              <a:t>have some way of keeping track of the membership of user groups.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All: All users who have access to this system. These are public files.</a:t>
            </a:r>
            <a:endParaRPr/>
          </a:p>
        </p:txBody>
      </p:sp>
      <p:sp>
        <p:nvSpPr>
          <p:cNvPr id="723" name="Google Shape;723;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1" name="Google Shape;751;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 secondary storage, a file consists of a collection of blocks. The operating system</a:t>
            </a:r>
            <a:endParaRPr/>
          </a:p>
          <a:p>
            <a:pPr indent="0" lvl="0" marL="0" rtl="0" algn="l">
              <a:spcBef>
                <a:spcPts val="360"/>
              </a:spcBef>
              <a:spcAft>
                <a:spcPts val="0"/>
              </a:spcAft>
              <a:buNone/>
            </a:pPr>
            <a:r>
              <a:rPr lang="en-US"/>
              <a:t>or file management system is responsible for allocating blocks to files. This raises</a:t>
            </a:r>
            <a:endParaRPr/>
          </a:p>
          <a:p>
            <a:pPr indent="0" lvl="0" marL="0" rtl="0" algn="l">
              <a:spcBef>
                <a:spcPts val="360"/>
              </a:spcBef>
              <a:spcAft>
                <a:spcPts val="0"/>
              </a:spcAft>
              <a:buNone/>
            </a:pPr>
            <a:r>
              <a:rPr lang="en-US"/>
              <a:t>two management issues. First, space on secondary storage must be allocated to files,</a:t>
            </a:r>
            <a:endParaRPr/>
          </a:p>
          <a:p>
            <a:pPr indent="0" lvl="0" marL="0" rtl="0" algn="l">
              <a:spcBef>
                <a:spcPts val="360"/>
              </a:spcBef>
              <a:spcAft>
                <a:spcPts val="0"/>
              </a:spcAft>
              <a:buNone/>
            </a:pPr>
            <a:r>
              <a:rPr lang="en-US"/>
              <a:t>and second, it is necessary to keep track of the space available for allocation. We</a:t>
            </a:r>
            <a:endParaRPr/>
          </a:p>
          <a:p>
            <a:pPr indent="0" lvl="0" marL="0" rtl="0" algn="l">
              <a:spcBef>
                <a:spcPts val="360"/>
              </a:spcBef>
              <a:spcAft>
                <a:spcPts val="0"/>
              </a:spcAft>
              <a:buNone/>
            </a:pPr>
            <a:r>
              <a:rPr lang="en-US"/>
              <a:t>will see that these two tasks are related; that is, the approach taken for file allocation</a:t>
            </a:r>
            <a:endParaRPr/>
          </a:p>
          <a:p>
            <a:pPr indent="0" lvl="0" marL="0" rtl="0" algn="l">
              <a:spcBef>
                <a:spcPts val="360"/>
              </a:spcBef>
              <a:spcAft>
                <a:spcPts val="0"/>
              </a:spcAft>
              <a:buNone/>
            </a:pPr>
            <a:r>
              <a:rPr lang="en-US"/>
              <a:t>may influence the approach taken for free space management. Further, we will</a:t>
            </a:r>
            <a:endParaRPr/>
          </a:p>
          <a:p>
            <a:pPr indent="0" lvl="0" marL="0" rtl="0" algn="l">
              <a:spcBef>
                <a:spcPts val="360"/>
              </a:spcBef>
              <a:spcAft>
                <a:spcPts val="0"/>
              </a:spcAft>
              <a:buNone/>
            </a:pPr>
            <a:r>
              <a:rPr lang="en-US"/>
              <a:t>see that there is an interaction between file structure and allocation policy.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We begin this section by looking at alternatives for file allocation on a single</a:t>
            </a:r>
            <a:endParaRPr/>
          </a:p>
          <a:p>
            <a:pPr indent="0" lvl="0" marL="0" rtl="0" algn="l">
              <a:spcBef>
                <a:spcPts val="360"/>
              </a:spcBef>
              <a:spcAft>
                <a:spcPts val="0"/>
              </a:spcAft>
              <a:buNone/>
            </a:pPr>
            <a:r>
              <a:rPr lang="en-US"/>
              <a:t>disk. Then we look at the issue of free space management, and finally we discuss</a:t>
            </a:r>
            <a:endParaRPr/>
          </a:p>
          <a:p>
            <a:pPr indent="0" lvl="0" marL="0" rtl="0" algn="l">
              <a:spcBef>
                <a:spcPts val="360"/>
              </a:spcBef>
              <a:spcAft>
                <a:spcPts val="0"/>
              </a:spcAft>
              <a:buNone/>
            </a:pPr>
            <a:r>
              <a:rPr lang="en-US"/>
              <a:t>reliability.</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File Allocation</a:t>
            </a:r>
            <a:endParaRPr/>
          </a:p>
          <a:p>
            <a:pPr indent="0" lvl="0" marL="0" rtl="0" algn="l">
              <a:spcBef>
                <a:spcPts val="360"/>
              </a:spcBef>
              <a:spcAft>
                <a:spcPts val="0"/>
              </a:spcAft>
              <a:buNone/>
            </a:pPr>
            <a:r>
              <a:rPr lang="en-US"/>
              <a:t>Several issues are involved in file allocation:</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1. When a new file is created, is the maximum space required for the file allocated</a:t>
            </a:r>
            <a:endParaRPr/>
          </a:p>
          <a:p>
            <a:pPr indent="0" lvl="0" marL="0" rtl="0" algn="l">
              <a:spcBef>
                <a:spcPts val="360"/>
              </a:spcBef>
              <a:spcAft>
                <a:spcPts val="0"/>
              </a:spcAft>
              <a:buNone/>
            </a:pPr>
            <a:r>
              <a:rPr lang="en-US"/>
              <a:t>at once?</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2. Space is allocated to a file as one or more contiguous units, which we shall</a:t>
            </a:r>
            <a:endParaRPr/>
          </a:p>
          <a:p>
            <a:pPr indent="0" lvl="0" marL="0" rtl="0" algn="l">
              <a:spcBef>
                <a:spcPts val="360"/>
              </a:spcBef>
              <a:spcAft>
                <a:spcPts val="0"/>
              </a:spcAft>
              <a:buNone/>
            </a:pPr>
            <a:r>
              <a:rPr lang="en-US"/>
              <a:t>refer to as portions. That is, a </a:t>
            </a:r>
            <a:r>
              <a:rPr b="1" lang="en-US"/>
              <a:t>portion is a contiguous set of allocated blocks.</a:t>
            </a:r>
            <a:endParaRPr/>
          </a:p>
          <a:p>
            <a:pPr indent="0" lvl="0" marL="0" rtl="0" algn="l">
              <a:spcBef>
                <a:spcPts val="360"/>
              </a:spcBef>
              <a:spcAft>
                <a:spcPts val="0"/>
              </a:spcAft>
              <a:buNone/>
            </a:pPr>
            <a:r>
              <a:rPr lang="en-US"/>
              <a:t>The size of a portion can range from a single block to the entire file. What size</a:t>
            </a:r>
            <a:endParaRPr/>
          </a:p>
          <a:p>
            <a:pPr indent="0" lvl="0" marL="0" rtl="0" algn="l">
              <a:spcBef>
                <a:spcPts val="360"/>
              </a:spcBef>
              <a:spcAft>
                <a:spcPts val="0"/>
              </a:spcAft>
              <a:buNone/>
            </a:pPr>
            <a:r>
              <a:rPr lang="en-US"/>
              <a:t>of portion should be used for file allocation?</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3. What sort of data structure or table is used to keep track of the portions</a:t>
            </a:r>
            <a:endParaRPr/>
          </a:p>
          <a:p>
            <a:pPr indent="0" lvl="0" marL="0" rtl="0" algn="l">
              <a:spcBef>
                <a:spcPts val="360"/>
              </a:spcBef>
              <a:spcAft>
                <a:spcPts val="0"/>
              </a:spcAft>
              <a:buNone/>
            </a:pPr>
            <a:r>
              <a:rPr lang="en-US"/>
              <a:t>assigned to a file? An example of such a structure is a </a:t>
            </a:r>
            <a:r>
              <a:rPr b="1" lang="en-US"/>
              <a:t>file allocation table</a:t>
            </a:r>
            <a:endParaRPr/>
          </a:p>
          <a:p>
            <a:pPr indent="0" lvl="0" marL="0" rtl="0" algn="l">
              <a:spcBef>
                <a:spcPts val="360"/>
              </a:spcBef>
              <a:spcAft>
                <a:spcPts val="0"/>
              </a:spcAft>
              <a:buNone/>
            </a:pPr>
            <a:r>
              <a:rPr b="1" lang="en-US"/>
              <a:t>(FAT) , found on DOS and some other systems.</a:t>
            </a:r>
            <a:endParaRPr/>
          </a:p>
        </p:txBody>
      </p:sp>
      <p:sp>
        <p:nvSpPr>
          <p:cNvPr id="752" name="Google Shape;752;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9" name="Google Shape;759;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 secondary storage, a file consists of a collection of blocks. The operating system</a:t>
            </a:r>
            <a:endParaRPr/>
          </a:p>
          <a:p>
            <a:pPr indent="0" lvl="0" marL="0" rtl="0" algn="l">
              <a:spcBef>
                <a:spcPts val="360"/>
              </a:spcBef>
              <a:spcAft>
                <a:spcPts val="0"/>
              </a:spcAft>
              <a:buNone/>
            </a:pPr>
            <a:r>
              <a:rPr lang="en-US"/>
              <a:t>or file management system is responsible for allocating blocks to files. This raises</a:t>
            </a:r>
            <a:endParaRPr/>
          </a:p>
          <a:p>
            <a:pPr indent="0" lvl="0" marL="0" rtl="0" algn="l">
              <a:spcBef>
                <a:spcPts val="360"/>
              </a:spcBef>
              <a:spcAft>
                <a:spcPts val="0"/>
              </a:spcAft>
              <a:buNone/>
            </a:pPr>
            <a:r>
              <a:rPr lang="en-US"/>
              <a:t>two management issues. First, space on secondary storage must be allocated to files,</a:t>
            </a:r>
            <a:endParaRPr/>
          </a:p>
          <a:p>
            <a:pPr indent="0" lvl="0" marL="0" rtl="0" algn="l">
              <a:spcBef>
                <a:spcPts val="360"/>
              </a:spcBef>
              <a:spcAft>
                <a:spcPts val="0"/>
              </a:spcAft>
              <a:buNone/>
            </a:pPr>
            <a:r>
              <a:rPr lang="en-US"/>
              <a:t>and second, it is necessary to keep track of the space available for allocation. We</a:t>
            </a:r>
            <a:endParaRPr/>
          </a:p>
          <a:p>
            <a:pPr indent="0" lvl="0" marL="0" rtl="0" algn="l">
              <a:spcBef>
                <a:spcPts val="360"/>
              </a:spcBef>
              <a:spcAft>
                <a:spcPts val="0"/>
              </a:spcAft>
              <a:buNone/>
            </a:pPr>
            <a:r>
              <a:rPr lang="en-US"/>
              <a:t>will see that these two tasks are related; that is, the approach taken for file allocation</a:t>
            </a:r>
            <a:endParaRPr/>
          </a:p>
          <a:p>
            <a:pPr indent="0" lvl="0" marL="0" rtl="0" algn="l">
              <a:spcBef>
                <a:spcPts val="360"/>
              </a:spcBef>
              <a:spcAft>
                <a:spcPts val="0"/>
              </a:spcAft>
              <a:buNone/>
            </a:pPr>
            <a:r>
              <a:rPr lang="en-US"/>
              <a:t>may influence the approach taken for free space management. Further, we will</a:t>
            </a:r>
            <a:endParaRPr/>
          </a:p>
          <a:p>
            <a:pPr indent="0" lvl="0" marL="0" rtl="0" algn="l">
              <a:spcBef>
                <a:spcPts val="360"/>
              </a:spcBef>
              <a:spcAft>
                <a:spcPts val="0"/>
              </a:spcAft>
              <a:buNone/>
            </a:pPr>
            <a:r>
              <a:rPr lang="en-US"/>
              <a:t>see that there is an interaction between file structure and allocation policy.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We begin this section by looking at alternatives for file allocation on a single</a:t>
            </a:r>
            <a:endParaRPr/>
          </a:p>
          <a:p>
            <a:pPr indent="0" lvl="0" marL="0" rtl="0" algn="l">
              <a:spcBef>
                <a:spcPts val="360"/>
              </a:spcBef>
              <a:spcAft>
                <a:spcPts val="0"/>
              </a:spcAft>
              <a:buNone/>
            </a:pPr>
            <a:r>
              <a:rPr lang="en-US"/>
              <a:t>disk. Then we look at the issue of free space management, and finally we discuss</a:t>
            </a:r>
            <a:endParaRPr/>
          </a:p>
          <a:p>
            <a:pPr indent="0" lvl="0" marL="0" rtl="0" algn="l">
              <a:spcBef>
                <a:spcPts val="360"/>
              </a:spcBef>
              <a:spcAft>
                <a:spcPts val="0"/>
              </a:spcAft>
              <a:buNone/>
            </a:pPr>
            <a:r>
              <a:rPr lang="en-US"/>
              <a:t>reliability.</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File Allocation</a:t>
            </a:r>
            <a:endParaRPr/>
          </a:p>
          <a:p>
            <a:pPr indent="0" lvl="0" marL="0" rtl="0" algn="l">
              <a:spcBef>
                <a:spcPts val="360"/>
              </a:spcBef>
              <a:spcAft>
                <a:spcPts val="0"/>
              </a:spcAft>
              <a:buNone/>
            </a:pPr>
            <a:r>
              <a:rPr lang="en-US"/>
              <a:t>Several issues are involved in file allocation:</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1. When a new file is created, is the maximum space required for the file allocated</a:t>
            </a:r>
            <a:endParaRPr/>
          </a:p>
          <a:p>
            <a:pPr indent="0" lvl="0" marL="0" rtl="0" algn="l">
              <a:spcBef>
                <a:spcPts val="360"/>
              </a:spcBef>
              <a:spcAft>
                <a:spcPts val="0"/>
              </a:spcAft>
              <a:buNone/>
            </a:pPr>
            <a:r>
              <a:rPr lang="en-US"/>
              <a:t>at once?</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2. Space is allocated to a file as one or more contiguous units, which we shall</a:t>
            </a:r>
            <a:endParaRPr/>
          </a:p>
          <a:p>
            <a:pPr indent="0" lvl="0" marL="0" rtl="0" algn="l">
              <a:spcBef>
                <a:spcPts val="360"/>
              </a:spcBef>
              <a:spcAft>
                <a:spcPts val="0"/>
              </a:spcAft>
              <a:buNone/>
            </a:pPr>
            <a:r>
              <a:rPr lang="en-US"/>
              <a:t>refer to as portions. That is, a </a:t>
            </a:r>
            <a:r>
              <a:rPr b="1" lang="en-US"/>
              <a:t>portion is a contiguous set of allocated blocks.</a:t>
            </a:r>
            <a:endParaRPr/>
          </a:p>
          <a:p>
            <a:pPr indent="0" lvl="0" marL="0" rtl="0" algn="l">
              <a:spcBef>
                <a:spcPts val="360"/>
              </a:spcBef>
              <a:spcAft>
                <a:spcPts val="0"/>
              </a:spcAft>
              <a:buNone/>
            </a:pPr>
            <a:r>
              <a:rPr lang="en-US"/>
              <a:t>The size of a portion can range from a single block to the entire file. What size</a:t>
            </a:r>
            <a:endParaRPr/>
          </a:p>
          <a:p>
            <a:pPr indent="0" lvl="0" marL="0" rtl="0" algn="l">
              <a:spcBef>
                <a:spcPts val="360"/>
              </a:spcBef>
              <a:spcAft>
                <a:spcPts val="0"/>
              </a:spcAft>
              <a:buNone/>
            </a:pPr>
            <a:r>
              <a:rPr lang="en-US"/>
              <a:t>of portion should be used for file allocation?</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3. What sort of data structure or table is used to keep track of the portions</a:t>
            </a:r>
            <a:endParaRPr/>
          </a:p>
          <a:p>
            <a:pPr indent="0" lvl="0" marL="0" rtl="0" algn="l">
              <a:spcBef>
                <a:spcPts val="360"/>
              </a:spcBef>
              <a:spcAft>
                <a:spcPts val="0"/>
              </a:spcAft>
              <a:buNone/>
            </a:pPr>
            <a:r>
              <a:rPr lang="en-US"/>
              <a:t>assigned to a file? An example of such a structure is a </a:t>
            </a:r>
            <a:r>
              <a:rPr b="1" lang="en-US"/>
              <a:t>file allocation table</a:t>
            </a:r>
            <a:endParaRPr/>
          </a:p>
          <a:p>
            <a:pPr indent="0" lvl="0" marL="0" rtl="0" algn="l">
              <a:spcBef>
                <a:spcPts val="360"/>
              </a:spcBef>
              <a:spcAft>
                <a:spcPts val="0"/>
              </a:spcAft>
              <a:buNone/>
            </a:pPr>
            <a:r>
              <a:rPr b="1" lang="en-US"/>
              <a:t>(FAT) , found on DOS and some other systems.</a:t>
            </a:r>
            <a:endParaRPr/>
          </a:p>
        </p:txBody>
      </p:sp>
      <p:sp>
        <p:nvSpPr>
          <p:cNvPr id="760" name="Google Shape;760;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67" name="Google Shape;767;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 secondary storage, a file consists of a collection of blocks. The operating system</a:t>
            </a:r>
            <a:endParaRPr/>
          </a:p>
          <a:p>
            <a:pPr indent="0" lvl="0" marL="0" rtl="0" algn="l">
              <a:spcBef>
                <a:spcPts val="360"/>
              </a:spcBef>
              <a:spcAft>
                <a:spcPts val="0"/>
              </a:spcAft>
              <a:buNone/>
            </a:pPr>
            <a:r>
              <a:rPr lang="en-US"/>
              <a:t>or file management system is responsible for allocating blocks to files. This raises</a:t>
            </a:r>
            <a:endParaRPr/>
          </a:p>
          <a:p>
            <a:pPr indent="0" lvl="0" marL="0" rtl="0" algn="l">
              <a:spcBef>
                <a:spcPts val="360"/>
              </a:spcBef>
              <a:spcAft>
                <a:spcPts val="0"/>
              </a:spcAft>
              <a:buNone/>
            </a:pPr>
            <a:r>
              <a:rPr lang="en-US"/>
              <a:t>two management issues. First, space on secondary storage must be allocated to files,</a:t>
            </a:r>
            <a:endParaRPr/>
          </a:p>
          <a:p>
            <a:pPr indent="0" lvl="0" marL="0" rtl="0" algn="l">
              <a:spcBef>
                <a:spcPts val="360"/>
              </a:spcBef>
              <a:spcAft>
                <a:spcPts val="0"/>
              </a:spcAft>
              <a:buNone/>
            </a:pPr>
            <a:r>
              <a:rPr lang="en-US"/>
              <a:t>and second, it is necessary to keep track of the space available for allocation. We</a:t>
            </a:r>
            <a:endParaRPr/>
          </a:p>
          <a:p>
            <a:pPr indent="0" lvl="0" marL="0" rtl="0" algn="l">
              <a:spcBef>
                <a:spcPts val="360"/>
              </a:spcBef>
              <a:spcAft>
                <a:spcPts val="0"/>
              </a:spcAft>
              <a:buNone/>
            </a:pPr>
            <a:r>
              <a:rPr lang="en-US"/>
              <a:t>will see that these two tasks are related; that is, the approach taken for file allocation</a:t>
            </a:r>
            <a:endParaRPr/>
          </a:p>
          <a:p>
            <a:pPr indent="0" lvl="0" marL="0" rtl="0" algn="l">
              <a:spcBef>
                <a:spcPts val="360"/>
              </a:spcBef>
              <a:spcAft>
                <a:spcPts val="0"/>
              </a:spcAft>
              <a:buNone/>
            </a:pPr>
            <a:r>
              <a:rPr lang="en-US"/>
              <a:t>may influence the approach taken for free space management. Further, we will</a:t>
            </a:r>
            <a:endParaRPr/>
          </a:p>
          <a:p>
            <a:pPr indent="0" lvl="0" marL="0" rtl="0" algn="l">
              <a:spcBef>
                <a:spcPts val="360"/>
              </a:spcBef>
              <a:spcAft>
                <a:spcPts val="0"/>
              </a:spcAft>
              <a:buNone/>
            </a:pPr>
            <a:r>
              <a:rPr lang="en-US"/>
              <a:t>see that there is an interaction between file structure and allocation policy.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We begin this section by looking at alternatives for file allocation on a single</a:t>
            </a:r>
            <a:endParaRPr/>
          </a:p>
          <a:p>
            <a:pPr indent="0" lvl="0" marL="0" rtl="0" algn="l">
              <a:spcBef>
                <a:spcPts val="360"/>
              </a:spcBef>
              <a:spcAft>
                <a:spcPts val="0"/>
              </a:spcAft>
              <a:buNone/>
            </a:pPr>
            <a:r>
              <a:rPr lang="en-US"/>
              <a:t>disk. Then we look at the issue of free space management, and finally we discuss</a:t>
            </a:r>
            <a:endParaRPr/>
          </a:p>
          <a:p>
            <a:pPr indent="0" lvl="0" marL="0" rtl="0" algn="l">
              <a:spcBef>
                <a:spcPts val="360"/>
              </a:spcBef>
              <a:spcAft>
                <a:spcPts val="0"/>
              </a:spcAft>
              <a:buNone/>
            </a:pPr>
            <a:r>
              <a:rPr lang="en-US"/>
              <a:t>reliability.</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File Allocation</a:t>
            </a:r>
            <a:endParaRPr/>
          </a:p>
          <a:p>
            <a:pPr indent="0" lvl="0" marL="0" rtl="0" algn="l">
              <a:spcBef>
                <a:spcPts val="360"/>
              </a:spcBef>
              <a:spcAft>
                <a:spcPts val="0"/>
              </a:spcAft>
              <a:buNone/>
            </a:pPr>
            <a:r>
              <a:rPr lang="en-US"/>
              <a:t>Several issues are involved in file allocation:</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1. When a new file is created, is the maximum space required for the file allocated</a:t>
            </a:r>
            <a:endParaRPr/>
          </a:p>
          <a:p>
            <a:pPr indent="0" lvl="0" marL="0" rtl="0" algn="l">
              <a:spcBef>
                <a:spcPts val="360"/>
              </a:spcBef>
              <a:spcAft>
                <a:spcPts val="0"/>
              </a:spcAft>
              <a:buNone/>
            </a:pPr>
            <a:r>
              <a:rPr lang="en-US"/>
              <a:t>at once?</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2. Space is allocated to a file as one or more contiguous units, which we shall</a:t>
            </a:r>
            <a:endParaRPr/>
          </a:p>
          <a:p>
            <a:pPr indent="0" lvl="0" marL="0" rtl="0" algn="l">
              <a:spcBef>
                <a:spcPts val="360"/>
              </a:spcBef>
              <a:spcAft>
                <a:spcPts val="0"/>
              </a:spcAft>
              <a:buNone/>
            </a:pPr>
            <a:r>
              <a:rPr lang="en-US"/>
              <a:t>refer to as portions. That is, a </a:t>
            </a:r>
            <a:r>
              <a:rPr b="1" lang="en-US"/>
              <a:t>portion is a contiguous set of allocated blocks.</a:t>
            </a:r>
            <a:endParaRPr/>
          </a:p>
          <a:p>
            <a:pPr indent="0" lvl="0" marL="0" rtl="0" algn="l">
              <a:spcBef>
                <a:spcPts val="360"/>
              </a:spcBef>
              <a:spcAft>
                <a:spcPts val="0"/>
              </a:spcAft>
              <a:buNone/>
            </a:pPr>
            <a:r>
              <a:rPr lang="en-US"/>
              <a:t>The size of a portion can range from a single block to the entire file. What size</a:t>
            </a:r>
            <a:endParaRPr/>
          </a:p>
          <a:p>
            <a:pPr indent="0" lvl="0" marL="0" rtl="0" algn="l">
              <a:spcBef>
                <a:spcPts val="360"/>
              </a:spcBef>
              <a:spcAft>
                <a:spcPts val="0"/>
              </a:spcAft>
              <a:buNone/>
            </a:pPr>
            <a:r>
              <a:rPr lang="en-US"/>
              <a:t>of portion should be used for file allocation?</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3. What sort of data structure or table is used to keep track of the portions</a:t>
            </a:r>
            <a:endParaRPr/>
          </a:p>
          <a:p>
            <a:pPr indent="0" lvl="0" marL="0" rtl="0" algn="l">
              <a:spcBef>
                <a:spcPts val="360"/>
              </a:spcBef>
              <a:spcAft>
                <a:spcPts val="0"/>
              </a:spcAft>
              <a:buNone/>
            </a:pPr>
            <a:r>
              <a:rPr lang="en-US"/>
              <a:t>assigned to a file? An example of such a structure is a </a:t>
            </a:r>
            <a:r>
              <a:rPr b="1" lang="en-US"/>
              <a:t>file allocation table</a:t>
            </a:r>
            <a:endParaRPr/>
          </a:p>
          <a:p>
            <a:pPr indent="0" lvl="0" marL="0" rtl="0" algn="l">
              <a:spcBef>
                <a:spcPts val="360"/>
              </a:spcBef>
              <a:spcAft>
                <a:spcPts val="0"/>
              </a:spcAft>
              <a:buNone/>
            </a:pPr>
            <a:r>
              <a:rPr b="1" lang="en-US"/>
              <a:t>(FAT) , found on DOS and some other systems.</a:t>
            </a:r>
            <a:endParaRPr/>
          </a:p>
        </p:txBody>
      </p:sp>
      <p:sp>
        <p:nvSpPr>
          <p:cNvPr id="768" name="Google Shape;768;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75" name="Google Shape;775;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preallocation policy requires</a:t>
            </a:r>
            <a:endParaRPr/>
          </a:p>
          <a:p>
            <a:pPr indent="0" lvl="0" marL="0" rtl="0" algn="l">
              <a:spcBef>
                <a:spcPts val="360"/>
              </a:spcBef>
              <a:spcAft>
                <a:spcPts val="0"/>
              </a:spcAft>
              <a:buNone/>
            </a:pPr>
            <a:r>
              <a:rPr lang="en-US"/>
              <a:t>that the maximum size of a file be declared at the time of the file creation request.</a:t>
            </a:r>
            <a:endParaRPr/>
          </a:p>
          <a:p>
            <a:pPr indent="0" lvl="0" marL="0" rtl="0" algn="l">
              <a:spcBef>
                <a:spcPts val="360"/>
              </a:spcBef>
              <a:spcAft>
                <a:spcPts val="0"/>
              </a:spcAft>
              <a:buNone/>
            </a:pPr>
            <a:r>
              <a:rPr lang="en-US"/>
              <a:t>In a number of cases, such as program compilations, the production of summary</a:t>
            </a:r>
            <a:endParaRPr/>
          </a:p>
          <a:p>
            <a:pPr indent="0" lvl="0" marL="0" rtl="0" algn="l">
              <a:spcBef>
                <a:spcPts val="360"/>
              </a:spcBef>
              <a:spcAft>
                <a:spcPts val="0"/>
              </a:spcAft>
              <a:buNone/>
            </a:pPr>
            <a:r>
              <a:rPr lang="en-US"/>
              <a:t>data files, or the transfer of a file from another system over a communications</a:t>
            </a:r>
            <a:endParaRPr/>
          </a:p>
          <a:p>
            <a:pPr indent="0" lvl="0" marL="0" rtl="0" algn="l">
              <a:spcBef>
                <a:spcPts val="360"/>
              </a:spcBef>
              <a:spcAft>
                <a:spcPts val="0"/>
              </a:spcAft>
              <a:buNone/>
            </a:pPr>
            <a:r>
              <a:rPr lang="en-US"/>
              <a:t>network, this value can be reliably estimated. However, for many applications, it</a:t>
            </a:r>
            <a:endParaRPr/>
          </a:p>
          <a:p>
            <a:pPr indent="0" lvl="0" marL="0" rtl="0" algn="l">
              <a:spcBef>
                <a:spcPts val="360"/>
              </a:spcBef>
              <a:spcAft>
                <a:spcPts val="0"/>
              </a:spcAft>
              <a:buNone/>
            </a:pPr>
            <a:r>
              <a:rPr lang="en-US"/>
              <a:t>is difficult if not impossible to estimate reliably the maximum potential size of the</a:t>
            </a:r>
            <a:endParaRPr/>
          </a:p>
          <a:p>
            <a:pPr indent="0" lvl="0" marL="0" rtl="0" algn="l">
              <a:spcBef>
                <a:spcPts val="360"/>
              </a:spcBef>
              <a:spcAft>
                <a:spcPts val="0"/>
              </a:spcAft>
              <a:buNone/>
            </a:pPr>
            <a:r>
              <a:rPr lang="en-US"/>
              <a:t>file. In those cases, users and application programmers would tend to overestimate</a:t>
            </a:r>
            <a:endParaRPr/>
          </a:p>
          <a:p>
            <a:pPr indent="0" lvl="0" marL="0" rtl="0" algn="l">
              <a:spcBef>
                <a:spcPts val="360"/>
              </a:spcBef>
              <a:spcAft>
                <a:spcPts val="0"/>
              </a:spcAft>
              <a:buNone/>
            </a:pPr>
            <a:r>
              <a:rPr lang="en-US"/>
              <a:t>file size so as not to run out of space. This clearly is wasteful from the point of view</a:t>
            </a:r>
            <a:endParaRPr/>
          </a:p>
          <a:p>
            <a:pPr indent="0" lvl="0" marL="0" rtl="0" algn="l">
              <a:spcBef>
                <a:spcPts val="360"/>
              </a:spcBef>
              <a:spcAft>
                <a:spcPts val="0"/>
              </a:spcAft>
              <a:buNone/>
            </a:pPr>
            <a:r>
              <a:rPr lang="en-US"/>
              <a:t>of secondary storage allocation. Thus, there are advantages to the use of dynamic</a:t>
            </a:r>
            <a:endParaRPr/>
          </a:p>
          <a:p>
            <a:pPr indent="0" lvl="0" marL="0" rtl="0" algn="l">
              <a:spcBef>
                <a:spcPts val="360"/>
              </a:spcBef>
              <a:spcAft>
                <a:spcPts val="0"/>
              </a:spcAft>
              <a:buNone/>
            </a:pPr>
            <a:r>
              <a:rPr lang="en-US"/>
              <a:t>allocation, which allocates space to a file in portions as needed.</a:t>
            </a:r>
            <a:endParaRPr/>
          </a:p>
        </p:txBody>
      </p:sp>
      <p:sp>
        <p:nvSpPr>
          <p:cNvPr id="776" name="Google Shape;776;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83" name="Google Shape;783;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second issue listed is that of the size of the portion allocated to a</a:t>
            </a:r>
            <a:endParaRPr/>
          </a:p>
          <a:p>
            <a:pPr indent="0" lvl="0" marL="0" rtl="0" algn="l">
              <a:spcBef>
                <a:spcPts val="360"/>
              </a:spcBef>
              <a:spcAft>
                <a:spcPts val="0"/>
              </a:spcAft>
              <a:buNone/>
            </a:pPr>
            <a:r>
              <a:rPr lang="en-US"/>
              <a:t>file. At one extreme, a portion large enough to hold the entire file is allocated. At the</a:t>
            </a:r>
            <a:endParaRPr/>
          </a:p>
          <a:p>
            <a:pPr indent="0" lvl="0" marL="0" rtl="0" algn="l">
              <a:spcBef>
                <a:spcPts val="360"/>
              </a:spcBef>
              <a:spcAft>
                <a:spcPts val="0"/>
              </a:spcAft>
              <a:buNone/>
            </a:pPr>
            <a:r>
              <a:rPr lang="en-US"/>
              <a:t>other extreme, space on the disk is allocated one block at a time. In choosing a portion</a:t>
            </a:r>
            <a:endParaRPr/>
          </a:p>
          <a:p>
            <a:pPr indent="0" lvl="0" marL="0" rtl="0" algn="l">
              <a:spcBef>
                <a:spcPts val="360"/>
              </a:spcBef>
              <a:spcAft>
                <a:spcPts val="0"/>
              </a:spcAft>
              <a:buNone/>
            </a:pPr>
            <a:r>
              <a:rPr lang="en-US"/>
              <a:t>size, there is a trade-off between efficiency from the point of view of a single file versus</a:t>
            </a:r>
            <a:endParaRPr/>
          </a:p>
          <a:p>
            <a:pPr indent="0" lvl="0" marL="0" rtl="0" algn="l">
              <a:spcBef>
                <a:spcPts val="360"/>
              </a:spcBef>
              <a:spcAft>
                <a:spcPts val="0"/>
              </a:spcAft>
              <a:buNone/>
            </a:pPr>
            <a:r>
              <a:rPr lang="en-US"/>
              <a:t>overall system efficiency. [WIED87] lists four items to be considered in the trade-off:</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1. Contiguity of space increases performance, especially for Retrieve_Next</a:t>
            </a:r>
            <a:endParaRPr/>
          </a:p>
          <a:p>
            <a:pPr indent="0" lvl="0" marL="0" rtl="0" algn="l">
              <a:spcBef>
                <a:spcPts val="360"/>
              </a:spcBef>
              <a:spcAft>
                <a:spcPts val="0"/>
              </a:spcAft>
              <a:buNone/>
            </a:pPr>
            <a:r>
              <a:rPr lang="en-US"/>
              <a:t>operations, and greatly for transactions running in a transaction-oriented</a:t>
            </a:r>
            <a:endParaRPr/>
          </a:p>
          <a:p>
            <a:pPr indent="0" lvl="0" marL="0" rtl="0" algn="l">
              <a:spcBef>
                <a:spcPts val="360"/>
              </a:spcBef>
              <a:spcAft>
                <a:spcPts val="0"/>
              </a:spcAft>
              <a:buNone/>
            </a:pPr>
            <a:r>
              <a:rPr lang="en-US"/>
              <a:t>operating system.</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2. Having a large number of small portions increases the size of tables needed to</a:t>
            </a:r>
            <a:endParaRPr/>
          </a:p>
          <a:p>
            <a:pPr indent="0" lvl="0" marL="0" rtl="0" algn="l">
              <a:spcBef>
                <a:spcPts val="360"/>
              </a:spcBef>
              <a:spcAft>
                <a:spcPts val="0"/>
              </a:spcAft>
              <a:buNone/>
            </a:pPr>
            <a:r>
              <a:rPr lang="en-US"/>
              <a:t>manage the allocation information.</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3. Having fixed-size portions (e.g., blocks) simplifies the reallocation of space.</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4. Having variable-size or small fixed-size portions minimizes waste of unused</a:t>
            </a:r>
            <a:endParaRPr/>
          </a:p>
          <a:p>
            <a:pPr indent="0" lvl="0" marL="0" rtl="0" algn="l">
              <a:spcBef>
                <a:spcPts val="360"/>
              </a:spcBef>
              <a:spcAft>
                <a:spcPts val="0"/>
              </a:spcAft>
              <a:buNone/>
            </a:pPr>
            <a:r>
              <a:rPr lang="en-US"/>
              <a:t>storage due to overallocation.</a:t>
            </a:r>
            <a:endParaRPr/>
          </a:p>
        </p:txBody>
      </p:sp>
      <p:sp>
        <p:nvSpPr>
          <p:cNvPr id="784" name="Google Shape;784;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91" name="Google Shape;791;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360"/>
              </a:spcBef>
              <a:spcAft>
                <a:spcPts val="0"/>
              </a:spcAft>
              <a:buNone/>
            </a:pPr>
            <a:r>
              <a:rPr lang="en-US"/>
              <a:t>Of course, these items interact and must be considered together. The result is</a:t>
            </a:r>
            <a:endParaRPr/>
          </a:p>
          <a:p>
            <a:pPr indent="0" lvl="0" marL="0" rtl="0" algn="l">
              <a:spcBef>
                <a:spcPts val="360"/>
              </a:spcBef>
              <a:spcAft>
                <a:spcPts val="0"/>
              </a:spcAft>
              <a:buNone/>
            </a:pPr>
            <a:r>
              <a:rPr lang="en-US"/>
              <a:t>that there are two major alternatives: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Variable, large contiguous portions: This will provide better performance. The</a:t>
            </a:r>
            <a:endParaRPr/>
          </a:p>
          <a:p>
            <a:pPr indent="0" lvl="0" marL="0" rtl="0" algn="l">
              <a:spcBef>
                <a:spcPts val="360"/>
              </a:spcBef>
              <a:spcAft>
                <a:spcPts val="0"/>
              </a:spcAft>
              <a:buNone/>
            </a:pPr>
            <a:r>
              <a:rPr lang="en-US"/>
              <a:t>variable size avoids waste, and the file allocation tables are small. However,</a:t>
            </a:r>
            <a:endParaRPr/>
          </a:p>
          <a:p>
            <a:pPr indent="0" lvl="0" marL="0" rtl="0" algn="l">
              <a:spcBef>
                <a:spcPts val="360"/>
              </a:spcBef>
              <a:spcAft>
                <a:spcPts val="0"/>
              </a:spcAft>
              <a:buNone/>
            </a:pPr>
            <a:r>
              <a:rPr lang="en-US"/>
              <a:t>space is hard to reuse.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Blocks : Small fixed portions provide greater flexibility. They may require</a:t>
            </a:r>
            <a:endParaRPr/>
          </a:p>
          <a:p>
            <a:pPr indent="0" lvl="0" marL="0" rtl="0" algn="l">
              <a:spcBef>
                <a:spcPts val="360"/>
              </a:spcBef>
              <a:spcAft>
                <a:spcPts val="0"/>
              </a:spcAft>
              <a:buNone/>
            </a:pPr>
            <a:r>
              <a:rPr lang="en-US"/>
              <a:t>large tables or complex structures for their allocation. Contiguity has been</a:t>
            </a:r>
            <a:endParaRPr/>
          </a:p>
          <a:p>
            <a:pPr indent="0" lvl="0" marL="0" rtl="0" algn="l">
              <a:spcBef>
                <a:spcPts val="360"/>
              </a:spcBef>
              <a:spcAft>
                <a:spcPts val="0"/>
              </a:spcAft>
              <a:buNone/>
            </a:pPr>
            <a:r>
              <a:rPr lang="en-US"/>
              <a:t>abandoned as a primary goal; blocks are allocated as needed.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Either option is compatible with preallocation or dynamic allocation. In</a:t>
            </a:r>
            <a:endParaRPr/>
          </a:p>
          <a:p>
            <a:pPr indent="0" lvl="0" marL="0" rtl="0" algn="l">
              <a:spcBef>
                <a:spcPts val="360"/>
              </a:spcBef>
              <a:spcAft>
                <a:spcPts val="0"/>
              </a:spcAft>
              <a:buNone/>
            </a:pPr>
            <a:r>
              <a:rPr lang="en-US"/>
              <a:t>the case of variable, large contiguous portions, a file is preallocated one contiguous</a:t>
            </a:r>
            <a:endParaRPr/>
          </a:p>
          <a:p>
            <a:pPr indent="0" lvl="0" marL="0" rtl="0" algn="l">
              <a:spcBef>
                <a:spcPts val="360"/>
              </a:spcBef>
              <a:spcAft>
                <a:spcPts val="0"/>
              </a:spcAft>
              <a:buNone/>
            </a:pPr>
            <a:r>
              <a:rPr lang="en-US"/>
              <a:t>group of blocks. This eliminates the need for a file allocation table; all that is</a:t>
            </a:r>
            <a:endParaRPr/>
          </a:p>
          <a:p>
            <a:pPr indent="0" lvl="0" marL="0" rtl="0" algn="l">
              <a:spcBef>
                <a:spcPts val="360"/>
              </a:spcBef>
              <a:spcAft>
                <a:spcPts val="0"/>
              </a:spcAft>
              <a:buNone/>
            </a:pPr>
            <a:r>
              <a:rPr lang="en-US"/>
              <a:t>required is a pointer to the first block and the number of blocks allocated. In the</a:t>
            </a:r>
            <a:endParaRPr/>
          </a:p>
          <a:p>
            <a:pPr indent="0" lvl="0" marL="0" rtl="0" algn="l">
              <a:spcBef>
                <a:spcPts val="360"/>
              </a:spcBef>
              <a:spcAft>
                <a:spcPts val="0"/>
              </a:spcAft>
              <a:buNone/>
            </a:pPr>
            <a:r>
              <a:rPr lang="en-US"/>
              <a:t>case of blocks, all of the portions required are allocated at one time. This means that</a:t>
            </a:r>
            <a:endParaRPr/>
          </a:p>
          <a:p>
            <a:pPr indent="0" lvl="0" marL="0" rtl="0" algn="l">
              <a:spcBef>
                <a:spcPts val="360"/>
              </a:spcBef>
              <a:spcAft>
                <a:spcPts val="0"/>
              </a:spcAft>
              <a:buNone/>
            </a:pPr>
            <a:r>
              <a:rPr lang="en-US"/>
              <a:t>the file allocation table for the file will remain of fixed size, because the number of</a:t>
            </a:r>
            <a:endParaRPr/>
          </a:p>
          <a:p>
            <a:pPr indent="0" lvl="0" marL="0" rtl="0" algn="l">
              <a:spcBef>
                <a:spcPts val="360"/>
              </a:spcBef>
              <a:spcAft>
                <a:spcPts val="0"/>
              </a:spcAft>
              <a:buNone/>
            </a:pPr>
            <a:r>
              <a:rPr lang="en-US"/>
              <a:t>blocks allocated is fixed.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With variable-size portions, we need to be concerned with the fragmentation</a:t>
            </a:r>
            <a:endParaRPr/>
          </a:p>
          <a:p>
            <a:pPr indent="0" lvl="0" marL="0" rtl="0" algn="l">
              <a:spcBef>
                <a:spcPts val="360"/>
              </a:spcBef>
              <a:spcAft>
                <a:spcPts val="0"/>
              </a:spcAft>
              <a:buNone/>
            </a:pPr>
            <a:r>
              <a:rPr lang="en-US"/>
              <a:t>of free space. This issue was faced when we considered partitioned main memory in</a:t>
            </a:r>
            <a:endParaRPr/>
          </a:p>
          <a:p>
            <a:pPr indent="0" lvl="0" marL="0" rtl="0" algn="l">
              <a:spcBef>
                <a:spcPts val="360"/>
              </a:spcBef>
              <a:spcAft>
                <a:spcPts val="0"/>
              </a:spcAft>
              <a:buNone/>
            </a:pPr>
            <a:r>
              <a:rPr lang="en-US"/>
              <a:t>Chapter 7 . The following are possible alternative strategies: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First fit: Choose the first unused contiguous group of blocks of sufficient size</a:t>
            </a:r>
            <a:endParaRPr/>
          </a:p>
          <a:p>
            <a:pPr indent="0" lvl="0" marL="0" rtl="0" algn="l">
              <a:spcBef>
                <a:spcPts val="360"/>
              </a:spcBef>
              <a:spcAft>
                <a:spcPts val="0"/>
              </a:spcAft>
              <a:buNone/>
            </a:pPr>
            <a:r>
              <a:rPr lang="en-US"/>
              <a:t>from a free block list.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Best fit: Choose the smallest unused group that is of sufficient size.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Nearest fit: Choose the unused group of sufficient size that is closest to the</a:t>
            </a:r>
            <a:endParaRPr/>
          </a:p>
          <a:p>
            <a:pPr indent="0" lvl="0" marL="0" rtl="0" algn="l">
              <a:spcBef>
                <a:spcPts val="360"/>
              </a:spcBef>
              <a:spcAft>
                <a:spcPts val="0"/>
              </a:spcAft>
              <a:buNone/>
            </a:pPr>
            <a:r>
              <a:rPr lang="en-US"/>
              <a:t>previous allocation for the file to increase locality.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It is not clear which strategy is best. The difficulty in modeling alternative</a:t>
            </a:r>
            <a:endParaRPr/>
          </a:p>
          <a:p>
            <a:pPr indent="0" lvl="0" marL="0" rtl="0" algn="l">
              <a:spcBef>
                <a:spcPts val="360"/>
              </a:spcBef>
              <a:spcAft>
                <a:spcPts val="0"/>
              </a:spcAft>
              <a:buNone/>
            </a:pPr>
            <a:r>
              <a:rPr lang="en-US"/>
              <a:t>strategies is that so many factors interact, including types of files, pattern of file</a:t>
            </a:r>
            <a:endParaRPr/>
          </a:p>
          <a:p>
            <a:pPr indent="0" lvl="0" marL="0" rtl="0" algn="l">
              <a:spcBef>
                <a:spcPts val="360"/>
              </a:spcBef>
              <a:spcAft>
                <a:spcPts val="0"/>
              </a:spcAft>
              <a:buNone/>
            </a:pPr>
            <a:r>
              <a:rPr lang="en-US"/>
              <a:t>access, degree of multiprogramming, other performance factors in the system, disk</a:t>
            </a:r>
            <a:endParaRPr/>
          </a:p>
          <a:p>
            <a:pPr indent="0" lvl="0" marL="0" rtl="0" algn="l">
              <a:spcBef>
                <a:spcPts val="360"/>
              </a:spcBef>
              <a:spcAft>
                <a:spcPts val="0"/>
              </a:spcAft>
              <a:buNone/>
            </a:pPr>
            <a:r>
              <a:rPr lang="en-US"/>
              <a:t>caching, disk scheduling, and so on.</a:t>
            </a:r>
            <a:endParaRPr/>
          </a:p>
        </p:txBody>
      </p:sp>
      <p:sp>
        <p:nvSpPr>
          <p:cNvPr id="792" name="Google Shape;792;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5" name="Google Shape;805;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Table 12.3   File Allocation Methods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Having looked at the issues of preallocation versus</a:t>
            </a:r>
            <a:endParaRPr/>
          </a:p>
          <a:p>
            <a:pPr indent="0" lvl="0" marL="0" rtl="0" algn="l">
              <a:spcBef>
                <a:spcPts val="360"/>
              </a:spcBef>
              <a:spcAft>
                <a:spcPts val="0"/>
              </a:spcAft>
              <a:buNone/>
            </a:pPr>
            <a:r>
              <a:rPr lang="en-US"/>
              <a:t>dynamic allocation and portion size, we are in a position to consider specific file</a:t>
            </a:r>
            <a:endParaRPr/>
          </a:p>
          <a:p>
            <a:pPr indent="0" lvl="0" marL="0" rtl="0" algn="l">
              <a:spcBef>
                <a:spcPts val="360"/>
              </a:spcBef>
              <a:spcAft>
                <a:spcPts val="0"/>
              </a:spcAft>
              <a:buNone/>
            </a:pPr>
            <a:r>
              <a:rPr lang="en-US"/>
              <a:t>allocation methods. Three methods are in common use: contiguous, chained, and</a:t>
            </a:r>
            <a:endParaRPr/>
          </a:p>
          <a:p>
            <a:pPr indent="0" lvl="0" marL="0" rtl="0" algn="l">
              <a:spcBef>
                <a:spcPts val="360"/>
              </a:spcBef>
              <a:spcAft>
                <a:spcPts val="0"/>
              </a:spcAft>
              <a:buNone/>
            </a:pPr>
            <a:r>
              <a:rPr lang="en-US"/>
              <a:t>indexed. Table 12.3 summarizes some of the characteristics of each method.</a:t>
            </a:r>
            <a:endParaRPr/>
          </a:p>
        </p:txBody>
      </p:sp>
      <p:sp>
        <p:nvSpPr>
          <p:cNvPr id="806" name="Google Shape;806;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12" name="Google Shape;812;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With </a:t>
            </a:r>
            <a:r>
              <a:rPr b="1" lang="en-US"/>
              <a:t>contiguous allocation , a single contiguous set of blocks is allocated to a</a:t>
            </a:r>
            <a:endParaRPr/>
          </a:p>
          <a:p>
            <a:pPr indent="0" lvl="0" marL="0" rtl="0" algn="l">
              <a:spcBef>
                <a:spcPts val="360"/>
              </a:spcBef>
              <a:spcAft>
                <a:spcPts val="0"/>
              </a:spcAft>
              <a:buNone/>
            </a:pPr>
            <a:r>
              <a:rPr lang="en-US"/>
              <a:t>file at the time of file creation ( Figure 12.9 ). Thus, this is a preallocation strategy,</a:t>
            </a:r>
            <a:endParaRPr/>
          </a:p>
          <a:p>
            <a:pPr indent="0" lvl="0" marL="0" rtl="0" algn="l">
              <a:spcBef>
                <a:spcPts val="360"/>
              </a:spcBef>
              <a:spcAft>
                <a:spcPts val="0"/>
              </a:spcAft>
              <a:buNone/>
            </a:pPr>
            <a:r>
              <a:rPr lang="en-US"/>
              <a:t>using variable-size portions. The file allocation table needs just a single entry for</a:t>
            </a:r>
            <a:endParaRPr/>
          </a:p>
          <a:p>
            <a:pPr indent="0" lvl="0" marL="0" rtl="0" algn="l">
              <a:spcBef>
                <a:spcPts val="360"/>
              </a:spcBef>
              <a:spcAft>
                <a:spcPts val="0"/>
              </a:spcAft>
              <a:buNone/>
            </a:pPr>
            <a:r>
              <a:rPr lang="en-US"/>
              <a:t>each file, showing the starting block and the length of the file. Contiguous allocation</a:t>
            </a:r>
            <a:endParaRPr/>
          </a:p>
          <a:p>
            <a:pPr indent="0" lvl="0" marL="0" rtl="0" algn="l">
              <a:spcBef>
                <a:spcPts val="360"/>
              </a:spcBef>
              <a:spcAft>
                <a:spcPts val="0"/>
              </a:spcAft>
              <a:buNone/>
            </a:pPr>
            <a:r>
              <a:rPr lang="en-US"/>
              <a:t>is the best from the point of view of the individual sequential file. Multiple blocks</a:t>
            </a:r>
            <a:endParaRPr/>
          </a:p>
          <a:p>
            <a:pPr indent="0" lvl="0" marL="0" rtl="0" algn="l">
              <a:spcBef>
                <a:spcPts val="360"/>
              </a:spcBef>
              <a:spcAft>
                <a:spcPts val="0"/>
              </a:spcAft>
              <a:buNone/>
            </a:pPr>
            <a:r>
              <a:rPr lang="en-US"/>
              <a:t>can be read in at a time to improve I/O performance for sequential processing. It is</a:t>
            </a:r>
            <a:endParaRPr/>
          </a:p>
          <a:p>
            <a:pPr indent="0" lvl="0" marL="0" rtl="0" algn="l">
              <a:spcBef>
                <a:spcPts val="360"/>
              </a:spcBef>
              <a:spcAft>
                <a:spcPts val="0"/>
              </a:spcAft>
              <a:buNone/>
            </a:pPr>
            <a:r>
              <a:rPr lang="en-US"/>
              <a:t>also easy to retrieve a single block. For example, if a file starts at block </a:t>
            </a:r>
            <a:r>
              <a:rPr i="1" lang="en-US"/>
              <a:t>b , and the</a:t>
            </a:r>
            <a:endParaRPr/>
          </a:p>
          <a:p>
            <a:pPr indent="0" lvl="0" marL="0" rtl="0" algn="l">
              <a:spcBef>
                <a:spcPts val="360"/>
              </a:spcBef>
              <a:spcAft>
                <a:spcPts val="0"/>
              </a:spcAft>
              <a:buNone/>
            </a:pPr>
            <a:r>
              <a:rPr i="1" lang="en-US"/>
              <a:t>i th block of the file is wanted, its location on secondary storage is simply b + i – 1.</a:t>
            </a:r>
            <a:endParaRPr/>
          </a:p>
          <a:p>
            <a:pPr indent="0" lvl="0" marL="0" rtl="0" algn="l">
              <a:spcBef>
                <a:spcPts val="360"/>
              </a:spcBef>
              <a:spcAft>
                <a:spcPts val="0"/>
              </a:spcAft>
              <a:buNone/>
            </a:pPr>
            <a:r>
              <a:rPr lang="en-US"/>
              <a:t>Contiguous allocation presents some problems. External fragmentation will occur,</a:t>
            </a:r>
            <a:endParaRPr/>
          </a:p>
          <a:p>
            <a:pPr indent="0" lvl="0" marL="0" rtl="0" algn="l">
              <a:spcBef>
                <a:spcPts val="360"/>
              </a:spcBef>
              <a:spcAft>
                <a:spcPts val="0"/>
              </a:spcAft>
              <a:buNone/>
            </a:pPr>
            <a:r>
              <a:rPr lang="en-US"/>
              <a:t>making it difficult to find contiguous blocks of space of sufficient length.</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813" name="Google Shape;813;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21" name="Google Shape;821;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With </a:t>
            </a:r>
            <a:r>
              <a:rPr b="1" lang="en-US"/>
              <a:t>contiguous allocation , a single contiguous set of blocks is allocated to a</a:t>
            </a:r>
            <a:endParaRPr/>
          </a:p>
          <a:p>
            <a:pPr indent="0" lvl="0" marL="0" rtl="0" algn="l">
              <a:spcBef>
                <a:spcPts val="360"/>
              </a:spcBef>
              <a:spcAft>
                <a:spcPts val="0"/>
              </a:spcAft>
              <a:buNone/>
            </a:pPr>
            <a:r>
              <a:rPr lang="en-US"/>
              <a:t>file at the time of file creation ( Figure 12.9 ). Thus, this is a preallocation strategy,</a:t>
            </a:r>
            <a:endParaRPr/>
          </a:p>
          <a:p>
            <a:pPr indent="0" lvl="0" marL="0" rtl="0" algn="l">
              <a:spcBef>
                <a:spcPts val="360"/>
              </a:spcBef>
              <a:spcAft>
                <a:spcPts val="0"/>
              </a:spcAft>
              <a:buNone/>
            </a:pPr>
            <a:r>
              <a:rPr lang="en-US"/>
              <a:t>using variable-size portions. The file allocation table needs just a single entry for</a:t>
            </a:r>
            <a:endParaRPr/>
          </a:p>
          <a:p>
            <a:pPr indent="0" lvl="0" marL="0" rtl="0" algn="l">
              <a:spcBef>
                <a:spcPts val="360"/>
              </a:spcBef>
              <a:spcAft>
                <a:spcPts val="0"/>
              </a:spcAft>
              <a:buNone/>
            </a:pPr>
            <a:r>
              <a:rPr lang="en-US"/>
              <a:t>each file, showing the starting block and the length of the file. Contiguous allocation</a:t>
            </a:r>
            <a:endParaRPr/>
          </a:p>
          <a:p>
            <a:pPr indent="0" lvl="0" marL="0" rtl="0" algn="l">
              <a:spcBef>
                <a:spcPts val="360"/>
              </a:spcBef>
              <a:spcAft>
                <a:spcPts val="0"/>
              </a:spcAft>
              <a:buNone/>
            </a:pPr>
            <a:r>
              <a:rPr lang="en-US"/>
              <a:t>is the best from the point of view of the individual sequential file. Multiple blocks</a:t>
            </a:r>
            <a:endParaRPr/>
          </a:p>
          <a:p>
            <a:pPr indent="0" lvl="0" marL="0" rtl="0" algn="l">
              <a:spcBef>
                <a:spcPts val="360"/>
              </a:spcBef>
              <a:spcAft>
                <a:spcPts val="0"/>
              </a:spcAft>
              <a:buNone/>
            </a:pPr>
            <a:r>
              <a:rPr lang="en-US"/>
              <a:t>can be read in at a time to improve I/O performance for sequential processing. It is</a:t>
            </a:r>
            <a:endParaRPr/>
          </a:p>
          <a:p>
            <a:pPr indent="0" lvl="0" marL="0" rtl="0" algn="l">
              <a:spcBef>
                <a:spcPts val="360"/>
              </a:spcBef>
              <a:spcAft>
                <a:spcPts val="0"/>
              </a:spcAft>
              <a:buNone/>
            </a:pPr>
            <a:r>
              <a:rPr lang="en-US"/>
              <a:t>also easy to retrieve a single block. For example, if a file starts at block </a:t>
            </a:r>
            <a:r>
              <a:rPr i="1" lang="en-US"/>
              <a:t>b , and the</a:t>
            </a:r>
            <a:endParaRPr/>
          </a:p>
          <a:p>
            <a:pPr indent="0" lvl="0" marL="0" rtl="0" algn="l">
              <a:spcBef>
                <a:spcPts val="360"/>
              </a:spcBef>
              <a:spcAft>
                <a:spcPts val="0"/>
              </a:spcAft>
              <a:buNone/>
            </a:pPr>
            <a:r>
              <a:rPr i="1" lang="en-US"/>
              <a:t>i th block of the file is wanted, its location on secondary storage is simply b + i – 1.</a:t>
            </a:r>
            <a:endParaRPr/>
          </a:p>
          <a:p>
            <a:pPr indent="0" lvl="0" marL="0" rtl="0" algn="l">
              <a:spcBef>
                <a:spcPts val="360"/>
              </a:spcBef>
              <a:spcAft>
                <a:spcPts val="0"/>
              </a:spcAft>
              <a:buNone/>
            </a:pPr>
            <a:r>
              <a:rPr lang="en-US"/>
              <a:t>Contiguous allocation presents some problems. External fragmentation will occur,</a:t>
            </a:r>
            <a:endParaRPr/>
          </a:p>
          <a:p>
            <a:pPr indent="0" lvl="0" marL="0" rtl="0" algn="l">
              <a:spcBef>
                <a:spcPts val="360"/>
              </a:spcBef>
              <a:spcAft>
                <a:spcPts val="0"/>
              </a:spcAft>
              <a:buNone/>
            </a:pPr>
            <a:r>
              <a:rPr lang="en-US"/>
              <a:t>making it difficult to find contiguous blocks of space of sufficient length.</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822" name="Google Shape;822;p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30" name="Google Shape;830;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With </a:t>
            </a:r>
            <a:r>
              <a:rPr b="1" lang="en-US"/>
              <a:t>contiguous allocation , a single contiguous set of blocks is allocated to a</a:t>
            </a:r>
            <a:endParaRPr/>
          </a:p>
          <a:p>
            <a:pPr indent="0" lvl="0" marL="0" rtl="0" algn="l">
              <a:spcBef>
                <a:spcPts val="360"/>
              </a:spcBef>
              <a:spcAft>
                <a:spcPts val="0"/>
              </a:spcAft>
              <a:buNone/>
            </a:pPr>
            <a:r>
              <a:rPr lang="en-US"/>
              <a:t>file at the time of file creation ( Figure 12.9 ). Thus, this is a preallocation strategy,</a:t>
            </a:r>
            <a:endParaRPr/>
          </a:p>
          <a:p>
            <a:pPr indent="0" lvl="0" marL="0" rtl="0" algn="l">
              <a:spcBef>
                <a:spcPts val="360"/>
              </a:spcBef>
              <a:spcAft>
                <a:spcPts val="0"/>
              </a:spcAft>
              <a:buNone/>
            </a:pPr>
            <a:r>
              <a:rPr lang="en-US"/>
              <a:t>using variable-size portions. The file allocation table needs just a single entry for</a:t>
            </a:r>
            <a:endParaRPr/>
          </a:p>
          <a:p>
            <a:pPr indent="0" lvl="0" marL="0" rtl="0" algn="l">
              <a:spcBef>
                <a:spcPts val="360"/>
              </a:spcBef>
              <a:spcAft>
                <a:spcPts val="0"/>
              </a:spcAft>
              <a:buNone/>
            </a:pPr>
            <a:r>
              <a:rPr lang="en-US"/>
              <a:t>each file, showing the starting block and the length of the file. Contiguous allocation</a:t>
            </a:r>
            <a:endParaRPr/>
          </a:p>
          <a:p>
            <a:pPr indent="0" lvl="0" marL="0" rtl="0" algn="l">
              <a:spcBef>
                <a:spcPts val="360"/>
              </a:spcBef>
              <a:spcAft>
                <a:spcPts val="0"/>
              </a:spcAft>
              <a:buNone/>
            </a:pPr>
            <a:r>
              <a:rPr lang="en-US"/>
              <a:t>is the best from the point of view of the individual sequential file. Multiple blocks</a:t>
            </a:r>
            <a:endParaRPr/>
          </a:p>
          <a:p>
            <a:pPr indent="0" lvl="0" marL="0" rtl="0" algn="l">
              <a:spcBef>
                <a:spcPts val="360"/>
              </a:spcBef>
              <a:spcAft>
                <a:spcPts val="0"/>
              </a:spcAft>
              <a:buNone/>
            </a:pPr>
            <a:r>
              <a:rPr lang="en-US"/>
              <a:t>can be read in at a time to improve I/O performance for sequential processing. It is</a:t>
            </a:r>
            <a:endParaRPr/>
          </a:p>
          <a:p>
            <a:pPr indent="0" lvl="0" marL="0" rtl="0" algn="l">
              <a:spcBef>
                <a:spcPts val="360"/>
              </a:spcBef>
              <a:spcAft>
                <a:spcPts val="0"/>
              </a:spcAft>
              <a:buNone/>
            </a:pPr>
            <a:r>
              <a:rPr lang="en-US"/>
              <a:t>also easy to retrieve a single block. For example, if a file starts at block </a:t>
            </a:r>
            <a:r>
              <a:rPr i="1" lang="en-US"/>
              <a:t>b , and the</a:t>
            </a:r>
            <a:endParaRPr/>
          </a:p>
          <a:p>
            <a:pPr indent="0" lvl="0" marL="0" rtl="0" algn="l">
              <a:spcBef>
                <a:spcPts val="360"/>
              </a:spcBef>
              <a:spcAft>
                <a:spcPts val="0"/>
              </a:spcAft>
              <a:buNone/>
            </a:pPr>
            <a:r>
              <a:rPr i="1" lang="en-US"/>
              <a:t>i th block of the file is wanted, its location on secondary storage is simply b + i – 1.</a:t>
            </a:r>
            <a:endParaRPr/>
          </a:p>
          <a:p>
            <a:pPr indent="0" lvl="0" marL="0" rtl="0" algn="l">
              <a:spcBef>
                <a:spcPts val="360"/>
              </a:spcBef>
              <a:spcAft>
                <a:spcPts val="0"/>
              </a:spcAft>
              <a:buNone/>
            </a:pPr>
            <a:r>
              <a:rPr lang="en-US"/>
              <a:t>Contiguous allocation presents some problems. External fragmentation will occur,</a:t>
            </a:r>
            <a:endParaRPr/>
          </a:p>
          <a:p>
            <a:pPr indent="0" lvl="0" marL="0" rtl="0" algn="l">
              <a:spcBef>
                <a:spcPts val="360"/>
              </a:spcBef>
              <a:spcAft>
                <a:spcPts val="0"/>
              </a:spcAft>
              <a:buNone/>
            </a:pPr>
            <a:r>
              <a:rPr lang="en-US"/>
              <a:t>making it difficult to find contiguous blocks of space of sufficient length.</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831" name="Google Shape;831;p6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39" name="Google Shape;839;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With </a:t>
            </a:r>
            <a:r>
              <a:rPr b="1" lang="en-US"/>
              <a:t>contiguous allocation , a single contiguous set of blocks is allocated to a</a:t>
            </a:r>
            <a:endParaRPr/>
          </a:p>
          <a:p>
            <a:pPr indent="0" lvl="0" marL="0" rtl="0" algn="l">
              <a:spcBef>
                <a:spcPts val="360"/>
              </a:spcBef>
              <a:spcAft>
                <a:spcPts val="0"/>
              </a:spcAft>
              <a:buNone/>
            </a:pPr>
            <a:r>
              <a:rPr lang="en-US"/>
              <a:t>file at the time of file creation ( Figure 12.9 ). Thus, this is a preallocation strategy,</a:t>
            </a:r>
            <a:endParaRPr/>
          </a:p>
          <a:p>
            <a:pPr indent="0" lvl="0" marL="0" rtl="0" algn="l">
              <a:spcBef>
                <a:spcPts val="360"/>
              </a:spcBef>
              <a:spcAft>
                <a:spcPts val="0"/>
              </a:spcAft>
              <a:buNone/>
            </a:pPr>
            <a:r>
              <a:rPr lang="en-US"/>
              <a:t>using variable-size portions. The file allocation table needs just a single entry for</a:t>
            </a:r>
            <a:endParaRPr/>
          </a:p>
          <a:p>
            <a:pPr indent="0" lvl="0" marL="0" rtl="0" algn="l">
              <a:spcBef>
                <a:spcPts val="360"/>
              </a:spcBef>
              <a:spcAft>
                <a:spcPts val="0"/>
              </a:spcAft>
              <a:buNone/>
            </a:pPr>
            <a:r>
              <a:rPr lang="en-US"/>
              <a:t>each file, showing the starting block and the length of the file. Contiguous allocation</a:t>
            </a:r>
            <a:endParaRPr/>
          </a:p>
          <a:p>
            <a:pPr indent="0" lvl="0" marL="0" rtl="0" algn="l">
              <a:spcBef>
                <a:spcPts val="360"/>
              </a:spcBef>
              <a:spcAft>
                <a:spcPts val="0"/>
              </a:spcAft>
              <a:buNone/>
            </a:pPr>
            <a:r>
              <a:rPr lang="en-US"/>
              <a:t>is the best from the point of view of the individual sequential file. Multiple blocks</a:t>
            </a:r>
            <a:endParaRPr/>
          </a:p>
          <a:p>
            <a:pPr indent="0" lvl="0" marL="0" rtl="0" algn="l">
              <a:spcBef>
                <a:spcPts val="360"/>
              </a:spcBef>
              <a:spcAft>
                <a:spcPts val="0"/>
              </a:spcAft>
              <a:buNone/>
            </a:pPr>
            <a:r>
              <a:rPr lang="en-US"/>
              <a:t>can be read in at a time to improve I/O performance for sequential processing. It is</a:t>
            </a:r>
            <a:endParaRPr/>
          </a:p>
          <a:p>
            <a:pPr indent="0" lvl="0" marL="0" rtl="0" algn="l">
              <a:spcBef>
                <a:spcPts val="360"/>
              </a:spcBef>
              <a:spcAft>
                <a:spcPts val="0"/>
              </a:spcAft>
              <a:buNone/>
            </a:pPr>
            <a:r>
              <a:rPr lang="en-US"/>
              <a:t>also easy to retrieve a single block. For example, if a file starts at block </a:t>
            </a:r>
            <a:r>
              <a:rPr i="1" lang="en-US"/>
              <a:t>b , and the</a:t>
            </a:r>
            <a:endParaRPr/>
          </a:p>
          <a:p>
            <a:pPr indent="0" lvl="0" marL="0" rtl="0" algn="l">
              <a:spcBef>
                <a:spcPts val="360"/>
              </a:spcBef>
              <a:spcAft>
                <a:spcPts val="0"/>
              </a:spcAft>
              <a:buNone/>
            </a:pPr>
            <a:r>
              <a:rPr i="1" lang="en-US"/>
              <a:t>i th block of the file is wanted, its location on secondary storage is simply b + i – 1.</a:t>
            </a:r>
            <a:endParaRPr/>
          </a:p>
          <a:p>
            <a:pPr indent="0" lvl="0" marL="0" rtl="0" algn="l">
              <a:spcBef>
                <a:spcPts val="360"/>
              </a:spcBef>
              <a:spcAft>
                <a:spcPts val="0"/>
              </a:spcAft>
              <a:buNone/>
            </a:pPr>
            <a:r>
              <a:rPr lang="en-US"/>
              <a:t>Contiguous allocation presents some problems. External fragmentation will occur,</a:t>
            </a:r>
            <a:endParaRPr/>
          </a:p>
          <a:p>
            <a:pPr indent="0" lvl="0" marL="0" rtl="0" algn="l">
              <a:spcBef>
                <a:spcPts val="360"/>
              </a:spcBef>
              <a:spcAft>
                <a:spcPts val="0"/>
              </a:spcAft>
              <a:buNone/>
            </a:pPr>
            <a:r>
              <a:rPr lang="en-US"/>
              <a:t>making it difficult to find contiguous blocks of space of sufficient length.</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840" name="Google Shape;840;p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48" name="Google Shape;848;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With </a:t>
            </a:r>
            <a:r>
              <a:rPr b="1" lang="en-US"/>
              <a:t>contiguous allocation , a single contiguous set of blocks is allocated to a</a:t>
            </a:r>
            <a:endParaRPr/>
          </a:p>
          <a:p>
            <a:pPr indent="0" lvl="0" marL="0" rtl="0" algn="l">
              <a:spcBef>
                <a:spcPts val="360"/>
              </a:spcBef>
              <a:spcAft>
                <a:spcPts val="0"/>
              </a:spcAft>
              <a:buNone/>
            </a:pPr>
            <a:r>
              <a:rPr lang="en-US"/>
              <a:t>file at the time of file creation ( Figure 12.9 ). Thus, this is a preallocation strategy,</a:t>
            </a:r>
            <a:endParaRPr/>
          </a:p>
          <a:p>
            <a:pPr indent="0" lvl="0" marL="0" rtl="0" algn="l">
              <a:spcBef>
                <a:spcPts val="360"/>
              </a:spcBef>
              <a:spcAft>
                <a:spcPts val="0"/>
              </a:spcAft>
              <a:buNone/>
            </a:pPr>
            <a:r>
              <a:rPr lang="en-US"/>
              <a:t>using variable-size portions. The file allocation table needs just a single entry for</a:t>
            </a:r>
            <a:endParaRPr/>
          </a:p>
          <a:p>
            <a:pPr indent="0" lvl="0" marL="0" rtl="0" algn="l">
              <a:spcBef>
                <a:spcPts val="360"/>
              </a:spcBef>
              <a:spcAft>
                <a:spcPts val="0"/>
              </a:spcAft>
              <a:buNone/>
            </a:pPr>
            <a:r>
              <a:rPr lang="en-US"/>
              <a:t>each file, showing the starting block and the length of the file. Contiguous allocation</a:t>
            </a:r>
            <a:endParaRPr/>
          </a:p>
          <a:p>
            <a:pPr indent="0" lvl="0" marL="0" rtl="0" algn="l">
              <a:spcBef>
                <a:spcPts val="360"/>
              </a:spcBef>
              <a:spcAft>
                <a:spcPts val="0"/>
              </a:spcAft>
              <a:buNone/>
            </a:pPr>
            <a:r>
              <a:rPr lang="en-US"/>
              <a:t>is the best from the point of view of the individual sequential file. Multiple blocks</a:t>
            </a:r>
            <a:endParaRPr/>
          </a:p>
          <a:p>
            <a:pPr indent="0" lvl="0" marL="0" rtl="0" algn="l">
              <a:spcBef>
                <a:spcPts val="360"/>
              </a:spcBef>
              <a:spcAft>
                <a:spcPts val="0"/>
              </a:spcAft>
              <a:buNone/>
            </a:pPr>
            <a:r>
              <a:rPr lang="en-US"/>
              <a:t>can be read in at a time to improve I/O performance for sequential processing. It is</a:t>
            </a:r>
            <a:endParaRPr/>
          </a:p>
          <a:p>
            <a:pPr indent="0" lvl="0" marL="0" rtl="0" algn="l">
              <a:spcBef>
                <a:spcPts val="360"/>
              </a:spcBef>
              <a:spcAft>
                <a:spcPts val="0"/>
              </a:spcAft>
              <a:buNone/>
            </a:pPr>
            <a:r>
              <a:rPr lang="en-US"/>
              <a:t>also easy to retrieve a single block. For example, if a file starts at block </a:t>
            </a:r>
            <a:r>
              <a:rPr i="1" lang="en-US"/>
              <a:t>b , and the</a:t>
            </a:r>
            <a:endParaRPr/>
          </a:p>
          <a:p>
            <a:pPr indent="0" lvl="0" marL="0" rtl="0" algn="l">
              <a:spcBef>
                <a:spcPts val="360"/>
              </a:spcBef>
              <a:spcAft>
                <a:spcPts val="0"/>
              </a:spcAft>
              <a:buNone/>
            </a:pPr>
            <a:r>
              <a:rPr i="1" lang="en-US"/>
              <a:t>i th block of the file is wanted, its location on secondary storage is simply b + i – 1.</a:t>
            </a:r>
            <a:endParaRPr/>
          </a:p>
          <a:p>
            <a:pPr indent="0" lvl="0" marL="0" rtl="0" algn="l">
              <a:spcBef>
                <a:spcPts val="360"/>
              </a:spcBef>
              <a:spcAft>
                <a:spcPts val="0"/>
              </a:spcAft>
              <a:buNone/>
            </a:pPr>
            <a:r>
              <a:rPr lang="en-US"/>
              <a:t>Contiguous allocation presents some problems. External fragmentation will occur,</a:t>
            </a:r>
            <a:endParaRPr/>
          </a:p>
          <a:p>
            <a:pPr indent="0" lvl="0" marL="0" rtl="0" algn="l">
              <a:spcBef>
                <a:spcPts val="360"/>
              </a:spcBef>
              <a:spcAft>
                <a:spcPts val="0"/>
              </a:spcAft>
              <a:buNone/>
            </a:pPr>
            <a:r>
              <a:rPr lang="en-US"/>
              <a:t>making it difficult to find contiguous blocks of space of sufficient length.</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849" name="Google Shape;849;p6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57" name="Google Shape;857;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With </a:t>
            </a:r>
            <a:r>
              <a:rPr b="1" lang="en-US"/>
              <a:t>contiguous allocation , a single contiguous set of blocks is allocated to a</a:t>
            </a:r>
            <a:endParaRPr/>
          </a:p>
          <a:p>
            <a:pPr indent="0" lvl="0" marL="0" rtl="0" algn="l">
              <a:spcBef>
                <a:spcPts val="360"/>
              </a:spcBef>
              <a:spcAft>
                <a:spcPts val="0"/>
              </a:spcAft>
              <a:buNone/>
            </a:pPr>
            <a:r>
              <a:rPr lang="en-US"/>
              <a:t>file at the time of file creation ( Figure 12.9 ). Thus, this is a preallocation strategy,</a:t>
            </a:r>
            <a:endParaRPr/>
          </a:p>
          <a:p>
            <a:pPr indent="0" lvl="0" marL="0" rtl="0" algn="l">
              <a:spcBef>
                <a:spcPts val="360"/>
              </a:spcBef>
              <a:spcAft>
                <a:spcPts val="0"/>
              </a:spcAft>
              <a:buNone/>
            </a:pPr>
            <a:r>
              <a:rPr lang="en-US"/>
              <a:t>using variable-size portions. The file allocation table needs just a single entry for</a:t>
            </a:r>
            <a:endParaRPr/>
          </a:p>
          <a:p>
            <a:pPr indent="0" lvl="0" marL="0" rtl="0" algn="l">
              <a:spcBef>
                <a:spcPts val="360"/>
              </a:spcBef>
              <a:spcAft>
                <a:spcPts val="0"/>
              </a:spcAft>
              <a:buNone/>
            </a:pPr>
            <a:r>
              <a:rPr lang="en-US"/>
              <a:t>each file, showing the starting block and the length of the file. Contiguous allocation</a:t>
            </a:r>
            <a:endParaRPr/>
          </a:p>
          <a:p>
            <a:pPr indent="0" lvl="0" marL="0" rtl="0" algn="l">
              <a:spcBef>
                <a:spcPts val="360"/>
              </a:spcBef>
              <a:spcAft>
                <a:spcPts val="0"/>
              </a:spcAft>
              <a:buNone/>
            </a:pPr>
            <a:r>
              <a:rPr lang="en-US"/>
              <a:t>is the best from the point of view of the individual sequential file. Multiple blocks</a:t>
            </a:r>
            <a:endParaRPr/>
          </a:p>
          <a:p>
            <a:pPr indent="0" lvl="0" marL="0" rtl="0" algn="l">
              <a:spcBef>
                <a:spcPts val="360"/>
              </a:spcBef>
              <a:spcAft>
                <a:spcPts val="0"/>
              </a:spcAft>
              <a:buNone/>
            </a:pPr>
            <a:r>
              <a:rPr lang="en-US"/>
              <a:t>can be read in at a time to improve I/O performance for sequential processing. It is</a:t>
            </a:r>
            <a:endParaRPr/>
          </a:p>
          <a:p>
            <a:pPr indent="0" lvl="0" marL="0" rtl="0" algn="l">
              <a:spcBef>
                <a:spcPts val="360"/>
              </a:spcBef>
              <a:spcAft>
                <a:spcPts val="0"/>
              </a:spcAft>
              <a:buNone/>
            </a:pPr>
            <a:r>
              <a:rPr lang="en-US"/>
              <a:t>also easy to retrieve a single block. For example, if a file starts at block </a:t>
            </a:r>
            <a:r>
              <a:rPr i="1" lang="en-US"/>
              <a:t>b , and the</a:t>
            </a:r>
            <a:endParaRPr/>
          </a:p>
          <a:p>
            <a:pPr indent="0" lvl="0" marL="0" rtl="0" algn="l">
              <a:spcBef>
                <a:spcPts val="360"/>
              </a:spcBef>
              <a:spcAft>
                <a:spcPts val="0"/>
              </a:spcAft>
              <a:buNone/>
            </a:pPr>
            <a:r>
              <a:rPr i="1" lang="en-US"/>
              <a:t>i th block of the file is wanted, its location on secondary storage is simply b + i – 1.</a:t>
            </a:r>
            <a:endParaRPr/>
          </a:p>
          <a:p>
            <a:pPr indent="0" lvl="0" marL="0" rtl="0" algn="l">
              <a:spcBef>
                <a:spcPts val="360"/>
              </a:spcBef>
              <a:spcAft>
                <a:spcPts val="0"/>
              </a:spcAft>
              <a:buNone/>
            </a:pPr>
            <a:r>
              <a:rPr lang="en-US"/>
              <a:t>Contiguous allocation presents some problems. External fragmentation will occur,</a:t>
            </a:r>
            <a:endParaRPr/>
          </a:p>
          <a:p>
            <a:pPr indent="0" lvl="0" marL="0" rtl="0" algn="l">
              <a:spcBef>
                <a:spcPts val="360"/>
              </a:spcBef>
              <a:spcAft>
                <a:spcPts val="0"/>
              </a:spcAft>
              <a:buNone/>
            </a:pPr>
            <a:r>
              <a:rPr lang="en-US"/>
              <a:t>making it difficult to find contiguous blocks of space of sufficient length.</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858" name="Google Shape;858;p6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6" name="Google Shape;866;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From time to time, it will be necessary to perform a compaction algorithm to free up additional</a:t>
            </a:r>
            <a:endParaRPr/>
          </a:p>
          <a:p>
            <a:pPr indent="0" lvl="0" marL="0" rtl="0" algn="l">
              <a:spcBef>
                <a:spcPts val="360"/>
              </a:spcBef>
              <a:spcAft>
                <a:spcPts val="0"/>
              </a:spcAft>
              <a:buNone/>
            </a:pPr>
            <a:r>
              <a:rPr lang="en-US"/>
              <a:t>space on the disk ( Figure 12.10 ). Also, with preallocation, it is necessary to declare</a:t>
            </a:r>
            <a:endParaRPr/>
          </a:p>
          <a:p>
            <a:pPr indent="0" lvl="0" marL="0" rtl="0" algn="l">
              <a:spcBef>
                <a:spcPts val="360"/>
              </a:spcBef>
              <a:spcAft>
                <a:spcPts val="0"/>
              </a:spcAft>
              <a:buNone/>
            </a:pPr>
            <a:r>
              <a:rPr lang="en-US"/>
              <a:t>the size of the file at the time of creation, with the problems mentioned earlier.</a:t>
            </a:r>
            <a:endParaRPr/>
          </a:p>
        </p:txBody>
      </p:sp>
      <p:sp>
        <p:nvSpPr>
          <p:cNvPr id="867" name="Google Shape;867;p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75" name="Google Shape;875;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At the opposite extreme from contiguous allocation is </a:t>
            </a:r>
            <a:r>
              <a:rPr b="1" lang="en-US"/>
              <a:t>chained allocation</a:t>
            </a:r>
            <a:endParaRPr/>
          </a:p>
          <a:p>
            <a:pPr indent="0" lvl="0" marL="0" rtl="0" algn="l">
              <a:spcBef>
                <a:spcPts val="360"/>
              </a:spcBef>
              <a:spcAft>
                <a:spcPts val="0"/>
              </a:spcAft>
              <a:buNone/>
            </a:pPr>
            <a:r>
              <a:rPr lang="en-US"/>
              <a:t>( Figure 12.11 ). Typically, allocation is on an individual block basis. Each block contains</a:t>
            </a:r>
            <a:endParaRPr/>
          </a:p>
          <a:p>
            <a:pPr indent="0" lvl="0" marL="0" rtl="0" algn="l">
              <a:spcBef>
                <a:spcPts val="360"/>
              </a:spcBef>
              <a:spcAft>
                <a:spcPts val="0"/>
              </a:spcAft>
              <a:buNone/>
            </a:pPr>
            <a:r>
              <a:rPr lang="en-US"/>
              <a:t>a pointer to the next block in the chain. Again, the file allocation table needs</a:t>
            </a:r>
            <a:endParaRPr/>
          </a:p>
          <a:p>
            <a:pPr indent="0" lvl="0" marL="0" rtl="0" algn="l">
              <a:spcBef>
                <a:spcPts val="360"/>
              </a:spcBef>
              <a:spcAft>
                <a:spcPts val="0"/>
              </a:spcAft>
              <a:buNone/>
            </a:pPr>
            <a:r>
              <a:rPr lang="en-US"/>
              <a:t>just a single entry for each file, showing the starting block and the length of the</a:t>
            </a:r>
            <a:endParaRPr/>
          </a:p>
          <a:p>
            <a:pPr indent="0" lvl="0" marL="0" rtl="0" algn="l">
              <a:spcBef>
                <a:spcPts val="360"/>
              </a:spcBef>
              <a:spcAft>
                <a:spcPts val="0"/>
              </a:spcAft>
              <a:buNone/>
            </a:pPr>
            <a:r>
              <a:rPr lang="en-US"/>
              <a:t>file. Although preallocation is possible, it is more common simply to allocate blocks</a:t>
            </a:r>
            <a:endParaRPr/>
          </a:p>
          <a:p>
            <a:pPr indent="0" lvl="0" marL="0" rtl="0" algn="l">
              <a:spcBef>
                <a:spcPts val="360"/>
              </a:spcBef>
              <a:spcAft>
                <a:spcPts val="0"/>
              </a:spcAft>
              <a:buNone/>
            </a:pPr>
            <a:r>
              <a:rPr lang="en-US"/>
              <a:t>as needed. The selection of blocks is now a simple matter: Any free block can be</a:t>
            </a:r>
            <a:endParaRPr/>
          </a:p>
          <a:p>
            <a:pPr indent="0" lvl="0" marL="0" rtl="0" algn="l">
              <a:spcBef>
                <a:spcPts val="360"/>
              </a:spcBef>
              <a:spcAft>
                <a:spcPts val="0"/>
              </a:spcAft>
              <a:buNone/>
            </a:pPr>
            <a:r>
              <a:rPr lang="en-US"/>
              <a:t>added to a chain. There is no external fragmentation to worry about because only</a:t>
            </a:r>
            <a:endParaRPr/>
          </a:p>
          <a:p>
            <a:pPr indent="0" lvl="0" marL="0" rtl="0" algn="l">
              <a:spcBef>
                <a:spcPts val="360"/>
              </a:spcBef>
              <a:spcAft>
                <a:spcPts val="0"/>
              </a:spcAft>
              <a:buNone/>
            </a:pPr>
            <a:r>
              <a:rPr lang="en-US"/>
              <a:t>one block at a time is needed. This type of physical organization is best suited to</a:t>
            </a:r>
            <a:endParaRPr/>
          </a:p>
          <a:p>
            <a:pPr indent="0" lvl="0" marL="0" rtl="0" algn="l">
              <a:spcBef>
                <a:spcPts val="360"/>
              </a:spcBef>
              <a:spcAft>
                <a:spcPts val="0"/>
              </a:spcAft>
              <a:buNone/>
            </a:pPr>
            <a:r>
              <a:rPr lang="en-US"/>
              <a:t>sequential files that are to be processed sequentially. To select an individual block</a:t>
            </a:r>
            <a:endParaRPr/>
          </a:p>
          <a:p>
            <a:pPr indent="0" lvl="0" marL="0" rtl="0" algn="l">
              <a:spcBef>
                <a:spcPts val="360"/>
              </a:spcBef>
              <a:spcAft>
                <a:spcPts val="0"/>
              </a:spcAft>
              <a:buNone/>
            </a:pPr>
            <a:r>
              <a:rPr lang="en-US"/>
              <a:t>of a file requires tracing through the chain to the desired block.</a:t>
            </a:r>
            <a:endParaRPr/>
          </a:p>
        </p:txBody>
      </p:sp>
      <p:sp>
        <p:nvSpPr>
          <p:cNvPr id="876" name="Google Shape;876;p6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84" name="Google Shape;884;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At the opposite extreme from contiguous allocation is </a:t>
            </a:r>
            <a:r>
              <a:rPr b="1" lang="en-US"/>
              <a:t>chained allocation</a:t>
            </a:r>
            <a:endParaRPr/>
          </a:p>
          <a:p>
            <a:pPr indent="0" lvl="0" marL="0" rtl="0" algn="l">
              <a:spcBef>
                <a:spcPts val="360"/>
              </a:spcBef>
              <a:spcAft>
                <a:spcPts val="0"/>
              </a:spcAft>
              <a:buNone/>
            </a:pPr>
            <a:r>
              <a:rPr lang="en-US"/>
              <a:t>( Figure 12.11 ). Typically, allocation is on an individual block basis. Each block contains</a:t>
            </a:r>
            <a:endParaRPr/>
          </a:p>
          <a:p>
            <a:pPr indent="0" lvl="0" marL="0" rtl="0" algn="l">
              <a:spcBef>
                <a:spcPts val="360"/>
              </a:spcBef>
              <a:spcAft>
                <a:spcPts val="0"/>
              </a:spcAft>
              <a:buNone/>
            </a:pPr>
            <a:r>
              <a:rPr lang="en-US"/>
              <a:t>a pointer to the next block in the chain. Again, the file allocation table needs</a:t>
            </a:r>
            <a:endParaRPr/>
          </a:p>
          <a:p>
            <a:pPr indent="0" lvl="0" marL="0" rtl="0" algn="l">
              <a:spcBef>
                <a:spcPts val="360"/>
              </a:spcBef>
              <a:spcAft>
                <a:spcPts val="0"/>
              </a:spcAft>
              <a:buNone/>
            </a:pPr>
            <a:r>
              <a:rPr lang="en-US"/>
              <a:t>just a single entry for each file, showing the starting block and the length of the</a:t>
            </a:r>
            <a:endParaRPr/>
          </a:p>
          <a:p>
            <a:pPr indent="0" lvl="0" marL="0" rtl="0" algn="l">
              <a:spcBef>
                <a:spcPts val="360"/>
              </a:spcBef>
              <a:spcAft>
                <a:spcPts val="0"/>
              </a:spcAft>
              <a:buNone/>
            </a:pPr>
            <a:r>
              <a:rPr lang="en-US"/>
              <a:t>file. Although preallocation is possible, it is more common simply to allocate blocks</a:t>
            </a:r>
            <a:endParaRPr/>
          </a:p>
          <a:p>
            <a:pPr indent="0" lvl="0" marL="0" rtl="0" algn="l">
              <a:spcBef>
                <a:spcPts val="360"/>
              </a:spcBef>
              <a:spcAft>
                <a:spcPts val="0"/>
              </a:spcAft>
              <a:buNone/>
            </a:pPr>
            <a:r>
              <a:rPr lang="en-US"/>
              <a:t>as needed. The selection of blocks is now a simple matter: Any free block can be</a:t>
            </a:r>
            <a:endParaRPr/>
          </a:p>
          <a:p>
            <a:pPr indent="0" lvl="0" marL="0" rtl="0" algn="l">
              <a:spcBef>
                <a:spcPts val="360"/>
              </a:spcBef>
              <a:spcAft>
                <a:spcPts val="0"/>
              </a:spcAft>
              <a:buNone/>
            </a:pPr>
            <a:r>
              <a:rPr lang="en-US"/>
              <a:t>added to a chain. There is no external fragmentation to worry about because only</a:t>
            </a:r>
            <a:endParaRPr/>
          </a:p>
          <a:p>
            <a:pPr indent="0" lvl="0" marL="0" rtl="0" algn="l">
              <a:spcBef>
                <a:spcPts val="360"/>
              </a:spcBef>
              <a:spcAft>
                <a:spcPts val="0"/>
              </a:spcAft>
              <a:buNone/>
            </a:pPr>
            <a:r>
              <a:rPr lang="en-US"/>
              <a:t>one block at a time is needed. This type of physical organization is best suited to</a:t>
            </a:r>
            <a:endParaRPr/>
          </a:p>
          <a:p>
            <a:pPr indent="0" lvl="0" marL="0" rtl="0" algn="l">
              <a:spcBef>
                <a:spcPts val="360"/>
              </a:spcBef>
              <a:spcAft>
                <a:spcPts val="0"/>
              </a:spcAft>
              <a:buNone/>
            </a:pPr>
            <a:r>
              <a:rPr lang="en-US"/>
              <a:t>sequential files that are to be processed sequentially. To select an individual block</a:t>
            </a:r>
            <a:endParaRPr/>
          </a:p>
          <a:p>
            <a:pPr indent="0" lvl="0" marL="0" rtl="0" algn="l">
              <a:spcBef>
                <a:spcPts val="360"/>
              </a:spcBef>
              <a:spcAft>
                <a:spcPts val="0"/>
              </a:spcAft>
              <a:buNone/>
            </a:pPr>
            <a:r>
              <a:rPr lang="en-US"/>
              <a:t>of a file requires tracing through the chain to the desired block.</a:t>
            </a:r>
            <a:endParaRPr/>
          </a:p>
        </p:txBody>
      </p:sp>
      <p:sp>
        <p:nvSpPr>
          <p:cNvPr id="885" name="Google Shape;885;p6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93" name="Google Shape;893;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At the opposite extreme from contiguous allocation is </a:t>
            </a:r>
            <a:r>
              <a:rPr b="1" lang="en-US"/>
              <a:t>chained allocation</a:t>
            </a:r>
            <a:endParaRPr/>
          </a:p>
          <a:p>
            <a:pPr indent="0" lvl="0" marL="0" rtl="0" algn="l">
              <a:spcBef>
                <a:spcPts val="360"/>
              </a:spcBef>
              <a:spcAft>
                <a:spcPts val="0"/>
              </a:spcAft>
              <a:buNone/>
            </a:pPr>
            <a:r>
              <a:rPr lang="en-US"/>
              <a:t>( Figure 12.11 ). Typically, allocation is on an individual block basis. Each block contains</a:t>
            </a:r>
            <a:endParaRPr/>
          </a:p>
          <a:p>
            <a:pPr indent="0" lvl="0" marL="0" rtl="0" algn="l">
              <a:spcBef>
                <a:spcPts val="360"/>
              </a:spcBef>
              <a:spcAft>
                <a:spcPts val="0"/>
              </a:spcAft>
              <a:buNone/>
            </a:pPr>
            <a:r>
              <a:rPr lang="en-US"/>
              <a:t>a pointer to the next block in the chain. Again, the file allocation table needs</a:t>
            </a:r>
            <a:endParaRPr/>
          </a:p>
          <a:p>
            <a:pPr indent="0" lvl="0" marL="0" rtl="0" algn="l">
              <a:spcBef>
                <a:spcPts val="360"/>
              </a:spcBef>
              <a:spcAft>
                <a:spcPts val="0"/>
              </a:spcAft>
              <a:buNone/>
            </a:pPr>
            <a:r>
              <a:rPr lang="en-US"/>
              <a:t>just a single entry for each file, showing the starting block and the length of the</a:t>
            </a:r>
            <a:endParaRPr/>
          </a:p>
          <a:p>
            <a:pPr indent="0" lvl="0" marL="0" rtl="0" algn="l">
              <a:spcBef>
                <a:spcPts val="360"/>
              </a:spcBef>
              <a:spcAft>
                <a:spcPts val="0"/>
              </a:spcAft>
              <a:buNone/>
            </a:pPr>
            <a:r>
              <a:rPr lang="en-US"/>
              <a:t>file. Although preallocation is possible, it is more common simply to allocate blocks</a:t>
            </a:r>
            <a:endParaRPr/>
          </a:p>
          <a:p>
            <a:pPr indent="0" lvl="0" marL="0" rtl="0" algn="l">
              <a:spcBef>
                <a:spcPts val="360"/>
              </a:spcBef>
              <a:spcAft>
                <a:spcPts val="0"/>
              </a:spcAft>
              <a:buNone/>
            </a:pPr>
            <a:r>
              <a:rPr lang="en-US"/>
              <a:t>as needed. The selection of blocks is now a simple matter: Any free block can be</a:t>
            </a:r>
            <a:endParaRPr/>
          </a:p>
          <a:p>
            <a:pPr indent="0" lvl="0" marL="0" rtl="0" algn="l">
              <a:spcBef>
                <a:spcPts val="360"/>
              </a:spcBef>
              <a:spcAft>
                <a:spcPts val="0"/>
              </a:spcAft>
              <a:buNone/>
            </a:pPr>
            <a:r>
              <a:rPr lang="en-US"/>
              <a:t>added to a chain. There is no external fragmentation to worry about because only</a:t>
            </a:r>
            <a:endParaRPr/>
          </a:p>
          <a:p>
            <a:pPr indent="0" lvl="0" marL="0" rtl="0" algn="l">
              <a:spcBef>
                <a:spcPts val="360"/>
              </a:spcBef>
              <a:spcAft>
                <a:spcPts val="0"/>
              </a:spcAft>
              <a:buNone/>
            </a:pPr>
            <a:r>
              <a:rPr lang="en-US"/>
              <a:t>one block at a time is needed. This type of physical organization is best suited to</a:t>
            </a:r>
            <a:endParaRPr/>
          </a:p>
          <a:p>
            <a:pPr indent="0" lvl="0" marL="0" rtl="0" algn="l">
              <a:spcBef>
                <a:spcPts val="360"/>
              </a:spcBef>
              <a:spcAft>
                <a:spcPts val="0"/>
              </a:spcAft>
              <a:buNone/>
            </a:pPr>
            <a:r>
              <a:rPr lang="en-US"/>
              <a:t>sequential files that are to be processed sequentially. To select an individual block</a:t>
            </a:r>
            <a:endParaRPr/>
          </a:p>
          <a:p>
            <a:pPr indent="0" lvl="0" marL="0" rtl="0" algn="l">
              <a:spcBef>
                <a:spcPts val="360"/>
              </a:spcBef>
              <a:spcAft>
                <a:spcPts val="0"/>
              </a:spcAft>
              <a:buNone/>
            </a:pPr>
            <a:r>
              <a:rPr lang="en-US"/>
              <a:t>of a file requires tracing through the chain to the desired block.</a:t>
            </a:r>
            <a:endParaRPr/>
          </a:p>
        </p:txBody>
      </p:sp>
      <p:sp>
        <p:nvSpPr>
          <p:cNvPr id="894" name="Google Shape;894;p6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0" name="Shape 900"/>
        <p:cNvGrpSpPr/>
        <p:nvPr/>
      </p:nvGrpSpPr>
      <p:grpSpPr>
        <a:xfrm>
          <a:off x="0" y="0"/>
          <a:ext cx="0" cy="0"/>
          <a:chOff x="0" y="0"/>
          <a:chExt cx="0" cy="0"/>
        </a:xfrm>
      </p:grpSpPr>
      <p:sp>
        <p:nvSpPr>
          <p:cNvPr id="901" name="Google Shape;90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02" name="Google Shape;902;p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At the opposite extreme from contiguous allocation is </a:t>
            </a:r>
            <a:r>
              <a:rPr b="1" lang="en-US"/>
              <a:t>chained allocation</a:t>
            </a:r>
            <a:endParaRPr/>
          </a:p>
          <a:p>
            <a:pPr indent="0" lvl="0" marL="0" rtl="0" algn="l">
              <a:spcBef>
                <a:spcPts val="360"/>
              </a:spcBef>
              <a:spcAft>
                <a:spcPts val="0"/>
              </a:spcAft>
              <a:buNone/>
            </a:pPr>
            <a:r>
              <a:rPr lang="en-US"/>
              <a:t>( Figure 12.11 ). Typically, allocation is on an individual block basis. Each block contains</a:t>
            </a:r>
            <a:endParaRPr/>
          </a:p>
          <a:p>
            <a:pPr indent="0" lvl="0" marL="0" rtl="0" algn="l">
              <a:spcBef>
                <a:spcPts val="360"/>
              </a:spcBef>
              <a:spcAft>
                <a:spcPts val="0"/>
              </a:spcAft>
              <a:buNone/>
            </a:pPr>
            <a:r>
              <a:rPr lang="en-US"/>
              <a:t>a pointer to the next block in the chain. Again, the file allocation table needs</a:t>
            </a:r>
            <a:endParaRPr/>
          </a:p>
          <a:p>
            <a:pPr indent="0" lvl="0" marL="0" rtl="0" algn="l">
              <a:spcBef>
                <a:spcPts val="360"/>
              </a:spcBef>
              <a:spcAft>
                <a:spcPts val="0"/>
              </a:spcAft>
              <a:buNone/>
            </a:pPr>
            <a:r>
              <a:rPr lang="en-US"/>
              <a:t>just a single entry for each file, showing the starting block and the length of the</a:t>
            </a:r>
            <a:endParaRPr/>
          </a:p>
          <a:p>
            <a:pPr indent="0" lvl="0" marL="0" rtl="0" algn="l">
              <a:spcBef>
                <a:spcPts val="360"/>
              </a:spcBef>
              <a:spcAft>
                <a:spcPts val="0"/>
              </a:spcAft>
              <a:buNone/>
            </a:pPr>
            <a:r>
              <a:rPr lang="en-US"/>
              <a:t>file. Although preallocation is possible, it is more common simply to allocate blocks</a:t>
            </a:r>
            <a:endParaRPr/>
          </a:p>
          <a:p>
            <a:pPr indent="0" lvl="0" marL="0" rtl="0" algn="l">
              <a:spcBef>
                <a:spcPts val="360"/>
              </a:spcBef>
              <a:spcAft>
                <a:spcPts val="0"/>
              </a:spcAft>
              <a:buNone/>
            </a:pPr>
            <a:r>
              <a:rPr lang="en-US"/>
              <a:t>as needed. The selection of blocks is now a simple matter: Any free block can be</a:t>
            </a:r>
            <a:endParaRPr/>
          </a:p>
          <a:p>
            <a:pPr indent="0" lvl="0" marL="0" rtl="0" algn="l">
              <a:spcBef>
                <a:spcPts val="360"/>
              </a:spcBef>
              <a:spcAft>
                <a:spcPts val="0"/>
              </a:spcAft>
              <a:buNone/>
            </a:pPr>
            <a:r>
              <a:rPr lang="en-US"/>
              <a:t>added to a chain. There is no external fragmentation to worry about because only</a:t>
            </a:r>
            <a:endParaRPr/>
          </a:p>
          <a:p>
            <a:pPr indent="0" lvl="0" marL="0" rtl="0" algn="l">
              <a:spcBef>
                <a:spcPts val="360"/>
              </a:spcBef>
              <a:spcAft>
                <a:spcPts val="0"/>
              </a:spcAft>
              <a:buNone/>
            </a:pPr>
            <a:r>
              <a:rPr lang="en-US"/>
              <a:t>one block at a time is needed. This type of physical organization is best suited to</a:t>
            </a:r>
            <a:endParaRPr/>
          </a:p>
          <a:p>
            <a:pPr indent="0" lvl="0" marL="0" rtl="0" algn="l">
              <a:spcBef>
                <a:spcPts val="360"/>
              </a:spcBef>
              <a:spcAft>
                <a:spcPts val="0"/>
              </a:spcAft>
              <a:buNone/>
            </a:pPr>
            <a:r>
              <a:rPr lang="en-US"/>
              <a:t>sequential files that are to be processed sequentially. To select an individual block</a:t>
            </a:r>
            <a:endParaRPr/>
          </a:p>
          <a:p>
            <a:pPr indent="0" lvl="0" marL="0" rtl="0" algn="l">
              <a:spcBef>
                <a:spcPts val="360"/>
              </a:spcBef>
              <a:spcAft>
                <a:spcPts val="0"/>
              </a:spcAft>
              <a:buNone/>
            </a:pPr>
            <a:r>
              <a:rPr lang="en-US"/>
              <a:t>of a file requires tracing through the chain to the desired block.</a:t>
            </a:r>
            <a:endParaRPr/>
          </a:p>
        </p:txBody>
      </p:sp>
      <p:sp>
        <p:nvSpPr>
          <p:cNvPr id="903" name="Google Shape;903;p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11" name="Google Shape;911;p7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One consequence of chaining, as described so far, is that there is no accommodation</a:t>
            </a:r>
            <a:endParaRPr/>
          </a:p>
          <a:p>
            <a:pPr indent="0" lvl="0" marL="0" rtl="0" algn="l">
              <a:spcBef>
                <a:spcPts val="360"/>
              </a:spcBef>
              <a:spcAft>
                <a:spcPts val="0"/>
              </a:spcAft>
              <a:buNone/>
            </a:pPr>
            <a:r>
              <a:rPr lang="en-US"/>
              <a:t>of the principle of locality. Thus, if it is necessary to bring in several blocks of</a:t>
            </a:r>
            <a:endParaRPr/>
          </a:p>
          <a:p>
            <a:pPr indent="0" lvl="0" marL="0" rtl="0" algn="l">
              <a:spcBef>
                <a:spcPts val="360"/>
              </a:spcBef>
              <a:spcAft>
                <a:spcPts val="0"/>
              </a:spcAft>
              <a:buNone/>
            </a:pPr>
            <a:r>
              <a:rPr lang="en-US"/>
              <a:t>a file at a time, as in sequential processing, then a series of accesses to different parts</a:t>
            </a:r>
            <a:endParaRPr/>
          </a:p>
          <a:p>
            <a:pPr indent="0" lvl="0" marL="0" rtl="0" algn="l">
              <a:spcBef>
                <a:spcPts val="360"/>
              </a:spcBef>
              <a:spcAft>
                <a:spcPts val="0"/>
              </a:spcAft>
              <a:buNone/>
            </a:pPr>
            <a:r>
              <a:rPr lang="en-US"/>
              <a:t>of the disk are required. This is perhaps a more significant effect on a single-user</a:t>
            </a:r>
            <a:endParaRPr/>
          </a:p>
          <a:p>
            <a:pPr indent="0" lvl="0" marL="0" rtl="0" algn="l">
              <a:spcBef>
                <a:spcPts val="360"/>
              </a:spcBef>
              <a:spcAft>
                <a:spcPts val="0"/>
              </a:spcAft>
              <a:buNone/>
            </a:pPr>
            <a:r>
              <a:rPr lang="en-US"/>
              <a:t>system but may also be of concern on a shared system. To overcome this problem,</a:t>
            </a:r>
            <a:endParaRPr/>
          </a:p>
          <a:p>
            <a:pPr indent="0" lvl="0" marL="0" rtl="0" algn="l">
              <a:spcBef>
                <a:spcPts val="360"/>
              </a:spcBef>
              <a:spcAft>
                <a:spcPts val="0"/>
              </a:spcAft>
              <a:buNone/>
            </a:pPr>
            <a:r>
              <a:rPr lang="en-US"/>
              <a:t>some systems periodically consolidate files ( Figure 12.12 ).</a:t>
            </a:r>
            <a:endParaRPr/>
          </a:p>
        </p:txBody>
      </p:sp>
      <p:sp>
        <p:nvSpPr>
          <p:cNvPr id="912" name="Google Shape;912;p7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19" name="Google Shape;919;p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Indexed allocation addresses many of the problems of contiguous and chained</a:t>
            </a:r>
            <a:endParaRPr/>
          </a:p>
          <a:p>
            <a:pPr indent="0" lvl="0" marL="0" rtl="0" algn="l">
              <a:spcBef>
                <a:spcPts val="360"/>
              </a:spcBef>
              <a:spcAft>
                <a:spcPts val="0"/>
              </a:spcAft>
              <a:buNone/>
            </a:pPr>
            <a:r>
              <a:rPr lang="en-US"/>
              <a:t>allocation. In this case, the file allocation table contains a separate one-level index for</a:t>
            </a:r>
            <a:endParaRPr/>
          </a:p>
          <a:p>
            <a:pPr indent="0" lvl="0" marL="0" rtl="0" algn="l">
              <a:spcBef>
                <a:spcPts val="360"/>
              </a:spcBef>
              <a:spcAft>
                <a:spcPts val="0"/>
              </a:spcAft>
              <a:buNone/>
            </a:pPr>
            <a:r>
              <a:rPr lang="en-US"/>
              <a:t>each file; the index has one entry for each portion allocated to the file. Typically, the</a:t>
            </a:r>
            <a:endParaRPr/>
          </a:p>
          <a:p>
            <a:pPr indent="0" lvl="0" marL="0" rtl="0" algn="l">
              <a:spcBef>
                <a:spcPts val="360"/>
              </a:spcBef>
              <a:spcAft>
                <a:spcPts val="0"/>
              </a:spcAft>
              <a:buNone/>
            </a:pPr>
            <a:r>
              <a:rPr lang="en-US"/>
              <a:t>file indexes are not physically stored as part of the file allocation table. Rather, the</a:t>
            </a:r>
            <a:endParaRPr/>
          </a:p>
          <a:p>
            <a:pPr indent="0" lvl="0" marL="0" rtl="0" algn="l">
              <a:spcBef>
                <a:spcPts val="360"/>
              </a:spcBef>
              <a:spcAft>
                <a:spcPts val="0"/>
              </a:spcAft>
              <a:buNone/>
            </a:pPr>
            <a:r>
              <a:rPr lang="en-US"/>
              <a:t>file index for a file is kept in a separate block, and the entry for the file in the file allocation</a:t>
            </a:r>
            <a:endParaRPr/>
          </a:p>
          <a:p>
            <a:pPr indent="0" lvl="0" marL="0" rtl="0" algn="l">
              <a:spcBef>
                <a:spcPts val="360"/>
              </a:spcBef>
              <a:spcAft>
                <a:spcPts val="0"/>
              </a:spcAft>
              <a:buNone/>
            </a:pPr>
            <a:r>
              <a:rPr lang="en-US"/>
              <a:t>table points to that block. Allocation may be on the basis of either fixed-size</a:t>
            </a:r>
            <a:endParaRPr/>
          </a:p>
          <a:p>
            <a:pPr indent="0" lvl="0" marL="0" rtl="0" algn="l">
              <a:spcBef>
                <a:spcPts val="360"/>
              </a:spcBef>
              <a:spcAft>
                <a:spcPts val="0"/>
              </a:spcAft>
              <a:buNone/>
            </a:pPr>
            <a:r>
              <a:rPr lang="en-US"/>
              <a:t>blocks ( Figure 12.13 ) or variable-size portions ( Figure 12.14 ). Allocation by blocks</a:t>
            </a:r>
            <a:endParaRPr/>
          </a:p>
          <a:p>
            <a:pPr indent="0" lvl="0" marL="0" rtl="0" algn="l">
              <a:spcBef>
                <a:spcPts val="360"/>
              </a:spcBef>
              <a:spcAft>
                <a:spcPts val="0"/>
              </a:spcAft>
              <a:buNone/>
            </a:pPr>
            <a:r>
              <a:rPr lang="en-US"/>
              <a:t>eliminates external fragmentation, whereas allocation by variable-size portions</a:t>
            </a:r>
            <a:endParaRPr/>
          </a:p>
          <a:p>
            <a:pPr indent="0" lvl="0" marL="0" rtl="0" algn="l">
              <a:spcBef>
                <a:spcPts val="360"/>
              </a:spcBef>
              <a:spcAft>
                <a:spcPts val="0"/>
              </a:spcAft>
              <a:buNone/>
            </a:pPr>
            <a:r>
              <a:rPr lang="en-US"/>
              <a:t>improves locality. In either case, file consolidation may be done from time to time.</a:t>
            </a:r>
            <a:endParaRPr/>
          </a:p>
          <a:p>
            <a:pPr indent="0" lvl="0" marL="0" rtl="0" algn="l">
              <a:spcBef>
                <a:spcPts val="360"/>
              </a:spcBef>
              <a:spcAft>
                <a:spcPts val="0"/>
              </a:spcAft>
              <a:buNone/>
            </a:pPr>
            <a:r>
              <a:rPr lang="en-US"/>
              <a:t>File consolidation reduces the size of the index in the case of variable-size portions,</a:t>
            </a:r>
            <a:endParaRPr/>
          </a:p>
          <a:p>
            <a:pPr indent="0" lvl="0" marL="0" rtl="0" algn="l">
              <a:spcBef>
                <a:spcPts val="360"/>
              </a:spcBef>
              <a:spcAft>
                <a:spcPts val="0"/>
              </a:spcAft>
              <a:buNone/>
            </a:pPr>
            <a:r>
              <a:rPr lang="en-US"/>
              <a:t>but not in the case of block allocation. Indexed allocation supports both sequential</a:t>
            </a:r>
            <a:endParaRPr/>
          </a:p>
          <a:p>
            <a:pPr indent="0" lvl="0" marL="0" rtl="0" algn="l">
              <a:spcBef>
                <a:spcPts val="360"/>
              </a:spcBef>
              <a:spcAft>
                <a:spcPts val="0"/>
              </a:spcAft>
              <a:buNone/>
            </a:pPr>
            <a:r>
              <a:rPr lang="en-US"/>
              <a:t>and direct access to the file and thus is the most popular form of file allocation.</a:t>
            </a:r>
            <a:endParaRPr/>
          </a:p>
        </p:txBody>
      </p:sp>
      <p:sp>
        <p:nvSpPr>
          <p:cNvPr id="920" name="Google Shape;920;p7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27" name="Google Shape;927;p7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a:t>Indexed allocation addresses many of the problems of contiguous and chained</a:t>
            </a:r>
            <a:endParaRPr/>
          </a:p>
          <a:p>
            <a:pPr indent="0" lvl="0" marL="0" rtl="0" algn="l">
              <a:spcBef>
                <a:spcPts val="360"/>
              </a:spcBef>
              <a:spcAft>
                <a:spcPts val="0"/>
              </a:spcAft>
              <a:buNone/>
            </a:pPr>
            <a:r>
              <a:rPr lang="en-US"/>
              <a:t>allocation. In this case, the file allocation table contains a separate one-level index for</a:t>
            </a:r>
            <a:endParaRPr/>
          </a:p>
          <a:p>
            <a:pPr indent="0" lvl="0" marL="0" rtl="0" algn="l">
              <a:spcBef>
                <a:spcPts val="360"/>
              </a:spcBef>
              <a:spcAft>
                <a:spcPts val="0"/>
              </a:spcAft>
              <a:buNone/>
            </a:pPr>
            <a:r>
              <a:rPr lang="en-US"/>
              <a:t>each file; the index has one entry for each portion allocated to the file. Typically, the</a:t>
            </a:r>
            <a:endParaRPr/>
          </a:p>
          <a:p>
            <a:pPr indent="0" lvl="0" marL="0" rtl="0" algn="l">
              <a:spcBef>
                <a:spcPts val="360"/>
              </a:spcBef>
              <a:spcAft>
                <a:spcPts val="0"/>
              </a:spcAft>
              <a:buNone/>
            </a:pPr>
            <a:r>
              <a:rPr lang="en-US"/>
              <a:t>file indexes are not physically stored as part of the file allocation table. Rather, the</a:t>
            </a:r>
            <a:endParaRPr/>
          </a:p>
          <a:p>
            <a:pPr indent="0" lvl="0" marL="0" rtl="0" algn="l">
              <a:spcBef>
                <a:spcPts val="360"/>
              </a:spcBef>
              <a:spcAft>
                <a:spcPts val="0"/>
              </a:spcAft>
              <a:buNone/>
            </a:pPr>
            <a:r>
              <a:rPr lang="en-US"/>
              <a:t>file index for a file is kept in a separate block, and the entry for the file in the file allocation</a:t>
            </a:r>
            <a:endParaRPr/>
          </a:p>
          <a:p>
            <a:pPr indent="0" lvl="0" marL="0" rtl="0" algn="l">
              <a:spcBef>
                <a:spcPts val="360"/>
              </a:spcBef>
              <a:spcAft>
                <a:spcPts val="0"/>
              </a:spcAft>
              <a:buNone/>
            </a:pPr>
            <a:r>
              <a:rPr lang="en-US"/>
              <a:t>table points to that block. Allocation may be on the basis of either fixed-size</a:t>
            </a:r>
            <a:endParaRPr/>
          </a:p>
          <a:p>
            <a:pPr indent="0" lvl="0" marL="0" rtl="0" algn="l">
              <a:spcBef>
                <a:spcPts val="360"/>
              </a:spcBef>
              <a:spcAft>
                <a:spcPts val="0"/>
              </a:spcAft>
              <a:buNone/>
            </a:pPr>
            <a:r>
              <a:rPr lang="en-US"/>
              <a:t>blocks ( Figure 12.13 ) or variable-size portions ( Figure 12.14 ). Allocation by blocks</a:t>
            </a:r>
            <a:endParaRPr/>
          </a:p>
          <a:p>
            <a:pPr indent="0" lvl="0" marL="0" rtl="0" algn="l">
              <a:spcBef>
                <a:spcPts val="360"/>
              </a:spcBef>
              <a:spcAft>
                <a:spcPts val="0"/>
              </a:spcAft>
              <a:buNone/>
            </a:pPr>
            <a:r>
              <a:rPr lang="en-US"/>
              <a:t>eliminates external fragmentation, whereas allocation by variable-size portions</a:t>
            </a:r>
            <a:endParaRPr/>
          </a:p>
          <a:p>
            <a:pPr indent="0" lvl="0" marL="0" rtl="0" algn="l">
              <a:spcBef>
                <a:spcPts val="360"/>
              </a:spcBef>
              <a:spcAft>
                <a:spcPts val="0"/>
              </a:spcAft>
              <a:buNone/>
            </a:pPr>
            <a:r>
              <a:rPr lang="en-US"/>
              <a:t>improves locality. In either case, file consolidation may be done from time to time.</a:t>
            </a:r>
            <a:endParaRPr/>
          </a:p>
          <a:p>
            <a:pPr indent="0" lvl="0" marL="0" rtl="0" algn="l">
              <a:spcBef>
                <a:spcPts val="360"/>
              </a:spcBef>
              <a:spcAft>
                <a:spcPts val="0"/>
              </a:spcAft>
              <a:buNone/>
            </a:pPr>
            <a:r>
              <a:rPr lang="en-US"/>
              <a:t>File consolidation reduces the size of the index in the case of variable-size portions,</a:t>
            </a:r>
            <a:endParaRPr/>
          </a:p>
          <a:p>
            <a:pPr indent="0" lvl="0" marL="0" rtl="0" algn="l">
              <a:spcBef>
                <a:spcPts val="360"/>
              </a:spcBef>
              <a:spcAft>
                <a:spcPts val="0"/>
              </a:spcAft>
              <a:buNone/>
            </a:pPr>
            <a:r>
              <a:rPr lang="en-US"/>
              <a:t>but not in the case of block allocation. Indexed allocation supports both sequential</a:t>
            </a:r>
            <a:endParaRPr/>
          </a:p>
          <a:p>
            <a:pPr indent="0" lvl="0" marL="0" rtl="0" algn="l">
              <a:spcBef>
                <a:spcPts val="360"/>
              </a:spcBef>
              <a:spcAft>
                <a:spcPts val="0"/>
              </a:spcAft>
              <a:buNone/>
            </a:pPr>
            <a:r>
              <a:rPr lang="en-US"/>
              <a:t>and direct access to the file and thus is the most popular form of file allocation.</a:t>
            </a:r>
            <a:endParaRPr/>
          </a:p>
        </p:txBody>
      </p:sp>
      <p:sp>
        <p:nvSpPr>
          <p:cNvPr id="928" name="Google Shape;928;p7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36" name="Google Shape;936;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Figure 12.14  Indexed allocation with Variable-Length Portions</a:t>
            </a:r>
            <a:endParaRPr/>
          </a:p>
        </p:txBody>
      </p:sp>
      <p:sp>
        <p:nvSpPr>
          <p:cNvPr id="937" name="Google Shape;937;p7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44" name="Google Shape;944;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Just as the space that is allocated to files must be managed, so the space that is not</a:t>
            </a:r>
            <a:endParaRPr/>
          </a:p>
          <a:p>
            <a:pPr indent="0" lvl="0" marL="0" rtl="0" algn="l">
              <a:spcBef>
                <a:spcPts val="360"/>
              </a:spcBef>
              <a:spcAft>
                <a:spcPts val="0"/>
              </a:spcAft>
              <a:buNone/>
            </a:pPr>
            <a:r>
              <a:rPr lang="en-US"/>
              <a:t>currently allocated to any file must be managed. To perform any of the file allocation</a:t>
            </a:r>
            <a:endParaRPr/>
          </a:p>
          <a:p>
            <a:pPr indent="0" lvl="0" marL="0" rtl="0" algn="l">
              <a:spcBef>
                <a:spcPts val="360"/>
              </a:spcBef>
              <a:spcAft>
                <a:spcPts val="0"/>
              </a:spcAft>
              <a:buNone/>
            </a:pPr>
            <a:r>
              <a:rPr lang="en-US"/>
              <a:t>techniques described previously, it is necessary to know what blocks on the disk</a:t>
            </a:r>
            <a:endParaRPr/>
          </a:p>
          <a:p>
            <a:pPr indent="0" lvl="0" marL="0" rtl="0" algn="l">
              <a:spcBef>
                <a:spcPts val="360"/>
              </a:spcBef>
              <a:spcAft>
                <a:spcPts val="0"/>
              </a:spcAft>
              <a:buNone/>
            </a:pPr>
            <a:r>
              <a:rPr lang="en-US"/>
              <a:t>are available. Thus we need a </a:t>
            </a:r>
            <a:r>
              <a:rPr b="1" lang="en-US"/>
              <a:t>disk allocation table in addition to a file allocation</a:t>
            </a:r>
            <a:endParaRPr/>
          </a:p>
          <a:p>
            <a:pPr indent="0" lvl="0" marL="0" rtl="0" algn="l">
              <a:spcBef>
                <a:spcPts val="360"/>
              </a:spcBef>
              <a:spcAft>
                <a:spcPts val="0"/>
              </a:spcAft>
              <a:buNone/>
            </a:pPr>
            <a:r>
              <a:rPr lang="en-US"/>
              <a:t>table. We discuss here a number of techniques that have been implemented.</a:t>
            </a:r>
            <a:endParaRPr/>
          </a:p>
        </p:txBody>
      </p:sp>
      <p:sp>
        <p:nvSpPr>
          <p:cNvPr id="945" name="Google Shape;945;p7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53" name="Google Shape;953;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This method uses a vector containing one bit for each block on the</a:t>
            </a:r>
            <a:endParaRPr/>
          </a:p>
          <a:p>
            <a:pPr indent="0" lvl="0" marL="0" rtl="0" algn="l">
              <a:spcBef>
                <a:spcPts val="360"/>
              </a:spcBef>
              <a:spcAft>
                <a:spcPts val="0"/>
              </a:spcAft>
              <a:buNone/>
            </a:pPr>
            <a:r>
              <a:rPr lang="en-US"/>
              <a:t>disk. Each entry of a 0 corresponds to a free block, and each 1 corresponds to a</a:t>
            </a:r>
            <a:endParaRPr/>
          </a:p>
          <a:p>
            <a:pPr indent="0" lvl="0" marL="0" rtl="0" algn="l">
              <a:spcBef>
                <a:spcPts val="360"/>
              </a:spcBef>
              <a:spcAft>
                <a:spcPts val="0"/>
              </a:spcAft>
              <a:buNone/>
            </a:pPr>
            <a:r>
              <a:rPr lang="en-US"/>
              <a:t>block in use. For example, for the disk layout of Figure 12.9 , a vector of length 35 is</a:t>
            </a:r>
            <a:endParaRPr/>
          </a:p>
          <a:p>
            <a:pPr indent="0" lvl="0" marL="0" rtl="0" algn="l">
              <a:spcBef>
                <a:spcPts val="360"/>
              </a:spcBef>
              <a:spcAft>
                <a:spcPts val="0"/>
              </a:spcAft>
              <a:buNone/>
            </a:pPr>
            <a:r>
              <a:rPr lang="en-US"/>
              <a:t>needed and would have the following value: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00111000011111000011111111111011000</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bit table has the advantage that it is relatively easy to find one or a contiguous</a:t>
            </a:r>
            <a:endParaRPr/>
          </a:p>
          <a:p>
            <a:pPr indent="0" lvl="0" marL="0" rtl="0" algn="l">
              <a:spcBef>
                <a:spcPts val="360"/>
              </a:spcBef>
              <a:spcAft>
                <a:spcPts val="0"/>
              </a:spcAft>
              <a:buNone/>
            </a:pPr>
            <a:r>
              <a:rPr lang="en-US"/>
              <a:t>group of free blocks. Thus, a bit table works well with any of the file</a:t>
            </a:r>
            <a:endParaRPr/>
          </a:p>
          <a:p>
            <a:pPr indent="0" lvl="0" marL="0" rtl="0" algn="l">
              <a:spcBef>
                <a:spcPts val="360"/>
              </a:spcBef>
              <a:spcAft>
                <a:spcPts val="0"/>
              </a:spcAft>
              <a:buNone/>
            </a:pPr>
            <a:r>
              <a:rPr lang="en-US"/>
              <a:t>allocation methods outlined. Another advantage is that it is as small as possible.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However, it can still be sizable. The amount of memory (in bytes) required for a</a:t>
            </a:r>
            <a:endParaRPr/>
          </a:p>
          <a:p>
            <a:pPr indent="0" lvl="0" marL="0" rtl="0" algn="l">
              <a:spcBef>
                <a:spcPts val="360"/>
              </a:spcBef>
              <a:spcAft>
                <a:spcPts val="0"/>
              </a:spcAft>
              <a:buNone/>
            </a:pPr>
            <a:r>
              <a:rPr lang="en-US"/>
              <a:t>block bitmap is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disk size in bytes/</a:t>
            </a:r>
            <a:endParaRPr/>
          </a:p>
          <a:p>
            <a:pPr indent="0" lvl="0" marL="0" rtl="0" algn="l">
              <a:spcBef>
                <a:spcPts val="360"/>
              </a:spcBef>
              <a:spcAft>
                <a:spcPts val="0"/>
              </a:spcAft>
              <a:buNone/>
            </a:pPr>
            <a:r>
              <a:rPr lang="en-US"/>
              <a:t>8 * file system block size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Thus, for a 16-Gbyte disk with 512-byte blocks, the bit table occupies about</a:t>
            </a:r>
            <a:endParaRPr/>
          </a:p>
          <a:p>
            <a:pPr indent="0" lvl="0" marL="0" rtl="0" algn="l">
              <a:spcBef>
                <a:spcPts val="360"/>
              </a:spcBef>
              <a:spcAft>
                <a:spcPts val="0"/>
              </a:spcAft>
              <a:buNone/>
            </a:pPr>
            <a:r>
              <a:rPr lang="en-US"/>
              <a:t>4 Mbytes. Can we spare 4 Mbytes of main memory for the bit table? If so, then the</a:t>
            </a:r>
            <a:endParaRPr/>
          </a:p>
          <a:p>
            <a:pPr indent="0" lvl="0" marL="0" rtl="0" algn="l">
              <a:spcBef>
                <a:spcPts val="360"/>
              </a:spcBef>
              <a:spcAft>
                <a:spcPts val="0"/>
              </a:spcAft>
              <a:buNone/>
            </a:pPr>
            <a:r>
              <a:rPr lang="en-US"/>
              <a:t>bit table can be searched without the need for disk access. But even with today’s</a:t>
            </a:r>
            <a:endParaRPr/>
          </a:p>
          <a:p>
            <a:pPr indent="0" lvl="0" marL="0" rtl="0" algn="l">
              <a:spcBef>
                <a:spcPts val="360"/>
              </a:spcBef>
              <a:spcAft>
                <a:spcPts val="0"/>
              </a:spcAft>
              <a:buNone/>
            </a:pPr>
            <a:r>
              <a:rPr lang="en-US"/>
              <a:t>memory sizes, 4 Mbytes is a hefty chunk of main memory to devote to a single function.</a:t>
            </a:r>
            <a:endParaRPr/>
          </a:p>
          <a:p>
            <a:pPr indent="0" lvl="0" marL="0" rtl="0" algn="l">
              <a:spcBef>
                <a:spcPts val="360"/>
              </a:spcBef>
              <a:spcAft>
                <a:spcPts val="0"/>
              </a:spcAft>
              <a:buNone/>
            </a:pPr>
            <a:r>
              <a:rPr lang="en-US"/>
              <a:t>The alternative is to put the bit table on disk. But a 4-Mbyte bit table would</a:t>
            </a:r>
            <a:endParaRPr/>
          </a:p>
          <a:p>
            <a:pPr indent="0" lvl="0" marL="0" rtl="0" algn="l">
              <a:spcBef>
                <a:spcPts val="360"/>
              </a:spcBef>
              <a:spcAft>
                <a:spcPts val="0"/>
              </a:spcAft>
              <a:buNone/>
            </a:pPr>
            <a:r>
              <a:rPr lang="en-US"/>
              <a:t>require about 8,000 disk blocks. We can’t afford to search that amount of disk space</a:t>
            </a:r>
            <a:endParaRPr/>
          </a:p>
          <a:p>
            <a:pPr indent="0" lvl="0" marL="0" rtl="0" algn="l">
              <a:spcBef>
                <a:spcPts val="360"/>
              </a:spcBef>
              <a:spcAft>
                <a:spcPts val="0"/>
              </a:spcAft>
              <a:buNone/>
            </a:pPr>
            <a:r>
              <a:rPr lang="en-US"/>
              <a:t>every time a block is needed, so a bit table resident in memory is indicated.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Even when the bit table is in main memory, an exhaustive search of the table</a:t>
            </a:r>
            <a:endParaRPr/>
          </a:p>
          <a:p>
            <a:pPr indent="0" lvl="0" marL="0" rtl="0" algn="l">
              <a:spcBef>
                <a:spcPts val="360"/>
              </a:spcBef>
              <a:spcAft>
                <a:spcPts val="0"/>
              </a:spcAft>
              <a:buNone/>
            </a:pPr>
            <a:r>
              <a:rPr lang="en-US"/>
              <a:t>can slow file system performance to an unacceptable degree. This is especially true</a:t>
            </a:r>
            <a:endParaRPr/>
          </a:p>
          <a:p>
            <a:pPr indent="0" lvl="0" marL="0" rtl="0" algn="l">
              <a:spcBef>
                <a:spcPts val="360"/>
              </a:spcBef>
              <a:spcAft>
                <a:spcPts val="0"/>
              </a:spcAft>
              <a:buNone/>
            </a:pPr>
            <a:r>
              <a:rPr lang="en-US"/>
              <a:t>when the disk is nearly full and there are few free blocks remaining. Accordingly,</a:t>
            </a:r>
            <a:endParaRPr/>
          </a:p>
          <a:p>
            <a:pPr indent="0" lvl="0" marL="0" rtl="0" algn="l">
              <a:spcBef>
                <a:spcPts val="360"/>
              </a:spcBef>
              <a:spcAft>
                <a:spcPts val="0"/>
              </a:spcAft>
              <a:buNone/>
            </a:pPr>
            <a:r>
              <a:rPr lang="en-US"/>
              <a:t>most file systems that use bit tables maintain auxiliary data structures that summarize</a:t>
            </a:r>
            <a:endParaRPr/>
          </a:p>
          <a:p>
            <a:pPr indent="0" lvl="0" marL="0" rtl="0" algn="l">
              <a:spcBef>
                <a:spcPts val="360"/>
              </a:spcBef>
              <a:spcAft>
                <a:spcPts val="0"/>
              </a:spcAft>
              <a:buNone/>
            </a:pPr>
            <a:r>
              <a:rPr lang="en-US"/>
              <a:t>the contents of subranges of the bit table. For example, the table could be</a:t>
            </a:r>
            <a:endParaRPr/>
          </a:p>
          <a:p>
            <a:pPr indent="0" lvl="0" marL="0" rtl="0" algn="l">
              <a:spcBef>
                <a:spcPts val="360"/>
              </a:spcBef>
              <a:spcAft>
                <a:spcPts val="0"/>
              </a:spcAft>
              <a:buNone/>
            </a:pPr>
            <a:r>
              <a:rPr lang="en-US"/>
              <a:t>divided logically into a number of equal-size subranges. A summary table could</a:t>
            </a:r>
            <a:endParaRPr/>
          </a:p>
          <a:p>
            <a:pPr indent="0" lvl="0" marL="0" rtl="0" algn="l">
              <a:spcBef>
                <a:spcPts val="360"/>
              </a:spcBef>
              <a:spcAft>
                <a:spcPts val="0"/>
              </a:spcAft>
              <a:buNone/>
            </a:pPr>
            <a:r>
              <a:rPr lang="en-US"/>
              <a:t>include, for each subrange, the number of free blocks and the maximum-sized contiguous</a:t>
            </a:r>
            <a:endParaRPr/>
          </a:p>
          <a:p>
            <a:pPr indent="0" lvl="0" marL="0" rtl="0" algn="l">
              <a:spcBef>
                <a:spcPts val="360"/>
              </a:spcBef>
              <a:spcAft>
                <a:spcPts val="0"/>
              </a:spcAft>
              <a:buNone/>
            </a:pPr>
            <a:r>
              <a:rPr lang="en-US"/>
              <a:t>number of free blocks. When the file system needs a number of contiguous</a:t>
            </a:r>
            <a:endParaRPr/>
          </a:p>
          <a:p>
            <a:pPr indent="0" lvl="0" marL="0" rtl="0" algn="l">
              <a:spcBef>
                <a:spcPts val="360"/>
              </a:spcBef>
              <a:spcAft>
                <a:spcPts val="0"/>
              </a:spcAft>
              <a:buNone/>
            </a:pPr>
            <a:r>
              <a:rPr lang="en-US"/>
              <a:t>blocks, it can scan the summary table to find an appropriate subrange and then</a:t>
            </a:r>
            <a:endParaRPr/>
          </a:p>
          <a:p>
            <a:pPr indent="0" lvl="0" marL="0" rtl="0" algn="l">
              <a:spcBef>
                <a:spcPts val="360"/>
              </a:spcBef>
              <a:spcAft>
                <a:spcPts val="0"/>
              </a:spcAft>
              <a:buNone/>
            </a:pPr>
            <a:r>
              <a:rPr lang="en-US"/>
              <a:t>search that subrange.</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954" name="Google Shape;954;p7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61" name="Google Shape;961;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This method uses a vector containing one bit for each block on the</a:t>
            </a:r>
            <a:endParaRPr/>
          </a:p>
          <a:p>
            <a:pPr indent="0" lvl="0" marL="0" rtl="0" algn="l">
              <a:spcBef>
                <a:spcPts val="360"/>
              </a:spcBef>
              <a:spcAft>
                <a:spcPts val="0"/>
              </a:spcAft>
              <a:buNone/>
            </a:pPr>
            <a:r>
              <a:rPr lang="en-US"/>
              <a:t>disk. Each entry of a 0 corresponds to a free block, and each 1 corresponds to a</a:t>
            </a:r>
            <a:endParaRPr/>
          </a:p>
          <a:p>
            <a:pPr indent="0" lvl="0" marL="0" rtl="0" algn="l">
              <a:spcBef>
                <a:spcPts val="360"/>
              </a:spcBef>
              <a:spcAft>
                <a:spcPts val="0"/>
              </a:spcAft>
              <a:buNone/>
            </a:pPr>
            <a:r>
              <a:rPr lang="en-US"/>
              <a:t>block in use. For example, for the disk layout of Figure 12.9 , a vector of length 35 is</a:t>
            </a:r>
            <a:endParaRPr/>
          </a:p>
          <a:p>
            <a:pPr indent="0" lvl="0" marL="0" rtl="0" algn="l">
              <a:spcBef>
                <a:spcPts val="360"/>
              </a:spcBef>
              <a:spcAft>
                <a:spcPts val="0"/>
              </a:spcAft>
              <a:buNone/>
            </a:pPr>
            <a:r>
              <a:rPr lang="en-US"/>
              <a:t>needed and would have the following value: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00111000011111000011111111111011000</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bit table has the advantage that it is relatively easy to find one or a contiguous</a:t>
            </a:r>
            <a:endParaRPr/>
          </a:p>
          <a:p>
            <a:pPr indent="0" lvl="0" marL="0" rtl="0" algn="l">
              <a:spcBef>
                <a:spcPts val="360"/>
              </a:spcBef>
              <a:spcAft>
                <a:spcPts val="0"/>
              </a:spcAft>
              <a:buNone/>
            </a:pPr>
            <a:r>
              <a:rPr lang="en-US"/>
              <a:t>group of free blocks. Thus, a bit table works well with any of the file</a:t>
            </a:r>
            <a:endParaRPr/>
          </a:p>
          <a:p>
            <a:pPr indent="0" lvl="0" marL="0" rtl="0" algn="l">
              <a:spcBef>
                <a:spcPts val="360"/>
              </a:spcBef>
              <a:spcAft>
                <a:spcPts val="0"/>
              </a:spcAft>
              <a:buNone/>
            </a:pPr>
            <a:r>
              <a:rPr lang="en-US"/>
              <a:t>allocation methods outlined. Another advantage is that it is as small as possible.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However, it can still be sizable. The amount of memory (in bytes) required for a</a:t>
            </a:r>
            <a:endParaRPr/>
          </a:p>
          <a:p>
            <a:pPr indent="0" lvl="0" marL="0" rtl="0" algn="l">
              <a:spcBef>
                <a:spcPts val="360"/>
              </a:spcBef>
              <a:spcAft>
                <a:spcPts val="0"/>
              </a:spcAft>
              <a:buNone/>
            </a:pPr>
            <a:r>
              <a:rPr lang="en-US"/>
              <a:t>block bitmap is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disk size in bytes/</a:t>
            </a:r>
            <a:endParaRPr/>
          </a:p>
          <a:p>
            <a:pPr indent="0" lvl="0" marL="0" rtl="0" algn="l">
              <a:spcBef>
                <a:spcPts val="360"/>
              </a:spcBef>
              <a:spcAft>
                <a:spcPts val="0"/>
              </a:spcAft>
              <a:buNone/>
            </a:pPr>
            <a:r>
              <a:rPr lang="en-US"/>
              <a:t>8 * file system block size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Thus, for a 16-Gbyte disk with 512-byte blocks, the bit table occupies about</a:t>
            </a:r>
            <a:endParaRPr/>
          </a:p>
          <a:p>
            <a:pPr indent="0" lvl="0" marL="0" rtl="0" algn="l">
              <a:spcBef>
                <a:spcPts val="360"/>
              </a:spcBef>
              <a:spcAft>
                <a:spcPts val="0"/>
              </a:spcAft>
              <a:buNone/>
            </a:pPr>
            <a:r>
              <a:rPr lang="en-US"/>
              <a:t>4 Mbytes. Can we spare 4 Mbytes of main memory for the bit table? If so, then the</a:t>
            </a:r>
            <a:endParaRPr/>
          </a:p>
          <a:p>
            <a:pPr indent="0" lvl="0" marL="0" rtl="0" algn="l">
              <a:spcBef>
                <a:spcPts val="360"/>
              </a:spcBef>
              <a:spcAft>
                <a:spcPts val="0"/>
              </a:spcAft>
              <a:buNone/>
            </a:pPr>
            <a:r>
              <a:rPr lang="en-US"/>
              <a:t>bit table can be searched without the need for disk access. But even with today’s</a:t>
            </a:r>
            <a:endParaRPr/>
          </a:p>
          <a:p>
            <a:pPr indent="0" lvl="0" marL="0" rtl="0" algn="l">
              <a:spcBef>
                <a:spcPts val="360"/>
              </a:spcBef>
              <a:spcAft>
                <a:spcPts val="0"/>
              </a:spcAft>
              <a:buNone/>
            </a:pPr>
            <a:r>
              <a:rPr lang="en-US"/>
              <a:t>memory sizes, 4 Mbytes is a hefty chunk of main memory to devote to a single function.</a:t>
            </a:r>
            <a:endParaRPr/>
          </a:p>
          <a:p>
            <a:pPr indent="0" lvl="0" marL="0" rtl="0" algn="l">
              <a:spcBef>
                <a:spcPts val="360"/>
              </a:spcBef>
              <a:spcAft>
                <a:spcPts val="0"/>
              </a:spcAft>
              <a:buNone/>
            </a:pPr>
            <a:r>
              <a:rPr lang="en-US"/>
              <a:t>The alternative is to put the bit table on disk. But a 4-Mbyte bit table would</a:t>
            </a:r>
            <a:endParaRPr/>
          </a:p>
          <a:p>
            <a:pPr indent="0" lvl="0" marL="0" rtl="0" algn="l">
              <a:spcBef>
                <a:spcPts val="360"/>
              </a:spcBef>
              <a:spcAft>
                <a:spcPts val="0"/>
              </a:spcAft>
              <a:buNone/>
            </a:pPr>
            <a:r>
              <a:rPr lang="en-US"/>
              <a:t>require about 8,000 disk blocks. We can’t afford to search that amount of disk space</a:t>
            </a:r>
            <a:endParaRPr/>
          </a:p>
          <a:p>
            <a:pPr indent="0" lvl="0" marL="0" rtl="0" algn="l">
              <a:spcBef>
                <a:spcPts val="360"/>
              </a:spcBef>
              <a:spcAft>
                <a:spcPts val="0"/>
              </a:spcAft>
              <a:buNone/>
            </a:pPr>
            <a:r>
              <a:rPr lang="en-US"/>
              <a:t>every time a block is needed, so a bit table resident in memory is indicated.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Even when the bit table is in main memory, an exhaustive search of the table</a:t>
            </a:r>
            <a:endParaRPr/>
          </a:p>
          <a:p>
            <a:pPr indent="0" lvl="0" marL="0" rtl="0" algn="l">
              <a:spcBef>
                <a:spcPts val="360"/>
              </a:spcBef>
              <a:spcAft>
                <a:spcPts val="0"/>
              </a:spcAft>
              <a:buNone/>
            </a:pPr>
            <a:r>
              <a:rPr lang="en-US"/>
              <a:t>can slow file system performance to an unacceptable degree. This is especially true</a:t>
            </a:r>
            <a:endParaRPr/>
          </a:p>
          <a:p>
            <a:pPr indent="0" lvl="0" marL="0" rtl="0" algn="l">
              <a:spcBef>
                <a:spcPts val="360"/>
              </a:spcBef>
              <a:spcAft>
                <a:spcPts val="0"/>
              </a:spcAft>
              <a:buNone/>
            </a:pPr>
            <a:r>
              <a:rPr lang="en-US"/>
              <a:t>when the disk is nearly full and there are few free blocks remaining. Accordingly,</a:t>
            </a:r>
            <a:endParaRPr/>
          </a:p>
          <a:p>
            <a:pPr indent="0" lvl="0" marL="0" rtl="0" algn="l">
              <a:spcBef>
                <a:spcPts val="360"/>
              </a:spcBef>
              <a:spcAft>
                <a:spcPts val="0"/>
              </a:spcAft>
              <a:buNone/>
            </a:pPr>
            <a:r>
              <a:rPr lang="en-US"/>
              <a:t>most file systems that use bit tables maintain auxiliary data structures that summarize</a:t>
            </a:r>
            <a:endParaRPr/>
          </a:p>
          <a:p>
            <a:pPr indent="0" lvl="0" marL="0" rtl="0" algn="l">
              <a:spcBef>
                <a:spcPts val="360"/>
              </a:spcBef>
              <a:spcAft>
                <a:spcPts val="0"/>
              </a:spcAft>
              <a:buNone/>
            </a:pPr>
            <a:r>
              <a:rPr lang="en-US"/>
              <a:t>the contents of subranges of the bit table. For example, the table could be</a:t>
            </a:r>
            <a:endParaRPr/>
          </a:p>
          <a:p>
            <a:pPr indent="0" lvl="0" marL="0" rtl="0" algn="l">
              <a:spcBef>
                <a:spcPts val="360"/>
              </a:spcBef>
              <a:spcAft>
                <a:spcPts val="0"/>
              </a:spcAft>
              <a:buNone/>
            </a:pPr>
            <a:r>
              <a:rPr lang="en-US"/>
              <a:t>divided logically into a number of equal-size subranges. A summary table could</a:t>
            </a:r>
            <a:endParaRPr/>
          </a:p>
          <a:p>
            <a:pPr indent="0" lvl="0" marL="0" rtl="0" algn="l">
              <a:spcBef>
                <a:spcPts val="360"/>
              </a:spcBef>
              <a:spcAft>
                <a:spcPts val="0"/>
              </a:spcAft>
              <a:buNone/>
            </a:pPr>
            <a:r>
              <a:rPr lang="en-US"/>
              <a:t>include, for each subrange, the number of free blocks and the maximum-sized contiguous</a:t>
            </a:r>
            <a:endParaRPr/>
          </a:p>
          <a:p>
            <a:pPr indent="0" lvl="0" marL="0" rtl="0" algn="l">
              <a:spcBef>
                <a:spcPts val="360"/>
              </a:spcBef>
              <a:spcAft>
                <a:spcPts val="0"/>
              </a:spcAft>
              <a:buNone/>
            </a:pPr>
            <a:r>
              <a:rPr lang="en-US"/>
              <a:t>number of free blocks. When the file system needs a number of contiguous</a:t>
            </a:r>
            <a:endParaRPr/>
          </a:p>
          <a:p>
            <a:pPr indent="0" lvl="0" marL="0" rtl="0" algn="l">
              <a:spcBef>
                <a:spcPts val="360"/>
              </a:spcBef>
              <a:spcAft>
                <a:spcPts val="0"/>
              </a:spcAft>
              <a:buNone/>
            </a:pPr>
            <a:r>
              <a:rPr lang="en-US"/>
              <a:t>blocks, it can scan the summary table to find an appropriate subrange and then</a:t>
            </a:r>
            <a:endParaRPr/>
          </a:p>
          <a:p>
            <a:pPr indent="0" lvl="0" marL="0" rtl="0" algn="l">
              <a:spcBef>
                <a:spcPts val="360"/>
              </a:spcBef>
              <a:spcAft>
                <a:spcPts val="0"/>
              </a:spcAft>
              <a:buNone/>
            </a:pPr>
            <a:r>
              <a:rPr lang="en-US"/>
              <a:t>search that subrange.</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962" name="Google Shape;962;p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69" name="Google Shape;969;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This method uses a vector containing one bit for each block on the</a:t>
            </a:r>
            <a:endParaRPr/>
          </a:p>
          <a:p>
            <a:pPr indent="0" lvl="0" marL="0" rtl="0" algn="l">
              <a:spcBef>
                <a:spcPts val="360"/>
              </a:spcBef>
              <a:spcAft>
                <a:spcPts val="0"/>
              </a:spcAft>
              <a:buNone/>
            </a:pPr>
            <a:r>
              <a:rPr lang="en-US"/>
              <a:t>disk. Each entry of a 0 corresponds to a free block, and each 1 corresponds to a</a:t>
            </a:r>
            <a:endParaRPr/>
          </a:p>
          <a:p>
            <a:pPr indent="0" lvl="0" marL="0" rtl="0" algn="l">
              <a:spcBef>
                <a:spcPts val="360"/>
              </a:spcBef>
              <a:spcAft>
                <a:spcPts val="0"/>
              </a:spcAft>
              <a:buNone/>
            </a:pPr>
            <a:r>
              <a:rPr lang="en-US"/>
              <a:t>block in use. For example, for the disk layout of Figure 12.9 , a vector of length 35 is</a:t>
            </a:r>
            <a:endParaRPr/>
          </a:p>
          <a:p>
            <a:pPr indent="0" lvl="0" marL="0" rtl="0" algn="l">
              <a:spcBef>
                <a:spcPts val="360"/>
              </a:spcBef>
              <a:spcAft>
                <a:spcPts val="0"/>
              </a:spcAft>
              <a:buNone/>
            </a:pPr>
            <a:r>
              <a:rPr lang="en-US"/>
              <a:t>needed and would have the following value: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00111000011111000011111111111011000</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bit table has the advantage that it is relatively easy to find one or a contiguous</a:t>
            </a:r>
            <a:endParaRPr/>
          </a:p>
          <a:p>
            <a:pPr indent="0" lvl="0" marL="0" rtl="0" algn="l">
              <a:spcBef>
                <a:spcPts val="360"/>
              </a:spcBef>
              <a:spcAft>
                <a:spcPts val="0"/>
              </a:spcAft>
              <a:buNone/>
            </a:pPr>
            <a:r>
              <a:rPr lang="en-US"/>
              <a:t>group of free blocks. Thus, a bit table works well with any of the file</a:t>
            </a:r>
            <a:endParaRPr/>
          </a:p>
          <a:p>
            <a:pPr indent="0" lvl="0" marL="0" rtl="0" algn="l">
              <a:spcBef>
                <a:spcPts val="360"/>
              </a:spcBef>
              <a:spcAft>
                <a:spcPts val="0"/>
              </a:spcAft>
              <a:buNone/>
            </a:pPr>
            <a:r>
              <a:rPr lang="en-US"/>
              <a:t>allocation methods outlined. Another advantage is that it is as small as possible.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However, it can still be sizable. The amount of memory (in bytes) required for a</a:t>
            </a:r>
            <a:endParaRPr/>
          </a:p>
          <a:p>
            <a:pPr indent="0" lvl="0" marL="0" rtl="0" algn="l">
              <a:spcBef>
                <a:spcPts val="360"/>
              </a:spcBef>
              <a:spcAft>
                <a:spcPts val="0"/>
              </a:spcAft>
              <a:buNone/>
            </a:pPr>
            <a:r>
              <a:rPr lang="en-US"/>
              <a:t>block bitmap is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disk size in bytes/</a:t>
            </a:r>
            <a:endParaRPr/>
          </a:p>
          <a:p>
            <a:pPr indent="0" lvl="0" marL="0" rtl="0" algn="l">
              <a:spcBef>
                <a:spcPts val="360"/>
              </a:spcBef>
              <a:spcAft>
                <a:spcPts val="0"/>
              </a:spcAft>
              <a:buNone/>
            </a:pPr>
            <a:r>
              <a:rPr lang="en-US"/>
              <a:t>8 * file system block size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Thus, for a 16-Gbyte disk with 512-byte blocks, the bit table occupies about</a:t>
            </a:r>
            <a:endParaRPr/>
          </a:p>
          <a:p>
            <a:pPr indent="0" lvl="0" marL="0" rtl="0" algn="l">
              <a:spcBef>
                <a:spcPts val="360"/>
              </a:spcBef>
              <a:spcAft>
                <a:spcPts val="0"/>
              </a:spcAft>
              <a:buNone/>
            </a:pPr>
            <a:r>
              <a:rPr lang="en-US"/>
              <a:t>4 Mbytes. Can we spare 4 Mbytes of main memory for the bit table? If so, then the</a:t>
            </a:r>
            <a:endParaRPr/>
          </a:p>
          <a:p>
            <a:pPr indent="0" lvl="0" marL="0" rtl="0" algn="l">
              <a:spcBef>
                <a:spcPts val="360"/>
              </a:spcBef>
              <a:spcAft>
                <a:spcPts val="0"/>
              </a:spcAft>
              <a:buNone/>
            </a:pPr>
            <a:r>
              <a:rPr lang="en-US"/>
              <a:t>bit table can be searched without the need for disk access. But even with today’s</a:t>
            </a:r>
            <a:endParaRPr/>
          </a:p>
          <a:p>
            <a:pPr indent="0" lvl="0" marL="0" rtl="0" algn="l">
              <a:spcBef>
                <a:spcPts val="360"/>
              </a:spcBef>
              <a:spcAft>
                <a:spcPts val="0"/>
              </a:spcAft>
              <a:buNone/>
            </a:pPr>
            <a:r>
              <a:rPr lang="en-US"/>
              <a:t>memory sizes, 4 Mbytes is a hefty chunk of main memory to devote to a single function.</a:t>
            </a:r>
            <a:endParaRPr/>
          </a:p>
          <a:p>
            <a:pPr indent="0" lvl="0" marL="0" rtl="0" algn="l">
              <a:spcBef>
                <a:spcPts val="360"/>
              </a:spcBef>
              <a:spcAft>
                <a:spcPts val="0"/>
              </a:spcAft>
              <a:buNone/>
            </a:pPr>
            <a:r>
              <a:rPr lang="en-US"/>
              <a:t>The alternative is to put the bit table on disk. But a 4-Mbyte bit table would</a:t>
            </a:r>
            <a:endParaRPr/>
          </a:p>
          <a:p>
            <a:pPr indent="0" lvl="0" marL="0" rtl="0" algn="l">
              <a:spcBef>
                <a:spcPts val="360"/>
              </a:spcBef>
              <a:spcAft>
                <a:spcPts val="0"/>
              </a:spcAft>
              <a:buNone/>
            </a:pPr>
            <a:r>
              <a:rPr lang="en-US"/>
              <a:t>require about 8,000 disk blocks. We can’t afford to search that amount of disk space</a:t>
            </a:r>
            <a:endParaRPr/>
          </a:p>
          <a:p>
            <a:pPr indent="0" lvl="0" marL="0" rtl="0" algn="l">
              <a:spcBef>
                <a:spcPts val="360"/>
              </a:spcBef>
              <a:spcAft>
                <a:spcPts val="0"/>
              </a:spcAft>
              <a:buNone/>
            </a:pPr>
            <a:r>
              <a:rPr lang="en-US"/>
              <a:t>every time a block is needed, so a bit table resident in memory is indicated.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Even when the bit table is in main memory, an exhaustive search of the table</a:t>
            </a:r>
            <a:endParaRPr/>
          </a:p>
          <a:p>
            <a:pPr indent="0" lvl="0" marL="0" rtl="0" algn="l">
              <a:spcBef>
                <a:spcPts val="360"/>
              </a:spcBef>
              <a:spcAft>
                <a:spcPts val="0"/>
              </a:spcAft>
              <a:buNone/>
            </a:pPr>
            <a:r>
              <a:rPr lang="en-US"/>
              <a:t>can slow file system performance to an unacceptable degree. This is especially true</a:t>
            </a:r>
            <a:endParaRPr/>
          </a:p>
          <a:p>
            <a:pPr indent="0" lvl="0" marL="0" rtl="0" algn="l">
              <a:spcBef>
                <a:spcPts val="360"/>
              </a:spcBef>
              <a:spcAft>
                <a:spcPts val="0"/>
              </a:spcAft>
              <a:buNone/>
            </a:pPr>
            <a:r>
              <a:rPr lang="en-US"/>
              <a:t>when the disk is nearly full and there are few free blocks remaining. Accordingly,</a:t>
            </a:r>
            <a:endParaRPr/>
          </a:p>
          <a:p>
            <a:pPr indent="0" lvl="0" marL="0" rtl="0" algn="l">
              <a:spcBef>
                <a:spcPts val="360"/>
              </a:spcBef>
              <a:spcAft>
                <a:spcPts val="0"/>
              </a:spcAft>
              <a:buNone/>
            </a:pPr>
            <a:r>
              <a:rPr lang="en-US"/>
              <a:t>most file systems that use bit tables maintain auxiliary data structures that summarize</a:t>
            </a:r>
            <a:endParaRPr/>
          </a:p>
          <a:p>
            <a:pPr indent="0" lvl="0" marL="0" rtl="0" algn="l">
              <a:spcBef>
                <a:spcPts val="360"/>
              </a:spcBef>
              <a:spcAft>
                <a:spcPts val="0"/>
              </a:spcAft>
              <a:buNone/>
            </a:pPr>
            <a:r>
              <a:rPr lang="en-US"/>
              <a:t>the contents of subranges of the bit table. For example, the table could be</a:t>
            </a:r>
            <a:endParaRPr/>
          </a:p>
          <a:p>
            <a:pPr indent="0" lvl="0" marL="0" rtl="0" algn="l">
              <a:spcBef>
                <a:spcPts val="360"/>
              </a:spcBef>
              <a:spcAft>
                <a:spcPts val="0"/>
              </a:spcAft>
              <a:buNone/>
            </a:pPr>
            <a:r>
              <a:rPr lang="en-US"/>
              <a:t>divided logically into a number of equal-size subranges. A summary table could</a:t>
            </a:r>
            <a:endParaRPr/>
          </a:p>
          <a:p>
            <a:pPr indent="0" lvl="0" marL="0" rtl="0" algn="l">
              <a:spcBef>
                <a:spcPts val="360"/>
              </a:spcBef>
              <a:spcAft>
                <a:spcPts val="0"/>
              </a:spcAft>
              <a:buNone/>
            </a:pPr>
            <a:r>
              <a:rPr lang="en-US"/>
              <a:t>include, for each subrange, the number of free blocks and the maximum-sized contiguous</a:t>
            </a:r>
            <a:endParaRPr/>
          </a:p>
          <a:p>
            <a:pPr indent="0" lvl="0" marL="0" rtl="0" algn="l">
              <a:spcBef>
                <a:spcPts val="360"/>
              </a:spcBef>
              <a:spcAft>
                <a:spcPts val="0"/>
              </a:spcAft>
              <a:buNone/>
            </a:pPr>
            <a:r>
              <a:rPr lang="en-US"/>
              <a:t>number of free blocks. When the file system needs a number of contiguous</a:t>
            </a:r>
            <a:endParaRPr/>
          </a:p>
          <a:p>
            <a:pPr indent="0" lvl="0" marL="0" rtl="0" algn="l">
              <a:spcBef>
                <a:spcPts val="360"/>
              </a:spcBef>
              <a:spcAft>
                <a:spcPts val="0"/>
              </a:spcAft>
              <a:buNone/>
            </a:pPr>
            <a:r>
              <a:rPr lang="en-US"/>
              <a:t>blocks, it can scan the summary table to find an appropriate subrange and then</a:t>
            </a:r>
            <a:endParaRPr/>
          </a:p>
          <a:p>
            <a:pPr indent="0" lvl="0" marL="0" rtl="0" algn="l">
              <a:spcBef>
                <a:spcPts val="360"/>
              </a:spcBef>
              <a:spcAft>
                <a:spcPts val="0"/>
              </a:spcAft>
              <a:buNone/>
            </a:pPr>
            <a:r>
              <a:rPr lang="en-US"/>
              <a:t>search that subrange.</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p:txBody>
      </p:sp>
      <p:sp>
        <p:nvSpPr>
          <p:cNvPr id="970" name="Google Shape;970;p7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77" name="Google Shape;977;p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110"/>
              <a:t>The free portions may be chained together by using</a:t>
            </a:r>
            <a:endParaRPr/>
          </a:p>
          <a:p>
            <a:pPr indent="0" lvl="0" marL="0" rtl="0" algn="l">
              <a:lnSpc>
                <a:spcPct val="90000"/>
              </a:lnSpc>
              <a:spcBef>
                <a:spcPts val="333"/>
              </a:spcBef>
              <a:spcAft>
                <a:spcPts val="0"/>
              </a:spcAft>
              <a:buNone/>
            </a:pPr>
            <a:r>
              <a:rPr lang="en-US" sz="1110"/>
              <a:t>a pointer and length value in each free portion. This method has negligible space</a:t>
            </a:r>
            <a:endParaRPr/>
          </a:p>
          <a:p>
            <a:pPr indent="0" lvl="0" marL="0" rtl="0" algn="l">
              <a:lnSpc>
                <a:spcPct val="90000"/>
              </a:lnSpc>
              <a:spcBef>
                <a:spcPts val="333"/>
              </a:spcBef>
              <a:spcAft>
                <a:spcPts val="0"/>
              </a:spcAft>
              <a:buNone/>
            </a:pPr>
            <a:r>
              <a:rPr lang="en-US" sz="1110"/>
              <a:t>overhead because there is no need for a disk allocation table, merely for a pointer to</a:t>
            </a:r>
            <a:endParaRPr/>
          </a:p>
          <a:p>
            <a:pPr indent="0" lvl="0" marL="0" rtl="0" algn="l">
              <a:lnSpc>
                <a:spcPct val="90000"/>
              </a:lnSpc>
              <a:spcBef>
                <a:spcPts val="333"/>
              </a:spcBef>
              <a:spcAft>
                <a:spcPts val="0"/>
              </a:spcAft>
              <a:buNone/>
            </a:pPr>
            <a:r>
              <a:rPr lang="en-US" sz="1110"/>
              <a:t>the beginning of the chain and the length of the first portion. This method is suited</a:t>
            </a:r>
            <a:endParaRPr/>
          </a:p>
          <a:p>
            <a:pPr indent="0" lvl="0" marL="0" rtl="0" algn="l">
              <a:lnSpc>
                <a:spcPct val="90000"/>
              </a:lnSpc>
              <a:spcBef>
                <a:spcPts val="333"/>
              </a:spcBef>
              <a:spcAft>
                <a:spcPts val="0"/>
              </a:spcAft>
              <a:buNone/>
            </a:pPr>
            <a:r>
              <a:rPr lang="en-US" sz="1110"/>
              <a:t>to all of the file allocation methods. If allocation is a block at a time, simply choose</a:t>
            </a:r>
            <a:endParaRPr/>
          </a:p>
          <a:p>
            <a:pPr indent="0" lvl="0" marL="0" rtl="0" algn="l">
              <a:lnSpc>
                <a:spcPct val="90000"/>
              </a:lnSpc>
              <a:spcBef>
                <a:spcPts val="333"/>
              </a:spcBef>
              <a:spcAft>
                <a:spcPts val="0"/>
              </a:spcAft>
              <a:buNone/>
            </a:pPr>
            <a:r>
              <a:rPr lang="en-US" sz="1110"/>
              <a:t>the free block at the head of the chain and adjust the first pointer or length value.</a:t>
            </a:r>
            <a:endParaRPr/>
          </a:p>
          <a:p>
            <a:pPr indent="0" lvl="0" marL="0" rtl="0" algn="l">
              <a:lnSpc>
                <a:spcPct val="90000"/>
              </a:lnSpc>
              <a:spcBef>
                <a:spcPts val="333"/>
              </a:spcBef>
              <a:spcAft>
                <a:spcPts val="0"/>
              </a:spcAft>
              <a:buNone/>
            </a:pPr>
            <a:r>
              <a:rPr lang="en-US" sz="1110"/>
              <a:t>If allocation is by variable-length portion, a first-fit algorithm may be used: The</a:t>
            </a:r>
            <a:endParaRPr/>
          </a:p>
          <a:p>
            <a:pPr indent="0" lvl="0" marL="0" rtl="0" algn="l">
              <a:lnSpc>
                <a:spcPct val="90000"/>
              </a:lnSpc>
              <a:spcBef>
                <a:spcPts val="333"/>
              </a:spcBef>
              <a:spcAft>
                <a:spcPts val="0"/>
              </a:spcAft>
              <a:buNone/>
            </a:pPr>
            <a:r>
              <a:rPr lang="en-US" sz="1110"/>
              <a:t>headers from the portions are fetched one at a time to determine the next suitable</a:t>
            </a:r>
            <a:endParaRPr/>
          </a:p>
          <a:p>
            <a:pPr indent="0" lvl="0" marL="0" rtl="0" algn="l">
              <a:lnSpc>
                <a:spcPct val="90000"/>
              </a:lnSpc>
              <a:spcBef>
                <a:spcPts val="333"/>
              </a:spcBef>
              <a:spcAft>
                <a:spcPts val="0"/>
              </a:spcAft>
              <a:buNone/>
            </a:pPr>
            <a:r>
              <a:rPr lang="en-US" sz="1110"/>
              <a:t>free portion in the chain. Again, pointer and length values are adjusted.</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This method has its own problems. After some use, the disk will become quite</a:t>
            </a:r>
            <a:endParaRPr/>
          </a:p>
          <a:p>
            <a:pPr indent="0" lvl="0" marL="0" rtl="0" algn="l">
              <a:lnSpc>
                <a:spcPct val="90000"/>
              </a:lnSpc>
              <a:spcBef>
                <a:spcPts val="333"/>
              </a:spcBef>
              <a:spcAft>
                <a:spcPts val="0"/>
              </a:spcAft>
              <a:buNone/>
            </a:pPr>
            <a:r>
              <a:rPr lang="en-US" sz="1110"/>
              <a:t>fragmented and many portions will be a single block long. Also note that every</a:t>
            </a:r>
            <a:endParaRPr/>
          </a:p>
          <a:p>
            <a:pPr indent="0" lvl="0" marL="0" rtl="0" algn="l">
              <a:lnSpc>
                <a:spcPct val="90000"/>
              </a:lnSpc>
              <a:spcBef>
                <a:spcPts val="333"/>
              </a:spcBef>
              <a:spcAft>
                <a:spcPts val="0"/>
              </a:spcAft>
              <a:buNone/>
            </a:pPr>
            <a:r>
              <a:rPr lang="en-US" sz="1110"/>
              <a:t>time you allocate a block, you need to read the block first to recover the pointer to</a:t>
            </a:r>
            <a:endParaRPr/>
          </a:p>
          <a:p>
            <a:pPr indent="0" lvl="0" marL="0" rtl="0" algn="l">
              <a:lnSpc>
                <a:spcPct val="90000"/>
              </a:lnSpc>
              <a:spcBef>
                <a:spcPts val="333"/>
              </a:spcBef>
              <a:spcAft>
                <a:spcPts val="0"/>
              </a:spcAft>
              <a:buNone/>
            </a:pPr>
            <a:r>
              <a:rPr lang="en-US" sz="1110"/>
              <a:t>the new first free block before writing data to that block. If many individual blocks</a:t>
            </a:r>
            <a:endParaRPr/>
          </a:p>
          <a:p>
            <a:pPr indent="0" lvl="0" marL="0" rtl="0" algn="l">
              <a:lnSpc>
                <a:spcPct val="90000"/>
              </a:lnSpc>
              <a:spcBef>
                <a:spcPts val="333"/>
              </a:spcBef>
              <a:spcAft>
                <a:spcPts val="0"/>
              </a:spcAft>
              <a:buNone/>
            </a:pPr>
            <a:r>
              <a:rPr lang="en-US" sz="1110"/>
              <a:t>need to be allocated at one time for a file operation, this greatly slows file creation.</a:t>
            </a:r>
            <a:endParaRPr/>
          </a:p>
          <a:p>
            <a:pPr indent="0" lvl="0" marL="0" rtl="0" algn="l">
              <a:lnSpc>
                <a:spcPct val="90000"/>
              </a:lnSpc>
              <a:spcBef>
                <a:spcPts val="333"/>
              </a:spcBef>
              <a:spcAft>
                <a:spcPts val="0"/>
              </a:spcAft>
              <a:buNone/>
            </a:pPr>
            <a:r>
              <a:rPr lang="en-US" sz="1110"/>
              <a:t>Similarly, deleting highly fragmented files is very time consuming.</a:t>
            </a:r>
            <a:endParaRPr sz="1110"/>
          </a:p>
        </p:txBody>
      </p:sp>
      <p:sp>
        <p:nvSpPr>
          <p:cNvPr id="978" name="Google Shape;978;p7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84" name="Google Shape;984;p7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110"/>
              <a:t>The free portions may be chained together by using</a:t>
            </a:r>
            <a:endParaRPr/>
          </a:p>
          <a:p>
            <a:pPr indent="0" lvl="0" marL="0" rtl="0" algn="l">
              <a:lnSpc>
                <a:spcPct val="90000"/>
              </a:lnSpc>
              <a:spcBef>
                <a:spcPts val="333"/>
              </a:spcBef>
              <a:spcAft>
                <a:spcPts val="0"/>
              </a:spcAft>
              <a:buNone/>
            </a:pPr>
            <a:r>
              <a:rPr lang="en-US" sz="1110"/>
              <a:t>a pointer and length value in each free portion. This method has negligible space</a:t>
            </a:r>
            <a:endParaRPr/>
          </a:p>
          <a:p>
            <a:pPr indent="0" lvl="0" marL="0" rtl="0" algn="l">
              <a:lnSpc>
                <a:spcPct val="90000"/>
              </a:lnSpc>
              <a:spcBef>
                <a:spcPts val="333"/>
              </a:spcBef>
              <a:spcAft>
                <a:spcPts val="0"/>
              </a:spcAft>
              <a:buNone/>
            </a:pPr>
            <a:r>
              <a:rPr lang="en-US" sz="1110"/>
              <a:t>overhead because there is no need for a disk allocation table, merely for a pointer to</a:t>
            </a:r>
            <a:endParaRPr/>
          </a:p>
          <a:p>
            <a:pPr indent="0" lvl="0" marL="0" rtl="0" algn="l">
              <a:lnSpc>
                <a:spcPct val="90000"/>
              </a:lnSpc>
              <a:spcBef>
                <a:spcPts val="333"/>
              </a:spcBef>
              <a:spcAft>
                <a:spcPts val="0"/>
              </a:spcAft>
              <a:buNone/>
            </a:pPr>
            <a:r>
              <a:rPr lang="en-US" sz="1110"/>
              <a:t>the beginning of the chain and the length of the first portion. This method is suited</a:t>
            </a:r>
            <a:endParaRPr/>
          </a:p>
          <a:p>
            <a:pPr indent="0" lvl="0" marL="0" rtl="0" algn="l">
              <a:lnSpc>
                <a:spcPct val="90000"/>
              </a:lnSpc>
              <a:spcBef>
                <a:spcPts val="333"/>
              </a:spcBef>
              <a:spcAft>
                <a:spcPts val="0"/>
              </a:spcAft>
              <a:buNone/>
            </a:pPr>
            <a:r>
              <a:rPr lang="en-US" sz="1110"/>
              <a:t>to all of the file allocation methods. If allocation is a block at a time, simply choose</a:t>
            </a:r>
            <a:endParaRPr/>
          </a:p>
          <a:p>
            <a:pPr indent="0" lvl="0" marL="0" rtl="0" algn="l">
              <a:lnSpc>
                <a:spcPct val="90000"/>
              </a:lnSpc>
              <a:spcBef>
                <a:spcPts val="333"/>
              </a:spcBef>
              <a:spcAft>
                <a:spcPts val="0"/>
              </a:spcAft>
              <a:buNone/>
            </a:pPr>
            <a:r>
              <a:rPr lang="en-US" sz="1110"/>
              <a:t>the free block at the head of the chain and adjust the first pointer or length value.</a:t>
            </a:r>
            <a:endParaRPr/>
          </a:p>
          <a:p>
            <a:pPr indent="0" lvl="0" marL="0" rtl="0" algn="l">
              <a:lnSpc>
                <a:spcPct val="90000"/>
              </a:lnSpc>
              <a:spcBef>
                <a:spcPts val="333"/>
              </a:spcBef>
              <a:spcAft>
                <a:spcPts val="0"/>
              </a:spcAft>
              <a:buNone/>
            </a:pPr>
            <a:r>
              <a:rPr lang="en-US" sz="1110"/>
              <a:t>If allocation is by variable-length portion, a first-fit algorithm may be used: The</a:t>
            </a:r>
            <a:endParaRPr/>
          </a:p>
          <a:p>
            <a:pPr indent="0" lvl="0" marL="0" rtl="0" algn="l">
              <a:lnSpc>
                <a:spcPct val="90000"/>
              </a:lnSpc>
              <a:spcBef>
                <a:spcPts val="333"/>
              </a:spcBef>
              <a:spcAft>
                <a:spcPts val="0"/>
              </a:spcAft>
              <a:buNone/>
            </a:pPr>
            <a:r>
              <a:rPr lang="en-US" sz="1110"/>
              <a:t>headers from the portions are fetched one at a time to determine the next suitable</a:t>
            </a:r>
            <a:endParaRPr/>
          </a:p>
          <a:p>
            <a:pPr indent="0" lvl="0" marL="0" rtl="0" algn="l">
              <a:lnSpc>
                <a:spcPct val="90000"/>
              </a:lnSpc>
              <a:spcBef>
                <a:spcPts val="333"/>
              </a:spcBef>
              <a:spcAft>
                <a:spcPts val="0"/>
              </a:spcAft>
              <a:buNone/>
            </a:pPr>
            <a:r>
              <a:rPr lang="en-US" sz="1110"/>
              <a:t>free portion in the chain. Again, pointer and length values are adjusted.</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This method has its own problems. After some use, the disk will become quite</a:t>
            </a:r>
            <a:endParaRPr/>
          </a:p>
          <a:p>
            <a:pPr indent="0" lvl="0" marL="0" rtl="0" algn="l">
              <a:lnSpc>
                <a:spcPct val="90000"/>
              </a:lnSpc>
              <a:spcBef>
                <a:spcPts val="333"/>
              </a:spcBef>
              <a:spcAft>
                <a:spcPts val="0"/>
              </a:spcAft>
              <a:buNone/>
            </a:pPr>
            <a:r>
              <a:rPr lang="en-US" sz="1110"/>
              <a:t>fragmented and many portions will be a single block long. Also note that every</a:t>
            </a:r>
            <a:endParaRPr/>
          </a:p>
          <a:p>
            <a:pPr indent="0" lvl="0" marL="0" rtl="0" algn="l">
              <a:lnSpc>
                <a:spcPct val="90000"/>
              </a:lnSpc>
              <a:spcBef>
                <a:spcPts val="333"/>
              </a:spcBef>
              <a:spcAft>
                <a:spcPts val="0"/>
              </a:spcAft>
              <a:buNone/>
            </a:pPr>
            <a:r>
              <a:rPr lang="en-US" sz="1110"/>
              <a:t>time you allocate a block, you need to read the block first to recover the pointer to</a:t>
            </a:r>
            <a:endParaRPr/>
          </a:p>
          <a:p>
            <a:pPr indent="0" lvl="0" marL="0" rtl="0" algn="l">
              <a:lnSpc>
                <a:spcPct val="90000"/>
              </a:lnSpc>
              <a:spcBef>
                <a:spcPts val="333"/>
              </a:spcBef>
              <a:spcAft>
                <a:spcPts val="0"/>
              </a:spcAft>
              <a:buNone/>
            </a:pPr>
            <a:r>
              <a:rPr lang="en-US" sz="1110"/>
              <a:t>the new first free block before writing data to that block. If many individual blocks</a:t>
            </a:r>
            <a:endParaRPr/>
          </a:p>
          <a:p>
            <a:pPr indent="0" lvl="0" marL="0" rtl="0" algn="l">
              <a:lnSpc>
                <a:spcPct val="90000"/>
              </a:lnSpc>
              <a:spcBef>
                <a:spcPts val="333"/>
              </a:spcBef>
              <a:spcAft>
                <a:spcPts val="0"/>
              </a:spcAft>
              <a:buNone/>
            </a:pPr>
            <a:r>
              <a:rPr lang="en-US" sz="1110"/>
              <a:t>need to be allocated at one time for a file operation, this greatly slows file creation.</a:t>
            </a:r>
            <a:endParaRPr/>
          </a:p>
          <a:p>
            <a:pPr indent="0" lvl="0" marL="0" rtl="0" algn="l">
              <a:lnSpc>
                <a:spcPct val="90000"/>
              </a:lnSpc>
              <a:spcBef>
                <a:spcPts val="333"/>
              </a:spcBef>
              <a:spcAft>
                <a:spcPts val="0"/>
              </a:spcAft>
              <a:buNone/>
            </a:pPr>
            <a:r>
              <a:rPr lang="en-US" sz="1110"/>
              <a:t>Similarly, deleting highly fragmented files is very time consuming.</a:t>
            </a:r>
            <a:endParaRPr sz="1110"/>
          </a:p>
        </p:txBody>
      </p:sp>
      <p:sp>
        <p:nvSpPr>
          <p:cNvPr id="985" name="Google Shape;985;p7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9" name="Shape 989"/>
        <p:cNvGrpSpPr/>
        <p:nvPr/>
      </p:nvGrpSpPr>
      <p:grpSpPr>
        <a:xfrm>
          <a:off x="0" y="0"/>
          <a:ext cx="0" cy="0"/>
          <a:chOff x="0" y="0"/>
          <a:chExt cx="0" cy="0"/>
        </a:xfrm>
      </p:grpSpPr>
      <p:sp>
        <p:nvSpPr>
          <p:cNvPr id="990" name="Google Shape;990;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91" name="Google Shape;991;p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110"/>
              <a:t>The free portions may be chained together by using</a:t>
            </a:r>
            <a:endParaRPr/>
          </a:p>
          <a:p>
            <a:pPr indent="0" lvl="0" marL="0" rtl="0" algn="l">
              <a:lnSpc>
                <a:spcPct val="90000"/>
              </a:lnSpc>
              <a:spcBef>
                <a:spcPts val="333"/>
              </a:spcBef>
              <a:spcAft>
                <a:spcPts val="0"/>
              </a:spcAft>
              <a:buNone/>
            </a:pPr>
            <a:r>
              <a:rPr lang="en-US" sz="1110"/>
              <a:t>a pointer and length value in each free portion. This method has negligible space</a:t>
            </a:r>
            <a:endParaRPr/>
          </a:p>
          <a:p>
            <a:pPr indent="0" lvl="0" marL="0" rtl="0" algn="l">
              <a:lnSpc>
                <a:spcPct val="90000"/>
              </a:lnSpc>
              <a:spcBef>
                <a:spcPts val="333"/>
              </a:spcBef>
              <a:spcAft>
                <a:spcPts val="0"/>
              </a:spcAft>
              <a:buNone/>
            </a:pPr>
            <a:r>
              <a:rPr lang="en-US" sz="1110"/>
              <a:t>overhead because there is no need for a disk allocation table, merely for a pointer to</a:t>
            </a:r>
            <a:endParaRPr/>
          </a:p>
          <a:p>
            <a:pPr indent="0" lvl="0" marL="0" rtl="0" algn="l">
              <a:lnSpc>
                <a:spcPct val="90000"/>
              </a:lnSpc>
              <a:spcBef>
                <a:spcPts val="333"/>
              </a:spcBef>
              <a:spcAft>
                <a:spcPts val="0"/>
              </a:spcAft>
              <a:buNone/>
            </a:pPr>
            <a:r>
              <a:rPr lang="en-US" sz="1110"/>
              <a:t>the beginning of the chain and the length of the first portion. This method is suited</a:t>
            </a:r>
            <a:endParaRPr/>
          </a:p>
          <a:p>
            <a:pPr indent="0" lvl="0" marL="0" rtl="0" algn="l">
              <a:lnSpc>
                <a:spcPct val="90000"/>
              </a:lnSpc>
              <a:spcBef>
                <a:spcPts val="333"/>
              </a:spcBef>
              <a:spcAft>
                <a:spcPts val="0"/>
              </a:spcAft>
              <a:buNone/>
            </a:pPr>
            <a:r>
              <a:rPr lang="en-US" sz="1110"/>
              <a:t>to all of the file allocation methods. If allocation is a block at a time, simply choose</a:t>
            </a:r>
            <a:endParaRPr/>
          </a:p>
          <a:p>
            <a:pPr indent="0" lvl="0" marL="0" rtl="0" algn="l">
              <a:lnSpc>
                <a:spcPct val="90000"/>
              </a:lnSpc>
              <a:spcBef>
                <a:spcPts val="333"/>
              </a:spcBef>
              <a:spcAft>
                <a:spcPts val="0"/>
              </a:spcAft>
              <a:buNone/>
            </a:pPr>
            <a:r>
              <a:rPr lang="en-US" sz="1110"/>
              <a:t>the free block at the head of the chain and adjust the first pointer or length value.</a:t>
            </a:r>
            <a:endParaRPr/>
          </a:p>
          <a:p>
            <a:pPr indent="0" lvl="0" marL="0" rtl="0" algn="l">
              <a:lnSpc>
                <a:spcPct val="90000"/>
              </a:lnSpc>
              <a:spcBef>
                <a:spcPts val="333"/>
              </a:spcBef>
              <a:spcAft>
                <a:spcPts val="0"/>
              </a:spcAft>
              <a:buNone/>
            </a:pPr>
            <a:r>
              <a:rPr lang="en-US" sz="1110"/>
              <a:t>If allocation is by variable-length portion, a first-fit algorithm may be used: The</a:t>
            </a:r>
            <a:endParaRPr/>
          </a:p>
          <a:p>
            <a:pPr indent="0" lvl="0" marL="0" rtl="0" algn="l">
              <a:lnSpc>
                <a:spcPct val="90000"/>
              </a:lnSpc>
              <a:spcBef>
                <a:spcPts val="333"/>
              </a:spcBef>
              <a:spcAft>
                <a:spcPts val="0"/>
              </a:spcAft>
              <a:buNone/>
            </a:pPr>
            <a:r>
              <a:rPr lang="en-US" sz="1110"/>
              <a:t>headers from the portions are fetched one at a time to determine the next suitable</a:t>
            </a:r>
            <a:endParaRPr/>
          </a:p>
          <a:p>
            <a:pPr indent="0" lvl="0" marL="0" rtl="0" algn="l">
              <a:lnSpc>
                <a:spcPct val="90000"/>
              </a:lnSpc>
              <a:spcBef>
                <a:spcPts val="333"/>
              </a:spcBef>
              <a:spcAft>
                <a:spcPts val="0"/>
              </a:spcAft>
              <a:buNone/>
            </a:pPr>
            <a:r>
              <a:rPr lang="en-US" sz="1110"/>
              <a:t>free portion in the chain. Again, pointer and length values are adjusted.</a:t>
            </a:r>
            <a:endParaRPr/>
          </a:p>
          <a:p>
            <a:pPr indent="0" lvl="0" marL="0" rtl="0" algn="l">
              <a:lnSpc>
                <a:spcPct val="90000"/>
              </a:lnSpc>
              <a:spcBef>
                <a:spcPts val="333"/>
              </a:spcBef>
              <a:spcAft>
                <a:spcPts val="0"/>
              </a:spcAft>
              <a:buNone/>
            </a:pPr>
            <a:r>
              <a:t/>
            </a:r>
            <a:endParaRPr sz="1110"/>
          </a:p>
          <a:p>
            <a:pPr indent="0" lvl="0" marL="0" rtl="0" algn="l">
              <a:lnSpc>
                <a:spcPct val="90000"/>
              </a:lnSpc>
              <a:spcBef>
                <a:spcPts val="333"/>
              </a:spcBef>
              <a:spcAft>
                <a:spcPts val="0"/>
              </a:spcAft>
              <a:buNone/>
            </a:pPr>
            <a:r>
              <a:rPr lang="en-US" sz="1110"/>
              <a:t>This method has its own problems. After some use, the disk will become quite</a:t>
            </a:r>
            <a:endParaRPr/>
          </a:p>
          <a:p>
            <a:pPr indent="0" lvl="0" marL="0" rtl="0" algn="l">
              <a:lnSpc>
                <a:spcPct val="90000"/>
              </a:lnSpc>
              <a:spcBef>
                <a:spcPts val="333"/>
              </a:spcBef>
              <a:spcAft>
                <a:spcPts val="0"/>
              </a:spcAft>
              <a:buNone/>
            </a:pPr>
            <a:r>
              <a:rPr lang="en-US" sz="1110"/>
              <a:t>fragmented and many portions will be a single block long. Also note that every</a:t>
            </a:r>
            <a:endParaRPr/>
          </a:p>
          <a:p>
            <a:pPr indent="0" lvl="0" marL="0" rtl="0" algn="l">
              <a:lnSpc>
                <a:spcPct val="90000"/>
              </a:lnSpc>
              <a:spcBef>
                <a:spcPts val="333"/>
              </a:spcBef>
              <a:spcAft>
                <a:spcPts val="0"/>
              </a:spcAft>
              <a:buNone/>
            </a:pPr>
            <a:r>
              <a:rPr lang="en-US" sz="1110"/>
              <a:t>time you allocate a block, you need to read the block first to recover the pointer to</a:t>
            </a:r>
            <a:endParaRPr/>
          </a:p>
          <a:p>
            <a:pPr indent="0" lvl="0" marL="0" rtl="0" algn="l">
              <a:lnSpc>
                <a:spcPct val="90000"/>
              </a:lnSpc>
              <a:spcBef>
                <a:spcPts val="333"/>
              </a:spcBef>
              <a:spcAft>
                <a:spcPts val="0"/>
              </a:spcAft>
              <a:buNone/>
            </a:pPr>
            <a:r>
              <a:rPr lang="en-US" sz="1110"/>
              <a:t>the new first free block before writing data to that block. If many individual blocks</a:t>
            </a:r>
            <a:endParaRPr/>
          </a:p>
          <a:p>
            <a:pPr indent="0" lvl="0" marL="0" rtl="0" algn="l">
              <a:lnSpc>
                <a:spcPct val="90000"/>
              </a:lnSpc>
              <a:spcBef>
                <a:spcPts val="333"/>
              </a:spcBef>
              <a:spcAft>
                <a:spcPts val="0"/>
              </a:spcAft>
              <a:buNone/>
            </a:pPr>
            <a:r>
              <a:rPr lang="en-US" sz="1110"/>
              <a:t>need to be allocated at one time for a file operation, this greatly slows file creation.</a:t>
            </a:r>
            <a:endParaRPr/>
          </a:p>
          <a:p>
            <a:pPr indent="0" lvl="0" marL="0" rtl="0" algn="l">
              <a:lnSpc>
                <a:spcPct val="90000"/>
              </a:lnSpc>
              <a:spcBef>
                <a:spcPts val="333"/>
              </a:spcBef>
              <a:spcAft>
                <a:spcPts val="0"/>
              </a:spcAft>
              <a:buNone/>
            </a:pPr>
            <a:r>
              <a:rPr lang="en-US" sz="1110"/>
              <a:t>Similarly, deleting highly fragmented files is very time consuming.</a:t>
            </a:r>
            <a:endParaRPr sz="1110"/>
          </a:p>
        </p:txBody>
      </p:sp>
      <p:sp>
        <p:nvSpPr>
          <p:cNvPr id="992" name="Google Shape;992;p8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7" name="Shape 997"/>
        <p:cNvGrpSpPr/>
        <p:nvPr/>
      </p:nvGrpSpPr>
      <p:grpSpPr>
        <a:xfrm>
          <a:off x="0" y="0"/>
          <a:ext cx="0" cy="0"/>
          <a:chOff x="0" y="0"/>
          <a:chExt cx="0" cy="0"/>
        </a:xfrm>
      </p:grpSpPr>
      <p:sp>
        <p:nvSpPr>
          <p:cNvPr id="998" name="Google Shape;998;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99" name="Google Shape;999;p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indexing approach treats free space as a file and uses an index table</a:t>
            </a:r>
            <a:endParaRPr/>
          </a:p>
          <a:p>
            <a:pPr indent="0" lvl="0" marL="0" rtl="0" algn="l">
              <a:spcBef>
                <a:spcPts val="360"/>
              </a:spcBef>
              <a:spcAft>
                <a:spcPts val="0"/>
              </a:spcAft>
              <a:buNone/>
            </a:pPr>
            <a:r>
              <a:rPr lang="en-US"/>
              <a:t>as described under file allocation. For efficiency, the index should be on the basis</a:t>
            </a:r>
            <a:endParaRPr/>
          </a:p>
          <a:p>
            <a:pPr indent="0" lvl="0" marL="0" rtl="0" algn="l">
              <a:spcBef>
                <a:spcPts val="360"/>
              </a:spcBef>
              <a:spcAft>
                <a:spcPts val="0"/>
              </a:spcAft>
              <a:buNone/>
            </a:pPr>
            <a:r>
              <a:rPr lang="en-US"/>
              <a:t>of variable-size portions rather than blocks. Thus, there is one entry in the table for</a:t>
            </a:r>
            <a:endParaRPr/>
          </a:p>
          <a:p>
            <a:pPr indent="0" lvl="0" marL="0" rtl="0" algn="l">
              <a:spcBef>
                <a:spcPts val="360"/>
              </a:spcBef>
              <a:spcAft>
                <a:spcPts val="0"/>
              </a:spcAft>
              <a:buNone/>
            </a:pPr>
            <a:r>
              <a:rPr lang="en-US"/>
              <a:t>every free portion on the disk. This approach provides efficient support for all of</a:t>
            </a:r>
            <a:endParaRPr/>
          </a:p>
          <a:p>
            <a:pPr indent="0" lvl="0" marL="0" rtl="0" algn="l">
              <a:spcBef>
                <a:spcPts val="360"/>
              </a:spcBef>
              <a:spcAft>
                <a:spcPts val="0"/>
              </a:spcAft>
              <a:buNone/>
            </a:pPr>
            <a:r>
              <a:rPr lang="en-US"/>
              <a:t>the file allocation methods.</a:t>
            </a:r>
            <a:endParaRPr/>
          </a:p>
        </p:txBody>
      </p:sp>
      <p:sp>
        <p:nvSpPr>
          <p:cNvPr id="1000" name="Google Shape;1000;p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08" name="Google Shape;1008;p8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indexing approach treats free space as a file and uses an index table</a:t>
            </a:r>
            <a:endParaRPr/>
          </a:p>
          <a:p>
            <a:pPr indent="0" lvl="0" marL="0" rtl="0" algn="l">
              <a:spcBef>
                <a:spcPts val="360"/>
              </a:spcBef>
              <a:spcAft>
                <a:spcPts val="0"/>
              </a:spcAft>
              <a:buNone/>
            </a:pPr>
            <a:r>
              <a:rPr lang="en-US"/>
              <a:t>as described under file allocation. For efficiency, the index should be on the basis</a:t>
            </a:r>
            <a:endParaRPr/>
          </a:p>
          <a:p>
            <a:pPr indent="0" lvl="0" marL="0" rtl="0" algn="l">
              <a:spcBef>
                <a:spcPts val="360"/>
              </a:spcBef>
              <a:spcAft>
                <a:spcPts val="0"/>
              </a:spcAft>
              <a:buNone/>
            </a:pPr>
            <a:r>
              <a:rPr lang="en-US"/>
              <a:t>of variable-size portions rather than blocks. Thus, there is one entry in the table for</a:t>
            </a:r>
            <a:endParaRPr/>
          </a:p>
          <a:p>
            <a:pPr indent="0" lvl="0" marL="0" rtl="0" algn="l">
              <a:spcBef>
                <a:spcPts val="360"/>
              </a:spcBef>
              <a:spcAft>
                <a:spcPts val="0"/>
              </a:spcAft>
              <a:buNone/>
            </a:pPr>
            <a:r>
              <a:rPr lang="en-US"/>
              <a:t>every free portion on the disk. This approach provides efficient support for all of</a:t>
            </a:r>
            <a:endParaRPr/>
          </a:p>
          <a:p>
            <a:pPr indent="0" lvl="0" marL="0" rtl="0" algn="l">
              <a:spcBef>
                <a:spcPts val="360"/>
              </a:spcBef>
              <a:spcAft>
                <a:spcPts val="0"/>
              </a:spcAft>
              <a:buNone/>
            </a:pPr>
            <a:r>
              <a:rPr lang="en-US"/>
              <a:t>the file allocation methods.</a:t>
            </a:r>
            <a:endParaRPr/>
          </a:p>
        </p:txBody>
      </p:sp>
      <p:sp>
        <p:nvSpPr>
          <p:cNvPr id="1009" name="Google Shape;1009;p8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17" name="Google Shape;1017;p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In this method, each block is assigned a number sequentially</a:t>
            </a:r>
            <a:endParaRPr/>
          </a:p>
          <a:p>
            <a:pPr indent="0" lvl="0" marL="0" rtl="0" algn="l">
              <a:spcBef>
                <a:spcPts val="360"/>
              </a:spcBef>
              <a:spcAft>
                <a:spcPts val="0"/>
              </a:spcAft>
              <a:buNone/>
            </a:pPr>
            <a:r>
              <a:rPr lang="en-US"/>
              <a:t>and the list of the numbers of all free blocks is maintained in a reserved portion of</a:t>
            </a:r>
            <a:endParaRPr/>
          </a:p>
          <a:p>
            <a:pPr indent="0" lvl="0" marL="0" rtl="0" algn="l">
              <a:spcBef>
                <a:spcPts val="360"/>
              </a:spcBef>
              <a:spcAft>
                <a:spcPts val="0"/>
              </a:spcAft>
              <a:buNone/>
            </a:pPr>
            <a:r>
              <a:rPr lang="en-US"/>
              <a:t>the disk. Depending on the size of the disk, either 24 or 32 bits will be needed to</a:t>
            </a:r>
            <a:endParaRPr/>
          </a:p>
          <a:p>
            <a:pPr indent="0" lvl="0" marL="0" rtl="0" algn="l">
              <a:spcBef>
                <a:spcPts val="360"/>
              </a:spcBef>
              <a:spcAft>
                <a:spcPts val="0"/>
              </a:spcAft>
              <a:buNone/>
            </a:pPr>
            <a:r>
              <a:rPr lang="en-US"/>
              <a:t>store a single block number, so the size of the free block list is 24 or 32 times the size</a:t>
            </a:r>
            <a:endParaRPr/>
          </a:p>
          <a:p>
            <a:pPr indent="0" lvl="0" marL="0" rtl="0" algn="l">
              <a:spcBef>
                <a:spcPts val="360"/>
              </a:spcBef>
              <a:spcAft>
                <a:spcPts val="0"/>
              </a:spcAft>
              <a:buNone/>
            </a:pPr>
            <a:r>
              <a:rPr lang="en-US"/>
              <a:t>of the corresponding bit table and thus must be stored on disk rather than in main</a:t>
            </a:r>
            <a:endParaRPr/>
          </a:p>
          <a:p>
            <a:pPr indent="0" lvl="0" marL="0" rtl="0" algn="l">
              <a:spcBef>
                <a:spcPts val="360"/>
              </a:spcBef>
              <a:spcAft>
                <a:spcPts val="0"/>
              </a:spcAft>
              <a:buNone/>
            </a:pPr>
            <a:r>
              <a:rPr lang="en-US"/>
              <a:t>memory. However, this is a satisfactory method.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Consider the following points:</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1. The space on disk devoted to the free block list is less than 1% of the total disk</a:t>
            </a:r>
            <a:endParaRPr/>
          </a:p>
          <a:p>
            <a:pPr indent="0" lvl="0" marL="0" rtl="0" algn="l">
              <a:spcBef>
                <a:spcPts val="360"/>
              </a:spcBef>
              <a:spcAft>
                <a:spcPts val="0"/>
              </a:spcAft>
              <a:buNone/>
            </a:pPr>
            <a:r>
              <a:rPr lang="en-US"/>
              <a:t>space. If a 32-bit block number is used, then the space penalty is 4 bytes for</a:t>
            </a:r>
            <a:endParaRPr/>
          </a:p>
          <a:p>
            <a:pPr indent="0" lvl="0" marL="0" rtl="0" algn="l">
              <a:spcBef>
                <a:spcPts val="360"/>
              </a:spcBef>
              <a:spcAft>
                <a:spcPts val="0"/>
              </a:spcAft>
              <a:buNone/>
            </a:pPr>
            <a:r>
              <a:rPr lang="en-US"/>
              <a:t>every 512-byte block.</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2. Although the free block list is too large to store in main memory, there are</a:t>
            </a:r>
            <a:endParaRPr/>
          </a:p>
          <a:p>
            <a:pPr indent="0" lvl="0" marL="0" rtl="0" algn="l">
              <a:spcBef>
                <a:spcPts val="360"/>
              </a:spcBef>
              <a:spcAft>
                <a:spcPts val="0"/>
              </a:spcAft>
              <a:buNone/>
            </a:pPr>
            <a:r>
              <a:rPr lang="en-US"/>
              <a:t>two effective techniques for storing a small part of the list in main memory.</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a. The list can be treated as a push-down stack (Appendix 1B) with the first</a:t>
            </a:r>
            <a:endParaRPr/>
          </a:p>
          <a:p>
            <a:pPr indent="0" lvl="0" marL="0" rtl="0" algn="l">
              <a:spcBef>
                <a:spcPts val="360"/>
              </a:spcBef>
              <a:spcAft>
                <a:spcPts val="0"/>
              </a:spcAft>
              <a:buNone/>
            </a:pPr>
            <a:r>
              <a:rPr lang="en-US"/>
              <a:t>few thousand elements of the stack kept in main memory. When a new</a:t>
            </a:r>
            <a:endParaRPr/>
          </a:p>
          <a:p>
            <a:pPr indent="0" lvl="0" marL="0" rtl="0" algn="l">
              <a:spcBef>
                <a:spcPts val="360"/>
              </a:spcBef>
              <a:spcAft>
                <a:spcPts val="0"/>
              </a:spcAft>
              <a:buNone/>
            </a:pPr>
            <a:r>
              <a:rPr lang="en-US"/>
              <a:t>block is allocated, it is popped from the top of the stack, which is in main</a:t>
            </a:r>
            <a:endParaRPr/>
          </a:p>
          <a:p>
            <a:pPr indent="0" lvl="0" marL="0" rtl="0" algn="l">
              <a:spcBef>
                <a:spcPts val="360"/>
              </a:spcBef>
              <a:spcAft>
                <a:spcPts val="0"/>
              </a:spcAft>
              <a:buNone/>
            </a:pPr>
            <a:r>
              <a:rPr lang="en-US"/>
              <a:t>memory. Similarly, when a block is deallocated, it is pushed onto the stack.</a:t>
            </a:r>
            <a:endParaRPr/>
          </a:p>
          <a:p>
            <a:pPr indent="0" lvl="0" marL="0" rtl="0" algn="l">
              <a:spcBef>
                <a:spcPts val="360"/>
              </a:spcBef>
              <a:spcAft>
                <a:spcPts val="0"/>
              </a:spcAft>
              <a:buNone/>
            </a:pPr>
            <a:r>
              <a:rPr lang="en-US"/>
              <a:t>There only has to be a transfer between disk and main memory when the</a:t>
            </a:r>
            <a:endParaRPr/>
          </a:p>
          <a:p>
            <a:pPr indent="0" lvl="0" marL="0" rtl="0" algn="l">
              <a:spcBef>
                <a:spcPts val="360"/>
              </a:spcBef>
              <a:spcAft>
                <a:spcPts val="0"/>
              </a:spcAft>
              <a:buNone/>
            </a:pPr>
            <a:r>
              <a:rPr lang="en-US"/>
              <a:t>in-memory portion of the stack becomes either full or empty. Thus, this</a:t>
            </a:r>
            <a:endParaRPr/>
          </a:p>
          <a:p>
            <a:pPr indent="0" lvl="0" marL="0" rtl="0" algn="l">
              <a:spcBef>
                <a:spcPts val="360"/>
              </a:spcBef>
              <a:spcAft>
                <a:spcPts val="0"/>
              </a:spcAft>
              <a:buNone/>
            </a:pPr>
            <a:r>
              <a:rPr lang="en-US"/>
              <a:t>technique gives almost zero-time access most of the time.</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b. The list can be treated as a FIFO queue, with a few thousand entries from</a:t>
            </a:r>
            <a:endParaRPr/>
          </a:p>
          <a:p>
            <a:pPr indent="0" lvl="0" marL="0" rtl="0" algn="l">
              <a:spcBef>
                <a:spcPts val="360"/>
              </a:spcBef>
              <a:spcAft>
                <a:spcPts val="0"/>
              </a:spcAft>
              <a:buNone/>
            </a:pPr>
            <a:r>
              <a:rPr lang="en-US"/>
              <a:t>both the head and the tail of the queue in main memory. A block is allocated</a:t>
            </a:r>
            <a:endParaRPr/>
          </a:p>
          <a:p>
            <a:pPr indent="0" lvl="0" marL="0" rtl="0" algn="l">
              <a:spcBef>
                <a:spcPts val="360"/>
              </a:spcBef>
              <a:spcAft>
                <a:spcPts val="0"/>
              </a:spcAft>
              <a:buNone/>
            </a:pPr>
            <a:r>
              <a:rPr lang="en-US"/>
              <a:t>by taking the first entry from the head of the queue and deallocated</a:t>
            </a:r>
            <a:endParaRPr/>
          </a:p>
          <a:p>
            <a:pPr indent="0" lvl="0" marL="0" rtl="0" algn="l">
              <a:spcBef>
                <a:spcPts val="360"/>
              </a:spcBef>
              <a:spcAft>
                <a:spcPts val="0"/>
              </a:spcAft>
              <a:buNone/>
            </a:pPr>
            <a:r>
              <a:rPr lang="en-US"/>
              <a:t>by adding it to the end of the tail of the queue. There only has to be a transfer</a:t>
            </a:r>
            <a:endParaRPr/>
          </a:p>
          <a:p>
            <a:pPr indent="0" lvl="0" marL="0" rtl="0" algn="l">
              <a:spcBef>
                <a:spcPts val="360"/>
              </a:spcBef>
              <a:spcAft>
                <a:spcPts val="0"/>
              </a:spcAft>
              <a:buNone/>
            </a:pPr>
            <a:r>
              <a:rPr lang="en-US"/>
              <a:t>between disk and main memory when either the in-memory portion of</a:t>
            </a:r>
            <a:endParaRPr/>
          </a:p>
          <a:p>
            <a:pPr indent="0" lvl="0" marL="0" rtl="0" algn="l">
              <a:spcBef>
                <a:spcPts val="360"/>
              </a:spcBef>
              <a:spcAft>
                <a:spcPts val="0"/>
              </a:spcAft>
              <a:buNone/>
            </a:pPr>
            <a:r>
              <a:rPr lang="en-US"/>
              <a:t>the head of the queue becomes empty or the in-memory portion of the tail</a:t>
            </a:r>
            <a:endParaRPr/>
          </a:p>
          <a:p>
            <a:pPr indent="0" lvl="0" marL="0" rtl="0" algn="l">
              <a:spcBef>
                <a:spcPts val="360"/>
              </a:spcBef>
              <a:spcAft>
                <a:spcPts val="0"/>
              </a:spcAft>
              <a:buNone/>
            </a:pPr>
            <a:r>
              <a:rPr lang="en-US"/>
              <a:t>of the queue becomes full.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In either of the strategies listed in the preceding point (stack or FIFO queue),</a:t>
            </a:r>
            <a:endParaRPr/>
          </a:p>
          <a:p>
            <a:pPr indent="0" lvl="0" marL="0" rtl="0" algn="l">
              <a:spcBef>
                <a:spcPts val="360"/>
              </a:spcBef>
              <a:spcAft>
                <a:spcPts val="0"/>
              </a:spcAft>
              <a:buNone/>
            </a:pPr>
            <a:r>
              <a:rPr lang="en-US"/>
              <a:t>a background thread can slowly sort the in-memory list or lists to facilitate contiguous</a:t>
            </a:r>
            <a:endParaRPr/>
          </a:p>
          <a:p>
            <a:pPr indent="0" lvl="0" marL="0" rtl="0" algn="l">
              <a:spcBef>
                <a:spcPts val="360"/>
              </a:spcBef>
              <a:spcAft>
                <a:spcPts val="0"/>
              </a:spcAft>
              <a:buNone/>
            </a:pPr>
            <a:r>
              <a:rPr lang="en-US"/>
              <a:t>allocation.</a:t>
            </a:r>
            <a:endParaRPr/>
          </a:p>
        </p:txBody>
      </p:sp>
      <p:sp>
        <p:nvSpPr>
          <p:cNvPr id="1018" name="Google Shape;1018;p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24" name="Google Shape;1024;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32" name="Google Shape;1032;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0" name="Google Shape;1040;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47" name="Google Shape;1047;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55" name="Google Shape;1055;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63" name="Google Shape;1063;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69" name="Google Shape;1069;p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070" name="Google Shape;1070;p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79" name="Google Shape;1079;p9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080" name="Google Shape;1080;p9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89" name="Google Shape;1089;p9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090" name="Google Shape;1090;p9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99" name="Google Shape;1099;p9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100" name="Google Shape;1100;p9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09" name="Google Shape;1109;p9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110" name="Google Shape;1110;p9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19" name="Google Shape;1119;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26" name="Google Shape;1126;p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127" name="Google Shape;1127;p9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4" name="Shape 1134"/>
        <p:cNvGrpSpPr/>
        <p:nvPr/>
      </p:nvGrpSpPr>
      <p:grpSpPr>
        <a:xfrm>
          <a:off x="0" y="0"/>
          <a:ext cx="0" cy="0"/>
          <a:chOff x="0" y="0"/>
          <a:chExt cx="0" cy="0"/>
        </a:xfrm>
      </p:grpSpPr>
      <p:sp>
        <p:nvSpPr>
          <p:cNvPr id="1135" name="Google Shape;1135;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36" name="Google Shape;1136;p9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137" name="Google Shape;1137;p9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4" name="Shape 1144"/>
        <p:cNvGrpSpPr/>
        <p:nvPr/>
      </p:nvGrpSpPr>
      <p:grpSpPr>
        <a:xfrm>
          <a:off x="0" y="0"/>
          <a:ext cx="0" cy="0"/>
          <a:chOff x="0" y="0"/>
          <a:chExt cx="0" cy="0"/>
        </a:xfrm>
      </p:grpSpPr>
      <p:sp>
        <p:nvSpPr>
          <p:cNvPr id="1145" name="Google Shape;1145;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46" name="Google Shape;1146;p9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None/>
            </a:pPr>
            <a:r>
              <a:rPr b="1" lang="en-US" sz="1110"/>
              <a:t>Regular, or ordinary: </a:t>
            </a:r>
            <a:r>
              <a:rPr lang="en-US" sz="1110"/>
              <a:t>Contains arbitrary data in zero or more data blocks.</a:t>
            </a:r>
            <a:endParaRPr/>
          </a:p>
          <a:p>
            <a:pPr indent="-70484" lvl="1" marL="457200" rtl="0" algn="l">
              <a:lnSpc>
                <a:spcPct val="80000"/>
              </a:lnSpc>
              <a:spcBef>
                <a:spcPts val="333"/>
              </a:spcBef>
              <a:spcAft>
                <a:spcPts val="0"/>
              </a:spcAft>
              <a:buClr>
                <a:schemeClr val="dk1"/>
              </a:buClr>
              <a:buSzPts val="1110"/>
              <a:buFont typeface="Arial"/>
              <a:buChar char="•"/>
            </a:pPr>
            <a:r>
              <a:rPr lang="en-US" sz="1110"/>
              <a:t> Regular files contain information entered in them by a user, an application program, or a system utility program. </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system does not impose any internal structure to a regular file but treats it as a stream of bytes.</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Directory: </a:t>
            </a:r>
            <a:r>
              <a:rPr lang="en-US" sz="1110"/>
              <a:t>Contains a list of file names plus pointers to associated inodes (index nodes)</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Directories are hierarchically organized </a:t>
            </a:r>
            <a:endParaRPr/>
          </a:p>
          <a:p>
            <a:pPr indent="-70484" lvl="1" marL="457200" rtl="0" algn="l">
              <a:lnSpc>
                <a:spcPct val="80000"/>
              </a:lnSpc>
              <a:spcBef>
                <a:spcPts val="333"/>
              </a:spcBef>
              <a:spcAft>
                <a:spcPts val="0"/>
              </a:spcAft>
              <a:buClr>
                <a:schemeClr val="dk1"/>
              </a:buClr>
              <a:buSzPts val="1110"/>
              <a:buFont typeface="Arial"/>
              <a:buChar char="•"/>
            </a:pPr>
            <a:r>
              <a:rPr lang="en-US" sz="1110"/>
              <a:t> Directory files are actually ordinary files with special write protection privileges so that only the file system can write into them, while read access is available to user programs.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Special: </a:t>
            </a:r>
            <a:r>
              <a:rPr lang="en-US" sz="1110"/>
              <a:t>Contains no data, but provides a mechanism to map physical devices to file names.</a:t>
            </a:r>
            <a:endParaRPr/>
          </a:p>
          <a:p>
            <a:pPr indent="-70484" lvl="1" marL="457200" rtl="0" algn="l">
              <a:lnSpc>
                <a:spcPct val="80000"/>
              </a:lnSpc>
              <a:spcBef>
                <a:spcPts val="333"/>
              </a:spcBef>
              <a:spcAft>
                <a:spcPts val="0"/>
              </a:spcAft>
              <a:buClr>
                <a:schemeClr val="dk1"/>
              </a:buClr>
              <a:buSzPts val="1110"/>
              <a:buFont typeface="Arial"/>
              <a:buChar char="•"/>
            </a:pPr>
            <a:r>
              <a:rPr lang="en-US" sz="1110"/>
              <a:t> The file names are used to access peripheral devices, such as terminals and printers.</a:t>
            </a:r>
            <a:endParaRPr/>
          </a:p>
          <a:p>
            <a:pPr indent="-70484" lvl="1" marL="457200" rtl="0" algn="l">
              <a:lnSpc>
                <a:spcPct val="80000"/>
              </a:lnSpc>
              <a:spcBef>
                <a:spcPts val="333"/>
              </a:spcBef>
              <a:spcAft>
                <a:spcPts val="0"/>
              </a:spcAft>
              <a:buClr>
                <a:schemeClr val="dk1"/>
              </a:buClr>
              <a:buSzPts val="1110"/>
              <a:buFont typeface="Arial"/>
              <a:buChar char="•"/>
            </a:pPr>
            <a:r>
              <a:rPr lang="en-US" sz="1110"/>
              <a:t> Each I/O device is associated with a special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Named pipes: </a:t>
            </a:r>
            <a:r>
              <a:rPr lang="en-US" sz="1110"/>
              <a:t>A pipe is an interprocess communications facility.</a:t>
            </a:r>
            <a:endParaRPr/>
          </a:p>
          <a:p>
            <a:pPr indent="-70484" lvl="1" marL="457200" rtl="0" algn="l">
              <a:lnSpc>
                <a:spcPct val="80000"/>
              </a:lnSpc>
              <a:spcBef>
                <a:spcPts val="333"/>
              </a:spcBef>
              <a:spcAft>
                <a:spcPts val="0"/>
              </a:spcAft>
              <a:buClr>
                <a:schemeClr val="dk1"/>
              </a:buClr>
              <a:buSzPts val="1110"/>
              <a:buFont typeface="Arial"/>
              <a:buChar char="•"/>
            </a:pPr>
            <a:r>
              <a:rPr lang="en-US" sz="1110"/>
              <a:t> A pipe file buffers data received in its input so that a process that reads from the pipe’s output receives the data on a first-in-first-out basis.</a:t>
            </a:r>
            <a:endParaRPr/>
          </a:p>
          <a:p>
            <a:pPr indent="0" lvl="1" marL="45720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Links: </a:t>
            </a:r>
            <a:r>
              <a:rPr lang="en-US" sz="1110"/>
              <a:t>A link is an alternative file name for an existing file.</a:t>
            </a:r>
            <a:endParaRPr/>
          </a:p>
          <a:p>
            <a:pPr indent="0" lvl="0" marL="0" rtl="0" algn="l">
              <a:lnSpc>
                <a:spcPct val="80000"/>
              </a:lnSpc>
              <a:spcBef>
                <a:spcPts val="333"/>
              </a:spcBef>
              <a:spcAft>
                <a:spcPts val="0"/>
              </a:spcAft>
              <a:buClr>
                <a:schemeClr val="dk1"/>
              </a:buClr>
              <a:buSzPts val="1110"/>
              <a:buFont typeface="Arial"/>
              <a:buNone/>
            </a:pPr>
            <a:r>
              <a:t/>
            </a:r>
            <a:endParaRPr sz="1110"/>
          </a:p>
          <a:p>
            <a:pPr indent="0" lvl="0" marL="0" rtl="0" algn="l">
              <a:lnSpc>
                <a:spcPct val="80000"/>
              </a:lnSpc>
              <a:spcBef>
                <a:spcPts val="333"/>
              </a:spcBef>
              <a:spcAft>
                <a:spcPts val="0"/>
              </a:spcAft>
              <a:buClr>
                <a:schemeClr val="dk1"/>
              </a:buClr>
              <a:buSzPts val="1110"/>
              <a:buFont typeface="Arial"/>
              <a:buNone/>
            </a:pPr>
            <a:r>
              <a:rPr b="1" lang="en-US" sz="1110"/>
              <a:t>Symbolic links: </a:t>
            </a:r>
            <a:r>
              <a:rPr lang="en-US" sz="1110"/>
              <a:t>This is a data file that contains the name of the file it is linked to.</a:t>
            </a:r>
            <a:endParaRPr/>
          </a:p>
        </p:txBody>
      </p:sp>
      <p:sp>
        <p:nvSpPr>
          <p:cNvPr id="1147" name="Google Shape;1147;p9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56" name="Google Shape;1156;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2" name="Google Shape;1162;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68" name="Google Shape;1168;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74" name="Google Shape;1174;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0" name="Google Shape;1180;p10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Modern UNIX operating systems support multiple file systems but map all of these</a:t>
            </a:r>
            <a:endParaRPr/>
          </a:p>
          <a:p>
            <a:pPr indent="0" lvl="0" marL="0" rtl="0" algn="l">
              <a:spcBef>
                <a:spcPts val="360"/>
              </a:spcBef>
              <a:spcAft>
                <a:spcPts val="0"/>
              </a:spcAft>
              <a:buNone/>
            </a:pPr>
            <a:r>
              <a:rPr lang="en-US"/>
              <a:t>into a uniform underlying system for supporting file systems and allocating disk</a:t>
            </a:r>
            <a:endParaRPr/>
          </a:p>
          <a:p>
            <a:pPr indent="0" lvl="0" marL="0" rtl="0" algn="l">
              <a:spcBef>
                <a:spcPts val="360"/>
              </a:spcBef>
              <a:spcAft>
                <a:spcPts val="0"/>
              </a:spcAft>
              <a:buNone/>
            </a:pPr>
            <a:r>
              <a:rPr lang="en-US"/>
              <a:t>space to files. All types of UNIX files are administered by the OS by means of</a:t>
            </a:r>
            <a:endParaRPr/>
          </a:p>
          <a:p>
            <a:pPr indent="0" lvl="0" marL="0" rtl="0" algn="l">
              <a:spcBef>
                <a:spcPts val="360"/>
              </a:spcBef>
              <a:spcAft>
                <a:spcPts val="0"/>
              </a:spcAft>
              <a:buNone/>
            </a:pPr>
            <a:r>
              <a:rPr lang="en-US"/>
              <a:t>inodes. An inode (index node) is a control structure that contains the key information</a:t>
            </a:r>
            <a:endParaRPr/>
          </a:p>
          <a:p>
            <a:pPr indent="0" lvl="0" marL="0" rtl="0" algn="l">
              <a:spcBef>
                <a:spcPts val="360"/>
              </a:spcBef>
              <a:spcAft>
                <a:spcPts val="0"/>
              </a:spcAft>
              <a:buNone/>
            </a:pPr>
            <a:r>
              <a:rPr lang="en-US"/>
              <a:t>needed by the operating system for a particular file. Several file names may be</a:t>
            </a:r>
            <a:endParaRPr/>
          </a:p>
          <a:p>
            <a:pPr indent="0" lvl="0" marL="0" rtl="0" algn="l">
              <a:spcBef>
                <a:spcPts val="360"/>
              </a:spcBef>
              <a:spcAft>
                <a:spcPts val="0"/>
              </a:spcAft>
              <a:buNone/>
            </a:pPr>
            <a:r>
              <a:rPr lang="en-US"/>
              <a:t>associated with a single inode, but an active inode is associated with exactly one file,</a:t>
            </a:r>
            <a:endParaRPr/>
          </a:p>
          <a:p>
            <a:pPr indent="0" lvl="0" marL="0" rtl="0" algn="l">
              <a:spcBef>
                <a:spcPts val="360"/>
              </a:spcBef>
              <a:spcAft>
                <a:spcPts val="0"/>
              </a:spcAft>
              <a:buNone/>
            </a:pPr>
            <a:r>
              <a:rPr lang="en-US"/>
              <a:t>and each file is controlled by exactly one inode.</a:t>
            </a:r>
            <a:endParaRPr/>
          </a:p>
        </p:txBody>
      </p:sp>
      <p:sp>
        <p:nvSpPr>
          <p:cNvPr id="1181" name="Google Shape;1181;p10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6" name="Shape 1186"/>
        <p:cNvGrpSpPr/>
        <p:nvPr/>
      </p:nvGrpSpPr>
      <p:grpSpPr>
        <a:xfrm>
          <a:off x="0" y="0"/>
          <a:ext cx="0" cy="0"/>
          <a:chOff x="0" y="0"/>
          <a:chExt cx="0" cy="0"/>
        </a:xfrm>
      </p:grpSpPr>
      <p:sp>
        <p:nvSpPr>
          <p:cNvPr id="1187" name="Google Shape;1187;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8" name="Google Shape;1188;p10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Modern UNIX operating systems support multiple file systems but map all of these</a:t>
            </a:r>
            <a:endParaRPr/>
          </a:p>
          <a:p>
            <a:pPr indent="0" lvl="0" marL="0" rtl="0" algn="l">
              <a:spcBef>
                <a:spcPts val="360"/>
              </a:spcBef>
              <a:spcAft>
                <a:spcPts val="0"/>
              </a:spcAft>
              <a:buNone/>
            </a:pPr>
            <a:r>
              <a:rPr lang="en-US"/>
              <a:t>into a uniform underlying system for supporting file systems and allocating disk</a:t>
            </a:r>
            <a:endParaRPr/>
          </a:p>
          <a:p>
            <a:pPr indent="0" lvl="0" marL="0" rtl="0" algn="l">
              <a:spcBef>
                <a:spcPts val="360"/>
              </a:spcBef>
              <a:spcAft>
                <a:spcPts val="0"/>
              </a:spcAft>
              <a:buNone/>
            </a:pPr>
            <a:r>
              <a:rPr lang="en-US"/>
              <a:t>space to files. All types of UNIX files are administered by the OS by means of</a:t>
            </a:r>
            <a:endParaRPr/>
          </a:p>
          <a:p>
            <a:pPr indent="0" lvl="0" marL="0" rtl="0" algn="l">
              <a:spcBef>
                <a:spcPts val="360"/>
              </a:spcBef>
              <a:spcAft>
                <a:spcPts val="0"/>
              </a:spcAft>
              <a:buNone/>
            </a:pPr>
            <a:r>
              <a:rPr lang="en-US"/>
              <a:t>inodes. An inode (index node) is a control structure that contains the key information</a:t>
            </a:r>
            <a:endParaRPr/>
          </a:p>
          <a:p>
            <a:pPr indent="0" lvl="0" marL="0" rtl="0" algn="l">
              <a:spcBef>
                <a:spcPts val="360"/>
              </a:spcBef>
              <a:spcAft>
                <a:spcPts val="0"/>
              </a:spcAft>
              <a:buNone/>
            </a:pPr>
            <a:r>
              <a:rPr lang="en-US"/>
              <a:t>needed by the operating system for a particular file. Several file names may be</a:t>
            </a:r>
            <a:endParaRPr/>
          </a:p>
          <a:p>
            <a:pPr indent="0" lvl="0" marL="0" rtl="0" algn="l">
              <a:spcBef>
                <a:spcPts val="360"/>
              </a:spcBef>
              <a:spcAft>
                <a:spcPts val="0"/>
              </a:spcAft>
              <a:buNone/>
            </a:pPr>
            <a:r>
              <a:rPr lang="en-US"/>
              <a:t>associated with a single inode, but an active inode is associated with exactly one file,</a:t>
            </a:r>
            <a:endParaRPr/>
          </a:p>
          <a:p>
            <a:pPr indent="0" lvl="0" marL="0" rtl="0" algn="l">
              <a:spcBef>
                <a:spcPts val="360"/>
              </a:spcBef>
              <a:spcAft>
                <a:spcPts val="0"/>
              </a:spcAft>
              <a:buNone/>
            </a:pPr>
            <a:r>
              <a:rPr lang="en-US"/>
              <a:t>and each file is controlled by exactly one inode.</a:t>
            </a:r>
            <a:endParaRPr/>
          </a:p>
        </p:txBody>
      </p:sp>
      <p:sp>
        <p:nvSpPr>
          <p:cNvPr id="1189" name="Google Shape;1189;p10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96" name="Google Shape;1196;p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Modern UNIX operating systems support multiple file systems but map all of these</a:t>
            </a:r>
            <a:endParaRPr/>
          </a:p>
          <a:p>
            <a:pPr indent="0" lvl="0" marL="0" rtl="0" algn="l">
              <a:spcBef>
                <a:spcPts val="360"/>
              </a:spcBef>
              <a:spcAft>
                <a:spcPts val="0"/>
              </a:spcAft>
              <a:buNone/>
            </a:pPr>
            <a:r>
              <a:rPr lang="en-US"/>
              <a:t>into a uniform underlying system for supporting file systems and allocating disk</a:t>
            </a:r>
            <a:endParaRPr/>
          </a:p>
          <a:p>
            <a:pPr indent="0" lvl="0" marL="0" rtl="0" algn="l">
              <a:spcBef>
                <a:spcPts val="360"/>
              </a:spcBef>
              <a:spcAft>
                <a:spcPts val="0"/>
              </a:spcAft>
              <a:buNone/>
            </a:pPr>
            <a:r>
              <a:rPr lang="en-US"/>
              <a:t>space to files. All types of UNIX files are administered by the OS by means of</a:t>
            </a:r>
            <a:endParaRPr/>
          </a:p>
          <a:p>
            <a:pPr indent="0" lvl="0" marL="0" rtl="0" algn="l">
              <a:spcBef>
                <a:spcPts val="360"/>
              </a:spcBef>
              <a:spcAft>
                <a:spcPts val="0"/>
              </a:spcAft>
              <a:buNone/>
            </a:pPr>
            <a:r>
              <a:rPr lang="en-US"/>
              <a:t>inodes. An inode (index node) is a control structure that contains the key information</a:t>
            </a:r>
            <a:endParaRPr/>
          </a:p>
          <a:p>
            <a:pPr indent="0" lvl="0" marL="0" rtl="0" algn="l">
              <a:spcBef>
                <a:spcPts val="360"/>
              </a:spcBef>
              <a:spcAft>
                <a:spcPts val="0"/>
              </a:spcAft>
              <a:buNone/>
            </a:pPr>
            <a:r>
              <a:rPr lang="en-US"/>
              <a:t>needed by the operating system for a particular file. Several file names may be</a:t>
            </a:r>
            <a:endParaRPr/>
          </a:p>
          <a:p>
            <a:pPr indent="0" lvl="0" marL="0" rtl="0" algn="l">
              <a:spcBef>
                <a:spcPts val="360"/>
              </a:spcBef>
              <a:spcAft>
                <a:spcPts val="0"/>
              </a:spcAft>
              <a:buNone/>
            </a:pPr>
            <a:r>
              <a:rPr lang="en-US"/>
              <a:t>associated with a single inode, but an active inode is associated with exactly one file,</a:t>
            </a:r>
            <a:endParaRPr/>
          </a:p>
          <a:p>
            <a:pPr indent="0" lvl="0" marL="0" rtl="0" algn="l">
              <a:spcBef>
                <a:spcPts val="360"/>
              </a:spcBef>
              <a:spcAft>
                <a:spcPts val="0"/>
              </a:spcAft>
              <a:buNone/>
            </a:pPr>
            <a:r>
              <a:rPr lang="en-US"/>
              <a:t>and each file is controlled by exactly one inode.</a:t>
            </a:r>
            <a:endParaRPr/>
          </a:p>
        </p:txBody>
      </p:sp>
      <p:sp>
        <p:nvSpPr>
          <p:cNvPr id="1197" name="Google Shape;1197;p10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04" name="Google Shape;1204;p10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05" name="Google Shape;1205;p10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11" name="Google Shape;1211;p10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12" name="Google Shape;1212;p10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20" name="Google Shape;1220;p10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21" name="Google Shape;1221;p10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28" name="Google Shape;1228;p1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29" name="Google Shape;1229;p1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36" name="Google Shape;1236;p1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37" name="Google Shape;1237;p1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2" name="Shape 1242"/>
        <p:cNvGrpSpPr/>
        <p:nvPr/>
      </p:nvGrpSpPr>
      <p:grpSpPr>
        <a:xfrm>
          <a:off x="0" y="0"/>
          <a:ext cx="0" cy="0"/>
          <a:chOff x="0" y="0"/>
          <a:chExt cx="0" cy="0"/>
        </a:xfrm>
      </p:grpSpPr>
      <p:sp>
        <p:nvSpPr>
          <p:cNvPr id="1243" name="Google Shape;1243;p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44" name="Google Shape;1244;p1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45" name="Google Shape;1245;p1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0" name="Shape 1250"/>
        <p:cNvGrpSpPr/>
        <p:nvPr/>
      </p:nvGrpSpPr>
      <p:grpSpPr>
        <a:xfrm>
          <a:off x="0" y="0"/>
          <a:ext cx="0" cy="0"/>
          <a:chOff x="0" y="0"/>
          <a:chExt cx="0" cy="0"/>
        </a:xfrm>
      </p:grpSpPr>
      <p:sp>
        <p:nvSpPr>
          <p:cNvPr id="1251" name="Google Shape;1251;p1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52" name="Google Shape;1252;p1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53" name="Google Shape;1253;p1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p1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60" name="Google Shape;1260;p1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attributes of the file as well as its permissions and other control information</a:t>
            </a:r>
            <a:endParaRPr/>
          </a:p>
          <a:p>
            <a:pPr indent="0" lvl="0" marL="0" rtl="0" algn="l">
              <a:spcBef>
                <a:spcPts val="360"/>
              </a:spcBef>
              <a:spcAft>
                <a:spcPts val="0"/>
              </a:spcAft>
              <a:buNone/>
            </a:pPr>
            <a:r>
              <a:rPr lang="en-US"/>
              <a:t>are stored in the inode. The exact inode structure varies from one UNIX</a:t>
            </a:r>
            <a:endParaRPr/>
          </a:p>
          <a:p>
            <a:pPr indent="0" lvl="0" marL="0" rtl="0" algn="l">
              <a:spcBef>
                <a:spcPts val="360"/>
              </a:spcBef>
              <a:spcAft>
                <a:spcPts val="0"/>
              </a:spcAft>
              <a:buNone/>
            </a:pPr>
            <a:r>
              <a:rPr lang="en-US"/>
              <a:t>implementation to another. The FreeBSD inode structure, shown in Figure 12.16 ,</a:t>
            </a:r>
            <a:endParaRPr/>
          </a:p>
          <a:p>
            <a:pPr indent="0" lvl="0" marL="0" rtl="0" algn="l">
              <a:spcBef>
                <a:spcPts val="360"/>
              </a:spcBef>
              <a:spcAft>
                <a:spcPts val="0"/>
              </a:spcAft>
              <a:buNone/>
            </a:pPr>
            <a:r>
              <a:rPr lang="en-US"/>
              <a:t>includes the following data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type and access mode of the file</a:t>
            </a:r>
            <a:endParaRPr/>
          </a:p>
          <a:p>
            <a:pPr indent="0" lvl="0" marL="0" rtl="0" algn="l">
              <a:spcBef>
                <a:spcPts val="360"/>
              </a:spcBef>
              <a:spcAft>
                <a:spcPts val="0"/>
              </a:spcAft>
              <a:buNone/>
            </a:pPr>
            <a:r>
              <a:rPr lang="en-US"/>
              <a:t>• The file’s owner and group-access identifiers</a:t>
            </a:r>
            <a:endParaRPr/>
          </a:p>
          <a:p>
            <a:pPr indent="0" lvl="0" marL="0" rtl="0" algn="l">
              <a:spcBef>
                <a:spcPts val="360"/>
              </a:spcBef>
              <a:spcAft>
                <a:spcPts val="0"/>
              </a:spcAft>
              <a:buNone/>
            </a:pPr>
            <a:r>
              <a:rPr lang="en-US"/>
              <a:t>• The time that the file was created, when it was most recently read and written, and when its inode was most recently updated by the system</a:t>
            </a:r>
            <a:endParaRPr/>
          </a:p>
          <a:p>
            <a:pPr indent="0" lvl="0" marL="0" rtl="0" algn="l">
              <a:spcBef>
                <a:spcPts val="360"/>
              </a:spcBef>
              <a:spcAft>
                <a:spcPts val="0"/>
              </a:spcAft>
              <a:buNone/>
            </a:pPr>
            <a:r>
              <a:rPr lang="en-US"/>
              <a:t>• The size of the file in bytes</a:t>
            </a:r>
            <a:endParaRPr/>
          </a:p>
          <a:p>
            <a:pPr indent="0" lvl="0" marL="0" rtl="0" algn="l">
              <a:spcBef>
                <a:spcPts val="360"/>
              </a:spcBef>
              <a:spcAft>
                <a:spcPts val="0"/>
              </a:spcAft>
              <a:buNone/>
            </a:pPr>
            <a:r>
              <a:rPr lang="en-US"/>
              <a:t>• A sequence of block pointers, explained in the next subsection</a:t>
            </a:r>
            <a:endParaRPr/>
          </a:p>
          <a:p>
            <a:pPr indent="0" lvl="0" marL="0" rtl="0" algn="l">
              <a:spcBef>
                <a:spcPts val="360"/>
              </a:spcBef>
              <a:spcAft>
                <a:spcPts val="0"/>
              </a:spcAft>
              <a:buNone/>
            </a:pPr>
            <a:r>
              <a:rPr lang="en-US"/>
              <a:t>• The number of physical blocks used by the file, including blocks used to hold indirect pointers and attributes</a:t>
            </a:r>
            <a:endParaRPr/>
          </a:p>
          <a:p>
            <a:pPr indent="0" lvl="0" marL="0" rtl="0" algn="l">
              <a:spcBef>
                <a:spcPts val="360"/>
              </a:spcBef>
              <a:spcAft>
                <a:spcPts val="0"/>
              </a:spcAft>
              <a:buNone/>
            </a:pPr>
            <a:r>
              <a:rPr lang="en-US"/>
              <a:t>• The number of directory entries that reference the file</a:t>
            </a:r>
            <a:endParaRPr/>
          </a:p>
          <a:p>
            <a:pPr indent="0" lvl="0" marL="0" rtl="0" algn="l">
              <a:spcBef>
                <a:spcPts val="360"/>
              </a:spcBef>
              <a:spcAft>
                <a:spcPts val="0"/>
              </a:spcAft>
              <a:buNone/>
            </a:pPr>
            <a:r>
              <a:rPr lang="en-US"/>
              <a:t>• The kernel and user-settable flags that describe the characteristics of the file</a:t>
            </a:r>
            <a:endParaRPr/>
          </a:p>
          <a:p>
            <a:pPr indent="0" lvl="0" marL="0" rtl="0" algn="l">
              <a:spcBef>
                <a:spcPts val="360"/>
              </a:spcBef>
              <a:spcAft>
                <a:spcPts val="0"/>
              </a:spcAft>
              <a:buNone/>
            </a:pPr>
            <a:r>
              <a:rPr lang="en-US"/>
              <a:t>• The generation number of the file (a randomly selected number assigned to the inode each time that the latter is allocated to a new file; the generation number is used to detect    references to deleted files)</a:t>
            </a:r>
            <a:endParaRPr/>
          </a:p>
          <a:p>
            <a:pPr indent="0" lvl="0" marL="0" rtl="0" algn="l">
              <a:spcBef>
                <a:spcPts val="360"/>
              </a:spcBef>
              <a:spcAft>
                <a:spcPts val="0"/>
              </a:spcAft>
              <a:buNone/>
            </a:pPr>
            <a:r>
              <a:rPr lang="en-US"/>
              <a:t>• The blocksize of the data blocks referenced by the inode (typically the same as, but sometimes larger than, the file system blocksize)</a:t>
            </a:r>
            <a:endParaRPr/>
          </a:p>
          <a:p>
            <a:pPr indent="0" lvl="0" marL="0" rtl="0" algn="l">
              <a:spcBef>
                <a:spcPts val="360"/>
              </a:spcBef>
              <a:spcAft>
                <a:spcPts val="0"/>
              </a:spcAft>
              <a:buNone/>
            </a:pPr>
            <a:r>
              <a:rPr lang="en-US"/>
              <a:t>The size of the extended attribute information</a:t>
            </a:r>
            <a:endParaRPr/>
          </a:p>
          <a:p>
            <a:pPr indent="0" lvl="0" marL="0" rtl="0" algn="l">
              <a:spcBef>
                <a:spcPts val="360"/>
              </a:spcBef>
              <a:spcAft>
                <a:spcPts val="0"/>
              </a:spcAft>
              <a:buNone/>
            </a:pPr>
            <a:r>
              <a:rPr lang="en-US"/>
              <a:t>• Zero or more extended attribute entries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blocksize value is typically the same as, but sometimes larger than, the file</a:t>
            </a:r>
            <a:endParaRPr/>
          </a:p>
          <a:p>
            <a:pPr indent="0" lvl="0" marL="0" rtl="0" algn="l">
              <a:spcBef>
                <a:spcPts val="360"/>
              </a:spcBef>
              <a:spcAft>
                <a:spcPts val="0"/>
              </a:spcAft>
              <a:buNone/>
            </a:pPr>
            <a:r>
              <a:rPr lang="en-US"/>
              <a:t>system blocksize. On traditional UNIX systems, a fixed blocksize of 512 bytes was</a:t>
            </a:r>
            <a:endParaRPr/>
          </a:p>
          <a:p>
            <a:pPr indent="0" lvl="0" marL="0" rtl="0" algn="l">
              <a:spcBef>
                <a:spcPts val="360"/>
              </a:spcBef>
              <a:spcAft>
                <a:spcPts val="0"/>
              </a:spcAft>
              <a:buNone/>
            </a:pPr>
            <a:r>
              <a:rPr lang="en-US"/>
              <a:t>used. FreeBSD has a minimum blocksize of 4,096 bytes (4 Kbytes); the blocksize</a:t>
            </a:r>
            <a:endParaRPr/>
          </a:p>
          <a:p>
            <a:pPr indent="0" lvl="0" marL="0" rtl="0" algn="l">
              <a:spcBef>
                <a:spcPts val="360"/>
              </a:spcBef>
              <a:spcAft>
                <a:spcPts val="0"/>
              </a:spcAft>
              <a:buNone/>
            </a:pPr>
            <a:r>
              <a:rPr lang="en-US"/>
              <a:t>can be any power of 2 greater than or equal to 4,096. For typical file systems, the</a:t>
            </a:r>
            <a:endParaRPr/>
          </a:p>
          <a:p>
            <a:pPr indent="0" lvl="0" marL="0" rtl="0" algn="l">
              <a:spcBef>
                <a:spcPts val="360"/>
              </a:spcBef>
              <a:spcAft>
                <a:spcPts val="0"/>
              </a:spcAft>
              <a:buNone/>
            </a:pPr>
            <a:r>
              <a:rPr lang="en-US"/>
              <a:t>blocksize is 8 Kbytes or 16 Kbytes. The default FreeBSD blocksize is 16 Kbytes.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Extended attribute entries are variable-length entries used to store auxiliary</a:t>
            </a:r>
            <a:endParaRPr/>
          </a:p>
          <a:p>
            <a:pPr indent="0" lvl="0" marL="0" rtl="0" algn="l">
              <a:spcBef>
                <a:spcPts val="360"/>
              </a:spcBef>
              <a:spcAft>
                <a:spcPts val="0"/>
              </a:spcAft>
              <a:buNone/>
            </a:pPr>
            <a:r>
              <a:rPr lang="en-US"/>
              <a:t>data that are separate from the contents of the file. The first two extended attributes</a:t>
            </a:r>
            <a:endParaRPr/>
          </a:p>
          <a:p>
            <a:pPr indent="0" lvl="0" marL="0" rtl="0" algn="l">
              <a:spcBef>
                <a:spcPts val="360"/>
              </a:spcBef>
              <a:spcAft>
                <a:spcPts val="0"/>
              </a:spcAft>
              <a:buNone/>
            </a:pPr>
            <a:r>
              <a:rPr lang="en-US"/>
              <a:t>defined for FreeBSD deal with security. The first of these support access control</a:t>
            </a:r>
            <a:endParaRPr/>
          </a:p>
          <a:p>
            <a:pPr indent="0" lvl="0" marL="0" rtl="0" algn="l">
              <a:spcBef>
                <a:spcPts val="360"/>
              </a:spcBef>
              <a:spcAft>
                <a:spcPts val="0"/>
              </a:spcAft>
              <a:buNone/>
            </a:pPr>
            <a:r>
              <a:rPr lang="en-US"/>
              <a:t>lists; this is described in Chapter 15 . The second defined extended attribute supports</a:t>
            </a:r>
            <a:endParaRPr/>
          </a:p>
          <a:p>
            <a:pPr indent="0" lvl="0" marL="0" rtl="0" algn="l">
              <a:spcBef>
                <a:spcPts val="360"/>
              </a:spcBef>
              <a:spcAft>
                <a:spcPts val="0"/>
              </a:spcAft>
              <a:buNone/>
            </a:pPr>
            <a:r>
              <a:rPr lang="en-US"/>
              <a:t>the use of security labels, which are part of what is known as a mandatory</a:t>
            </a:r>
            <a:endParaRPr/>
          </a:p>
          <a:p>
            <a:pPr indent="0" lvl="0" marL="0" rtl="0" algn="l">
              <a:spcBef>
                <a:spcPts val="360"/>
              </a:spcBef>
              <a:spcAft>
                <a:spcPts val="0"/>
              </a:spcAft>
              <a:buNone/>
            </a:pPr>
            <a:r>
              <a:rPr lang="en-US"/>
              <a:t>access control scheme, also defined in Chapter 15 .</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 the disk, there is an inode table, or inode list, that contains the inodes of</a:t>
            </a:r>
            <a:endParaRPr/>
          </a:p>
          <a:p>
            <a:pPr indent="0" lvl="0" marL="0" rtl="0" algn="l">
              <a:spcBef>
                <a:spcPts val="360"/>
              </a:spcBef>
              <a:spcAft>
                <a:spcPts val="0"/>
              </a:spcAft>
              <a:buNone/>
            </a:pPr>
            <a:r>
              <a:rPr lang="en-US"/>
              <a:t>all the files in the file system. When a file is opened, its inode is brought into main</a:t>
            </a:r>
            <a:endParaRPr/>
          </a:p>
          <a:p>
            <a:pPr indent="0" lvl="0" marL="0" rtl="0" algn="l">
              <a:spcBef>
                <a:spcPts val="360"/>
              </a:spcBef>
              <a:spcAft>
                <a:spcPts val="0"/>
              </a:spcAft>
              <a:buNone/>
            </a:pPr>
            <a:r>
              <a:rPr lang="en-US"/>
              <a:t>memory and stored in a memory-resident inode table.</a:t>
            </a:r>
            <a:endParaRPr/>
          </a:p>
        </p:txBody>
      </p:sp>
      <p:sp>
        <p:nvSpPr>
          <p:cNvPr id="1261" name="Google Shape;1261;p1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p1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68" name="Google Shape;1268;p1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File allocation is done on a block basis. Allocation is dynamic, as needed, rather</a:t>
            </a:r>
            <a:endParaRPr/>
          </a:p>
          <a:p>
            <a:pPr indent="0" lvl="0" marL="0" rtl="0" algn="l">
              <a:spcBef>
                <a:spcPts val="360"/>
              </a:spcBef>
              <a:spcAft>
                <a:spcPts val="0"/>
              </a:spcAft>
              <a:buNone/>
            </a:pPr>
            <a:r>
              <a:rPr lang="en-US"/>
              <a:t>than using preallocation. Hence, the blocks of a file on disk are not necessarily contiguous.</a:t>
            </a:r>
            <a:endParaRPr/>
          </a:p>
          <a:p>
            <a:pPr indent="0" lvl="0" marL="0" rtl="0" algn="l">
              <a:spcBef>
                <a:spcPts val="360"/>
              </a:spcBef>
              <a:spcAft>
                <a:spcPts val="0"/>
              </a:spcAft>
              <a:buNone/>
            </a:pPr>
            <a:r>
              <a:rPr lang="en-US"/>
              <a:t>An indexed method is used to keep track of each file, with part of the index</a:t>
            </a:r>
            <a:endParaRPr/>
          </a:p>
          <a:p>
            <a:pPr indent="0" lvl="0" marL="0" rtl="0" algn="l">
              <a:spcBef>
                <a:spcPts val="360"/>
              </a:spcBef>
              <a:spcAft>
                <a:spcPts val="0"/>
              </a:spcAft>
              <a:buNone/>
            </a:pPr>
            <a:r>
              <a:rPr lang="en-US"/>
              <a:t>stored in the inode for the file. In all UNIX implementations, the inode includes a</a:t>
            </a:r>
            <a:endParaRPr/>
          </a:p>
          <a:p>
            <a:pPr indent="0" lvl="0" marL="0" rtl="0" algn="l">
              <a:spcBef>
                <a:spcPts val="360"/>
              </a:spcBef>
              <a:spcAft>
                <a:spcPts val="0"/>
              </a:spcAft>
              <a:buNone/>
            </a:pPr>
            <a:r>
              <a:rPr lang="en-US"/>
              <a:t>number of direct pointers and three indirect pointers (single, double, triple).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FreeBSD inode includes 120 bytes of address information that is organized</a:t>
            </a:r>
            <a:endParaRPr/>
          </a:p>
          <a:p>
            <a:pPr indent="0" lvl="0" marL="0" rtl="0" algn="l">
              <a:spcBef>
                <a:spcPts val="360"/>
              </a:spcBef>
              <a:spcAft>
                <a:spcPts val="0"/>
              </a:spcAft>
              <a:buNone/>
            </a:pPr>
            <a:r>
              <a:rPr lang="en-US"/>
              <a:t>as fifteen 64-bit addresses, or pointers. The first 12 addresses point to the first</a:t>
            </a:r>
            <a:endParaRPr/>
          </a:p>
          <a:p>
            <a:pPr indent="0" lvl="0" marL="0" rtl="0" algn="l">
              <a:spcBef>
                <a:spcPts val="360"/>
              </a:spcBef>
              <a:spcAft>
                <a:spcPts val="0"/>
              </a:spcAft>
              <a:buNone/>
            </a:pPr>
            <a:r>
              <a:rPr lang="en-US"/>
              <a:t>12 data blocks of the file. If the file requires more than 12 data blocks, one or more</a:t>
            </a:r>
            <a:endParaRPr/>
          </a:p>
          <a:p>
            <a:pPr indent="0" lvl="0" marL="0" rtl="0" algn="l">
              <a:spcBef>
                <a:spcPts val="360"/>
              </a:spcBef>
              <a:spcAft>
                <a:spcPts val="0"/>
              </a:spcAft>
              <a:buNone/>
            </a:pPr>
            <a:r>
              <a:rPr lang="en-US"/>
              <a:t>levels of indirection is used as follows: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The thirteenth address in the inode points to a block on disk that contains the</a:t>
            </a:r>
            <a:endParaRPr/>
          </a:p>
          <a:p>
            <a:pPr indent="0" lvl="0" marL="0" rtl="0" algn="l">
              <a:spcBef>
                <a:spcPts val="360"/>
              </a:spcBef>
              <a:spcAft>
                <a:spcPts val="0"/>
              </a:spcAft>
              <a:buNone/>
            </a:pPr>
            <a:r>
              <a:rPr lang="en-US"/>
              <a:t>next portion of the index. This is referred to as the single indirect block. This</a:t>
            </a:r>
            <a:endParaRPr/>
          </a:p>
          <a:p>
            <a:pPr indent="0" lvl="0" marL="0" rtl="0" algn="l">
              <a:spcBef>
                <a:spcPts val="360"/>
              </a:spcBef>
              <a:spcAft>
                <a:spcPts val="0"/>
              </a:spcAft>
              <a:buNone/>
            </a:pPr>
            <a:r>
              <a:rPr lang="en-US"/>
              <a:t>block contains the pointers to succeeding blocks in the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If the file contains more blocks, the fourteenth address in the inode points to</a:t>
            </a:r>
            <a:endParaRPr/>
          </a:p>
          <a:p>
            <a:pPr indent="0" lvl="0" marL="0" rtl="0" algn="l">
              <a:spcBef>
                <a:spcPts val="360"/>
              </a:spcBef>
              <a:spcAft>
                <a:spcPts val="0"/>
              </a:spcAft>
              <a:buNone/>
            </a:pPr>
            <a:r>
              <a:rPr lang="en-US"/>
              <a:t>a double indirect block. This block contains a list of addresses of additional</a:t>
            </a:r>
            <a:endParaRPr/>
          </a:p>
          <a:p>
            <a:pPr indent="0" lvl="0" marL="0" rtl="0" algn="l">
              <a:spcBef>
                <a:spcPts val="360"/>
              </a:spcBef>
              <a:spcAft>
                <a:spcPts val="0"/>
              </a:spcAft>
              <a:buNone/>
            </a:pPr>
            <a:r>
              <a:rPr lang="en-US"/>
              <a:t>single indirect blocks. Each of single indirect blocks, in turn, contains pointers</a:t>
            </a:r>
            <a:endParaRPr/>
          </a:p>
          <a:p>
            <a:pPr indent="0" lvl="0" marL="0" rtl="0" algn="l">
              <a:spcBef>
                <a:spcPts val="360"/>
              </a:spcBef>
              <a:spcAft>
                <a:spcPts val="0"/>
              </a:spcAft>
              <a:buNone/>
            </a:pPr>
            <a:r>
              <a:rPr lang="en-US"/>
              <a:t>to file blocks.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If the file contains still more blocks, the fifteenth address in the inode points</a:t>
            </a:r>
            <a:endParaRPr/>
          </a:p>
          <a:p>
            <a:pPr indent="0" lvl="0" marL="0" rtl="0" algn="l">
              <a:spcBef>
                <a:spcPts val="360"/>
              </a:spcBef>
              <a:spcAft>
                <a:spcPts val="0"/>
              </a:spcAft>
              <a:buNone/>
            </a:pPr>
            <a:r>
              <a:rPr lang="en-US"/>
              <a:t>to a triple indirect block that is a third level of indexing. This block points to</a:t>
            </a:r>
            <a:endParaRPr/>
          </a:p>
          <a:p>
            <a:pPr indent="0" lvl="0" marL="0" rtl="0" algn="l">
              <a:spcBef>
                <a:spcPts val="360"/>
              </a:spcBef>
              <a:spcAft>
                <a:spcPts val="0"/>
              </a:spcAft>
              <a:buNone/>
            </a:pPr>
            <a:r>
              <a:rPr lang="en-US"/>
              <a:t>additional double indirect blocks.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All of this is illustrated in Figure 12.16 .</a:t>
            </a:r>
            <a:endParaRPr/>
          </a:p>
        </p:txBody>
      </p:sp>
      <p:sp>
        <p:nvSpPr>
          <p:cNvPr id="1269" name="Google Shape;1269;p1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p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77" name="Google Shape;1277;p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Directories are structured in a hierarchical tree. Each directory can contain files</a:t>
            </a:r>
            <a:endParaRPr/>
          </a:p>
          <a:p>
            <a:pPr indent="0" lvl="0" marL="0" rtl="0" algn="l">
              <a:spcBef>
                <a:spcPts val="360"/>
              </a:spcBef>
              <a:spcAft>
                <a:spcPts val="0"/>
              </a:spcAft>
              <a:buNone/>
            </a:pPr>
            <a:r>
              <a:rPr lang="en-US"/>
              <a:t>and/or other directories. A directory that is inside another directory is referred to</a:t>
            </a:r>
            <a:endParaRPr/>
          </a:p>
          <a:p>
            <a:pPr indent="0" lvl="0" marL="0" rtl="0" algn="l">
              <a:spcBef>
                <a:spcPts val="360"/>
              </a:spcBef>
              <a:spcAft>
                <a:spcPts val="0"/>
              </a:spcAft>
              <a:buNone/>
            </a:pPr>
            <a:r>
              <a:rPr lang="en-US"/>
              <a:t>as a subdirectory. As was mentioned, a directory is simply a file that contains a</a:t>
            </a:r>
            <a:endParaRPr/>
          </a:p>
          <a:p>
            <a:pPr indent="0" lvl="0" marL="0" rtl="0" algn="l">
              <a:spcBef>
                <a:spcPts val="360"/>
              </a:spcBef>
              <a:spcAft>
                <a:spcPts val="0"/>
              </a:spcAft>
              <a:buNone/>
            </a:pPr>
            <a:r>
              <a:rPr lang="en-US"/>
              <a:t>list of file names plus pointers to associated inodes. Figure 12.17 shows the overall</a:t>
            </a:r>
            <a:endParaRPr/>
          </a:p>
          <a:p>
            <a:pPr indent="0" lvl="0" marL="0" rtl="0" algn="l">
              <a:spcBef>
                <a:spcPts val="360"/>
              </a:spcBef>
              <a:spcAft>
                <a:spcPts val="0"/>
              </a:spcAft>
              <a:buNone/>
            </a:pPr>
            <a:r>
              <a:rPr lang="en-US"/>
              <a:t>structure. Each directory entry (dentry) contains a name for the associated file or</a:t>
            </a:r>
            <a:endParaRPr/>
          </a:p>
          <a:p>
            <a:pPr indent="0" lvl="0" marL="0" rtl="0" algn="l">
              <a:spcBef>
                <a:spcPts val="360"/>
              </a:spcBef>
              <a:spcAft>
                <a:spcPts val="0"/>
              </a:spcAft>
              <a:buNone/>
            </a:pPr>
            <a:r>
              <a:rPr lang="en-US"/>
              <a:t>subdirectory plus an integer called the i-number (index number). When the file or</a:t>
            </a:r>
            <a:endParaRPr/>
          </a:p>
          <a:p>
            <a:pPr indent="0" lvl="0" marL="0" rtl="0" algn="l">
              <a:spcBef>
                <a:spcPts val="360"/>
              </a:spcBef>
              <a:spcAft>
                <a:spcPts val="0"/>
              </a:spcAft>
              <a:buNone/>
            </a:pPr>
            <a:r>
              <a:rPr lang="en-US"/>
              <a:t>directory is accessed, its i-number is used as an index into the inode table.</a:t>
            </a:r>
            <a:endParaRPr/>
          </a:p>
        </p:txBody>
      </p:sp>
      <p:sp>
        <p:nvSpPr>
          <p:cNvPr id="1278" name="Google Shape;1278;p1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2" name="Shape 1282"/>
        <p:cNvGrpSpPr/>
        <p:nvPr/>
      </p:nvGrpSpPr>
      <p:grpSpPr>
        <a:xfrm>
          <a:off x="0" y="0"/>
          <a:ext cx="0" cy="0"/>
          <a:chOff x="0" y="0"/>
          <a:chExt cx="0" cy="0"/>
        </a:xfrm>
      </p:grpSpPr>
      <p:sp>
        <p:nvSpPr>
          <p:cNvPr id="1283" name="Google Shape;1283;p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84" name="Google Shape;1284;p1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Directories are structured in a hierarchical tree. Each directory can contain files</a:t>
            </a:r>
            <a:endParaRPr/>
          </a:p>
          <a:p>
            <a:pPr indent="0" lvl="0" marL="0" rtl="0" algn="l">
              <a:spcBef>
                <a:spcPts val="360"/>
              </a:spcBef>
              <a:spcAft>
                <a:spcPts val="0"/>
              </a:spcAft>
              <a:buNone/>
            </a:pPr>
            <a:r>
              <a:rPr lang="en-US"/>
              <a:t>and/or other directories. A directory that is inside another directory is referred to</a:t>
            </a:r>
            <a:endParaRPr/>
          </a:p>
          <a:p>
            <a:pPr indent="0" lvl="0" marL="0" rtl="0" algn="l">
              <a:spcBef>
                <a:spcPts val="360"/>
              </a:spcBef>
              <a:spcAft>
                <a:spcPts val="0"/>
              </a:spcAft>
              <a:buNone/>
            </a:pPr>
            <a:r>
              <a:rPr lang="en-US"/>
              <a:t>as a subdirectory. As was mentioned, a directory is simply a file that contains a</a:t>
            </a:r>
            <a:endParaRPr/>
          </a:p>
          <a:p>
            <a:pPr indent="0" lvl="0" marL="0" rtl="0" algn="l">
              <a:spcBef>
                <a:spcPts val="360"/>
              </a:spcBef>
              <a:spcAft>
                <a:spcPts val="0"/>
              </a:spcAft>
              <a:buNone/>
            </a:pPr>
            <a:r>
              <a:rPr lang="en-US"/>
              <a:t>list of file names plus pointers to associated inodes. Figure 12.17 shows the overall</a:t>
            </a:r>
            <a:endParaRPr/>
          </a:p>
          <a:p>
            <a:pPr indent="0" lvl="0" marL="0" rtl="0" algn="l">
              <a:spcBef>
                <a:spcPts val="360"/>
              </a:spcBef>
              <a:spcAft>
                <a:spcPts val="0"/>
              </a:spcAft>
              <a:buNone/>
            </a:pPr>
            <a:r>
              <a:rPr lang="en-US"/>
              <a:t>structure. Each directory entry (dentry) contains a name for the associated file or</a:t>
            </a:r>
            <a:endParaRPr/>
          </a:p>
          <a:p>
            <a:pPr indent="0" lvl="0" marL="0" rtl="0" algn="l">
              <a:spcBef>
                <a:spcPts val="360"/>
              </a:spcBef>
              <a:spcAft>
                <a:spcPts val="0"/>
              </a:spcAft>
              <a:buNone/>
            </a:pPr>
            <a:r>
              <a:rPr lang="en-US"/>
              <a:t>subdirectory plus an integer called the i-number (index number). When the file or</a:t>
            </a:r>
            <a:endParaRPr/>
          </a:p>
          <a:p>
            <a:pPr indent="0" lvl="0" marL="0" rtl="0" algn="l">
              <a:spcBef>
                <a:spcPts val="360"/>
              </a:spcBef>
              <a:spcAft>
                <a:spcPts val="0"/>
              </a:spcAft>
              <a:buNone/>
            </a:pPr>
            <a:r>
              <a:rPr lang="en-US"/>
              <a:t>directory is accessed, its i-number is used as an index into the inode table.</a:t>
            </a:r>
            <a:endParaRPr/>
          </a:p>
        </p:txBody>
      </p:sp>
      <p:sp>
        <p:nvSpPr>
          <p:cNvPr id="1285" name="Google Shape;1285;p1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1" name="Shape 1291"/>
        <p:cNvGrpSpPr/>
        <p:nvPr/>
      </p:nvGrpSpPr>
      <p:grpSpPr>
        <a:xfrm>
          <a:off x="0" y="0"/>
          <a:ext cx="0" cy="0"/>
          <a:chOff x="0" y="0"/>
          <a:chExt cx="0" cy="0"/>
        </a:xfrm>
      </p:grpSpPr>
      <p:sp>
        <p:nvSpPr>
          <p:cNvPr id="1292" name="Google Shape;1292;p1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93" name="Google Shape;1293;p1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Directories are structured in a hierarchical tree. Each directory can contain files</a:t>
            </a:r>
            <a:endParaRPr/>
          </a:p>
          <a:p>
            <a:pPr indent="0" lvl="0" marL="0" rtl="0" algn="l">
              <a:spcBef>
                <a:spcPts val="360"/>
              </a:spcBef>
              <a:spcAft>
                <a:spcPts val="0"/>
              </a:spcAft>
              <a:buNone/>
            </a:pPr>
            <a:r>
              <a:rPr lang="en-US"/>
              <a:t>and/or other directories. A directory that is inside another directory is referred to</a:t>
            </a:r>
            <a:endParaRPr/>
          </a:p>
          <a:p>
            <a:pPr indent="0" lvl="0" marL="0" rtl="0" algn="l">
              <a:spcBef>
                <a:spcPts val="360"/>
              </a:spcBef>
              <a:spcAft>
                <a:spcPts val="0"/>
              </a:spcAft>
              <a:buNone/>
            </a:pPr>
            <a:r>
              <a:rPr lang="en-US"/>
              <a:t>as a subdirectory. As was mentioned, a directory is simply a file that contains a</a:t>
            </a:r>
            <a:endParaRPr/>
          </a:p>
          <a:p>
            <a:pPr indent="0" lvl="0" marL="0" rtl="0" algn="l">
              <a:spcBef>
                <a:spcPts val="360"/>
              </a:spcBef>
              <a:spcAft>
                <a:spcPts val="0"/>
              </a:spcAft>
              <a:buNone/>
            </a:pPr>
            <a:r>
              <a:rPr lang="en-US"/>
              <a:t>list of file names plus pointers to associated inodes. Figure 12.17 shows the overall</a:t>
            </a:r>
            <a:endParaRPr/>
          </a:p>
          <a:p>
            <a:pPr indent="0" lvl="0" marL="0" rtl="0" algn="l">
              <a:spcBef>
                <a:spcPts val="360"/>
              </a:spcBef>
              <a:spcAft>
                <a:spcPts val="0"/>
              </a:spcAft>
              <a:buNone/>
            </a:pPr>
            <a:r>
              <a:rPr lang="en-US"/>
              <a:t>structure. Each directory entry (dentry) contains a name for the associated file or</a:t>
            </a:r>
            <a:endParaRPr/>
          </a:p>
          <a:p>
            <a:pPr indent="0" lvl="0" marL="0" rtl="0" algn="l">
              <a:spcBef>
                <a:spcPts val="360"/>
              </a:spcBef>
              <a:spcAft>
                <a:spcPts val="0"/>
              </a:spcAft>
              <a:buNone/>
            </a:pPr>
            <a:r>
              <a:rPr lang="en-US"/>
              <a:t>subdirectory plus an integer called the i-number (index number). When the file or</a:t>
            </a:r>
            <a:endParaRPr/>
          </a:p>
          <a:p>
            <a:pPr indent="0" lvl="0" marL="0" rtl="0" algn="l">
              <a:spcBef>
                <a:spcPts val="360"/>
              </a:spcBef>
              <a:spcAft>
                <a:spcPts val="0"/>
              </a:spcAft>
              <a:buNone/>
            </a:pPr>
            <a:r>
              <a:rPr lang="en-US"/>
              <a:t>directory is accessed, its i-number is used as an index into the inode table.</a:t>
            </a:r>
            <a:endParaRPr/>
          </a:p>
        </p:txBody>
      </p:sp>
      <p:sp>
        <p:nvSpPr>
          <p:cNvPr id="1294" name="Google Shape;1294;p1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p1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02" name="Google Shape;1302;p1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A UNIX file system resides on a single logical disk or disk partition and is laid out</a:t>
            </a:r>
            <a:endParaRPr/>
          </a:p>
          <a:p>
            <a:pPr indent="0" lvl="0" marL="0" rtl="0" algn="l">
              <a:spcBef>
                <a:spcPts val="360"/>
              </a:spcBef>
              <a:spcAft>
                <a:spcPts val="0"/>
              </a:spcAft>
              <a:buNone/>
            </a:pPr>
            <a:r>
              <a:rPr lang="en-US"/>
              <a:t>with the following elements: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Boot block: Contains code required to boot the operating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Superblock: Contains attributes and information about the file system, such as</a:t>
            </a:r>
            <a:endParaRPr/>
          </a:p>
          <a:p>
            <a:pPr indent="0" lvl="0" marL="0" rtl="0" algn="l">
              <a:spcBef>
                <a:spcPts val="360"/>
              </a:spcBef>
              <a:spcAft>
                <a:spcPts val="0"/>
              </a:spcAft>
              <a:buNone/>
            </a:pPr>
            <a:r>
              <a:rPr lang="en-US"/>
              <a:t>partition size, and inode table size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Inode table: The collection of inodes for each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Data blocks: Storage space available for data files and subdirectories</a:t>
            </a:r>
            <a:endParaRPr/>
          </a:p>
        </p:txBody>
      </p:sp>
      <p:sp>
        <p:nvSpPr>
          <p:cNvPr id="1303" name="Google Shape;1303;p1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8" name="Shape 1308"/>
        <p:cNvGrpSpPr/>
        <p:nvPr/>
      </p:nvGrpSpPr>
      <p:grpSpPr>
        <a:xfrm>
          <a:off x="0" y="0"/>
          <a:ext cx="0" cy="0"/>
          <a:chOff x="0" y="0"/>
          <a:chExt cx="0" cy="0"/>
        </a:xfrm>
      </p:grpSpPr>
      <p:sp>
        <p:nvSpPr>
          <p:cNvPr id="1309" name="Google Shape;1309;p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10" name="Google Shape;1310;p1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Most UNIX systems depend on, or at least are based on, the file access control</a:t>
            </a:r>
            <a:endParaRPr/>
          </a:p>
          <a:p>
            <a:pPr indent="0" lvl="0" marL="0" rtl="0" algn="l">
              <a:spcBef>
                <a:spcPts val="360"/>
              </a:spcBef>
              <a:spcAft>
                <a:spcPts val="0"/>
              </a:spcAft>
              <a:buNone/>
            </a:pPr>
            <a:r>
              <a:rPr lang="en-US"/>
              <a:t>scheme introduced with the early versions of UNIX. Each UNIX user is assigned a</a:t>
            </a:r>
            <a:endParaRPr/>
          </a:p>
          <a:p>
            <a:pPr indent="0" lvl="0" marL="0" rtl="0" algn="l">
              <a:spcBef>
                <a:spcPts val="360"/>
              </a:spcBef>
              <a:spcAft>
                <a:spcPts val="0"/>
              </a:spcAft>
              <a:buNone/>
            </a:pPr>
            <a:r>
              <a:rPr lang="en-US"/>
              <a:t>unique user identification number (user ID). A user is also a member of a primary</a:t>
            </a:r>
            <a:endParaRPr/>
          </a:p>
          <a:p>
            <a:pPr indent="0" lvl="0" marL="0" rtl="0" algn="l">
              <a:spcBef>
                <a:spcPts val="360"/>
              </a:spcBef>
              <a:spcAft>
                <a:spcPts val="0"/>
              </a:spcAft>
              <a:buNone/>
            </a:pPr>
            <a:r>
              <a:rPr lang="en-US"/>
              <a:t>group, and possibly a number of other groups, each identified by a group ID. When</a:t>
            </a:r>
            <a:endParaRPr/>
          </a:p>
          <a:p>
            <a:pPr indent="0" lvl="0" marL="0" rtl="0" algn="l">
              <a:spcBef>
                <a:spcPts val="360"/>
              </a:spcBef>
              <a:spcAft>
                <a:spcPts val="0"/>
              </a:spcAft>
              <a:buNone/>
            </a:pPr>
            <a:r>
              <a:rPr lang="en-US"/>
              <a:t>a file is created, it is designated as owned by a particular user and marked with that</a:t>
            </a:r>
            <a:endParaRPr/>
          </a:p>
          <a:p>
            <a:pPr indent="0" lvl="0" marL="0" rtl="0" algn="l">
              <a:spcBef>
                <a:spcPts val="360"/>
              </a:spcBef>
              <a:spcAft>
                <a:spcPts val="0"/>
              </a:spcAft>
              <a:buNone/>
            </a:pPr>
            <a:r>
              <a:rPr lang="en-US"/>
              <a:t>user’s ID. It also belongs to a specific group, which initially is either its creator’s</a:t>
            </a:r>
            <a:endParaRPr/>
          </a:p>
          <a:p>
            <a:pPr indent="0" lvl="0" marL="0" rtl="0" algn="l">
              <a:spcBef>
                <a:spcPts val="360"/>
              </a:spcBef>
              <a:spcAft>
                <a:spcPts val="0"/>
              </a:spcAft>
              <a:buNone/>
            </a:pPr>
            <a:r>
              <a:rPr lang="en-US"/>
              <a:t>primary group, or the group of its parent directory if that directory has SetGID</a:t>
            </a:r>
            <a:endParaRPr/>
          </a:p>
          <a:p>
            <a:pPr indent="0" lvl="0" marL="0" rtl="0" algn="l">
              <a:spcBef>
                <a:spcPts val="360"/>
              </a:spcBef>
              <a:spcAft>
                <a:spcPts val="0"/>
              </a:spcAft>
              <a:buNone/>
            </a:pPr>
            <a:r>
              <a:rPr lang="en-US"/>
              <a:t>permission set. Associated with each file is a set of 12 protection bits. The owner ID,</a:t>
            </a:r>
            <a:endParaRPr/>
          </a:p>
          <a:p>
            <a:pPr indent="0" lvl="0" marL="0" rtl="0" algn="l">
              <a:spcBef>
                <a:spcPts val="360"/>
              </a:spcBef>
              <a:spcAft>
                <a:spcPts val="0"/>
              </a:spcAft>
              <a:buNone/>
            </a:pPr>
            <a:r>
              <a:rPr lang="en-US"/>
              <a:t>group ID, and protection bits are part of the file’s inode.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Nine of the protection bits specify read, write, and execute permission for the</a:t>
            </a:r>
            <a:endParaRPr/>
          </a:p>
          <a:p>
            <a:pPr indent="0" lvl="0" marL="0" rtl="0" algn="l">
              <a:spcBef>
                <a:spcPts val="360"/>
              </a:spcBef>
              <a:spcAft>
                <a:spcPts val="0"/>
              </a:spcAft>
              <a:buNone/>
            </a:pPr>
            <a:r>
              <a:rPr lang="en-US"/>
              <a:t>owner of the file, other members of the group to which this file belongs, and all</a:t>
            </a:r>
            <a:endParaRPr/>
          </a:p>
          <a:p>
            <a:pPr indent="0" lvl="0" marL="0" rtl="0" algn="l">
              <a:spcBef>
                <a:spcPts val="360"/>
              </a:spcBef>
              <a:spcAft>
                <a:spcPts val="0"/>
              </a:spcAft>
              <a:buNone/>
            </a:pPr>
            <a:r>
              <a:rPr lang="en-US"/>
              <a:t>other users. These form a hierarchy of owner, group, and all others, with the highest</a:t>
            </a:r>
            <a:endParaRPr/>
          </a:p>
          <a:p>
            <a:pPr indent="0" lvl="0" marL="0" rtl="0" algn="l">
              <a:spcBef>
                <a:spcPts val="360"/>
              </a:spcBef>
              <a:spcAft>
                <a:spcPts val="0"/>
              </a:spcAft>
              <a:buNone/>
            </a:pPr>
            <a:r>
              <a:rPr lang="en-US"/>
              <a:t>relevant set of permissions being used. Figure 12.18a shows an example in which the</a:t>
            </a:r>
            <a:endParaRPr/>
          </a:p>
          <a:p>
            <a:pPr indent="0" lvl="0" marL="0" rtl="0" algn="l">
              <a:spcBef>
                <a:spcPts val="360"/>
              </a:spcBef>
              <a:spcAft>
                <a:spcPts val="0"/>
              </a:spcAft>
              <a:buNone/>
            </a:pPr>
            <a:r>
              <a:rPr lang="en-US"/>
              <a:t>file owner has read and write access; all other members of the file’s group have read</a:t>
            </a:r>
            <a:endParaRPr/>
          </a:p>
          <a:p>
            <a:pPr indent="0" lvl="0" marL="0" rtl="0" algn="l">
              <a:spcBef>
                <a:spcPts val="360"/>
              </a:spcBef>
              <a:spcAft>
                <a:spcPts val="0"/>
              </a:spcAft>
              <a:buNone/>
            </a:pPr>
            <a:r>
              <a:rPr lang="en-US"/>
              <a:t>access, and users outside the group have no access rights to the file. When applied to</a:t>
            </a:r>
            <a:endParaRPr/>
          </a:p>
          <a:p>
            <a:pPr indent="0" lvl="0" marL="0" rtl="0" algn="l">
              <a:spcBef>
                <a:spcPts val="360"/>
              </a:spcBef>
              <a:spcAft>
                <a:spcPts val="0"/>
              </a:spcAft>
              <a:buNone/>
            </a:pPr>
            <a:r>
              <a:rPr lang="en-US"/>
              <a:t>a directory, the read and write bits grant the right to list and to create/rename/delete</a:t>
            </a:r>
            <a:endParaRPr/>
          </a:p>
          <a:p>
            <a:pPr indent="0" lvl="0" marL="0" rtl="0" algn="l">
              <a:spcBef>
                <a:spcPts val="360"/>
              </a:spcBef>
              <a:spcAft>
                <a:spcPts val="0"/>
              </a:spcAft>
              <a:buNone/>
            </a:pPr>
            <a:r>
              <a:rPr lang="en-US"/>
              <a:t>files in the directory.  The execute bit grants the right to search the directory for a</a:t>
            </a:r>
            <a:endParaRPr/>
          </a:p>
          <a:p>
            <a:pPr indent="0" lvl="0" marL="0" rtl="0" algn="l">
              <a:spcBef>
                <a:spcPts val="360"/>
              </a:spcBef>
              <a:spcAft>
                <a:spcPts val="0"/>
              </a:spcAft>
              <a:buNone/>
            </a:pPr>
            <a:r>
              <a:rPr lang="en-US"/>
              <a:t>component of a filename.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remaining three bits define special additional behavior for files or directories.</a:t>
            </a:r>
            <a:endParaRPr/>
          </a:p>
          <a:p>
            <a:pPr indent="0" lvl="0" marL="0" rtl="0" algn="l">
              <a:spcBef>
                <a:spcPts val="360"/>
              </a:spcBef>
              <a:spcAft>
                <a:spcPts val="0"/>
              </a:spcAft>
              <a:buNone/>
            </a:pPr>
            <a:r>
              <a:rPr lang="en-US"/>
              <a:t>Two of these are the “set user ID” (SetUID) and “set group ID” (SetGID)</a:t>
            </a:r>
            <a:endParaRPr/>
          </a:p>
          <a:p>
            <a:pPr indent="0" lvl="0" marL="0" rtl="0" algn="l">
              <a:spcBef>
                <a:spcPts val="360"/>
              </a:spcBef>
              <a:spcAft>
                <a:spcPts val="0"/>
              </a:spcAft>
              <a:buNone/>
            </a:pPr>
            <a:r>
              <a:rPr lang="en-US"/>
              <a:t>permissions. If these are set on an executable file, the operating system functions as</a:t>
            </a:r>
            <a:endParaRPr/>
          </a:p>
          <a:p>
            <a:pPr indent="0" lvl="0" marL="0" rtl="0" algn="l">
              <a:spcBef>
                <a:spcPts val="360"/>
              </a:spcBef>
              <a:spcAft>
                <a:spcPts val="0"/>
              </a:spcAft>
              <a:buNone/>
            </a:pPr>
            <a:r>
              <a:rPr lang="en-US"/>
              <a:t>follows. When a user (with execute privileges for this file) executes the file, the system</a:t>
            </a:r>
            <a:endParaRPr/>
          </a:p>
          <a:p>
            <a:pPr indent="0" lvl="0" marL="0" rtl="0" algn="l">
              <a:spcBef>
                <a:spcPts val="360"/>
              </a:spcBef>
              <a:spcAft>
                <a:spcPts val="0"/>
              </a:spcAft>
              <a:buNone/>
            </a:pPr>
            <a:r>
              <a:rPr lang="en-US"/>
              <a:t>temporarily allocates the rights of the user’s ID of the file creator, or the file’s</a:t>
            </a:r>
            <a:endParaRPr/>
          </a:p>
          <a:p>
            <a:pPr indent="0" lvl="0" marL="0" rtl="0" algn="l">
              <a:spcBef>
                <a:spcPts val="360"/>
              </a:spcBef>
              <a:spcAft>
                <a:spcPts val="0"/>
              </a:spcAft>
              <a:buNone/>
            </a:pPr>
            <a:r>
              <a:rPr lang="en-US"/>
              <a:t>group, respectively, to those of the user executing the file. These are known as the</a:t>
            </a:r>
            <a:endParaRPr/>
          </a:p>
          <a:p>
            <a:pPr indent="0" lvl="0" marL="0" rtl="0" algn="l">
              <a:spcBef>
                <a:spcPts val="360"/>
              </a:spcBef>
              <a:spcAft>
                <a:spcPts val="0"/>
              </a:spcAft>
              <a:buNone/>
            </a:pPr>
            <a:r>
              <a:rPr lang="en-US"/>
              <a:t>“effective user ID” and “effective group ID” and are used in addition to the “real</a:t>
            </a:r>
            <a:endParaRPr/>
          </a:p>
          <a:p>
            <a:pPr indent="0" lvl="0" marL="0" rtl="0" algn="l">
              <a:spcBef>
                <a:spcPts val="360"/>
              </a:spcBef>
              <a:spcAft>
                <a:spcPts val="0"/>
              </a:spcAft>
              <a:buNone/>
            </a:pPr>
            <a:r>
              <a:rPr lang="en-US"/>
              <a:t>user ID” and “real group ID” of the executing user when making access control</a:t>
            </a:r>
            <a:endParaRPr/>
          </a:p>
          <a:p>
            <a:pPr indent="0" lvl="0" marL="0" rtl="0" algn="l">
              <a:spcBef>
                <a:spcPts val="360"/>
              </a:spcBef>
              <a:spcAft>
                <a:spcPts val="0"/>
              </a:spcAft>
              <a:buNone/>
            </a:pPr>
            <a:r>
              <a:rPr lang="en-US"/>
              <a:t>decisions for this program. This change is only effective while the program is being</a:t>
            </a:r>
            <a:endParaRPr/>
          </a:p>
          <a:p>
            <a:pPr indent="0" lvl="0" marL="0" rtl="0" algn="l">
              <a:spcBef>
                <a:spcPts val="360"/>
              </a:spcBef>
              <a:spcAft>
                <a:spcPts val="0"/>
              </a:spcAft>
              <a:buNone/>
            </a:pPr>
            <a:r>
              <a:rPr lang="en-US"/>
              <a:t>executed. This feature enables the creation and use of privileged programs that may</a:t>
            </a:r>
            <a:endParaRPr/>
          </a:p>
          <a:p>
            <a:pPr indent="0" lvl="0" marL="0" rtl="0" algn="l">
              <a:spcBef>
                <a:spcPts val="360"/>
              </a:spcBef>
              <a:spcAft>
                <a:spcPts val="0"/>
              </a:spcAft>
              <a:buNone/>
            </a:pPr>
            <a:r>
              <a:rPr lang="en-US"/>
              <a:t>use files normally inaccessible to other users. It enables users to access certain files</a:t>
            </a:r>
            <a:endParaRPr/>
          </a:p>
          <a:p>
            <a:pPr indent="0" lvl="0" marL="0" rtl="0" algn="l">
              <a:spcBef>
                <a:spcPts val="360"/>
              </a:spcBef>
              <a:spcAft>
                <a:spcPts val="0"/>
              </a:spcAft>
              <a:buNone/>
            </a:pPr>
            <a:r>
              <a:rPr lang="en-US"/>
              <a:t>in a controlled fashion. Alternatively, when applied to a directory, the SetGID permission</a:t>
            </a:r>
            <a:endParaRPr/>
          </a:p>
          <a:p>
            <a:pPr indent="0" lvl="0" marL="0" rtl="0" algn="l">
              <a:spcBef>
                <a:spcPts val="360"/>
              </a:spcBef>
              <a:spcAft>
                <a:spcPts val="0"/>
              </a:spcAft>
              <a:buNone/>
            </a:pPr>
            <a:r>
              <a:rPr lang="en-US"/>
              <a:t>indicates that newly created files will inherit the group of this directory. The</a:t>
            </a:r>
            <a:endParaRPr/>
          </a:p>
          <a:p>
            <a:pPr indent="0" lvl="0" marL="0" rtl="0" algn="l">
              <a:spcBef>
                <a:spcPts val="360"/>
              </a:spcBef>
              <a:spcAft>
                <a:spcPts val="0"/>
              </a:spcAft>
              <a:buNone/>
            </a:pPr>
            <a:r>
              <a:rPr lang="en-US"/>
              <a:t>SetUID permission is ignored.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The final permission bit is the “Sticky” bit. When set on a file, this originally</a:t>
            </a:r>
            <a:endParaRPr/>
          </a:p>
          <a:p>
            <a:pPr indent="0" lvl="0" marL="0" rtl="0" algn="l">
              <a:spcBef>
                <a:spcPts val="360"/>
              </a:spcBef>
              <a:spcAft>
                <a:spcPts val="0"/>
              </a:spcAft>
              <a:buNone/>
            </a:pPr>
            <a:r>
              <a:rPr lang="en-US"/>
              <a:t>indicated that the system should retain the file contents in memory following execution.</a:t>
            </a:r>
            <a:endParaRPr/>
          </a:p>
          <a:p>
            <a:pPr indent="0" lvl="0" marL="0" rtl="0" algn="l">
              <a:spcBef>
                <a:spcPts val="360"/>
              </a:spcBef>
              <a:spcAft>
                <a:spcPts val="0"/>
              </a:spcAft>
              <a:buNone/>
            </a:pPr>
            <a:r>
              <a:rPr lang="en-US"/>
              <a:t>This is no longer used. When applied to a directory, though, it specifies that</a:t>
            </a:r>
            <a:endParaRPr/>
          </a:p>
          <a:p>
            <a:pPr indent="0" lvl="0" marL="0" rtl="0" algn="l">
              <a:spcBef>
                <a:spcPts val="360"/>
              </a:spcBef>
              <a:spcAft>
                <a:spcPts val="0"/>
              </a:spcAft>
              <a:buNone/>
            </a:pPr>
            <a:r>
              <a:rPr lang="en-US"/>
              <a:t>only the owner of any file in the directory can rename, move, or delete that file. This</a:t>
            </a:r>
            <a:endParaRPr/>
          </a:p>
          <a:p>
            <a:pPr indent="0" lvl="0" marL="0" rtl="0" algn="l">
              <a:spcBef>
                <a:spcPts val="360"/>
              </a:spcBef>
              <a:spcAft>
                <a:spcPts val="0"/>
              </a:spcAft>
              <a:buNone/>
            </a:pPr>
            <a:r>
              <a:rPr lang="en-US"/>
              <a:t>is useful for managing files in shared temporary directories.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One particular user ID is designated as “superuser.” The superuser is exempt</a:t>
            </a:r>
            <a:endParaRPr/>
          </a:p>
          <a:p>
            <a:pPr indent="0" lvl="0" marL="0" rtl="0" algn="l">
              <a:spcBef>
                <a:spcPts val="360"/>
              </a:spcBef>
              <a:spcAft>
                <a:spcPts val="0"/>
              </a:spcAft>
              <a:buNone/>
            </a:pPr>
            <a:r>
              <a:rPr lang="en-US"/>
              <a:t>from the usual file access control constraints and has systemwide access. Any</a:t>
            </a:r>
            <a:endParaRPr/>
          </a:p>
          <a:p>
            <a:pPr indent="0" lvl="0" marL="0" rtl="0" algn="l">
              <a:spcBef>
                <a:spcPts val="360"/>
              </a:spcBef>
              <a:spcAft>
                <a:spcPts val="0"/>
              </a:spcAft>
              <a:buNone/>
            </a:pPr>
            <a:r>
              <a:rPr lang="en-US"/>
              <a:t>program that is owned by, and SetUID to, the “superuser” potentially grants unrestricted</a:t>
            </a:r>
            <a:endParaRPr/>
          </a:p>
          <a:p>
            <a:pPr indent="0" lvl="0" marL="0" rtl="0" algn="l">
              <a:spcBef>
                <a:spcPts val="360"/>
              </a:spcBef>
              <a:spcAft>
                <a:spcPts val="0"/>
              </a:spcAft>
              <a:buNone/>
            </a:pPr>
            <a:r>
              <a:rPr lang="en-US"/>
              <a:t>access to the system to any user executing that program. Hence, great care</a:t>
            </a:r>
            <a:endParaRPr/>
          </a:p>
          <a:p>
            <a:pPr indent="0" lvl="0" marL="0" rtl="0" algn="l">
              <a:spcBef>
                <a:spcPts val="360"/>
              </a:spcBef>
              <a:spcAft>
                <a:spcPts val="0"/>
              </a:spcAft>
              <a:buNone/>
            </a:pPr>
            <a:r>
              <a:rPr lang="en-US"/>
              <a:t>is needed when writing such programs.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access scheme is adequate when file access requirements align with users</a:t>
            </a:r>
            <a:endParaRPr/>
          </a:p>
          <a:p>
            <a:pPr indent="0" lvl="0" marL="0" rtl="0" algn="l">
              <a:spcBef>
                <a:spcPts val="360"/>
              </a:spcBef>
              <a:spcAft>
                <a:spcPts val="0"/>
              </a:spcAft>
              <a:buNone/>
            </a:pPr>
            <a:r>
              <a:rPr lang="en-US"/>
              <a:t>and a modest number of groups of users. For example, suppose a user wants to give</a:t>
            </a:r>
            <a:endParaRPr/>
          </a:p>
          <a:p>
            <a:pPr indent="0" lvl="0" marL="0" rtl="0" algn="l">
              <a:spcBef>
                <a:spcPts val="360"/>
              </a:spcBef>
              <a:spcAft>
                <a:spcPts val="0"/>
              </a:spcAft>
              <a:buNone/>
            </a:pPr>
            <a:r>
              <a:rPr lang="en-US"/>
              <a:t>read access for file X to users A and B and read access for file Y to users B and C.</a:t>
            </a:r>
            <a:endParaRPr/>
          </a:p>
          <a:p>
            <a:pPr indent="0" lvl="0" marL="0" rtl="0" algn="l">
              <a:spcBef>
                <a:spcPts val="360"/>
              </a:spcBef>
              <a:spcAft>
                <a:spcPts val="0"/>
              </a:spcAft>
              <a:buNone/>
            </a:pPr>
            <a:r>
              <a:rPr lang="en-US"/>
              <a:t>We would need at least two user groups, and user B would need to belong to both</a:t>
            </a:r>
            <a:endParaRPr/>
          </a:p>
          <a:p>
            <a:pPr indent="0" lvl="0" marL="0" rtl="0" algn="l">
              <a:spcBef>
                <a:spcPts val="360"/>
              </a:spcBef>
              <a:spcAft>
                <a:spcPts val="0"/>
              </a:spcAft>
              <a:buNone/>
            </a:pPr>
            <a:r>
              <a:rPr lang="en-US"/>
              <a:t>groups in order to access the two files. However, if there are a large number of</a:t>
            </a:r>
            <a:endParaRPr/>
          </a:p>
          <a:p>
            <a:pPr indent="0" lvl="0" marL="0" rtl="0" algn="l">
              <a:spcBef>
                <a:spcPts val="360"/>
              </a:spcBef>
              <a:spcAft>
                <a:spcPts val="0"/>
              </a:spcAft>
              <a:buNone/>
            </a:pPr>
            <a:r>
              <a:rPr lang="en-US"/>
              <a:t>different groupings of users requiring a range of access rights to different files, then</a:t>
            </a:r>
            <a:endParaRPr/>
          </a:p>
          <a:p>
            <a:pPr indent="0" lvl="0" marL="0" rtl="0" algn="l">
              <a:spcBef>
                <a:spcPts val="360"/>
              </a:spcBef>
              <a:spcAft>
                <a:spcPts val="0"/>
              </a:spcAft>
              <a:buNone/>
            </a:pPr>
            <a:r>
              <a:rPr lang="en-US"/>
              <a:t>a very large number of groups may be needed to provide this. This rapidly becomes</a:t>
            </a:r>
            <a:endParaRPr/>
          </a:p>
          <a:p>
            <a:pPr indent="0" lvl="0" marL="0" rtl="0" algn="l">
              <a:spcBef>
                <a:spcPts val="360"/>
              </a:spcBef>
              <a:spcAft>
                <a:spcPts val="0"/>
              </a:spcAft>
              <a:buNone/>
            </a:pPr>
            <a:r>
              <a:rPr lang="en-US"/>
              <a:t>unwieldy and difficult to manage, even if possible at all. 6 One way to overcome this</a:t>
            </a:r>
            <a:endParaRPr/>
          </a:p>
          <a:p>
            <a:pPr indent="0" lvl="0" marL="0" rtl="0" algn="l">
              <a:spcBef>
                <a:spcPts val="360"/>
              </a:spcBef>
              <a:spcAft>
                <a:spcPts val="0"/>
              </a:spcAft>
              <a:buNone/>
            </a:pPr>
            <a:r>
              <a:rPr lang="en-US"/>
              <a:t>problem is to use access control lists, which are provided in most modern UNIX</a:t>
            </a:r>
            <a:endParaRPr/>
          </a:p>
          <a:p>
            <a:pPr indent="0" lvl="0" marL="0" rtl="0" algn="l">
              <a:spcBef>
                <a:spcPts val="360"/>
              </a:spcBef>
              <a:spcAft>
                <a:spcPts val="0"/>
              </a:spcAft>
              <a:buNone/>
            </a:pPr>
            <a:r>
              <a:rPr lang="en-US"/>
              <a:t>systems.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A final point to note is that the traditional UNIX file access control scheme</a:t>
            </a:r>
            <a:endParaRPr/>
          </a:p>
          <a:p>
            <a:pPr indent="0" lvl="0" marL="0" rtl="0" algn="l">
              <a:spcBef>
                <a:spcPts val="360"/>
              </a:spcBef>
              <a:spcAft>
                <a:spcPts val="0"/>
              </a:spcAft>
              <a:buNone/>
            </a:pPr>
            <a:r>
              <a:rPr lang="en-US"/>
              <a:t>implements a simple protection domain structure. A domain is associated with the</a:t>
            </a:r>
            <a:endParaRPr/>
          </a:p>
          <a:p>
            <a:pPr indent="0" lvl="0" marL="0" rtl="0" algn="l">
              <a:spcBef>
                <a:spcPts val="360"/>
              </a:spcBef>
              <a:spcAft>
                <a:spcPts val="0"/>
              </a:spcAft>
              <a:buNone/>
            </a:pPr>
            <a:r>
              <a:rPr lang="en-US"/>
              <a:t>user, and switching the domain corresponds to changing the user ID temporarily.</a:t>
            </a:r>
            <a:endParaRPr/>
          </a:p>
        </p:txBody>
      </p:sp>
      <p:sp>
        <p:nvSpPr>
          <p:cNvPr id="1311" name="Google Shape;1311;p1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p1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19" name="Google Shape;1319;p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Many modern UNIX and UNIX-based operating systems support access control</a:t>
            </a:r>
            <a:endParaRPr/>
          </a:p>
          <a:p>
            <a:pPr indent="0" lvl="0" marL="0" rtl="0" algn="l">
              <a:spcBef>
                <a:spcPts val="360"/>
              </a:spcBef>
              <a:spcAft>
                <a:spcPts val="0"/>
              </a:spcAft>
              <a:buNone/>
            </a:pPr>
            <a:r>
              <a:rPr lang="en-US"/>
              <a:t>lists, including FreeBSD, OpenBSD, Linux, and Solaris. In this section, we describe</a:t>
            </a:r>
            <a:endParaRPr/>
          </a:p>
          <a:p>
            <a:pPr indent="0" lvl="0" marL="0" rtl="0" algn="l">
              <a:spcBef>
                <a:spcPts val="360"/>
              </a:spcBef>
              <a:spcAft>
                <a:spcPts val="0"/>
              </a:spcAft>
              <a:buNone/>
            </a:pPr>
            <a:r>
              <a:rPr lang="en-US"/>
              <a:t>the FreeBSD approach, but other implementations have essentially the same features</a:t>
            </a:r>
            <a:endParaRPr/>
          </a:p>
          <a:p>
            <a:pPr indent="0" lvl="0" marL="0" rtl="0" algn="l">
              <a:spcBef>
                <a:spcPts val="360"/>
              </a:spcBef>
              <a:spcAft>
                <a:spcPts val="0"/>
              </a:spcAft>
              <a:buNone/>
            </a:pPr>
            <a:r>
              <a:rPr lang="en-US"/>
              <a:t>and interface. The feature is referred to as extended access control list, while</a:t>
            </a:r>
            <a:endParaRPr/>
          </a:p>
          <a:p>
            <a:pPr indent="0" lvl="0" marL="0" rtl="0" algn="l">
              <a:spcBef>
                <a:spcPts val="360"/>
              </a:spcBef>
              <a:spcAft>
                <a:spcPts val="0"/>
              </a:spcAft>
              <a:buNone/>
            </a:pPr>
            <a:r>
              <a:rPr lang="en-US"/>
              <a:t>the traditional UNIX approach is referred to as minimal access control list.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FreeBSD allows the administrator to assign a list of UNIX user IDs and</a:t>
            </a:r>
            <a:endParaRPr/>
          </a:p>
          <a:p>
            <a:pPr indent="0" lvl="0" marL="0" rtl="0" algn="l">
              <a:spcBef>
                <a:spcPts val="360"/>
              </a:spcBef>
              <a:spcAft>
                <a:spcPts val="0"/>
              </a:spcAft>
              <a:buNone/>
            </a:pPr>
            <a:r>
              <a:rPr lang="en-US"/>
              <a:t>groups to a file by using the setfacl command. Any number of users and groups</a:t>
            </a:r>
            <a:endParaRPr/>
          </a:p>
          <a:p>
            <a:pPr indent="0" lvl="0" marL="0" rtl="0" algn="l">
              <a:spcBef>
                <a:spcPts val="360"/>
              </a:spcBef>
              <a:spcAft>
                <a:spcPts val="0"/>
              </a:spcAft>
              <a:buNone/>
            </a:pPr>
            <a:r>
              <a:rPr lang="en-US"/>
              <a:t>can be associated with a file, each with three protection bits (read, write, execute),</a:t>
            </a:r>
            <a:endParaRPr/>
          </a:p>
          <a:p>
            <a:pPr indent="0" lvl="0" marL="0" rtl="0" algn="l">
              <a:spcBef>
                <a:spcPts val="360"/>
              </a:spcBef>
              <a:spcAft>
                <a:spcPts val="0"/>
              </a:spcAft>
              <a:buNone/>
            </a:pPr>
            <a:r>
              <a:rPr lang="en-US"/>
              <a:t>offering a flexible mechanism for assigning access rights. A file need not have an</a:t>
            </a:r>
            <a:endParaRPr/>
          </a:p>
          <a:p>
            <a:pPr indent="0" lvl="0" marL="0" rtl="0" algn="l">
              <a:spcBef>
                <a:spcPts val="360"/>
              </a:spcBef>
              <a:spcAft>
                <a:spcPts val="0"/>
              </a:spcAft>
              <a:buNone/>
            </a:pPr>
            <a:r>
              <a:rPr lang="en-US"/>
              <a:t>ACL but may be protected solely by the traditional UNIX file access mechanism.</a:t>
            </a:r>
            <a:endParaRPr/>
          </a:p>
          <a:p>
            <a:pPr indent="0" lvl="0" marL="0" rtl="0" algn="l">
              <a:spcBef>
                <a:spcPts val="360"/>
              </a:spcBef>
              <a:spcAft>
                <a:spcPts val="0"/>
              </a:spcAft>
              <a:buNone/>
            </a:pPr>
            <a:r>
              <a:rPr lang="en-US"/>
              <a:t>FreeBSD files include an additional protection bit that indicates whether the file</a:t>
            </a:r>
            <a:endParaRPr/>
          </a:p>
          <a:p>
            <a:pPr indent="0" lvl="0" marL="0" rtl="0" algn="l">
              <a:spcBef>
                <a:spcPts val="360"/>
              </a:spcBef>
              <a:spcAft>
                <a:spcPts val="0"/>
              </a:spcAft>
              <a:buNone/>
            </a:pPr>
            <a:r>
              <a:rPr lang="en-US"/>
              <a:t>has an extended ACL.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FreeBSD and most UNIX implementations that support extended ACLs use</a:t>
            </a:r>
            <a:endParaRPr/>
          </a:p>
          <a:p>
            <a:pPr indent="0" lvl="0" marL="0" rtl="0" algn="l">
              <a:spcBef>
                <a:spcPts val="360"/>
              </a:spcBef>
              <a:spcAft>
                <a:spcPts val="0"/>
              </a:spcAft>
              <a:buNone/>
            </a:pPr>
            <a:r>
              <a:rPr lang="en-US"/>
              <a:t>the following strategy (e.g., Figure 12.18b ):</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1. The owner class and other class entries in the nine-bit permission field have</a:t>
            </a:r>
            <a:endParaRPr/>
          </a:p>
          <a:p>
            <a:pPr indent="0" lvl="0" marL="0" rtl="0" algn="l">
              <a:spcBef>
                <a:spcPts val="360"/>
              </a:spcBef>
              <a:spcAft>
                <a:spcPts val="0"/>
              </a:spcAft>
              <a:buNone/>
            </a:pPr>
            <a:r>
              <a:rPr lang="en-US"/>
              <a:t>the same meaning as in the minimal ACL case.</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2. The group class entry specifies the permissions for the owner group for this</a:t>
            </a:r>
            <a:endParaRPr/>
          </a:p>
          <a:p>
            <a:pPr indent="0" lvl="0" marL="0" rtl="0" algn="l">
              <a:spcBef>
                <a:spcPts val="360"/>
              </a:spcBef>
              <a:spcAft>
                <a:spcPts val="0"/>
              </a:spcAft>
              <a:buNone/>
            </a:pPr>
            <a:r>
              <a:rPr lang="en-US"/>
              <a:t>file. These permissions represent the maximum permissions that can be</a:t>
            </a:r>
            <a:endParaRPr/>
          </a:p>
          <a:p>
            <a:pPr indent="0" lvl="0" marL="0" rtl="0" algn="l">
              <a:spcBef>
                <a:spcPts val="360"/>
              </a:spcBef>
              <a:spcAft>
                <a:spcPts val="0"/>
              </a:spcAft>
              <a:buNone/>
            </a:pPr>
            <a:r>
              <a:rPr lang="en-US"/>
              <a:t>assigned to named users or named groups, other than the owning user. In this</a:t>
            </a:r>
            <a:endParaRPr/>
          </a:p>
          <a:p>
            <a:pPr indent="0" lvl="0" marL="0" rtl="0" algn="l">
              <a:spcBef>
                <a:spcPts val="360"/>
              </a:spcBef>
              <a:spcAft>
                <a:spcPts val="0"/>
              </a:spcAft>
              <a:buNone/>
            </a:pPr>
            <a:r>
              <a:rPr lang="en-US"/>
              <a:t>latter role, the group class entry functions as a mask.</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3. Additional named users and named groups may be associated with the file,</a:t>
            </a:r>
            <a:endParaRPr/>
          </a:p>
          <a:p>
            <a:pPr indent="0" lvl="0" marL="0" rtl="0" algn="l">
              <a:spcBef>
                <a:spcPts val="360"/>
              </a:spcBef>
              <a:spcAft>
                <a:spcPts val="0"/>
              </a:spcAft>
              <a:buNone/>
            </a:pPr>
            <a:r>
              <a:rPr lang="en-US"/>
              <a:t>each with a three-bit permission field. The permissions listed for a named</a:t>
            </a:r>
            <a:endParaRPr/>
          </a:p>
          <a:p>
            <a:pPr indent="0" lvl="0" marL="0" rtl="0" algn="l">
              <a:spcBef>
                <a:spcPts val="360"/>
              </a:spcBef>
              <a:spcAft>
                <a:spcPts val="0"/>
              </a:spcAft>
              <a:buNone/>
            </a:pPr>
            <a:r>
              <a:rPr lang="en-US"/>
              <a:t>user or named group are compared to the mask field. Any permission</a:t>
            </a:r>
            <a:endParaRPr/>
          </a:p>
          <a:p>
            <a:pPr indent="0" lvl="0" marL="0" rtl="0" algn="l">
              <a:spcBef>
                <a:spcPts val="360"/>
              </a:spcBef>
              <a:spcAft>
                <a:spcPts val="0"/>
              </a:spcAft>
              <a:buNone/>
            </a:pPr>
            <a:r>
              <a:rPr lang="en-US"/>
              <a:t>for the named user or named group that is not present in the mask field is</a:t>
            </a:r>
            <a:endParaRPr/>
          </a:p>
          <a:p>
            <a:pPr indent="0" lvl="0" marL="0" rtl="0" algn="l">
              <a:spcBef>
                <a:spcPts val="360"/>
              </a:spcBef>
              <a:spcAft>
                <a:spcPts val="0"/>
              </a:spcAft>
              <a:buNone/>
            </a:pPr>
            <a:r>
              <a:rPr lang="en-US"/>
              <a:t>disallowed.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When a process requests access to a file system object, two steps are performed.</a:t>
            </a:r>
            <a:endParaRPr/>
          </a:p>
          <a:p>
            <a:pPr indent="0" lvl="0" marL="0" rtl="0" algn="l">
              <a:spcBef>
                <a:spcPts val="360"/>
              </a:spcBef>
              <a:spcAft>
                <a:spcPts val="0"/>
              </a:spcAft>
              <a:buNone/>
            </a:pPr>
            <a:r>
              <a:rPr lang="en-US"/>
              <a:t>Step 1 selects the ACL entry that most closely matches the requesting process. The</a:t>
            </a:r>
            <a:endParaRPr/>
          </a:p>
          <a:p>
            <a:pPr indent="0" lvl="0" marL="0" rtl="0" algn="l">
              <a:spcBef>
                <a:spcPts val="360"/>
              </a:spcBef>
              <a:spcAft>
                <a:spcPts val="0"/>
              </a:spcAft>
              <a:buNone/>
            </a:pPr>
            <a:r>
              <a:rPr lang="en-US"/>
              <a:t>ACL entries are looked at in the following order: owner, named users, (owning or</a:t>
            </a:r>
            <a:endParaRPr/>
          </a:p>
          <a:p>
            <a:pPr indent="0" lvl="0" marL="0" rtl="0" algn="l">
              <a:spcBef>
                <a:spcPts val="360"/>
              </a:spcBef>
              <a:spcAft>
                <a:spcPts val="0"/>
              </a:spcAft>
              <a:buNone/>
            </a:pPr>
            <a:r>
              <a:rPr lang="en-US"/>
              <a:t>named) groups, and others. Only a single entry determines access. Step 2 checks</a:t>
            </a:r>
            <a:endParaRPr/>
          </a:p>
          <a:p>
            <a:pPr indent="0" lvl="0" marL="0" rtl="0" algn="l">
              <a:spcBef>
                <a:spcPts val="360"/>
              </a:spcBef>
              <a:spcAft>
                <a:spcPts val="0"/>
              </a:spcAft>
              <a:buNone/>
            </a:pPr>
            <a:r>
              <a:rPr lang="en-US"/>
              <a:t>if the matching entry contains sufficient permissions. A process can be a member</a:t>
            </a:r>
            <a:endParaRPr/>
          </a:p>
          <a:p>
            <a:pPr indent="0" lvl="0" marL="0" rtl="0" algn="l">
              <a:spcBef>
                <a:spcPts val="360"/>
              </a:spcBef>
              <a:spcAft>
                <a:spcPts val="0"/>
              </a:spcAft>
              <a:buNone/>
            </a:pPr>
            <a:r>
              <a:rPr lang="en-US"/>
              <a:t>in more than one group; so more than one group entry can match. If any of these</a:t>
            </a:r>
            <a:endParaRPr/>
          </a:p>
          <a:p>
            <a:pPr indent="0" lvl="0" marL="0" rtl="0" algn="l">
              <a:spcBef>
                <a:spcPts val="360"/>
              </a:spcBef>
              <a:spcAft>
                <a:spcPts val="0"/>
              </a:spcAft>
              <a:buNone/>
            </a:pPr>
            <a:r>
              <a:rPr lang="en-US"/>
              <a:t>matching group entries contain the requested permissions, one that contains the</a:t>
            </a:r>
            <a:endParaRPr/>
          </a:p>
          <a:p>
            <a:pPr indent="0" lvl="0" marL="0" rtl="0" algn="l">
              <a:spcBef>
                <a:spcPts val="360"/>
              </a:spcBef>
              <a:spcAft>
                <a:spcPts val="0"/>
              </a:spcAft>
              <a:buNone/>
            </a:pPr>
            <a:r>
              <a:rPr lang="en-US"/>
              <a:t>requested permissions is picked (the result is the same no matter which entry is</a:t>
            </a:r>
            <a:endParaRPr/>
          </a:p>
          <a:p>
            <a:pPr indent="0" lvl="0" marL="0" rtl="0" algn="l">
              <a:spcBef>
                <a:spcPts val="360"/>
              </a:spcBef>
              <a:spcAft>
                <a:spcPts val="0"/>
              </a:spcAft>
              <a:buNone/>
            </a:pPr>
            <a:r>
              <a:rPr lang="en-US"/>
              <a:t>picked). If none of the matching group entries contains the requested permissions,</a:t>
            </a:r>
            <a:endParaRPr/>
          </a:p>
          <a:p>
            <a:pPr indent="0" lvl="0" marL="0" rtl="0" algn="l">
              <a:spcBef>
                <a:spcPts val="360"/>
              </a:spcBef>
              <a:spcAft>
                <a:spcPts val="0"/>
              </a:spcAft>
              <a:buNone/>
            </a:pPr>
            <a:r>
              <a:rPr lang="en-US"/>
              <a:t>access will be denied no matter which entry is picked.</a:t>
            </a:r>
            <a:endParaRPr/>
          </a:p>
        </p:txBody>
      </p:sp>
      <p:sp>
        <p:nvSpPr>
          <p:cNvPr id="1320" name="Google Shape;1320;p1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6" name="Shape 1326"/>
        <p:cNvGrpSpPr/>
        <p:nvPr/>
      </p:nvGrpSpPr>
      <p:grpSpPr>
        <a:xfrm>
          <a:off x="0" y="0"/>
          <a:ext cx="0" cy="0"/>
          <a:chOff x="0" y="0"/>
          <a:chExt cx="0" cy="0"/>
        </a:xfrm>
      </p:grpSpPr>
      <p:sp>
        <p:nvSpPr>
          <p:cNvPr id="1327" name="Google Shape;1327;p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28" name="Google Shape;1328;p1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Linux includes a versatile and powerful file-handling facility, designed to support a</a:t>
            </a:r>
            <a:endParaRPr/>
          </a:p>
          <a:p>
            <a:pPr indent="0" lvl="0" marL="0" rtl="0" algn="l">
              <a:spcBef>
                <a:spcPts val="360"/>
              </a:spcBef>
              <a:spcAft>
                <a:spcPts val="0"/>
              </a:spcAft>
              <a:buNone/>
            </a:pPr>
            <a:r>
              <a:rPr lang="en-US"/>
              <a:t>wide variety of file management systems and file structures. The approach taken in</a:t>
            </a:r>
            <a:endParaRPr/>
          </a:p>
          <a:p>
            <a:pPr indent="0" lvl="0" marL="0" rtl="0" algn="l">
              <a:spcBef>
                <a:spcPts val="360"/>
              </a:spcBef>
              <a:spcAft>
                <a:spcPts val="0"/>
              </a:spcAft>
              <a:buNone/>
            </a:pPr>
            <a:r>
              <a:rPr lang="en-US"/>
              <a:t>Linux is to make use of a </a:t>
            </a:r>
            <a:r>
              <a:rPr b="1" lang="en-US"/>
              <a:t>virtual file system (VFS) , which presents a single, uniform</a:t>
            </a:r>
            <a:endParaRPr/>
          </a:p>
          <a:p>
            <a:pPr indent="0" lvl="0" marL="0" rtl="0" algn="l">
              <a:spcBef>
                <a:spcPts val="360"/>
              </a:spcBef>
              <a:spcAft>
                <a:spcPts val="0"/>
              </a:spcAft>
              <a:buNone/>
            </a:pPr>
            <a:r>
              <a:rPr lang="en-US"/>
              <a:t>file system interface to user processes. The VFS defines a common file model that is</a:t>
            </a:r>
            <a:endParaRPr/>
          </a:p>
          <a:p>
            <a:pPr indent="0" lvl="0" marL="0" rtl="0" algn="l">
              <a:spcBef>
                <a:spcPts val="360"/>
              </a:spcBef>
              <a:spcAft>
                <a:spcPts val="0"/>
              </a:spcAft>
              <a:buNone/>
            </a:pPr>
            <a:r>
              <a:rPr lang="en-US"/>
              <a:t>capable of representing any conceivable file system’s general feature and behavior.</a:t>
            </a:r>
            <a:endParaRPr/>
          </a:p>
          <a:p>
            <a:pPr indent="0" lvl="0" marL="0" rtl="0" algn="l">
              <a:spcBef>
                <a:spcPts val="360"/>
              </a:spcBef>
              <a:spcAft>
                <a:spcPts val="0"/>
              </a:spcAft>
              <a:buNone/>
            </a:pPr>
            <a:r>
              <a:rPr lang="en-US"/>
              <a:t>The VFS assumes that files are objects in a computer’s mass storage memory that</a:t>
            </a:r>
            <a:endParaRPr/>
          </a:p>
          <a:p>
            <a:pPr indent="0" lvl="0" marL="0" rtl="0" algn="l">
              <a:spcBef>
                <a:spcPts val="360"/>
              </a:spcBef>
              <a:spcAft>
                <a:spcPts val="0"/>
              </a:spcAft>
              <a:buNone/>
            </a:pPr>
            <a:r>
              <a:rPr lang="en-US"/>
              <a:t>share basic properties regardless of the target file system or the underlying processor</a:t>
            </a:r>
            <a:endParaRPr/>
          </a:p>
          <a:p>
            <a:pPr indent="0" lvl="0" marL="0" rtl="0" algn="l">
              <a:spcBef>
                <a:spcPts val="360"/>
              </a:spcBef>
              <a:spcAft>
                <a:spcPts val="0"/>
              </a:spcAft>
              <a:buNone/>
            </a:pPr>
            <a:r>
              <a:rPr lang="en-US"/>
              <a:t>hardware. Files have symbolic names that allow them to be uniquely identified</a:t>
            </a:r>
            <a:endParaRPr/>
          </a:p>
          <a:p>
            <a:pPr indent="0" lvl="0" marL="0" rtl="0" algn="l">
              <a:spcBef>
                <a:spcPts val="360"/>
              </a:spcBef>
              <a:spcAft>
                <a:spcPts val="0"/>
              </a:spcAft>
              <a:buNone/>
            </a:pPr>
            <a:r>
              <a:rPr lang="en-US"/>
              <a:t>within a specific directory within the file system. A file has an owner, protection</a:t>
            </a:r>
            <a:endParaRPr/>
          </a:p>
          <a:p>
            <a:pPr indent="0" lvl="0" marL="0" rtl="0" algn="l">
              <a:spcBef>
                <a:spcPts val="360"/>
              </a:spcBef>
              <a:spcAft>
                <a:spcPts val="0"/>
              </a:spcAft>
              <a:buNone/>
            </a:pPr>
            <a:r>
              <a:rPr lang="en-US"/>
              <a:t>against unauthorized access or modification, and a variety of other properties. A</a:t>
            </a:r>
            <a:endParaRPr/>
          </a:p>
          <a:p>
            <a:pPr indent="0" lvl="0" marL="0" rtl="0" algn="l">
              <a:spcBef>
                <a:spcPts val="360"/>
              </a:spcBef>
              <a:spcAft>
                <a:spcPts val="0"/>
              </a:spcAft>
              <a:buNone/>
            </a:pPr>
            <a:r>
              <a:rPr lang="en-US"/>
              <a:t>file may be created, read from, written to, or deleted. For any specific file system, a</a:t>
            </a:r>
            <a:endParaRPr/>
          </a:p>
          <a:p>
            <a:pPr indent="0" lvl="0" marL="0" rtl="0" algn="l">
              <a:spcBef>
                <a:spcPts val="360"/>
              </a:spcBef>
              <a:spcAft>
                <a:spcPts val="0"/>
              </a:spcAft>
              <a:buNone/>
            </a:pPr>
            <a:r>
              <a:rPr lang="en-US"/>
              <a:t>mapping module is needed to transform the characteristics of the real file system to</a:t>
            </a:r>
            <a:endParaRPr/>
          </a:p>
          <a:p>
            <a:pPr indent="0" lvl="0" marL="0" rtl="0" algn="l">
              <a:spcBef>
                <a:spcPts val="360"/>
              </a:spcBef>
              <a:spcAft>
                <a:spcPts val="0"/>
              </a:spcAft>
              <a:buNone/>
            </a:pPr>
            <a:r>
              <a:rPr lang="en-US"/>
              <a:t>the characteristics expected by the virtual file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Figure 12.19 indicates the key ingredients of the Linux file system strategy. A</a:t>
            </a:r>
            <a:endParaRPr/>
          </a:p>
          <a:p>
            <a:pPr indent="0" lvl="0" marL="0" rtl="0" algn="l">
              <a:spcBef>
                <a:spcPts val="360"/>
              </a:spcBef>
              <a:spcAft>
                <a:spcPts val="0"/>
              </a:spcAft>
              <a:buNone/>
            </a:pPr>
            <a:r>
              <a:rPr lang="en-US"/>
              <a:t>user process issues a file system call (e.g., read) using the VFS file scheme. The VFS</a:t>
            </a:r>
            <a:endParaRPr/>
          </a:p>
          <a:p>
            <a:pPr indent="0" lvl="0" marL="0" rtl="0" algn="l">
              <a:spcBef>
                <a:spcPts val="360"/>
              </a:spcBef>
              <a:spcAft>
                <a:spcPts val="0"/>
              </a:spcAft>
              <a:buNone/>
            </a:pPr>
            <a:r>
              <a:rPr lang="en-US"/>
              <a:t>converts this into an internal (to the kernel) file system call that is passed to a mapping</a:t>
            </a:r>
            <a:endParaRPr/>
          </a:p>
          <a:p>
            <a:pPr indent="0" lvl="0" marL="0" rtl="0" algn="l">
              <a:spcBef>
                <a:spcPts val="360"/>
              </a:spcBef>
              <a:spcAft>
                <a:spcPts val="0"/>
              </a:spcAft>
              <a:buNone/>
            </a:pPr>
            <a:r>
              <a:rPr lang="en-US"/>
              <a:t>function for a specific file system [e.g., IBM’s Journaling File System (JFS)]. In</a:t>
            </a:r>
            <a:endParaRPr/>
          </a:p>
          <a:p>
            <a:pPr indent="0" lvl="0" marL="0" rtl="0" algn="l">
              <a:spcBef>
                <a:spcPts val="360"/>
              </a:spcBef>
              <a:spcAft>
                <a:spcPts val="0"/>
              </a:spcAft>
              <a:buNone/>
            </a:pPr>
            <a:r>
              <a:rPr lang="en-US"/>
              <a:t>most cases, the mapping function is simply a mapping of file system functional calls</a:t>
            </a:r>
            <a:endParaRPr/>
          </a:p>
          <a:p>
            <a:pPr indent="0" lvl="0" marL="0" rtl="0" algn="l">
              <a:spcBef>
                <a:spcPts val="360"/>
              </a:spcBef>
              <a:spcAft>
                <a:spcPts val="0"/>
              </a:spcAft>
              <a:buNone/>
            </a:pPr>
            <a:r>
              <a:rPr lang="en-US"/>
              <a:t>from one scheme to another. In some cases, the mapping function is more complex.</a:t>
            </a:r>
            <a:endParaRPr/>
          </a:p>
          <a:p>
            <a:pPr indent="0" lvl="0" marL="0" rtl="0" algn="l">
              <a:spcBef>
                <a:spcPts val="360"/>
              </a:spcBef>
              <a:spcAft>
                <a:spcPts val="0"/>
              </a:spcAft>
              <a:buNone/>
            </a:pPr>
            <a:r>
              <a:rPr lang="en-US"/>
              <a:t>For example, some file systems use a file allocation table (FAT), which stores the</a:t>
            </a:r>
            <a:endParaRPr/>
          </a:p>
          <a:p>
            <a:pPr indent="0" lvl="0" marL="0" rtl="0" algn="l">
              <a:spcBef>
                <a:spcPts val="360"/>
              </a:spcBef>
              <a:spcAft>
                <a:spcPts val="0"/>
              </a:spcAft>
              <a:buNone/>
            </a:pPr>
            <a:r>
              <a:rPr lang="en-US"/>
              <a:t>position of each file in the directory tree. In these file systems, directories are not</a:t>
            </a:r>
            <a:endParaRPr/>
          </a:p>
          <a:p>
            <a:pPr indent="0" lvl="0" marL="0" rtl="0" algn="l">
              <a:spcBef>
                <a:spcPts val="360"/>
              </a:spcBef>
              <a:spcAft>
                <a:spcPts val="0"/>
              </a:spcAft>
              <a:buNone/>
            </a:pPr>
            <a:r>
              <a:rPr lang="en-US"/>
              <a:t>files. For such file systems, the mapping function must be able to construct dynamically,</a:t>
            </a:r>
            <a:endParaRPr/>
          </a:p>
          <a:p>
            <a:pPr indent="0" lvl="0" marL="0" rtl="0" algn="l">
              <a:spcBef>
                <a:spcPts val="360"/>
              </a:spcBef>
              <a:spcAft>
                <a:spcPts val="0"/>
              </a:spcAft>
              <a:buNone/>
            </a:pPr>
            <a:r>
              <a:rPr lang="en-US"/>
              <a:t>and when needed, the files corresponding to the directories. In any case, the</a:t>
            </a:r>
            <a:endParaRPr/>
          </a:p>
          <a:p>
            <a:pPr indent="0" lvl="0" marL="0" rtl="0" algn="l">
              <a:spcBef>
                <a:spcPts val="360"/>
              </a:spcBef>
              <a:spcAft>
                <a:spcPts val="0"/>
              </a:spcAft>
              <a:buNone/>
            </a:pPr>
            <a:r>
              <a:rPr lang="en-US"/>
              <a:t>original user file system call is translated into a call that is native to the target file</a:t>
            </a:r>
            <a:endParaRPr/>
          </a:p>
          <a:p>
            <a:pPr indent="0" lvl="0" marL="0" rtl="0" algn="l">
              <a:spcBef>
                <a:spcPts val="360"/>
              </a:spcBef>
              <a:spcAft>
                <a:spcPts val="0"/>
              </a:spcAft>
              <a:buNone/>
            </a:pPr>
            <a:r>
              <a:rPr lang="en-US"/>
              <a:t>system. The target file system software is then invoked to perform the requested</a:t>
            </a:r>
            <a:endParaRPr/>
          </a:p>
          <a:p>
            <a:pPr indent="0" lvl="0" marL="0" rtl="0" algn="l">
              <a:spcBef>
                <a:spcPts val="360"/>
              </a:spcBef>
              <a:spcAft>
                <a:spcPts val="0"/>
              </a:spcAft>
              <a:buNone/>
            </a:pPr>
            <a:r>
              <a:rPr lang="en-US"/>
              <a:t>function on a file or directory under its control and secondary storage. The results</a:t>
            </a:r>
            <a:endParaRPr/>
          </a:p>
          <a:p>
            <a:pPr indent="0" lvl="0" marL="0" rtl="0" algn="l">
              <a:spcBef>
                <a:spcPts val="360"/>
              </a:spcBef>
              <a:spcAft>
                <a:spcPts val="0"/>
              </a:spcAft>
              <a:buNone/>
            </a:pPr>
            <a:r>
              <a:rPr lang="en-US"/>
              <a:t>of the operation are then communicated back to the user in a similar fashion.</a:t>
            </a:r>
            <a:endParaRPr/>
          </a:p>
        </p:txBody>
      </p:sp>
      <p:sp>
        <p:nvSpPr>
          <p:cNvPr id="1329" name="Google Shape;1329;p1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5" name="Shape 1335"/>
        <p:cNvGrpSpPr/>
        <p:nvPr/>
      </p:nvGrpSpPr>
      <p:grpSpPr>
        <a:xfrm>
          <a:off x="0" y="0"/>
          <a:ext cx="0" cy="0"/>
          <a:chOff x="0" y="0"/>
          <a:chExt cx="0" cy="0"/>
        </a:xfrm>
      </p:grpSpPr>
      <p:sp>
        <p:nvSpPr>
          <p:cNvPr id="1336" name="Google Shape;1336;p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37" name="Google Shape;1337;p1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Linux includes a versatile and powerful file-handling facility, designed to support a</a:t>
            </a:r>
            <a:endParaRPr/>
          </a:p>
          <a:p>
            <a:pPr indent="0" lvl="0" marL="0" rtl="0" algn="l">
              <a:spcBef>
                <a:spcPts val="360"/>
              </a:spcBef>
              <a:spcAft>
                <a:spcPts val="0"/>
              </a:spcAft>
              <a:buNone/>
            </a:pPr>
            <a:r>
              <a:rPr lang="en-US"/>
              <a:t>wide variety of file management systems and file structures. The approach taken in</a:t>
            </a:r>
            <a:endParaRPr/>
          </a:p>
          <a:p>
            <a:pPr indent="0" lvl="0" marL="0" rtl="0" algn="l">
              <a:spcBef>
                <a:spcPts val="360"/>
              </a:spcBef>
              <a:spcAft>
                <a:spcPts val="0"/>
              </a:spcAft>
              <a:buNone/>
            </a:pPr>
            <a:r>
              <a:rPr lang="en-US"/>
              <a:t>Linux is to make use of a </a:t>
            </a:r>
            <a:r>
              <a:rPr b="1" lang="en-US"/>
              <a:t>virtual file system (VFS) , which presents a single, uniform</a:t>
            </a:r>
            <a:endParaRPr/>
          </a:p>
          <a:p>
            <a:pPr indent="0" lvl="0" marL="0" rtl="0" algn="l">
              <a:spcBef>
                <a:spcPts val="360"/>
              </a:spcBef>
              <a:spcAft>
                <a:spcPts val="0"/>
              </a:spcAft>
              <a:buNone/>
            </a:pPr>
            <a:r>
              <a:rPr lang="en-US"/>
              <a:t>file system interface to user processes. The VFS defines a common file model that is</a:t>
            </a:r>
            <a:endParaRPr/>
          </a:p>
          <a:p>
            <a:pPr indent="0" lvl="0" marL="0" rtl="0" algn="l">
              <a:spcBef>
                <a:spcPts val="360"/>
              </a:spcBef>
              <a:spcAft>
                <a:spcPts val="0"/>
              </a:spcAft>
              <a:buNone/>
            </a:pPr>
            <a:r>
              <a:rPr lang="en-US"/>
              <a:t>capable of representing any conceivable file system’s general feature and behavior.</a:t>
            </a:r>
            <a:endParaRPr/>
          </a:p>
          <a:p>
            <a:pPr indent="0" lvl="0" marL="0" rtl="0" algn="l">
              <a:spcBef>
                <a:spcPts val="360"/>
              </a:spcBef>
              <a:spcAft>
                <a:spcPts val="0"/>
              </a:spcAft>
              <a:buNone/>
            </a:pPr>
            <a:r>
              <a:rPr lang="en-US"/>
              <a:t>The VFS assumes that files are objects in a computer’s mass storage memory that</a:t>
            </a:r>
            <a:endParaRPr/>
          </a:p>
          <a:p>
            <a:pPr indent="0" lvl="0" marL="0" rtl="0" algn="l">
              <a:spcBef>
                <a:spcPts val="360"/>
              </a:spcBef>
              <a:spcAft>
                <a:spcPts val="0"/>
              </a:spcAft>
              <a:buNone/>
            </a:pPr>
            <a:r>
              <a:rPr lang="en-US"/>
              <a:t>share basic properties regardless of the target file system or the underlying processor</a:t>
            </a:r>
            <a:endParaRPr/>
          </a:p>
          <a:p>
            <a:pPr indent="0" lvl="0" marL="0" rtl="0" algn="l">
              <a:spcBef>
                <a:spcPts val="360"/>
              </a:spcBef>
              <a:spcAft>
                <a:spcPts val="0"/>
              </a:spcAft>
              <a:buNone/>
            </a:pPr>
            <a:r>
              <a:rPr lang="en-US"/>
              <a:t>hardware. Files have symbolic names that allow them to be uniquely identified</a:t>
            </a:r>
            <a:endParaRPr/>
          </a:p>
          <a:p>
            <a:pPr indent="0" lvl="0" marL="0" rtl="0" algn="l">
              <a:spcBef>
                <a:spcPts val="360"/>
              </a:spcBef>
              <a:spcAft>
                <a:spcPts val="0"/>
              </a:spcAft>
              <a:buNone/>
            </a:pPr>
            <a:r>
              <a:rPr lang="en-US"/>
              <a:t>within a specific directory within the file system. A file has an owner, protection</a:t>
            </a:r>
            <a:endParaRPr/>
          </a:p>
          <a:p>
            <a:pPr indent="0" lvl="0" marL="0" rtl="0" algn="l">
              <a:spcBef>
                <a:spcPts val="360"/>
              </a:spcBef>
              <a:spcAft>
                <a:spcPts val="0"/>
              </a:spcAft>
              <a:buNone/>
            </a:pPr>
            <a:r>
              <a:rPr lang="en-US"/>
              <a:t>against unauthorized access or modification, and a variety of other properties. A</a:t>
            </a:r>
            <a:endParaRPr/>
          </a:p>
          <a:p>
            <a:pPr indent="0" lvl="0" marL="0" rtl="0" algn="l">
              <a:spcBef>
                <a:spcPts val="360"/>
              </a:spcBef>
              <a:spcAft>
                <a:spcPts val="0"/>
              </a:spcAft>
              <a:buNone/>
            </a:pPr>
            <a:r>
              <a:rPr lang="en-US"/>
              <a:t>file may be created, read from, written to, or deleted. For any specific file system, a</a:t>
            </a:r>
            <a:endParaRPr/>
          </a:p>
          <a:p>
            <a:pPr indent="0" lvl="0" marL="0" rtl="0" algn="l">
              <a:spcBef>
                <a:spcPts val="360"/>
              </a:spcBef>
              <a:spcAft>
                <a:spcPts val="0"/>
              </a:spcAft>
              <a:buNone/>
            </a:pPr>
            <a:r>
              <a:rPr lang="en-US"/>
              <a:t>mapping module is needed to transform the characteristics of the real file system to</a:t>
            </a:r>
            <a:endParaRPr/>
          </a:p>
          <a:p>
            <a:pPr indent="0" lvl="0" marL="0" rtl="0" algn="l">
              <a:spcBef>
                <a:spcPts val="360"/>
              </a:spcBef>
              <a:spcAft>
                <a:spcPts val="0"/>
              </a:spcAft>
              <a:buNone/>
            </a:pPr>
            <a:r>
              <a:rPr lang="en-US"/>
              <a:t>the characteristics expected by the virtual file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Figure 12.19 indicates the key ingredients of the Linux file system strategy. A</a:t>
            </a:r>
            <a:endParaRPr/>
          </a:p>
          <a:p>
            <a:pPr indent="0" lvl="0" marL="0" rtl="0" algn="l">
              <a:spcBef>
                <a:spcPts val="360"/>
              </a:spcBef>
              <a:spcAft>
                <a:spcPts val="0"/>
              </a:spcAft>
              <a:buNone/>
            </a:pPr>
            <a:r>
              <a:rPr lang="en-US"/>
              <a:t>user process issues a file system call (e.g., read) using the VFS file scheme. The VFS</a:t>
            </a:r>
            <a:endParaRPr/>
          </a:p>
          <a:p>
            <a:pPr indent="0" lvl="0" marL="0" rtl="0" algn="l">
              <a:spcBef>
                <a:spcPts val="360"/>
              </a:spcBef>
              <a:spcAft>
                <a:spcPts val="0"/>
              </a:spcAft>
              <a:buNone/>
            </a:pPr>
            <a:r>
              <a:rPr lang="en-US"/>
              <a:t>converts this into an internal (to the kernel) file system call that is passed to a mapping</a:t>
            </a:r>
            <a:endParaRPr/>
          </a:p>
          <a:p>
            <a:pPr indent="0" lvl="0" marL="0" rtl="0" algn="l">
              <a:spcBef>
                <a:spcPts val="360"/>
              </a:spcBef>
              <a:spcAft>
                <a:spcPts val="0"/>
              </a:spcAft>
              <a:buNone/>
            </a:pPr>
            <a:r>
              <a:rPr lang="en-US"/>
              <a:t>function for a specific file system [e.g., IBM’s Journaling File System (JFS)]. In</a:t>
            </a:r>
            <a:endParaRPr/>
          </a:p>
          <a:p>
            <a:pPr indent="0" lvl="0" marL="0" rtl="0" algn="l">
              <a:spcBef>
                <a:spcPts val="360"/>
              </a:spcBef>
              <a:spcAft>
                <a:spcPts val="0"/>
              </a:spcAft>
              <a:buNone/>
            </a:pPr>
            <a:r>
              <a:rPr lang="en-US"/>
              <a:t>most cases, the mapping function is simply a mapping of file system functional calls</a:t>
            </a:r>
            <a:endParaRPr/>
          </a:p>
          <a:p>
            <a:pPr indent="0" lvl="0" marL="0" rtl="0" algn="l">
              <a:spcBef>
                <a:spcPts val="360"/>
              </a:spcBef>
              <a:spcAft>
                <a:spcPts val="0"/>
              </a:spcAft>
              <a:buNone/>
            </a:pPr>
            <a:r>
              <a:rPr lang="en-US"/>
              <a:t>from one scheme to another. In some cases, the mapping function is more complex.</a:t>
            </a:r>
            <a:endParaRPr/>
          </a:p>
          <a:p>
            <a:pPr indent="0" lvl="0" marL="0" rtl="0" algn="l">
              <a:spcBef>
                <a:spcPts val="360"/>
              </a:spcBef>
              <a:spcAft>
                <a:spcPts val="0"/>
              </a:spcAft>
              <a:buNone/>
            </a:pPr>
            <a:r>
              <a:rPr lang="en-US"/>
              <a:t>For example, some file systems use a file allocation table (FAT), which stores the</a:t>
            </a:r>
            <a:endParaRPr/>
          </a:p>
          <a:p>
            <a:pPr indent="0" lvl="0" marL="0" rtl="0" algn="l">
              <a:spcBef>
                <a:spcPts val="360"/>
              </a:spcBef>
              <a:spcAft>
                <a:spcPts val="0"/>
              </a:spcAft>
              <a:buNone/>
            </a:pPr>
            <a:r>
              <a:rPr lang="en-US"/>
              <a:t>position of each file in the directory tree. In these file systems, directories are not</a:t>
            </a:r>
            <a:endParaRPr/>
          </a:p>
          <a:p>
            <a:pPr indent="0" lvl="0" marL="0" rtl="0" algn="l">
              <a:spcBef>
                <a:spcPts val="360"/>
              </a:spcBef>
              <a:spcAft>
                <a:spcPts val="0"/>
              </a:spcAft>
              <a:buNone/>
            </a:pPr>
            <a:r>
              <a:rPr lang="en-US"/>
              <a:t>files. For such file systems, the mapping function must be able to construct dynamically,</a:t>
            </a:r>
            <a:endParaRPr/>
          </a:p>
          <a:p>
            <a:pPr indent="0" lvl="0" marL="0" rtl="0" algn="l">
              <a:spcBef>
                <a:spcPts val="360"/>
              </a:spcBef>
              <a:spcAft>
                <a:spcPts val="0"/>
              </a:spcAft>
              <a:buNone/>
            </a:pPr>
            <a:r>
              <a:rPr lang="en-US"/>
              <a:t>and when needed, the files corresponding to the directories. In any case, the</a:t>
            </a:r>
            <a:endParaRPr/>
          </a:p>
          <a:p>
            <a:pPr indent="0" lvl="0" marL="0" rtl="0" algn="l">
              <a:spcBef>
                <a:spcPts val="360"/>
              </a:spcBef>
              <a:spcAft>
                <a:spcPts val="0"/>
              </a:spcAft>
              <a:buNone/>
            </a:pPr>
            <a:r>
              <a:rPr lang="en-US"/>
              <a:t>original user file system call is translated into a call that is native to the target file</a:t>
            </a:r>
            <a:endParaRPr/>
          </a:p>
          <a:p>
            <a:pPr indent="0" lvl="0" marL="0" rtl="0" algn="l">
              <a:spcBef>
                <a:spcPts val="360"/>
              </a:spcBef>
              <a:spcAft>
                <a:spcPts val="0"/>
              </a:spcAft>
              <a:buNone/>
            </a:pPr>
            <a:r>
              <a:rPr lang="en-US"/>
              <a:t>system. The target file system software is then invoked to perform the requested</a:t>
            </a:r>
            <a:endParaRPr/>
          </a:p>
          <a:p>
            <a:pPr indent="0" lvl="0" marL="0" rtl="0" algn="l">
              <a:spcBef>
                <a:spcPts val="360"/>
              </a:spcBef>
              <a:spcAft>
                <a:spcPts val="0"/>
              </a:spcAft>
              <a:buNone/>
            </a:pPr>
            <a:r>
              <a:rPr lang="en-US"/>
              <a:t>function on a file or directory under its control and secondary storage. The results</a:t>
            </a:r>
            <a:endParaRPr/>
          </a:p>
          <a:p>
            <a:pPr indent="0" lvl="0" marL="0" rtl="0" algn="l">
              <a:spcBef>
                <a:spcPts val="360"/>
              </a:spcBef>
              <a:spcAft>
                <a:spcPts val="0"/>
              </a:spcAft>
              <a:buNone/>
            </a:pPr>
            <a:r>
              <a:rPr lang="en-US"/>
              <a:t>of the operation are then communicated back to the user in a similar fashion.</a:t>
            </a:r>
            <a:endParaRPr/>
          </a:p>
        </p:txBody>
      </p:sp>
      <p:sp>
        <p:nvSpPr>
          <p:cNvPr id="1338" name="Google Shape;1338;p1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p1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46" name="Google Shape;1346;p1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Linux includes a versatile and powerful file-handling facility, designed to support a</a:t>
            </a:r>
            <a:endParaRPr/>
          </a:p>
          <a:p>
            <a:pPr indent="0" lvl="0" marL="0" rtl="0" algn="l">
              <a:spcBef>
                <a:spcPts val="360"/>
              </a:spcBef>
              <a:spcAft>
                <a:spcPts val="0"/>
              </a:spcAft>
              <a:buNone/>
            </a:pPr>
            <a:r>
              <a:rPr lang="en-US"/>
              <a:t>wide variety of file management systems and file structures. The approach taken in</a:t>
            </a:r>
            <a:endParaRPr/>
          </a:p>
          <a:p>
            <a:pPr indent="0" lvl="0" marL="0" rtl="0" algn="l">
              <a:spcBef>
                <a:spcPts val="360"/>
              </a:spcBef>
              <a:spcAft>
                <a:spcPts val="0"/>
              </a:spcAft>
              <a:buNone/>
            </a:pPr>
            <a:r>
              <a:rPr lang="en-US"/>
              <a:t>Linux is to make use of a </a:t>
            </a:r>
            <a:r>
              <a:rPr b="1" lang="en-US"/>
              <a:t>virtual file system (VFS) , which presents a single, uniform</a:t>
            </a:r>
            <a:endParaRPr/>
          </a:p>
          <a:p>
            <a:pPr indent="0" lvl="0" marL="0" rtl="0" algn="l">
              <a:spcBef>
                <a:spcPts val="360"/>
              </a:spcBef>
              <a:spcAft>
                <a:spcPts val="0"/>
              </a:spcAft>
              <a:buNone/>
            </a:pPr>
            <a:r>
              <a:rPr lang="en-US"/>
              <a:t>file system interface to user processes. The VFS defines a common file model that is</a:t>
            </a:r>
            <a:endParaRPr/>
          </a:p>
          <a:p>
            <a:pPr indent="0" lvl="0" marL="0" rtl="0" algn="l">
              <a:spcBef>
                <a:spcPts val="360"/>
              </a:spcBef>
              <a:spcAft>
                <a:spcPts val="0"/>
              </a:spcAft>
              <a:buNone/>
            </a:pPr>
            <a:r>
              <a:rPr lang="en-US"/>
              <a:t>capable of representing any conceivable file system’s general feature and behavior.</a:t>
            </a:r>
            <a:endParaRPr/>
          </a:p>
          <a:p>
            <a:pPr indent="0" lvl="0" marL="0" rtl="0" algn="l">
              <a:spcBef>
                <a:spcPts val="360"/>
              </a:spcBef>
              <a:spcAft>
                <a:spcPts val="0"/>
              </a:spcAft>
              <a:buNone/>
            </a:pPr>
            <a:r>
              <a:rPr lang="en-US"/>
              <a:t>The VFS assumes that files are objects in a computer’s mass storage memory that</a:t>
            </a:r>
            <a:endParaRPr/>
          </a:p>
          <a:p>
            <a:pPr indent="0" lvl="0" marL="0" rtl="0" algn="l">
              <a:spcBef>
                <a:spcPts val="360"/>
              </a:spcBef>
              <a:spcAft>
                <a:spcPts val="0"/>
              </a:spcAft>
              <a:buNone/>
            </a:pPr>
            <a:r>
              <a:rPr lang="en-US"/>
              <a:t>share basic properties regardless of the target file system or the underlying processor</a:t>
            </a:r>
            <a:endParaRPr/>
          </a:p>
          <a:p>
            <a:pPr indent="0" lvl="0" marL="0" rtl="0" algn="l">
              <a:spcBef>
                <a:spcPts val="360"/>
              </a:spcBef>
              <a:spcAft>
                <a:spcPts val="0"/>
              </a:spcAft>
              <a:buNone/>
            </a:pPr>
            <a:r>
              <a:rPr lang="en-US"/>
              <a:t>hardware. Files have symbolic names that allow them to be uniquely identified</a:t>
            </a:r>
            <a:endParaRPr/>
          </a:p>
          <a:p>
            <a:pPr indent="0" lvl="0" marL="0" rtl="0" algn="l">
              <a:spcBef>
                <a:spcPts val="360"/>
              </a:spcBef>
              <a:spcAft>
                <a:spcPts val="0"/>
              </a:spcAft>
              <a:buNone/>
            </a:pPr>
            <a:r>
              <a:rPr lang="en-US"/>
              <a:t>within a specific directory within the file system. A file has an owner, protection</a:t>
            </a:r>
            <a:endParaRPr/>
          </a:p>
          <a:p>
            <a:pPr indent="0" lvl="0" marL="0" rtl="0" algn="l">
              <a:spcBef>
                <a:spcPts val="360"/>
              </a:spcBef>
              <a:spcAft>
                <a:spcPts val="0"/>
              </a:spcAft>
              <a:buNone/>
            </a:pPr>
            <a:r>
              <a:rPr lang="en-US"/>
              <a:t>against unauthorized access or modification, and a variety of other properties. A</a:t>
            </a:r>
            <a:endParaRPr/>
          </a:p>
          <a:p>
            <a:pPr indent="0" lvl="0" marL="0" rtl="0" algn="l">
              <a:spcBef>
                <a:spcPts val="360"/>
              </a:spcBef>
              <a:spcAft>
                <a:spcPts val="0"/>
              </a:spcAft>
              <a:buNone/>
            </a:pPr>
            <a:r>
              <a:rPr lang="en-US"/>
              <a:t>file may be created, read from, written to, or deleted. For any specific file system, a</a:t>
            </a:r>
            <a:endParaRPr/>
          </a:p>
          <a:p>
            <a:pPr indent="0" lvl="0" marL="0" rtl="0" algn="l">
              <a:spcBef>
                <a:spcPts val="360"/>
              </a:spcBef>
              <a:spcAft>
                <a:spcPts val="0"/>
              </a:spcAft>
              <a:buNone/>
            </a:pPr>
            <a:r>
              <a:rPr lang="en-US"/>
              <a:t>mapping module is needed to transform the characteristics of the real file system to</a:t>
            </a:r>
            <a:endParaRPr/>
          </a:p>
          <a:p>
            <a:pPr indent="0" lvl="0" marL="0" rtl="0" algn="l">
              <a:spcBef>
                <a:spcPts val="360"/>
              </a:spcBef>
              <a:spcAft>
                <a:spcPts val="0"/>
              </a:spcAft>
              <a:buNone/>
            </a:pPr>
            <a:r>
              <a:rPr lang="en-US"/>
              <a:t>the characteristics expected by the virtual file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Figure 12.19 indicates the key ingredients of the Linux file system strategy. A</a:t>
            </a:r>
            <a:endParaRPr/>
          </a:p>
          <a:p>
            <a:pPr indent="0" lvl="0" marL="0" rtl="0" algn="l">
              <a:spcBef>
                <a:spcPts val="360"/>
              </a:spcBef>
              <a:spcAft>
                <a:spcPts val="0"/>
              </a:spcAft>
              <a:buNone/>
            </a:pPr>
            <a:r>
              <a:rPr lang="en-US"/>
              <a:t>user process issues a file system call (e.g., read) using the VFS file scheme. The VFS</a:t>
            </a:r>
            <a:endParaRPr/>
          </a:p>
          <a:p>
            <a:pPr indent="0" lvl="0" marL="0" rtl="0" algn="l">
              <a:spcBef>
                <a:spcPts val="360"/>
              </a:spcBef>
              <a:spcAft>
                <a:spcPts val="0"/>
              </a:spcAft>
              <a:buNone/>
            </a:pPr>
            <a:r>
              <a:rPr lang="en-US"/>
              <a:t>converts this into an internal (to the kernel) file system call that is passed to a mapping</a:t>
            </a:r>
            <a:endParaRPr/>
          </a:p>
          <a:p>
            <a:pPr indent="0" lvl="0" marL="0" rtl="0" algn="l">
              <a:spcBef>
                <a:spcPts val="360"/>
              </a:spcBef>
              <a:spcAft>
                <a:spcPts val="0"/>
              </a:spcAft>
              <a:buNone/>
            </a:pPr>
            <a:r>
              <a:rPr lang="en-US"/>
              <a:t>function for a specific file system [e.g., IBM’s Journaling File System (JFS)]. In</a:t>
            </a:r>
            <a:endParaRPr/>
          </a:p>
          <a:p>
            <a:pPr indent="0" lvl="0" marL="0" rtl="0" algn="l">
              <a:spcBef>
                <a:spcPts val="360"/>
              </a:spcBef>
              <a:spcAft>
                <a:spcPts val="0"/>
              </a:spcAft>
              <a:buNone/>
            </a:pPr>
            <a:r>
              <a:rPr lang="en-US"/>
              <a:t>most cases, the mapping function is simply a mapping of file system functional calls</a:t>
            </a:r>
            <a:endParaRPr/>
          </a:p>
          <a:p>
            <a:pPr indent="0" lvl="0" marL="0" rtl="0" algn="l">
              <a:spcBef>
                <a:spcPts val="360"/>
              </a:spcBef>
              <a:spcAft>
                <a:spcPts val="0"/>
              </a:spcAft>
              <a:buNone/>
            </a:pPr>
            <a:r>
              <a:rPr lang="en-US"/>
              <a:t>from one scheme to another. In some cases, the mapping function is more complex.</a:t>
            </a:r>
            <a:endParaRPr/>
          </a:p>
          <a:p>
            <a:pPr indent="0" lvl="0" marL="0" rtl="0" algn="l">
              <a:spcBef>
                <a:spcPts val="360"/>
              </a:spcBef>
              <a:spcAft>
                <a:spcPts val="0"/>
              </a:spcAft>
              <a:buNone/>
            </a:pPr>
            <a:r>
              <a:rPr lang="en-US"/>
              <a:t>For example, some file systems use a file allocation table (FAT), which stores the</a:t>
            </a:r>
            <a:endParaRPr/>
          </a:p>
          <a:p>
            <a:pPr indent="0" lvl="0" marL="0" rtl="0" algn="l">
              <a:spcBef>
                <a:spcPts val="360"/>
              </a:spcBef>
              <a:spcAft>
                <a:spcPts val="0"/>
              </a:spcAft>
              <a:buNone/>
            </a:pPr>
            <a:r>
              <a:rPr lang="en-US"/>
              <a:t>position of each file in the directory tree. In these file systems, directories are not</a:t>
            </a:r>
            <a:endParaRPr/>
          </a:p>
          <a:p>
            <a:pPr indent="0" lvl="0" marL="0" rtl="0" algn="l">
              <a:spcBef>
                <a:spcPts val="360"/>
              </a:spcBef>
              <a:spcAft>
                <a:spcPts val="0"/>
              </a:spcAft>
              <a:buNone/>
            </a:pPr>
            <a:r>
              <a:rPr lang="en-US"/>
              <a:t>files. For such file systems, the mapping function must be able to construct dynamically,</a:t>
            </a:r>
            <a:endParaRPr/>
          </a:p>
          <a:p>
            <a:pPr indent="0" lvl="0" marL="0" rtl="0" algn="l">
              <a:spcBef>
                <a:spcPts val="360"/>
              </a:spcBef>
              <a:spcAft>
                <a:spcPts val="0"/>
              </a:spcAft>
              <a:buNone/>
            </a:pPr>
            <a:r>
              <a:rPr lang="en-US"/>
              <a:t>and when needed, the files corresponding to the directories. In any case, the</a:t>
            </a:r>
            <a:endParaRPr/>
          </a:p>
          <a:p>
            <a:pPr indent="0" lvl="0" marL="0" rtl="0" algn="l">
              <a:spcBef>
                <a:spcPts val="360"/>
              </a:spcBef>
              <a:spcAft>
                <a:spcPts val="0"/>
              </a:spcAft>
              <a:buNone/>
            </a:pPr>
            <a:r>
              <a:rPr lang="en-US"/>
              <a:t>original user file system call is translated into a call that is native to the target file</a:t>
            </a:r>
            <a:endParaRPr/>
          </a:p>
          <a:p>
            <a:pPr indent="0" lvl="0" marL="0" rtl="0" algn="l">
              <a:spcBef>
                <a:spcPts val="360"/>
              </a:spcBef>
              <a:spcAft>
                <a:spcPts val="0"/>
              </a:spcAft>
              <a:buNone/>
            </a:pPr>
            <a:r>
              <a:rPr lang="en-US"/>
              <a:t>system. The target file system software is then invoked to perform the requested</a:t>
            </a:r>
            <a:endParaRPr/>
          </a:p>
          <a:p>
            <a:pPr indent="0" lvl="0" marL="0" rtl="0" algn="l">
              <a:spcBef>
                <a:spcPts val="360"/>
              </a:spcBef>
              <a:spcAft>
                <a:spcPts val="0"/>
              </a:spcAft>
              <a:buNone/>
            </a:pPr>
            <a:r>
              <a:rPr lang="en-US"/>
              <a:t>function on a file or directory under its control and secondary storage. The results</a:t>
            </a:r>
            <a:endParaRPr/>
          </a:p>
          <a:p>
            <a:pPr indent="0" lvl="0" marL="0" rtl="0" algn="l">
              <a:spcBef>
                <a:spcPts val="360"/>
              </a:spcBef>
              <a:spcAft>
                <a:spcPts val="0"/>
              </a:spcAft>
              <a:buNone/>
            </a:pPr>
            <a:r>
              <a:rPr lang="en-US"/>
              <a:t>of the operation are then communicated back to the user in a similar fashion.</a:t>
            </a:r>
            <a:endParaRPr/>
          </a:p>
        </p:txBody>
      </p:sp>
      <p:sp>
        <p:nvSpPr>
          <p:cNvPr id="1347" name="Google Shape;1347;p1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p1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55" name="Google Shape;1355;p1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Linux includes a versatile and powerful file-handling facility, designed to support a</a:t>
            </a:r>
            <a:endParaRPr/>
          </a:p>
          <a:p>
            <a:pPr indent="0" lvl="0" marL="0" rtl="0" algn="l">
              <a:spcBef>
                <a:spcPts val="360"/>
              </a:spcBef>
              <a:spcAft>
                <a:spcPts val="0"/>
              </a:spcAft>
              <a:buNone/>
            </a:pPr>
            <a:r>
              <a:rPr lang="en-US"/>
              <a:t>wide variety of file management systems and file structures. The approach taken in</a:t>
            </a:r>
            <a:endParaRPr/>
          </a:p>
          <a:p>
            <a:pPr indent="0" lvl="0" marL="0" rtl="0" algn="l">
              <a:spcBef>
                <a:spcPts val="360"/>
              </a:spcBef>
              <a:spcAft>
                <a:spcPts val="0"/>
              </a:spcAft>
              <a:buNone/>
            </a:pPr>
            <a:r>
              <a:rPr lang="en-US"/>
              <a:t>Linux is to make use of a </a:t>
            </a:r>
            <a:r>
              <a:rPr b="1" lang="en-US"/>
              <a:t>virtual file system (VFS) , which presents a single, uniform</a:t>
            </a:r>
            <a:endParaRPr/>
          </a:p>
          <a:p>
            <a:pPr indent="0" lvl="0" marL="0" rtl="0" algn="l">
              <a:spcBef>
                <a:spcPts val="360"/>
              </a:spcBef>
              <a:spcAft>
                <a:spcPts val="0"/>
              </a:spcAft>
              <a:buNone/>
            </a:pPr>
            <a:r>
              <a:rPr lang="en-US"/>
              <a:t>file system interface to user processes. The VFS defines a common file model that is</a:t>
            </a:r>
            <a:endParaRPr/>
          </a:p>
          <a:p>
            <a:pPr indent="0" lvl="0" marL="0" rtl="0" algn="l">
              <a:spcBef>
                <a:spcPts val="360"/>
              </a:spcBef>
              <a:spcAft>
                <a:spcPts val="0"/>
              </a:spcAft>
              <a:buNone/>
            </a:pPr>
            <a:r>
              <a:rPr lang="en-US"/>
              <a:t>capable of representing any conceivable file system’s general feature and behavior.</a:t>
            </a:r>
            <a:endParaRPr/>
          </a:p>
          <a:p>
            <a:pPr indent="0" lvl="0" marL="0" rtl="0" algn="l">
              <a:spcBef>
                <a:spcPts val="360"/>
              </a:spcBef>
              <a:spcAft>
                <a:spcPts val="0"/>
              </a:spcAft>
              <a:buNone/>
            </a:pPr>
            <a:r>
              <a:rPr lang="en-US"/>
              <a:t>The VFS assumes that files are objects in a computer’s mass storage memory that</a:t>
            </a:r>
            <a:endParaRPr/>
          </a:p>
          <a:p>
            <a:pPr indent="0" lvl="0" marL="0" rtl="0" algn="l">
              <a:spcBef>
                <a:spcPts val="360"/>
              </a:spcBef>
              <a:spcAft>
                <a:spcPts val="0"/>
              </a:spcAft>
              <a:buNone/>
            </a:pPr>
            <a:r>
              <a:rPr lang="en-US"/>
              <a:t>share basic properties regardless of the target file system or the underlying processor</a:t>
            </a:r>
            <a:endParaRPr/>
          </a:p>
          <a:p>
            <a:pPr indent="0" lvl="0" marL="0" rtl="0" algn="l">
              <a:spcBef>
                <a:spcPts val="360"/>
              </a:spcBef>
              <a:spcAft>
                <a:spcPts val="0"/>
              </a:spcAft>
              <a:buNone/>
            </a:pPr>
            <a:r>
              <a:rPr lang="en-US"/>
              <a:t>hardware. Files have symbolic names that allow them to be uniquely identified</a:t>
            </a:r>
            <a:endParaRPr/>
          </a:p>
          <a:p>
            <a:pPr indent="0" lvl="0" marL="0" rtl="0" algn="l">
              <a:spcBef>
                <a:spcPts val="360"/>
              </a:spcBef>
              <a:spcAft>
                <a:spcPts val="0"/>
              </a:spcAft>
              <a:buNone/>
            </a:pPr>
            <a:r>
              <a:rPr lang="en-US"/>
              <a:t>within a specific directory within the file system. A file has an owner, protection</a:t>
            </a:r>
            <a:endParaRPr/>
          </a:p>
          <a:p>
            <a:pPr indent="0" lvl="0" marL="0" rtl="0" algn="l">
              <a:spcBef>
                <a:spcPts val="360"/>
              </a:spcBef>
              <a:spcAft>
                <a:spcPts val="0"/>
              </a:spcAft>
              <a:buNone/>
            </a:pPr>
            <a:r>
              <a:rPr lang="en-US"/>
              <a:t>against unauthorized access or modification, and a variety of other properties. A</a:t>
            </a:r>
            <a:endParaRPr/>
          </a:p>
          <a:p>
            <a:pPr indent="0" lvl="0" marL="0" rtl="0" algn="l">
              <a:spcBef>
                <a:spcPts val="360"/>
              </a:spcBef>
              <a:spcAft>
                <a:spcPts val="0"/>
              </a:spcAft>
              <a:buNone/>
            </a:pPr>
            <a:r>
              <a:rPr lang="en-US"/>
              <a:t>file may be created, read from, written to, or deleted. For any specific file system, a</a:t>
            </a:r>
            <a:endParaRPr/>
          </a:p>
          <a:p>
            <a:pPr indent="0" lvl="0" marL="0" rtl="0" algn="l">
              <a:spcBef>
                <a:spcPts val="360"/>
              </a:spcBef>
              <a:spcAft>
                <a:spcPts val="0"/>
              </a:spcAft>
              <a:buNone/>
            </a:pPr>
            <a:r>
              <a:rPr lang="en-US"/>
              <a:t>mapping module is needed to transform the characteristics of the real file system to</a:t>
            </a:r>
            <a:endParaRPr/>
          </a:p>
          <a:p>
            <a:pPr indent="0" lvl="0" marL="0" rtl="0" algn="l">
              <a:spcBef>
                <a:spcPts val="360"/>
              </a:spcBef>
              <a:spcAft>
                <a:spcPts val="0"/>
              </a:spcAft>
              <a:buNone/>
            </a:pPr>
            <a:r>
              <a:rPr lang="en-US"/>
              <a:t>the characteristics expected by the virtual file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Figure 12.19 indicates the key ingredients of the Linux file system strategy. A</a:t>
            </a:r>
            <a:endParaRPr/>
          </a:p>
          <a:p>
            <a:pPr indent="0" lvl="0" marL="0" rtl="0" algn="l">
              <a:spcBef>
                <a:spcPts val="360"/>
              </a:spcBef>
              <a:spcAft>
                <a:spcPts val="0"/>
              </a:spcAft>
              <a:buNone/>
            </a:pPr>
            <a:r>
              <a:rPr lang="en-US"/>
              <a:t>user process issues a file system call (e.g., read) using the VFS file scheme. The VFS</a:t>
            </a:r>
            <a:endParaRPr/>
          </a:p>
          <a:p>
            <a:pPr indent="0" lvl="0" marL="0" rtl="0" algn="l">
              <a:spcBef>
                <a:spcPts val="360"/>
              </a:spcBef>
              <a:spcAft>
                <a:spcPts val="0"/>
              </a:spcAft>
              <a:buNone/>
            </a:pPr>
            <a:r>
              <a:rPr lang="en-US"/>
              <a:t>converts this into an internal (to the kernel) file system call that is passed to a mapping</a:t>
            </a:r>
            <a:endParaRPr/>
          </a:p>
          <a:p>
            <a:pPr indent="0" lvl="0" marL="0" rtl="0" algn="l">
              <a:spcBef>
                <a:spcPts val="360"/>
              </a:spcBef>
              <a:spcAft>
                <a:spcPts val="0"/>
              </a:spcAft>
              <a:buNone/>
            </a:pPr>
            <a:r>
              <a:rPr lang="en-US"/>
              <a:t>function for a specific file system [e.g., IBM’s Journaling File System (JFS)]. In</a:t>
            </a:r>
            <a:endParaRPr/>
          </a:p>
          <a:p>
            <a:pPr indent="0" lvl="0" marL="0" rtl="0" algn="l">
              <a:spcBef>
                <a:spcPts val="360"/>
              </a:spcBef>
              <a:spcAft>
                <a:spcPts val="0"/>
              </a:spcAft>
              <a:buNone/>
            </a:pPr>
            <a:r>
              <a:rPr lang="en-US"/>
              <a:t>most cases, the mapping function is simply a mapping of file system functional calls</a:t>
            </a:r>
            <a:endParaRPr/>
          </a:p>
          <a:p>
            <a:pPr indent="0" lvl="0" marL="0" rtl="0" algn="l">
              <a:spcBef>
                <a:spcPts val="360"/>
              </a:spcBef>
              <a:spcAft>
                <a:spcPts val="0"/>
              </a:spcAft>
              <a:buNone/>
            </a:pPr>
            <a:r>
              <a:rPr lang="en-US"/>
              <a:t>from one scheme to another. In some cases, the mapping function is more complex.</a:t>
            </a:r>
            <a:endParaRPr/>
          </a:p>
          <a:p>
            <a:pPr indent="0" lvl="0" marL="0" rtl="0" algn="l">
              <a:spcBef>
                <a:spcPts val="360"/>
              </a:spcBef>
              <a:spcAft>
                <a:spcPts val="0"/>
              </a:spcAft>
              <a:buNone/>
            </a:pPr>
            <a:r>
              <a:rPr lang="en-US"/>
              <a:t>For example, some file systems use a file allocation table (FAT), which stores the</a:t>
            </a:r>
            <a:endParaRPr/>
          </a:p>
          <a:p>
            <a:pPr indent="0" lvl="0" marL="0" rtl="0" algn="l">
              <a:spcBef>
                <a:spcPts val="360"/>
              </a:spcBef>
              <a:spcAft>
                <a:spcPts val="0"/>
              </a:spcAft>
              <a:buNone/>
            </a:pPr>
            <a:r>
              <a:rPr lang="en-US"/>
              <a:t>position of each file in the directory tree. In these file systems, directories are not</a:t>
            </a:r>
            <a:endParaRPr/>
          </a:p>
          <a:p>
            <a:pPr indent="0" lvl="0" marL="0" rtl="0" algn="l">
              <a:spcBef>
                <a:spcPts val="360"/>
              </a:spcBef>
              <a:spcAft>
                <a:spcPts val="0"/>
              </a:spcAft>
              <a:buNone/>
            </a:pPr>
            <a:r>
              <a:rPr lang="en-US"/>
              <a:t>files. For such file systems, the mapping function must be able to construct dynamically,</a:t>
            </a:r>
            <a:endParaRPr/>
          </a:p>
          <a:p>
            <a:pPr indent="0" lvl="0" marL="0" rtl="0" algn="l">
              <a:spcBef>
                <a:spcPts val="360"/>
              </a:spcBef>
              <a:spcAft>
                <a:spcPts val="0"/>
              </a:spcAft>
              <a:buNone/>
            </a:pPr>
            <a:r>
              <a:rPr lang="en-US"/>
              <a:t>and when needed, the files corresponding to the directories. In any case, the</a:t>
            </a:r>
            <a:endParaRPr/>
          </a:p>
          <a:p>
            <a:pPr indent="0" lvl="0" marL="0" rtl="0" algn="l">
              <a:spcBef>
                <a:spcPts val="360"/>
              </a:spcBef>
              <a:spcAft>
                <a:spcPts val="0"/>
              </a:spcAft>
              <a:buNone/>
            </a:pPr>
            <a:r>
              <a:rPr lang="en-US"/>
              <a:t>original user file system call is translated into a call that is native to the target file</a:t>
            </a:r>
            <a:endParaRPr/>
          </a:p>
          <a:p>
            <a:pPr indent="0" lvl="0" marL="0" rtl="0" algn="l">
              <a:spcBef>
                <a:spcPts val="360"/>
              </a:spcBef>
              <a:spcAft>
                <a:spcPts val="0"/>
              </a:spcAft>
              <a:buNone/>
            </a:pPr>
            <a:r>
              <a:rPr lang="en-US"/>
              <a:t>system. The target file system software is then invoked to perform the requested</a:t>
            </a:r>
            <a:endParaRPr/>
          </a:p>
          <a:p>
            <a:pPr indent="0" lvl="0" marL="0" rtl="0" algn="l">
              <a:spcBef>
                <a:spcPts val="360"/>
              </a:spcBef>
              <a:spcAft>
                <a:spcPts val="0"/>
              </a:spcAft>
              <a:buNone/>
            </a:pPr>
            <a:r>
              <a:rPr lang="en-US"/>
              <a:t>function on a file or directory under its control and secondary storage. The results</a:t>
            </a:r>
            <a:endParaRPr/>
          </a:p>
          <a:p>
            <a:pPr indent="0" lvl="0" marL="0" rtl="0" algn="l">
              <a:spcBef>
                <a:spcPts val="360"/>
              </a:spcBef>
              <a:spcAft>
                <a:spcPts val="0"/>
              </a:spcAft>
              <a:buNone/>
            </a:pPr>
            <a:r>
              <a:rPr lang="en-US"/>
              <a:t>of the operation are then communicated back to the user in a similar fashion.</a:t>
            </a:r>
            <a:endParaRPr/>
          </a:p>
        </p:txBody>
      </p:sp>
      <p:sp>
        <p:nvSpPr>
          <p:cNvPr id="1356" name="Google Shape;1356;p1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2" name="Shape 1362"/>
        <p:cNvGrpSpPr/>
        <p:nvPr/>
      </p:nvGrpSpPr>
      <p:grpSpPr>
        <a:xfrm>
          <a:off x="0" y="0"/>
          <a:ext cx="0" cy="0"/>
          <a:chOff x="0" y="0"/>
          <a:chExt cx="0" cy="0"/>
        </a:xfrm>
      </p:grpSpPr>
      <p:sp>
        <p:nvSpPr>
          <p:cNvPr id="1363" name="Google Shape;1363;p1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64" name="Google Shape;1364;p1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Figure 12.20 indicates the role that VFS plays within the Linux kernel. When</a:t>
            </a:r>
            <a:endParaRPr/>
          </a:p>
          <a:p>
            <a:pPr indent="0" lvl="0" marL="0" rtl="0" algn="l">
              <a:spcBef>
                <a:spcPts val="360"/>
              </a:spcBef>
              <a:spcAft>
                <a:spcPts val="0"/>
              </a:spcAft>
              <a:buNone/>
            </a:pPr>
            <a:r>
              <a:rPr lang="en-US"/>
              <a:t>a process initiates a file-oriented system call (e.g., read), the kernel calls a function</a:t>
            </a:r>
            <a:endParaRPr/>
          </a:p>
          <a:p>
            <a:pPr indent="0" lvl="0" marL="0" rtl="0" algn="l">
              <a:spcBef>
                <a:spcPts val="360"/>
              </a:spcBef>
              <a:spcAft>
                <a:spcPts val="0"/>
              </a:spcAft>
              <a:buNone/>
            </a:pPr>
            <a:r>
              <a:rPr lang="en-US"/>
              <a:t>in the VFS. This function handles the file-system-independent manipulations and</a:t>
            </a:r>
            <a:endParaRPr/>
          </a:p>
          <a:p>
            <a:pPr indent="0" lvl="0" marL="0" rtl="0" algn="l">
              <a:spcBef>
                <a:spcPts val="360"/>
              </a:spcBef>
              <a:spcAft>
                <a:spcPts val="0"/>
              </a:spcAft>
              <a:buNone/>
            </a:pPr>
            <a:r>
              <a:rPr lang="en-US"/>
              <a:t>initiates a call to a function in the target file system code. This call passes through</a:t>
            </a:r>
            <a:endParaRPr/>
          </a:p>
          <a:p>
            <a:pPr indent="0" lvl="0" marL="0" rtl="0" algn="l">
              <a:spcBef>
                <a:spcPts val="360"/>
              </a:spcBef>
              <a:spcAft>
                <a:spcPts val="0"/>
              </a:spcAft>
              <a:buNone/>
            </a:pPr>
            <a:r>
              <a:rPr lang="en-US"/>
              <a:t>a mapping function that converts the call from the VFS into a call to the target file</a:t>
            </a:r>
            <a:endParaRPr/>
          </a:p>
          <a:p>
            <a:pPr indent="0" lvl="0" marL="0" rtl="0" algn="l">
              <a:spcBef>
                <a:spcPts val="360"/>
              </a:spcBef>
              <a:spcAft>
                <a:spcPts val="0"/>
              </a:spcAft>
              <a:buNone/>
            </a:pPr>
            <a:r>
              <a:rPr lang="en-US"/>
              <a:t>system. The VFS is independent of any file system, so the implementation of a mapping</a:t>
            </a:r>
            <a:endParaRPr/>
          </a:p>
          <a:p>
            <a:pPr indent="0" lvl="0" marL="0" rtl="0" algn="l">
              <a:spcBef>
                <a:spcPts val="360"/>
              </a:spcBef>
              <a:spcAft>
                <a:spcPts val="0"/>
              </a:spcAft>
              <a:buNone/>
            </a:pPr>
            <a:r>
              <a:rPr lang="en-US"/>
              <a:t>function must be part of the implementation of a file system on Linux. The</a:t>
            </a:r>
            <a:endParaRPr/>
          </a:p>
          <a:p>
            <a:pPr indent="0" lvl="0" marL="0" rtl="0" algn="l">
              <a:spcBef>
                <a:spcPts val="360"/>
              </a:spcBef>
              <a:spcAft>
                <a:spcPts val="0"/>
              </a:spcAft>
              <a:buNone/>
            </a:pPr>
            <a:r>
              <a:rPr lang="en-US"/>
              <a:t>target file system converts the file system request into device-oriented instructions</a:t>
            </a:r>
            <a:endParaRPr/>
          </a:p>
          <a:p>
            <a:pPr indent="0" lvl="0" marL="0" rtl="0" algn="l">
              <a:spcBef>
                <a:spcPts val="360"/>
              </a:spcBef>
              <a:spcAft>
                <a:spcPts val="0"/>
              </a:spcAft>
              <a:buNone/>
            </a:pPr>
            <a:r>
              <a:rPr lang="en-US"/>
              <a:t>that are passed to a device driver by means of page cache functions.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VFS is an object-oriented scheme. Because it is written in C, rather than a</a:t>
            </a:r>
            <a:endParaRPr/>
          </a:p>
          <a:p>
            <a:pPr indent="0" lvl="0" marL="0" rtl="0" algn="l">
              <a:spcBef>
                <a:spcPts val="360"/>
              </a:spcBef>
              <a:spcAft>
                <a:spcPts val="0"/>
              </a:spcAft>
              <a:buNone/>
            </a:pPr>
            <a:r>
              <a:rPr lang="en-US"/>
              <a:t>language that supports object programming (such as C++ or Java), VFS objects are</a:t>
            </a:r>
            <a:endParaRPr/>
          </a:p>
          <a:p>
            <a:pPr indent="0" lvl="0" marL="0" rtl="0" algn="l">
              <a:spcBef>
                <a:spcPts val="360"/>
              </a:spcBef>
              <a:spcAft>
                <a:spcPts val="0"/>
              </a:spcAft>
              <a:buNone/>
            </a:pPr>
            <a:r>
              <a:rPr lang="en-US"/>
              <a:t>implemented simply as C data structures. Each object contains both data and pointers</a:t>
            </a:r>
            <a:endParaRPr/>
          </a:p>
          <a:p>
            <a:pPr indent="0" lvl="0" marL="0" rtl="0" algn="l">
              <a:spcBef>
                <a:spcPts val="360"/>
              </a:spcBef>
              <a:spcAft>
                <a:spcPts val="0"/>
              </a:spcAft>
              <a:buNone/>
            </a:pPr>
            <a:r>
              <a:rPr lang="en-US"/>
              <a:t>to file-system-implemented functions that operate on data. </a:t>
            </a:r>
            <a:endParaRPr/>
          </a:p>
        </p:txBody>
      </p:sp>
      <p:sp>
        <p:nvSpPr>
          <p:cNvPr id="1365" name="Google Shape;1365;p1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p1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72" name="Google Shape;1372;p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Figure 12.20 indicates the role that VFS plays within the Linux kernel. When</a:t>
            </a:r>
            <a:endParaRPr/>
          </a:p>
          <a:p>
            <a:pPr indent="0" lvl="0" marL="0" rtl="0" algn="l">
              <a:spcBef>
                <a:spcPts val="360"/>
              </a:spcBef>
              <a:spcAft>
                <a:spcPts val="0"/>
              </a:spcAft>
              <a:buNone/>
            </a:pPr>
            <a:r>
              <a:rPr lang="en-US"/>
              <a:t>a process initiates a file-oriented system call (e.g., read), the kernel calls a function</a:t>
            </a:r>
            <a:endParaRPr/>
          </a:p>
          <a:p>
            <a:pPr indent="0" lvl="0" marL="0" rtl="0" algn="l">
              <a:spcBef>
                <a:spcPts val="360"/>
              </a:spcBef>
              <a:spcAft>
                <a:spcPts val="0"/>
              </a:spcAft>
              <a:buNone/>
            </a:pPr>
            <a:r>
              <a:rPr lang="en-US"/>
              <a:t>in the VFS. This function handles the file-system-independent manipulations and</a:t>
            </a:r>
            <a:endParaRPr/>
          </a:p>
          <a:p>
            <a:pPr indent="0" lvl="0" marL="0" rtl="0" algn="l">
              <a:spcBef>
                <a:spcPts val="360"/>
              </a:spcBef>
              <a:spcAft>
                <a:spcPts val="0"/>
              </a:spcAft>
              <a:buNone/>
            </a:pPr>
            <a:r>
              <a:rPr lang="en-US"/>
              <a:t>initiates a call to a function in the target file system code. This call passes through</a:t>
            </a:r>
            <a:endParaRPr/>
          </a:p>
          <a:p>
            <a:pPr indent="0" lvl="0" marL="0" rtl="0" algn="l">
              <a:spcBef>
                <a:spcPts val="360"/>
              </a:spcBef>
              <a:spcAft>
                <a:spcPts val="0"/>
              </a:spcAft>
              <a:buNone/>
            </a:pPr>
            <a:r>
              <a:rPr lang="en-US"/>
              <a:t>a mapping function that converts the call from the VFS into a call to the target file</a:t>
            </a:r>
            <a:endParaRPr/>
          </a:p>
          <a:p>
            <a:pPr indent="0" lvl="0" marL="0" rtl="0" algn="l">
              <a:spcBef>
                <a:spcPts val="360"/>
              </a:spcBef>
              <a:spcAft>
                <a:spcPts val="0"/>
              </a:spcAft>
              <a:buNone/>
            </a:pPr>
            <a:r>
              <a:rPr lang="en-US"/>
              <a:t>system. The VFS is independent of any file system, so the implementation of a mapping</a:t>
            </a:r>
            <a:endParaRPr/>
          </a:p>
          <a:p>
            <a:pPr indent="0" lvl="0" marL="0" rtl="0" algn="l">
              <a:spcBef>
                <a:spcPts val="360"/>
              </a:spcBef>
              <a:spcAft>
                <a:spcPts val="0"/>
              </a:spcAft>
              <a:buNone/>
            </a:pPr>
            <a:r>
              <a:rPr lang="en-US"/>
              <a:t>function must be part of the implementation of a file system on Linux. The</a:t>
            </a:r>
            <a:endParaRPr/>
          </a:p>
          <a:p>
            <a:pPr indent="0" lvl="0" marL="0" rtl="0" algn="l">
              <a:spcBef>
                <a:spcPts val="360"/>
              </a:spcBef>
              <a:spcAft>
                <a:spcPts val="0"/>
              </a:spcAft>
              <a:buNone/>
            </a:pPr>
            <a:r>
              <a:rPr lang="en-US"/>
              <a:t>target file system converts the file system request into device-oriented instructions</a:t>
            </a:r>
            <a:endParaRPr/>
          </a:p>
          <a:p>
            <a:pPr indent="0" lvl="0" marL="0" rtl="0" algn="l">
              <a:spcBef>
                <a:spcPts val="360"/>
              </a:spcBef>
              <a:spcAft>
                <a:spcPts val="0"/>
              </a:spcAft>
              <a:buNone/>
            </a:pPr>
            <a:r>
              <a:rPr lang="en-US"/>
              <a:t>that are passed to a device driver by means of page cache functions.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VFS is an object-oriented scheme. Because it is written in C, rather than a</a:t>
            </a:r>
            <a:endParaRPr/>
          </a:p>
          <a:p>
            <a:pPr indent="0" lvl="0" marL="0" rtl="0" algn="l">
              <a:spcBef>
                <a:spcPts val="360"/>
              </a:spcBef>
              <a:spcAft>
                <a:spcPts val="0"/>
              </a:spcAft>
              <a:buNone/>
            </a:pPr>
            <a:r>
              <a:rPr lang="en-US"/>
              <a:t>language that supports object programming (such as C++ or Java), VFS objects are</a:t>
            </a:r>
            <a:endParaRPr/>
          </a:p>
          <a:p>
            <a:pPr indent="0" lvl="0" marL="0" rtl="0" algn="l">
              <a:spcBef>
                <a:spcPts val="360"/>
              </a:spcBef>
              <a:spcAft>
                <a:spcPts val="0"/>
              </a:spcAft>
              <a:buNone/>
            </a:pPr>
            <a:r>
              <a:rPr lang="en-US"/>
              <a:t>implemented simply as C data structures. Each object contains both data and pointers</a:t>
            </a:r>
            <a:endParaRPr/>
          </a:p>
          <a:p>
            <a:pPr indent="0" lvl="0" marL="0" rtl="0" algn="l">
              <a:spcBef>
                <a:spcPts val="360"/>
              </a:spcBef>
              <a:spcAft>
                <a:spcPts val="0"/>
              </a:spcAft>
              <a:buNone/>
            </a:pPr>
            <a:r>
              <a:rPr lang="en-US"/>
              <a:t>to file-system-implemented functions that operate on data. </a:t>
            </a:r>
            <a:endParaRPr/>
          </a:p>
        </p:txBody>
      </p:sp>
      <p:sp>
        <p:nvSpPr>
          <p:cNvPr id="1373" name="Google Shape;1373;p1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1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80" name="Google Shape;1380;p1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Many modern UNIX and UNIX-based operating systems support access control</a:t>
            </a:r>
            <a:endParaRPr/>
          </a:p>
          <a:p>
            <a:pPr indent="0" lvl="0" marL="0" rtl="0" algn="l">
              <a:spcBef>
                <a:spcPts val="360"/>
              </a:spcBef>
              <a:spcAft>
                <a:spcPts val="0"/>
              </a:spcAft>
              <a:buNone/>
            </a:pPr>
            <a:r>
              <a:rPr lang="en-US"/>
              <a:t>lists, including FreeBSD, OpenBSD, Linux, and Solaris. In this section, we describe</a:t>
            </a:r>
            <a:endParaRPr/>
          </a:p>
          <a:p>
            <a:pPr indent="0" lvl="0" marL="0" rtl="0" algn="l">
              <a:spcBef>
                <a:spcPts val="360"/>
              </a:spcBef>
              <a:spcAft>
                <a:spcPts val="0"/>
              </a:spcAft>
              <a:buNone/>
            </a:pPr>
            <a:r>
              <a:rPr lang="en-US"/>
              <a:t>the FreeBSD approach, but other implementations have essentially the same features</a:t>
            </a:r>
            <a:endParaRPr/>
          </a:p>
          <a:p>
            <a:pPr indent="0" lvl="0" marL="0" rtl="0" algn="l">
              <a:spcBef>
                <a:spcPts val="360"/>
              </a:spcBef>
              <a:spcAft>
                <a:spcPts val="0"/>
              </a:spcAft>
              <a:buNone/>
            </a:pPr>
            <a:r>
              <a:rPr lang="en-US"/>
              <a:t>and interface. The feature is referred to as extended access control list, while</a:t>
            </a:r>
            <a:endParaRPr/>
          </a:p>
          <a:p>
            <a:pPr indent="0" lvl="0" marL="0" rtl="0" algn="l">
              <a:spcBef>
                <a:spcPts val="360"/>
              </a:spcBef>
              <a:spcAft>
                <a:spcPts val="0"/>
              </a:spcAft>
              <a:buNone/>
            </a:pPr>
            <a:r>
              <a:rPr lang="en-US"/>
              <a:t>the traditional UNIX approach is referred to as minimal access control list.</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FreeBSD allows the administrator to assign a list of UNIX user IDs and</a:t>
            </a:r>
            <a:endParaRPr/>
          </a:p>
          <a:p>
            <a:pPr indent="0" lvl="0" marL="0" rtl="0" algn="l">
              <a:spcBef>
                <a:spcPts val="360"/>
              </a:spcBef>
              <a:spcAft>
                <a:spcPts val="0"/>
              </a:spcAft>
              <a:buNone/>
            </a:pPr>
            <a:r>
              <a:rPr lang="en-US"/>
              <a:t>groups to a file by using the setfacl command. Any number of users and groups</a:t>
            </a:r>
            <a:endParaRPr/>
          </a:p>
          <a:p>
            <a:pPr indent="0" lvl="0" marL="0" rtl="0" algn="l">
              <a:spcBef>
                <a:spcPts val="360"/>
              </a:spcBef>
              <a:spcAft>
                <a:spcPts val="0"/>
              </a:spcAft>
              <a:buNone/>
            </a:pPr>
            <a:r>
              <a:rPr lang="en-US"/>
              <a:t>can be associated with a file, each with three protection bits (read, write, execute),</a:t>
            </a:r>
            <a:endParaRPr/>
          </a:p>
          <a:p>
            <a:pPr indent="0" lvl="0" marL="0" rtl="0" algn="l">
              <a:spcBef>
                <a:spcPts val="360"/>
              </a:spcBef>
              <a:spcAft>
                <a:spcPts val="0"/>
              </a:spcAft>
              <a:buNone/>
            </a:pPr>
            <a:r>
              <a:rPr lang="en-US"/>
              <a:t>offering a flexible mechanism for assigning access rights. A file need not have an</a:t>
            </a:r>
            <a:endParaRPr/>
          </a:p>
          <a:p>
            <a:pPr indent="0" lvl="0" marL="0" rtl="0" algn="l">
              <a:spcBef>
                <a:spcPts val="360"/>
              </a:spcBef>
              <a:spcAft>
                <a:spcPts val="0"/>
              </a:spcAft>
              <a:buNone/>
            </a:pPr>
            <a:r>
              <a:rPr lang="en-US"/>
              <a:t>ACL but may be protected solely by the traditional UNIX file access mechanism.</a:t>
            </a:r>
            <a:endParaRPr/>
          </a:p>
          <a:p>
            <a:pPr indent="0" lvl="0" marL="0" rtl="0" algn="l">
              <a:spcBef>
                <a:spcPts val="360"/>
              </a:spcBef>
              <a:spcAft>
                <a:spcPts val="0"/>
              </a:spcAft>
              <a:buNone/>
            </a:pPr>
            <a:r>
              <a:rPr lang="en-US"/>
              <a:t>FreeBSD files include an additional protection bit that indicates whether the file</a:t>
            </a:r>
            <a:endParaRPr/>
          </a:p>
          <a:p>
            <a:pPr indent="0" lvl="0" marL="0" rtl="0" algn="l">
              <a:spcBef>
                <a:spcPts val="360"/>
              </a:spcBef>
              <a:spcAft>
                <a:spcPts val="0"/>
              </a:spcAft>
              <a:buNone/>
            </a:pPr>
            <a:r>
              <a:rPr lang="en-US"/>
              <a:t>has an extended ACL.</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FreeBSD and most UNIX implementations that support extended ACLs use</a:t>
            </a:r>
            <a:endParaRPr/>
          </a:p>
          <a:p>
            <a:pPr indent="0" lvl="0" marL="0" rtl="0" algn="l">
              <a:spcBef>
                <a:spcPts val="360"/>
              </a:spcBef>
              <a:spcAft>
                <a:spcPts val="0"/>
              </a:spcAft>
              <a:buNone/>
            </a:pPr>
            <a:r>
              <a:rPr lang="en-US"/>
              <a:t>the following strategy (e.g., Figure 12.18b ):</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1. The owner class and other class entries in the nine-bit permission field have</a:t>
            </a:r>
            <a:endParaRPr/>
          </a:p>
          <a:p>
            <a:pPr indent="0" lvl="0" marL="0" rtl="0" algn="l">
              <a:spcBef>
                <a:spcPts val="360"/>
              </a:spcBef>
              <a:spcAft>
                <a:spcPts val="0"/>
              </a:spcAft>
              <a:buNone/>
            </a:pPr>
            <a:r>
              <a:rPr lang="en-US"/>
              <a:t>the same meaning as in the minimal ACL case.</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2. The group class entry specifies the permissions for the owner group for this</a:t>
            </a:r>
            <a:endParaRPr/>
          </a:p>
          <a:p>
            <a:pPr indent="0" lvl="0" marL="0" rtl="0" algn="l">
              <a:spcBef>
                <a:spcPts val="360"/>
              </a:spcBef>
              <a:spcAft>
                <a:spcPts val="0"/>
              </a:spcAft>
              <a:buNone/>
            </a:pPr>
            <a:r>
              <a:rPr lang="en-US"/>
              <a:t>file. These permissions represent the maximum permissions that can be</a:t>
            </a:r>
            <a:endParaRPr/>
          </a:p>
          <a:p>
            <a:pPr indent="0" lvl="0" marL="0" rtl="0" algn="l">
              <a:spcBef>
                <a:spcPts val="360"/>
              </a:spcBef>
              <a:spcAft>
                <a:spcPts val="0"/>
              </a:spcAft>
              <a:buNone/>
            </a:pPr>
            <a:r>
              <a:rPr lang="en-US"/>
              <a:t>assigned to named users or named groups, other than the owning user. In this</a:t>
            </a:r>
            <a:endParaRPr/>
          </a:p>
          <a:p>
            <a:pPr indent="0" lvl="0" marL="0" rtl="0" algn="l">
              <a:spcBef>
                <a:spcPts val="360"/>
              </a:spcBef>
              <a:spcAft>
                <a:spcPts val="0"/>
              </a:spcAft>
              <a:buNone/>
            </a:pPr>
            <a:r>
              <a:rPr lang="en-US"/>
              <a:t>latter role, the group class entry functions as a mask.</a:t>
            </a:r>
            <a:endParaRPr/>
          </a:p>
          <a:p>
            <a:pPr indent="0" lvl="0" marL="0" rtl="0" algn="l">
              <a:spcBef>
                <a:spcPts val="360"/>
              </a:spcBef>
              <a:spcAft>
                <a:spcPts val="0"/>
              </a:spcAft>
              <a:buNone/>
            </a:pPr>
            <a:r>
              <a:t/>
            </a:r>
            <a:endParaRPr b="1"/>
          </a:p>
          <a:p>
            <a:pPr indent="0" lvl="0" marL="0" rtl="0" algn="l">
              <a:spcBef>
                <a:spcPts val="360"/>
              </a:spcBef>
              <a:spcAft>
                <a:spcPts val="0"/>
              </a:spcAft>
              <a:buNone/>
            </a:pPr>
            <a:r>
              <a:rPr b="1" lang="en-US"/>
              <a:t>3. Additional named users and named groups may be associated with the file,</a:t>
            </a:r>
            <a:endParaRPr/>
          </a:p>
          <a:p>
            <a:pPr indent="0" lvl="0" marL="0" rtl="0" algn="l">
              <a:spcBef>
                <a:spcPts val="360"/>
              </a:spcBef>
              <a:spcAft>
                <a:spcPts val="0"/>
              </a:spcAft>
              <a:buNone/>
            </a:pPr>
            <a:r>
              <a:rPr lang="en-US"/>
              <a:t>each with a three-bit permission field. The permissions listed for a named</a:t>
            </a:r>
            <a:endParaRPr/>
          </a:p>
          <a:p>
            <a:pPr indent="0" lvl="0" marL="0" rtl="0" algn="l">
              <a:spcBef>
                <a:spcPts val="360"/>
              </a:spcBef>
              <a:spcAft>
                <a:spcPts val="0"/>
              </a:spcAft>
              <a:buNone/>
            </a:pPr>
            <a:r>
              <a:rPr lang="en-US"/>
              <a:t>user or named group are compared to the mask field. Any permission</a:t>
            </a:r>
            <a:endParaRPr/>
          </a:p>
          <a:p>
            <a:pPr indent="0" lvl="0" marL="0" rtl="0" algn="l">
              <a:spcBef>
                <a:spcPts val="360"/>
              </a:spcBef>
              <a:spcAft>
                <a:spcPts val="0"/>
              </a:spcAft>
              <a:buNone/>
            </a:pPr>
            <a:r>
              <a:rPr lang="en-US"/>
              <a:t>for the named user or named group that is not present in the mask field is</a:t>
            </a:r>
            <a:endParaRPr/>
          </a:p>
          <a:p>
            <a:pPr indent="0" lvl="0" marL="0" rtl="0" algn="l">
              <a:spcBef>
                <a:spcPts val="360"/>
              </a:spcBef>
              <a:spcAft>
                <a:spcPts val="0"/>
              </a:spcAft>
              <a:buNone/>
            </a:pPr>
            <a:r>
              <a:rPr lang="en-US"/>
              <a:t>disallowed.</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When a process requests access to a file system object, two steps are performed.</a:t>
            </a:r>
            <a:endParaRPr/>
          </a:p>
          <a:p>
            <a:pPr indent="0" lvl="0" marL="0" rtl="0" algn="l">
              <a:spcBef>
                <a:spcPts val="360"/>
              </a:spcBef>
              <a:spcAft>
                <a:spcPts val="0"/>
              </a:spcAft>
              <a:buNone/>
            </a:pPr>
            <a:r>
              <a:rPr lang="en-US"/>
              <a:t>Step 1 selects the ACL entry that most closely matches the requesting process. The</a:t>
            </a:r>
            <a:endParaRPr/>
          </a:p>
          <a:p>
            <a:pPr indent="0" lvl="0" marL="0" rtl="0" algn="l">
              <a:spcBef>
                <a:spcPts val="360"/>
              </a:spcBef>
              <a:spcAft>
                <a:spcPts val="0"/>
              </a:spcAft>
              <a:buNone/>
            </a:pPr>
            <a:r>
              <a:rPr lang="en-US"/>
              <a:t>ACL entries are looked at in the following order: owner, named users, (owning or</a:t>
            </a:r>
            <a:endParaRPr/>
          </a:p>
          <a:p>
            <a:pPr indent="0" lvl="0" marL="0" rtl="0" algn="l">
              <a:spcBef>
                <a:spcPts val="360"/>
              </a:spcBef>
              <a:spcAft>
                <a:spcPts val="0"/>
              </a:spcAft>
              <a:buNone/>
            </a:pPr>
            <a:r>
              <a:rPr lang="en-US"/>
              <a:t>named) groups, and others. Only a single entry determines access. Step 2 checks</a:t>
            </a:r>
            <a:endParaRPr/>
          </a:p>
          <a:p>
            <a:pPr indent="0" lvl="0" marL="0" rtl="0" algn="l">
              <a:spcBef>
                <a:spcPts val="360"/>
              </a:spcBef>
              <a:spcAft>
                <a:spcPts val="0"/>
              </a:spcAft>
              <a:buNone/>
            </a:pPr>
            <a:r>
              <a:rPr lang="en-US"/>
              <a:t>if the matching entry contains sufficient permissions. A process can be a member</a:t>
            </a:r>
            <a:endParaRPr/>
          </a:p>
          <a:p>
            <a:pPr indent="0" lvl="0" marL="0" rtl="0" algn="l">
              <a:spcBef>
                <a:spcPts val="360"/>
              </a:spcBef>
              <a:spcAft>
                <a:spcPts val="0"/>
              </a:spcAft>
              <a:buNone/>
            </a:pPr>
            <a:r>
              <a:rPr lang="en-US"/>
              <a:t>in more than one group; so more than one group entry can match. If any of these</a:t>
            </a:r>
            <a:endParaRPr/>
          </a:p>
          <a:p>
            <a:pPr indent="0" lvl="0" marL="0" rtl="0" algn="l">
              <a:spcBef>
                <a:spcPts val="360"/>
              </a:spcBef>
              <a:spcAft>
                <a:spcPts val="0"/>
              </a:spcAft>
              <a:buNone/>
            </a:pPr>
            <a:r>
              <a:rPr lang="en-US"/>
              <a:t>matching group entries contain the requested permissions, one that contains the</a:t>
            </a:r>
            <a:endParaRPr/>
          </a:p>
          <a:p>
            <a:pPr indent="0" lvl="0" marL="0" rtl="0" algn="l">
              <a:spcBef>
                <a:spcPts val="360"/>
              </a:spcBef>
              <a:spcAft>
                <a:spcPts val="0"/>
              </a:spcAft>
              <a:buNone/>
            </a:pPr>
            <a:r>
              <a:rPr lang="en-US"/>
              <a:t>requested permissions is picked (the result is the same no matter which entry is</a:t>
            </a:r>
            <a:endParaRPr/>
          </a:p>
          <a:p>
            <a:pPr indent="0" lvl="0" marL="0" rtl="0" algn="l">
              <a:spcBef>
                <a:spcPts val="360"/>
              </a:spcBef>
              <a:spcAft>
                <a:spcPts val="0"/>
              </a:spcAft>
              <a:buNone/>
            </a:pPr>
            <a:r>
              <a:rPr lang="en-US"/>
              <a:t>picked). If none of the matching group entries contains the requested permissions,</a:t>
            </a:r>
            <a:endParaRPr/>
          </a:p>
          <a:p>
            <a:pPr indent="0" lvl="0" marL="0" rtl="0" algn="l">
              <a:spcBef>
                <a:spcPts val="360"/>
              </a:spcBef>
              <a:spcAft>
                <a:spcPts val="0"/>
              </a:spcAft>
              <a:buNone/>
            </a:pPr>
            <a:r>
              <a:rPr lang="en-US"/>
              <a:t>access will be denied no matter which entry is picked.</a:t>
            </a:r>
            <a:endParaRPr/>
          </a:p>
        </p:txBody>
      </p:sp>
      <p:sp>
        <p:nvSpPr>
          <p:cNvPr id="1381" name="Google Shape;1381;p1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5" name="Shape 1385"/>
        <p:cNvGrpSpPr/>
        <p:nvPr/>
      </p:nvGrpSpPr>
      <p:grpSpPr>
        <a:xfrm>
          <a:off x="0" y="0"/>
          <a:ext cx="0" cy="0"/>
          <a:chOff x="0" y="0"/>
          <a:chExt cx="0" cy="0"/>
        </a:xfrm>
      </p:grpSpPr>
      <p:sp>
        <p:nvSpPr>
          <p:cNvPr id="1386" name="Google Shape;1386;p1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387" name="Google Shape;1387;p1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The four primary</a:t>
            </a:r>
            <a:endParaRPr/>
          </a:p>
          <a:p>
            <a:pPr indent="0" lvl="0" marL="0" rtl="0" algn="l">
              <a:spcBef>
                <a:spcPts val="360"/>
              </a:spcBef>
              <a:spcAft>
                <a:spcPts val="0"/>
              </a:spcAft>
              <a:buNone/>
            </a:pPr>
            <a:r>
              <a:rPr lang="en-US"/>
              <a:t>object types in VFS are as follows: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Superblock object: Represents a specific mounted file system</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Inode object: Represents a specific file</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Dentry object: Represents a specific directory entry</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 </a:t>
            </a:r>
            <a:r>
              <a:rPr b="1" lang="en-US"/>
              <a:t>File object: Represents an open file associated with a process</a:t>
            </a:r>
            <a:endParaRPr/>
          </a:p>
          <a:p>
            <a:pPr indent="0" lvl="0" marL="0" rtl="0" algn="l">
              <a:spcBef>
                <a:spcPts val="360"/>
              </a:spcBef>
              <a:spcAft>
                <a:spcPts val="0"/>
              </a:spcAft>
              <a:buNone/>
            </a:pPr>
            <a:r>
              <a:t/>
            </a:r>
            <a:endParaRPr/>
          </a:p>
          <a:p>
            <a:pPr indent="0" lvl="0" marL="0" rtl="0" algn="l">
              <a:spcBef>
                <a:spcPts val="360"/>
              </a:spcBef>
              <a:spcAft>
                <a:spcPts val="0"/>
              </a:spcAft>
              <a:buNone/>
            </a:pPr>
            <a:r>
              <a:rPr lang="en-US"/>
              <a:t>This scheme is based on the concepts used in UNIX file systems, as described in</a:t>
            </a:r>
            <a:endParaRPr/>
          </a:p>
          <a:p>
            <a:pPr indent="0" lvl="0" marL="0" rtl="0" algn="l">
              <a:spcBef>
                <a:spcPts val="360"/>
              </a:spcBef>
              <a:spcAft>
                <a:spcPts val="0"/>
              </a:spcAft>
              <a:buNone/>
            </a:pPr>
            <a:r>
              <a:rPr lang="en-US"/>
              <a:t>Section 12.7 . The key concepts of UNIX file system to remember are the following. A</a:t>
            </a:r>
            <a:endParaRPr/>
          </a:p>
          <a:p>
            <a:pPr indent="0" lvl="0" marL="0" rtl="0" algn="l">
              <a:spcBef>
                <a:spcPts val="360"/>
              </a:spcBef>
              <a:spcAft>
                <a:spcPts val="0"/>
              </a:spcAft>
              <a:buNone/>
            </a:pPr>
            <a:r>
              <a:rPr lang="en-US"/>
              <a:t>file system consists of a hierarchal organization of directories. A directory is the same</a:t>
            </a:r>
            <a:endParaRPr/>
          </a:p>
          <a:p>
            <a:pPr indent="0" lvl="0" marL="0" rtl="0" algn="l">
              <a:spcBef>
                <a:spcPts val="360"/>
              </a:spcBef>
              <a:spcAft>
                <a:spcPts val="0"/>
              </a:spcAft>
              <a:buNone/>
            </a:pPr>
            <a:r>
              <a:rPr lang="en-US"/>
              <a:t>as what is known as a folder on many non-UNIX platforms and may contain files and/</a:t>
            </a:r>
            <a:endParaRPr/>
          </a:p>
          <a:p>
            <a:pPr indent="0" lvl="0" marL="0" rtl="0" algn="l">
              <a:spcBef>
                <a:spcPts val="360"/>
              </a:spcBef>
              <a:spcAft>
                <a:spcPts val="0"/>
              </a:spcAft>
              <a:buNone/>
            </a:pPr>
            <a:r>
              <a:rPr lang="en-US"/>
              <a:t>or other directories. Because a directory may contain other directories, a tree structure</a:t>
            </a:r>
            <a:endParaRPr/>
          </a:p>
          <a:p>
            <a:pPr indent="0" lvl="0" marL="0" rtl="0" algn="l">
              <a:spcBef>
                <a:spcPts val="360"/>
              </a:spcBef>
              <a:spcAft>
                <a:spcPts val="0"/>
              </a:spcAft>
              <a:buNone/>
            </a:pPr>
            <a:r>
              <a:rPr lang="en-US"/>
              <a:t>is formed. A path through the tree structure from the root consists of a sequence</a:t>
            </a:r>
            <a:endParaRPr/>
          </a:p>
          <a:p>
            <a:pPr indent="0" lvl="0" marL="0" rtl="0" algn="l">
              <a:spcBef>
                <a:spcPts val="360"/>
              </a:spcBef>
              <a:spcAft>
                <a:spcPts val="0"/>
              </a:spcAft>
              <a:buNone/>
            </a:pPr>
            <a:r>
              <a:rPr lang="en-US"/>
              <a:t>of directory entries, ending in either a directory entry (dentry) or a file name. In</a:t>
            </a:r>
            <a:endParaRPr/>
          </a:p>
          <a:p>
            <a:pPr indent="0" lvl="0" marL="0" rtl="0" algn="l">
              <a:spcBef>
                <a:spcPts val="360"/>
              </a:spcBef>
              <a:spcAft>
                <a:spcPts val="0"/>
              </a:spcAft>
              <a:buNone/>
            </a:pPr>
            <a:r>
              <a:rPr lang="en-US"/>
              <a:t>UNIX, a directory is implemented as a file that lists the files and directories contained</a:t>
            </a:r>
            <a:endParaRPr/>
          </a:p>
          <a:p>
            <a:pPr indent="0" lvl="0" marL="0" rtl="0" algn="l">
              <a:spcBef>
                <a:spcPts val="360"/>
              </a:spcBef>
              <a:spcAft>
                <a:spcPts val="0"/>
              </a:spcAft>
              <a:buNone/>
            </a:pPr>
            <a:r>
              <a:rPr lang="en-US"/>
              <a:t>within it. Thus, file operations can be performed on either files or directories.</a:t>
            </a:r>
            <a:endParaRPr/>
          </a:p>
          <a:p>
            <a:pPr indent="0" lvl="0" marL="0" rtl="0" algn="l">
              <a:spcBef>
                <a:spcPts val="360"/>
              </a:spcBef>
              <a:spcAft>
                <a:spcPts val="0"/>
              </a:spcAft>
              <a:buNone/>
            </a:pPr>
            <a:r>
              <a:t/>
            </a:r>
            <a:endParaRPr/>
          </a:p>
        </p:txBody>
      </p:sp>
      <p:sp>
        <p:nvSpPr>
          <p:cNvPr id="1388" name="Google Shape;1388;p1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5.jpg"/><Relationship Id="rId4" Type="http://schemas.openxmlformats.org/officeDocument/2006/relationships/image" Target="../media/image9.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1.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130"/>
          <p:cNvSpPr/>
          <p:nvPr/>
        </p:nvSpPr>
        <p:spPr>
          <a:xfrm>
            <a:off x="327025" y="363538"/>
            <a:ext cx="8439150" cy="2517775"/>
          </a:xfrm>
          <a:prstGeom prst="rect">
            <a:avLst/>
          </a:prstGeom>
          <a:blipFill rotWithShape="1">
            <a:blip r:embed="rId2">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SectionHeaderLeft.jpg" id="20" name="Google Shape;20;p130"/>
          <p:cNvPicPr preferRelativeResize="0"/>
          <p:nvPr/>
        </p:nvPicPr>
        <p:blipFill rotWithShape="1">
          <a:blip r:embed="rId3">
            <a:alphaModFix/>
          </a:blip>
          <a:srcRect b="0" l="0" r="0" t="0"/>
          <a:stretch/>
        </p:blipFill>
        <p:spPr>
          <a:xfrm>
            <a:off x="469900" y="457200"/>
            <a:ext cx="2217738" cy="5943600"/>
          </a:xfrm>
          <a:prstGeom prst="rect">
            <a:avLst/>
          </a:prstGeom>
          <a:noFill/>
          <a:ln>
            <a:noFill/>
          </a:ln>
        </p:spPr>
      </p:pic>
      <p:sp>
        <p:nvSpPr>
          <p:cNvPr id="21" name="Google Shape;21;p130"/>
          <p:cNvSpPr/>
          <p:nvPr/>
        </p:nvSpPr>
        <p:spPr>
          <a:xfrm>
            <a:off x="320675" y="320675"/>
            <a:ext cx="8502650" cy="6216650"/>
          </a:xfrm>
          <a:prstGeom prst="rect">
            <a:avLst/>
          </a:prstGeom>
          <a:noFill/>
          <a:ln cap="flat" cmpd="sng" w="1270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2" name="Google Shape;22;p130"/>
          <p:cNvSpPr/>
          <p:nvPr/>
        </p:nvSpPr>
        <p:spPr>
          <a:xfrm rot="5400000">
            <a:off x="-223043" y="3369468"/>
            <a:ext cx="5943600" cy="11906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3" name="Google Shape;23;p130"/>
          <p:cNvSpPr txBox="1"/>
          <p:nvPr>
            <p:ph type="title"/>
          </p:nvPr>
        </p:nvSpPr>
        <p:spPr>
          <a:xfrm>
            <a:off x="3098041" y="3575712"/>
            <a:ext cx="5396671" cy="1340467"/>
          </a:xfrm>
          <a:prstGeom prst="rect">
            <a:avLst/>
          </a:prstGeom>
          <a:noFill/>
          <a:ln>
            <a:noFill/>
          </a:ln>
        </p:spPr>
        <p:txBody>
          <a:bodyPr anchorCtr="0" anchor="b" bIns="0" lIns="91425" spcFirstLastPara="1" rIns="91425" wrap="square" tIns="0">
            <a:noAutofit/>
          </a:bodyPr>
          <a:lstStyle>
            <a:lvl1pPr lvl="0" algn="r">
              <a:lnSpc>
                <a:spcPct val="117391"/>
              </a:lnSpc>
              <a:spcBef>
                <a:spcPts val="0"/>
              </a:spcBef>
              <a:spcAft>
                <a:spcPts val="0"/>
              </a:spcAft>
              <a:buSzPts val="1400"/>
              <a:buNone/>
              <a:defRPr b="0" sz="4600" cap="none">
                <a:solidFill>
                  <a:schemeClr val="accent1"/>
                </a:solidFill>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24" name="Google Shape;24;p130"/>
          <p:cNvSpPr txBox="1"/>
          <p:nvPr>
            <p:ph idx="1" type="body"/>
          </p:nvPr>
        </p:nvSpPr>
        <p:spPr>
          <a:xfrm>
            <a:off x="3098041" y="4980297"/>
            <a:ext cx="5396671" cy="810904"/>
          </a:xfrm>
          <a:prstGeom prst="rect">
            <a:avLst/>
          </a:prstGeom>
          <a:noFill/>
          <a:ln>
            <a:noFill/>
          </a:ln>
        </p:spPr>
        <p:txBody>
          <a:bodyPr anchorCtr="0" anchor="t" bIns="0" lIns="91425" spcFirstLastPara="1" rIns="91425" wrap="square" tIns="0">
            <a:normAutofit/>
          </a:bodyPr>
          <a:lstStyle>
            <a:lvl1pPr indent="-228600" lvl="0" marL="457200" algn="r">
              <a:spcBef>
                <a:spcPts val="300"/>
              </a:spcBef>
              <a:spcAft>
                <a:spcPts val="0"/>
              </a:spcAft>
              <a:buSzPts val="1350"/>
              <a:buNone/>
              <a:defRPr sz="1800">
                <a:solidFill>
                  <a:srgbClr val="7F7F7F"/>
                </a:solidFill>
              </a:defRPr>
            </a:lvl1pPr>
            <a:lvl2pPr indent="-228600" lvl="1" marL="914400" algn="l">
              <a:spcBef>
                <a:spcPts val="600"/>
              </a:spcBef>
              <a:spcAft>
                <a:spcPts val="0"/>
              </a:spcAft>
              <a:buSzPts val="1350"/>
              <a:buNone/>
              <a:defRPr sz="1800">
                <a:solidFill>
                  <a:srgbClr val="888888"/>
                </a:solidFill>
              </a:defRPr>
            </a:lvl2pPr>
            <a:lvl3pPr indent="-228600" lvl="2" marL="1371600" algn="l">
              <a:spcBef>
                <a:spcPts val="600"/>
              </a:spcBef>
              <a:spcAft>
                <a:spcPts val="0"/>
              </a:spcAft>
              <a:buSzPts val="1200"/>
              <a:buNone/>
              <a:defRPr sz="1600">
                <a:solidFill>
                  <a:srgbClr val="888888"/>
                </a:solidFill>
              </a:defRPr>
            </a:lvl3pPr>
            <a:lvl4pPr indent="-228600" lvl="3" marL="1828800" algn="l">
              <a:spcBef>
                <a:spcPts val="600"/>
              </a:spcBef>
              <a:spcAft>
                <a:spcPts val="0"/>
              </a:spcAft>
              <a:buSzPts val="1050"/>
              <a:buNone/>
              <a:defRPr sz="1400">
                <a:solidFill>
                  <a:srgbClr val="888888"/>
                </a:solidFill>
              </a:defRPr>
            </a:lvl4pPr>
            <a:lvl5pPr indent="-228600" lvl="4" marL="2286000" algn="l">
              <a:spcBef>
                <a:spcPts val="600"/>
              </a:spcBef>
              <a:spcAft>
                <a:spcPts val="0"/>
              </a:spcAft>
              <a:buSzPts val="105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5" name="Google Shape;25;p130"/>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0"/>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30"/>
          <p:cNvSpPr txBox="1"/>
          <p:nvPr>
            <p:ph idx="12" type="sldNum"/>
          </p:nvPr>
        </p:nvSpPr>
        <p:spPr>
          <a:xfrm>
            <a:off x="4306888" y="6492875"/>
            <a:ext cx="533400" cy="365125"/>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spcAft>
                <a:spcPts val="0"/>
              </a:spcAft>
              <a:buNone/>
              <a:defRPr b="1" i="0" sz="1100" u="none" cap="none" strike="noStrike">
                <a:solidFill>
                  <a:srgbClr val="A5A5A5"/>
                </a:solidFill>
                <a:latin typeface="Calibri"/>
                <a:ea typeface="Calibri"/>
                <a:cs typeface="Calibri"/>
                <a:sym typeface="Calibri"/>
              </a:defRPr>
            </a:lvl1pPr>
            <a:lvl2pPr indent="0" lvl="1" marL="0" marR="0" algn="ctr">
              <a:spcBef>
                <a:spcPts val="0"/>
              </a:spcBef>
              <a:spcAft>
                <a:spcPts val="0"/>
              </a:spcAft>
              <a:buNone/>
              <a:defRPr b="1" i="0" sz="1100" u="none" cap="none" strike="noStrike">
                <a:solidFill>
                  <a:srgbClr val="A5A5A5"/>
                </a:solidFill>
                <a:latin typeface="Calibri"/>
                <a:ea typeface="Calibri"/>
                <a:cs typeface="Calibri"/>
                <a:sym typeface="Calibri"/>
              </a:defRPr>
            </a:lvl2pPr>
            <a:lvl3pPr indent="0" lvl="2" marL="0" marR="0" algn="ctr">
              <a:spcBef>
                <a:spcPts val="0"/>
              </a:spcBef>
              <a:spcAft>
                <a:spcPts val="0"/>
              </a:spcAft>
              <a:buNone/>
              <a:defRPr b="1" i="0" sz="1100" u="none" cap="none" strike="noStrike">
                <a:solidFill>
                  <a:srgbClr val="A5A5A5"/>
                </a:solidFill>
                <a:latin typeface="Calibri"/>
                <a:ea typeface="Calibri"/>
                <a:cs typeface="Calibri"/>
                <a:sym typeface="Calibri"/>
              </a:defRPr>
            </a:lvl3pPr>
            <a:lvl4pPr indent="0" lvl="3" marL="0" marR="0" algn="ctr">
              <a:spcBef>
                <a:spcPts val="0"/>
              </a:spcBef>
              <a:spcAft>
                <a:spcPts val="0"/>
              </a:spcAft>
              <a:buNone/>
              <a:defRPr b="1" i="0" sz="1100" u="none" cap="none" strike="noStrike">
                <a:solidFill>
                  <a:srgbClr val="A5A5A5"/>
                </a:solidFill>
                <a:latin typeface="Calibri"/>
                <a:ea typeface="Calibri"/>
                <a:cs typeface="Calibri"/>
                <a:sym typeface="Calibri"/>
              </a:defRPr>
            </a:lvl4pPr>
            <a:lvl5pPr indent="0" lvl="4" marL="0" marR="0" algn="ctr">
              <a:spcBef>
                <a:spcPts val="0"/>
              </a:spcBef>
              <a:spcAft>
                <a:spcPts val="0"/>
              </a:spcAft>
              <a:buNone/>
              <a:defRPr b="1" i="0" sz="1100" u="none" cap="none" strike="noStrike">
                <a:solidFill>
                  <a:srgbClr val="A5A5A5"/>
                </a:solidFill>
                <a:latin typeface="Calibri"/>
                <a:ea typeface="Calibri"/>
                <a:cs typeface="Calibri"/>
                <a:sym typeface="Calibri"/>
              </a:defRPr>
            </a:lvl5pPr>
            <a:lvl6pPr indent="0" lvl="5" marL="0" marR="0" algn="ctr">
              <a:spcBef>
                <a:spcPts val="0"/>
              </a:spcBef>
              <a:spcAft>
                <a:spcPts val="0"/>
              </a:spcAft>
              <a:buNone/>
              <a:defRPr b="1" i="0" sz="1100" u="none" cap="none" strike="noStrike">
                <a:solidFill>
                  <a:srgbClr val="A5A5A5"/>
                </a:solidFill>
                <a:latin typeface="Calibri"/>
                <a:ea typeface="Calibri"/>
                <a:cs typeface="Calibri"/>
                <a:sym typeface="Calibri"/>
              </a:defRPr>
            </a:lvl6pPr>
            <a:lvl7pPr indent="0" lvl="6" marL="0" marR="0" algn="ctr">
              <a:spcBef>
                <a:spcPts val="0"/>
              </a:spcBef>
              <a:spcAft>
                <a:spcPts val="0"/>
              </a:spcAft>
              <a:buNone/>
              <a:defRPr b="1" i="0" sz="1100" u="none" cap="none" strike="noStrike">
                <a:solidFill>
                  <a:srgbClr val="A5A5A5"/>
                </a:solidFill>
                <a:latin typeface="Calibri"/>
                <a:ea typeface="Calibri"/>
                <a:cs typeface="Calibri"/>
                <a:sym typeface="Calibri"/>
              </a:defRPr>
            </a:lvl7pPr>
            <a:lvl8pPr indent="0" lvl="7" marL="0" marR="0" algn="ctr">
              <a:spcBef>
                <a:spcPts val="0"/>
              </a:spcBef>
              <a:spcAft>
                <a:spcPts val="0"/>
              </a:spcAft>
              <a:buNone/>
              <a:defRPr b="1" i="0" sz="1100" u="none" cap="none" strike="noStrike">
                <a:solidFill>
                  <a:srgbClr val="A5A5A5"/>
                </a:solidFill>
                <a:latin typeface="Calibri"/>
                <a:ea typeface="Calibri"/>
                <a:cs typeface="Calibri"/>
                <a:sym typeface="Calibri"/>
              </a:defRPr>
            </a:lvl8pPr>
            <a:lvl9pPr indent="0" lvl="8" marL="0" marR="0" algn="ctr">
              <a:spcBef>
                <a:spcPts val="0"/>
              </a:spcBef>
              <a:spcAft>
                <a:spcPts val="0"/>
              </a:spcAft>
              <a:buNone/>
              <a:defRPr b="1" i="0" sz="1100" u="none" cap="none" strike="noStrike">
                <a:solidFill>
                  <a:srgbClr val="A5A5A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131"/>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30" name="Google Shape;30;p131"/>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31"/>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31"/>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i="0" sz="1800" u="none" cap="none" strike="noStrike">
                <a:solidFill>
                  <a:schemeClr val="accent1"/>
                </a:solidFill>
                <a:latin typeface="Calibri"/>
                <a:ea typeface="Calibri"/>
                <a:cs typeface="Calibri"/>
                <a:sym typeface="Calibri"/>
              </a:defRPr>
            </a:lvl1pPr>
            <a:lvl2pPr indent="0" lvl="1" marL="0" marR="0" algn="l">
              <a:spcBef>
                <a:spcPts val="0"/>
              </a:spcBef>
              <a:spcAft>
                <a:spcPts val="0"/>
              </a:spcAft>
              <a:buNone/>
              <a:defRPr b="0" i="0" sz="1800" u="none" cap="none" strike="noStrike">
                <a:solidFill>
                  <a:schemeClr val="accent1"/>
                </a:solidFill>
                <a:latin typeface="Calibri"/>
                <a:ea typeface="Calibri"/>
                <a:cs typeface="Calibri"/>
                <a:sym typeface="Calibri"/>
              </a:defRPr>
            </a:lvl2pPr>
            <a:lvl3pPr indent="0" lvl="2" marL="0" marR="0" algn="l">
              <a:spcBef>
                <a:spcPts val="0"/>
              </a:spcBef>
              <a:spcAft>
                <a:spcPts val="0"/>
              </a:spcAft>
              <a:buNone/>
              <a:defRPr b="0" i="0" sz="1800" u="none" cap="none" strike="noStrike">
                <a:solidFill>
                  <a:schemeClr val="accent1"/>
                </a:solidFill>
                <a:latin typeface="Calibri"/>
                <a:ea typeface="Calibri"/>
                <a:cs typeface="Calibri"/>
                <a:sym typeface="Calibri"/>
              </a:defRPr>
            </a:lvl3pPr>
            <a:lvl4pPr indent="0" lvl="3" marL="0" marR="0" algn="l">
              <a:spcBef>
                <a:spcPts val="0"/>
              </a:spcBef>
              <a:spcAft>
                <a:spcPts val="0"/>
              </a:spcAft>
              <a:buNone/>
              <a:defRPr b="0" i="0" sz="1800" u="none" cap="none" strike="noStrike">
                <a:solidFill>
                  <a:schemeClr val="accent1"/>
                </a:solidFill>
                <a:latin typeface="Calibri"/>
                <a:ea typeface="Calibri"/>
                <a:cs typeface="Calibri"/>
                <a:sym typeface="Calibri"/>
              </a:defRPr>
            </a:lvl4pPr>
            <a:lvl5pPr indent="0" lvl="4" marL="0" marR="0" algn="l">
              <a:spcBef>
                <a:spcPts val="0"/>
              </a:spcBef>
              <a:spcAft>
                <a:spcPts val="0"/>
              </a:spcAft>
              <a:buNone/>
              <a:defRPr b="0" i="0" sz="1800" u="none" cap="none" strike="noStrike">
                <a:solidFill>
                  <a:schemeClr val="accent1"/>
                </a:solidFill>
                <a:latin typeface="Calibri"/>
                <a:ea typeface="Calibri"/>
                <a:cs typeface="Calibri"/>
                <a:sym typeface="Calibri"/>
              </a:defRPr>
            </a:lvl5pPr>
            <a:lvl6pPr indent="0" lvl="5" marL="0" marR="0" algn="l">
              <a:spcBef>
                <a:spcPts val="0"/>
              </a:spcBef>
              <a:spcAft>
                <a:spcPts val="0"/>
              </a:spcAft>
              <a:buNone/>
              <a:defRPr b="0" i="0" sz="1800" u="none" cap="none" strike="noStrike">
                <a:solidFill>
                  <a:schemeClr val="accent1"/>
                </a:solidFill>
                <a:latin typeface="Calibri"/>
                <a:ea typeface="Calibri"/>
                <a:cs typeface="Calibri"/>
                <a:sym typeface="Calibri"/>
              </a:defRPr>
            </a:lvl6pPr>
            <a:lvl7pPr indent="0" lvl="6" marL="0" marR="0" algn="l">
              <a:spcBef>
                <a:spcPts val="0"/>
              </a:spcBef>
              <a:spcAft>
                <a:spcPts val="0"/>
              </a:spcAft>
              <a:buNone/>
              <a:defRPr b="0" i="0" sz="1800" u="none" cap="none" strike="noStrike">
                <a:solidFill>
                  <a:schemeClr val="accent1"/>
                </a:solidFill>
                <a:latin typeface="Calibri"/>
                <a:ea typeface="Calibri"/>
                <a:cs typeface="Calibri"/>
                <a:sym typeface="Calibri"/>
              </a:defRPr>
            </a:lvl7pPr>
            <a:lvl8pPr indent="0" lvl="7" marL="0" marR="0" algn="l">
              <a:spcBef>
                <a:spcPts val="0"/>
              </a:spcBef>
              <a:spcAft>
                <a:spcPts val="0"/>
              </a:spcAft>
              <a:buNone/>
              <a:defRPr b="0" i="0" sz="1800" u="none" cap="none" strike="noStrike">
                <a:solidFill>
                  <a:schemeClr val="accent1"/>
                </a:solidFill>
                <a:latin typeface="Calibri"/>
                <a:ea typeface="Calibri"/>
                <a:cs typeface="Calibri"/>
                <a:sym typeface="Calibri"/>
              </a:defRPr>
            </a:lvl8pPr>
            <a:lvl9pPr indent="0" lvl="8" marL="0" marR="0" algn="l">
              <a:spcBef>
                <a:spcPts val="0"/>
              </a:spcBef>
              <a:spcAft>
                <a:spcPts val="0"/>
              </a:spcAft>
              <a:buNone/>
              <a:defRPr b="0" i="0" sz="1800" u="none" cap="none" strike="noStrike">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33" name="Shape 33"/>
        <p:cNvGrpSpPr/>
        <p:nvPr/>
      </p:nvGrpSpPr>
      <p:grpSpPr>
        <a:xfrm>
          <a:off x="0" y="0"/>
          <a:ext cx="0" cy="0"/>
          <a:chOff x="0" y="0"/>
          <a:chExt cx="0" cy="0"/>
        </a:xfrm>
      </p:grpSpPr>
      <p:sp>
        <p:nvSpPr>
          <p:cNvPr id="34" name="Google Shape;34;p13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35" name="Google Shape;35;p132"/>
          <p:cNvSpPr txBox="1"/>
          <p:nvPr>
            <p:ph idx="1" type="body"/>
          </p:nvPr>
        </p:nvSpPr>
        <p:spPr>
          <a:xfrm>
            <a:off x="2286000" y="2286000"/>
            <a:ext cx="6197600" cy="3840163"/>
          </a:xfrm>
          <a:prstGeom prst="rect">
            <a:avLst/>
          </a:prstGeom>
          <a:noFill/>
          <a:ln>
            <a:noFill/>
          </a:ln>
        </p:spPr>
        <p:txBody>
          <a:bodyPr anchorCtr="0" anchor="t" bIns="45700" lIns="91425" spcFirstLastPara="1" rIns="91425" wrap="square" tIns="45700">
            <a:noAutofit/>
          </a:bodyPr>
          <a:lstStyle>
            <a:lvl1pPr indent="-314325" lvl="0" marL="457200" algn="l">
              <a:spcBef>
                <a:spcPts val="18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6" name="Google Shape;36;p132"/>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32"/>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32"/>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i="0" sz="1800" u="none" cap="none" strike="noStrike">
                <a:solidFill>
                  <a:schemeClr val="accent1"/>
                </a:solidFill>
                <a:latin typeface="Calibri"/>
                <a:ea typeface="Calibri"/>
                <a:cs typeface="Calibri"/>
                <a:sym typeface="Calibri"/>
              </a:defRPr>
            </a:lvl1pPr>
            <a:lvl2pPr indent="0" lvl="1" marL="0" marR="0" algn="l">
              <a:spcBef>
                <a:spcPts val="0"/>
              </a:spcBef>
              <a:spcAft>
                <a:spcPts val="0"/>
              </a:spcAft>
              <a:buNone/>
              <a:defRPr b="0" i="0" sz="1800" u="none" cap="none" strike="noStrike">
                <a:solidFill>
                  <a:schemeClr val="accent1"/>
                </a:solidFill>
                <a:latin typeface="Calibri"/>
                <a:ea typeface="Calibri"/>
                <a:cs typeface="Calibri"/>
                <a:sym typeface="Calibri"/>
              </a:defRPr>
            </a:lvl2pPr>
            <a:lvl3pPr indent="0" lvl="2" marL="0" marR="0" algn="l">
              <a:spcBef>
                <a:spcPts val="0"/>
              </a:spcBef>
              <a:spcAft>
                <a:spcPts val="0"/>
              </a:spcAft>
              <a:buNone/>
              <a:defRPr b="0" i="0" sz="1800" u="none" cap="none" strike="noStrike">
                <a:solidFill>
                  <a:schemeClr val="accent1"/>
                </a:solidFill>
                <a:latin typeface="Calibri"/>
                <a:ea typeface="Calibri"/>
                <a:cs typeface="Calibri"/>
                <a:sym typeface="Calibri"/>
              </a:defRPr>
            </a:lvl3pPr>
            <a:lvl4pPr indent="0" lvl="3" marL="0" marR="0" algn="l">
              <a:spcBef>
                <a:spcPts val="0"/>
              </a:spcBef>
              <a:spcAft>
                <a:spcPts val="0"/>
              </a:spcAft>
              <a:buNone/>
              <a:defRPr b="0" i="0" sz="1800" u="none" cap="none" strike="noStrike">
                <a:solidFill>
                  <a:schemeClr val="accent1"/>
                </a:solidFill>
                <a:latin typeface="Calibri"/>
                <a:ea typeface="Calibri"/>
                <a:cs typeface="Calibri"/>
                <a:sym typeface="Calibri"/>
              </a:defRPr>
            </a:lvl4pPr>
            <a:lvl5pPr indent="0" lvl="4" marL="0" marR="0" algn="l">
              <a:spcBef>
                <a:spcPts val="0"/>
              </a:spcBef>
              <a:spcAft>
                <a:spcPts val="0"/>
              </a:spcAft>
              <a:buNone/>
              <a:defRPr b="0" i="0" sz="1800" u="none" cap="none" strike="noStrike">
                <a:solidFill>
                  <a:schemeClr val="accent1"/>
                </a:solidFill>
                <a:latin typeface="Calibri"/>
                <a:ea typeface="Calibri"/>
                <a:cs typeface="Calibri"/>
                <a:sym typeface="Calibri"/>
              </a:defRPr>
            </a:lvl5pPr>
            <a:lvl6pPr indent="0" lvl="5" marL="0" marR="0" algn="l">
              <a:spcBef>
                <a:spcPts val="0"/>
              </a:spcBef>
              <a:spcAft>
                <a:spcPts val="0"/>
              </a:spcAft>
              <a:buNone/>
              <a:defRPr b="0" i="0" sz="1800" u="none" cap="none" strike="noStrike">
                <a:solidFill>
                  <a:schemeClr val="accent1"/>
                </a:solidFill>
                <a:latin typeface="Calibri"/>
                <a:ea typeface="Calibri"/>
                <a:cs typeface="Calibri"/>
                <a:sym typeface="Calibri"/>
              </a:defRPr>
            </a:lvl6pPr>
            <a:lvl7pPr indent="0" lvl="6" marL="0" marR="0" algn="l">
              <a:spcBef>
                <a:spcPts val="0"/>
              </a:spcBef>
              <a:spcAft>
                <a:spcPts val="0"/>
              </a:spcAft>
              <a:buNone/>
              <a:defRPr b="0" i="0" sz="1800" u="none" cap="none" strike="noStrike">
                <a:solidFill>
                  <a:schemeClr val="accent1"/>
                </a:solidFill>
                <a:latin typeface="Calibri"/>
                <a:ea typeface="Calibri"/>
                <a:cs typeface="Calibri"/>
                <a:sym typeface="Calibri"/>
              </a:defRPr>
            </a:lvl7pPr>
            <a:lvl8pPr indent="0" lvl="7" marL="0" marR="0" algn="l">
              <a:spcBef>
                <a:spcPts val="0"/>
              </a:spcBef>
              <a:spcAft>
                <a:spcPts val="0"/>
              </a:spcAft>
              <a:buNone/>
              <a:defRPr b="0" i="0" sz="1800" u="none" cap="none" strike="noStrike">
                <a:solidFill>
                  <a:schemeClr val="accent1"/>
                </a:solidFill>
                <a:latin typeface="Calibri"/>
                <a:ea typeface="Calibri"/>
                <a:cs typeface="Calibri"/>
                <a:sym typeface="Calibri"/>
              </a:defRPr>
            </a:lvl8pPr>
            <a:lvl9pPr indent="0" lvl="8" marL="0" marR="0" algn="l">
              <a:spcBef>
                <a:spcPts val="0"/>
              </a:spcBef>
              <a:spcAft>
                <a:spcPts val="0"/>
              </a:spcAft>
              <a:buNone/>
              <a:defRPr b="0" i="0" sz="1800" u="none" cap="none" strike="noStrike">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9" name="Shape 39"/>
        <p:cNvGrpSpPr/>
        <p:nvPr/>
      </p:nvGrpSpPr>
      <p:grpSpPr>
        <a:xfrm>
          <a:off x="0" y="0"/>
          <a:ext cx="0" cy="0"/>
          <a:chOff x="0" y="0"/>
          <a:chExt cx="0" cy="0"/>
        </a:xfrm>
      </p:grpSpPr>
      <p:cxnSp>
        <p:nvCxnSpPr>
          <p:cNvPr id="40" name="Google Shape;40;p133"/>
          <p:cNvCxnSpPr/>
          <p:nvPr/>
        </p:nvCxnSpPr>
        <p:spPr>
          <a:xfrm rot="5400000">
            <a:off x="2885281" y="4483894"/>
            <a:ext cx="3375025" cy="1588"/>
          </a:xfrm>
          <a:prstGeom prst="straightConnector1">
            <a:avLst/>
          </a:prstGeom>
          <a:noFill/>
          <a:ln cap="flat" cmpd="sng" w="12700">
            <a:solidFill>
              <a:srgbClr val="A5A5A5"/>
            </a:solidFill>
            <a:prstDash val="solid"/>
            <a:round/>
            <a:headEnd len="sm" w="sm" type="none"/>
            <a:tailEnd len="sm" w="sm" type="none"/>
          </a:ln>
        </p:spPr>
      </p:cxnSp>
      <p:sp>
        <p:nvSpPr>
          <p:cNvPr id="41" name="Google Shape;41;p133"/>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103846"/>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42" name="Google Shape;42;p133"/>
          <p:cNvSpPr txBox="1"/>
          <p:nvPr>
            <p:ph idx="1" type="body"/>
          </p:nvPr>
        </p:nvSpPr>
        <p:spPr>
          <a:xfrm>
            <a:off x="663388" y="2040081"/>
            <a:ext cx="3657600" cy="730415"/>
          </a:xfrm>
          <a:prstGeom prst="rect">
            <a:avLst/>
          </a:prstGeom>
          <a:noFill/>
          <a:ln>
            <a:noFill/>
          </a:ln>
        </p:spPr>
        <p:txBody>
          <a:bodyPr anchorCtr="0" anchor="ctr" bIns="0" lIns="91425" spcFirstLastPara="1" rIns="91425" wrap="square" tIns="0">
            <a:noAutofit/>
          </a:bodyPr>
          <a:lstStyle>
            <a:lvl1pPr indent="-228600" lvl="0" marL="457200" algn="ctr">
              <a:lnSpc>
                <a:spcPct val="115384"/>
              </a:lnSpc>
              <a:spcBef>
                <a:spcPts val="300"/>
              </a:spcBef>
              <a:spcAft>
                <a:spcPts val="0"/>
              </a:spcAft>
              <a:buSzPts val="1950"/>
              <a:buNone/>
              <a:defRPr b="1" sz="2600">
                <a:solidFill>
                  <a:schemeClr val="accent1"/>
                </a:solidFill>
              </a:defRPr>
            </a:lvl1pPr>
            <a:lvl2pPr indent="-228600" lvl="1" marL="914400" algn="l">
              <a:spcBef>
                <a:spcPts val="600"/>
              </a:spcBef>
              <a:spcAft>
                <a:spcPts val="0"/>
              </a:spcAft>
              <a:buSzPts val="1500"/>
              <a:buNone/>
              <a:defRPr b="1" sz="2000"/>
            </a:lvl2pPr>
            <a:lvl3pPr indent="-228600" lvl="2" marL="1371600" algn="l">
              <a:spcBef>
                <a:spcPts val="600"/>
              </a:spcBef>
              <a:spcAft>
                <a:spcPts val="0"/>
              </a:spcAft>
              <a:buSzPts val="1350"/>
              <a:buNone/>
              <a:defRPr b="1" sz="1800"/>
            </a:lvl3pPr>
            <a:lvl4pPr indent="-228600" lvl="3" marL="1828800" algn="l">
              <a:spcBef>
                <a:spcPts val="600"/>
              </a:spcBef>
              <a:spcAft>
                <a:spcPts val="0"/>
              </a:spcAft>
              <a:buSzPts val="1200"/>
              <a:buNone/>
              <a:defRPr b="1" sz="1600"/>
            </a:lvl4pPr>
            <a:lvl5pPr indent="-228600" lvl="4" marL="2286000" algn="l">
              <a:spcBef>
                <a:spcPts val="600"/>
              </a:spcBef>
              <a:spcAft>
                <a:spcPts val="0"/>
              </a:spcAft>
              <a:buSzPts val="12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33"/>
          <p:cNvSpPr txBox="1"/>
          <p:nvPr>
            <p:ph idx="2" type="body"/>
          </p:nvPr>
        </p:nvSpPr>
        <p:spPr>
          <a:xfrm>
            <a:off x="663388" y="2797175"/>
            <a:ext cx="3657600" cy="3328988"/>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33"/>
          <p:cNvSpPr txBox="1"/>
          <p:nvPr>
            <p:ph idx="3" type="body"/>
          </p:nvPr>
        </p:nvSpPr>
        <p:spPr>
          <a:xfrm>
            <a:off x="4828032" y="2040081"/>
            <a:ext cx="3657600" cy="730415"/>
          </a:xfrm>
          <a:prstGeom prst="rect">
            <a:avLst/>
          </a:prstGeom>
          <a:noFill/>
          <a:ln>
            <a:noFill/>
          </a:ln>
        </p:spPr>
        <p:txBody>
          <a:bodyPr anchorCtr="0" anchor="ctr" bIns="0" lIns="91425" spcFirstLastPara="1" rIns="91425" wrap="square" tIns="0">
            <a:noAutofit/>
          </a:bodyPr>
          <a:lstStyle>
            <a:lvl1pPr indent="-228600" lvl="0" marL="457200" algn="ctr">
              <a:lnSpc>
                <a:spcPct val="115384"/>
              </a:lnSpc>
              <a:spcBef>
                <a:spcPts val="300"/>
              </a:spcBef>
              <a:spcAft>
                <a:spcPts val="0"/>
              </a:spcAft>
              <a:buSzPts val="1950"/>
              <a:buNone/>
              <a:defRPr b="1" sz="2600">
                <a:solidFill>
                  <a:schemeClr val="accent1"/>
                </a:solidFill>
              </a:defRPr>
            </a:lvl1pPr>
            <a:lvl2pPr indent="-228600" lvl="1" marL="914400" algn="l">
              <a:spcBef>
                <a:spcPts val="600"/>
              </a:spcBef>
              <a:spcAft>
                <a:spcPts val="0"/>
              </a:spcAft>
              <a:buSzPts val="1500"/>
              <a:buNone/>
              <a:defRPr b="1" sz="2000"/>
            </a:lvl2pPr>
            <a:lvl3pPr indent="-228600" lvl="2" marL="1371600" algn="l">
              <a:spcBef>
                <a:spcPts val="600"/>
              </a:spcBef>
              <a:spcAft>
                <a:spcPts val="0"/>
              </a:spcAft>
              <a:buSzPts val="1350"/>
              <a:buNone/>
              <a:defRPr b="1" sz="1800"/>
            </a:lvl3pPr>
            <a:lvl4pPr indent="-228600" lvl="3" marL="1828800" algn="l">
              <a:spcBef>
                <a:spcPts val="600"/>
              </a:spcBef>
              <a:spcAft>
                <a:spcPts val="0"/>
              </a:spcAft>
              <a:buSzPts val="1200"/>
              <a:buNone/>
              <a:defRPr b="1" sz="1600"/>
            </a:lvl4pPr>
            <a:lvl5pPr indent="-228600" lvl="4" marL="2286000" algn="l">
              <a:spcBef>
                <a:spcPts val="600"/>
              </a:spcBef>
              <a:spcAft>
                <a:spcPts val="0"/>
              </a:spcAft>
              <a:buSzPts val="12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33"/>
          <p:cNvSpPr txBox="1"/>
          <p:nvPr>
            <p:ph idx="4" type="body"/>
          </p:nvPr>
        </p:nvSpPr>
        <p:spPr>
          <a:xfrm>
            <a:off x="4828032" y="2797175"/>
            <a:ext cx="3657600" cy="3328988"/>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33"/>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33"/>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33"/>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i="0" sz="1800" u="none" cap="none" strike="noStrike">
                <a:solidFill>
                  <a:schemeClr val="accent1"/>
                </a:solidFill>
                <a:latin typeface="Calibri"/>
                <a:ea typeface="Calibri"/>
                <a:cs typeface="Calibri"/>
                <a:sym typeface="Calibri"/>
              </a:defRPr>
            </a:lvl1pPr>
            <a:lvl2pPr indent="0" lvl="1" marL="0" marR="0" algn="l">
              <a:spcBef>
                <a:spcPts val="0"/>
              </a:spcBef>
              <a:spcAft>
                <a:spcPts val="0"/>
              </a:spcAft>
              <a:buNone/>
              <a:defRPr b="0" i="0" sz="1800" u="none" cap="none" strike="noStrike">
                <a:solidFill>
                  <a:schemeClr val="accent1"/>
                </a:solidFill>
                <a:latin typeface="Calibri"/>
                <a:ea typeface="Calibri"/>
                <a:cs typeface="Calibri"/>
                <a:sym typeface="Calibri"/>
              </a:defRPr>
            </a:lvl2pPr>
            <a:lvl3pPr indent="0" lvl="2" marL="0" marR="0" algn="l">
              <a:spcBef>
                <a:spcPts val="0"/>
              </a:spcBef>
              <a:spcAft>
                <a:spcPts val="0"/>
              </a:spcAft>
              <a:buNone/>
              <a:defRPr b="0" i="0" sz="1800" u="none" cap="none" strike="noStrike">
                <a:solidFill>
                  <a:schemeClr val="accent1"/>
                </a:solidFill>
                <a:latin typeface="Calibri"/>
                <a:ea typeface="Calibri"/>
                <a:cs typeface="Calibri"/>
                <a:sym typeface="Calibri"/>
              </a:defRPr>
            </a:lvl3pPr>
            <a:lvl4pPr indent="0" lvl="3" marL="0" marR="0" algn="l">
              <a:spcBef>
                <a:spcPts val="0"/>
              </a:spcBef>
              <a:spcAft>
                <a:spcPts val="0"/>
              </a:spcAft>
              <a:buNone/>
              <a:defRPr b="0" i="0" sz="1800" u="none" cap="none" strike="noStrike">
                <a:solidFill>
                  <a:schemeClr val="accent1"/>
                </a:solidFill>
                <a:latin typeface="Calibri"/>
                <a:ea typeface="Calibri"/>
                <a:cs typeface="Calibri"/>
                <a:sym typeface="Calibri"/>
              </a:defRPr>
            </a:lvl4pPr>
            <a:lvl5pPr indent="0" lvl="4" marL="0" marR="0" algn="l">
              <a:spcBef>
                <a:spcPts val="0"/>
              </a:spcBef>
              <a:spcAft>
                <a:spcPts val="0"/>
              </a:spcAft>
              <a:buNone/>
              <a:defRPr b="0" i="0" sz="1800" u="none" cap="none" strike="noStrike">
                <a:solidFill>
                  <a:schemeClr val="accent1"/>
                </a:solidFill>
                <a:latin typeface="Calibri"/>
                <a:ea typeface="Calibri"/>
                <a:cs typeface="Calibri"/>
                <a:sym typeface="Calibri"/>
              </a:defRPr>
            </a:lvl5pPr>
            <a:lvl6pPr indent="0" lvl="5" marL="0" marR="0" algn="l">
              <a:spcBef>
                <a:spcPts val="0"/>
              </a:spcBef>
              <a:spcAft>
                <a:spcPts val="0"/>
              </a:spcAft>
              <a:buNone/>
              <a:defRPr b="0" i="0" sz="1800" u="none" cap="none" strike="noStrike">
                <a:solidFill>
                  <a:schemeClr val="accent1"/>
                </a:solidFill>
                <a:latin typeface="Calibri"/>
                <a:ea typeface="Calibri"/>
                <a:cs typeface="Calibri"/>
                <a:sym typeface="Calibri"/>
              </a:defRPr>
            </a:lvl6pPr>
            <a:lvl7pPr indent="0" lvl="6" marL="0" marR="0" algn="l">
              <a:spcBef>
                <a:spcPts val="0"/>
              </a:spcBef>
              <a:spcAft>
                <a:spcPts val="0"/>
              </a:spcAft>
              <a:buNone/>
              <a:defRPr b="0" i="0" sz="1800" u="none" cap="none" strike="noStrike">
                <a:solidFill>
                  <a:schemeClr val="accent1"/>
                </a:solidFill>
                <a:latin typeface="Calibri"/>
                <a:ea typeface="Calibri"/>
                <a:cs typeface="Calibri"/>
                <a:sym typeface="Calibri"/>
              </a:defRPr>
            </a:lvl7pPr>
            <a:lvl8pPr indent="0" lvl="7" marL="0" marR="0" algn="l">
              <a:spcBef>
                <a:spcPts val="0"/>
              </a:spcBef>
              <a:spcAft>
                <a:spcPts val="0"/>
              </a:spcAft>
              <a:buNone/>
              <a:defRPr b="0" i="0" sz="1800" u="none" cap="none" strike="noStrike">
                <a:solidFill>
                  <a:schemeClr val="accent1"/>
                </a:solidFill>
                <a:latin typeface="Calibri"/>
                <a:ea typeface="Calibri"/>
                <a:cs typeface="Calibri"/>
                <a:sym typeface="Calibri"/>
              </a:defRPr>
            </a:lvl8pPr>
            <a:lvl9pPr indent="0" lvl="8" marL="0" marR="0" algn="l">
              <a:spcBef>
                <a:spcPts val="0"/>
              </a:spcBef>
              <a:spcAft>
                <a:spcPts val="0"/>
              </a:spcAft>
              <a:buNone/>
              <a:defRPr b="0" i="0" sz="1800" u="none" cap="none" strike="noStrike">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134"/>
          <p:cNvSpPr/>
          <p:nvPr/>
        </p:nvSpPr>
        <p:spPr>
          <a:xfrm>
            <a:off x="333375" y="566738"/>
            <a:ext cx="8455025" cy="2133600"/>
          </a:xfrm>
          <a:prstGeom prst="rect">
            <a:avLst/>
          </a:prstGeom>
          <a:blipFill rotWithShape="1">
            <a:blip r:embed="rId2">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1" name="Google Shape;51;p134"/>
          <p:cNvSpPr/>
          <p:nvPr/>
        </p:nvSpPr>
        <p:spPr>
          <a:xfrm>
            <a:off x="320675" y="320675"/>
            <a:ext cx="8502650" cy="6216650"/>
          </a:xfrm>
          <a:prstGeom prst="rect">
            <a:avLst/>
          </a:prstGeom>
          <a:noFill/>
          <a:ln cap="flat" cmpd="sng" w="1270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2" name="Google Shape;52;p134"/>
          <p:cNvSpPr/>
          <p:nvPr/>
        </p:nvSpPr>
        <p:spPr>
          <a:xfrm>
            <a:off x="457200" y="457200"/>
            <a:ext cx="8229600" cy="11906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53" name="Google Shape;53;p134"/>
          <p:cNvSpPr txBox="1"/>
          <p:nvPr>
            <p:ph type="title"/>
          </p:nvPr>
        </p:nvSpPr>
        <p:spPr>
          <a:xfrm>
            <a:off x="658368" y="1644868"/>
            <a:ext cx="3657600" cy="1098332"/>
          </a:xfrm>
          <a:prstGeom prst="rect">
            <a:avLst/>
          </a:prstGeom>
          <a:noFill/>
          <a:ln>
            <a:noFill/>
          </a:ln>
        </p:spPr>
        <p:txBody>
          <a:bodyPr anchorCtr="0" anchor="b" bIns="0" lIns="91425" spcFirstLastPara="1" rIns="91425" wrap="square" tIns="0">
            <a:noAutofit/>
          </a:bodyPr>
          <a:lstStyle>
            <a:lvl1pPr lvl="0" algn="l">
              <a:lnSpc>
                <a:spcPct val="150000"/>
              </a:lnSpc>
              <a:spcBef>
                <a:spcPts val="0"/>
              </a:spcBef>
              <a:spcAft>
                <a:spcPts val="0"/>
              </a:spcAft>
              <a:buSzPts val="1400"/>
              <a:buNone/>
              <a:defRPr b="0" sz="3600">
                <a:solidFill>
                  <a:schemeClr val="accent1"/>
                </a:solidFill>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54" name="Google Shape;54;p134"/>
          <p:cNvSpPr txBox="1"/>
          <p:nvPr>
            <p:ph idx="1" type="body"/>
          </p:nvPr>
        </p:nvSpPr>
        <p:spPr>
          <a:xfrm>
            <a:off x="4828032" y="654268"/>
            <a:ext cx="3657600" cy="54864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5" name="Google Shape;55;p134"/>
          <p:cNvSpPr txBox="1"/>
          <p:nvPr>
            <p:ph idx="2" type="body"/>
          </p:nvPr>
        </p:nvSpPr>
        <p:spPr>
          <a:xfrm>
            <a:off x="658368" y="2774731"/>
            <a:ext cx="3657600" cy="3168869"/>
          </a:xfrm>
          <a:prstGeom prst="rect">
            <a:avLst/>
          </a:prstGeom>
          <a:noFill/>
          <a:ln>
            <a:noFill/>
          </a:ln>
        </p:spPr>
        <p:txBody>
          <a:bodyPr anchorCtr="0" anchor="t" bIns="45700" lIns="91425" spcFirstLastPara="1" rIns="91425" wrap="square" tIns="45700">
            <a:normAutofit/>
          </a:bodyPr>
          <a:lstStyle>
            <a:lvl1pPr indent="-228600" lvl="0" marL="457200" algn="l">
              <a:spcBef>
                <a:spcPts val="1800"/>
              </a:spcBef>
              <a:spcAft>
                <a:spcPts val="0"/>
              </a:spcAft>
              <a:buSzPts val="1350"/>
              <a:buNone/>
              <a:defRPr sz="1800"/>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6" name="Google Shape;56;p134"/>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34"/>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34"/>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i="0" sz="1800" u="none" cap="none" strike="noStrike">
                <a:solidFill>
                  <a:schemeClr val="accent1"/>
                </a:solidFill>
                <a:latin typeface="Calibri"/>
                <a:ea typeface="Calibri"/>
                <a:cs typeface="Calibri"/>
                <a:sym typeface="Calibri"/>
              </a:defRPr>
            </a:lvl1pPr>
            <a:lvl2pPr indent="0" lvl="1" marL="0" marR="0" algn="l">
              <a:spcBef>
                <a:spcPts val="0"/>
              </a:spcBef>
              <a:spcAft>
                <a:spcPts val="0"/>
              </a:spcAft>
              <a:buNone/>
              <a:defRPr b="0" i="0" sz="1800" u="none" cap="none" strike="noStrike">
                <a:solidFill>
                  <a:schemeClr val="accent1"/>
                </a:solidFill>
                <a:latin typeface="Calibri"/>
                <a:ea typeface="Calibri"/>
                <a:cs typeface="Calibri"/>
                <a:sym typeface="Calibri"/>
              </a:defRPr>
            </a:lvl2pPr>
            <a:lvl3pPr indent="0" lvl="2" marL="0" marR="0" algn="l">
              <a:spcBef>
                <a:spcPts val="0"/>
              </a:spcBef>
              <a:spcAft>
                <a:spcPts val="0"/>
              </a:spcAft>
              <a:buNone/>
              <a:defRPr b="0" i="0" sz="1800" u="none" cap="none" strike="noStrike">
                <a:solidFill>
                  <a:schemeClr val="accent1"/>
                </a:solidFill>
                <a:latin typeface="Calibri"/>
                <a:ea typeface="Calibri"/>
                <a:cs typeface="Calibri"/>
                <a:sym typeface="Calibri"/>
              </a:defRPr>
            </a:lvl3pPr>
            <a:lvl4pPr indent="0" lvl="3" marL="0" marR="0" algn="l">
              <a:spcBef>
                <a:spcPts val="0"/>
              </a:spcBef>
              <a:spcAft>
                <a:spcPts val="0"/>
              </a:spcAft>
              <a:buNone/>
              <a:defRPr b="0" i="0" sz="1800" u="none" cap="none" strike="noStrike">
                <a:solidFill>
                  <a:schemeClr val="accent1"/>
                </a:solidFill>
                <a:latin typeface="Calibri"/>
                <a:ea typeface="Calibri"/>
                <a:cs typeface="Calibri"/>
                <a:sym typeface="Calibri"/>
              </a:defRPr>
            </a:lvl4pPr>
            <a:lvl5pPr indent="0" lvl="4" marL="0" marR="0" algn="l">
              <a:spcBef>
                <a:spcPts val="0"/>
              </a:spcBef>
              <a:spcAft>
                <a:spcPts val="0"/>
              </a:spcAft>
              <a:buNone/>
              <a:defRPr b="0" i="0" sz="1800" u="none" cap="none" strike="noStrike">
                <a:solidFill>
                  <a:schemeClr val="accent1"/>
                </a:solidFill>
                <a:latin typeface="Calibri"/>
                <a:ea typeface="Calibri"/>
                <a:cs typeface="Calibri"/>
                <a:sym typeface="Calibri"/>
              </a:defRPr>
            </a:lvl5pPr>
            <a:lvl6pPr indent="0" lvl="5" marL="0" marR="0" algn="l">
              <a:spcBef>
                <a:spcPts val="0"/>
              </a:spcBef>
              <a:spcAft>
                <a:spcPts val="0"/>
              </a:spcAft>
              <a:buNone/>
              <a:defRPr b="0" i="0" sz="1800" u="none" cap="none" strike="noStrike">
                <a:solidFill>
                  <a:schemeClr val="accent1"/>
                </a:solidFill>
                <a:latin typeface="Calibri"/>
                <a:ea typeface="Calibri"/>
                <a:cs typeface="Calibri"/>
                <a:sym typeface="Calibri"/>
              </a:defRPr>
            </a:lvl6pPr>
            <a:lvl7pPr indent="0" lvl="6" marL="0" marR="0" algn="l">
              <a:spcBef>
                <a:spcPts val="0"/>
              </a:spcBef>
              <a:spcAft>
                <a:spcPts val="0"/>
              </a:spcAft>
              <a:buNone/>
              <a:defRPr b="0" i="0" sz="1800" u="none" cap="none" strike="noStrike">
                <a:solidFill>
                  <a:schemeClr val="accent1"/>
                </a:solidFill>
                <a:latin typeface="Calibri"/>
                <a:ea typeface="Calibri"/>
                <a:cs typeface="Calibri"/>
                <a:sym typeface="Calibri"/>
              </a:defRPr>
            </a:lvl7pPr>
            <a:lvl8pPr indent="0" lvl="7" marL="0" marR="0" algn="l">
              <a:spcBef>
                <a:spcPts val="0"/>
              </a:spcBef>
              <a:spcAft>
                <a:spcPts val="0"/>
              </a:spcAft>
              <a:buNone/>
              <a:defRPr b="0" i="0" sz="1800" u="none" cap="none" strike="noStrike">
                <a:solidFill>
                  <a:schemeClr val="accent1"/>
                </a:solidFill>
                <a:latin typeface="Calibri"/>
                <a:ea typeface="Calibri"/>
                <a:cs typeface="Calibri"/>
                <a:sym typeface="Calibri"/>
              </a:defRPr>
            </a:lvl8pPr>
            <a:lvl9pPr indent="0" lvl="8" marL="0" marR="0" algn="l">
              <a:spcBef>
                <a:spcPts val="0"/>
              </a:spcBef>
              <a:spcAft>
                <a:spcPts val="0"/>
              </a:spcAft>
              <a:buNone/>
              <a:defRPr b="0" i="0" sz="1800" u="none" cap="none" strike="noStrike">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type="blank">
  <p:cSld name="BLANK">
    <p:spTree>
      <p:nvGrpSpPr>
        <p:cNvPr id="59" name="Shape 59"/>
        <p:cNvGrpSpPr/>
        <p:nvPr/>
      </p:nvGrpSpPr>
      <p:grpSpPr>
        <a:xfrm>
          <a:off x="0" y="0"/>
          <a:ext cx="0" cy="0"/>
          <a:chOff x="0" y="0"/>
          <a:chExt cx="0" cy="0"/>
        </a:xfrm>
      </p:grpSpPr>
      <p:sp>
        <p:nvSpPr>
          <p:cNvPr id="60" name="Google Shape;60;p135"/>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35"/>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35"/>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i="0" sz="1800" u="none" cap="none" strike="noStrike">
                <a:solidFill>
                  <a:schemeClr val="accent1"/>
                </a:solidFill>
                <a:latin typeface="Calibri"/>
                <a:ea typeface="Calibri"/>
                <a:cs typeface="Calibri"/>
                <a:sym typeface="Calibri"/>
              </a:defRPr>
            </a:lvl1pPr>
            <a:lvl2pPr indent="0" lvl="1" marL="0" marR="0" algn="l">
              <a:spcBef>
                <a:spcPts val="0"/>
              </a:spcBef>
              <a:spcAft>
                <a:spcPts val="0"/>
              </a:spcAft>
              <a:buNone/>
              <a:defRPr b="0" i="0" sz="1800" u="none" cap="none" strike="noStrike">
                <a:solidFill>
                  <a:schemeClr val="accent1"/>
                </a:solidFill>
                <a:latin typeface="Calibri"/>
                <a:ea typeface="Calibri"/>
                <a:cs typeface="Calibri"/>
                <a:sym typeface="Calibri"/>
              </a:defRPr>
            </a:lvl2pPr>
            <a:lvl3pPr indent="0" lvl="2" marL="0" marR="0" algn="l">
              <a:spcBef>
                <a:spcPts val="0"/>
              </a:spcBef>
              <a:spcAft>
                <a:spcPts val="0"/>
              </a:spcAft>
              <a:buNone/>
              <a:defRPr b="0" i="0" sz="1800" u="none" cap="none" strike="noStrike">
                <a:solidFill>
                  <a:schemeClr val="accent1"/>
                </a:solidFill>
                <a:latin typeface="Calibri"/>
                <a:ea typeface="Calibri"/>
                <a:cs typeface="Calibri"/>
                <a:sym typeface="Calibri"/>
              </a:defRPr>
            </a:lvl3pPr>
            <a:lvl4pPr indent="0" lvl="3" marL="0" marR="0" algn="l">
              <a:spcBef>
                <a:spcPts val="0"/>
              </a:spcBef>
              <a:spcAft>
                <a:spcPts val="0"/>
              </a:spcAft>
              <a:buNone/>
              <a:defRPr b="0" i="0" sz="1800" u="none" cap="none" strike="noStrike">
                <a:solidFill>
                  <a:schemeClr val="accent1"/>
                </a:solidFill>
                <a:latin typeface="Calibri"/>
                <a:ea typeface="Calibri"/>
                <a:cs typeface="Calibri"/>
                <a:sym typeface="Calibri"/>
              </a:defRPr>
            </a:lvl4pPr>
            <a:lvl5pPr indent="0" lvl="4" marL="0" marR="0" algn="l">
              <a:spcBef>
                <a:spcPts val="0"/>
              </a:spcBef>
              <a:spcAft>
                <a:spcPts val="0"/>
              </a:spcAft>
              <a:buNone/>
              <a:defRPr b="0" i="0" sz="1800" u="none" cap="none" strike="noStrike">
                <a:solidFill>
                  <a:schemeClr val="accent1"/>
                </a:solidFill>
                <a:latin typeface="Calibri"/>
                <a:ea typeface="Calibri"/>
                <a:cs typeface="Calibri"/>
                <a:sym typeface="Calibri"/>
              </a:defRPr>
            </a:lvl5pPr>
            <a:lvl6pPr indent="0" lvl="5" marL="0" marR="0" algn="l">
              <a:spcBef>
                <a:spcPts val="0"/>
              </a:spcBef>
              <a:spcAft>
                <a:spcPts val="0"/>
              </a:spcAft>
              <a:buNone/>
              <a:defRPr b="0" i="0" sz="1800" u="none" cap="none" strike="noStrike">
                <a:solidFill>
                  <a:schemeClr val="accent1"/>
                </a:solidFill>
                <a:latin typeface="Calibri"/>
                <a:ea typeface="Calibri"/>
                <a:cs typeface="Calibri"/>
                <a:sym typeface="Calibri"/>
              </a:defRPr>
            </a:lvl6pPr>
            <a:lvl7pPr indent="0" lvl="6" marL="0" marR="0" algn="l">
              <a:spcBef>
                <a:spcPts val="0"/>
              </a:spcBef>
              <a:spcAft>
                <a:spcPts val="0"/>
              </a:spcAft>
              <a:buNone/>
              <a:defRPr b="0" i="0" sz="1800" u="none" cap="none" strike="noStrike">
                <a:solidFill>
                  <a:schemeClr val="accent1"/>
                </a:solidFill>
                <a:latin typeface="Calibri"/>
                <a:ea typeface="Calibri"/>
                <a:cs typeface="Calibri"/>
                <a:sym typeface="Calibri"/>
              </a:defRPr>
            </a:lvl7pPr>
            <a:lvl8pPr indent="0" lvl="7" marL="0" marR="0" algn="l">
              <a:spcBef>
                <a:spcPts val="0"/>
              </a:spcBef>
              <a:spcAft>
                <a:spcPts val="0"/>
              </a:spcAft>
              <a:buNone/>
              <a:defRPr b="0" i="0" sz="1800" u="none" cap="none" strike="noStrike">
                <a:solidFill>
                  <a:schemeClr val="accent1"/>
                </a:solidFill>
                <a:latin typeface="Calibri"/>
                <a:ea typeface="Calibri"/>
                <a:cs typeface="Calibri"/>
                <a:sym typeface="Calibri"/>
              </a:defRPr>
            </a:lvl8pPr>
            <a:lvl9pPr indent="0" lvl="8" marL="0" marR="0" algn="l">
              <a:spcBef>
                <a:spcPts val="0"/>
              </a:spcBef>
              <a:spcAft>
                <a:spcPts val="0"/>
              </a:spcAft>
              <a:buNone/>
              <a:defRPr b="0" i="0" sz="1800" u="none" cap="none" strike="noStrike">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63" name="Shape 63"/>
        <p:cNvGrpSpPr/>
        <p:nvPr/>
      </p:nvGrpSpPr>
      <p:grpSpPr>
        <a:xfrm>
          <a:off x="0" y="0"/>
          <a:ext cx="0" cy="0"/>
          <a:chOff x="0" y="0"/>
          <a:chExt cx="0" cy="0"/>
        </a:xfrm>
      </p:grpSpPr>
      <p:sp>
        <p:nvSpPr>
          <p:cNvPr id="64" name="Google Shape;64;p136"/>
          <p:cNvSpPr/>
          <p:nvPr/>
        </p:nvSpPr>
        <p:spPr>
          <a:xfrm>
            <a:off x="355600" y="566738"/>
            <a:ext cx="8396288" cy="2597150"/>
          </a:xfrm>
          <a:prstGeom prst="rect">
            <a:avLst/>
          </a:prstGeom>
          <a:blipFill rotWithShape="1">
            <a:blip r:embed="rId2">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 name="Google Shape;65;p136"/>
          <p:cNvSpPr/>
          <p:nvPr/>
        </p:nvSpPr>
        <p:spPr>
          <a:xfrm>
            <a:off x="320675" y="320675"/>
            <a:ext cx="8502650" cy="6216650"/>
          </a:xfrm>
          <a:prstGeom prst="rect">
            <a:avLst/>
          </a:prstGeom>
          <a:noFill/>
          <a:ln cap="flat" cmpd="sng" w="1270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6" name="Google Shape;66;p136"/>
          <p:cNvSpPr/>
          <p:nvPr/>
        </p:nvSpPr>
        <p:spPr>
          <a:xfrm>
            <a:off x="457200" y="457200"/>
            <a:ext cx="8229600" cy="11906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7" name="Google Shape;67;p136"/>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36"/>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36"/>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0" name="Shape 70"/>
        <p:cNvGrpSpPr/>
        <p:nvPr/>
      </p:nvGrpSpPr>
      <p:grpSpPr>
        <a:xfrm>
          <a:off x="0" y="0"/>
          <a:ext cx="0" cy="0"/>
          <a:chOff x="0" y="0"/>
          <a:chExt cx="0" cy="0"/>
        </a:xfrm>
      </p:grpSpPr>
      <p:sp>
        <p:nvSpPr>
          <p:cNvPr id="71" name="Google Shape;71;p137"/>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72" name="Google Shape;72;p137"/>
          <p:cNvSpPr txBox="1"/>
          <p:nvPr>
            <p:ph idx="1" type="body"/>
          </p:nvPr>
        </p:nvSpPr>
        <p:spPr>
          <a:xfrm>
            <a:off x="658904" y="2286000"/>
            <a:ext cx="3657600" cy="3840163"/>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3" name="Google Shape;73;p137"/>
          <p:cNvSpPr txBox="1"/>
          <p:nvPr>
            <p:ph idx="2" type="body"/>
          </p:nvPr>
        </p:nvSpPr>
        <p:spPr>
          <a:xfrm>
            <a:off x="4831308" y="2286000"/>
            <a:ext cx="3657600" cy="3840163"/>
          </a:xfrm>
          <a:prstGeom prst="rect">
            <a:avLst/>
          </a:prstGeom>
          <a:noFill/>
          <a:ln>
            <a:noFill/>
          </a:ln>
        </p:spPr>
        <p:txBody>
          <a:bodyPr anchorCtr="0" anchor="t" bIns="45700" lIns="91425" spcFirstLastPara="1" rIns="91425" wrap="square" tIns="45700">
            <a:no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74" name="Google Shape;74;p137"/>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37"/>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37"/>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ntent, Top and Bottom">
  <p:cSld name="2 Content, Top and Bottom">
    <p:spTree>
      <p:nvGrpSpPr>
        <p:cNvPr id="77" name="Shape 77"/>
        <p:cNvGrpSpPr/>
        <p:nvPr/>
      </p:nvGrpSpPr>
      <p:grpSpPr>
        <a:xfrm>
          <a:off x="0" y="0"/>
          <a:ext cx="0" cy="0"/>
          <a:chOff x="0" y="0"/>
          <a:chExt cx="0" cy="0"/>
        </a:xfrm>
      </p:grpSpPr>
      <p:sp>
        <p:nvSpPr>
          <p:cNvPr id="78" name="Google Shape;78;p138"/>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79" name="Google Shape;79;p138"/>
          <p:cNvSpPr txBox="1"/>
          <p:nvPr>
            <p:ph idx="1" type="body"/>
          </p:nvPr>
        </p:nvSpPr>
        <p:spPr>
          <a:xfrm>
            <a:off x="654050" y="2286001"/>
            <a:ext cx="7848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0" name="Google Shape;80;p138"/>
          <p:cNvSpPr txBox="1"/>
          <p:nvPr>
            <p:ph idx="2" type="body"/>
          </p:nvPr>
        </p:nvSpPr>
        <p:spPr>
          <a:xfrm>
            <a:off x="654050" y="4302966"/>
            <a:ext cx="7848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81" name="Google Shape;81;p138"/>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38"/>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38"/>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84" name="Shape 84"/>
        <p:cNvGrpSpPr/>
        <p:nvPr/>
      </p:nvGrpSpPr>
      <p:grpSpPr>
        <a:xfrm>
          <a:off x="0" y="0"/>
          <a:ext cx="0" cy="0"/>
          <a:chOff x="0" y="0"/>
          <a:chExt cx="0" cy="0"/>
        </a:xfrm>
      </p:grpSpPr>
      <p:pic>
        <p:nvPicPr>
          <p:cNvPr descr="green.gif" id="85" name="Google Shape;85;p139"/>
          <p:cNvPicPr preferRelativeResize="0"/>
          <p:nvPr/>
        </p:nvPicPr>
        <p:blipFill rotWithShape="1">
          <a:blip r:embed="rId2">
            <a:alphaModFix/>
          </a:blip>
          <a:srcRect b="0" l="0" r="0" t="0"/>
          <a:stretch/>
        </p:blipFill>
        <p:spPr>
          <a:xfrm>
            <a:off x="8429625" y="5562600"/>
            <a:ext cx="714375" cy="838200"/>
          </a:xfrm>
          <a:prstGeom prst="rect">
            <a:avLst/>
          </a:prstGeom>
          <a:noFill/>
          <a:ln>
            <a:noFill/>
          </a:ln>
        </p:spPr>
      </p:pic>
      <p:pic>
        <p:nvPicPr>
          <p:cNvPr descr="hand.gif" id="86" name="Google Shape;86;p139"/>
          <p:cNvPicPr preferRelativeResize="0"/>
          <p:nvPr/>
        </p:nvPicPr>
        <p:blipFill rotWithShape="1">
          <a:blip r:embed="rId3">
            <a:alphaModFix/>
          </a:blip>
          <a:srcRect b="0" l="0" r="0" t="0"/>
          <a:stretch/>
        </p:blipFill>
        <p:spPr>
          <a:xfrm>
            <a:off x="0" y="6115050"/>
            <a:ext cx="1190625" cy="742950"/>
          </a:xfrm>
          <a:prstGeom prst="rect">
            <a:avLst/>
          </a:prstGeom>
          <a:noFill/>
          <a:ln>
            <a:noFill/>
          </a:ln>
        </p:spPr>
      </p:pic>
      <p:sp>
        <p:nvSpPr>
          <p:cNvPr id="87" name="Google Shape;87;p139"/>
          <p:cNvSpPr/>
          <p:nvPr/>
        </p:nvSpPr>
        <p:spPr>
          <a:xfrm>
            <a:off x="1171575" y="6124575"/>
            <a:ext cx="7286625" cy="219075"/>
          </a:xfrm>
          <a:custGeom>
            <a:rect b="b" l="l" r="r" t="t"/>
            <a:pathLst>
              <a:path extrusionOk="0" h="219075" w="728662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noFill/>
          <a:ln cap="flat" cmpd="sng" w="158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descr="top.gif" id="88" name="Google Shape;88;p139"/>
          <p:cNvPicPr preferRelativeResize="0"/>
          <p:nvPr/>
        </p:nvPicPr>
        <p:blipFill rotWithShape="1">
          <a:blip r:embed="rId4">
            <a:alphaModFix/>
          </a:blip>
          <a:srcRect b="0" l="0" r="0" t="0"/>
          <a:stretch/>
        </p:blipFill>
        <p:spPr>
          <a:xfrm rot="-2749819">
            <a:off x="-155575" y="330200"/>
            <a:ext cx="2000250" cy="1047750"/>
          </a:xfrm>
          <a:prstGeom prst="rect">
            <a:avLst/>
          </a:prstGeom>
          <a:noFill/>
          <a:ln>
            <a:noFill/>
          </a:ln>
        </p:spPr>
      </p:pic>
      <p:sp>
        <p:nvSpPr>
          <p:cNvPr id="89" name="Google Shape;89;p139"/>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90" name="Google Shape;90;p139"/>
          <p:cNvSpPr txBox="1"/>
          <p:nvPr>
            <p:ph idx="1" type="body"/>
          </p:nvPr>
        </p:nvSpPr>
        <p:spPr>
          <a:xfrm>
            <a:off x="2286000" y="2286000"/>
            <a:ext cx="6197600" cy="3840163"/>
          </a:xfrm>
          <a:prstGeom prst="rect">
            <a:avLst/>
          </a:prstGeom>
          <a:noFill/>
          <a:ln>
            <a:noFill/>
          </a:ln>
        </p:spPr>
        <p:txBody>
          <a:bodyPr anchorCtr="0" anchor="t" bIns="45700" lIns="91425" spcFirstLastPara="1" rIns="91425" wrap="square" tIns="45700">
            <a:noAutofit/>
          </a:bodyPr>
          <a:lstStyle>
            <a:lvl1pPr indent="-314325" lvl="0" marL="457200" algn="l">
              <a:spcBef>
                <a:spcPts val="18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1" name="Google Shape;91;p139"/>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39"/>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139"/>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Content">
  <p:cSld name="4 Content">
    <p:spTree>
      <p:nvGrpSpPr>
        <p:cNvPr id="94" name="Shape 94"/>
        <p:cNvGrpSpPr/>
        <p:nvPr/>
      </p:nvGrpSpPr>
      <p:grpSpPr>
        <a:xfrm>
          <a:off x="0" y="0"/>
          <a:ext cx="0" cy="0"/>
          <a:chOff x="0" y="0"/>
          <a:chExt cx="0" cy="0"/>
        </a:xfrm>
      </p:grpSpPr>
      <p:sp>
        <p:nvSpPr>
          <p:cNvPr id="95" name="Google Shape;95;p140"/>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96" name="Google Shape;96;p140"/>
          <p:cNvSpPr txBox="1"/>
          <p:nvPr>
            <p:ph idx="1" type="body"/>
          </p:nvPr>
        </p:nvSpPr>
        <p:spPr>
          <a:xfrm>
            <a:off x="4828032" y="2286001"/>
            <a:ext cx="3657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97" name="Google Shape;97;p140"/>
          <p:cNvSpPr txBox="1"/>
          <p:nvPr>
            <p:ph idx="2" type="body"/>
          </p:nvPr>
        </p:nvSpPr>
        <p:spPr>
          <a:xfrm>
            <a:off x="4828032" y="4302966"/>
            <a:ext cx="3657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98" name="Google Shape;98;p140"/>
          <p:cNvSpPr txBox="1"/>
          <p:nvPr>
            <p:ph idx="3" type="body"/>
          </p:nvPr>
        </p:nvSpPr>
        <p:spPr>
          <a:xfrm>
            <a:off x="658906" y="2286001"/>
            <a:ext cx="3657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99" name="Google Shape;99;p140"/>
          <p:cNvSpPr txBox="1"/>
          <p:nvPr>
            <p:ph idx="4" type="body"/>
          </p:nvPr>
        </p:nvSpPr>
        <p:spPr>
          <a:xfrm>
            <a:off x="658906" y="4302966"/>
            <a:ext cx="3657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00" name="Google Shape;100;p140"/>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40"/>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40"/>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141"/>
          <p:cNvSpPr/>
          <p:nvPr/>
        </p:nvSpPr>
        <p:spPr>
          <a:xfrm>
            <a:off x="341313" y="928688"/>
            <a:ext cx="8432800" cy="1771650"/>
          </a:xfrm>
          <a:prstGeom prst="rect">
            <a:avLst/>
          </a:prstGeom>
          <a:blipFill rotWithShape="1">
            <a:blip r:embed="rId2">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5" name="Google Shape;105;p141"/>
          <p:cNvSpPr/>
          <p:nvPr/>
        </p:nvSpPr>
        <p:spPr>
          <a:xfrm>
            <a:off x="320675" y="320675"/>
            <a:ext cx="8502650" cy="6216650"/>
          </a:xfrm>
          <a:prstGeom prst="rect">
            <a:avLst/>
          </a:prstGeom>
          <a:noFill/>
          <a:ln cap="flat" cmpd="sng" w="1270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6" name="Google Shape;106;p141"/>
          <p:cNvSpPr/>
          <p:nvPr/>
        </p:nvSpPr>
        <p:spPr>
          <a:xfrm>
            <a:off x="457200" y="817563"/>
            <a:ext cx="8229600" cy="1174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TitleSlideTop.jpg" id="107" name="Google Shape;107;p141"/>
          <p:cNvPicPr preferRelativeResize="0"/>
          <p:nvPr/>
        </p:nvPicPr>
        <p:blipFill rotWithShape="1">
          <a:blip r:embed="rId3">
            <a:alphaModFix/>
          </a:blip>
          <a:srcRect b="0" l="0" r="0" t="0"/>
          <a:stretch/>
        </p:blipFill>
        <p:spPr>
          <a:xfrm>
            <a:off x="457200" y="457200"/>
            <a:ext cx="8229600" cy="357188"/>
          </a:xfrm>
          <a:prstGeom prst="rect">
            <a:avLst/>
          </a:prstGeom>
          <a:noFill/>
          <a:ln>
            <a:noFill/>
          </a:ln>
        </p:spPr>
      </p:pic>
      <p:pic>
        <p:nvPicPr>
          <p:cNvPr descr="TitleSlideBottom.jpg" id="108" name="Google Shape;108;p141"/>
          <p:cNvPicPr preferRelativeResize="0"/>
          <p:nvPr/>
        </p:nvPicPr>
        <p:blipFill rotWithShape="1">
          <a:blip r:embed="rId4">
            <a:alphaModFix/>
          </a:blip>
          <a:srcRect b="0" l="0" r="0" t="0"/>
          <a:stretch/>
        </p:blipFill>
        <p:spPr>
          <a:xfrm>
            <a:off x="457200" y="2700338"/>
            <a:ext cx="8229600" cy="3700462"/>
          </a:xfrm>
          <a:prstGeom prst="rect">
            <a:avLst/>
          </a:prstGeom>
          <a:noFill/>
          <a:ln>
            <a:noFill/>
          </a:ln>
        </p:spPr>
      </p:pic>
      <p:sp>
        <p:nvSpPr>
          <p:cNvPr id="109" name="Google Shape;109;p141"/>
          <p:cNvSpPr txBox="1"/>
          <p:nvPr>
            <p:ph type="ctrTitle"/>
          </p:nvPr>
        </p:nvSpPr>
        <p:spPr>
          <a:xfrm>
            <a:off x="685707" y="968189"/>
            <a:ext cx="7799387" cy="1237130"/>
          </a:xfrm>
          <a:prstGeom prst="rect">
            <a:avLst/>
          </a:prstGeom>
          <a:noFill/>
          <a:ln>
            <a:noFill/>
          </a:ln>
        </p:spPr>
        <p:txBody>
          <a:bodyPr anchorCtr="0" anchor="b" bIns="0" lIns="91425" spcFirstLastPara="1" rIns="91425" wrap="square" tIns="0">
            <a:noAutofit/>
          </a:bodyPr>
          <a:lstStyle>
            <a:lvl1pPr lvl="0" algn="r">
              <a:lnSpc>
                <a:spcPct val="108695"/>
              </a:lnSpc>
              <a:spcBef>
                <a:spcPts val="0"/>
              </a:spcBef>
              <a:spcAft>
                <a:spcPts val="0"/>
              </a:spcAft>
              <a:buSzPts val="1400"/>
              <a:buNone/>
              <a:defRPr sz="4600">
                <a:solidFill>
                  <a:schemeClr val="accent1"/>
                </a:solidFill>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110" name="Google Shape;110;p141"/>
          <p:cNvSpPr txBox="1"/>
          <p:nvPr>
            <p:ph idx="1" type="subTitle"/>
          </p:nvPr>
        </p:nvSpPr>
        <p:spPr>
          <a:xfrm>
            <a:off x="685707" y="2209799"/>
            <a:ext cx="7799387" cy="46616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350"/>
              <a:buNone/>
              <a:defRPr sz="1800">
                <a:solidFill>
                  <a:srgbClr val="888888"/>
                </a:solidFill>
              </a:defRPr>
            </a:lvl1pPr>
            <a:lvl2pPr lvl="1" algn="ctr">
              <a:spcBef>
                <a:spcPts val="600"/>
              </a:spcBef>
              <a:spcAft>
                <a:spcPts val="0"/>
              </a:spcAft>
              <a:buSzPts val="1350"/>
              <a:buNone/>
              <a:defRPr>
                <a:solidFill>
                  <a:srgbClr val="888888"/>
                </a:solidFill>
              </a:defRPr>
            </a:lvl2pPr>
            <a:lvl3pPr lvl="2" algn="ctr">
              <a:spcBef>
                <a:spcPts val="600"/>
              </a:spcBef>
              <a:spcAft>
                <a:spcPts val="0"/>
              </a:spcAft>
              <a:buSzPts val="1350"/>
              <a:buNone/>
              <a:defRPr>
                <a:solidFill>
                  <a:srgbClr val="888888"/>
                </a:solidFill>
              </a:defRPr>
            </a:lvl3pPr>
            <a:lvl4pPr lvl="3" algn="ctr">
              <a:spcBef>
                <a:spcPts val="600"/>
              </a:spcBef>
              <a:spcAft>
                <a:spcPts val="0"/>
              </a:spcAft>
              <a:buSzPts val="1350"/>
              <a:buNone/>
              <a:defRPr>
                <a:solidFill>
                  <a:srgbClr val="888888"/>
                </a:solidFill>
              </a:defRPr>
            </a:lvl4pPr>
            <a:lvl5pPr lvl="4" algn="ctr">
              <a:spcBef>
                <a:spcPts val="600"/>
              </a:spcBef>
              <a:spcAft>
                <a:spcPts val="0"/>
              </a:spcAft>
              <a:buSzPts val="135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1" name="Google Shape;111;p141"/>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141"/>
          <p:cNvSpPr txBox="1"/>
          <p:nvPr>
            <p:ph idx="12" type="sldNum"/>
          </p:nvPr>
        </p:nvSpPr>
        <p:spPr>
          <a:xfrm>
            <a:off x="4305300" y="6492875"/>
            <a:ext cx="533400" cy="365125"/>
          </a:xfrm>
          <a:prstGeom prst="rect">
            <a:avLst/>
          </a:prstGeom>
          <a:noFill/>
          <a:ln>
            <a:noFill/>
          </a:ln>
        </p:spPr>
        <p:txBody>
          <a:bodyPr anchorCtr="0" anchor="ctr" bIns="45700" lIns="91425" spcFirstLastPara="1" rIns="91425" wrap="square" tIns="45700">
            <a:noAutofit/>
          </a:bodyPr>
          <a:lstStyle>
            <a:lvl1pPr indent="0" lvl="0" marL="0" marR="0" algn="ctr">
              <a:spcBef>
                <a:spcPts val="0"/>
              </a:spcBef>
              <a:spcAft>
                <a:spcPts val="0"/>
              </a:spcAft>
              <a:buNone/>
              <a:defRPr b="1" sz="1100">
                <a:solidFill>
                  <a:srgbClr val="A5A5A5"/>
                </a:solidFill>
                <a:latin typeface="Calibri"/>
                <a:ea typeface="Calibri"/>
                <a:cs typeface="Calibri"/>
                <a:sym typeface="Calibri"/>
              </a:defRPr>
            </a:lvl1pPr>
            <a:lvl2pPr indent="0" lvl="1" marL="0" marR="0" algn="ctr">
              <a:spcBef>
                <a:spcPts val="0"/>
              </a:spcBef>
              <a:spcAft>
                <a:spcPts val="0"/>
              </a:spcAft>
              <a:buNone/>
              <a:defRPr b="1" sz="1100">
                <a:solidFill>
                  <a:srgbClr val="A5A5A5"/>
                </a:solidFill>
                <a:latin typeface="Calibri"/>
                <a:ea typeface="Calibri"/>
                <a:cs typeface="Calibri"/>
                <a:sym typeface="Calibri"/>
              </a:defRPr>
            </a:lvl2pPr>
            <a:lvl3pPr indent="0" lvl="2" marL="0" marR="0" algn="ctr">
              <a:spcBef>
                <a:spcPts val="0"/>
              </a:spcBef>
              <a:spcAft>
                <a:spcPts val="0"/>
              </a:spcAft>
              <a:buNone/>
              <a:defRPr b="1" sz="1100">
                <a:solidFill>
                  <a:srgbClr val="A5A5A5"/>
                </a:solidFill>
                <a:latin typeface="Calibri"/>
                <a:ea typeface="Calibri"/>
                <a:cs typeface="Calibri"/>
                <a:sym typeface="Calibri"/>
              </a:defRPr>
            </a:lvl3pPr>
            <a:lvl4pPr indent="0" lvl="3" marL="0" marR="0" algn="ctr">
              <a:spcBef>
                <a:spcPts val="0"/>
              </a:spcBef>
              <a:spcAft>
                <a:spcPts val="0"/>
              </a:spcAft>
              <a:buNone/>
              <a:defRPr b="1" sz="1100">
                <a:solidFill>
                  <a:srgbClr val="A5A5A5"/>
                </a:solidFill>
                <a:latin typeface="Calibri"/>
                <a:ea typeface="Calibri"/>
                <a:cs typeface="Calibri"/>
                <a:sym typeface="Calibri"/>
              </a:defRPr>
            </a:lvl4pPr>
            <a:lvl5pPr indent="0" lvl="4" marL="0" marR="0" algn="ctr">
              <a:spcBef>
                <a:spcPts val="0"/>
              </a:spcBef>
              <a:spcAft>
                <a:spcPts val="0"/>
              </a:spcAft>
              <a:buNone/>
              <a:defRPr b="1" sz="1100">
                <a:solidFill>
                  <a:srgbClr val="A5A5A5"/>
                </a:solidFill>
                <a:latin typeface="Calibri"/>
                <a:ea typeface="Calibri"/>
                <a:cs typeface="Calibri"/>
                <a:sym typeface="Calibri"/>
              </a:defRPr>
            </a:lvl5pPr>
            <a:lvl6pPr indent="0" lvl="5" marL="0" marR="0" algn="ctr">
              <a:spcBef>
                <a:spcPts val="0"/>
              </a:spcBef>
              <a:spcAft>
                <a:spcPts val="0"/>
              </a:spcAft>
              <a:buNone/>
              <a:defRPr b="1" sz="1100">
                <a:solidFill>
                  <a:srgbClr val="A5A5A5"/>
                </a:solidFill>
                <a:latin typeface="Calibri"/>
                <a:ea typeface="Calibri"/>
                <a:cs typeface="Calibri"/>
                <a:sym typeface="Calibri"/>
              </a:defRPr>
            </a:lvl6pPr>
            <a:lvl7pPr indent="0" lvl="6" marL="0" marR="0" algn="ctr">
              <a:spcBef>
                <a:spcPts val="0"/>
              </a:spcBef>
              <a:spcAft>
                <a:spcPts val="0"/>
              </a:spcAft>
              <a:buNone/>
              <a:defRPr b="1" sz="1100">
                <a:solidFill>
                  <a:srgbClr val="A5A5A5"/>
                </a:solidFill>
                <a:latin typeface="Calibri"/>
                <a:ea typeface="Calibri"/>
                <a:cs typeface="Calibri"/>
                <a:sym typeface="Calibri"/>
              </a:defRPr>
            </a:lvl7pPr>
            <a:lvl8pPr indent="0" lvl="7" marL="0" marR="0" algn="ctr">
              <a:spcBef>
                <a:spcPts val="0"/>
              </a:spcBef>
              <a:spcAft>
                <a:spcPts val="0"/>
              </a:spcAft>
              <a:buNone/>
              <a:defRPr b="1" sz="1100">
                <a:solidFill>
                  <a:srgbClr val="A5A5A5"/>
                </a:solidFill>
                <a:latin typeface="Calibri"/>
                <a:ea typeface="Calibri"/>
                <a:cs typeface="Calibri"/>
                <a:sym typeface="Calibri"/>
              </a:defRPr>
            </a:lvl8pPr>
            <a:lvl9pPr indent="0" lvl="8" marL="0" marR="0" algn="ctr">
              <a:spcBef>
                <a:spcPts val="0"/>
              </a:spcBef>
              <a:spcAft>
                <a:spcPts val="0"/>
              </a:spcAft>
              <a:buNone/>
              <a:defRPr b="1" sz="1100">
                <a:solidFill>
                  <a:srgbClr val="A5A5A5"/>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113" name="Google Shape;113;p141"/>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1" sz="1100">
                <a:solidFill>
                  <a:srgbClr val="A5A5A5"/>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spTree>
      <p:nvGrpSpPr>
        <p:cNvPr id="114" name="Shape 114"/>
        <p:cNvGrpSpPr/>
        <p:nvPr/>
      </p:nvGrpSpPr>
      <p:grpSpPr>
        <a:xfrm>
          <a:off x="0" y="0"/>
          <a:ext cx="0" cy="0"/>
          <a:chOff x="0" y="0"/>
          <a:chExt cx="0" cy="0"/>
        </a:xfrm>
      </p:grpSpPr>
      <p:sp>
        <p:nvSpPr>
          <p:cNvPr id="115" name="Google Shape;115;p14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116" name="Google Shape;116;p142"/>
          <p:cNvSpPr txBox="1"/>
          <p:nvPr>
            <p:ph idx="1" type="body"/>
          </p:nvPr>
        </p:nvSpPr>
        <p:spPr>
          <a:xfrm>
            <a:off x="4828032" y="2286001"/>
            <a:ext cx="3657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7" name="Google Shape;117;p142"/>
          <p:cNvSpPr txBox="1"/>
          <p:nvPr>
            <p:ph idx="2" type="body"/>
          </p:nvPr>
        </p:nvSpPr>
        <p:spPr>
          <a:xfrm>
            <a:off x="4828032" y="4302966"/>
            <a:ext cx="3657600" cy="1828800"/>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8" name="Google Shape;118;p142"/>
          <p:cNvSpPr txBox="1"/>
          <p:nvPr>
            <p:ph idx="3" type="body"/>
          </p:nvPr>
        </p:nvSpPr>
        <p:spPr>
          <a:xfrm>
            <a:off x="654085" y="2286000"/>
            <a:ext cx="3657600" cy="3840163"/>
          </a:xfrm>
          <a:prstGeom prst="rect">
            <a:avLst/>
          </a:prstGeom>
          <a:noFill/>
          <a:ln>
            <a:noFill/>
          </a:ln>
        </p:spPr>
        <p:txBody>
          <a:bodyPr anchorCtr="0" anchor="t" bIns="45700" lIns="91425" spcFirstLastPara="1" rIns="91425" wrap="square" tIns="45700">
            <a:normAutofit/>
          </a:bodyPr>
          <a:lstStyle>
            <a:lvl1pPr indent="-314325" lvl="0" marL="457200" algn="l">
              <a:spcBef>
                <a:spcPts val="1800"/>
              </a:spcBef>
              <a:spcAft>
                <a:spcPts val="0"/>
              </a:spcAft>
              <a:buSzPts val="1350"/>
              <a:buChar char="■"/>
              <a:defRPr sz="1800"/>
            </a:lvl1pPr>
            <a:lvl2pPr indent="-314325" lvl="1" marL="914400" algn="l">
              <a:spcBef>
                <a:spcPts val="600"/>
              </a:spcBef>
              <a:spcAft>
                <a:spcPts val="0"/>
              </a:spcAft>
              <a:buSzPts val="1350"/>
              <a:buChar char="■"/>
              <a:defRPr sz="1800"/>
            </a:lvl2pPr>
            <a:lvl3pPr indent="-314325" lvl="2" marL="1371600" algn="l">
              <a:spcBef>
                <a:spcPts val="600"/>
              </a:spcBef>
              <a:spcAft>
                <a:spcPts val="0"/>
              </a:spcAft>
              <a:buSzPts val="1350"/>
              <a:buChar char="■"/>
              <a:defRPr sz="1800"/>
            </a:lvl3pPr>
            <a:lvl4pPr indent="-314325" lvl="3" marL="1828800" algn="l">
              <a:spcBef>
                <a:spcPts val="600"/>
              </a:spcBef>
              <a:spcAft>
                <a:spcPts val="0"/>
              </a:spcAft>
              <a:buSzPts val="1350"/>
              <a:buChar char="■"/>
              <a:defRPr sz="1800"/>
            </a:lvl4pPr>
            <a:lvl5pPr indent="-314325" lvl="4" marL="2286000" algn="l">
              <a:spcBef>
                <a:spcPts val="600"/>
              </a:spcBef>
              <a:spcAft>
                <a:spcPts val="0"/>
              </a:spcAft>
              <a:buSzPts val="135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9" name="Google Shape;119;p142"/>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42"/>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42"/>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22" name="Shape 122"/>
        <p:cNvGrpSpPr/>
        <p:nvPr/>
      </p:nvGrpSpPr>
      <p:grpSpPr>
        <a:xfrm>
          <a:off x="0" y="0"/>
          <a:ext cx="0" cy="0"/>
          <a:chOff x="0" y="0"/>
          <a:chExt cx="0" cy="0"/>
        </a:xfrm>
      </p:grpSpPr>
      <p:sp>
        <p:nvSpPr>
          <p:cNvPr id="123" name="Google Shape;123;p143"/>
          <p:cNvSpPr/>
          <p:nvPr/>
        </p:nvSpPr>
        <p:spPr>
          <a:xfrm>
            <a:off x="355600" y="347663"/>
            <a:ext cx="8432800" cy="2352675"/>
          </a:xfrm>
          <a:prstGeom prst="rect">
            <a:avLst/>
          </a:prstGeom>
          <a:blipFill rotWithShape="1">
            <a:blip r:embed="rId2">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4" name="Google Shape;124;p143"/>
          <p:cNvSpPr/>
          <p:nvPr/>
        </p:nvSpPr>
        <p:spPr>
          <a:xfrm>
            <a:off x="320675" y="320675"/>
            <a:ext cx="8502650" cy="6216650"/>
          </a:xfrm>
          <a:prstGeom prst="rect">
            <a:avLst/>
          </a:prstGeom>
          <a:noFill/>
          <a:ln cap="flat" cmpd="sng" w="1270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5" name="Google Shape;125;p143"/>
          <p:cNvSpPr/>
          <p:nvPr/>
        </p:nvSpPr>
        <p:spPr>
          <a:xfrm rot="5400000">
            <a:off x="5598319" y="3310731"/>
            <a:ext cx="5943600" cy="23653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6" name="Google Shape;126;p143"/>
          <p:cNvSpPr txBox="1"/>
          <p:nvPr>
            <p:ph type="title"/>
          </p:nvPr>
        </p:nvSpPr>
        <p:spPr>
          <a:xfrm>
            <a:off x="658368" y="1644868"/>
            <a:ext cx="3657600" cy="1098332"/>
          </a:xfrm>
          <a:prstGeom prst="rect">
            <a:avLst/>
          </a:prstGeom>
          <a:noFill/>
          <a:ln>
            <a:noFill/>
          </a:ln>
        </p:spPr>
        <p:txBody>
          <a:bodyPr anchorCtr="0" anchor="b" bIns="0" lIns="91425" spcFirstLastPara="1" rIns="91425" wrap="square" tIns="0">
            <a:noAutofit/>
          </a:bodyPr>
          <a:lstStyle>
            <a:lvl1pPr lvl="0" algn="l">
              <a:lnSpc>
                <a:spcPct val="150000"/>
              </a:lnSpc>
              <a:spcBef>
                <a:spcPts val="0"/>
              </a:spcBef>
              <a:spcAft>
                <a:spcPts val="0"/>
              </a:spcAft>
              <a:buSzPts val="1400"/>
              <a:buNone/>
              <a:defRPr b="0" sz="3600">
                <a:solidFill>
                  <a:schemeClr val="accent1"/>
                </a:solidFill>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127" name="Google Shape;127;p143"/>
          <p:cNvSpPr txBox="1"/>
          <p:nvPr>
            <p:ph idx="1" type="body"/>
          </p:nvPr>
        </p:nvSpPr>
        <p:spPr>
          <a:xfrm>
            <a:off x="658368" y="2774731"/>
            <a:ext cx="3657600" cy="3168869"/>
          </a:xfrm>
          <a:prstGeom prst="rect">
            <a:avLst/>
          </a:prstGeom>
          <a:noFill/>
          <a:ln>
            <a:noFill/>
          </a:ln>
        </p:spPr>
        <p:txBody>
          <a:bodyPr anchorCtr="0" anchor="t" bIns="45700" lIns="91425" spcFirstLastPara="1" rIns="91425" wrap="square" tIns="45700">
            <a:normAutofit/>
          </a:bodyPr>
          <a:lstStyle>
            <a:lvl1pPr indent="-228600" lvl="0" marL="457200" algn="l">
              <a:spcBef>
                <a:spcPts val="1800"/>
              </a:spcBef>
              <a:spcAft>
                <a:spcPts val="0"/>
              </a:spcAft>
              <a:buSzPts val="1350"/>
              <a:buNone/>
              <a:defRPr sz="1800"/>
            </a:lvl1pPr>
            <a:lvl2pPr indent="-228600" lvl="1" marL="914400" algn="l">
              <a:spcBef>
                <a:spcPts val="600"/>
              </a:spcBef>
              <a:spcAft>
                <a:spcPts val="0"/>
              </a:spcAft>
              <a:buSzPts val="900"/>
              <a:buNone/>
              <a:defRPr sz="1200"/>
            </a:lvl2pPr>
            <a:lvl3pPr indent="-228600" lvl="2" marL="1371600" algn="l">
              <a:spcBef>
                <a:spcPts val="600"/>
              </a:spcBef>
              <a:spcAft>
                <a:spcPts val="0"/>
              </a:spcAft>
              <a:buSzPts val="750"/>
              <a:buNone/>
              <a:defRPr sz="1000"/>
            </a:lvl3pPr>
            <a:lvl4pPr indent="-228600" lvl="3" marL="1828800" algn="l">
              <a:spcBef>
                <a:spcPts val="600"/>
              </a:spcBef>
              <a:spcAft>
                <a:spcPts val="0"/>
              </a:spcAft>
              <a:buSzPts val="675"/>
              <a:buNone/>
              <a:defRPr sz="900"/>
            </a:lvl4pPr>
            <a:lvl5pPr indent="-228600" lvl="4" marL="2286000" algn="l">
              <a:spcBef>
                <a:spcPts val="600"/>
              </a:spcBef>
              <a:spcAft>
                <a:spcPts val="0"/>
              </a:spcAft>
              <a:buSzPts val="675"/>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28" name="Google Shape;128;p143"/>
          <p:cNvSpPr/>
          <p:nvPr>
            <p:ph idx="2" type="pic"/>
          </p:nvPr>
        </p:nvSpPr>
        <p:spPr>
          <a:xfrm>
            <a:off x="4828032" y="457200"/>
            <a:ext cx="3621024" cy="5943600"/>
          </a:xfrm>
          <a:prstGeom prst="rect">
            <a:avLst/>
          </a:prstGeom>
          <a:noFill/>
          <a:ln>
            <a:noFill/>
          </a:ln>
        </p:spPr>
      </p:sp>
      <p:sp>
        <p:nvSpPr>
          <p:cNvPr id="129" name="Google Shape;129;p143"/>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43"/>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43"/>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sp>
        <p:nvSpPr>
          <p:cNvPr id="133" name="Google Shape;133;p144"/>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algn="r">
              <a:lnSpc>
                <a:spcPct val="300000"/>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134" name="Google Shape;134;p144"/>
          <p:cNvSpPr txBox="1"/>
          <p:nvPr>
            <p:ph idx="1" type="body"/>
          </p:nvPr>
        </p:nvSpPr>
        <p:spPr>
          <a:xfrm rot="5400000">
            <a:off x="2626519" y="269082"/>
            <a:ext cx="3840163" cy="7874000"/>
          </a:xfrm>
          <a:prstGeom prst="rect">
            <a:avLst/>
          </a:prstGeom>
          <a:noFill/>
          <a:ln>
            <a:noFill/>
          </a:ln>
        </p:spPr>
        <p:txBody>
          <a:bodyPr anchorCtr="0" anchor="t" bIns="45700" lIns="91425" spcFirstLastPara="1" rIns="91425" wrap="square" tIns="45700">
            <a:noAutofit/>
          </a:bodyPr>
          <a:lstStyle>
            <a:lvl1pPr indent="-314325" lvl="0" marL="457200" algn="l">
              <a:spcBef>
                <a:spcPts val="18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35" name="Google Shape;135;p144"/>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44"/>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4"/>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8" name="Shape 138"/>
        <p:cNvGrpSpPr/>
        <p:nvPr/>
      </p:nvGrpSpPr>
      <p:grpSpPr>
        <a:xfrm>
          <a:off x="0" y="0"/>
          <a:ext cx="0" cy="0"/>
          <a:chOff x="0" y="0"/>
          <a:chExt cx="0" cy="0"/>
        </a:xfrm>
      </p:grpSpPr>
      <p:sp>
        <p:nvSpPr>
          <p:cNvPr id="139" name="Google Shape;139;p145"/>
          <p:cNvSpPr/>
          <p:nvPr/>
        </p:nvSpPr>
        <p:spPr>
          <a:xfrm>
            <a:off x="347663" y="363538"/>
            <a:ext cx="8440737" cy="2336800"/>
          </a:xfrm>
          <a:prstGeom prst="rect">
            <a:avLst/>
          </a:prstGeom>
          <a:blipFill rotWithShape="1">
            <a:blip r:embed="rId2">
              <a:alphaModFix/>
            </a:blip>
            <a:tile algn="tl" flip="none" tx="0" sx="100000" ty="0" sy="100000"/>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VerticalRight.jpg" id="140" name="Google Shape;140;p145"/>
          <p:cNvPicPr preferRelativeResize="0"/>
          <p:nvPr/>
        </p:nvPicPr>
        <p:blipFill rotWithShape="1">
          <a:blip r:embed="rId3">
            <a:alphaModFix/>
          </a:blip>
          <a:srcRect b="0" l="0" r="0" t="0"/>
          <a:stretch/>
        </p:blipFill>
        <p:spPr>
          <a:xfrm>
            <a:off x="7112000" y="457200"/>
            <a:ext cx="1546225" cy="5943600"/>
          </a:xfrm>
          <a:prstGeom prst="rect">
            <a:avLst/>
          </a:prstGeom>
          <a:noFill/>
          <a:ln>
            <a:noFill/>
          </a:ln>
        </p:spPr>
      </p:pic>
      <p:sp>
        <p:nvSpPr>
          <p:cNvPr id="141" name="Google Shape;141;p145"/>
          <p:cNvSpPr/>
          <p:nvPr/>
        </p:nvSpPr>
        <p:spPr>
          <a:xfrm rot="5400000">
            <a:off x="4074319" y="3369469"/>
            <a:ext cx="5943600" cy="11906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145"/>
          <p:cNvSpPr/>
          <p:nvPr/>
        </p:nvSpPr>
        <p:spPr>
          <a:xfrm>
            <a:off x="320675" y="320675"/>
            <a:ext cx="8502650" cy="6216650"/>
          </a:xfrm>
          <a:prstGeom prst="rect">
            <a:avLst/>
          </a:prstGeom>
          <a:noFill/>
          <a:ln cap="flat" cmpd="sng" w="1270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145"/>
          <p:cNvSpPr txBox="1"/>
          <p:nvPr>
            <p:ph type="title"/>
          </p:nvPr>
        </p:nvSpPr>
        <p:spPr>
          <a:xfrm rot="5400000">
            <a:off x="5148879" y="2664442"/>
            <a:ext cx="5432425" cy="1491018"/>
          </a:xfrm>
          <a:prstGeom prst="rect">
            <a:avLst/>
          </a:prstGeom>
          <a:noFill/>
          <a:ln>
            <a:noFill/>
          </a:ln>
        </p:spPr>
        <p:txBody>
          <a:bodyPr anchorCtr="0" anchor="b" bIns="45700" lIns="91425" spcFirstLastPara="1" rIns="91425" wrap="square" tIns="45700">
            <a:noAutofit/>
          </a:bodyPr>
          <a:lstStyle>
            <a:lvl1pPr lvl="0" algn="l">
              <a:lnSpc>
                <a:spcPct val="103846"/>
              </a:lnSpc>
              <a:spcBef>
                <a:spcPts val="0"/>
              </a:spcBef>
              <a:spcAft>
                <a:spcPts val="0"/>
              </a:spcAft>
              <a:buSzPts val="1400"/>
              <a:buNone/>
              <a:defRPr/>
            </a:lvl1pPr>
            <a:lvl2pPr lvl="1" algn="r">
              <a:lnSpc>
                <a:spcPct val="300000"/>
              </a:lnSpc>
              <a:spcBef>
                <a:spcPts val="0"/>
              </a:spcBef>
              <a:spcAft>
                <a:spcPts val="0"/>
              </a:spcAft>
              <a:buSzPts val="1400"/>
              <a:buNone/>
              <a:defRPr/>
            </a:lvl2pPr>
            <a:lvl3pPr lvl="2" algn="r">
              <a:lnSpc>
                <a:spcPct val="300000"/>
              </a:lnSpc>
              <a:spcBef>
                <a:spcPts val="0"/>
              </a:spcBef>
              <a:spcAft>
                <a:spcPts val="0"/>
              </a:spcAft>
              <a:buSzPts val="1400"/>
              <a:buNone/>
              <a:defRPr/>
            </a:lvl3pPr>
            <a:lvl4pPr lvl="3" algn="r">
              <a:lnSpc>
                <a:spcPct val="300000"/>
              </a:lnSpc>
              <a:spcBef>
                <a:spcPts val="0"/>
              </a:spcBef>
              <a:spcAft>
                <a:spcPts val="0"/>
              </a:spcAft>
              <a:buSzPts val="1400"/>
              <a:buNone/>
              <a:defRPr/>
            </a:lvl4pPr>
            <a:lvl5pPr lvl="4" algn="r">
              <a:lnSpc>
                <a:spcPct val="300000"/>
              </a:lnSpc>
              <a:spcBef>
                <a:spcPts val="0"/>
              </a:spcBef>
              <a:spcAft>
                <a:spcPts val="0"/>
              </a:spcAft>
              <a:buSzPts val="1400"/>
              <a:buNone/>
              <a:defRPr/>
            </a:lvl5pPr>
            <a:lvl6pPr lvl="5" algn="r">
              <a:lnSpc>
                <a:spcPct val="300000"/>
              </a:lnSpc>
              <a:spcBef>
                <a:spcPts val="0"/>
              </a:spcBef>
              <a:spcAft>
                <a:spcPts val="0"/>
              </a:spcAft>
              <a:buSzPts val="1400"/>
              <a:buNone/>
              <a:defRPr/>
            </a:lvl6pPr>
            <a:lvl7pPr lvl="6" algn="r">
              <a:lnSpc>
                <a:spcPct val="300000"/>
              </a:lnSpc>
              <a:spcBef>
                <a:spcPts val="0"/>
              </a:spcBef>
              <a:spcAft>
                <a:spcPts val="0"/>
              </a:spcAft>
              <a:buSzPts val="1400"/>
              <a:buNone/>
              <a:defRPr/>
            </a:lvl7pPr>
            <a:lvl8pPr lvl="7" algn="r">
              <a:lnSpc>
                <a:spcPct val="300000"/>
              </a:lnSpc>
              <a:spcBef>
                <a:spcPts val="0"/>
              </a:spcBef>
              <a:spcAft>
                <a:spcPts val="0"/>
              </a:spcAft>
              <a:buSzPts val="1400"/>
              <a:buNone/>
              <a:defRPr/>
            </a:lvl8pPr>
            <a:lvl9pPr lvl="8" algn="r">
              <a:lnSpc>
                <a:spcPct val="300000"/>
              </a:lnSpc>
              <a:spcBef>
                <a:spcPts val="0"/>
              </a:spcBef>
              <a:spcAft>
                <a:spcPts val="0"/>
              </a:spcAft>
              <a:buSzPts val="1400"/>
              <a:buNone/>
              <a:defRPr/>
            </a:lvl9pPr>
          </a:lstStyle>
          <a:p/>
        </p:txBody>
      </p:sp>
      <p:sp>
        <p:nvSpPr>
          <p:cNvPr id="144" name="Google Shape;144;p145"/>
          <p:cNvSpPr txBox="1"/>
          <p:nvPr>
            <p:ph idx="1" type="body"/>
          </p:nvPr>
        </p:nvSpPr>
        <p:spPr>
          <a:xfrm rot="5400000">
            <a:off x="750888" y="400050"/>
            <a:ext cx="5432425" cy="6019800"/>
          </a:xfrm>
          <a:prstGeom prst="rect">
            <a:avLst/>
          </a:prstGeom>
          <a:noFill/>
          <a:ln>
            <a:noFill/>
          </a:ln>
        </p:spPr>
        <p:txBody>
          <a:bodyPr anchorCtr="0" anchor="t" bIns="45700" lIns="91425" spcFirstLastPara="1" rIns="91425" wrap="square" tIns="45700">
            <a:noAutofit/>
          </a:bodyPr>
          <a:lstStyle>
            <a:lvl1pPr indent="-314325" lvl="0" marL="457200" algn="l">
              <a:spcBef>
                <a:spcPts val="1800"/>
              </a:spcBef>
              <a:spcAft>
                <a:spcPts val="0"/>
              </a:spcAft>
              <a:buSzPts val="1350"/>
              <a:buChar char="■"/>
              <a:defRPr/>
            </a:lvl1pPr>
            <a:lvl2pPr indent="-314325" lvl="1" marL="914400" algn="l">
              <a:spcBef>
                <a:spcPts val="600"/>
              </a:spcBef>
              <a:spcAft>
                <a:spcPts val="0"/>
              </a:spcAft>
              <a:buSzPts val="1350"/>
              <a:buChar char="■"/>
              <a:defRPr/>
            </a:lvl2pPr>
            <a:lvl3pPr indent="-314325" lvl="2" marL="1371600" algn="l">
              <a:spcBef>
                <a:spcPts val="600"/>
              </a:spcBef>
              <a:spcAft>
                <a:spcPts val="0"/>
              </a:spcAft>
              <a:buSzPts val="1350"/>
              <a:buChar char="■"/>
              <a:defRPr/>
            </a:lvl3pPr>
            <a:lvl4pPr indent="-314325" lvl="3" marL="1828800" algn="l">
              <a:spcBef>
                <a:spcPts val="600"/>
              </a:spcBef>
              <a:spcAft>
                <a:spcPts val="0"/>
              </a:spcAft>
              <a:buSzPts val="1350"/>
              <a:buChar char="■"/>
              <a:defRPr/>
            </a:lvl4pPr>
            <a:lvl5pPr indent="-314325" lvl="4" marL="2286000" algn="l">
              <a:spcBef>
                <a:spcPts val="600"/>
              </a:spcBef>
              <a:spcAft>
                <a:spcPts val="0"/>
              </a:spcAft>
              <a:buSzPts val="135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5" name="Google Shape;145;p145"/>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145"/>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45"/>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algn="l">
              <a:spcBef>
                <a:spcPts val="0"/>
              </a:spcBef>
              <a:spcAft>
                <a:spcPts val="0"/>
              </a:spcAft>
              <a:buNone/>
              <a:defRPr b="0" sz="1800">
                <a:solidFill>
                  <a:schemeClr val="accent1"/>
                </a:solidFill>
                <a:latin typeface="Calibri"/>
                <a:ea typeface="Calibri"/>
                <a:cs typeface="Calibri"/>
                <a:sym typeface="Calibri"/>
              </a:defRPr>
            </a:lvl1pPr>
            <a:lvl2pPr indent="0" lvl="1" marL="0" marR="0" algn="l">
              <a:spcBef>
                <a:spcPts val="0"/>
              </a:spcBef>
              <a:spcAft>
                <a:spcPts val="0"/>
              </a:spcAft>
              <a:buNone/>
              <a:defRPr b="0" sz="1800">
                <a:solidFill>
                  <a:schemeClr val="accent1"/>
                </a:solidFill>
                <a:latin typeface="Calibri"/>
                <a:ea typeface="Calibri"/>
                <a:cs typeface="Calibri"/>
                <a:sym typeface="Calibri"/>
              </a:defRPr>
            </a:lvl2pPr>
            <a:lvl3pPr indent="0" lvl="2" marL="0" marR="0" algn="l">
              <a:spcBef>
                <a:spcPts val="0"/>
              </a:spcBef>
              <a:spcAft>
                <a:spcPts val="0"/>
              </a:spcAft>
              <a:buNone/>
              <a:defRPr b="0" sz="1800">
                <a:solidFill>
                  <a:schemeClr val="accent1"/>
                </a:solidFill>
                <a:latin typeface="Calibri"/>
                <a:ea typeface="Calibri"/>
                <a:cs typeface="Calibri"/>
                <a:sym typeface="Calibri"/>
              </a:defRPr>
            </a:lvl3pPr>
            <a:lvl4pPr indent="0" lvl="3" marL="0" marR="0" algn="l">
              <a:spcBef>
                <a:spcPts val="0"/>
              </a:spcBef>
              <a:spcAft>
                <a:spcPts val="0"/>
              </a:spcAft>
              <a:buNone/>
              <a:defRPr b="0" sz="1800">
                <a:solidFill>
                  <a:schemeClr val="accent1"/>
                </a:solidFill>
                <a:latin typeface="Calibri"/>
                <a:ea typeface="Calibri"/>
                <a:cs typeface="Calibri"/>
                <a:sym typeface="Calibri"/>
              </a:defRPr>
            </a:lvl4pPr>
            <a:lvl5pPr indent="0" lvl="4" marL="0" marR="0" algn="l">
              <a:spcBef>
                <a:spcPts val="0"/>
              </a:spcBef>
              <a:spcAft>
                <a:spcPts val="0"/>
              </a:spcAft>
              <a:buNone/>
              <a:defRPr b="0" sz="1800">
                <a:solidFill>
                  <a:schemeClr val="accent1"/>
                </a:solidFill>
                <a:latin typeface="Calibri"/>
                <a:ea typeface="Calibri"/>
                <a:cs typeface="Calibri"/>
                <a:sym typeface="Calibri"/>
              </a:defRPr>
            </a:lvl5pPr>
            <a:lvl6pPr indent="0" lvl="5" marL="0" marR="0" algn="l">
              <a:spcBef>
                <a:spcPts val="0"/>
              </a:spcBef>
              <a:spcAft>
                <a:spcPts val="0"/>
              </a:spcAft>
              <a:buNone/>
              <a:defRPr b="0" sz="1800">
                <a:solidFill>
                  <a:schemeClr val="accent1"/>
                </a:solidFill>
                <a:latin typeface="Calibri"/>
                <a:ea typeface="Calibri"/>
                <a:cs typeface="Calibri"/>
                <a:sym typeface="Calibri"/>
              </a:defRPr>
            </a:lvl6pPr>
            <a:lvl7pPr indent="0" lvl="6" marL="0" marR="0" algn="l">
              <a:spcBef>
                <a:spcPts val="0"/>
              </a:spcBef>
              <a:spcAft>
                <a:spcPts val="0"/>
              </a:spcAft>
              <a:buNone/>
              <a:defRPr b="0" sz="1800">
                <a:solidFill>
                  <a:schemeClr val="accent1"/>
                </a:solidFill>
                <a:latin typeface="Calibri"/>
                <a:ea typeface="Calibri"/>
                <a:cs typeface="Calibri"/>
                <a:sym typeface="Calibri"/>
              </a:defRPr>
            </a:lvl7pPr>
            <a:lvl8pPr indent="0" lvl="7" marL="0" marR="0" algn="l">
              <a:spcBef>
                <a:spcPts val="0"/>
              </a:spcBef>
              <a:spcAft>
                <a:spcPts val="0"/>
              </a:spcAft>
              <a:buNone/>
              <a:defRPr b="0" sz="1800">
                <a:solidFill>
                  <a:schemeClr val="accent1"/>
                </a:solidFill>
                <a:latin typeface="Calibri"/>
                <a:ea typeface="Calibri"/>
                <a:cs typeface="Calibri"/>
                <a:sym typeface="Calibri"/>
              </a:defRPr>
            </a:lvl8pPr>
            <a:lvl9pPr indent="0" lvl="8" marL="0" marR="0" algn="l">
              <a:spcBef>
                <a:spcPts val="0"/>
              </a:spcBef>
              <a:spcAft>
                <a:spcPts val="0"/>
              </a:spcAft>
              <a:buNone/>
              <a:defRPr b="0" sz="1800">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4" name="Shape 154"/>
        <p:cNvGrpSpPr/>
        <p:nvPr/>
      </p:nvGrpSpPr>
      <p:grpSpPr>
        <a:xfrm>
          <a:off x="0" y="0"/>
          <a:ext cx="0" cy="0"/>
          <a:chOff x="0" y="0"/>
          <a:chExt cx="0" cy="0"/>
        </a:xfrm>
      </p:grpSpPr>
      <p:sp>
        <p:nvSpPr>
          <p:cNvPr id="155" name="Google Shape;155;p14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6" name="Google Shape;156;p14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57" name="Google Shape;157;p1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0" name="Shape 160"/>
        <p:cNvGrpSpPr/>
        <p:nvPr/>
      </p:nvGrpSpPr>
      <p:grpSpPr>
        <a:xfrm>
          <a:off x="0" y="0"/>
          <a:ext cx="0" cy="0"/>
          <a:chOff x="0" y="0"/>
          <a:chExt cx="0" cy="0"/>
        </a:xfrm>
      </p:grpSpPr>
      <p:sp>
        <p:nvSpPr>
          <p:cNvPr id="161" name="Google Shape;161;p1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2" name="Google Shape;162;p1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3" name="Google Shape;163;p1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1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6" name="Shape 166"/>
        <p:cNvGrpSpPr/>
        <p:nvPr/>
      </p:nvGrpSpPr>
      <p:grpSpPr>
        <a:xfrm>
          <a:off x="0" y="0"/>
          <a:ext cx="0" cy="0"/>
          <a:chOff x="0" y="0"/>
          <a:chExt cx="0" cy="0"/>
        </a:xfrm>
      </p:grpSpPr>
      <p:sp>
        <p:nvSpPr>
          <p:cNvPr id="167" name="Google Shape;167;p14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8" name="Google Shape;168;p14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69" name="Google Shape;169;p1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1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2" name="Shape 172"/>
        <p:cNvGrpSpPr/>
        <p:nvPr/>
      </p:nvGrpSpPr>
      <p:grpSpPr>
        <a:xfrm>
          <a:off x="0" y="0"/>
          <a:ext cx="0" cy="0"/>
          <a:chOff x="0" y="0"/>
          <a:chExt cx="0" cy="0"/>
        </a:xfrm>
      </p:grpSpPr>
      <p:sp>
        <p:nvSpPr>
          <p:cNvPr id="173" name="Google Shape;173;p1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4" name="Google Shape;174;p15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75" name="Google Shape;175;p15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76" name="Google Shape;176;p1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7" name="Google Shape;177;p1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1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79" name="Shape 179"/>
        <p:cNvGrpSpPr/>
        <p:nvPr/>
      </p:nvGrpSpPr>
      <p:grpSpPr>
        <a:xfrm>
          <a:off x="0" y="0"/>
          <a:ext cx="0" cy="0"/>
          <a:chOff x="0" y="0"/>
          <a:chExt cx="0" cy="0"/>
        </a:xfrm>
      </p:grpSpPr>
      <p:sp>
        <p:nvSpPr>
          <p:cNvPr id="180" name="Google Shape;180;p1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1" name="Google Shape;181;p15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82" name="Google Shape;182;p15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83" name="Google Shape;183;p15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84" name="Google Shape;184;p15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85" name="Google Shape;185;p1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1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1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8" name="Shape 188"/>
        <p:cNvGrpSpPr/>
        <p:nvPr/>
      </p:nvGrpSpPr>
      <p:grpSpPr>
        <a:xfrm>
          <a:off x="0" y="0"/>
          <a:ext cx="0" cy="0"/>
          <a:chOff x="0" y="0"/>
          <a:chExt cx="0" cy="0"/>
        </a:xfrm>
      </p:grpSpPr>
      <p:sp>
        <p:nvSpPr>
          <p:cNvPr id="189" name="Google Shape;189;p15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0" name="Google Shape;190;p1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1" name="Google Shape;191;p1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2" name="Google Shape;192;p1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3" name="Shape 193"/>
        <p:cNvGrpSpPr/>
        <p:nvPr/>
      </p:nvGrpSpPr>
      <p:grpSpPr>
        <a:xfrm>
          <a:off x="0" y="0"/>
          <a:ext cx="0" cy="0"/>
          <a:chOff x="0" y="0"/>
          <a:chExt cx="0" cy="0"/>
        </a:xfrm>
      </p:grpSpPr>
      <p:sp>
        <p:nvSpPr>
          <p:cNvPr id="194" name="Google Shape;194;p1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5" name="Google Shape;195;p1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1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7" name="Shape 197"/>
        <p:cNvGrpSpPr/>
        <p:nvPr/>
      </p:nvGrpSpPr>
      <p:grpSpPr>
        <a:xfrm>
          <a:off x="0" y="0"/>
          <a:ext cx="0" cy="0"/>
          <a:chOff x="0" y="0"/>
          <a:chExt cx="0" cy="0"/>
        </a:xfrm>
      </p:grpSpPr>
      <p:sp>
        <p:nvSpPr>
          <p:cNvPr id="198" name="Google Shape;198;p1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9" name="Google Shape;199;p1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0" name="Google Shape;200;p1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01" name="Google Shape;201;p1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p1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1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4" name="Shape 204"/>
        <p:cNvGrpSpPr/>
        <p:nvPr/>
      </p:nvGrpSpPr>
      <p:grpSpPr>
        <a:xfrm>
          <a:off x="0" y="0"/>
          <a:ext cx="0" cy="0"/>
          <a:chOff x="0" y="0"/>
          <a:chExt cx="0" cy="0"/>
        </a:xfrm>
      </p:grpSpPr>
      <p:sp>
        <p:nvSpPr>
          <p:cNvPr id="205" name="Google Shape;205;p15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6" name="Google Shape;206;p155"/>
          <p:cNvSpPr/>
          <p:nvPr>
            <p:ph idx="2" type="pic"/>
          </p:nvPr>
        </p:nvSpPr>
        <p:spPr>
          <a:xfrm>
            <a:off x="1792288" y="612775"/>
            <a:ext cx="5486400" cy="4114800"/>
          </a:xfrm>
          <a:prstGeom prst="rect">
            <a:avLst/>
          </a:prstGeom>
          <a:noFill/>
          <a:ln>
            <a:noFill/>
          </a:ln>
        </p:spPr>
      </p:sp>
      <p:sp>
        <p:nvSpPr>
          <p:cNvPr id="207" name="Google Shape;207;p15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208" name="Google Shape;208;p1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1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p1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1" name="Shape 211"/>
        <p:cNvGrpSpPr/>
        <p:nvPr/>
      </p:nvGrpSpPr>
      <p:grpSpPr>
        <a:xfrm>
          <a:off x="0" y="0"/>
          <a:ext cx="0" cy="0"/>
          <a:chOff x="0" y="0"/>
          <a:chExt cx="0" cy="0"/>
        </a:xfrm>
      </p:grpSpPr>
      <p:sp>
        <p:nvSpPr>
          <p:cNvPr id="212" name="Google Shape;212;p1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3" name="Google Shape;213;p15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4" name="Google Shape;214;p1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1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1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7" name="Shape 217"/>
        <p:cNvGrpSpPr/>
        <p:nvPr/>
      </p:nvGrpSpPr>
      <p:grpSpPr>
        <a:xfrm>
          <a:off x="0" y="0"/>
          <a:ext cx="0" cy="0"/>
          <a:chOff x="0" y="0"/>
          <a:chExt cx="0" cy="0"/>
        </a:xfrm>
      </p:grpSpPr>
      <p:sp>
        <p:nvSpPr>
          <p:cNvPr id="218" name="Google Shape;218;p15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9" name="Google Shape;219;p15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0" name="Google Shape;220;p1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1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1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None/>
              <a:defRPr sz="1200">
                <a:solidFill>
                  <a:srgbClr val="888888"/>
                </a:solidFill>
                <a:latin typeface="Calibri"/>
                <a:ea typeface="Calibri"/>
                <a:cs typeface="Calibri"/>
                <a:sym typeface="Calibri"/>
              </a:defRPr>
            </a:lvl1pPr>
            <a:lvl2pPr indent="0" lvl="1" marL="0" marR="0" algn="r">
              <a:spcBef>
                <a:spcPts val="0"/>
              </a:spcBef>
              <a:spcAft>
                <a:spcPts val="0"/>
              </a:spcAft>
              <a:buNone/>
              <a:defRPr sz="1200">
                <a:solidFill>
                  <a:srgbClr val="888888"/>
                </a:solidFill>
                <a:latin typeface="Calibri"/>
                <a:ea typeface="Calibri"/>
                <a:cs typeface="Calibri"/>
                <a:sym typeface="Calibri"/>
              </a:defRPr>
            </a:lvl2pPr>
            <a:lvl3pPr indent="0" lvl="2" marL="0" marR="0" algn="r">
              <a:spcBef>
                <a:spcPts val="0"/>
              </a:spcBef>
              <a:spcAft>
                <a:spcPts val="0"/>
              </a:spcAft>
              <a:buNone/>
              <a:defRPr sz="1200">
                <a:solidFill>
                  <a:srgbClr val="888888"/>
                </a:solidFill>
                <a:latin typeface="Calibri"/>
                <a:ea typeface="Calibri"/>
                <a:cs typeface="Calibri"/>
                <a:sym typeface="Calibri"/>
              </a:defRPr>
            </a:lvl3pPr>
            <a:lvl4pPr indent="0" lvl="3" marL="0" marR="0" algn="r">
              <a:spcBef>
                <a:spcPts val="0"/>
              </a:spcBef>
              <a:spcAft>
                <a:spcPts val="0"/>
              </a:spcAft>
              <a:buNone/>
              <a:defRPr sz="1200">
                <a:solidFill>
                  <a:srgbClr val="888888"/>
                </a:solidFill>
                <a:latin typeface="Calibri"/>
                <a:ea typeface="Calibri"/>
                <a:cs typeface="Calibri"/>
                <a:sym typeface="Calibri"/>
              </a:defRPr>
            </a:lvl4pPr>
            <a:lvl5pPr indent="0" lvl="4" marL="0" marR="0" algn="r">
              <a:spcBef>
                <a:spcPts val="0"/>
              </a:spcBef>
              <a:spcAft>
                <a:spcPts val="0"/>
              </a:spcAft>
              <a:buNone/>
              <a:defRPr sz="1200">
                <a:solidFill>
                  <a:srgbClr val="888888"/>
                </a:solidFill>
                <a:latin typeface="Calibri"/>
                <a:ea typeface="Calibri"/>
                <a:cs typeface="Calibri"/>
                <a:sym typeface="Calibri"/>
              </a:defRPr>
            </a:lvl5pPr>
            <a:lvl6pPr indent="0" lvl="5" marL="0" marR="0" algn="r">
              <a:spcBef>
                <a:spcPts val="0"/>
              </a:spcBef>
              <a:spcAft>
                <a:spcPts val="0"/>
              </a:spcAft>
              <a:buNone/>
              <a:defRPr sz="1200">
                <a:solidFill>
                  <a:srgbClr val="888888"/>
                </a:solidFill>
                <a:latin typeface="Calibri"/>
                <a:ea typeface="Calibri"/>
                <a:cs typeface="Calibri"/>
                <a:sym typeface="Calibri"/>
              </a:defRPr>
            </a:lvl6pPr>
            <a:lvl7pPr indent="0" lvl="6" marL="0" marR="0" algn="r">
              <a:spcBef>
                <a:spcPts val="0"/>
              </a:spcBef>
              <a:spcAft>
                <a:spcPts val="0"/>
              </a:spcAft>
              <a:buNone/>
              <a:defRPr sz="1200">
                <a:solidFill>
                  <a:srgbClr val="888888"/>
                </a:solidFill>
                <a:latin typeface="Calibri"/>
                <a:ea typeface="Calibri"/>
                <a:cs typeface="Calibri"/>
                <a:sym typeface="Calibri"/>
              </a:defRPr>
            </a:lvl7pPr>
            <a:lvl8pPr indent="0" lvl="7" marL="0" marR="0" algn="r">
              <a:spcBef>
                <a:spcPts val="0"/>
              </a:spcBef>
              <a:spcAft>
                <a:spcPts val="0"/>
              </a:spcAft>
              <a:buNone/>
              <a:defRPr sz="1200">
                <a:solidFill>
                  <a:srgbClr val="888888"/>
                </a:solidFill>
                <a:latin typeface="Calibri"/>
                <a:ea typeface="Calibri"/>
                <a:cs typeface="Calibri"/>
                <a:sym typeface="Calibri"/>
              </a:defRPr>
            </a:lvl8pPr>
            <a:lvl9pPr indent="0" lvl="8" marL="0" marR="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8.jp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slideLayout" Target="../slideLayouts/slideLayout13.xml"/><Relationship Id="rId14" Type="http://schemas.openxmlformats.org/officeDocument/2006/relationships/slideLayout" Target="../slideLayouts/slideLayout12.xml"/><Relationship Id="rId17" Type="http://schemas.openxmlformats.org/officeDocument/2006/relationships/slideLayout" Target="../slideLayouts/slideLayout15.xml"/><Relationship Id="rId16" Type="http://schemas.openxmlformats.org/officeDocument/2006/relationships/slideLayout" Target="../slideLayouts/slideLayout14.xml"/><Relationship Id="rId5" Type="http://schemas.openxmlformats.org/officeDocument/2006/relationships/slideLayout" Target="../slideLayouts/slideLayout3.xml"/><Relationship Id="rId19" Type="http://schemas.openxmlformats.org/officeDocument/2006/relationships/theme" Target="../theme/theme3.xml"/><Relationship Id="rId6" Type="http://schemas.openxmlformats.org/officeDocument/2006/relationships/slideLayout" Target="../slideLayouts/slideLayout4.xml"/><Relationship Id="rId18" Type="http://schemas.openxmlformats.org/officeDocument/2006/relationships/slideLayout" Target="../slideLayouts/slideLayout16.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theme" Target="../theme/theme2.xml"/><Relationship Id="rId12" Type="http://schemas.openxmlformats.org/officeDocument/2006/relationships/slideLayout" Target="../slideLayouts/slideLayout27.xml"/><Relationship Id="rId1" Type="http://schemas.openxmlformats.org/officeDocument/2006/relationships/image" Target="../media/image8.jpg"/><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9" name="Shape 9"/>
        <p:cNvGrpSpPr/>
        <p:nvPr/>
      </p:nvGrpSpPr>
      <p:grpSpPr>
        <a:xfrm>
          <a:off x="0" y="0"/>
          <a:ext cx="0" cy="0"/>
          <a:chOff x="0" y="0"/>
          <a:chExt cx="0" cy="0"/>
        </a:xfrm>
      </p:grpSpPr>
      <p:pic>
        <p:nvPicPr>
          <p:cNvPr descr="RunningTop-R.jpg" id="10" name="Google Shape;10;p129"/>
          <p:cNvPicPr preferRelativeResize="0"/>
          <p:nvPr/>
        </p:nvPicPr>
        <p:blipFill rotWithShape="1">
          <a:blip r:embed="rId2">
            <a:alphaModFix/>
          </a:blip>
          <a:srcRect b="0" l="0" r="0" t="0"/>
          <a:stretch/>
        </p:blipFill>
        <p:spPr>
          <a:xfrm>
            <a:off x="457200" y="457200"/>
            <a:ext cx="8229600" cy="1382713"/>
          </a:xfrm>
          <a:prstGeom prst="rect">
            <a:avLst/>
          </a:prstGeom>
          <a:noFill/>
          <a:ln>
            <a:noFill/>
          </a:ln>
        </p:spPr>
      </p:pic>
      <p:sp>
        <p:nvSpPr>
          <p:cNvPr id="11" name="Google Shape;11;p129"/>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lvl1pPr lvl="0"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1pPr>
            <a:lvl2pPr lvl="1"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2pPr>
            <a:lvl3pPr lvl="2"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3pPr>
            <a:lvl4pPr lvl="3"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4pPr>
            <a:lvl5pPr lvl="4"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5pPr>
            <a:lvl6pPr lvl="5"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6pPr>
            <a:lvl7pPr lvl="6"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7pPr>
            <a:lvl8pPr lvl="7"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8pPr>
            <a:lvl9pPr lvl="8" marR="0" rtl="0" algn="r">
              <a:lnSpc>
                <a:spcPct val="103846"/>
              </a:lnSpc>
              <a:spcBef>
                <a:spcPts val="0"/>
              </a:spcBef>
              <a:spcAft>
                <a:spcPts val="0"/>
              </a:spcAft>
              <a:buSzPts val="1400"/>
              <a:buNone/>
              <a:defRPr b="0" i="0" sz="5200" u="none" cap="none" strike="noStrike">
                <a:solidFill>
                  <a:schemeClr val="lt1"/>
                </a:solidFill>
                <a:latin typeface="Lustria"/>
                <a:ea typeface="Lustria"/>
                <a:cs typeface="Lustria"/>
                <a:sym typeface="Lustria"/>
              </a:defRPr>
            </a:lvl9pPr>
          </a:lstStyle>
          <a:p/>
        </p:txBody>
      </p:sp>
      <p:sp>
        <p:nvSpPr>
          <p:cNvPr id="12" name="Google Shape;12;p129"/>
          <p:cNvSpPr txBox="1"/>
          <p:nvPr>
            <p:ph idx="1" type="body"/>
          </p:nvPr>
        </p:nvSpPr>
        <p:spPr>
          <a:xfrm>
            <a:off x="2286000" y="2286000"/>
            <a:ext cx="6197600" cy="3840163"/>
          </a:xfrm>
          <a:prstGeom prst="rect">
            <a:avLst/>
          </a:prstGeom>
          <a:noFill/>
          <a:ln>
            <a:noFill/>
          </a:ln>
        </p:spPr>
        <p:txBody>
          <a:bodyPr anchorCtr="0" anchor="t" bIns="45700" lIns="91425" spcFirstLastPara="1" rIns="91425" wrap="square" tIns="45700">
            <a:noAutofit/>
          </a:bodyPr>
          <a:lstStyle>
            <a:lvl1pPr indent="-323850" lvl="0" marL="457200" marR="0" rtl="0" algn="l">
              <a:spcBef>
                <a:spcPts val="1800"/>
              </a:spcBef>
              <a:spcAft>
                <a:spcPts val="0"/>
              </a:spcAft>
              <a:buClr>
                <a:schemeClr val="accent1"/>
              </a:buClr>
              <a:buSzPts val="1500"/>
              <a:buFont typeface="Noto Sans Symbols"/>
              <a:buChar char="■"/>
              <a:defRPr b="0" i="0" sz="2000" u="none" cap="none" strike="noStrike">
                <a:solidFill>
                  <a:srgbClr val="262626"/>
                </a:solidFill>
                <a:latin typeface="Lustria"/>
                <a:ea typeface="Lustria"/>
                <a:cs typeface="Lustria"/>
                <a:sym typeface="Lustria"/>
              </a:defRPr>
            </a:lvl1pPr>
            <a:lvl2pPr indent="-314325" lvl="1" marL="914400" marR="0" rtl="0" algn="l">
              <a:spcBef>
                <a:spcPts val="600"/>
              </a:spcBef>
              <a:spcAft>
                <a:spcPts val="0"/>
              </a:spcAft>
              <a:buClr>
                <a:schemeClr val="accent1"/>
              </a:buClr>
              <a:buSzPts val="1350"/>
              <a:buFont typeface="Noto Sans Symbols"/>
              <a:buChar char="■"/>
              <a:defRPr b="0" i="0" sz="1800" u="none" cap="none" strike="noStrike">
                <a:solidFill>
                  <a:srgbClr val="262626"/>
                </a:solidFill>
                <a:latin typeface="Lustria"/>
                <a:ea typeface="Lustria"/>
                <a:cs typeface="Lustria"/>
                <a:sym typeface="Lustria"/>
              </a:defRPr>
            </a:lvl2pPr>
            <a:lvl3pPr indent="-314325" lvl="2" marL="1371600" marR="0" rtl="0" algn="l">
              <a:spcBef>
                <a:spcPts val="600"/>
              </a:spcBef>
              <a:spcAft>
                <a:spcPts val="0"/>
              </a:spcAft>
              <a:buClr>
                <a:schemeClr val="accent1"/>
              </a:buClr>
              <a:buSzPts val="1350"/>
              <a:buFont typeface="Noto Sans Symbols"/>
              <a:buChar char="■"/>
              <a:defRPr b="0" i="0" sz="1800" u="none" cap="none" strike="noStrike">
                <a:solidFill>
                  <a:srgbClr val="262626"/>
                </a:solidFill>
                <a:latin typeface="Lustria"/>
                <a:ea typeface="Lustria"/>
                <a:cs typeface="Lustria"/>
                <a:sym typeface="Lustria"/>
              </a:defRPr>
            </a:lvl3pPr>
            <a:lvl4pPr indent="-314325" lvl="3" marL="1828800" marR="0" rtl="0" algn="l">
              <a:spcBef>
                <a:spcPts val="600"/>
              </a:spcBef>
              <a:spcAft>
                <a:spcPts val="0"/>
              </a:spcAft>
              <a:buClr>
                <a:schemeClr val="accent1"/>
              </a:buClr>
              <a:buSzPts val="1350"/>
              <a:buFont typeface="Noto Sans Symbols"/>
              <a:buChar char="■"/>
              <a:defRPr b="0" i="0" sz="1800" u="none" cap="none" strike="noStrike">
                <a:solidFill>
                  <a:srgbClr val="262626"/>
                </a:solidFill>
                <a:latin typeface="Lustria"/>
                <a:ea typeface="Lustria"/>
                <a:cs typeface="Lustria"/>
                <a:sym typeface="Lustria"/>
              </a:defRPr>
            </a:lvl4pPr>
            <a:lvl5pPr indent="-314325" lvl="4" marL="2286000" marR="0" rtl="0" algn="l">
              <a:spcBef>
                <a:spcPts val="600"/>
              </a:spcBef>
              <a:spcAft>
                <a:spcPts val="0"/>
              </a:spcAft>
              <a:buClr>
                <a:schemeClr val="accent1"/>
              </a:buClr>
              <a:buSzPts val="1350"/>
              <a:buFont typeface="Noto Sans Symbols"/>
              <a:buChar char="■"/>
              <a:defRPr b="0" i="0" sz="1800" u="none" cap="none" strike="noStrike">
                <a:solidFill>
                  <a:srgbClr val="262626"/>
                </a:solidFill>
                <a:latin typeface="Lustria"/>
                <a:ea typeface="Lustria"/>
                <a:cs typeface="Lustria"/>
                <a:sym typeface="Lustri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Lustria"/>
                <a:ea typeface="Lustria"/>
                <a:cs typeface="Lustria"/>
                <a:sym typeface="Lustria"/>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Lustria"/>
                <a:ea typeface="Lustria"/>
                <a:cs typeface="Lustria"/>
                <a:sym typeface="Lustria"/>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Lustria"/>
                <a:ea typeface="Lustria"/>
                <a:cs typeface="Lustria"/>
                <a:sym typeface="Lustria"/>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Lustria"/>
                <a:ea typeface="Lustria"/>
                <a:cs typeface="Lustria"/>
                <a:sym typeface="Lustria"/>
              </a:defRPr>
            </a:lvl9pPr>
          </a:lstStyle>
          <a:p/>
        </p:txBody>
      </p:sp>
      <p:sp>
        <p:nvSpPr>
          <p:cNvPr id="13" name="Google Shape;13;p129"/>
          <p:cNvSpPr txBox="1"/>
          <p:nvPr>
            <p:ph idx="10" type="dt"/>
          </p:nvPr>
        </p:nvSpPr>
        <p:spPr>
          <a:xfrm>
            <a:off x="6689725" y="6492875"/>
            <a:ext cx="21336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29"/>
          <p:cNvSpPr txBox="1"/>
          <p:nvPr>
            <p:ph idx="11" type="ftr"/>
          </p:nvPr>
        </p:nvSpPr>
        <p:spPr>
          <a:xfrm>
            <a:off x="317500" y="6492875"/>
            <a:ext cx="34163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100" u="none" cap="none" strike="noStrike">
                <a:solidFill>
                  <a:srgbClr val="A5A5A5"/>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29"/>
          <p:cNvSpPr txBox="1"/>
          <p:nvPr>
            <p:ph idx="12" type="sldNum"/>
          </p:nvPr>
        </p:nvSpPr>
        <p:spPr>
          <a:xfrm>
            <a:off x="379413" y="6149975"/>
            <a:ext cx="533400" cy="365125"/>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1pPr>
            <a:lvl2pPr indent="0" lvl="1"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2pPr>
            <a:lvl3pPr indent="0" lvl="2"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3pPr>
            <a:lvl4pPr indent="0" lvl="3"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4pPr>
            <a:lvl5pPr indent="0" lvl="4"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5pPr>
            <a:lvl6pPr indent="0" lvl="5"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6pPr>
            <a:lvl7pPr indent="0" lvl="6"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7pPr>
            <a:lvl8pPr indent="0" lvl="7"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8pPr>
            <a:lvl9pPr indent="0" lvl="8" marL="0" marR="0" rtl="0" algn="l">
              <a:spcBef>
                <a:spcPts val="0"/>
              </a:spcBef>
              <a:spcAft>
                <a:spcPts val="0"/>
              </a:spcAft>
              <a:buNone/>
              <a:defRPr b="0" i="0" sz="1800" u="none" cap="none" strike="noStrike">
                <a:solidFill>
                  <a:schemeClr val="accen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6" name="Google Shape;16;p129"/>
          <p:cNvSpPr/>
          <p:nvPr/>
        </p:nvSpPr>
        <p:spPr>
          <a:xfrm>
            <a:off x="320675" y="320675"/>
            <a:ext cx="8502650" cy="6216650"/>
          </a:xfrm>
          <a:prstGeom prst="rect">
            <a:avLst/>
          </a:prstGeom>
          <a:noFill/>
          <a:ln cap="flat" cmpd="sng" w="12700">
            <a:solidFill>
              <a:srgbClr val="A5A5A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 name="Google Shape;17;p129"/>
          <p:cNvSpPr/>
          <p:nvPr/>
        </p:nvSpPr>
        <p:spPr>
          <a:xfrm>
            <a:off x="457200" y="1841500"/>
            <a:ext cx="8229600" cy="119063"/>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148" name="Shape 148"/>
        <p:cNvGrpSpPr/>
        <p:nvPr/>
      </p:nvGrpSpPr>
      <p:grpSpPr>
        <a:xfrm>
          <a:off x="0" y="0"/>
          <a:ext cx="0" cy="0"/>
          <a:chOff x="0" y="0"/>
          <a:chExt cx="0" cy="0"/>
        </a:xfrm>
      </p:grpSpPr>
      <p:sp>
        <p:nvSpPr>
          <p:cNvPr id="149" name="Google Shape;149;p1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50" name="Google Shape;150;p1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51" name="Google Shape;151;p1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2" name="Google Shape;152;p1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3" name="Google Shape;153;p1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1200">
                <a:solidFill>
                  <a:srgbClr val="888888"/>
                </a:solidFill>
                <a:latin typeface="Calibri"/>
                <a:ea typeface="Calibri"/>
                <a:cs typeface="Calibri"/>
                <a:sym typeface="Calibri"/>
              </a:defRPr>
            </a:lvl1pPr>
            <a:lvl2pPr indent="0" lvl="1" marL="0" marR="0" rtl="0" algn="r">
              <a:spcBef>
                <a:spcPts val="0"/>
              </a:spcBef>
              <a:spcAft>
                <a:spcPts val="0"/>
              </a:spcAft>
              <a:buNone/>
              <a:defRPr sz="1200">
                <a:solidFill>
                  <a:srgbClr val="888888"/>
                </a:solidFill>
                <a:latin typeface="Calibri"/>
                <a:ea typeface="Calibri"/>
                <a:cs typeface="Calibri"/>
                <a:sym typeface="Calibri"/>
              </a:defRPr>
            </a:lvl2pPr>
            <a:lvl3pPr indent="0" lvl="2" marL="0" marR="0" rtl="0" algn="r">
              <a:spcBef>
                <a:spcPts val="0"/>
              </a:spcBef>
              <a:spcAft>
                <a:spcPts val="0"/>
              </a:spcAft>
              <a:buNone/>
              <a:defRPr sz="1200">
                <a:solidFill>
                  <a:srgbClr val="888888"/>
                </a:solidFill>
                <a:latin typeface="Calibri"/>
                <a:ea typeface="Calibri"/>
                <a:cs typeface="Calibri"/>
                <a:sym typeface="Calibri"/>
              </a:defRPr>
            </a:lvl3pPr>
            <a:lvl4pPr indent="0" lvl="3" marL="0" marR="0" rtl="0" algn="r">
              <a:spcBef>
                <a:spcPts val="0"/>
              </a:spcBef>
              <a:spcAft>
                <a:spcPts val="0"/>
              </a:spcAft>
              <a:buNone/>
              <a:defRPr sz="1200">
                <a:solidFill>
                  <a:srgbClr val="888888"/>
                </a:solidFill>
                <a:latin typeface="Calibri"/>
                <a:ea typeface="Calibri"/>
                <a:cs typeface="Calibri"/>
                <a:sym typeface="Calibri"/>
              </a:defRPr>
            </a:lvl4pPr>
            <a:lvl5pPr indent="0" lvl="4" marL="0" marR="0" rtl="0" algn="r">
              <a:spcBef>
                <a:spcPts val="0"/>
              </a:spcBef>
              <a:spcAft>
                <a:spcPts val="0"/>
              </a:spcAft>
              <a:buNone/>
              <a:defRPr sz="1200">
                <a:solidFill>
                  <a:srgbClr val="888888"/>
                </a:solidFill>
                <a:latin typeface="Calibri"/>
                <a:ea typeface="Calibri"/>
                <a:cs typeface="Calibri"/>
                <a:sym typeface="Calibri"/>
              </a:defRPr>
            </a:lvl5pPr>
            <a:lvl6pPr indent="0" lvl="5" marL="0" marR="0" rtl="0" algn="r">
              <a:spcBef>
                <a:spcPts val="0"/>
              </a:spcBef>
              <a:spcAft>
                <a:spcPts val="0"/>
              </a:spcAft>
              <a:buNone/>
              <a:defRPr sz="1200">
                <a:solidFill>
                  <a:srgbClr val="888888"/>
                </a:solidFill>
                <a:latin typeface="Calibri"/>
                <a:ea typeface="Calibri"/>
                <a:cs typeface="Calibri"/>
                <a:sym typeface="Calibri"/>
              </a:defRPr>
            </a:lvl6pPr>
            <a:lvl7pPr indent="0" lvl="6" marL="0" marR="0" rtl="0" algn="r">
              <a:spcBef>
                <a:spcPts val="0"/>
              </a:spcBef>
              <a:spcAft>
                <a:spcPts val="0"/>
              </a:spcAft>
              <a:buNone/>
              <a:defRPr sz="1200">
                <a:solidFill>
                  <a:srgbClr val="888888"/>
                </a:solidFill>
                <a:latin typeface="Calibri"/>
                <a:ea typeface="Calibri"/>
                <a:cs typeface="Calibri"/>
                <a:sym typeface="Calibri"/>
              </a:defRPr>
            </a:lvl7pPr>
            <a:lvl8pPr indent="0" lvl="7" marL="0" marR="0" rtl="0" algn="r">
              <a:spcBef>
                <a:spcPts val="0"/>
              </a:spcBef>
              <a:spcAft>
                <a:spcPts val="0"/>
              </a:spcAft>
              <a:buNone/>
              <a:defRPr sz="1200">
                <a:solidFill>
                  <a:srgbClr val="888888"/>
                </a:solidFill>
                <a:latin typeface="Calibri"/>
                <a:ea typeface="Calibri"/>
                <a:cs typeface="Calibri"/>
                <a:sym typeface="Calibri"/>
              </a:defRPr>
            </a:lvl8pPr>
            <a:lvl9pPr indent="0" lvl="8" marL="0" marR="0" rtl="0" algn="r">
              <a:spcBef>
                <a:spcPts val="0"/>
              </a:spcBef>
              <a:spcAft>
                <a:spcPts val="0"/>
              </a:spcAft>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2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8.jp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vmlDrawing" Target="../drawings/vmlDrawing1.vml"/><Relationship Id="rId4" Type="http://schemas.openxmlformats.org/officeDocument/2006/relationships/package" Target="../embeddings/Microsoft_Office_Word_Document1.docx"/><Relationship Id="rId5" Type="http://schemas.openxmlformats.org/officeDocument/2006/relationships/package" Target="../embeddings/Microsoft_Office_Word_Document1.docx"/><Relationship Id="rId6" Type="http://schemas.openxmlformats.org/officeDocument/2006/relationships/image" Target="../media/image72.png"/><Relationship Id="rId7" Type="http://schemas.openxmlformats.org/officeDocument/2006/relationships/image" Target="../media/image8.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2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0.xml"/><Relationship Id="rId3"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3.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7.xml"/><Relationship Id="rId3" Type="http://schemas.openxmlformats.org/officeDocument/2006/relationships/image" Target="../media/image38.png"/><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vmlDrawing" Target="../drawings/vmlDrawing2.vml"/><Relationship Id="rId4" Type="http://schemas.openxmlformats.org/officeDocument/2006/relationships/package" Target="../embeddings/Microsoft_Office_Word_Document2.docx"/><Relationship Id="rId5" Type="http://schemas.openxmlformats.org/officeDocument/2006/relationships/package" Target="../embeddings/Microsoft_Office_Word_Document2.docx"/><Relationship Id="rId6" Type="http://schemas.openxmlformats.org/officeDocument/2006/relationships/image" Target="../media/image3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3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3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3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4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4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4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4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 Id="rId3" Type="http://schemas.openxmlformats.org/officeDocument/2006/relationships/image" Target="../media/image4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4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4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4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4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35.png"/><Relationship Id="rId4" Type="http://schemas.openxmlformats.org/officeDocument/2006/relationships/image" Target="../media/image4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 Id="rId3" Type="http://schemas.openxmlformats.org/officeDocument/2006/relationships/image" Target="../media/image4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42.png"/><Relationship Id="rId4" Type="http://schemas.openxmlformats.org/officeDocument/2006/relationships/image" Target="../media/image4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42.png"/><Relationship Id="rId4" Type="http://schemas.openxmlformats.org/officeDocument/2006/relationships/image" Target="../media/image4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5.xml"/><Relationship Id="rId3" Type="http://schemas.openxmlformats.org/officeDocument/2006/relationships/image" Target="../media/image5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 Id="rId3" Type="http://schemas.openxmlformats.org/officeDocument/2006/relationships/image" Target="../media/image7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4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4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48.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6.xml"/><Relationship Id="rId3" Type="http://schemas.openxmlformats.org/officeDocument/2006/relationships/image" Target="../media/image53.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7.xml"/><Relationship Id="rId3" Type="http://schemas.openxmlformats.org/officeDocument/2006/relationships/image" Target="../media/image5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8.xml"/><Relationship Id="rId3" Type="http://schemas.openxmlformats.org/officeDocument/2006/relationships/image" Target="../media/image54.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9.xml"/><Relationship Id="rId3" Type="http://schemas.openxmlformats.org/officeDocument/2006/relationships/image" Target="../media/image54.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0.xml"/><Relationship Id="rId3" Type="http://schemas.openxmlformats.org/officeDocument/2006/relationships/image" Target="../media/image60.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1.xml"/><Relationship Id="rId3" Type="http://schemas.openxmlformats.org/officeDocument/2006/relationships/image" Target="../media/image64.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2.xml"/><Relationship Id="rId3" Type="http://schemas.openxmlformats.org/officeDocument/2006/relationships/image" Target="../media/image64.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3.xml"/><Relationship Id="rId3" Type="http://schemas.openxmlformats.org/officeDocument/2006/relationships/image" Target="../media/image64.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21.png"/><Relationship Id="rId4" Type="http://schemas.openxmlformats.org/officeDocument/2006/relationships/image" Target="../media/image35.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6.xml"/><Relationship Id="rId3" Type="http://schemas.openxmlformats.org/officeDocument/2006/relationships/image" Target="../media/image57.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7.xml"/><Relationship Id="rId3" Type="http://schemas.openxmlformats.org/officeDocument/2006/relationships/image" Target="../media/image57.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9.xml"/><Relationship Id="rId3" Type="http://schemas.openxmlformats.org/officeDocument/2006/relationships/image" Target="../media/image58.png"/><Relationship Id="rId4" Type="http://schemas.openxmlformats.org/officeDocument/2006/relationships/image" Target="../media/image63.png"/><Relationship Id="rId5" Type="http://schemas.openxmlformats.org/officeDocument/2006/relationships/image" Target="../media/image62.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61.png"/><Relationship Id="rId4" Type="http://schemas.openxmlformats.org/officeDocument/2006/relationships/image" Target="../media/image65.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1.xml"/><Relationship Id="rId3" Type="http://schemas.openxmlformats.org/officeDocument/2006/relationships/image" Target="../media/image6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2.xml"/><Relationship Id="rId3" Type="http://schemas.openxmlformats.org/officeDocument/2006/relationships/image" Target="../media/image67.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3.xml"/><Relationship Id="rId3" Type="http://schemas.openxmlformats.org/officeDocument/2006/relationships/image" Target="../media/image6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4.xml"/><Relationship Id="rId3" Type="http://schemas.openxmlformats.org/officeDocument/2006/relationships/image" Target="../media/image6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5.xml"/><Relationship Id="rId3" Type="http://schemas.openxmlformats.org/officeDocument/2006/relationships/image" Target="../media/image70.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6.xml"/><Relationship Id="rId3" Type="http://schemas.openxmlformats.org/officeDocument/2006/relationships/image" Target="../media/image68.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8.xml"/><Relationship Id="rId3" Type="http://schemas.openxmlformats.org/officeDocument/2006/relationships/image" Target="../media/image6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
          <p:cNvSpPr txBox="1"/>
          <p:nvPr>
            <p:ph type="title"/>
          </p:nvPr>
        </p:nvSpPr>
        <p:spPr>
          <a:xfrm>
            <a:off x="3098800" y="2667000"/>
            <a:ext cx="5395913" cy="2249488"/>
          </a:xfrm>
          <a:prstGeom prst="rect">
            <a:avLst/>
          </a:prstGeom>
          <a:noFill/>
          <a:ln>
            <a:noFill/>
          </a:ln>
        </p:spPr>
        <p:txBody>
          <a:bodyPr anchorCtr="0" anchor="b" bIns="0" lIns="91425" spcFirstLastPara="1" rIns="91425" wrap="square" tIns="0">
            <a:noAutofit/>
          </a:bodyPr>
          <a:lstStyle/>
          <a:p>
            <a:pPr indent="0" lvl="0" marL="0" rtl="0" algn="r">
              <a:lnSpc>
                <a:spcPct val="117391"/>
              </a:lnSpc>
              <a:spcBef>
                <a:spcPts val="0"/>
              </a:spcBef>
              <a:spcAft>
                <a:spcPts val="0"/>
              </a:spcAft>
              <a:buNone/>
            </a:pPr>
            <a:r>
              <a:rPr lang="en-US"/>
              <a:t>Chapter 12</a:t>
            </a:r>
            <a:br>
              <a:rPr lang="en-US"/>
            </a:br>
            <a:r>
              <a:rPr lang="en-US"/>
              <a:t>File Management</a:t>
            </a:r>
            <a:endParaRPr/>
          </a:p>
        </p:txBody>
      </p:sp>
      <p:sp>
        <p:nvSpPr>
          <p:cNvPr id="229" name="Google Shape;229;p1"/>
          <p:cNvSpPr txBox="1"/>
          <p:nvPr/>
        </p:nvSpPr>
        <p:spPr>
          <a:xfrm>
            <a:off x="533400" y="1828800"/>
            <a:ext cx="1981200" cy="4191000"/>
          </a:xfrm>
          <a:prstGeom prst="rect">
            <a:avLst/>
          </a:prstGeom>
          <a:noFill/>
          <a:ln>
            <a:noFill/>
          </a:ln>
        </p:spPr>
        <p:txBody>
          <a:bodyPr anchorCtr="0" anchor="t" bIns="45700" lIns="91425" spcFirstLastPara="1" rIns="91425" wrap="square" tIns="45700">
            <a:normAutofit fontScale="92500" lnSpcReduction="10000"/>
          </a:bodyPr>
          <a:lstStyle/>
          <a:p>
            <a:pPr indent="0" lvl="0" marL="0" marR="0" rtl="0" algn="ctr">
              <a:spcBef>
                <a:spcPts val="0"/>
              </a:spcBef>
              <a:spcAft>
                <a:spcPts val="0"/>
              </a:spcAft>
              <a:buClr>
                <a:srgbClr val="433D26"/>
              </a:buClr>
              <a:buSzPct val="100000"/>
              <a:buFont typeface="Arial"/>
              <a:buNone/>
            </a:pPr>
            <a:r>
              <a:rPr b="0" i="1" lang="en-US" sz="3200" u="none" cap="none" strike="noStrike">
                <a:solidFill>
                  <a:srgbClr val="433D26"/>
                </a:solidFill>
                <a:latin typeface="Lustria"/>
                <a:ea typeface="Lustria"/>
                <a:cs typeface="Lustria"/>
                <a:sym typeface="Lustria"/>
              </a:rPr>
              <a:t>Reference Book:-Operating Systems:</a:t>
            </a:r>
            <a:br>
              <a:rPr b="0" i="1" lang="en-US" sz="3200" u="none" cap="none" strike="noStrike">
                <a:solidFill>
                  <a:srgbClr val="433D26"/>
                </a:solidFill>
                <a:latin typeface="Lustria"/>
                <a:ea typeface="Lustria"/>
                <a:cs typeface="Lustria"/>
                <a:sym typeface="Lustria"/>
              </a:rPr>
            </a:br>
            <a:r>
              <a:rPr b="0" i="1" lang="en-US" sz="3200" u="none" cap="none" strike="noStrike">
                <a:solidFill>
                  <a:srgbClr val="433D26"/>
                </a:solidFill>
                <a:latin typeface="Lustria"/>
                <a:ea typeface="Lustria"/>
                <a:cs typeface="Lustria"/>
                <a:sym typeface="Lustria"/>
              </a:rPr>
              <a:t>Internals and Design Principles</a:t>
            </a:r>
            <a:endParaRPr/>
          </a:p>
          <a:p>
            <a:pPr indent="0" lvl="0" marL="0" marR="0" rtl="0" algn="ctr">
              <a:spcBef>
                <a:spcPts val="592"/>
              </a:spcBef>
              <a:spcAft>
                <a:spcPts val="0"/>
              </a:spcAft>
              <a:buNone/>
            </a:pPr>
            <a:r>
              <a:rPr b="0" i="0" lang="en-US" sz="3200" u="none" cap="none" strike="noStrike">
                <a:solidFill>
                  <a:schemeClr val="dk1"/>
                </a:solidFill>
                <a:latin typeface="Arial"/>
                <a:ea typeface="Arial"/>
                <a:cs typeface="Arial"/>
                <a:sym typeface="Arial"/>
              </a:rPr>
              <a:t>By William Stallings</a:t>
            </a:r>
            <a:endParaRPr/>
          </a:p>
          <a:p>
            <a:pPr indent="0" lvl="0" marL="0" marR="0" rtl="0" algn="ctr">
              <a:spcBef>
                <a:spcPts val="592"/>
              </a:spcBef>
              <a:spcAft>
                <a:spcPts val="0"/>
              </a:spcAft>
              <a:buClr>
                <a:schemeClr val="dk1"/>
              </a:buClr>
              <a:buSzPct val="100000"/>
              <a:buFont typeface="Arial"/>
              <a:buNone/>
            </a:pPr>
            <a:r>
              <a:t/>
            </a:r>
            <a:endParaRPr b="0" i="1" sz="3200" u="none" cap="none" strike="noStrike">
              <a:solidFill>
                <a:srgbClr val="433D26"/>
              </a:solidFill>
              <a:latin typeface="Lustria"/>
              <a:ea typeface="Lustria"/>
              <a:cs typeface="Lustria"/>
              <a:sym typeface="Lust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Files</a:t>
            </a:r>
            <a:endParaRPr/>
          </a:p>
        </p:txBody>
      </p:sp>
      <p:sp>
        <p:nvSpPr>
          <p:cNvPr id="236" name="Google Shape;236;p2"/>
          <p:cNvSpPr txBox="1"/>
          <p:nvPr>
            <p:ph idx="4294967295" type="body"/>
          </p:nvPr>
        </p:nvSpPr>
        <p:spPr>
          <a:xfrm>
            <a:off x="533400" y="2286000"/>
            <a:ext cx="8077200" cy="41910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Data collections created by users</a:t>
            </a:r>
            <a:endParaRPr/>
          </a:p>
          <a:p>
            <a:pPr indent="-282575" lvl="0" marL="282575" rtl="0" algn="l">
              <a:spcBef>
                <a:spcPts val="1800"/>
              </a:spcBef>
              <a:spcAft>
                <a:spcPts val="0"/>
              </a:spcAft>
              <a:buSzPts val="1500"/>
              <a:buChar char="■"/>
            </a:pPr>
            <a:r>
              <a:rPr lang="en-US"/>
              <a:t>The File System is one of the most important parts of the OS to a user</a:t>
            </a:r>
            <a:endParaRPr/>
          </a:p>
          <a:p>
            <a:pPr indent="-209550" lvl="1" marL="577850" rtl="0" algn="l">
              <a:spcBef>
                <a:spcPts val="600"/>
              </a:spcBef>
              <a:spcAft>
                <a:spcPts val="0"/>
              </a:spcAft>
              <a:buSzPts val="135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Files</a:t>
            </a:r>
            <a:endParaRPr/>
          </a:p>
        </p:txBody>
      </p:sp>
      <p:sp>
        <p:nvSpPr>
          <p:cNvPr id="243" name="Google Shape;243;p3"/>
          <p:cNvSpPr txBox="1"/>
          <p:nvPr>
            <p:ph idx="4294967295" type="body"/>
          </p:nvPr>
        </p:nvSpPr>
        <p:spPr>
          <a:xfrm>
            <a:off x="533400" y="1295400"/>
            <a:ext cx="8077200" cy="51054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Desirable properties of files:</a:t>
            </a:r>
            <a:endParaRPr/>
          </a:p>
          <a:p>
            <a:pPr indent="-209550" lvl="1" marL="577850" rtl="0" algn="l">
              <a:spcBef>
                <a:spcPts val="600"/>
              </a:spcBef>
              <a:spcAft>
                <a:spcPts val="0"/>
              </a:spcAft>
              <a:buSzPts val="1350"/>
              <a:buNone/>
            </a:pPr>
            <a:r>
              <a:t/>
            </a:r>
            <a:endParaRPr/>
          </a:p>
        </p:txBody>
      </p:sp>
      <p:grpSp>
        <p:nvGrpSpPr>
          <p:cNvPr id="244" name="Google Shape;244;p3"/>
          <p:cNvGrpSpPr/>
          <p:nvPr/>
        </p:nvGrpSpPr>
        <p:grpSpPr>
          <a:xfrm>
            <a:off x="533400" y="2062228"/>
            <a:ext cx="8077200" cy="4378506"/>
            <a:chOff x="0" y="81028"/>
            <a:chExt cx="8077200" cy="4378506"/>
          </a:xfrm>
        </p:grpSpPr>
        <p:sp>
          <p:nvSpPr>
            <p:cNvPr id="245" name="Google Shape;245;p3"/>
            <p:cNvSpPr/>
            <p:nvPr/>
          </p:nvSpPr>
          <p:spPr>
            <a:xfrm>
              <a:off x="170025" y="81028"/>
              <a:ext cx="3485957" cy="759839"/>
            </a:xfrm>
            <a:prstGeom prst="roundRect">
              <a:avLst>
                <a:gd fmla="val 16667" name="adj"/>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
            <p:cNvSpPr txBox="1"/>
            <p:nvPr/>
          </p:nvSpPr>
          <p:spPr>
            <a:xfrm>
              <a:off x="207117" y="118120"/>
              <a:ext cx="3411773" cy="685655"/>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    Long-term existence</a:t>
              </a:r>
              <a:endParaRPr b="0" i="0" sz="2400" u="none" cap="none" strike="noStrike">
                <a:solidFill>
                  <a:schemeClr val="lt1"/>
                </a:solidFill>
                <a:latin typeface="Arial"/>
                <a:ea typeface="Arial"/>
                <a:cs typeface="Arial"/>
                <a:sym typeface="Arial"/>
              </a:endParaRPr>
            </a:p>
          </p:txBody>
        </p:sp>
        <p:sp>
          <p:nvSpPr>
            <p:cNvPr id="247" name="Google Shape;247;p3"/>
            <p:cNvSpPr/>
            <p:nvPr/>
          </p:nvSpPr>
          <p:spPr>
            <a:xfrm>
              <a:off x="0" y="796104"/>
              <a:ext cx="8077200" cy="571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
            <p:cNvSpPr txBox="1"/>
            <p:nvPr/>
          </p:nvSpPr>
          <p:spPr>
            <a:xfrm>
              <a:off x="0" y="796104"/>
              <a:ext cx="8077200" cy="571320"/>
            </a:xfrm>
            <a:prstGeom prst="rect">
              <a:avLst/>
            </a:prstGeom>
            <a:noFill/>
            <a:ln>
              <a:noFill/>
            </a:ln>
          </p:spPr>
          <p:txBody>
            <a:bodyPr anchorCtr="0" anchor="t" bIns="30475" lIns="256450"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files are stored on disk or other secondary storage and do not disappear when a user logs off</a:t>
              </a:r>
              <a:endParaRPr/>
            </a:p>
          </p:txBody>
        </p:sp>
        <p:sp>
          <p:nvSpPr>
            <p:cNvPr id="249" name="Google Shape;249;p3"/>
            <p:cNvSpPr/>
            <p:nvPr/>
          </p:nvSpPr>
          <p:spPr>
            <a:xfrm>
              <a:off x="0" y="1371297"/>
              <a:ext cx="6689456" cy="835570"/>
            </a:xfrm>
            <a:prstGeom prst="roundRect">
              <a:avLst>
                <a:gd fmla="val 16667" name="adj"/>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
            <p:cNvSpPr txBox="1"/>
            <p:nvPr/>
          </p:nvSpPr>
          <p:spPr>
            <a:xfrm>
              <a:off x="40789" y="1412086"/>
              <a:ext cx="6607878" cy="753992"/>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     Sharable between processes</a:t>
              </a:r>
              <a:endParaRPr/>
            </a:p>
          </p:txBody>
        </p:sp>
        <p:sp>
          <p:nvSpPr>
            <p:cNvPr id="251" name="Google Shape;251;p3"/>
            <p:cNvSpPr/>
            <p:nvPr/>
          </p:nvSpPr>
          <p:spPr>
            <a:xfrm>
              <a:off x="0" y="2202995"/>
              <a:ext cx="8077200" cy="57132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
            <p:cNvSpPr txBox="1"/>
            <p:nvPr/>
          </p:nvSpPr>
          <p:spPr>
            <a:xfrm>
              <a:off x="0" y="2202995"/>
              <a:ext cx="8077200" cy="571320"/>
            </a:xfrm>
            <a:prstGeom prst="rect">
              <a:avLst/>
            </a:prstGeom>
            <a:noFill/>
            <a:ln>
              <a:noFill/>
            </a:ln>
          </p:spPr>
          <p:txBody>
            <a:bodyPr anchorCtr="0" anchor="t" bIns="30475" lIns="256450"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files have names and can have associated access permissions that permit controlled sharing</a:t>
              </a:r>
              <a:endParaRPr/>
            </a:p>
          </p:txBody>
        </p:sp>
        <p:sp>
          <p:nvSpPr>
            <p:cNvPr id="253" name="Google Shape;253;p3"/>
            <p:cNvSpPr/>
            <p:nvPr/>
          </p:nvSpPr>
          <p:spPr>
            <a:xfrm>
              <a:off x="85012" y="2743199"/>
              <a:ext cx="3655983" cy="815819"/>
            </a:xfrm>
            <a:prstGeom prst="roundRect">
              <a:avLst>
                <a:gd fmla="val 16667" name="adj"/>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3"/>
            <p:cNvSpPr txBox="1"/>
            <p:nvPr/>
          </p:nvSpPr>
          <p:spPr>
            <a:xfrm>
              <a:off x="124837" y="2783024"/>
              <a:ext cx="3576333" cy="736169"/>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     Structure</a:t>
              </a:r>
              <a:endParaRPr/>
            </a:p>
          </p:txBody>
        </p:sp>
        <p:sp>
          <p:nvSpPr>
            <p:cNvPr id="255" name="Google Shape;255;p3"/>
            <p:cNvSpPr/>
            <p:nvPr/>
          </p:nvSpPr>
          <p:spPr>
            <a:xfrm>
              <a:off x="0" y="3590134"/>
              <a:ext cx="8077200" cy="869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3"/>
            <p:cNvSpPr txBox="1"/>
            <p:nvPr/>
          </p:nvSpPr>
          <p:spPr>
            <a:xfrm>
              <a:off x="0" y="3590134"/>
              <a:ext cx="8077200" cy="869400"/>
            </a:xfrm>
            <a:prstGeom prst="rect">
              <a:avLst/>
            </a:prstGeom>
            <a:noFill/>
            <a:ln>
              <a:noFill/>
            </a:ln>
          </p:spPr>
          <p:txBody>
            <a:bodyPr anchorCtr="0" anchor="t" bIns="30475" lIns="256450" spcFirstLastPara="1" rIns="170675" wrap="square" tIns="30475">
              <a:noAutofit/>
            </a:bodyPr>
            <a:lstStyle/>
            <a:p>
              <a:pPr indent="-171450" lvl="1" marL="171450" marR="0" rtl="0" algn="l">
                <a:lnSpc>
                  <a:spcPct val="90000"/>
                </a:lnSpc>
                <a:spcBef>
                  <a:spcPts val="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Depending upon the File System, A file can have  an internal structure</a:t>
              </a:r>
              <a:endParaRPr/>
            </a:p>
            <a:p>
              <a:pPr indent="-171450" lvl="1" marL="171450" marR="0" rtl="0" algn="l">
                <a:lnSpc>
                  <a:spcPct val="90000"/>
                </a:lnSpc>
                <a:spcBef>
                  <a:spcPts val="380"/>
                </a:spcBef>
                <a:spcAft>
                  <a:spcPts val="0"/>
                </a:spcAft>
                <a:buClr>
                  <a:schemeClr val="dk1"/>
                </a:buClr>
                <a:buSzPts val="1900"/>
                <a:buFont typeface="Arial"/>
                <a:buChar char="•"/>
              </a:pPr>
              <a:r>
                <a:rPr b="0" i="0" lang="en-US" sz="1900" u="none" cap="none" strike="noStrike">
                  <a:solidFill>
                    <a:schemeClr val="dk1"/>
                  </a:solidFill>
                  <a:latin typeface="Arial"/>
                  <a:ea typeface="Arial"/>
                  <a:cs typeface="Arial"/>
                  <a:sym typeface="Arial"/>
                </a:rPr>
                <a:t>Files can be organized into hierarchical or more complex structure to reflect the relationships among files</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Operation of Files</a:t>
            </a:r>
            <a:endParaRPr/>
          </a:p>
        </p:txBody>
      </p:sp>
      <p:sp>
        <p:nvSpPr>
          <p:cNvPr id="263" name="Google Shape;263;p4"/>
          <p:cNvSpPr txBox="1"/>
          <p:nvPr>
            <p:ph idx="4294967295" type="body"/>
          </p:nvPr>
        </p:nvSpPr>
        <p:spPr>
          <a:xfrm>
            <a:off x="609600" y="2133600"/>
            <a:ext cx="7924800" cy="42672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Provide a means to store data organized as files as well as a collection of functions that can be performed on files</a:t>
            </a:r>
            <a:endParaRPr/>
          </a:p>
          <a:p>
            <a:pPr indent="-282575" lvl="0" marL="282575" rtl="0" algn="l">
              <a:spcBef>
                <a:spcPts val="1800"/>
              </a:spcBef>
              <a:spcAft>
                <a:spcPts val="0"/>
              </a:spcAft>
              <a:buSzPts val="1500"/>
              <a:buChar char="■"/>
            </a:pPr>
            <a:r>
              <a:rPr lang="en-US"/>
              <a:t>Maintain a set of attributes associated with the file</a:t>
            </a:r>
            <a:endParaRPr/>
          </a:p>
          <a:p>
            <a:pPr indent="-282575" lvl="0" marL="282575" rtl="0" algn="l">
              <a:spcBef>
                <a:spcPts val="1800"/>
              </a:spcBef>
              <a:spcAft>
                <a:spcPts val="0"/>
              </a:spcAft>
              <a:buSzPts val="1500"/>
              <a:buChar char="■"/>
            </a:pPr>
            <a:r>
              <a:rPr lang="en-US"/>
              <a:t>Typical operations include:</a:t>
            </a:r>
            <a:endParaRPr/>
          </a:p>
          <a:p>
            <a:pPr indent="-333375" lvl="1" marL="968375" rtl="0" algn="l">
              <a:spcBef>
                <a:spcPts val="600"/>
              </a:spcBef>
              <a:spcAft>
                <a:spcPts val="0"/>
              </a:spcAft>
              <a:buSzPts val="1350"/>
              <a:buChar char="■"/>
            </a:pPr>
            <a:r>
              <a:rPr lang="en-US"/>
              <a:t>Open</a:t>
            </a:r>
            <a:endParaRPr/>
          </a:p>
          <a:p>
            <a:pPr indent="-333375" lvl="1" marL="968375" rtl="0" algn="l">
              <a:spcBef>
                <a:spcPts val="600"/>
              </a:spcBef>
              <a:spcAft>
                <a:spcPts val="0"/>
              </a:spcAft>
              <a:buSzPts val="1350"/>
              <a:buChar char="■"/>
            </a:pPr>
            <a:r>
              <a:rPr lang="en-US"/>
              <a:t>Close</a:t>
            </a:r>
            <a:endParaRPr/>
          </a:p>
          <a:p>
            <a:pPr indent="-333375" lvl="1" marL="968375" rtl="0" algn="l">
              <a:spcBef>
                <a:spcPts val="600"/>
              </a:spcBef>
              <a:spcAft>
                <a:spcPts val="0"/>
              </a:spcAft>
              <a:buSzPts val="1350"/>
              <a:buChar char="■"/>
            </a:pPr>
            <a:r>
              <a:rPr lang="en-US"/>
              <a:t>Read</a:t>
            </a:r>
            <a:endParaRPr/>
          </a:p>
          <a:p>
            <a:pPr indent="-333375" lvl="1" marL="968375" rtl="0" algn="l">
              <a:spcBef>
                <a:spcPts val="600"/>
              </a:spcBef>
              <a:spcAft>
                <a:spcPts val="0"/>
              </a:spcAft>
              <a:buSzPts val="1350"/>
              <a:buChar char="■"/>
            </a:pPr>
            <a:r>
              <a:rPr lang="en-US"/>
              <a:t>Write</a:t>
            </a:r>
            <a:endParaRPr/>
          </a:p>
          <a:p>
            <a:pPr indent="-333375" lvl="1" marL="968375" rtl="0" algn="l">
              <a:spcBef>
                <a:spcPts val="600"/>
              </a:spcBef>
              <a:spcAft>
                <a:spcPts val="0"/>
              </a:spcAft>
              <a:buSzPts val="1350"/>
              <a:buChar char="■"/>
            </a:pPr>
            <a:r>
              <a:rPr lang="en-US"/>
              <a:t>Create</a:t>
            </a:r>
            <a:endParaRPr/>
          </a:p>
          <a:p>
            <a:pPr indent="-333375" lvl="1" marL="968375" rtl="0" algn="l">
              <a:spcBef>
                <a:spcPts val="600"/>
              </a:spcBef>
              <a:spcAft>
                <a:spcPts val="0"/>
              </a:spcAft>
              <a:buSzPts val="1350"/>
              <a:buChar char="■"/>
            </a:pPr>
            <a:r>
              <a:rPr lang="en-US"/>
              <a:t>Delete</a:t>
            </a:r>
            <a:endParaRPr/>
          </a:p>
          <a:p>
            <a:pPr indent="0" lvl="1" marL="635000" rtl="0" algn="l">
              <a:spcBef>
                <a:spcPts val="600"/>
              </a:spcBef>
              <a:spcAft>
                <a:spcPts val="0"/>
              </a:spcAft>
              <a:buSzPts val="1350"/>
              <a:buNone/>
            </a:pPr>
            <a:r>
              <a:t/>
            </a:r>
            <a:endParaRPr/>
          </a:p>
        </p:txBody>
      </p:sp>
      <p:pic>
        <p:nvPicPr>
          <p:cNvPr id="264" name="Google Shape;264;p4"/>
          <p:cNvPicPr preferRelativeResize="0"/>
          <p:nvPr/>
        </p:nvPicPr>
        <p:blipFill rotWithShape="1">
          <a:blip r:embed="rId3">
            <a:alphaModFix/>
          </a:blip>
          <a:srcRect b="0" l="0" r="0" t="0"/>
          <a:stretch/>
        </p:blipFill>
        <p:spPr>
          <a:xfrm>
            <a:off x="5486400" y="4419600"/>
            <a:ext cx="2057400" cy="1895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5"/>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 Structure</a:t>
            </a:r>
            <a:endParaRPr/>
          </a:p>
        </p:txBody>
      </p:sp>
      <p:grpSp>
        <p:nvGrpSpPr>
          <p:cNvPr id="271" name="Google Shape;271;p5"/>
          <p:cNvGrpSpPr/>
          <p:nvPr/>
        </p:nvGrpSpPr>
        <p:grpSpPr>
          <a:xfrm>
            <a:off x="609756" y="2590800"/>
            <a:ext cx="7924487" cy="3352798"/>
            <a:chOff x="156" y="381000"/>
            <a:chExt cx="7924487" cy="3352798"/>
          </a:xfrm>
        </p:grpSpPr>
        <p:sp>
          <p:nvSpPr>
            <p:cNvPr id="272" name="Google Shape;272;p5"/>
            <p:cNvSpPr/>
            <p:nvPr/>
          </p:nvSpPr>
          <p:spPr>
            <a:xfrm>
              <a:off x="3872046" y="2009788"/>
              <a:ext cx="2981667" cy="473000"/>
            </a:xfrm>
            <a:custGeom>
              <a:rect b="b" l="l" r="r" t="t"/>
              <a:pathLst>
                <a:path extrusionOk="0" h="120000" w="120000">
                  <a:moveTo>
                    <a:pt x="0" y="0"/>
                  </a:moveTo>
                  <a:lnTo>
                    <a:pt x="0" y="81777"/>
                  </a:lnTo>
                  <a:lnTo>
                    <a:pt x="120000" y="81777"/>
                  </a:lnTo>
                  <a:lnTo>
                    <a:pt x="120000" y="120000"/>
                  </a:lnTo>
                </a:path>
              </a:pathLst>
            </a:custGeom>
            <a:noFill/>
            <a:ln cap="flat" cmpd="sng" w="15875">
              <a:solidFill>
                <a:srgbClr val="790000"/>
              </a:solidFill>
              <a:prstDash val="solid"/>
              <a:round/>
              <a:headEnd len="sm" w="sm" type="none"/>
              <a:tailEnd len="sm" w="sm" type="none"/>
            </a:ln>
          </p:spPr>
        </p:sp>
        <p:sp>
          <p:nvSpPr>
            <p:cNvPr id="273" name="Google Shape;273;p5"/>
            <p:cNvSpPr/>
            <p:nvPr/>
          </p:nvSpPr>
          <p:spPr>
            <a:xfrm>
              <a:off x="3872046" y="2009788"/>
              <a:ext cx="916848" cy="473000"/>
            </a:xfrm>
            <a:custGeom>
              <a:rect b="b" l="l" r="r" t="t"/>
              <a:pathLst>
                <a:path extrusionOk="0" h="120000" w="120000">
                  <a:moveTo>
                    <a:pt x="0" y="0"/>
                  </a:moveTo>
                  <a:lnTo>
                    <a:pt x="0" y="81777"/>
                  </a:lnTo>
                  <a:lnTo>
                    <a:pt x="120000" y="81777"/>
                  </a:lnTo>
                  <a:lnTo>
                    <a:pt x="120000" y="120000"/>
                  </a:lnTo>
                </a:path>
              </a:pathLst>
            </a:custGeom>
            <a:noFill/>
            <a:ln cap="flat" cmpd="sng" w="15875">
              <a:solidFill>
                <a:srgbClr val="790000"/>
              </a:solidFill>
              <a:prstDash val="solid"/>
              <a:round/>
              <a:headEnd len="sm" w="sm" type="none"/>
              <a:tailEnd len="sm" w="sm" type="none"/>
            </a:ln>
          </p:spPr>
        </p:sp>
        <p:sp>
          <p:nvSpPr>
            <p:cNvPr id="274" name="Google Shape;274;p5"/>
            <p:cNvSpPr/>
            <p:nvPr/>
          </p:nvSpPr>
          <p:spPr>
            <a:xfrm>
              <a:off x="2801116" y="2009788"/>
              <a:ext cx="1070929" cy="473000"/>
            </a:xfrm>
            <a:custGeom>
              <a:rect b="b" l="l" r="r" t="t"/>
              <a:pathLst>
                <a:path extrusionOk="0" h="120000" w="120000">
                  <a:moveTo>
                    <a:pt x="120000" y="0"/>
                  </a:moveTo>
                  <a:lnTo>
                    <a:pt x="120000" y="81777"/>
                  </a:lnTo>
                  <a:lnTo>
                    <a:pt x="0" y="81777"/>
                  </a:lnTo>
                  <a:lnTo>
                    <a:pt x="0" y="120000"/>
                  </a:lnTo>
                </a:path>
              </a:pathLst>
            </a:custGeom>
            <a:noFill/>
            <a:ln cap="flat" cmpd="sng" w="15875">
              <a:solidFill>
                <a:srgbClr val="790000"/>
              </a:solidFill>
              <a:prstDash val="solid"/>
              <a:round/>
              <a:headEnd len="sm" w="sm" type="none"/>
              <a:tailEnd len="sm" w="sm" type="none"/>
            </a:ln>
          </p:spPr>
        </p:sp>
        <p:sp>
          <p:nvSpPr>
            <p:cNvPr id="275" name="Google Shape;275;p5"/>
            <p:cNvSpPr/>
            <p:nvPr/>
          </p:nvSpPr>
          <p:spPr>
            <a:xfrm>
              <a:off x="813338" y="2009788"/>
              <a:ext cx="3058708" cy="473000"/>
            </a:xfrm>
            <a:custGeom>
              <a:rect b="b" l="l" r="r" t="t"/>
              <a:pathLst>
                <a:path extrusionOk="0" h="120000" w="120000">
                  <a:moveTo>
                    <a:pt x="120000" y="0"/>
                  </a:moveTo>
                  <a:lnTo>
                    <a:pt x="120000" y="81777"/>
                  </a:lnTo>
                  <a:lnTo>
                    <a:pt x="0" y="81777"/>
                  </a:lnTo>
                  <a:lnTo>
                    <a:pt x="0" y="120000"/>
                  </a:lnTo>
                </a:path>
              </a:pathLst>
            </a:custGeom>
            <a:noFill/>
            <a:ln cap="flat" cmpd="sng" w="15875">
              <a:solidFill>
                <a:srgbClr val="790000"/>
              </a:solidFill>
              <a:prstDash val="solid"/>
              <a:round/>
              <a:headEnd len="sm" w="sm" type="none"/>
              <a:tailEnd len="sm" w="sm" type="none"/>
            </a:ln>
          </p:spPr>
        </p:sp>
        <p:sp>
          <p:nvSpPr>
            <p:cNvPr id="276" name="Google Shape;276;p5"/>
            <p:cNvSpPr/>
            <p:nvPr/>
          </p:nvSpPr>
          <p:spPr>
            <a:xfrm>
              <a:off x="1981203" y="381000"/>
              <a:ext cx="3781686" cy="1628787"/>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2161910" y="552672"/>
              <a:ext cx="3781686" cy="1628787"/>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txBox="1"/>
            <p:nvPr/>
          </p:nvSpPr>
          <p:spPr>
            <a:xfrm>
              <a:off x="2209616" y="600378"/>
              <a:ext cx="3686274" cy="1533375"/>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i="0" lang="en-US" sz="2800" u="none" cap="none" strike="noStrike">
                  <a:solidFill>
                    <a:schemeClr val="dk1"/>
                  </a:solidFill>
                  <a:latin typeface="Arial"/>
                  <a:ea typeface="Arial"/>
                  <a:cs typeface="Arial"/>
                  <a:sym typeface="Arial"/>
                </a:rPr>
                <a:t>Four terms are commonly used when discussing files:</a:t>
              </a:r>
              <a:endParaRPr/>
            </a:p>
          </p:txBody>
        </p:sp>
        <p:sp>
          <p:nvSpPr>
            <p:cNvPr id="279" name="Google Shape;279;p5"/>
            <p:cNvSpPr/>
            <p:nvPr/>
          </p:nvSpPr>
          <p:spPr>
            <a:xfrm>
              <a:off x="156" y="2482789"/>
              <a:ext cx="1626363" cy="1032741"/>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180863" y="2654460"/>
              <a:ext cx="1626363" cy="1032741"/>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txBox="1"/>
            <p:nvPr/>
          </p:nvSpPr>
          <p:spPr>
            <a:xfrm>
              <a:off x="211111" y="2684708"/>
              <a:ext cx="1565867" cy="972245"/>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i="0" lang="en-US" sz="2800" u="none" cap="none" strike="noStrike">
                  <a:solidFill>
                    <a:schemeClr val="dk1"/>
                  </a:solidFill>
                  <a:latin typeface="Arial"/>
                  <a:ea typeface="Arial"/>
                  <a:cs typeface="Arial"/>
                  <a:sym typeface="Arial"/>
                </a:rPr>
                <a:t>Field</a:t>
              </a:r>
              <a:endParaRPr b="0" i="0" sz="2800" u="none" cap="none" strike="noStrike">
                <a:solidFill>
                  <a:schemeClr val="dk1"/>
                </a:solidFill>
                <a:latin typeface="Arial"/>
                <a:ea typeface="Arial"/>
                <a:cs typeface="Arial"/>
                <a:sym typeface="Arial"/>
              </a:endParaRPr>
            </a:p>
          </p:txBody>
        </p:sp>
        <p:sp>
          <p:nvSpPr>
            <p:cNvPr id="282" name="Google Shape;282;p5"/>
            <p:cNvSpPr/>
            <p:nvPr/>
          </p:nvSpPr>
          <p:spPr>
            <a:xfrm>
              <a:off x="1987934" y="2482789"/>
              <a:ext cx="1626363" cy="1032741"/>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2168641" y="2654460"/>
              <a:ext cx="1626363" cy="1032741"/>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txBox="1"/>
            <p:nvPr/>
          </p:nvSpPr>
          <p:spPr>
            <a:xfrm>
              <a:off x="2198889" y="2684708"/>
              <a:ext cx="1565867" cy="972245"/>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i="0" lang="en-US" sz="2800" u="none" cap="none" strike="noStrike">
                  <a:solidFill>
                    <a:schemeClr val="dk1"/>
                  </a:solidFill>
                  <a:latin typeface="Arial"/>
                  <a:ea typeface="Arial"/>
                  <a:cs typeface="Arial"/>
                  <a:sym typeface="Arial"/>
                </a:rPr>
                <a:t>Record</a:t>
              </a:r>
              <a:endParaRPr/>
            </a:p>
          </p:txBody>
        </p:sp>
        <p:sp>
          <p:nvSpPr>
            <p:cNvPr id="285" name="Google Shape;285;p5"/>
            <p:cNvSpPr/>
            <p:nvPr/>
          </p:nvSpPr>
          <p:spPr>
            <a:xfrm>
              <a:off x="3975712" y="2482789"/>
              <a:ext cx="1626363" cy="1032741"/>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5"/>
            <p:cNvSpPr/>
            <p:nvPr/>
          </p:nvSpPr>
          <p:spPr>
            <a:xfrm>
              <a:off x="4156419" y="2654460"/>
              <a:ext cx="1626363" cy="1032741"/>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txBox="1"/>
            <p:nvPr/>
          </p:nvSpPr>
          <p:spPr>
            <a:xfrm>
              <a:off x="4186667" y="2684708"/>
              <a:ext cx="1565867" cy="972245"/>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i="0" lang="en-US" sz="2800" u="none" cap="none" strike="noStrike">
                  <a:solidFill>
                    <a:schemeClr val="dk1"/>
                  </a:solidFill>
                  <a:latin typeface="Arial"/>
                  <a:ea typeface="Arial"/>
                  <a:cs typeface="Arial"/>
                  <a:sym typeface="Arial"/>
                </a:rPr>
                <a:t>File</a:t>
              </a:r>
              <a:endParaRPr/>
            </a:p>
          </p:txBody>
        </p:sp>
        <p:sp>
          <p:nvSpPr>
            <p:cNvPr id="288" name="Google Shape;288;p5"/>
            <p:cNvSpPr/>
            <p:nvPr/>
          </p:nvSpPr>
          <p:spPr>
            <a:xfrm>
              <a:off x="5963490" y="2482789"/>
              <a:ext cx="1780445" cy="1079338"/>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
            <p:cNvSpPr/>
            <p:nvPr/>
          </p:nvSpPr>
          <p:spPr>
            <a:xfrm>
              <a:off x="6144198" y="2654460"/>
              <a:ext cx="1780445" cy="1079338"/>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
            <p:cNvSpPr txBox="1"/>
            <p:nvPr/>
          </p:nvSpPr>
          <p:spPr>
            <a:xfrm>
              <a:off x="6175811" y="2686073"/>
              <a:ext cx="1717219" cy="1016112"/>
            </a:xfrm>
            <a:prstGeom prst="rect">
              <a:avLst/>
            </a:prstGeom>
            <a:noFill/>
            <a:ln>
              <a:noFill/>
            </a:ln>
          </p:spPr>
          <p:txBody>
            <a:bodyPr anchorCtr="0" anchor="ctr" bIns="106675" lIns="106675" spcFirstLastPara="1" rIns="106675" wrap="square" tIns="106675">
              <a:noAutofit/>
            </a:bodyPr>
            <a:lstStyle/>
            <a:p>
              <a:pPr indent="0" lvl="0" marL="0" marR="0" rtl="0" algn="ctr">
                <a:lnSpc>
                  <a:spcPct val="90000"/>
                </a:lnSpc>
                <a:spcBef>
                  <a:spcPts val="0"/>
                </a:spcBef>
                <a:spcAft>
                  <a:spcPts val="0"/>
                </a:spcAft>
                <a:buNone/>
              </a:pPr>
              <a:r>
                <a:rPr b="0" i="0" lang="en-US" sz="2800" u="none" cap="none" strike="noStrike">
                  <a:solidFill>
                    <a:schemeClr val="dk1"/>
                  </a:solidFill>
                  <a:latin typeface="Arial"/>
                  <a:ea typeface="Arial"/>
                  <a:cs typeface="Arial"/>
                  <a:sym typeface="Arial"/>
                </a:rPr>
                <a:t>Database</a:t>
              </a: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6"/>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 Structure </a:t>
            </a:r>
            <a:endParaRPr/>
          </a:p>
        </p:txBody>
      </p:sp>
      <p:sp>
        <p:nvSpPr>
          <p:cNvPr id="296" name="Google Shape;296;p6"/>
          <p:cNvSpPr txBox="1"/>
          <p:nvPr>
            <p:ph idx="1" type="body"/>
          </p:nvPr>
        </p:nvSpPr>
        <p:spPr>
          <a:xfrm>
            <a:off x="685800" y="2133600"/>
            <a:ext cx="7797800" cy="3992563"/>
          </a:xfrm>
          <a:prstGeom prst="rect">
            <a:avLst/>
          </a:prstGeom>
          <a:noFill/>
          <a:ln>
            <a:noFill/>
          </a:ln>
        </p:spPr>
        <p:txBody>
          <a:bodyPr anchorCtr="0" anchor="t" bIns="45700" lIns="91425" spcFirstLastPara="1" rIns="91425" wrap="square" tIns="45700">
            <a:noAutofit/>
          </a:bodyPr>
          <a:lstStyle/>
          <a:p>
            <a:pPr indent="-282575" lvl="0" marL="282575" rtl="0" algn="l">
              <a:lnSpc>
                <a:spcPct val="90000"/>
              </a:lnSpc>
              <a:spcBef>
                <a:spcPts val="0"/>
              </a:spcBef>
              <a:spcAft>
                <a:spcPts val="0"/>
              </a:spcAft>
              <a:buSzPts val="1800"/>
              <a:buChar char="■"/>
            </a:pPr>
            <a:r>
              <a:rPr lang="en-US" sz="2400"/>
              <a:t>Files can be structured as a collection of records or as a sequence of bytes</a:t>
            </a:r>
            <a:endParaRPr/>
          </a:p>
          <a:p>
            <a:pPr indent="-282575" lvl="0" marL="282575" rtl="0" algn="l">
              <a:lnSpc>
                <a:spcPct val="90000"/>
              </a:lnSpc>
              <a:spcBef>
                <a:spcPts val="1800"/>
              </a:spcBef>
              <a:spcAft>
                <a:spcPts val="0"/>
              </a:spcAft>
              <a:buSzPts val="1800"/>
              <a:buChar char="■"/>
            </a:pPr>
            <a:r>
              <a:rPr lang="en-US" sz="2400"/>
              <a:t>UNIX, Linux, Windows, Mac OS’s consider files as a sequence of bytes</a:t>
            </a:r>
            <a:endParaRPr/>
          </a:p>
          <a:p>
            <a:pPr indent="-282575" lvl="0" marL="282575" rtl="0" algn="l">
              <a:lnSpc>
                <a:spcPct val="90000"/>
              </a:lnSpc>
              <a:spcBef>
                <a:spcPts val="1800"/>
              </a:spcBef>
              <a:spcAft>
                <a:spcPts val="0"/>
              </a:spcAft>
              <a:buSzPts val="1800"/>
              <a:buChar char="■"/>
            </a:pPr>
            <a:r>
              <a:rPr lang="en-US" sz="2400"/>
              <a:t>Other OS’s, notably many IBM mainframes, adopt the collection-of-records approach; useful for DB</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7"/>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Structure Terms</a:t>
            </a:r>
            <a:endParaRPr/>
          </a:p>
        </p:txBody>
      </p:sp>
      <p:sp>
        <p:nvSpPr>
          <p:cNvPr id="303" name="Google Shape;303;p7"/>
          <p:cNvSpPr txBox="1"/>
          <p:nvPr>
            <p:ph idx="1" type="body"/>
          </p:nvPr>
        </p:nvSpPr>
        <p:spPr>
          <a:xfrm>
            <a:off x="457200" y="1981200"/>
            <a:ext cx="3657600" cy="730250"/>
          </a:xfrm>
          <a:prstGeom prst="rect">
            <a:avLst/>
          </a:prstGeom>
          <a:noFill/>
          <a:ln>
            <a:noFill/>
          </a:ln>
        </p:spPr>
        <p:txBody>
          <a:bodyPr anchorCtr="0" anchor="ctr" bIns="0" lIns="91425" spcFirstLastPara="1" rIns="91425" wrap="square" tIns="0">
            <a:noAutofit/>
          </a:bodyPr>
          <a:lstStyle/>
          <a:p>
            <a:pPr indent="0" lvl="0" marL="0" rtl="0" algn="ctr">
              <a:lnSpc>
                <a:spcPct val="115384"/>
              </a:lnSpc>
              <a:spcBef>
                <a:spcPts val="0"/>
              </a:spcBef>
              <a:spcAft>
                <a:spcPts val="0"/>
              </a:spcAft>
              <a:buSzPts val="1950"/>
              <a:buNone/>
            </a:pPr>
            <a:r>
              <a:rPr lang="en-US"/>
              <a:t>Field</a:t>
            </a:r>
            <a:endParaRPr/>
          </a:p>
        </p:txBody>
      </p:sp>
      <p:sp>
        <p:nvSpPr>
          <p:cNvPr id="304" name="Google Shape;304;p7"/>
          <p:cNvSpPr txBox="1"/>
          <p:nvPr>
            <p:ph idx="2" type="body"/>
          </p:nvPr>
        </p:nvSpPr>
        <p:spPr>
          <a:xfrm>
            <a:off x="609600" y="2667000"/>
            <a:ext cx="7677150" cy="3679825"/>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Font typeface="Noto Sans Symbols"/>
              <a:buNone/>
            </a:pPr>
            <a:r>
              <a:t/>
            </a:r>
            <a:endParaRPr/>
          </a:p>
          <a:p>
            <a:pPr indent="-282575" lvl="0" marL="282575" rtl="0" algn="l">
              <a:spcBef>
                <a:spcPts val="1800"/>
              </a:spcBef>
              <a:spcAft>
                <a:spcPts val="0"/>
              </a:spcAft>
              <a:buSzPts val="1350"/>
              <a:buChar char="■"/>
            </a:pPr>
            <a:r>
              <a:rPr lang="en-US"/>
              <a:t>basic element of data</a:t>
            </a:r>
            <a:endParaRPr/>
          </a:p>
          <a:p>
            <a:pPr indent="-282575" lvl="0" marL="282575" rtl="0" algn="l">
              <a:spcBef>
                <a:spcPts val="1800"/>
              </a:spcBef>
              <a:spcAft>
                <a:spcPts val="0"/>
              </a:spcAft>
              <a:buSzPts val="1350"/>
              <a:buChar char="■"/>
            </a:pPr>
            <a:r>
              <a:rPr lang="en-US"/>
              <a:t>contains a single value</a:t>
            </a:r>
            <a:endParaRPr/>
          </a:p>
          <a:p>
            <a:pPr indent="-282575" lvl="0" marL="282575" rtl="0" algn="l">
              <a:spcBef>
                <a:spcPts val="1800"/>
              </a:spcBef>
              <a:spcAft>
                <a:spcPts val="0"/>
              </a:spcAft>
              <a:buSzPts val="1350"/>
              <a:buChar char="■"/>
            </a:pPr>
            <a:r>
              <a:rPr lang="en-US"/>
              <a:t>Eg- Employee’s Last name, date of Birth</a:t>
            </a:r>
            <a:endParaRPr/>
          </a:p>
          <a:p>
            <a:pPr indent="-282575" lvl="0" marL="282575" rtl="0" algn="l">
              <a:spcBef>
                <a:spcPts val="1800"/>
              </a:spcBef>
              <a:spcAft>
                <a:spcPts val="0"/>
              </a:spcAft>
              <a:buSzPts val="1350"/>
              <a:buChar char="■"/>
            </a:pPr>
            <a:r>
              <a:rPr lang="en-US"/>
              <a:t>characterized by its length and data type (e.g., ASCII string, decimal).</a:t>
            </a:r>
            <a:endParaRPr/>
          </a:p>
          <a:p>
            <a:pPr indent="-282575" lvl="0" marL="282575" rtl="0" algn="l">
              <a:spcBef>
                <a:spcPts val="1800"/>
              </a:spcBef>
              <a:spcAft>
                <a:spcPts val="0"/>
              </a:spcAft>
              <a:buSzPts val="1350"/>
              <a:buChar char="■"/>
            </a:pPr>
            <a:r>
              <a:rPr lang="en-US"/>
              <a:t>fixed or variable length</a:t>
            </a:r>
            <a:endParaRPr/>
          </a:p>
          <a:p>
            <a:pPr indent="-196850" lvl="0" marL="282575" rtl="0" algn="l">
              <a:spcBef>
                <a:spcPts val="1800"/>
              </a:spcBef>
              <a:spcAft>
                <a:spcPts val="0"/>
              </a:spcAft>
              <a:buSzPts val="135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8"/>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Structure Terms</a:t>
            </a:r>
            <a:endParaRPr/>
          </a:p>
        </p:txBody>
      </p:sp>
      <p:sp>
        <p:nvSpPr>
          <p:cNvPr id="311" name="Google Shape;311;p8"/>
          <p:cNvSpPr txBox="1"/>
          <p:nvPr>
            <p:ph idx="1" type="body"/>
          </p:nvPr>
        </p:nvSpPr>
        <p:spPr>
          <a:xfrm>
            <a:off x="457200" y="1981200"/>
            <a:ext cx="3657600" cy="730250"/>
          </a:xfrm>
          <a:prstGeom prst="rect">
            <a:avLst/>
          </a:prstGeom>
          <a:noFill/>
          <a:ln>
            <a:noFill/>
          </a:ln>
        </p:spPr>
        <p:txBody>
          <a:bodyPr anchorCtr="0" anchor="ctr" bIns="0" lIns="91425" spcFirstLastPara="1" rIns="91425" wrap="square" tIns="0">
            <a:noAutofit/>
          </a:bodyPr>
          <a:lstStyle/>
          <a:p>
            <a:pPr indent="0" lvl="0" marL="0" rtl="0" algn="ctr">
              <a:lnSpc>
                <a:spcPct val="115384"/>
              </a:lnSpc>
              <a:spcBef>
                <a:spcPts val="0"/>
              </a:spcBef>
              <a:spcAft>
                <a:spcPts val="0"/>
              </a:spcAft>
              <a:buSzPts val="1950"/>
              <a:buNone/>
            </a:pPr>
            <a:r>
              <a:rPr lang="en-US"/>
              <a:t>Record</a:t>
            </a:r>
            <a:endParaRPr/>
          </a:p>
        </p:txBody>
      </p:sp>
      <p:sp>
        <p:nvSpPr>
          <p:cNvPr id="312" name="Google Shape;312;p8"/>
          <p:cNvSpPr txBox="1"/>
          <p:nvPr>
            <p:ph idx="2" type="body"/>
          </p:nvPr>
        </p:nvSpPr>
        <p:spPr>
          <a:xfrm>
            <a:off x="609600" y="2667000"/>
            <a:ext cx="7677150" cy="3679825"/>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Font typeface="Noto Sans Symbols"/>
              <a:buNone/>
            </a:pPr>
            <a:r>
              <a:t/>
            </a:r>
            <a:endParaRPr/>
          </a:p>
          <a:p>
            <a:pPr indent="-282575" lvl="0" marL="282575" rtl="0" algn="l">
              <a:spcBef>
                <a:spcPts val="1800"/>
              </a:spcBef>
              <a:spcAft>
                <a:spcPts val="0"/>
              </a:spcAft>
              <a:buSzPts val="1350"/>
              <a:buChar char="■"/>
            </a:pPr>
            <a:r>
              <a:rPr lang="en-US"/>
              <a:t>Collection of related fields that can be treated as a unit by some application program</a:t>
            </a:r>
            <a:endParaRPr/>
          </a:p>
          <a:p>
            <a:pPr indent="-282575" lvl="0" marL="282575" rtl="0" algn="l">
              <a:spcBef>
                <a:spcPts val="1800"/>
              </a:spcBef>
              <a:spcAft>
                <a:spcPts val="0"/>
              </a:spcAft>
              <a:buSzPts val="1350"/>
              <a:buChar char="■"/>
            </a:pPr>
            <a:r>
              <a:rPr lang="en-US"/>
              <a:t>One field of the record is the </a:t>
            </a:r>
            <a:r>
              <a:rPr b="1" lang="en-US"/>
              <a:t>key</a:t>
            </a:r>
            <a:r>
              <a:rPr lang="en-US"/>
              <a:t> – a unique identifier</a:t>
            </a:r>
            <a:endParaRPr/>
          </a:p>
          <a:p>
            <a:pPr indent="-282575" lvl="0" marL="282575" rtl="0" algn="l">
              <a:spcBef>
                <a:spcPts val="1800"/>
              </a:spcBef>
              <a:spcAft>
                <a:spcPts val="0"/>
              </a:spcAft>
              <a:buSzPts val="1350"/>
              <a:buChar char="■"/>
            </a:pPr>
            <a:r>
              <a:rPr lang="en-US"/>
              <a:t>For example, </a:t>
            </a:r>
            <a:endParaRPr/>
          </a:p>
          <a:p>
            <a:pPr indent="-282575" lvl="0" marL="282575" rtl="0" algn="l">
              <a:spcBef>
                <a:spcPts val="1800"/>
              </a:spcBef>
              <a:spcAft>
                <a:spcPts val="0"/>
              </a:spcAft>
              <a:buSzPts val="1350"/>
              <a:buChar char="■"/>
            </a:pPr>
            <a:r>
              <a:rPr lang="en-US"/>
              <a:t>An employee record would contain such fields-as name, social security number, job classification, date of hire, and so on. </a:t>
            </a:r>
            <a:endParaRPr/>
          </a:p>
          <a:p>
            <a:pPr indent="-282575" lvl="0" marL="282575" rtl="0" algn="l">
              <a:spcBef>
                <a:spcPts val="1800"/>
              </a:spcBef>
              <a:spcAft>
                <a:spcPts val="0"/>
              </a:spcAft>
              <a:buSzPts val="1350"/>
              <a:buChar char="■"/>
            </a:pPr>
            <a:r>
              <a:rPr lang="en-US"/>
              <a:t>Depending on design, records may be of fixed length or variable length.</a:t>
            </a:r>
            <a:endParaRPr/>
          </a:p>
          <a:p>
            <a:pPr indent="-196850" lvl="0" marL="282575" rtl="0" algn="l">
              <a:spcBef>
                <a:spcPts val="1800"/>
              </a:spcBef>
              <a:spcAft>
                <a:spcPts val="0"/>
              </a:spcAft>
              <a:buSzPts val="135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9"/>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Structure Terms</a:t>
            </a:r>
            <a:endParaRPr/>
          </a:p>
        </p:txBody>
      </p:sp>
      <p:sp>
        <p:nvSpPr>
          <p:cNvPr id="319" name="Google Shape;319;p9"/>
          <p:cNvSpPr txBox="1"/>
          <p:nvPr>
            <p:ph idx="1" type="body"/>
          </p:nvPr>
        </p:nvSpPr>
        <p:spPr>
          <a:xfrm>
            <a:off x="457200" y="1981200"/>
            <a:ext cx="3657600" cy="730250"/>
          </a:xfrm>
          <a:prstGeom prst="rect">
            <a:avLst/>
          </a:prstGeom>
          <a:noFill/>
          <a:ln>
            <a:noFill/>
          </a:ln>
        </p:spPr>
        <p:txBody>
          <a:bodyPr anchorCtr="0" anchor="ctr" bIns="0" lIns="91425" spcFirstLastPara="1" rIns="91425" wrap="square" tIns="0">
            <a:noAutofit/>
          </a:bodyPr>
          <a:lstStyle/>
          <a:p>
            <a:pPr indent="0" lvl="0" marL="0" rtl="0" algn="ctr">
              <a:lnSpc>
                <a:spcPct val="115384"/>
              </a:lnSpc>
              <a:spcBef>
                <a:spcPts val="0"/>
              </a:spcBef>
              <a:spcAft>
                <a:spcPts val="0"/>
              </a:spcAft>
              <a:buSzPts val="1950"/>
              <a:buNone/>
            </a:pPr>
            <a:r>
              <a:rPr lang="en-US"/>
              <a:t>File</a:t>
            </a:r>
            <a:endParaRPr/>
          </a:p>
        </p:txBody>
      </p:sp>
      <p:sp>
        <p:nvSpPr>
          <p:cNvPr id="320" name="Google Shape;320;p9"/>
          <p:cNvSpPr txBox="1"/>
          <p:nvPr>
            <p:ph idx="2" type="body"/>
          </p:nvPr>
        </p:nvSpPr>
        <p:spPr>
          <a:xfrm>
            <a:off x="609600" y="2667000"/>
            <a:ext cx="7677150" cy="3679825"/>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Font typeface="Noto Sans Symbols"/>
              <a:buNone/>
            </a:pPr>
            <a:r>
              <a:t/>
            </a:r>
            <a:endParaRPr/>
          </a:p>
          <a:p>
            <a:pPr indent="-295275" lvl="1" marL="577850" rtl="0" algn="l">
              <a:spcBef>
                <a:spcPts val="600"/>
              </a:spcBef>
              <a:spcAft>
                <a:spcPts val="0"/>
              </a:spcAft>
              <a:buSzPts val="1350"/>
              <a:buChar char="■"/>
            </a:pPr>
            <a:r>
              <a:rPr lang="en-US">
                <a:solidFill>
                  <a:srgbClr val="262626"/>
                </a:solidFill>
              </a:rPr>
              <a:t>collection of similar records</a:t>
            </a:r>
            <a:endParaRPr/>
          </a:p>
          <a:p>
            <a:pPr indent="-295275" lvl="1" marL="577850" rtl="0" algn="l">
              <a:spcBef>
                <a:spcPts val="600"/>
              </a:spcBef>
              <a:spcAft>
                <a:spcPts val="0"/>
              </a:spcAft>
              <a:buSzPts val="1350"/>
              <a:buChar char="■"/>
            </a:pPr>
            <a:r>
              <a:rPr lang="en-US">
                <a:solidFill>
                  <a:srgbClr val="262626"/>
                </a:solidFill>
              </a:rPr>
              <a:t>treated as a single entity by user and application</a:t>
            </a:r>
            <a:endParaRPr>
              <a:solidFill>
                <a:srgbClr val="262626"/>
              </a:solidFill>
            </a:endParaRPr>
          </a:p>
          <a:p>
            <a:pPr indent="-295275" lvl="1" marL="577850" rtl="0" algn="l">
              <a:spcBef>
                <a:spcPts val="600"/>
              </a:spcBef>
              <a:spcAft>
                <a:spcPts val="0"/>
              </a:spcAft>
              <a:buSzPts val="1350"/>
              <a:buChar char="■"/>
            </a:pPr>
            <a:r>
              <a:rPr lang="en-US">
                <a:solidFill>
                  <a:srgbClr val="262626"/>
                </a:solidFill>
              </a:rPr>
              <a:t>may be referenced by name</a:t>
            </a:r>
            <a:endParaRPr/>
          </a:p>
          <a:p>
            <a:pPr indent="-295275" lvl="1" marL="577850" rtl="0" algn="l">
              <a:spcBef>
                <a:spcPts val="600"/>
              </a:spcBef>
              <a:spcAft>
                <a:spcPts val="0"/>
              </a:spcAft>
              <a:buSzPts val="1350"/>
              <a:buChar char="■"/>
            </a:pPr>
            <a:r>
              <a:rPr lang="en-US">
                <a:solidFill>
                  <a:srgbClr val="262626"/>
                </a:solidFill>
              </a:rPr>
              <a:t>access control restrictions usually apply at the file level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0"/>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Structure Terms</a:t>
            </a:r>
            <a:endParaRPr/>
          </a:p>
        </p:txBody>
      </p:sp>
      <p:sp>
        <p:nvSpPr>
          <p:cNvPr id="327" name="Google Shape;327;p10"/>
          <p:cNvSpPr txBox="1"/>
          <p:nvPr/>
        </p:nvSpPr>
        <p:spPr>
          <a:xfrm>
            <a:off x="681037" y="2286000"/>
            <a:ext cx="3657600" cy="730250"/>
          </a:xfrm>
          <a:prstGeom prst="rect">
            <a:avLst/>
          </a:prstGeom>
          <a:noFill/>
          <a:ln>
            <a:noFill/>
          </a:ln>
        </p:spPr>
        <p:txBody>
          <a:bodyPr anchorCtr="0" anchor="ctr" bIns="0" lIns="91425" spcFirstLastPara="1" rIns="91425" wrap="square" tIns="0">
            <a:noAutofit/>
          </a:bodyPr>
          <a:lstStyle/>
          <a:p>
            <a:pPr indent="0" lvl="0" marL="0" marR="0" rtl="0" algn="ctr">
              <a:lnSpc>
                <a:spcPct val="115384"/>
              </a:lnSpc>
              <a:spcBef>
                <a:spcPts val="0"/>
              </a:spcBef>
              <a:spcAft>
                <a:spcPts val="0"/>
              </a:spcAft>
              <a:buClr>
                <a:schemeClr val="accent1"/>
              </a:buClr>
              <a:buSzPts val="1950"/>
              <a:buFont typeface="Noto Sans Symbols"/>
              <a:buNone/>
            </a:pPr>
            <a:r>
              <a:rPr b="1" i="0" lang="en-US" sz="2600" u="none" cap="none" strike="noStrike">
                <a:solidFill>
                  <a:schemeClr val="accent1"/>
                </a:solidFill>
                <a:latin typeface="Lustria"/>
                <a:ea typeface="Lustria"/>
                <a:cs typeface="Lustria"/>
                <a:sym typeface="Lustria"/>
              </a:rPr>
              <a:t>Database</a:t>
            </a:r>
            <a:endParaRPr/>
          </a:p>
        </p:txBody>
      </p:sp>
      <p:sp>
        <p:nvSpPr>
          <p:cNvPr id="328" name="Google Shape;328;p10"/>
          <p:cNvSpPr txBox="1"/>
          <p:nvPr/>
        </p:nvSpPr>
        <p:spPr>
          <a:xfrm>
            <a:off x="700087" y="3025775"/>
            <a:ext cx="7772400" cy="1431161"/>
          </a:xfrm>
          <a:prstGeom prst="rect">
            <a:avLst/>
          </a:prstGeom>
          <a:noFill/>
          <a:ln>
            <a:noFill/>
          </a:ln>
        </p:spPr>
        <p:txBody>
          <a:bodyPr anchorCtr="0" anchor="t" bIns="45700" lIns="91425" spcFirstLastPara="1" rIns="91425" wrap="square" tIns="45700">
            <a:spAutoFit/>
          </a:bodyPr>
          <a:lstStyle/>
          <a:p>
            <a:pPr indent="-295275" lvl="1" marL="577850" marR="0" rtl="0" algn="l">
              <a:spcBef>
                <a:spcPts val="0"/>
              </a:spcBef>
              <a:spcAft>
                <a:spcPts val="0"/>
              </a:spcAft>
              <a:buClr>
                <a:schemeClr val="accent1"/>
              </a:buClr>
              <a:buSzPts val="1350"/>
              <a:buFont typeface="Noto Sans Symbols"/>
              <a:buChar char="■"/>
            </a:pPr>
            <a:r>
              <a:rPr b="0" i="0" lang="en-US" sz="1800" u="none" cap="none" strike="noStrike">
                <a:solidFill>
                  <a:srgbClr val="262626"/>
                </a:solidFill>
                <a:latin typeface="Lustria"/>
                <a:ea typeface="Lustria"/>
                <a:cs typeface="Lustria"/>
                <a:sym typeface="Lustria"/>
              </a:rPr>
              <a:t>consists of one or more types of files</a:t>
            </a:r>
            <a:endParaRPr/>
          </a:p>
          <a:p>
            <a:pPr indent="-295275" lvl="1" marL="577850" marR="0" rtl="0" algn="l">
              <a:spcBef>
                <a:spcPts val="600"/>
              </a:spcBef>
              <a:spcAft>
                <a:spcPts val="0"/>
              </a:spcAft>
              <a:buClr>
                <a:schemeClr val="accent1"/>
              </a:buClr>
              <a:buSzPts val="1350"/>
              <a:buFont typeface="Noto Sans Symbols"/>
              <a:buChar char="■"/>
            </a:pPr>
            <a:r>
              <a:rPr b="0" i="0" lang="en-US" sz="1800" u="none" cap="none" strike="noStrike">
                <a:solidFill>
                  <a:srgbClr val="262626"/>
                </a:solidFill>
                <a:latin typeface="Arial"/>
                <a:ea typeface="Arial"/>
                <a:cs typeface="Arial"/>
                <a:sym typeface="Arial"/>
              </a:rPr>
              <a:t>collection of related data</a:t>
            </a:r>
            <a:endParaRPr b="0" i="0" sz="1800" u="none" cap="none" strike="noStrike">
              <a:solidFill>
                <a:srgbClr val="262626"/>
              </a:solidFill>
              <a:latin typeface="Lustria"/>
              <a:ea typeface="Lustria"/>
              <a:cs typeface="Lustria"/>
              <a:sym typeface="Lustria"/>
            </a:endParaRPr>
          </a:p>
          <a:p>
            <a:pPr indent="-295275" lvl="1" marL="577850" marR="0" rtl="0" algn="l">
              <a:spcBef>
                <a:spcPts val="600"/>
              </a:spcBef>
              <a:spcAft>
                <a:spcPts val="0"/>
              </a:spcAft>
              <a:buClr>
                <a:schemeClr val="accent1"/>
              </a:buClr>
              <a:buSzPts val="1350"/>
              <a:buFont typeface="Noto Sans Symbols"/>
              <a:buChar char="■"/>
            </a:pPr>
            <a:r>
              <a:rPr b="0" i="0" lang="en-US" sz="1800" u="none" cap="none" strike="noStrike">
                <a:solidFill>
                  <a:srgbClr val="262626"/>
                </a:solidFill>
                <a:latin typeface="Lustria"/>
                <a:ea typeface="Lustria"/>
                <a:cs typeface="Lustria"/>
                <a:sym typeface="Lustria"/>
              </a:rPr>
              <a:t>relationships among elements of data are explicit </a:t>
            </a:r>
            <a:endParaRPr/>
          </a:p>
          <a:p>
            <a:pPr indent="-295275" lvl="1" marL="577850" marR="0" rtl="0" algn="l">
              <a:spcBef>
                <a:spcPts val="600"/>
              </a:spcBef>
              <a:spcAft>
                <a:spcPts val="0"/>
              </a:spcAft>
              <a:buClr>
                <a:schemeClr val="accent1"/>
              </a:buClr>
              <a:buSzPts val="1350"/>
              <a:buFont typeface="Noto Sans Symbols"/>
              <a:buChar char="■"/>
            </a:pPr>
            <a:r>
              <a:rPr b="0" i="0" lang="en-US" sz="1800" u="none" cap="none" strike="noStrike">
                <a:solidFill>
                  <a:srgbClr val="262626"/>
                </a:solidFill>
                <a:latin typeface="Lustria"/>
                <a:ea typeface="Lustria"/>
                <a:cs typeface="Lustria"/>
                <a:sym typeface="Lustria"/>
              </a:rPr>
              <a:t>designed for use by a number of different applications</a:t>
            </a:r>
            <a:endParaRPr b="0" i="0" sz="1800" u="none" cap="none" strike="noStrike">
              <a:solidFill>
                <a:srgbClr val="262626"/>
              </a:solidFill>
              <a:latin typeface="Lustria"/>
              <a:ea typeface="Lustria"/>
              <a:cs typeface="Lustria"/>
              <a:sym typeface="Lustr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1000"/>
                                        <p:tgtEl>
                                          <p:spTgt spid="3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11"/>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t>File Management System Objectives</a:t>
            </a:r>
            <a:endParaRPr/>
          </a:p>
        </p:txBody>
      </p:sp>
      <p:sp>
        <p:nvSpPr>
          <p:cNvPr id="335" name="Google Shape;335;p11"/>
          <p:cNvSpPr txBox="1"/>
          <p:nvPr>
            <p:ph idx="4294967295" type="body"/>
          </p:nvPr>
        </p:nvSpPr>
        <p:spPr>
          <a:xfrm>
            <a:off x="609600" y="2209800"/>
            <a:ext cx="7924800" cy="40386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a:t>A file management system is that set of system software that provides services to users and applications in the use of files. </a:t>
            </a:r>
            <a:endParaRPr/>
          </a:p>
          <a:p>
            <a:pPr indent="-282575" lvl="0" marL="282575" rtl="0" algn="l">
              <a:spcBef>
                <a:spcPts val="1800"/>
              </a:spcBef>
              <a:spcAft>
                <a:spcPts val="0"/>
              </a:spcAft>
              <a:buSzPts val="1500"/>
              <a:buChar char="■"/>
            </a:pPr>
            <a:r>
              <a:rPr lang="en-US"/>
              <a:t>Typically, the only way that a user or application may access files is through the file management system.</a:t>
            </a:r>
            <a:endParaRPr sz="2800">
              <a:solidFill>
                <a:srgbClr val="262626"/>
              </a:solidFill>
            </a:endParaRPr>
          </a:p>
          <a:p>
            <a:pPr indent="-149225" lvl="0" marL="282575" rtl="0" algn="l">
              <a:spcBef>
                <a:spcPts val="1800"/>
              </a:spcBef>
              <a:spcAft>
                <a:spcPts val="0"/>
              </a:spcAft>
              <a:buSzPts val="2100"/>
              <a:buNone/>
            </a:pPr>
            <a:r>
              <a:t/>
            </a:r>
            <a:endParaRPr sz="2800">
              <a:solidFill>
                <a:srgbClr val="262626"/>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1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t>File Management System Objectives</a:t>
            </a:r>
            <a:endParaRPr/>
          </a:p>
        </p:txBody>
      </p:sp>
      <p:sp>
        <p:nvSpPr>
          <p:cNvPr id="342" name="Google Shape;342;p12"/>
          <p:cNvSpPr txBox="1"/>
          <p:nvPr>
            <p:ph idx="4294967295" type="body"/>
          </p:nvPr>
        </p:nvSpPr>
        <p:spPr>
          <a:xfrm>
            <a:off x="609600" y="2209800"/>
            <a:ext cx="7924800" cy="4038600"/>
          </a:xfrm>
          <a:prstGeom prst="rect">
            <a:avLst/>
          </a:prstGeom>
          <a:noFill/>
          <a:ln>
            <a:noFill/>
          </a:ln>
        </p:spPr>
        <p:txBody>
          <a:bodyPr anchorCtr="0" anchor="t" bIns="45700" lIns="91425" spcFirstLastPara="1" rIns="91425" wrap="square" tIns="45700">
            <a:normAutofit fontScale="77500" lnSpcReduction="20000"/>
          </a:bodyPr>
          <a:lstStyle/>
          <a:p>
            <a:pPr indent="-282575" lvl="0" marL="282575" rtl="0" algn="l">
              <a:spcBef>
                <a:spcPts val="0"/>
              </a:spcBef>
              <a:spcAft>
                <a:spcPts val="0"/>
              </a:spcAft>
              <a:buSzPct val="75000"/>
              <a:buChar char="■"/>
            </a:pPr>
            <a:r>
              <a:rPr lang="en-US" sz="2800">
                <a:solidFill>
                  <a:srgbClr val="262626"/>
                </a:solidFill>
              </a:rPr>
              <a:t>Meet the data management needs of the user</a:t>
            </a:r>
            <a:endParaRPr/>
          </a:p>
          <a:p>
            <a:pPr indent="-282575" lvl="0" marL="282575" rtl="0" algn="l">
              <a:spcBef>
                <a:spcPts val="1800"/>
              </a:spcBef>
              <a:spcAft>
                <a:spcPts val="0"/>
              </a:spcAft>
              <a:buSzPct val="75000"/>
              <a:buChar char="■"/>
            </a:pPr>
            <a:r>
              <a:rPr lang="en-US" sz="2800">
                <a:solidFill>
                  <a:srgbClr val="262626"/>
                </a:solidFill>
              </a:rPr>
              <a:t>Guarantee that the data in the file are valid</a:t>
            </a:r>
            <a:endParaRPr/>
          </a:p>
          <a:p>
            <a:pPr indent="-282575" lvl="0" marL="282575" rtl="0" algn="l">
              <a:spcBef>
                <a:spcPts val="1800"/>
              </a:spcBef>
              <a:spcAft>
                <a:spcPts val="0"/>
              </a:spcAft>
              <a:buSzPct val="75000"/>
              <a:buChar char="■"/>
            </a:pPr>
            <a:r>
              <a:rPr lang="en-US" sz="2800">
                <a:solidFill>
                  <a:srgbClr val="262626"/>
                </a:solidFill>
              </a:rPr>
              <a:t>Optimize performance</a:t>
            </a:r>
            <a:endParaRPr/>
          </a:p>
          <a:p>
            <a:pPr indent="-282575" lvl="0" marL="282575" rtl="0" algn="l">
              <a:spcBef>
                <a:spcPts val="1800"/>
              </a:spcBef>
              <a:spcAft>
                <a:spcPts val="0"/>
              </a:spcAft>
              <a:buSzPct val="75000"/>
              <a:buChar char="■"/>
            </a:pPr>
            <a:r>
              <a:rPr lang="en-US" sz="2800">
                <a:solidFill>
                  <a:srgbClr val="262626"/>
                </a:solidFill>
              </a:rPr>
              <a:t>Provide I/O support for a variety of storage device types</a:t>
            </a:r>
            <a:endParaRPr/>
          </a:p>
          <a:p>
            <a:pPr indent="-282575" lvl="0" marL="282575" rtl="0" algn="l">
              <a:spcBef>
                <a:spcPts val="1800"/>
              </a:spcBef>
              <a:spcAft>
                <a:spcPts val="0"/>
              </a:spcAft>
              <a:buSzPct val="75000"/>
              <a:buChar char="■"/>
            </a:pPr>
            <a:r>
              <a:rPr lang="en-US" sz="2800">
                <a:solidFill>
                  <a:srgbClr val="262626"/>
                </a:solidFill>
              </a:rPr>
              <a:t>Minimize the potential for lost or destroyed data</a:t>
            </a:r>
            <a:endParaRPr/>
          </a:p>
          <a:p>
            <a:pPr indent="-282575" lvl="0" marL="282575" rtl="0" algn="l">
              <a:spcBef>
                <a:spcPts val="1800"/>
              </a:spcBef>
              <a:spcAft>
                <a:spcPts val="0"/>
              </a:spcAft>
              <a:buSzPct val="75000"/>
              <a:buChar char="■"/>
            </a:pPr>
            <a:r>
              <a:rPr lang="en-US" sz="2800">
                <a:solidFill>
                  <a:srgbClr val="262626"/>
                </a:solidFill>
              </a:rPr>
              <a:t>Provide a standardized set of I/O interface routines to user processes</a:t>
            </a:r>
            <a:endParaRPr/>
          </a:p>
          <a:p>
            <a:pPr indent="-282575" lvl="0" marL="282575" rtl="0" algn="l">
              <a:spcBef>
                <a:spcPts val="1800"/>
              </a:spcBef>
              <a:spcAft>
                <a:spcPts val="0"/>
              </a:spcAft>
              <a:buSzPct val="75000"/>
              <a:buChar char="■"/>
            </a:pPr>
            <a:r>
              <a:rPr lang="en-US" sz="2800">
                <a:solidFill>
                  <a:srgbClr val="262626"/>
                </a:solidFill>
              </a:rPr>
              <a:t>Provide I/O support for multiple users in the case of multiple-user systems</a:t>
            </a:r>
            <a:endParaRPr/>
          </a:p>
          <a:p>
            <a:pPr indent="-282575" lvl="0" marL="282575" rtl="0" algn="l">
              <a:spcBef>
                <a:spcPts val="1800"/>
              </a:spcBef>
              <a:spcAft>
                <a:spcPts val="0"/>
              </a:spcAft>
              <a:buSzPct val="75000"/>
              <a:buFont typeface="Noto Sans Symbols"/>
              <a:buNone/>
            </a:pPr>
            <a:r>
              <a:t/>
            </a:r>
            <a:endParaRPr sz="2800">
              <a:solidFill>
                <a:srgbClr val="262626"/>
              </a:solidFill>
            </a:endParaRPr>
          </a:p>
          <a:p>
            <a:pPr indent="-179228" lvl="0" marL="282575" rtl="0" algn="l">
              <a:spcBef>
                <a:spcPts val="1800"/>
              </a:spcBef>
              <a:spcAft>
                <a:spcPts val="0"/>
              </a:spcAft>
              <a:buSzPct val="75000"/>
              <a:buNone/>
            </a:pPr>
            <a:r>
              <a:t/>
            </a:r>
            <a:endParaRPr sz="2800">
              <a:solidFill>
                <a:srgbClr val="262626"/>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13"/>
          <p:cNvSpPr txBox="1"/>
          <p:nvPr>
            <p:ph type="title"/>
          </p:nvPr>
        </p:nvSpPr>
        <p:spPr>
          <a:xfrm>
            <a:off x="304800" y="609600"/>
            <a:ext cx="8534400" cy="6858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Typical File System Software Organization</a:t>
            </a:r>
            <a:endParaRPr/>
          </a:p>
        </p:txBody>
      </p:sp>
      <p:pic>
        <p:nvPicPr>
          <p:cNvPr descr="Fig12_01.gif" id="349" name="Google Shape;349;p13"/>
          <p:cNvPicPr preferRelativeResize="0"/>
          <p:nvPr>
            <p:ph idx="1" type="body"/>
          </p:nvPr>
        </p:nvPicPr>
        <p:blipFill rotWithShape="1">
          <a:blip r:embed="rId3">
            <a:alphaModFix/>
          </a:blip>
          <a:srcRect b="-43886" l="0" r="0" t="-43886"/>
          <a:stretch/>
        </p:blipFill>
        <p:spPr>
          <a:xfrm>
            <a:off x="1295400" y="-685800"/>
            <a:ext cx="6553200" cy="9334500"/>
          </a:xfrm>
          <a:prstGeom prst="rect">
            <a:avLst/>
          </a:prstGeom>
          <a:noFill/>
          <a:ln>
            <a:noFill/>
          </a:ln>
        </p:spPr>
      </p:pic>
    </p:spTree>
  </p:cSld>
  <p:clrMapOvr>
    <a:masterClrMapping/>
  </p:clrMapOvr>
  <p:transition spd="med">
    <p:wipe dir="d"/>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14"/>
          <p:cNvSpPr txBox="1"/>
          <p:nvPr>
            <p:ph idx="4294967295" type="title"/>
          </p:nvPr>
        </p:nvSpPr>
        <p:spPr>
          <a:xfrm>
            <a:off x="685800" y="609600"/>
            <a:ext cx="7824788"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solidFill>
                  <a:schemeClr val="accent1"/>
                </a:solidFill>
              </a:rPr>
              <a:t>File System Architecture</a:t>
            </a:r>
            <a:endParaRPr>
              <a:solidFill>
                <a:schemeClr val="accent1"/>
              </a:solidFill>
            </a:endParaRPr>
          </a:p>
        </p:txBody>
      </p:sp>
      <p:sp>
        <p:nvSpPr>
          <p:cNvPr id="355" name="Google Shape;355;p14"/>
          <p:cNvSpPr txBox="1"/>
          <p:nvPr>
            <p:ph idx="4294967295" type="body"/>
          </p:nvPr>
        </p:nvSpPr>
        <p:spPr>
          <a:xfrm>
            <a:off x="838200" y="2209800"/>
            <a:ext cx="7239000" cy="3840163"/>
          </a:xfrm>
          <a:prstGeom prst="rect">
            <a:avLst/>
          </a:prstGeom>
          <a:noFill/>
          <a:ln>
            <a:noFill/>
          </a:ln>
        </p:spPr>
        <p:txBody>
          <a:bodyPr anchorCtr="0" anchor="t" bIns="45700" lIns="91425" spcFirstLastPara="1" rIns="91425" wrap="square" tIns="45700">
            <a:noAutofit/>
          </a:bodyPr>
          <a:lstStyle/>
          <a:p>
            <a:pPr indent="-282575" lvl="0" marL="282575" rtl="0" algn="l">
              <a:lnSpc>
                <a:spcPct val="90000"/>
              </a:lnSpc>
              <a:spcBef>
                <a:spcPts val="0"/>
              </a:spcBef>
              <a:spcAft>
                <a:spcPts val="0"/>
              </a:spcAft>
              <a:buSzPts val="1500"/>
              <a:buChar char="■"/>
            </a:pPr>
            <a:r>
              <a:rPr lang="en-US"/>
              <a:t>File Formats – Access methods provide the interface to users</a:t>
            </a:r>
            <a:endParaRPr/>
          </a:p>
          <a:p>
            <a:pPr indent="-282575" lvl="0" marL="282575" rtl="0" algn="l">
              <a:lnSpc>
                <a:spcPct val="90000"/>
              </a:lnSpc>
              <a:spcBef>
                <a:spcPts val="1800"/>
              </a:spcBef>
              <a:spcAft>
                <a:spcPts val="0"/>
              </a:spcAft>
              <a:buSzPts val="1500"/>
              <a:buChar char="■"/>
            </a:pPr>
            <a:r>
              <a:rPr lang="en-US"/>
              <a:t>Logical I/O</a:t>
            </a:r>
            <a:endParaRPr/>
          </a:p>
          <a:p>
            <a:pPr indent="-282575" lvl="0" marL="282575" rtl="0" algn="l">
              <a:lnSpc>
                <a:spcPct val="90000"/>
              </a:lnSpc>
              <a:spcBef>
                <a:spcPts val="1800"/>
              </a:spcBef>
              <a:spcAft>
                <a:spcPts val="0"/>
              </a:spcAft>
              <a:buSzPts val="1500"/>
              <a:buChar char="■"/>
            </a:pPr>
            <a:r>
              <a:rPr lang="en-US"/>
              <a:t>Basic I/O</a:t>
            </a:r>
            <a:endParaRPr/>
          </a:p>
          <a:p>
            <a:pPr indent="-282575" lvl="0" marL="282575" rtl="0" algn="l">
              <a:lnSpc>
                <a:spcPct val="90000"/>
              </a:lnSpc>
              <a:spcBef>
                <a:spcPts val="1800"/>
              </a:spcBef>
              <a:spcAft>
                <a:spcPts val="0"/>
              </a:spcAft>
              <a:buSzPts val="1500"/>
              <a:buChar char="■"/>
            </a:pPr>
            <a:r>
              <a:rPr lang="en-US"/>
              <a:t>Basic file system</a:t>
            </a:r>
            <a:endParaRPr/>
          </a:p>
          <a:p>
            <a:pPr indent="-282575" lvl="0" marL="282575" rtl="0" algn="l">
              <a:lnSpc>
                <a:spcPct val="90000"/>
              </a:lnSpc>
              <a:spcBef>
                <a:spcPts val="1800"/>
              </a:spcBef>
              <a:spcAft>
                <a:spcPts val="0"/>
              </a:spcAft>
              <a:buSzPts val="1500"/>
              <a:buChar char="■"/>
            </a:pPr>
            <a:r>
              <a:rPr lang="en-US"/>
              <a:t>Device drivers</a:t>
            </a:r>
            <a:endParaRPr/>
          </a:p>
        </p:txBody>
      </p:sp>
      <p:pic>
        <p:nvPicPr>
          <p:cNvPr descr="Fig12_01.gif" id="356" name="Google Shape;356;p14"/>
          <p:cNvPicPr preferRelativeResize="0"/>
          <p:nvPr>
            <p:ph idx="1" type="body"/>
          </p:nvPr>
        </p:nvPicPr>
        <p:blipFill rotWithShape="1">
          <a:blip r:embed="rId3">
            <a:alphaModFix/>
          </a:blip>
          <a:srcRect b="-91024" l="-51224" r="-2004" t="-118171"/>
          <a:stretch/>
        </p:blipFill>
        <p:spPr>
          <a:xfrm>
            <a:off x="1295400" y="-685800"/>
            <a:ext cx="6553200" cy="9334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15"/>
          <p:cNvSpPr txBox="1"/>
          <p:nvPr>
            <p:ph idx="4294967295"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Device Drivers</a:t>
            </a:r>
            <a:endParaRPr/>
          </a:p>
        </p:txBody>
      </p:sp>
      <p:sp>
        <p:nvSpPr>
          <p:cNvPr id="363" name="Google Shape;363;p15"/>
          <p:cNvSpPr txBox="1"/>
          <p:nvPr>
            <p:ph idx="4294967295" type="body"/>
          </p:nvPr>
        </p:nvSpPr>
        <p:spPr>
          <a:xfrm>
            <a:off x="654050" y="2286000"/>
            <a:ext cx="7848600" cy="40386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800"/>
              <a:buChar char="■"/>
            </a:pPr>
            <a:r>
              <a:rPr lang="en-US" sz="2400"/>
              <a:t>Lowest level</a:t>
            </a:r>
            <a:endParaRPr/>
          </a:p>
          <a:p>
            <a:pPr indent="-282575" lvl="0" marL="282575" rtl="0" algn="l">
              <a:spcBef>
                <a:spcPts val="1800"/>
              </a:spcBef>
              <a:spcAft>
                <a:spcPts val="0"/>
              </a:spcAft>
              <a:buSzPts val="1800"/>
              <a:buChar char="■"/>
            </a:pPr>
            <a:r>
              <a:rPr lang="en-US" sz="2400"/>
              <a:t>Communicates directly with peripheral devices</a:t>
            </a:r>
            <a:endParaRPr/>
          </a:p>
          <a:p>
            <a:pPr indent="-282575" lvl="0" marL="282575" rtl="0" algn="l">
              <a:spcBef>
                <a:spcPts val="1800"/>
              </a:spcBef>
              <a:spcAft>
                <a:spcPts val="0"/>
              </a:spcAft>
              <a:buSzPts val="1800"/>
              <a:buChar char="■"/>
            </a:pPr>
            <a:r>
              <a:rPr lang="en-US" sz="2400"/>
              <a:t>Responsible for starting I/O operations on a device</a:t>
            </a:r>
            <a:endParaRPr/>
          </a:p>
          <a:p>
            <a:pPr indent="-282575" lvl="0" marL="282575" rtl="0" algn="l">
              <a:spcBef>
                <a:spcPts val="1800"/>
              </a:spcBef>
              <a:spcAft>
                <a:spcPts val="0"/>
              </a:spcAft>
              <a:buSzPts val="1800"/>
              <a:buChar char="■"/>
            </a:pPr>
            <a:r>
              <a:rPr lang="en-US" sz="2400"/>
              <a:t>Processes the completion of an I/O request</a:t>
            </a:r>
            <a:endParaRPr/>
          </a:p>
          <a:p>
            <a:pPr indent="-282575" lvl="0" marL="282575" rtl="0" algn="l">
              <a:spcBef>
                <a:spcPts val="1800"/>
              </a:spcBef>
              <a:spcAft>
                <a:spcPts val="0"/>
              </a:spcAft>
              <a:buSzPts val="1800"/>
              <a:buChar char="■"/>
            </a:pPr>
            <a:r>
              <a:rPr lang="en-US" sz="2400"/>
              <a:t>Considered to be part of the operating system</a:t>
            </a:r>
            <a:endParaRPr/>
          </a:p>
          <a:p>
            <a:pPr indent="-196850" lvl="0" marL="282575" rtl="0" algn="l">
              <a:spcBef>
                <a:spcPts val="1800"/>
              </a:spcBef>
              <a:spcAft>
                <a:spcPts val="0"/>
              </a:spcAft>
              <a:buSzPts val="1350"/>
              <a:buNone/>
            </a:pPr>
            <a:r>
              <a:t/>
            </a:r>
            <a:endParaRPr sz="1800"/>
          </a:p>
        </p:txBody>
      </p:sp>
      <p:pic>
        <p:nvPicPr>
          <p:cNvPr id="364" name="Google Shape;364;p15"/>
          <p:cNvPicPr preferRelativeResize="0"/>
          <p:nvPr/>
        </p:nvPicPr>
        <p:blipFill rotWithShape="1">
          <a:blip r:embed="rId3">
            <a:alphaModFix/>
          </a:blip>
          <a:srcRect b="0" l="0" r="0" t="0"/>
          <a:stretch/>
        </p:blipFill>
        <p:spPr>
          <a:xfrm>
            <a:off x="6858000" y="4572000"/>
            <a:ext cx="1981200" cy="19526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16"/>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Basic File System</a:t>
            </a:r>
            <a:endParaRPr/>
          </a:p>
        </p:txBody>
      </p:sp>
      <p:sp>
        <p:nvSpPr>
          <p:cNvPr id="371" name="Google Shape;371;p16"/>
          <p:cNvSpPr txBox="1"/>
          <p:nvPr>
            <p:ph idx="4294967295" type="body"/>
          </p:nvPr>
        </p:nvSpPr>
        <p:spPr>
          <a:xfrm>
            <a:off x="381000" y="2133600"/>
            <a:ext cx="44958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350"/>
              <a:buChar char="■"/>
            </a:pPr>
            <a:r>
              <a:rPr lang="en-US" sz="1800"/>
              <a:t>Also referred to as the physical I/O level</a:t>
            </a:r>
            <a:endParaRPr/>
          </a:p>
          <a:p>
            <a:pPr indent="-282575" lvl="0" marL="282575" rtl="0" algn="l">
              <a:spcBef>
                <a:spcPts val="1800"/>
              </a:spcBef>
              <a:spcAft>
                <a:spcPts val="0"/>
              </a:spcAft>
              <a:buSzPts val="1350"/>
              <a:buChar char="■"/>
            </a:pPr>
            <a:r>
              <a:rPr lang="en-US" sz="1800"/>
              <a:t>Primary interface with the environment outside the computer system</a:t>
            </a:r>
            <a:endParaRPr/>
          </a:p>
          <a:p>
            <a:pPr indent="-282575" lvl="0" marL="282575" rtl="0" algn="l">
              <a:spcBef>
                <a:spcPts val="1800"/>
              </a:spcBef>
              <a:spcAft>
                <a:spcPts val="0"/>
              </a:spcAft>
              <a:buSzPts val="1350"/>
              <a:buChar char="■"/>
            </a:pPr>
            <a:r>
              <a:rPr b="1" lang="en-US" sz="1800"/>
              <a:t>Deals with blocks of data that are exchanged with disk </a:t>
            </a:r>
            <a:r>
              <a:rPr lang="en-US" sz="1800"/>
              <a:t>or other mass storage devices.</a:t>
            </a:r>
            <a:endParaRPr/>
          </a:p>
          <a:p>
            <a:pPr indent="-285750" lvl="1" marL="742950" rtl="0" algn="l">
              <a:spcBef>
                <a:spcPts val="600"/>
              </a:spcBef>
              <a:spcAft>
                <a:spcPts val="0"/>
              </a:spcAft>
              <a:buSzPts val="1350"/>
              <a:buChar char="■"/>
            </a:pPr>
            <a:r>
              <a:rPr lang="en-US"/>
              <a:t>placement of blocks on the secondary storage device</a:t>
            </a:r>
            <a:endParaRPr/>
          </a:p>
          <a:p>
            <a:pPr indent="-285750" lvl="1" marL="742950" rtl="0" algn="l">
              <a:spcBef>
                <a:spcPts val="600"/>
              </a:spcBef>
              <a:spcAft>
                <a:spcPts val="0"/>
              </a:spcAft>
              <a:buSzPts val="1350"/>
              <a:buChar char="■"/>
            </a:pPr>
            <a:r>
              <a:rPr b="1" lang="en-US"/>
              <a:t>buffering blocks in main memory</a:t>
            </a:r>
            <a:endParaRPr/>
          </a:p>
          <a:p>
            <a:pPr indent="-282575" lvl="0" marL="282575" rtl="0" algn="l">
              <a:spcBef>
                <a:spcPts val="1800"/>
              </a:spcBef>
              <a:spcAft>
                <a:spcPts val="0"/>
              </a:spcAft>
              <a:buSzPts val="1350"/>
              <a:buChar char="■"/>
            </a:pPr>
            <a:r>
              <a:rPr lang="en-US" sz="1800"/>
              <a:t>Considered part of the operating system</a:t>
            </a:r>
            <a:endParaRPr/>
          </a:p>
          <a:p>
            <a:pPr indent="-196850" lvl="0" marL="282575" rtl="0" algn="l">
              <a:spcBef>
                <a:spcPts val="1800"/>
              </a:spcBef>
              <a:spcAft>
                <a:spcPts val="0"/>
              </a:spcAft>
              <a:buSzPts val="1350"/>
              <a:buNone/>
            </a:pPr>
            <a:r>
              <a:t/>
            </a:r>
            <a:endParaRPr sz="1800"/>
          </a:p>
        </p:txBody>
      </p:sp>
      <p:pic>
        <p:nvPicPr>
          <p:cNvPr id="372" name="Google Shape;372;p16"/>
          <p:cNvPicPr preferRelativeResize="0"/>
          <p:nvPr/>
        </p:nvPicPr>
        <p:blipFill rotWithShape="1">
          <a:blip r:embed="rId3">
            <a:alphaModFix/>
          </a:blip>
          <a:srcRect b="0" l="0" r="0" t="0"/>
          <a:stretch/>
        </p:blipFill>
        <p:spPr>
          <a:xfrm>
            <a:off x="7239000" y="5029200"/>
            <a:ext cx="1295400" cy="1493838"/>
          </a:xfrm>
          <a:prstGeom prst="rect">
            <a:avLst/>
          </a:prstGeom>
          <a:noFill/>
          <a:ln>
            <a:noFill/>
          </a:ln>
        </p:spPr>
      </p:pic>
      <p:pic>
        <p:nvPicPr>
          <p:cNvPr descr="Fig12_01.gif" id="373" name="Google Shape;373;p16"/>
          <p:cNvPicPr preferRelativeResize="0"/>
          <p:nvPr/>
        </p:nvPicPr>
        <p:blipFill rotWithShape="1">
          <a:blip r:embed="rId4">
            <a:alphaModFix/>
          </a:blip>
          <a:srcRect b="-91024" l="-51224" r="-2004" t="-118171"/>
          <a:stretch/>
        </p:blipFill>
        <p:spPr>
          <a:xfrm>
            <a:off x="2438400" y="-685800"/>
            <a:ext cx="6553200" cy="9334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7"/>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Basic I/O Supervisor</a:t>
            </a:r>
            <a:endParaRPr/>
          </a:p>
        </p:txBody>
      </p:sp>
      <p:sp>
        <p:nvSpPr>
          <p:cNvPr id="380" name="Google Shape;380;p17"/>
          <p:cNvSpPr txBox="1"/>
          <p:nvPr>
            <p:ph idx="4294967295" type="body"/>
          </p:nvPr>
        </p:nvSpPr>
        <p:spPr>
          <a:xfrm>
            <a:off x="685800" y="2209800"/>
            <a:ext cx="78486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Responsible for all file </a:t>
            </a:r>
            <a:r>
              <a:rPr b="1" lang="en-US"/>
              <a:t>I/O initiation and termination</a:t>
            </a:r>
            <a:endParaRPr/>
          </a:p>
          <a:p>
            <a:pPr indent="-282575" lvl="0" marL="282575" rtl="0" algn="l">
              <a:spcBef>
                <a:spcPts val="1800"/>
              </a:spcBef>
              <a:spcAft>
                <a:spcPts val="0"/>
              </a:spcAft>
              <a:buSzPts val="1500"/>
              <a:buChar char="■"/>
            </a:pPr>
            <a:r>
              <a:rPr lang="en-US"/>
              <a:t>Control structures that deal with device I/O, scheduling, and file status are maintained</a:t>
            </a:r>
            <a:endParaRPr/>
          </a:p>
          <a:p>
            <a:pPr indent="-282575" lvl="0" marL="282575" rtl="0" algn="l">
              <a:spcBef>
                <a:spcPts val="1800"/>
              </a:spcBef>
              <a:spcAft>
                <a:spcPts val="0"/>
              </a:spcAft>
              <a:buSzPts val="1500"/>
              <a:buChar char="■"/>
            </a:pPr>
            <a:r>
              <a:rPr b="1" lang="en-US"/>
              <a:t>Selects the device on which I/O is to be performed</a:t>
            </a:r>
            <a:endParaRPr/>
          </a:p>
          <a:p>
            <a:pPr indent="-282575" lvl="0" marL="282575" rtl="0" algn="l">
              <a:spcBef>
                <a:spcPts val="1800"/>
              </a:spcBef>
              <a:spcAft>
                <a:spcPts val="0"/>
              </a:spcAft>
              <a:buSzPts val="1500"/>
              <a:buChar char="■"/>
            </a:pPr>
            <a:r>
              <a:rPr lang="en-US"/>
              <a:t>Concerned with scheduling disk and tape accesses to optimize performance</a:t>
            </a:r>
            <a:endParaRPr/>
          </a:p>
          <a:p>
            <a:pPr indent="-282575" lvl="0" marL="282575" rtl="0" algn="l">
              <a:spcBef>
                <a:spcPts val="1800"/>
              </a:spcBef>
              <a:spcAft>
                <a:spcPts val="0"/>
              </a:spcAft>
              <a:buSzPts val="1500"/>
              <a:buChar char="■"/>
            </a:pPr>
            <a:r>
              <a:rPr lang="en-US"/>
              <a:t>I/O buffers are assigned and secondary memory is allocated at this level</a:t>
            </a:r>
            <a:endParaRPr/>
          </a:p>
          <a:p>
            <a:pPr indent="-282575" lvl="0" marL="282575" rtl="0" algn="l">
              <a:spcBef>
                <a:spcPts val="1800"/>
              </a:spcBef>
              <a:spcAft>
                <a:spcPts val="0"/>
              </a:spcAft>
              <a:buSzPts val="1500"/>
              <a:buChar char="■"/>
            </a:pPr>
            <a:r>
              <a:rPr lang="en-US"/>
              <a:t>Part of the operating system</a:t>
            </a:r>
            <a:endParaRPr/>
          </a:p>
          <a:p>
            <a:pPr indent="-187325" lvl="0" marL="282575" rtl="0" algn="l">
              <a:spcBef>
                <a:spcPts val="1800"/>
              </a:spcBef>
              <a:spcAft>
                <a:spcPts val="0"/>
              </a:spcAft>
              <a:buSzPts val="1500"/>
              <a:buNone/>
            </a:pPr>
            <a:r>
              <a:t/>
            </a:r>
            <a:endParaRPr/>
          </a:p>
        </p:txBody>
      </p:sp>
      <p:pic>
        <p:nvPicPr>
          <p:cNvPr id="381" name="Google Shape;381;p17"/>
          <p:cNvPicPr preferRelativeResize="0"/>
          <p:nvPr/>
        </p:nvPicPr>
        <p:blipFill rotWithShape="1">
          <a:blip r:embed="rId3">
            <a:alphaModFix/>
          </a:blip>
          <a:srcRect b="0" l="0" r="0" t="0"/>
          <a:stretch/>
        </p:blipFill>
        <p:spPr>
          <a:xfrm>
            <a:off x="609600" y="457200"/>
            <a:ext cx="1447800" cy="138271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8"/>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Logical I/O</a:t>
            </a:r>
            <a:endParaRPr/>
          </a:p>
        </p:txBody>
      </p:sp>
      <p:grpSp>
        <p:nvGrpSpPr>
          <p:cNvPr id="388" name="Google Shape;388;p18"/>
          <p:cNvGrpSpPr/>
          <p:nvPr/>
        </p:nvGrpSpPr>
        <p:grpSpPr>
          <a:xfrm>
            <a:off x="624975" y="2163656"/>
            <a:ext cx="8071849" cy="4287104"/>
            <a:chOff x="2675" y="-142981"/>
            <a:chExt cx="8071849" cy="4287104"/>
          </a:xfrm>
        </p:grpSpPr>
        <p:sp>
          <p:nvSpPr>
            <p:cNvPr id="389" name="Google Shape;389;p18"/>
            <p:cNvSpPr/>
            <p:nvPr/>
          </p:nvSpPr>
          <p:spPr>
            <a:xfrm>
              <a:off x="2675" y="917738"/>
              <a:ext cx="2136604" cy="1762251"/>
            </a:xfrm>
            <a:prstGeom prst="roundRect">
              <a:avLst>
                <a:gd fmla="val 10000" name="adj"/>
              </a:avLst>
            </a:prstGeom>
            <a:solidFill>
              <a:schemeClr val="accen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8"/>
            <p:cNvSpPr/>
            <p:nvPr/>
          </p:nvSpPr>
          <p:spPr>
            <a:xfrm>
              <a:off x="1290318" y="1649966"/>
              <a:ext cx="2494157" cy="2494157"/>
            </a:xfrm>
            <a:custGeom>
              <a:rect b="b" l="l" r="r" t="t"/>
              <a:pathLst>
                <a:path extrusionOk="0" h="120000" w="120000">
                  <a:moveTo>
                    <a:pt x="6327" y="80968"/>
                  </a:moveTo>
                  <a:lnTo>
                    <a:pt x="9649" y="79670"/>
                  </a:lnTo>
                  <a:cubicBezTo>
                    <a:pt x="16343" y="96805"/>
                    <a:pt x="31292" y="109360"/>
                    <a:pt x="49326" y="112992"/>
                  </a:cubicBezTo>
                  <a:cubicBezTo>
                    <a:pt x="67360" y="116625"/>
                    <a:pt x="86003" y="110836"/>
                    <a:pt x="98809" y="97629"/>
                  </a:cubicBezTo>
                  <a:lnTo>
                    <a:pt x="96940" y="96177"/>
                  </a:lnTo>
                  <a:lnTo>
                    <a:pt x="104095" y="94259"/>
                  </a:lnTo>
                  <a:lnTo>
                    <a:pt x="103511" y="101282"/>
                  </a:lnTo>
                  <a:lnTo>
                    <a:pt x="101641" y="99830"/>
                  </a:lnTo>
                  <a:cubicBezTo>
                    <a:pt x="88039" y="114051"/>
                    <a:pt x="68119" y="120347"/>
                    <a:pt x="48814" y="116527"/>
                  </a:cubicBezTo>
                  <a:cubicBezTo>
                    <a:pt x="29509" y="112706"/>
                    <a:pt x="13488" y="99298"/>
                    <a:pt x="6327" y="80968"/>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8"/>
            <p:cNvSpPr/>
            <p:nvPr/>
          </p:nvSpPr>
          <p:spPr>
            <a:xfrm>
              <a:off x="377274" y="1532217"/>
              <a:ext cx="2146670" cy="1789393"/>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8"/>
            <p:cNvSpPr txBox="1"/>
            <p:nvPr/>
          </p:nvSpPr>
          <p:spPr>
            <a:xfrm>
              <a:off x="429684" y="1584627"/>
              <a:ext cx="2041850" cy="1684573"/>
            </a:xfrm>
            <a:prstGeom prst="rect">
              <a:avLst/>
            </a:prstGeom>
            <a:noFill/>
            <a:ln>
              <a:noFill/>
            </a:ln>
          </p:spPr>
          <p:txBody>
            <a:bodyPr anchorCtr="0" anchor="ctr" bIns="30475" lIns="45700" spcFirstLastPara="1" rIns="45700" wrap="square" tIns="30475">
              <a:noAutofit/>
            </a:bodyPr>
            <a:lstStyle/>
            <a:p>
              <a:pPr indent="0" lvl="0" marL="0" marR="0" rtl="0" algn="ctr">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Enables users and applications to access records</a:t>
              </a:r>
              <a:endParaRPr b="0" i="0" sz="2400" u="none" cap="none" strike="noStrike">
                <a:solidFill>
                  <a:schemeClr val="lt1"/>
                </a:solidFill>
                <a:latin typeface="Arial"/>
                <a:ea typeface="Arial"/>
                <a:cs typeface="Arial"/>
                <a:sym typeface="Arial"/>
              </a:endParaRPr>
            </a:p>
          </p:txBody>
        </p:sp>
        <p:sp>
          <p:nvSpPr>
            <p:cNvPr id="393" name="Google Shape;393;p18"/>
            <p:cNvSpPr/>
            <p:nvPr/>
          </p:nvSpPr>
          <p:spPr>
            <a:xfrm>
              <a:off x="2853396" y="1473016"/>
              <a:ext cx="2136604" cy="1762251"/>
            </a:xfrm>
            <a:prstGeom prst="roundRect">
              <a:avLst>
                <a:gd fmla="val 10000" name="adj"/>
              </a:avLst>
            </a:prstGeom>
            <a:solidFill>
              <a:schemeClr val="accen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8"/>
            <p:cNvSpPr/>
            <p:nvPr/>
          </p:nvSpPr>
          <p:spPr>
            <a:xfrm>
              <a:off x="4255003" y="-142981"/>
              <a:ext cx="2793408" cy="2793408"/>
            </a:xfrm>
            <a:custGeom>
              <a:rect b="b" l="l" r="r" t="t"/>
              <a:pathLst>
                <a:path extrusionOk="0" h="120000" w="120000">
                  <a:moveTo>
                    <a:pt x="6719" y="37397"/>
                  </a:moveTo>
                  <a:lnTo>
                    <a:pt x="6719" y="37397"/>
                  </a:lnTo>
                  <a:cubicBezTo>
                    <a:pt x="14484" y="19093"/>
                    <a:pt x="31101" y="6056"/>
                    <a:pt x="50727" y="2871"/>
                  </a:cubicBezTo>
                  <a:cubicBezTo>
                    <a:pt x="70353" y="-315"/>
                    <a:pt x="90240" y="6796"/>
                    <a:pt x="103396" y="21705"/>
                  </a:cubicBezTo>
                  <a:lnTo>
                    <a:pt x="105104" y="20455"/>
                  </a:lnTo>
                  <a:lnTo>
                    <a:pt x="105422" y="26761"/>
                  </a:lnTo>
                  <a:lnTo>
                    <a:pt x="99107" y="24843"/>
                  </a:lnTo>
                  <a:lnTo>
                    <a:pt x="100815" y="23594"/>
                  </a:lnTo>
                  <a:cubicBezTo>
                    <a:pt x="88342" y="9611"/>
                    <a:pt x="69580" y="2986"/>
                    <a:pt x="51093" y="6038"/>
                  </a:cubicBezTo>
                  <a:cubicBezTo>
                    <a:pt x="32606" y="9089"/>
                    <a:pt x="16968" y="21392"/>
                    <a:pt x="9651" y="3864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8"/>
            <p:cNvSpPr/>
            <p:nvPr/>
          </p:nvSpPr>
          <p:spPr>
            <a:xfrm>
              <a:off x="3199355" y="685803"/>
              <a:ext cx="2135313" cy="1942218"/>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8"/>
            <p:cNvSpPr txBox="1"/>
            <p:nvPr/>
          </p:nvSpPr>
          <p:spPr>
            <a:xfrm>
              <a:off x="3256241" y="742689"/>
              <a:ext cx="2021541" cy="1828446"/>
            </a:xfrm>
            <a:prstGeom prst="rect">
              <a:avLst/>
            </a:prstGeom>
            <a:noFill/>
            <a:ln>
              <a:noFill/>
            </a:ln>
          </p:spPr>
          <p:txBody>
            <a:bodyPr anchorCtr="0" anchor="ctr" bIns="30475" lIns="45700" spcFirstLastPara="1" rIns="45700" wrap="square" tIns="30475">
              <a:noAutofit/>
            </a:bodyPr>
            <a:lstStyle/>
            <a:p>
              <a:pPr indent="0" lvl="0" marL="0" marR="0" rtl="0" algn="ctr">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Provides general-purpose record I/O capability</a:t>
              </a:r>
              <a:endParaRPr b="0" i="0" sz="2400" u="none" cap="none" strike="noStrike">
                <a:solidFill>
                  <a:schemeClr val="lt1"/>
                </a:solidFill>
                <a:latin typeface="Arial"/>
                <a:ea typeface="Arial"/>
                <a:cs typeface="Arial"/>
                <a:sym typeface="Arial"/>
              </a:endParaRPr>
            </a:p>
          </p:txBody>
        </p:sp>
        <p:sp>
          <p:nvSpPr>
            <p:cNvPr id="397" name="Google Shape;397;p18"/>
            <p:cNvSpPr/>
            <p:nvPr/>
          </p:nvSpPr>
          <p:spPr>
            <a:xfrm>
              <a:off x="5698439" y="800112"/>
              <a:ext cx="2136604" cy="1762251"/>
            </a:xfrm>
            <a:prstGeom prst="roundRect">
              <a:avLst>
                <a:gd fmla="val 10000" name="adj"/>
              </a:avLst>
            </a:prstGeom>
            <a:solidFill>
              <a:schemeClr val="accen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8"/>
            <p:cNvSpPr/>
            <p:nvPr/>
          </p:nvSpPr>
          <p:spPr>
            <a:xfrm>
              <a:off x="6171161" y="1432414"/>
              <a:ext cx="1903363" cy="2259899"/>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8"/>
            <p:cNvSpPr txBox="1"/>
            <p:nvPr/>
          </p:nvSpPr>
          <p:spPr>
            <a:xfrm>
              <a:off x="6226909" y="1488162"/>
              <a:ext cx="1791867" cy="2148403"/>
            </a:xfrm>
            <a:prstGeom prst="rect">
              <a:avLst/>
            </a:prstGeom>
            <a:noFill/>
            <a:ln>
              <a:noFill/>
            </a:ln>
          </p:spPr>
          <p:txBody>
            <a:bodyPr anchorCtr="0" anchor="ctr" bIns="30475" lIns="45700" spcFirstLastPara="1" rIns="45700" wrap="square" tIns="30475">
              <a:noAutofit/>
            </a:bodyPr>
            <a:lstStyle/>
            <a:p>
              <a:pPr indent="0" lvl="0" marL="0" marR="0" rtl="0" algn="ctr">
                <a:lnSpc>
                  <a:spcPct val="90000"/>
                </a:lnSpc>
                <a:spcBef>
                  <a:spcPts val="0"/>
                </a:spcBef>
                <a:spcAft>
                  <a:spcPts val="0"/>
                </a:spcAft>
                <a:buNone/>
              </a:pPr>
              <a:r>
                <a:rPr b="0" i="0" lang="en-US" sz="2400" u="none" cap="none" strike="noStrike">
                  <a:solidFill>
                    <a:schemeClr val="lt1"/>
                  </a:solidFill>
                  <a:latin typeface="Arial"/>
                  <a:ea typeface="Arial"/>
                  <a:cs typeface="Arial"/>
                  <a:sym typeface="Arial"/>
                </a:rPr>
                <a:t>Maintains basic data about file</a:t>
              </a:r>
              <a:endParaRPr b="0" i="0" sz="2400" u="none" cap="none" strike="noStrike">
                <a:solidFill>
                  <a:schemeClr val="lt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9"/>
          <p:cNvSpPr txBox="1"/>
          <p:nvPr>
            <p:ph idx="4294967295"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Logical I/O</a:t>
            </a:r>
            <a:endParaRPr/>
          </a:p>
        </p:txBody>
      </p:sp>
      <p:sp>
        <p:nvSpPr>
          <p:cNvPr id="406" name="Google Shape;406;p19"/>
          <p:cNvSpPr txBox="1"/>
          <p:nvPr/>
        </p:nvSpPr>
        <p:spPr>
          <a:xfrm>
            <a:off x="685800" y="2362200"/>
            <a:ext cx="7635875" cy="40318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chemeClr val="dk1"/>
                </a:solidFill>
                <a:latin typeface="Lustria"/>
                <a:ea typeface="Lustria"/>
                <a:cs typeface="Lustria"/>
                <a:sym typeface="Lustria"/>
              </a:rPr>
              <a:t>This level is the interface between the</a:t>
            </a:r>
            <a:endParaRPr/>
          </a:p>
          <a:p>
            <a:pPr indent="0" lvl="0" marL="0" marR="0" rtl="0" algn="l">
              <a:spcBef>
                <a:spcPts val="0"/>
              </a:spcBef>
              <a:spcAft>
                <a:spcPts val="0"/>
              </a:spcAft>
              <a:buNone/>
            </a:pPr>
            <a:r>
              <a:rPr b="1" lang="en-US" sz="3200">
                <a:solidFill>
                  <a:schemeClr val="dk1"/>
                </a:solidFill>
                <a:latin typeface="Lustria"/>
                <a:ea typeface="Lustria"/>
                <a:cs typeface="Lustria"/>
                <a:sym typeface="Lustria"/>
              </a:rPr>
              <a:t>logical commands issued by a program and the physical details required by the disk.</a:t>
            </a:r>
            <a:endParaRPr/>
          </a:p>
          <a:p>
            <a:pPr indent="0" lvl="0" marL="0" marR="0" rtl="0" algn="l">
              <a:spcBef>
                <a:spcPts val="0"/>
              </a:spcBef>
              <a:spcAft>
                <a:spcPts val="0"/>
              </a:spcAft>
              <a:buNone/>
            </a:pPr>
            <a:r>
              <a:t/>
            </a:r>
            <a:endParaRPr sz="3200">
              <a:solidFill>
                <a:schemeClr val="dk1"/>
              </a:solidFill>
              <a:latin typeface="Lustria"/>
              <a:ea typeface="Lustria"/>
              <a:cs typeface="Lustria"/>
              <a:sym typeface="Lustria"/>
            </a:endParaRPr>
          </a:p>
          <a:p>
            <a:pPr indent="0" lvl="0" marL="0" marR="0" rtl="0" algn="l">
              <a:spcBef>
                <a:spcPts val="0"/>
              </a:spcBef>
              <a:spcAft>
                <a:spcPts val="0"/>
              </a:spcAft>
              <a:buNone/>
            </a:pPr>
            <a:r>
              <a:rPr lang="en-US" sz="3200">
                <a:solidFill>
                  <a:schemeClr val="dk1"/>
                </a:solidFill>
                <a:latin typeface="Lustria"/>
                <a:ea typeface="Lustria"/>
                <a:cs typeface="Lustria"/>
                <a:sym typeface="Lustria"/>
              </a:rPr>
              <a:t>Logical units of data versus physical blocks of data to match disk requirements.</a:t>
            </a:r>
            <a:endParaRPr/>
          </a:p>
          <a:p>
            <a:pPr indent="0" lvl="0" marL="0" marR="0" rtl="0" algn="l">
              <a:spcBef>
                <a:spcPts val="0"/>
              </a:spcBef>
              <a:spcAft>
                <a:spcPts val="0"/>
              </a:spcAft>
              <a:buNone/>
            </a:pPr>
            <a:r>
              <a:t/>
            </a:r>
            <a:endParaRPr sz="3200">
              <a:solidFill>
                <a:schemeClr val="dk1"/>
              </a:solidFill>
              <a:latin typeface="Lustria"/>
              <a:ea typeface="Lustria"/>
              <a:cs typeface="Lustria"/>
              <a:sym typeface="Lustr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0"/>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Access Method</a:t>
            </a:r>
            <a:endParaRPr/>
          </a:p>
        </p:txBody>
      </p:sp>
      <p:sp>
        <p:nvSpPr>
          <p:cNvPr id="413" name="Google Shape;413;p20"/>
          <p:cNvSpPr txBox="1"/>
          <p:nvPr/>
        </p:nvSpPr>
        <p:spPr>
          <a:xfrm>
            <a:off x="762000" y="2362200"/>
            <a:ext cx="7543800" cy="2769989"/>
          </a:xfrm>
          <a:prstGeom prst="rect">
            <a:avLst/>
          </a:prstGeom>
          <a:noFill/>
          <a:ln>
            <a:noFill/>
          </a:ln>
        </p:spPr>
        <p:txBody>
          <a:bodyPr anchorCtr="0" anchor="t" bIns="45700" lIns="91425" spcFirstLastPara="1" rIns="91425" wrap="square" tIns="45700">
            <a:spAutoFit/>
          </a:bodyPr>
          <a:lstStyle/>
          <a:p>
            <a:pPr indent="-282575" lvl="0" marL="282575" marR="0" rtl="0" algn="l">
              <a:spcBef>
                <a:spcPts val="0"/>
              </a:spcBef>
              <a:spcAft>
                <a:spcPts val="0"/>
              </a:spcAft>
              <a:buClr>
                <a:schemeClr val="accent1"/>
              </a:buClr>
              <a:buSzPts val="1800"/>
              <a:buFont typeface="Noto Sans Symbols"/>
              <a:buChar char="■"/>
            </a:pPr>
            <a:r>
              <a:rPr lang="en-US" sz="2400">
                <a:solidFill>
                  <a:srgbClr val="262626"/>
                </a:solidFill>
                <a:latin typeface="Lustria"/>
                <a:ea typeface="Lustria"/>
                <a:cs typeface="Lustria"/>
                <a:sym typeface="Lustria"/>
              </a:rPr>
              <a:t>Level of the file system closest to the user</a:t>
            </a:r>
            <a:endParaRPr/>
          </a:p>
          <a:p>
            <a:pPr indent="-282575" lvl="0" marL="282575" marR="0" rtl="0" algn="l">
              <a:spcBef>
                <a:spcPts val="1800"/>
              </a:spcBef>
              <a:spcAft>
                <a:spcPts val="0"/>
              </a:spcAft>
              <a:buClr>
                <a:schemeClr val="accent1"/>
              </a:buClr>
              <a:buSzPts val="1800"/>
              <a:buFont typeface="Noto Sans Symbols"/>
              <a:buChar char="■"/>
            </a:pPr>
            <a:r>
              <a:rPr lang="en-US" sz="2400">
                <a:solidFill>
                  <a:srgbClr val="262626"/>
                </a:solidFill>
                <a:latin typeface="Lustria"/>
                <a:ea typeface="Lustria"/>
                <a:cs typeface="Lustria"/>
                <a:sym typeface="Lustria"/>
              </a:rPr>
              <a:t>Provides a standard interface between applications and the file systems and devices that hold the data</a:t>
            </a:r>
            <a:endParaRPr/>
          </a:p>
          <a:p>
            <a:pPr indent="-282575" lvl="0" marL="282575" marR="0" rtl="0" algn="l">
              <a:spcBef>
                <a:spcPts val="1800"/>
              </a:spcBef>
              <a:spcAft>
                <a:spcPts val="0"/>
              </a:spcAft>
              <a:buClr>
                <a:schemeClr val="accent1"/>
              </a:buClr>
              <a:buSzPts val="1800"/>
              <a:buFont typeface="Noto Sans Symbols"/>
              <a:buChar char="■"/>
            </a:pPr>
            <a:r>
              <a:rPr b="1" lang="en-US" sz="2400">
                <a:solidFill>
                  <a:srgbClr val="262626"/>
                </a:solidFill>
                <a:latin typeface="Lustria"/>
                <a:ea typeface="Lustria"/>
                <a:cs typeface="Lustria"/>
                <a:sym typeface="Lustria"/>
              </a:rPr>
              <a:t>Different access methods reflect different file structures and different ways of accessing and </a:t>
            </a:r>
            <a:br>
              <a:rPr b="1" lang="en-US" sz="2400">
                <a:solidFill>
                  <a:srgbClr val="262626"/>
                </a:solidFill>
                <a:latin typeface="Lustria"/>
                <a:ea typeface="Lustria"/>
                <a:cs typeface="Lustria"/>
                <a:sym typeface="Lustria"/>
              </a:rPr>
            </a:br>
            <a:r>
              <a:rPr b="1" lang="en-US" sz="2400">
                <a:solidFill>
                  <a:srgbClr val="262626"/>
                </a:solidFill>
                <a:latin typeface="Lustria"/>
                <a:ea typeface="Lustria"/>
                <a:cs typeface="Lustria"/>
                <a:sym typeface="Lustria"/>
              </a:rPr>
              <a:t>processing the data</a:t>
            </a:r>
            <a:endParaRPr/>
          </a:p>
        </p:txBody>
      </p:sp>
      <p:pic>
        <p:nvPicPr>
          <p:cNvPr id="414" name="Google Shape;414;p20"/>
          <p:cNvPicPr preferRelativeResize="0"/>
          <p:nvPr/>
        </p:nvPicPr>
        <p:blipFill rotWithShape="1">
          <a:blip r:embed="rId3">
            <a:alphaModFix/>
          </a:blip>
          <a:srcRect b="0" l="0" r="0" t="0"/>
          <a:stretch/>
        </p:blipFill>
        <p:spPr>
          <a:xfrm>
            <a:off x="5562600" y="4495800"/>
            <a:ext cx="2438400" cy="20431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21"/>
          <p:cNvSpPr txBox="1"/>
          <p:nvPr>
            <p:ph type="title"/>
          </p:nvPr>
        </p:nvSpPr>
        <p:spPr>
          <a:xfrm>
            <a:off x="0" y="455613"/>
            <a:ext cx="9144000"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br>
              <a:rPr lang="en-US"/>
            </a:br>
            <a:r>
              <a:rPr lang="en-US" sz="4800"/>
              <a:t>File Organization and Access</a:t>
            </a:r>
            <a:endParaRPr sz="4800"/>
          </a:p>
        </p:txBody>
      </p:sp>
      <p:sp>
        <p:nvSpPr>
          <p:cNvPr id="421" name="Google Shape;421;p21"/>
          <p:cNvSpPr txBox="1"/>
          <p:nvPr>
            <p:ph idx="4294967295" type="body"/>
          </p:nvPr>
        </p:nvSpPr>
        <p:spPr>
          <a:xfrm>
            <a:off x="609600" y="2438400"/>
            <a:ext cx="7924800" cy="38100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b="1" i="1" lang="en-US"/>
              <a:t>File organization</a:t>
            </a:r>
            <a:r>
              <a:rPr lang="en-US"/>
              <a:t> is the logical structuring of the records as determined by the way in which they are accessed</a:t>
            </a:r>
            <a:endParaRPr/>
          </a:p>
          <a:p>
            <a:pPr indent="-282575" lvl="0" marL="282575" rtl="0" algn="l">
              <a:spcBef>
                <a:spcPts val="1800"/>
              </a:spcBef>
              <a:spcAft>
                <a:spcPts val="0"/>
              </a:spcAft>
              <a:buSzPts val="1500"/>
              <a:buChar char="■"/>
            </a:pPr>
            <a:r>
              <a:rPr lang="en-US"/>
              <a:t>In choosing a file organization, several criteria are important:</a:t>
            </a:r>
            <a:endParaRPr/>
          </a:p>
          <a:p>
            <a:pPr indent="-285750" lvl="1" marL="1143000" rtl="0" algn="l">
              <a:spcBef>
                <a:spcPts val="600"/>
              </a:spcBef>
              <a:spcAft>
                <a:spcPts val="0"/>
              </a:spcAft>
              <a:buSzPts val="1350"/>
              <a:buChar char="■"/>
            </a:pPr>
            <a:r>
              <a:rPr b="1" lang="en-US"/>
              <a:t>short access time</a:t>
            </a:r>
            <a:endParaRPr/>
          </a:p>
          <a:p>
            <a:pPr indent="-285750" lvl="1" marL="1143000" rtl="0" algn="l">
              <a:spcBef>
                <a:spcPts val="600"/>
              </a:spcBef>
              <a:spcAft>
                <a:spcPts val="0"/>
              </a:spcAft>
              <a:buSzPts val="1350"/>
              <a:buChar char="■"/>
            </a:pPr>
            <a:r>
              <a:rPr b="1" lang="en-US"/>
              <a:t>ease of update</a:t>
            </a:r>
            <a:endParaRPr/>
          </a:p>
          <a:p>
            <a:pPr indent="-285750" lvl="1" marL="1143000" rtl="0" algn="l">
              <a:spcBef>
                <a:spcPts val="600"/>
              </a:spcBef>
              <a:spcAft>
                <a:spcPts val="0"/>
              </a:spcAft>
              <a:buSzPts val="1350"/>
              <a:buChar char="■"/>
            </a:pPr>
            <a:r>
              <a:rPr b="1" lang="en-US"/>
              <a:t>economy of storage</a:t>
            </a:r>
            <a:endParaRPr/>
          </a:p>
          <a:p>
            <a:pPr indent="-285750" lvl="1" marL="1143000" rtl="0" algn="l">
              <a:spcBef>
                <a:spcPts val="600"/>
              </a:spcBef>
              <a:spcAft>
                <a:spcPts val="0"/>
              </a:spcAft>
              <a:buSzPts val="1350"/>
              <a:buChar char="■"/>
            </a:pPr>
            <a:r>
              <a:rPr b="1" lang="en-US"/>
              <a:t>simple maintenance</a:t>
            </a:r>
            <a:endParaRPr/>
          </a:p>
          <a:p>
            <a:pPr indent="-285750" lvl="1" marL="1143000" rtl="0" algn="l">
              <a:spcBef>
                <a:spcPts val="600"/>
              </a:spcBef>
              <a:spcAft>
                <a:spcPts val="0"/>
              </a:spcAft>
              <a:buSzPts val="1350"/>
              <a:buChar char="■"/>
            </a:pPr>
            <a:r>
              <a:rPr b="1" lang="en-US"/>
              <a:t>reliability</a:t>
            </a:r>
            <a:endParaRPr/>
          </a:p>
          <a:p>
            <a:pPr indent="-282575" lvl="0" marL="282575" rtl="0" algn="l">
              <a:spcBef>
                <a:spcPts val="1800"/>
              </a:spcBef>
              <a:spcAft>
                <a:spcPts val="0"/>
              </a:spcAft>
              <a:buSzPts val="1500"/>
              <a:buChar char="■"/>
            </a:pPr>
            <a:r>
              <a:rPr lang="en-US"/>
              <a:t>Relative Priority of these criteria depends on the application that will use the file</a:t>
            </a:r>
            <a:endParaRPr/>
          </a:p>
        </p:txBody>
      </p:sp>
      <p:pic>
        <p:nvPicPr>
          <p:cNvPr id="422" name="Google Shape;422;p21"/>
          <p:cNvPicPr preferRelativeResize="0"/>
          <p:nvPr/>
        </p:nvPicPr>
        <p:blipFill rotWithShape="1">
          <a:blip r:embed="rId3">
            <a:alphaModFix/>
          </a:blip>
          <a:srcRect b="0" l="0" r="0" t="0"/>
          <a:stretch/>
        </p:blipFill>
        <p:spPr>
          <a:xfrm>
            <a:off x="5562600" y="4114800"/>
            <a:ext cx="1905000" cy="132238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22"/>
          <p:cNvSpPr txBox="1"/>
          <p:nvPr>
            <p:ph type="title"/>
          </p:nvPr>
        </p:nvSpPr>
        <p:spPr>
          <a:xfrm>
            <a:off x="304800" y="455613"/>
            <a:ext cx="8534400"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t>File Organization Types</a:t>
            </a:r>
            <a:endParaRPr/>
          </a:p>
        </p:txBody>
      </p:sp>
      <p:grpSp>
        <p:nvGrpSpPr>
          <p:cNvPr id="429" name="Google Shape;429;p22"/>
          <p:cNvGrpSpPr/>
          <p:nvPr/>
        </p:nvGrpSpPr>
        <p:grpSpPr>
          <a:xfrm>
            <a:off x="1295393" y="1952619"/>
            <a:ext cx="6705605" cy="4557994"/>
            <a:chOff x="761993" y="123819"/>
            <a:chExt cx="6705605" cy="4557994"/>
          </a:xfrm>
        </p:grpSpPr>
        <p:sp>
          <p:nvSpPr>
            <p:cNvPr id="430" name="Google Shape;430;p22"/>
            <p:cNvSpPr/>
            <p:nvPr/>
          </p:nvSpPr>
          <p:spPr>
            <a:xfrm>
              <a:off x="2819417" y="2181238"/>
              <a:ext cx="2456453" cy="2245429"/>
            </a:xfrm>
            <a:prstGeom prst="ellipse">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2"/>
            <p:cNvSpPr txBox="1"/>
            <p:nvPr/>
          </p:nvSpPr>
          <p:spPr>
            <a:xfrm>
              <a:off x="3179156" y="2510073"/>
              <a:ext cx="1736975" cy="1587759"/>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Five of the common file organizations are:</a:t>
              </a:r>
              <a:endParaRPr sz="1600">
                <a:solidFill>
                  <a:schemeClr val="lt1"/>
                </a:solidFill>
                <a:latin typeface="Arial"/>
                <a:ea typeface="Arial"/>
                <a:cs typeface="Arial"/>
                <a:sym typeface="Arial"/>
              </a:endParaRPr>
            </a:p>
          </p:txBody>
        </p:sp>
        <p:sp>
          <p:nvSpPr>
            <p:cNvPr id="432" name="Google Shape;432;p22"/>
            <p:cNvSpPr/>
            <p:nvPr/>
          </p:nvSpPr>
          <p:spPr>
            <a:xfrm rot="-5526718">
              <a:off x="3807857" y="1611135"/>
              <a:ext cx="371743" cy="461581"/>
            </a:xfrm>
            <a:prstGeom prst="rightArrow">
              <a:avLst>
                <a:gd fmla="val 60000"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22"/>
            <p:cNvSpPr txBox="1"/>
            <p:nvPr/>
          </p:nvSpPr>
          <p:spPr>
            <a:xfrm rot="5273282">
              <a:off x="3865673" y="1759175"/>
              <a:ext cx="260220" cy="27694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2000">
                <a:solidFill>
                  <a:schemeClr val="lt1"/>
                </a:solidFill>
                <a:latin typeface="Arial"/>
                <a:ea typeface="Arial"/>
                <a:cs typeface="Arial"/>
                <a:sym typeface="Arial"/>
              </a:endParaRPr>
            </a:p>
          </p:txBody>
        </p:sp>
        <p:sp>
          <p:nvSpPr>
            <p:cNvPr id="434" name="Google Shape;434;p22"/>
            <p:cNvSpPr/>
            <p:nvPr/>
          </p:nvSpPr>
          <p:spPr>
            <a:xfrm>
              <a:off x="3276605" y="123819"/>
              <a:ext cx="1357591" cy="1357591"/>
            </a:xfrm>
            <a:prstGeom prst="ellipse">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2"/>
            <p:cNvSpPr txBox="1"/>
            <p:nvPr/>
          </p:nvSpPr>
          <p:spPr>
            <a:xfrm>
              <a:off x="3475420" y="322634"/>
              <a:ext cx="959961" cy="959961"/>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The pile</a:t>
              </a:r>
              <a:endParaRPr sz="1600">
                <a:solidFill>
                  <a:schemeClr val="lt1"/>
                </a:solidFill>
                <a:latin typeface="Arial"/>
                <a:ea typeface="Arial"/>
                <a:cs typeface="Arial"/>
                <a:sym typeface="Arial"/>
              </a:endParaRPr>
            </a:p>
          </p:txBody>
        </p:sp>
        <p:sp>
          <p:nvSpPr>
            <p:cNvPr id="436" name="Google Shape;436;p22"/>
            <p:cNvSpPr/>
            <p:nvPr/>
          </p:nvSpPr>
          <p:spPr>
            <a:xfrm rot="-2036954">
              <a:off x="5157892" y="2168146"/>
              <a:ext cx="468120" cy="461581"/>
            </a:xfrm>
            <a:prstGeom prst="rightArrow">
              <a:avLst>
                <a:gd fmla="val 60000"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22"/>
            <p:cNvSpPr txBox="1"/>
            <p:nvPr/>
          </p:nvSpPr>
          <p:spPr>
            <a:xfrm rot="-2036954">
              <a:off x="5169695" y="2299128"/>
              <a:ext cx="329646" cy="27694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2000">
                <a:solidFill>
                  <a:schemeClr val="lt1"/>
                </a:solidFill>
                <a:latin typeface="Arial"/>
                <a:ea typeface="Arial"/>
                <a:cs typeface="Arial"/>
                <a:sym typeface="Arial"/>
              </a:endParaRPr>
            </a:p>
          </p:txBody>
        </p:sp>
        <p:sp>
          <p:nvSpPr>
            <p:cNvPr id="438" name="Google Shape;438;p22"/>
            <p:cNvSpPr/>
            <p:nvPr/>
          </p:nvSpPr>
          <p:spPr>
            <a:xfrm>
              <a:off x="5638798" y="962019"/>
              <a:ext cx="1522294" cy="1516633"/>
            </a:xfrm>
            <a:prstGeom prst="ellipse">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22"/>
            <p:cNvSpPr txBox="1"/>
            <p:nvPr/>
          </p:nvSpPr>
          <p:spPr>
            <a:xfrm>
              <a:off x="5861733" y="1184125"/>
              <a:ext cx="1076424" cy="1072421"/>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The sequential file</a:t>
              </a:r>
              <a:endParaRPr sz="1600">
                <a:solidFill>
                  <a:schemeClr val="lt1"/>
                </a:solidFill>
                <a:latin typeface="Arial"/>
                <a:ea typeface="Arial"/>
                <a:cs typeface="Arial"/>
                <a:sym typeface="Arial"/>
              </a:endParaRPr>
            </a:p>
          </p:txBody>
        </p:sp>
        <p:sp>
          <p:nvSpPr>
            <p:cNvPr id="440" name="Google Shape;440;p22"/>
            <p:cNvSpPr/>
            <p:nvPr/>
          </p:nvSpPr>
          <p:spPr>
            <a:xfrm rot="770381">
              <a:off x="5371917" y="3413503"/>
              <a:ext cx="337914" cy="461581"/>
            </a:xfrm>
            <a:prstGeom prst="rightArrow">
              <a:avLst>
                <a:gd fmla="val 60000"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2"/>
            <p:cNvSpPr txBox="1"/>
            <p:nvPr/>
          </p:nvSpPr>
          <p:spPr>
            <a:xfrm rot="770381">
              <a:off x="5373184" y="3494555"/>
              <a:ext cx="236540" cy="27694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2000">
                <a:solidFill>
                  <a:schemeClr val="lt1"/>
                </a:solidFill>
                <a:latin typeface="Arial"/>
                <a:ea typeface="Arial"/>
                <a:cs typeface="Arial"/>
                <a:sym typeface="Arial"/>
              </a:endParaRPr>
            </a:p>
          </p:txBody>
        </p:sp>
        <p:sp>
          <p:nvSpPr>
            <p:cNvPr id="442" name="Google Shape;442;p22"/>
            <p:cNvSpPr/>
            <p:nvPr/>
          </p:nvSpPr>
          <p:spPr>
            <a:xfrm>
              <a:off x="5839072" y="3114675"/>
              <a:ext cx="1628526" cy="1566348"/>
            </a:xfrm>
            <a:prstGeom prst="ellipse">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22"/>
            <p:cNvSpPr txBox="1"/>
            <p:nvPr/>
          </p:nvSpPr>
          <p:spPr>
            <a:xfrm>
              <a:off x="6077564" y="3344061"/>
              <a:ext cx="1151542" cy="1107576"/>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The indexed sequential file</a:t>
              </a:r>
              <a:endParaRPr sz="1600">
                <a:solidFill>
                  <a:schemeClr val="lt1"/>
                </a:solidFill>
                <a:latin typeface="Arial"/>
                <a:ea typeface="Arial"/>
                <a:cs typeface="Arial"/>
                <a:sym typeface="Arial"/>
              </a:endParaRPr>
            </a:p>
          </p:txBody>
        </p:sp>
        <p:sp>
          <p:nvSpPr>
            <p:cNvPr id="444" name="Google Shape;444;p22"/>
            <p:cNvSpPr/>
            <p:nvPr/>
          </p:nvSpPr>
          <p:spPr>
            <a:xfrm rot="9899307">
              <a:off x="2282358" y="3489702"/>
              <a:ext cx="423978" cy="461581"/>
            </a:xfrm>
            <a:prstGeom prst="rightArrow">
              <a:avLst>
                <a:gd fmla="val 60000"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2"/>
            <p:cNvSpPr txBox="1"/>
            <p:nvPr/>
          </p:nvSpPr>
          <p:spPr>
            <a:xfrm rot="-900693">
              <a:off x="2407381" y="3565546"/>
              <a:ext cx="296785" cy="27694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2000">
                <a:solidFill>
                  <a:schemeClr val="lt1"/>
                </a:solidFill>
                <a:latin typeface="Arial"/>
                <a:ea typeface="Arial"/>
                <a:cs typeface="Arial"/>
                <a:sym typeface="Arial"/>
              </a:endParaRPr>
            </a:p>
          </p:txBody>
        </p:sp>
        <p:sp>
          <p:nvSpPr>
            <p:cNvPr id="446" name="Google Shape;446;p22"/>
            <p:cNvSpPr/>
            <p:nvPr/>
          </p:nvSpPr>
          <p:spPr>
            <a:xfrm>
              <a:off x="762001" y="3324222"/>
              <a:ext cx="1357591" cy="1357591"/>
            </a:xfrm>
            <a:prstGeom prst="ellipse">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2"/>
            <p:cNvSpPr txBox="1"/>
            <p:nvPr/>
          </p:nvSpPr>
          <p:spPr>
            <a:xfrm>
              <a:off x="960816" y="3523037"/>
              <a:ext cx="959961" cy="959961"/>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The indexed file</a:t>
              </a:r>
              <a:endParaRPr sz="1600">
                <a:solidFill>
                  <a:schemeClr val="lt1"/>
                </a:solidFill>
                <a:latin typeface="Arial"/>
                <a:ea typeface="Arial"/>
                <a:cs typeface="Arial"/>
                <a:sym typeface="Arial"/>
              </a:endParaRPr>
            </a:p>
          </p:txBody>
        </p:sp>
        <p:sp>
          <p:nvSpPr>
            <p:cNvPr id="448" name="Google Shape;448;p22"/>
            <p:cNvSpPr/>
            <p:nvPr/>
          </p:nvSpPr>
          <p:spPr>
            <a:xfrm rot="-8986406">
              <a:off x="2445777" y="2267641"/>
              <a:ext cx="438638" cy="461581"/>
            </a:xfrm>
            <a:prstGeom prst="rightArrow">
              <a:avLst>
                <a:gd fmla="val 60000" name="adj1"/>
                <a:gd fmla="val 50000" name="adj2"/>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2"/>
            <p:cNvSpPr txBox="1"/>
            <p:nvPr/>
          </p:nvSpPr>
          <p:spPr>
            <a:xfrm rot="1813594">
              <a:off x="2568423" y="2393080"/>
              <a:ext cx="307047" cy="276949"/>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t/>
              </a:r>
              <a:endParaRPr sz="2000">
                <a:solidFill>
                  <a:schemeClr val="lt1"/>
                </a:solidFill>
                <a:latin typeface="Arial"/>
                <a:ea typeface="Arial"/>
                <a:cs typeface="Arial"/>
                <a:sym typeface="Arial"/>
              </a:endParaRPr>
            </a:p>
          </p:txBody>
        </p:sp>
        <p:sp>
          <p:nvSpPr>
            <p:cNvPr id="450" name="Google Shape;450;p22"/>
            <p:cNvSpPr/>
            <p:nvPr/>
          </p:nvSpPr>
          <p:spPr>
            <a:xfrm>
              <a:off x="761993" y="1114422"/>
              <a:ext cx="1665574" cy="1520814"/>
            </a:xfrm>
            <a:prstGeom prst="ellipse">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2"/>
            <p:cNvSpPr txBox="1"/>
            <p:nvPr/>
          </p:nvSpPr>
          <p:spPr>
            <a:xfrm>
              <a:off x="1005911" y="1337140"/>
              <a:ext cx="1177738" cy="1075378"/>
            </a:xfrm>
            <a:prstGeom prst="rect">
              <a:avLst/>
            </a:prstGeom>
            <a:noFill/>
            <a:ln>
              <a:noFill/>
            </a:ln>
          </p:spPr>
          <p:txBody>
            <a:bodyPr anchorCtr="0" anchor="ctr" bIns="20300" lIns="20300" spcFirstLastPara="1" rIns="20300" wrap="square" tIns="20300">
              <a:noAutofit/>
            </a:bodyPr>
            <a:lstStyle/>
            <a:p>
              <a:pPr indent="0" lvl="0" marL="0" marR="0" rtl="0" algn="ctr">
                <a:lnSpc>
                  <a:spcPct val="90000"/>
                </a:lnSpc>
                <a:spcBef>
                  <a:spcPts val="0"/>
                </a:spcBef>
                <a:spcAft>
                  <a:spcPts val="0"/>
                </a:spcAft>
                <a:buNone/>
              </a:pPr>
              <a:r>
                <a:rPr lang="en-US" sz="1600">
                  <a:solidFill>
                    <a:schemeClr val="lt1"/>
                  </a:solidFill>
                  <a:latin typeface="Arial"/>
                  <a:ea typeface="Arial"/>
                  <a:cs typeface="Arial"/>
                  <a:sym typeface="Arial"/>
                </a:rPr>
                <a:t>The direct, or hashed, file</a:t>
              </a:r>
              <a:endParaRPr sz="1600">
                <a:solidFill>
                  <a:schemeClr val="lt1"/>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23"/>
          <p:cNvSpPr txBox="1"/>
          <p:nvPr>
            <p:ph type="title"/>
          </p:nvPr>
        </p:nvSpPr>
        <p:spPr>
          <a:xfrm>
            <a:off x="457200" y="381000"/>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12500"/>
              </a:lnSpc>
              <a:spcBef>
                <a:spcPts val="0"/>
              </a:spcBef>
              <a:spcAft>
                <a:spcPts val="0"/>
              </a:spcAft>
              <a:buNone/>
            </a:pPr>
            <a:r>
              <a:rPr lang="en-US" sz="4800"/>
              <a:t>The Pile</a:t>
            </a:r>
            <a:endParaRPr/>
          </a:p>
        </p:txBody>
      </p:sp>
      <p:sp>
        <p:nvSpPr>
          <p:cNvPr id="458" name="Google Shape;458;p23"/>
          <p:cNvSpPr txBox="1"/>
          <p:nvPr>
            <p:ph idx="1" type="body"/>
          </p:nvPr>
        </p:nvSpPr>
        <p:spPr>
          <a:xfrm>
            <a:off x="457200" y="1676400"/>
            <a:ext cx="3200400" cy="41910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sz="2000"/>
              <a:t>Least complicated form of file organization</a:t>
            </a:r>
            <a:endParaRPr/>
          </a:p>
          <a:p>
            <a:pPr indent="-282575" lvl="0" marL="282575" rtl="0" algn="l">
              <a:spcBef>
                <a:spcPts val="1800"/>
              </a:spcBef>
              <a:spcAft>
                <a:spcPts val="0"/>
              </a:spcAft>
              <a:buSzPts val="1500"/>
              <a:buChar char="■"/>
            </a:pPr>
            <a:r>
              <a:rPr lang="en-US" sz="2000"/>
              <a:t>Data are collected in the order they arrive</a:t>
            </a:r>
            <a:endParaRPr/>
          </a:p>
          <a:p>
            <a:pPr indent="-282575" lvl="0" marL="282575" rtl="0" algn="l">
              <a:spcBef>
                <a:spcPts val="1800"/>
              </a:spcBef>
              <a:spcAft>
                <a:spcPts val="0"/>
              </a:spcAft>
              <a:buSzPts val="1500"/>
              <a:buChar char="■"/>
            </a:pPr>
            <a:r>
              <a:rPr lang="en-US" sz="2000"/>
              <a:t>Purpose is simply to accumulate the mass of data and save it</a:t>
            </a:r>
            <a:endParaRPr/>
          </a:p>
        </p:txBody>
      </p:sp>
      <p:pic>
        <p:nvPicPr>
          <p:cNvPr descr="Fig12_03a.gif" id="459" name="Google Shape;459;p23"/>
          <p:cNvPicPr preferRelativeResize="0"/>
          <p:nvPr/>
        </p:nvPicPr>
        <p:blipFill rotWithShape="1">
          <a:blip r:embed="rId3">
            <a:alphaModFix/>
          </a:blip>
          <a:srcRect b="0" l="0" r="0" t="0"/>
          <a:stretch/>
        </p:blipFill>
        <p:spPr>
          <a:xfrm>
            <a:off x="4114800" y="762000"/>
            <a:ext cx="4519613" cy="5594350"/>
          </a:xfrm>
          <a:prstGeom prst="rect">
            <a:avLst/>
          </a:prstGeom>
          <a:noFill/>
          <a:ln>
            <a:noFill/>
          </a:ln>
        </p:spPr>
      </p:pic>
    </p:spTree>
  </p:cSld>
  <p:clrMapOvr>
    <a:masterClrMapping/>
  </p:clrMapOvr>
  <p:transition spd="med">
    <p:wipe dir="u"/>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4"/>
          <p:cNvSpPr txBox="1"/>
          <p:nvPr>
            <p:ph type="title"/>
          </p:nvPr>
        </p:nvSpPr>
        <p:spPr>
          <a:xfrm>
            <a:off x="457200" y="381000"/>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12500"/>
              </a:lnSpc>
              <a:spcBef>
                <a:spcPts val="0"/>
              </a:spcBef>
              <a:spcAft>
                <a:spcPts val="0"/>
              </a:spcAft>
              <a:buNone/>
            </a:pPr>
            <a:r>
              <a:rPr lang="en-US" sz="4800"/>
              <a:t>The Pile</a:t>
            </a:r>
            <a:endParaRPr/>
          </a:p>
        </p:txBody>
      </p:sp>
      <p:sp>
        <p:nvSpPr>
          <p:cNvPr id="466" name="Google Shape;466;p24"/>
          <p:cNvSpPr txBox="1"/>
          <p:nvPr>
            <p:ph idx="1" type="body"/>
          </p:nvPr>
        </p:nvSpPr>
        <p:spPr>
          <a:xfrm>
            <a:off x="457200" y="1676400"/>
            <a:ext cx="3200400" cy="41910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sz="2000"/>
              <a:t>Each record consists of one burst of data</a:t>
            </a:r>
            <a:endParaRPr/>
          </a:p>
          <a:p>
            <a:pPr indent="-282575" lvl="0" marL="282575" rtl="0" algn="l">
              <a:spcBef>
                <a:spcPts val="1800"/>
              </a:spcBef>
              <a:spcAft>
                <a:spcPts val="0"/>
              </a:spcAft>
              <a:buSzPts val="1500"/>
              <a:buChar char="■"/>
            </a:pPr>
            <a:r>
              <a:rPr lang="en-US" sz="2000"/>
              <a:t>Records may have different fields, or similar fields in different orders. </a:t>
            </a:r>
            <a:endParaRPr sz="2000"/>
          </a:p>
        </p:txBody>
      </p:sp>
      <p:pic>
        <p:nvPicPr>
          <p:cNvPr descr="Fig12_03a.gif" id="467" name="Google Shape;467;p24"/>
          <p:cNvPicPr preferRelativeResize="0"/>
          <p:nvPr/>
        </p:nvPicPr>
        <p:blipFill rotWithShape="1">
          <a:blip r:embed="rId3">
            <a:alphaModFix/>
          </a:blip>
          <a:srcRect b="0" l="0" r="0" t="0"/>
          <a:stretch/>
        </p:blipFill>
        <p:spPr>
          <a:xfrm>
            <a:off x="4114800" y="762000"/>
            <a:ext cx="4519613" cy="5594350"/>
          </a:xfrm>
          <a:prstGeom prst="rect">
            <a:avLst/>
          </a:prstGeom>
          <a:noFill/>
          <a:ln>
            <a:noFill/>
          </a:ln>
        </p:spPr>
      </p:pic>
    </p:spTree>
  </p:cSld>
  <p:clrMapOvr>
    <a:masterClrMapping/>
  </p:clrMapOvr>
  <p:transition spd="med">
    <p:wipe dir="u"/>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25"/>
          <p:cNvSpPr txBox="1"/>
          <p:nvPr>
            <p:ph type="title"/>
          </p:nvPr>
        </p:nvSpPr>
        <p:spPr>
          <a:xfrm>
            <a:off x="457200" y="304800"/>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12500"/>
              </a:lnSpc>
              <a:spcBef>
                <a:spcPts val="0"/>
              </a:spcBef>
              <a:spcAft>
                <a:spcPts val="0"/>
              </a:spcAft>
              <a:buNone/>
            </a:pPr>
            <a:r>
              <a:rPr lang="en-US" sz="4800"/>
              <a:t>The Pile</a:t>
            </a:r>
            <a:endParaRPr/>
          </a:p>
        </p:txBody>
      </p:sp>
      <p:sp>
        <p:nvSpPr>
          <p:cNvPr id="474" name="Google Shape;474;p25"/>
          <p:cNvSpPr txBox="1"/>
          <p:nvPr>
            <p:ph idx="1" type="body"/>
          </p:nvPr>
        </p:nvSpPr>
        <p:spPr>
          <a:xfrm>
            <a:off x="457200" y="1447800"/>
            <a:ext cx="3200400" cy="50292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sz="2000"/>
              <a:t>Because there is no structure to the pile file, record access is by exhaustive search. </a:t>
            </a:r>
            <a:endParaRPr sz="2000"/>
          </a:p>
          <a:p>
            <a:pPr indent="-282575" lvl="0" marL="282575" rtl="0" algn="l">
              <a:spcBef>
                <a:spcPts val="1800"/>
              </a:spcBef>
              <a:spcAft>
                <a:spcPts val="0"/>
              </a:spcAft>
              <a:buSzPts val="1500"/>
              <a:buChar char="■"/>
            </a:pPr>
            <a:r>
              <a:rPr lang="en-US" sz="2000"/>
              <a:t>That is, if we wish to find a record that contains a particular field with a particular value, </a:t>
            </a:r>
            <a:endParaRPr sz="2000"/>
          </a:p>
          <a:p>
            <a:pPr indent="-282575" lvl="0" marL="282575" rtl="0" algn="l">
              <a:spcBef>
                <a:spcPts val="1800"/>
              </a:spcBef>
              <a:spcAft>
                <a:spcPts val="0"/>
              </a:spcAft>
              <a:buSzPts val="1500"/>
              <a:buChar char="■"/>
            </a:pPr>
            <a:r>
              <a:rPr lang="en-US" sz="2000"/>
              <a:t>it is necessary to examine each record in the pile until the desired record is found or the entire file has been searched</a:t>
            </a:r>
            <a:endParaRPr sz="2000"/>
          </a:p>
        </p:txBody>
      </p:sp>
      <p:pic>
        <p:nvPicPr>
          <p:cNvPr descr="Fig12_03a.gif" id="475" name="Google Shape;475;p25"/>
          <p:cNvPicPr preferRelativeResize="0"/>
          <p:nvPr/>
        </p:nvPicPr>
        <p:blipFill rotWithShape="1">
          <a:blip r:embed="rId3">
            <a:alphaModFix/>
          </a:blip>
          <a:srcRect b="0" l="0" r="0" t="0"/>
          <a:stretch/>
        </p:blipFill>
        <p:spPr>
          <a:xfrm>
            <a:off x="4114800" y="762000"/>
            <a:ext cx="4519613" cy="5594350"/>
          </a:xfrm>
          <a:prstGeom prst="rect">
            <a:avLst/>
          </a:prstGeom>
          <a:noFill/>
          <a:ln>
            <a:noFill/>
          </a:ln>
        </p:spPr>
      </p:pic>
    </p:spTree>
  </p:cSld>
  <p:clrMapOvr>
    <a:masterClrMapping/>
  </p:clrMapOvr>
  <p:transition spd="med">
    <p:wipe dir="u"/>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6"/>
          <p:cNvSpPr txBox="1"/>
          <p:nvPr>
            <p:ph type="title"/>
          </p:nvPr>
        </p:nvSpPr>
        <p:spPr>
          <a:xfrm>
            <a:off x="381000" y="838200"/>
            <a:ext cx="3352800" cy="121920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lang="en-US"/>
              <a:t>The Sequential File</a:t>
            </a:r>
            <a:endParaRPr/>
          </a:p>
        </p:txBody>
      </p:sp>
      <p:sp>
        <p:nvSpPr>
          <p:cNvPr id="482" name="Google Shape;482;p26"/>
          <p:cNvSpPr txBox="1"/>
          <p:nvPr>
            <p:ph idx="1" type="body"/>
          </p:nvPr>
        </p:nvSpPr>
        <p:spPr>
          <a:xfrm>
            <a:off x="533400" y="2133600"/>
            <a:ext cx="3657600" cy="54864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sz="2000"/>
              <a:t>Most common form of file structure</a:t>
            </a:r>
            <a:endParaRPr/>
          </a:p>
          <a:p>
            <a:pPr indent="-282575" lvl="0" marL="282575" rtl="0" algn="l">
              <a:spcBef>
                <a:spcPts val="1800"/>
              </a:spcBef>
              <a:spcAft>
                <a:spcPts val="0"/>
              </a:spcAft>
              <a:buSzPts val="1500"/>
              <a:buChar char="■"/>
            </a:pPr>
            <a:r>
              <a:rPr lang="en-US" sz="2000"/>
              <a:t>A fixed format is used for records</a:t>
            </a:r>
            <a:endParaRPr/>
          </a:p>
          <a:p>
            <a:pPr indent="-282575" lvl="0" marL="282575" rtl="0" algn="l">
              <a:spcBef>
                <a:spcPts val="1800"/>
              </a:spcBef>
              <a:spcAft>
                <a:spcPts val="0"/>
              </a:spcAft>
              <a:buSzPts val="1500"/>
              <a:buChar char="■"/>
            </a:pPr>
            <a:r>
              <a:rPr lang="en-US" sz="2000"/>
              <a:t>All records are of the same length, </a:t>
            </a:r>
            <a:endParaRPr sz="2000"/>
          </a:p>
          <a:p>
            <a:pPr indent="-282575" lvl="0" marL="282575" rtl="0" algn="l">
              <a:spcBef>
                <a:spcPts val="1800"/>
              </a:spcBef>
              <a:spcAft>
                <a:spcPts val="0"/>
              </a:spcAft>
              <a:buSzPts val="1500"/>
              <a:buChar char="■"/>
            </a:pPr>
            <a:r>
              <a:rPr lang="en-US" sz="2000"/>
              <a:t>Records consist of the same number of fixed-length fields in a particular order.</a:t>
            </a:r>
            <a:endParaRPr sz="2000"/>
          </a:p>
        </p:txBody>
      </p:sp>
      <p:pic>
        <p:nvPicPr>
          <p:cNvPr descr="Fig12_03b.gif" id="483" name="Google Shape;483;p26"/>
          <p:cNvPicPr preferRelativeResize="0"/>
          <p:nvPr/>
        </p:nvPicPr>
        <p:blipFill rotWithShape="1">
          <a:blip r:embed="rId3">
            <a:alphaModFix/>
          </a:blip>
          <a:srcRect b="0" l="0" r="0" t="0"/>
          <a:stretch/>
        </p:blipFill>
        <p:spPr>
          <a:xfrm>
            <a:off x="4191000" y="838200"/>
            <a:ext cx="4492625" cy="5486400"/>
          </a:xfrm>
          <a:prstGeom prst="rect">
            <a:avLst/>
          </a:prstGeom>
          <a:noFill/>
          <a:ln>
            <a:noFill/>
          </a:ln>
        </p:spPr>
      </p:pic>
    </p:spTree>
  </p:cSld>
  <p:clrMapOvr>
    <a:masterClrMapping/>
  </p:clrMapOvr>
  <p:transition spd="med">
    <p:push/>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7"/>
          <p:cNvSpPr txBox="1"/>
          <p:nvPr>
            <p:ph type="title"/>
          </p:nvPr>
        </p:nvSpPr>
        <p:spPr>
          <a:xfrm>
            <a:off x="381000" y="838200"/>
            <a:ext cx="3352800" cy="121920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lang="en-US"/>
              <a:t>The Sequential File</a:t>
            </a:r>
            <a:endParaRPr/>
          </a:p>
        </p:txBody>
      </p:sp>
      <p:sp>
        <p:nvSpPr>
          <p:cNvPr id="490" name="Google Shape;490;p27"/>
          <p:cNvSpPr txBox="1"/>
          <p:nvPr>
            <p:ph idx="1" type="body"/>
          </p:nvPr>
        </p:nvSpPr>
        <p:spPr>
          <a:xfrm>
            <a:off x="533400" y="2133600"/>
            <a:ext cx="3657600" cy="54864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sz="2000"/>
              <a:t>One particular field, usually the first field in each record, is referred to as the </a:t>
            </a:r>
            <a:r>
              <a:rPr b="1" lang="en-US" sz="2000"/>
              <a:t>key field </a:t>
            </a:r>
            <a:r>
              <a:rPr lang="en-US" sz="2000"/>
              <a:t>. </a:t>
            </a:r>
            <a:endParaRPr sz="2000"/>
          </a:p>
          <a:p>
            <a:pPr indent="-282575" lvl="0" marL="282575" rtl="0" algn="l">
              <a:spcBef>
                <a:spcPts val="1800"/>
              </a:spcBef>
              <a:spcAft>
                <a:spcPts val="0"/>
              </a:spcAft>
              <a:buSzPts val="1500"/>
              <a:buChar char="■"/>
            </a:pPr>
            <a:r>
              <a:rPr lang="en-US" sz="2000"/>
              <a:t>The key field uniquely identifies the record; </a:t>
            </a:r>
            <a:endParaRPr sz="2000"/>
          </a:p>
          <a:p>
            <a:pPr indent="-282575" lvl="0" marL="282575" rtl="0" algn="l">
              <a:spcBef>
                <a:spcPts val="1800"/>
              </a:spcBef>
              <a:spcAft>
                <a:spcPts val="0"/>
              </a:spcAft>
              <a:buSzPts val="1500"/>
              <a:buChar char="■"/>
            </a:pPr>
            <a:r>
              <a:rPr lang="en-US" sz="2000"/>
              <a:t>Thus key values for different records are always different. </a:t>
            </a:r>
            <a:endParaRPr sz="2000"/>
          </a:p>
        </p:txBody>
      </p:sp>
      <p:pic>
        <p:nvPicPr>
          <p:cNvPr descr="Fig12_03b.gif" id="491" name="Google Shape;491;p27"/>
          <p:cNvPicPr preferRelativeResize="0"/>
          <p:nvPr/>
        </p:nvPicPr>
        <p:blipFill rotWithShape="1">
          <a:blip r:embed="rId3">
            <a:alphaModFix/>
          </a:blip>
          <a:srcRect b="0" l="0" r="0" t="0"/>
          <a:stretch/>
        </p:blipFill>
        <p:spPr>
          <a:xfrm>
            <a:off x="4191000" y="838200"/>
            <a:ext cx="4492625" cy="5486400"/>
          </a:xfrm>
          <a:prstGeom prst="rect">
            <a:avLst/>
          </a:prstGeom>
          <a:noFill/>
          <a:ln>
            <a:noFill/>
          </a:ln>
        </p:spPr>
      </p:pic>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28"/>
          <p:cNvSpPr txBox="1"/>
          <p:nvPr>
            <p:ph type="title"/>
          </p:nvPr>
        </p:nvSpPr>
        <p:spPr>
          <a:xfrm>
            <a:off x="381000" y="838200"/>
            <a:ext cx="3352800" cy="121920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lang="en-US"/>
              <a:t>The Sequential File</a:t>
            </a:r>
            <a:endParaRPr/>
          </a:p>
        </p:txBody>
      </p:sp>
      <p:sp>
        <p:nvSpPr>
          <p:cNvPr id="498" name="Google Shape;498;p28"/>
          <p:cNvSpPr txBox="1"/>
          <p:nvPr>
            <p:ph idx="1" type="body"/>
          </p:nvPr>
        </p:nvSpPr>
        <p:spPr>
          <a:xfrm>
            <a:off x="533400" y="2133600"/>
            <a:ext cx="3657600" cy="54864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sz="2000"/>
              <a:t>The records are stored in key sequence: </a:t>
            </a:r>
            <a:endParaRPr sz="2000"/>
          </a:p>
          <a:p>
            <a:pPr indent="-282575" lvl="0" marL="282575" rtl="0" algn="l">
              <a:spcBef>
                <a:spcPts val="1800"/>
              </a:spcBef>
              <a:spcAft>
                <a:spcPts val="0"/>
              </a:spcAft>
              <a:buSzPts val="1500"/>
              <a:buChar char="■"/>
            </a:pPr>
            <a:r>
              <a:rPr lang="en-US" sz="2000"/>
              <a:t>alphabetical order for a text key, and </a:t>
            </a:r>
            <a:endParaRPr sz="2000"/>
          </a:p>
          <a:p>
            <a:pPr indent="-282575" lvl="0" marL="282575" rtl="0" algn="l">
              <a:spcBef>
                <a:spcPts val="1800"/>
              </a:spcBef>
              <a:spcAft>
                <a:spcPts val="0"/>
              </a:spcAft>
              <a:buSzPts val="1500"/>
              <a:buChar char="■"/>
            </a:pPr>
            <a:r>
              <a:rPr lang="en-US" sz="2000"/>
              <a:t>numerical order for a numerical key.</a:t>
            </a:r>
            <a:endParaRPr/>
          </a:p>
        </p:txBody>
      </p:sp>
      <p:pic>
        <p:nvPicPr>
          <p:cNvPr descr="Fig12_03b.gif" id="499" name="Google Shape;499;p28"/>
          <p:cNvPicPr preferRelativeResize="0"/>
          <p:nvPr/>
        </p:nvPicPr>
        <p:blipFill rotWithShape="1">
          <a:blip r:embed="rId3">
            <a:alphaModFix/>
          </a:blip>
          <a:srcRect b="0" l="0" r="0" t="0"/>
          <a:stretch/>
        </p:blipFill>
        <p:spPr>
          <a:xfrm>
            <a:off x="4191000" y="838200"/>
            <a:ext cx="4492625" cy="5486400"/>
          </a:xfrm>
          <a:prstGeom prst="rect">
            <a:avLst/>
          </a:prstGeom>
          <a:noFill/>
          <a:ln>
            <a:noFill/>
          </a:ln>
        </p:spPr>
      </p:pic>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29"/>
          <p:cNvSpPr txBox="1"/>
          <p:nvPr>
            <p:ph type="title"/>
          </p:nvPr>
        </p:nvSpPr>
        <p:spPr>
          <a:xfrm>
            <a:off x="381000" y="838200"/>
            <a:ext cx="3352800" cy="121920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lang="en-US"/>
              <a:t>The Sequential File</a:t>
            </a:r>
            <a:endParaRPr/>
          </a:p>
        </p:txBody>
      </p:sp>
      <p:sp>
        <p:nvSpPr>
          <p:cNvPr id="506" name="Google Shape;506;p29"/>
          <p:cNvSpPr txBox="1"/>
          <p:nvPr>
            <p:ph idx="1" type="body"/>
          </p:nvPr>
        </p:nvSpPr>
        <p:spPr>
          <a:xfrm>
            <a:off x="533400" y="2133600"/>
            <a:ext cx="3657600" cy="54864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sz="2000"/>
              <a:t>Typically used in batch applications if they involve the processing of all the records (e.g., a billing or payroll application).</a:t>
            </a:r>
            <a:endParaRPr sz="2000"/>
          </a:p>
          <a:p>
            <a:pPr indent="-282575" lvl="0" marL="282575" rtl="0" algn="l">
              <a:spcBef>
                <a:spcPts val="1800"/>
              </a:spcBef>
              <a:spcAft>
                <a:spcPts val="0"/>
              </a:spcAft>
              <a:buSzPts val="1500"/>
              <a:buChar char="■"/>
            </a:pPr>
            <a:r>
              <a:rPr lang="en-US" sz="2000"/>
              <a:t>Easily stored on tape as well as disk</a:t>
            </a:r>
            <a:endParaRPr/>
          </a:p>
        </p:txBody>
      </p:sp>
      <p:pic>
        <p:nvPicPr>
          <p:cNvPr descr="Fig12_03b.gif" id="507" name="Google Shape;507;p29"/>
          <p:cNvPicPr preferRelativeResize="0"/>
          <p:nvPr/>
        </p:nvPicPr>
        <p:blipFill rotWithShape="1">
          <a:blip r:embed="rId3">
            <a:alphaModFix/>
          </a:blip>
          <a:srcRect b="0" l="0" r="0" t="0"/>
          <a:stretch/>
        </p:blipFill>
        <p:spPr>
          <a:xfrm>
            <a:off x="4191000" y="838200"/>
            <a:ext cx="4492625" cy="5486400"/>
          </a:xfrm>
          <a:prstGeom prst="rect">
            <a:avLst/>
          </a:prstGeom>
          <a:noFill/>
          <a:ln>
            <a:noFill/>
          </a:ln>
        </p:spPr>
      </p:pic>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0"/>
          <p:cNvSpPr txBox="1"/>
          <p:nvPr>
            <p:ph type="title"/>
          </p:nvPr>
        </p:nvSpPr>
        <p:spPr>
          <a:xfrm>
            <a:off x="381000" y="752475"/>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Sequential File</a:t>
            </a:r>
            <a:endParaRPr/>
          </a:p>
        </p:txBody>
      </p:sp>
      <p:sp>
        <p:nvSpPr>
          <p:cNvPr id="514" name="Google Shape;514;p30"/>
          <p:cNvSpPr txBox="1"/>
          <p:nvPr>
            <p:ph idx="1" type="body"/>
          </p:nvPr>
        </p:nvSpPr>
        <p:spPr>
          <a:xfrm>
            <a:off x="533400" y="1905000"/>
            <a:ext cx="2971800" cy="4953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The indexed sequential file maintains the key characteristic of the sequential file:</a:t>
            </a:r>
            <a:endParaRPr/>
          </a:p>
          <a:p>
            <a:pPr indent="-282575" lvl="0" marL="282575" rtl="0" algn="l">
              <a:spcBef>
                <a:spcPts val="1800"/>
              </a:spcBef>
              <a:spcAft>
                <a:spcPts val="0"/>
              </a:spcAft>
              <a:buSzPts val="1350"/>
              <a:buChar char="■"/>
            </a:pPr>
            <a:r>
              <a:rPr lang="en-US"/>
              <a:t>Records are organized in sequence based on a key field</a:t>
            </a:r>
            <a:endParaRPr/>
          </a:p>
        </p:txBody>
      </p:sp>
      <p:pic>
        <p:nvPicPr>
          <p:cNvPr descr="Fig12_03c.gif" id="515" name="Google Shape;515;p30"/>
          <p:cNvPicPr preferRelativeResize="0"/>
          <p:nvPr/>
        </p:nvPicPr>
        <p:blipFill rotWithShape="1">
          <a:blip r:embed="rId3">
            <a:alphaModFix/>
          </a:blip>
          <a:srcRect b="0" l="0" r="0" t="0"/>
          <a:stretch/>
        </p:blipFill>
        <p:spPr>
          <a:xfrm>
            <a:off x="3581400" y="762000"/>
            <a:ext cx="5056188" cy="5600700"/>
          </a:xfrm>
          <a:prstGeom prst="rect">
            <a:avLst/>
          </a:prstGeom>
          <a:noFill/>
          <a:ln>
            <a:noFill/>
          </a:ln>
        </p:spPr>
      </p:pic>
    </p:spTree>
  </p:cSld>
  <p:clrMapOvr>
    <a:masterClrMapping/>
  </p:clrMapOvr>
  <p:transition spd="med">
    <p:wipe dir="d"/>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1"/>
          <p:cNvSpPr txBox="1"/>
          <p:nvPr>
            <p:ph type="title"/>
          </p:nvPr>
        </p:nvSpPr>
        <p:spPr>
          <a:xfrm>
            <a:off x="381000" y="752475"/>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Sequential File</a:t>
            </a:r>
            <a:endParaRPr/>
          </a:p>
        </p:txBody>
      </p:sp>
      <p:sp>
        <p:nvSpPr>
          <p:cNvPr id="522" name="Google Shape;522;p31"/>
          <p:cNvSpPr txBox="1"/>
          <p:nvPr>
            <p:ph idx="1" type="body"/>
          </p:nvPr>
        </p:nvSpPr>
        <p:spPr>
          <a:xfrm>
            <a:off x="533400" y="1905000"/>
            <a:ext cx="2971800" cy="4953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Two features are added:-</a:t>
            </a:r>
            <a:endParaRPr/>
          </a:p>
          <a:p>
            <a:pPr indent="-342900" lvl="0" marL="342900" rtl="0" algn="l">
              <a:spcBef>
                <a:spcPts val="1800"/>
              </a:spcBef>
              <a:spcAft>
                <a:spcPts val="0"/>
              </a:spcAft>
              <a:buSzPts val="1350"/>
              <a:buFont typeface="Lustria"/>
              <a:buAutoNum type="arabicParenR"/>
            </a:pPr>
            <a:r>
              <a:rPr lang="en-US"/>
              <a:t>Adds an index to the file to support random access</a:t>
            </a:r>
            <a:endParaRPr/>
          </a:p>
          <a:p>
            <a:pPr indent="-342900" lvl="0" marL="342900" rtl="0" algn="l">
              <a:spcBef>
                <a:spcPts val="1800"/>
              </a:spcBef>
              <a:spcAft>
                <a:spcPts val="0"/>
              </a:spcAft>
              <a:buSzPts val="1350"/>
              <a:buFont typeface="Lustria"/>
              <a:buAutoNum type="arabicParenR"/>
            </a:pPr>
            <a:r>
              <a:rPr lang="en-US"/>
              <a:t>An overflow file.</a:t>
            </a:r>
            <a:endParaRPr/>
          </a:p>
        </p:txBody>
      </p:sp>
      <p:pic>
        <p:nvPicPr>
          <p:cNvPr descr="Fig12_03c.gif" id="523" name="Google Shape;523;p31"/>
          <p:cNvPicPr preferRelativeResize="0"/>
          <p:nvPr/>
        </p:nvPicPr>
        <p:blipFill rotWithShape="1">
          <a:blip r:embed="rId3">
            <a:alphaModFix/>
          </a:blip>
          <a:srcRect b="0" l="0" r="0" t="0"/>
          <a:stretch/>
        </p:blipFill>
        <p:spPr>
          <a:xfrm>
            <a:off x="3581400" y="762000"/>
            <a:ext cx="5056188" cy="5600700"/>
          </a:xfrm>
          <a:prstGeom prst="rect">
            <a:avLst/>
          </a:prstGeom>
          <a:noFill/>
          <a:ln>
            <a:noFill/>
          </a:ln>
        </p:spPr>
      </p:pic>
    </p:spTree>
  </p:cSld>
  <p:clrMapOvr>
    <a:masterClrMapping/>
  </p:clrMapOvr>
  <p:transition spd="med">
    <p:wipe dir="d"/>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2"/>
          <p:cNvSpPr txBox="1"/>
          <p:nvPr>
            <p:ph type="title"/>
          </p:nvPr>
        </p:nvSpPr>
        <p:spPr>
          <a:xfrm>
            <a:off x="381000" y="752475"/>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Sequential File</a:t>
            </a:r>
            <a:endParaRPr/>
          </a:p>
        </p:txBody>
      </p:sp>
      <p:sp>
        <p:nvSpPr>
          <p:cNvPr id="530" name="Google Shape;530;p32"/>
          <p:cNvSpPr txBox="1"/>
          <p:nvPr>
            <p:ph idx="1" type="body"/>
          </p:nvPr>
        </p:nvSpPr>
        <p:spPr>
          <a:xfrm>
            <a:off x="533400" y="1905000"/>
            <a:ext cx="2971800" cy="4953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Each record in the index file consists of two fields: </a:t>
            </a:r>
            <a:endParaRPr/>
          </a:p>
          <a:p>
            <a:pPr indent="-342900" lvl="0" marL="342900" rtl="0" algn="l">
              <a:spcBef>
                <a:spcPts val="1800"/>
              </a:spcBef>
              <a:spcAft>
                <a:spcPts val="0"/>
              </a:spcAft>
              <a:buSzPts val="1350"/>
              <a:buFont typeface="Lustria"/>
              <a:buAutoNum type="arabicParenR"/>
            </a:pPr>
            <a:r>
              <a:rPr lang="en-US"/>
              <a:t>a key field, which is the same as the key field in the main file,</a:t>
            </a:r>
            <a:endParaRPr/>
          </a:p>
          <a:p>
            <a:pPr indent="-342900" lvl="0" marL="342900" rtl="0" algn="l">
              <a:spcBef>
                <a:spcPts val="1800"/>
              </a:spcBef>
              <a:spcAft>
                <a:spcPts val="0"/>
              </a:spcAft>
              <a:buSzPts val="1350"/>
              <a:buFont typeface="Lustria"/>
              <a:buAutoNum type="arabicParenR"/>
            </a:pPr>
            <a:r>
              <a:rPr lang="en-US"/>
              <a:t>and a pointer into the main file. </a:t>
            </a:r>
            <a:endParaRPr/>
          </a:p>
        </p:txBody>
      </p:sp>
      <p:pic>
        <p:nvPicPr>
          <p:cNvPr descr="Fig12_03c.gif" id="531" name="Google Shape;531;p32"/>
          <p:cNvPicPr preferRelativeResize="0"/>
          <p:nvPr/>
        </p:nvPicPr>
        <p:blipFill rotWithShape="1">
          <a:blip r:embed="rId3">
            <a:alphaModFix/>
          </a:blip>
          <a:srcRect b="0" l="0" r="0" t="0"/>
          <a:stretch/>
        </p:blipFill>
        <p:spPr>
          <a:xfrm>
            <a:off x="3581400" y="762000"/>
            <a:ext cx="5056188" cy="5600700"/>
          </a:xfrm>
          <a:prstGeom prst="rect">
            <a:avLst/>
          </a:prstGeom>
          <a:noFill/>
          <a:ln>
            <a:noFill/>
          </a:ln>
        </p:spPr>
      </p:pic>
    </p:spTree>
  </p:cSld>
  <p:clrMapOvr>
    <a:masterClrMapping/>
  </p:clrMapOvr>
  <p:transition spd="med">
    <p:wipe dir="d"/>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3"/>
          <p:cNvSpPr txBox="1"/>
          <p:nvPr>
            <p:ph type="title"/>
          </p:nvPr>
        </p:nvSpPr>
        <p:spPr>
          <a:xfrm>
            <a:off x="381000" y="752475"/>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Sequential File</a:t>
            </a:r>
            <a:endParaRPr/>
          </a:p>
        </p:txBody>
      </p:sp>
      <p:sp>
        <p:nvSpPr>
          <p:cNvPr id="538" name="Google Shape;538;p33"/>
          <p:cNvSpPr txBox="1"/>
          <p:nvPr>
            <p:ph idx="1" type="body"/>
          </p:nvPr>
        </p:nvSpPr>
        <p:spPr>
          <a:xfrm>
            <a:off x="533400" y="1905000"/>
            <a:ext cx="2971800" cy="4953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To find a specific field, the index is searched to find the highest key value that is equal to or precedes the desired key value. </a:t>
            </a:r>
            <a:endParaRPr/>
          </a:p>
          <a:p>
            <a:pPr indent="-282575" lvl="0" marL="282575" rtl="0" algn="l">
              <a:spcBef>
                <a:spcPts val="1800"/>
              </a:spcBef>
              <a:spcAft>
                <a:spcPts val="0"/>
              </a:spcAft>
              <a:buSzPts val="1350"/>
              <a:buChar char="■"/>
            </a:pPr>
            <a:r>
              <a:rPr lang="en-US"/>
              <a:t>The search continues in the main file at the location indicated by the pointer.</a:t>
            </a:r>
            <a:endParaRPr/>
          </a:p>
        </p:txBody>
      </p:sp>
      <p:pic>
        <p:nvPicPr>
          <p:cNvPr descr="Fig12_03c.gif" id="539" name="Google Shape;539;p33"/>
          <p:cNvPicPr preferRelativeResize="0"/>
          <p:nvPr/>
        </p:nvPicPr>
        <p:blipFill rotWithShape="1">
          <a:blip r:embed="rId3">
            <a:alphaModFix/>
          </a:blip>
          <a:srcRect b="0" l="0" r="0" t="0"/>
          <a:stretch/>
        </p:blipFill>
        <p:spPr>
          <a:xfrm>
            <a:off x="3581400" y="762000"/>
            <a:ext cx="5056188" cy="5600700"/>
          </a:xfrm>
          <a:prstGeom prst="rect">
            <a:avLst/>
          </a:prstGeom>
          <a:noFill/>
          <a:ln>
            <a:noFill/>
          </a:ln>
        </p:spPr>
      </p:pic>
    </p:spTree>
  </p:cSld>
  <p:clrMapOvr>
    <a:masterClrMapping/>
  </p:clrMapOvr>
  <p:transition spd="med">
    <p:wipe dir="d"/>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34"/>
          <p:cNvSpPr txBox="1"/>
          <p:nvPr>
            <p:ph type="title"/>
          </p:nvPr>
        </p:nvSpPr>
        <p:spPr>
          <a:xfrm>
            <a:off x="381000" y="752475"/>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Sequential File</a:t>
            </a:r>
            <a:endParaRPr/>
          </a:p>
        </p:txBody>
      </p:sp>
      <p:sp>
        <p:nvSpPr>
          <p:cNvPr id="546" name="Google Shape;546;p34"/>
          <p:cNvSpPr txBox="1"/>
          <p:nvPr>
            <p:ph idx="1" type="body"/>
          </p:nvPr>
        </p:nvSpPr>
        <p:spPr>
          <a:xfrm>
            <a:off x="304800" y="1905000"/>
            <a:ext cx="3505200" cy="4953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Consider a sequential file with 1 million records. </a:t>
            </a:r>
            <a:endParaRPr/>
          </a:p>
          <a:p>
            <a:pPr indent="-282575" lvl="0" marL="282575" rtl="0" algn="l">
              <a:spcBef>
                <a:spcPts val="1800"/>
              </a:spcBef>
              <a:spcAft>
                <a:spcPts val="0"/>
              </a:spcAft>
              <a:buSzPts val="1350"/>
              <a:buChar char="■"/>
            </a:pPr>
            <a:r>
              <a:rPr lang="en-US"/>
              <a:t>To search for a particular key value will require on average one half million record accesses. </a:t>
            </a:r>
            <a:endParaRPr/>
          </a:p>
          <a:p>
            <a:pPr indent="-282575" lvl="0" marL="282575" rtl="0" algn="l">
              <a:spcBef>
                <a:spcPts val="1800"/>
              </a:spcBef>
              <a:spcAft>
                <a:spcPts val="0"/>
              </a:spcAft>
              <a:buSzPts val="1350"/>
              <a:buChar char="■"/>
            </a:pPr>
            <a:r>
              <a:rPr lang="en-US"/>
              <a:t>Now suppose that an index containing 1,000 entries is constructed, with the keys in the index more or less evenly distributed over the main file. </a:t>
            </a:r>
            <a:endParaRPr/>
          </a:p>
          <a:p>
            <a:pPr indent="-282575" lvl="0" marL="282575" rtl="0" algn="l">
              <a:spcBef>
                <a:spcPts val="1800"/>
              </a:spcBef>
              <a:spcAft>
                <a:spcPts val="0"/>
              </a:spcAft>
              <a:buSzPts val="1350"/>
              <a:buChar char="■"/>
            </a:pPr>
            <a:r>
              <a:rPr b="1" lang="en-US"/>
              <a:t>The average search length is reduced.</a:t>
            </a:r>
            <a:endParaRPr b="1"/>
          </a:p>
        </p:txBody>
      </p:sp>
      <p:pic>
        <p:nvPicPr>
          <p:cNvPr descr="Fig12_03c.gif" id="547" name="Google Shape;547;p34"/>
          <p:cNvPicPr preferRelativeResize="0"/>
          <p:nvPr/>
        </p:nvPicPr>
        <p:blipFill rotWithShape="1">
          <a:blip r:embed="rId3">
            <a:alphaModFix/>
          </a:blip>
          <a:srcRect b="0" l="0" r="0" t="0"/>
          <a:stretch/>
        </p:blipFill>
        <p:spPr>
          <a:xfrm>
            <a:off x="3581400" y="762000"/>
            <a:ext cx="5056188" cy="5600700"/>
          </a:xfrm>
          <a:prstGeom prst="rect">
            <a:avLst/>
          </a:prstGeom>
          <a:noFill/>
          <a:ln>
            <a:noFill/>
          </a:ln>
        </p:spPr>
      </p:pic>
    </p:spTree>
  </p:cSld>
  <p:clrMapOvr>
    <a:masterClrMapping/>
  </p:clrMapOvr>
  <p:transition spd="med">
    <p:wipe dir="d"/>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5"/>
          <p:cNvSpPr txBox="1"/>
          <p:nvPr>
            <p:ph type="title"/>
          </p:nvPr>
        </p:nvSpPr>
        <p:spPr>
          <a:xfrm>
            <a:off x="381000" y="752475"/>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Sequential File</a:t>
            </a:r>
            <a:endParaRPr/>
          </a:p>
        </p:txBody>
      </p:sp>
      <p:sp>
        <p:nvSpPr>
          <p:cNvPr id="554" name="Google Shape;554;p35"/>
          <p:cNvSpPr txBox="1"/>
          <p:nvPr>
            <p:ph idx="1" type="body"/>
          </p:nvPr>
        </p:nvSpPr>
        <p:spPr>
          <a:xfrm>
            <a:off x="533400" y="1905000"/>
            <a:ext cx="2971800" cy="4953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Additions to the file are handled in the following manner: </a:t>
            </a:r>
            <a:endParaRPr/>
          </a:p>
          <a:p>
            <a:pPr indent="-282575" lvl="0" marL="282575" rtl="0" algn="l">
              <a:spcBef>
                <a:spcPts val="1800"/>
              </a:spcBef>
              <a:spcAft>
                <a:spcPts val="0"/>
              </a:spcAft>
              <a:buSzPts val="1350"/>
              <a:buChar char="■"/>
            </a:pPr>
            <a:r>
              <a:rPr lang="en-US"/>
              <a:t>Each record in the main file contains an additional field not visible to the application, which is a pointer to the overflow file. </a:t>
            </a:r>
            <a:endParaRPr/>
          </a:p>
        </p:txBody>
      </p:sp>
      <p:pic>
        <p:nvPicPr>
          <p:cNvPr descr="Fig12_03c.gif" id="555" name="Google Shape;555;p35"/>
          <p:cNvPicPr preferRelativeResize="0"/>
          <p:nvPr/>
        </p:nvPicPr>
        <p:blipFill rotWithShape="1">
          <a:blip r:embed="rId3">
            <a:alphaModFix/>
          </a:blip>
          <a:srcRect b="0" l="0" r="0" t="0"/>
          <a:stretch/>
        </p:blipFill>
        <p:spPr>
          <a:xfrm>
            <a:off x="3581400" y="762000"/>
            <a:ext cx="5056188" cy="5600700"/>
          </a:xfrm>
          <a:prstGeom prst="rect">
            <a:avLst/>
          </a:prstGeom>
          <a:noFill/>
          <a:ln>
            <a:noFill/>
          </a:ln>
        </p:spPr>
      </p:pic>
    </p:spTree>
  </p:cSld>
  <p:clrMapOvr>
    <a:masterClrMapping/>
  </p:clrMapOvr>
  <p:transition spd="med">
    <p:wipe dir="d"/>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36"/>
          <p:cNvSpPr txBox="1"/>
          <p:nvPr>
            <p:ph type="title"/>
          </p:nvPr>
        </p:nvSpPr>
        <p:spPr>
          <a:xfrm>
            <a:off x="381000" y="752475"/>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Sequential File</a:t>
            </a:r>
            <a:endParaRPr/>
          </a:p>
        </p:txBody>
      </p:sp>
      <p:sp>
        <p:nvSpPr>
          <p:cNvPr id="562" name="Google Shape;562;p36"/>
          <p:cNvSpPr txBox="1"/>
          <p:nvPr>
            <p:ph idx="1" type="body"/>
          </p:nvPr>
        </p:nvSpPr>
        <p:spPr>
          <a:xfrm>
            <a:off x="533400" y="1905000"/>
            <a:ext cx="2971800" cy="4953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When a new record is to be inserted into the file, </a:t>
            </a:r>
            <a:endParaRPr/>
          </a:p>
          <a:p>
            <a:pPr indent="-282575" lvl="0" marL="282575" rtl="0" algn="l">
              <a:spcBef>
                <a:spcPts val="1800"/>
              </a:spcBef>
              <a:spcAft>
                <a:spcPts val="0"/>
              </a:spcAft>
              <a:buSzPts val="1350"/>
              <a:buChar char="■"/>
            </a:pPr>
            <a:r>
              <a:rPr lang="en-US"/>
              <a:t>it is added to the overflow file. </a:t>
            </a:r>
            <a:endParaRPr/>
          </a:p>
          <a:p>
            <a:pPr indent="-282575" lvl="0" marL="282575" rtl="0" algn="l">
              <a:spcBef>
                <a:spcPts val="1800"/>
              </a:spcBef>
              <a:spcAft>
                <a:spcPts val="0"/>
              </a:spcAft>
              <a:buSzPts val="1350"/>
              <a:buChar char="■"/>
            </a:pPr>
            <a:r>
              <a:rPr lang="en-US"/>
              <a:t>The record in the main file that immediately precedes the new record in logical sequence is updated to contain a pointer to the new record in the overflow file.</a:t>
            </a:r>
            <a:endParaRPr/>
          </a:p>
        </p:txBody>
      </p:sp>
      <p:pic>
        <p:nvPicPr>
          <p:cNvPr descr="Fig12_03c.gif" id="563" name="Google Shape;563;p36"/>
          <p:cNvPicPr preferRelativeResize="0"/>
          <p:nvPr/>
        </p:nvPicPr>
        <p:blipFill rotWithShape="1">
          <a:blip r:embed="rId3">
            <a:alphaModFix/>
          </a:blip>
          <a:srcRect b="0" l="0" r="0" t="0"/>
          <a:stretch/>
        </p:blipFill>
        <p:spPr>
          <a:xfrm>
            <a:off x="3581400" y="762000"/>
            <a:ext cx="5056188" cy="5600700"/>
          </a:xfrm>
          <a:prstGeom prst="rect">
            <a:avLst/>
          </a:prstGeom>
          <a:noFill/>
          <a:ln>
            <a:noFill/>
          </a:ln>
        </p:spPr>
      </p:pic>
    </p:spTree>
  </p:cSld>
  <p:clrMapOvr>
    <a:masterClrMapping/>
  </p:clrMapOvr>
  <p:transition spd="med">
    <p:wipe dir="d"/>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37"/>
          <p:cNvSpPr txBox="1"/>
          <p:nvPr>
            <p:ph type="title"/>
          </p:nvPr>
        </p:nvSpPr>
        <p:spPr>
          <a:xfrm>
            <a:off x="609600" y="609600"/>
            <a:ext cx="3657600" cy="990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File</a:t>
            </a:r>
            <a:endParaRPr/>
          </a:p>
        </p:txBody>
      </p:sp>
      <p:sp>
        <p:nvSpPr>
          <p:cNvPr id="570" name="Google Shape;570;p37"/>
          <p:cNvSpPr txBox="1"/>
          <p:nvPr>
            <p:ph idx="1" type="body"/>
          </p:nvPr>
        </p:nvSpPr>
        <p:spPr>
          <a:xfrm>
            <a:off x="533400" y="1905000"/>
            <a:ext cx="3657600" cy="4572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b="1" lang="en-US"/>
              <a:t>A structure is needed that employs multiple indexes, one for each type of field that may be the subject of a search.</a:t>
            </a:r>
            <a:endParaRPr/>
          </a:p>
          <a:p>
            <a:pPr indent="-282575" lvl="0" marL="282575" rtl="0" algn="l">
              <a:spcBef>
                <a:spcPts val="1800"/>
              </a:spcBef>
              <a:spcAft>
                <a:spcPts val="0"/>
              </a:spcAft>
              <a:buSzPts val="1350"/>
              <a:buChar char="■"/>
            </a:pPr>
            <a:r>
              <a:rPr lang="en-US">
                <a:solidFill>
                  <a:srgbClr val="262626"/>
                </a:solidFill>
              </a:rPr>
              <a:t>Records are accessed only through their indexes </a:t>
            </a:r>
            <a:endParaRPr/>
          </a:p>
          <a:p>
            <a:pPr indent="-282575" lvl="0" marL="282575" rtl="0" algn="l">
              <a:spcBef>
                <a:spcPts val="1800"/>
              </a:spcBef>
              <a:spcAft>
                <a:spcPts val="0"/>
              </a:spcAft>
              <a:buSzPts val="1350"/>
              <a:buChar char="■"/>
            </a:pPr>
            <a:r>
              <a:rPr b="1" lang="en-US"/>
              <a:t>The result  is that there is now no restriction on the placement of records </a:t>
            </a:r>
            <a:r>
              <a:rPr lang="en-US"/>
              <a:t>as long as a pointer in at least one index refers to that record. </a:t>
            </a:r>
            <a:endParaRPr/>
          </a:p>
          <a:p>
            <a:pPr indent="-282575" lvl="0" marL="282575" rtl="0" algn="l">
              <a:spcBef>
                <a:spcPts val="1800"/>
              </a:spcBef>
              <a:spcAft>
                <a:spcPts val="0"/>
              </a:spcAft>
              <a:buSzPts val="1350"/>
              <a:buChar char="■"/>
            </a:pPr>
            <a:r>
              <a:rPr b="1" lang="en-US">
                <a:solidFill>
                  <a:srgbClr val="262626"/>
                </a:solidFill>
              </a:rPr>
              <a:t>Variable-length records can be employed</a:t>
            </a:r>
            <a:endParaRPr/>
          </a:p>
        </p:txBody>
      </p:sp>
      <p:pic>
        <p:nvPicPr>
          <p:cNvPr descr="Fig12_03d.gif" id="571" name="Google Shape;571;p37"/>
          <p:cNvPicPr preferRelativeResize="0"/>
          <p:nvPr/>
        </p:nvPicPr>
        <p:blipFill rotWithShape="1">
          <a:blip r:embed="rId3">
            <a:alphaModFix/>
          </a:blip>
          <a:srcRect b="0" l="0" r="0" t="0"/>
          <a:stretch/>
        </p:blipFill>
        <p:spPr>
          <a:xfrm>
            <a:off x="4343400" y="685800"/>
            <a:ext cx="4267200" cy="5754688"/>
          </a:xfrm>
          <a:prstGeom prst="rect">
            <a:avLst/>
          </a:prstGeom>
          <a:noFill/>
          <a:ln>
            <a:noFill/>
          </a:ln>
        </p:spPr>
      </p:pic>
    </p:spTree>
  </p:cSld>
  <p:clrMapOvr>
    <a:masterClrMapping/>
  </p:clrMapOvr>
  <p:transition spd="med">
    <p:wipe dir="l"/>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38"/>
          <p:cNvSpPr txBox="1"/>
          <p:nvPr>
            <p:ph type="title"/>
          </p:nvPr>
        </p:nvSpPr>
        <p:spPr>
          <a:xfrm>
            <a:off x="609600" y="609600"/>
            <a:ext cx="3657600" cy="990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File</a:t>
            </a:r>
            <a:endParaRPr/>
          </a:p>
        </p:txBody>
      </p:sp>
      <p:sp>
        <p:nvSpPr>
          <p:cNvPr id="578" name="Google Shape;578;p38"/>
          <p:cNvSpPr txBox="1"/>
          <p:nvPr>
            <p:ph idx="1" type="body"/>
          </p:nvPr>
        </p:nvSpPr>
        <p:spPr>
          <a:xfrm>
            <a:off x="533400" y="1905000"/>
            <a:ext cx="3657600" cy="4572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Two types of indexes are used. </a:t>
            </a:r>
            <a:endParaRPr/>
          </a:p>
          <a:p>
            <a:pPr indent="-282575" lvl="0" marL="282575" rtl="0" algn="l">
              <a:spcBef>
                <a:spcPts val="1800"/>
              </a:spcBef>
              <a:spcAft>
                <a:spcPts val="0"/>
              </a:spcAft>
              <a:buSzPts val="1350"/>
              <a:buChar char="■"/>
            </a:pPr>
            <a:r>
              <a:rPr b="1" lang="en-US"/>
              <a:t>An exhaustive index contains  one entry for every record in the main file. </a:t>
            </a:r>
            <a:endParaRPr b="1"/>
          </a:p>
          <a:p>
            <a:pPr indent="-282575" lvl="0" marL="282575" rtl="0" algn="l">
              <a:spcBef>
                <a:spcPts val="1800"/>
              </a:spcBef>
              <a:spcAft>
                <a:spcPts val="0"/>
              </a:spcAft>
              <a:buSzPts val="1350"/>
              <a:buChar char="■"/>
            </a:pPr>
            <a:r>
              <a:rPr b="1" lang="en-US"/>
              <a:t>A partial index contains entries  to records where the field of interest exists.</a:t>
            </a:r>
            <a:endParaRPr/>
          </a:p>
          <a:p>
            <a:pPr indent="-282575" lvl="0" marL="282575" rtl="0" algn="l">
              <a:spcBef>
                <a:spcPts val="1800"/>
              </a:spcBef>
              <a:spcAft>
                <a:spcPts val="0"/>
              </a:spcAft>
              <a:buSzPts val="1350"/>
              <a:buChar char="■"/>
            </a:pPr>
            <a:r>
              <a:rPr lang="en-US"/>
              <a:t>With variable-length records, </a:t>
            </a:r>
            <a:r>
              <a:rPr b="1" lang="en-US"/>
              <a:t>some records will not contain all fields.</a:t>
            </a:r>
            <a:endParaRPr/>
          </a:p>
          <a:p>
            <a:pPr indent="-196850" lvl="0" marL="282575" rtl="0" algn="l">
              <a:spcBef>
                <a:spcPts val="1800"/>
              </a:spcBef>
              <a:spcAft>
                <a:spcPts val="0"/>
              </a:spcAft>
              <a:buSzPts val="1350"/>
              <a:buNone/>
            </a:pPr>
            <a:r>
              <a:t/>
            </a:r>
            <a:endParaRPr/>
          </a:p>
        </p:txBody>
      </p:sp>
      <p:pic>
        <p:nvPicPr>
          <p:cNvPr descr="Fig12_03d.gif" id="579" name="Google Shape;579;p38"/>
          <p:cNvPicPr preferRelativeResize="0"/>
          <p:nvPr/>
        </p:nvPicPr>
        <p:blipFill rotWithShape="1">
          <a:blip r:embed="rId3">
            <a:alphaModFix/>
          </a:blip>
          <a:srcRect b="0" l="0" r="0" t="0"/>
          <a:stretch/>
        </p:blipFill>
        <p:spPr>
          <a:xfrm>
            <a:off x="4343400" y="685800"/>
            <a:ext cx="4267200" cy="5754688"/>
          </a:xfrm>
          <a:prstGeom prst="rect">
            <a:avLst/>
          </a:prstGeom>
          <a:noFill/>
          <a:ln>
            <a:noFill/>
          </a:ln>
        </p:spPr>
      </p:pic>
    </p:spTree>
  </p:cSld>
  <p:clrMapOvr>
    <a:masterClrMapping/>
  </p:clrMapOvr>
  <p:transition spd="med">
    <p:wipe dir="l"/>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39"/>
          <p:cNvSpPr txBox="1"/>
          <p:nvPr>
            <p:ph type="title"/>
          </p:nvPr>
        </p:nvSpPr>
        <p:spPr>
          <a:xfrm>
            <a:off x="609600" y="609600"/>
            <a:ext cx="3657600" cy="990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File</a:t>
            </a:r>
            <a:endParaRPr/>
          </a:p>
        </p:txBody>
      </p:sp>
      <p:sp>
        <p:nvSpPr>
          <p:cNvPr id="586" name="Google Shape;586;p39"/>
          <p:cNvSpPr txBox="1"/>
          <p:nvPr>
            <p:ph idx="1" type="body"/>
          </p:nvPr>
        </p:nvSpPr>
        <p:spPr>
          <a:xfrm>
            <a:off x="533400" y="1905000"/>
            <a:ext cx="3657600" cy="4572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Indexed files are used mostly in </a:t>
            </a:r>
            <a:r>
              <a:rPr b="1" lang="en-US"/>
              <a:t>applications where timeliness is critical and where data are rarely processed exhaustively. </a:t>
            </a:r>
            <a:endParaRPr b="1"/>
          </a:p>
          <a:p>
            <a:pPr indent="-282575" lvl="0" marL="282575" rtl="0" algn="l">
              <a:spcBef>
                <a:spcPts val="1800"/>
              </a:spcBef>
              <a:spcAft>
                <a:spcPts val="0"/>
              </a:spcAft>
              <a:buSzPts val="1350"/>
              <a:buChar char="■"/>
            </a:pPr>
            <a:r>
              <a:rPr lang="en-US"/>
              <a:t>Examples are airline reservation systems and inventory control systems.</a:t>
            </a:r>
            <a:endParaRPr/>
          </a:p>
        </p:txBody>
      </p:sp>
      <p:pic>
        <p:nvPicPr>
          <p:cNvPr descr="Fig12_03d.gif" id="587" name="Google Shape;587;p39"/>
          <p:cNvPicPr preferRelativeResize="0"/>
          <p:nvPr/>
        </p:nvPicPr>
        <p:blipFill rotWithShape="1">
          <a:blip r:embed="rId3">
            <a:alphaModFix/>
          </a:blip>
          <a:srcRect b="0" l="0" r="0" t="0"/>
          <a:stretch/>
        </p:blipFill>
        <p:spPr>
          <a:xfrm>
            <a:off x="4343400" y="685800"/>
            <a:ext cx="4267200" cy="5754688"/>
          </a:xfrm>
          <a:prstGeom prst="rect">
            <a:avLst/>
          </a:prstGeom>
          <a:noFill/>
          <a:ln>
            <a:noFill/>
          </a:ln>
        </p:spPr>
      </p:pic>
    </p:spTree>
  </p:cSld>
  <p:clrMapOvr>
    <a:masterClrMapping/>
  </p:clrMapOvr>
  <p:transition spd="med">
    <p:wipe dir="l"/>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0"/>
          <p:cNvSpPr txBox="1"/>
          <p:nvPr>
            <p:ph type="title"/>
          </p:nvPr>
        </p:nvSpPr>
        <p:spPr>
          <a:xfrm>
            <a:off x="609600" y="609600"/>
            <a:ext cx="3657600" cy="990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Indexed File</a:t>
            </a:r>
            <a:endParaRPr/>
          </a:p>
        </p:txBody>
      </p:sp>
      <p:sp>
        <p:nvSpPr>
          <p:cNvPr id="594" name="Google Shape;594;p40"/>
          <p:cNvSpPr txBox="1"/>
          <p:nvPr>
            <p:ph idx="1" type="body"/>
          </p:nvPr>
        </p:nvSpPr>
        <p:spPr>
          <a:xfrm>
            <a:off x="533400" y="1905000"/>
            <a:ext cx="3657600" cy="45720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When a new record is added to the main file, all of the index files must be updated.</a:t>
            </a:r>
            <a:endParaRPr>
              <a:solidFill>
                <a:srgbClr val="262626"/>
              </a:solidFill>
            </a:endParaRPr>
          </a:p>
          <a:p>
            <a:pPr indent="-282575" lvl="0" marL="282575" rtl="0" algn="l">
              <a:spcBef>
                <a:spcPts val="1800"/>
              </a:spcBef>
              <a:spcAft>
                <a:spcPts val="0"/>
              </a:spcAft>
              <a:buSzPts val="1350"/>
              <a:buChar char="■"/>
            </a:pPr>
            <a:r>
              <a:rPr lang="en-US">
                <a:solidFill>
                  <a:srgbClr val="262626"/>
                </a:solidFill>
              </a:rPr>
              <a:t>Used mostly in applications where timeliness of information is critical</a:t>
            </a:r>
            <a:endParaRPr/>
          </a:p>
          <a:p>
            <a:pPr indent="-282575" lvl="0" marL="282575" rtl="0" algn="l">
              <a:spcBef>
                <a:spcPts val="1800"/>
              </a:spcBef>
              <a:spcAft>
                <a:spcPts val="0"/>
              </a:spcAft>
              <a:buSzPts val="1350"/>
              <a:buChar char="■"/>
            </a:pPr>
            <a:r>
              <a:rPr lang="en-US">
                <a:solidFill>
                  <a:srgbClr val="262626"/>
                </a:solidFill>
              </a:rPr>
              <a:t>Examples would be airline reservation systems and inventory control systems</a:t>
            </a:r>
            <a:endParaRPr>
              <a:solidFill>
                <a:srgbClr val="262626"/>
              </a:solidFill>
            </a:endParaRPr>
          </a:p>
        </p:txBody>
      </p:sp>
      <p:pic>
        <p:nvPicPr>
          <p:cNvPr descr="Fig12_03d.gif" id="595" name="Google Shape;595;p40"/>
          <p:cNvPicPr preferRelativeResize="0"/>
          <p:nvPr/>
        </p:nvPicPr>
        <p:blipFill rotWithShape="1">
          <a:blip r:embed="rId3">
            <a:alphaModFix/>
          </a:blip>
          <a:srcRect b="0" l="0" r="0" t="0"/>
          <a:stretch/>
        </p:blipFill>
        <p:spPr>
          <a:xfrm>
            <a:off x="4343400" y="685800"/>
            <a:ext cx="4267200" cy="5754688"/>
          </a:xfrm>
          <a:prstGeom prst="rect">
            <a:avLst/>
          </a:prstGeom>
          <a:noFill/>
          <a:ln>
            <a:noFill/>
          </a:ln>
        </p:spPr>
      </p:pic>
    </p:spTree>
  </p:cSld>
  <p:clrMapOvr>
    <a:masterClrMapping/>
  </p:clrMapOvr>
  <p:transition spd="med">
    <p:wipe dir="l"/>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41"/>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Direct or Hashed File</a:t>
            </a:r>
            <a:endParaRPr/>
          </a:p>
        </p:txBody>
      </p:sp>
      <p:sp>
        <p:nvSpPr>
          <p:cNvPr id="602" name="Google Shape;602;p41"/>
          <p:cNvSpPr txBox="1"/>
          <p:nvPr>
            <p:ph idx="4294967295" type="body"/>
          </p:nvPr>
        </p:nvSpPr>
        <p:spPr>
          <a:xfrm>
            <a:off x="457200" y="2057400"/>
            <a:ext cx="5181600" cy="42672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The direct file makes use of hashing on the key value.</a:t>
            </a:r>
            <a:endParaRPr/>
          </a:p>
          <a:p>
            <a:pPr indent="-187325" lvl="0" marL="282575" rtl="0" algn="l">
              <a:spcBef>
                <a:spcPts val="1800"/>
              </a:spcBef>
              <a:spcAft>
                <a:spcPts val="0"/>
              </a:spcAft>
              <a:buSzPts val="1500"/>
              <a:buNone/>
            </a:pPr>
            <a:r>
              <a:t/>
            </a:r>
            <a:endParaRPr sz="2000"/>
          </a:p>
          <a:p>
            <a:pPr indent="-282575" lvl="0" marL="282575" rtl="0" algn="l">
              <a:spcBef>
                <a:spcPts val="1800"/>
              </a:spcBef>
              <a:spcAft>
                <a:spcPts val="0"/>
              </a:spcAft>
              <a:buSzPts val="1500"/>
              <a:buChar char="■"/>
            </a:pPr>
            <a:r>
              <a:rPr lang="en-US"/>
              <a:t>No concept of sequential ordering here.</a:t>
            </a:r>
            <a:endParaRPr sz="2000"/>
          </a:p>
        </p:txBody>
      </p:sp>
      <p:grpSp>
        <p:nvGrpSpPr>
          <p:cNvPr id="603" name="Google Shape;603;p41"/>
          <p:cNvGrpSpPr/>
          <p:nvPr/>
        </p:nvGrpSpPr>
        <p:grpSpPr>
          <a:xfrm>
            <a:off x="5638800" y="3353490"/>
            <a:ext cx="2819400" cy="2437710"/>
            <a:chOff x="0" y="690"/>
            <a:chExt cx="2819400" cy="2437710"/>
          </a:xfrm>
        </p:grpSpPr>
        <p:sp>
          <p:nvSpPr>
            <p:cNvPr id="604" name="Google Shape;604;p41"/>
            <p:cNvSpPr/>
            <p:nvPr/>
          </p:nvSpPr>
          <p:spPr>
            <a:xfrm>
              <a:off x="0" y="690"/>
              <a:ext cx="2819400" cy="691200"/>
            </a:xfrm>
            <a:prstGeom prst="rect">
              <a:avLst/>
            </a:prstGeom>
            <a:solidFill>
              <a:schemeClr val="accen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1"/>
            <p:cNvSpPr txBox="1"/>
            <p:nvPr/>
          </p:nvSpPr>
          <p:spPr>
            <a:xfrm>
              <a:off x="0" y="690"/>
              <a:ext cx="2819400" cy="69120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None/>
              </a:pPr>
              <a:r>
                <a:rPr lang="en-US" sz="2400">
                  <a:solidFill>
                    <a:schemeClr val="dk1"/>
                  </a:solidFill>
                  <a:latin typeface="Arial"/>
                  <a:ea typeface="Arial"/>
                  <a:cs typeface="Arial"/>
                  <a:sym typeface="Arial"/>
                </a:rPr>
                <a:t>Examples are: </a:t>
              </a:r>
              <a:endParaRPr sz="2400">
                <a:solidFill>
                  <a:schemeClr val="dk1"/>
                </a:solidFill>
                <a:latin typeface="Arial"/>
                <a:ea typeface="Arial"/>
                <a:cs typeface="Arial"/>
                <a:sym typeface="Arial"/>
              </a:endParaRPr>
            </a:p>
          </p:txBody>
        </p:sp>
        <p:sp>
          <p:nvSpPr>
            <p:cNvPr id="606" name="Google Shape;606;p41"/>
            <p:cNvSpPr/>
            <p:nvPr/>
          </p:nvSpPr>
          <p:spPr>
            <a:xfrm>
              <a:off x="0" y="692580"/>
              <a:ext cx="2819400" cy="1745820"/>
            </a:xfrm>
            <a:prstGeom prst="rect">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1"/>
            <p:cNvSpPr txBox="1"/>
            <p:nvPr/>
          </p:nvSpPr>
          <p:spPr>
            <a:xfrm>
              <a:off x="0" y="692580"/>
              <a:ext cx="2819400" cy="1745820"/>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directories </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pricing tables</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schedules</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name lists</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Direct or Hashed File</a:t>
            </a:r>
            <a:endParaRPr/>
          </a:p>
        </p:txBody>
      </p:sp>
      <p:sp>
        <p:nvSpPr>
          <p:cNvPr id="614" name="Google Shape;614;p42"/>
          <p:cNvSpPr txBox="1"/>
          <p:nvPr>
            <p:ph idx="4294967295" type="body"/>
          </p:nvPr>
        </p:nvSpPr>
        <p:spPr>
          <a:xfrm>
            <a:off x="457200" y="2057400"/>
            <a:ext cx="5181600" cy="42672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Often used where:</a:t>
            </a:r>
            <a:endParaRPr/>
          </a:p>
          <a:p>
            <a:pPr indent="-295275" lvl="1" marL="927100" rtl="0" algn="l">
              <a:spcBef>
                <a:spcPts val="600"/>
              </a:spcBef>
              <a:spcAft>
                <a:spcPts val="0"/>
              </a:spcAft>
              <a:buSzPts val="1500"/>
              <a:buChar char="■"/>
            </a:pPr>
            <a:r>
              <a:rPr lang="en-US" sz="2000"/>
              <a:t>very rapid access is required</a:t>
            </a:r>
            <a:endParaRPr/>
          </a:p>
          <a:p>
            <a:pPr indent="-295275" lvl="1" marL="927100" rtl="0" algn="l">
              <a:spcBef>
                <a:spcPts val="600"/>
              </a:spcBef>
              <a:spcAft>
                <a:spcPts val="0"/>
              </a:spcAft>
              <a:buSzPts val="1500"/>
              <a:buChar char="■"/>
            </a:pPr>
            <a:r>
              <a:rPr lang="en-US" sz="2000"/>
              <a:t>fixed-length records are used</a:t>
            </a:r>
            <a:endParaRPr/>
          </a:p>
          <a:p>
            <a:pPr indent="-295275" lvl="1" marL="927100" rtl="0" algn="l">
              <a:spcBef>
                <a:spcPts val="600"/>
              </a:spcBef>
              <a:spcAft>
                <a:spcPts val="0"/>
              </a:spcAft>
              <a:buSzPts val="1500"/>
              <a:buChar char="■"/>
            </a:pPr>
            <a:r>
              <a:rPr lang="en-US" sz="2000"/>
              <a:t>records are always accessed            one at a time</a:t>
            </a:r>
            <a:endParaRPr/>
          </a:p>
          <a:p>
            <a:pPr indent="-282575" lvl="0" marL="631825" rtl="0" algn="l">
              <a:spcBef>
                <a:spcPts val="1800"/>
              </a:spcBef>
              <a:spcAft>
                <a:spcPts val="0"/>
              </a:spcAft>
              <a:buSzPts val="1500"/>
              <a:buChar char="■"/>
            </a:pPr>
            <a:r>
              <a:rPr lang="en-US"/>
              <a:t>Examples are directories, pricing tables, schedules, and name lists.</a:t>
            </a:r>
            <a:endParaRPr/>
          </a:p>
        </p:txBody>
      </p:sp>
      <p:grpSp>
        <p:nvGrpSpPr>
          <p:cNvPr id="615" name="Google Shape;615;p42"/>
          <p:cNvGrpSpPr/>
          <p:nvPr/>
        </p:nvGrpSpPr>
        <p:grpSpPr>
          <a:xfrm>
            <a:off x="5638800" y="3353490"/>
            <a:ext cx="2819400" cy="2437710"/>
            <a:chOff x="0" y="690"/>
            <a:chExt cx="2819400" cy="2437710"/>
          </a:xfrm>
        </p:grpSpPr>
        <p:sp>
          <p:nvSpPr>
            <p:cNvPr id="616" name="Google Shape;616;p42"/>
            <p:cNvSpPr/>
            <p:nvPr/>
          </p:nvSpPr>
          <p:spPr>
            <a:xfrm>
              <a:off x="0" y="690"/>
              <a:ext cx="2819400" cy="691200"/>
            </a:xfrm>
            <a:prstGeom prst="rect">
              <a:avLst/>
            </a:prstGeom>
            <a:solidFill>
              <a:schemeClr val="accent2"/>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2"/>
            <p:cNvSpPr txBox="1"/>
            <p:nvPr/>
          </p:nvSpPr>
          <p:spPr>
            <a:xfrm>
              <a:off x="0" y="690"/>
              <a:ext cx="2819400" cy="691200"/>
            </a:xfrm>
            <a:prstGeom prst="rect">
              <a:avLst/>
            </a:prstGeom>
            <a:noFill/>
            <a:ln>
              <a:noFill/>
            </a:ln>
          </p:spPr>
          <p:txBody>
            <a:bodyPr anchorCtr="0" anchor="ctr" bIns="97525" lIns="170675" spcFirstLastPara="1" rIns="170675" wrap="square" tIns="97525">
              <a:noAutofit/>
            </a:bodyPr>
            <a:lstStyle/>
            <a:p>
              <a:pPr indent="0" lvl="0" marL="0" marR="0" rtl="0" algn="ctr">
                <a:lnSpc>
                  <a:spcPct val="90000"/>
                </a:lnSpc>
                <a:spcBef>
                  <a:spcPts val="0"/>
                </a:spcBef>
                <a:spcAft>
                  <a:spcPts val="0"/>
                </a:spcAft>
                <a:buNone/>
              </a:pPr>
              <a:r>
                <a:rPr lang="en-US" sz="2400">
                  <a:solidFill>
                    <a:schemeClr val="dk1"/>
                  </a:solidFill>
                  <a:latin typeface="Arial"/>
                  <a:ea typeface="Arial"/>
                  <a:cs typeface="Arial"/>
                  <a:sym typeface="Arial"/>
                </a:rPr>
                <a:t>Examples are: </a:t>
              </a:r>
              <a:endParaRPr sz="2400">
                <a:solidFill>
                  <a:schemeClr val="dk1"/>
                </a:solidFill>
                <a:latin typeface="Arial"/>
                <a:ea typeface="Arial"/>
                <a:cs typeface="Arial"/>
                <a:sym typeface="Arial"/>
              </a:endParaRPr>
            </a:p>
          </p:txBody>
        </p:sp>
        <p:sp>
          <p:nvSpPr>
            <p:cNvPr id="618" name="Google Shape;618;p42"/>
            <p:cNvSpPr/>
            <p:nvPr/>
          </p:nvSpPr>
          <p:spPr>
            <a:xfrm>
              <a:off x="0" y="692580"/>
              <a:ext cx="2819400" cy="1745820"/>
            </a:xfrm>
            <a:prstGeom prst="rect">
              <a:avLst/>
            </a:prstGeom>
            <a:solidFill>
              <a:schemeClr val="lt1"/>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2"/>
            <p:cNvSpPr txBox="1"/>
            <p:nvPr/>
          </p:nvSpPr>
          <p:spPr>
            <a:xfrm>
              <a:off x="0" y="692580"/>
              <a:ext cx="2819400" cy="1745820"/>
            </a:xfrm>
            <a:prstGeom prst="rect">
              <a:avLst/>
            </a:prstGeom>
            <a:noFill/>
            <a:ln>
              <a:noFill/>
            </a:ln>
          </p:spPr>
          <p:txBody>
            <a:bodyPr anchorCtr="0" anchor="t" bIns="192000" lIns="128000" spcFirstLastPara="1" rIns="170675" wrap="square" tIns="128000">
              <a:noAutofit/>
            </a:bodyPr>
            <a:lstStyle/>
            <a:p>
              <a:pPr indent="-228600" lvl="1" marL="2286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directories </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pricing tables</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schedules</a:t>
              </a:r>
              <a:endParaRPr b="0" i="0" sz="2400" u="none" cap="none" strike="noStrike">
                <a:solidFill>
                  <a:schemeClr val="dk1"/>
                </a:solidFill>
                <a:latin typeface="Arial"/>
                <a:ea typeface="Arial"/>
                <a:cs typeface="Arial"/>
                <a:sym typeface="Arial"/>
              </a:endParaRPr>
            </a:p>
            <a:p>
              <a:pPr indent="-228600" lvl="1" marL="228600" marR="0" rtl="0" algn="l">
                <a:lnSpc>
                  <a:spcPct val="90000"/>
                </a:lnSpc>
                <a:spcBef>
                  <a:spcPts val="36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name lists</a:t>
              </a:r>
              <a:endParaRPr b="0" i="0" sz="2400" u="none" cap="none" strike="noStrike">
                <a:solidFill>
                  <a:schemeClr val="dk1"/>
                </a:solidFill>
                <a:latin typeface="Arial"/>
                <a:ea typeface="Arial"/>
                <a:cs typeface="Arial"/>
                <a:sym typeface="Arial"/>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3"/>
          <p:cNvSpPr txBox="1"/>
          <p:nvPr>
            <p:ph idx="4294967295" type="title"/>
          </p:nvPr>
        </p:nvSpPr>
        <p:spPr>
          <a:xfrm>
            <a:off x="381000" y="1219200"/>
            <a:ext cx="3276600" cy="2363788"/>
          </a:xfrm>
          <a:prstGeom prst="rect">
            <a:avLst/>
          </a:prstGeom>
          <a:noFill/>
          <a:ln>
            <a:noFill/>
          </a:ln>
        </p:spPr>
        <p:txBody>
          <a:bodyPr anchorCtr="0" anchor="b" bIns="0" lIns="91425" spcFirstLastPara="1" rIns="91425" wrap="square" tIns="0">
            <a:noAutofit/>
          </a:bodyPr>
          <a:lstStyle/>
          <a:p>
            <a:pPr indent="0" lvl="0" marL="0" rtl="0" algn="l">
              <a:lnSpc>
                <a:spcPct val="122727"/>
              </a:lnSpc>
              <a:spcBef>
                <a:spcPts val="0"/>
              </a:spcBef>
              <a:spcAft>
                <a:spcPts val="0"/>
              </a:spcAft>
              <a:buNone/>
            </a:pPr>
            <a:r>
              <a:rPr lang="en-US" sz="4400">
                <a:solidFill>
                  <a:srgbClr val="720000"/>
                </a:solidFill>
              </a:rPr>
              <a:t>File </a:t>
            </a:r>
            <a:br>
              <a:rPr lang="en-US" sz="4400">
                <a:solidFill>
                  <a:srgbClr val="720000"/>
                </a:solidFill>
              </a:rPr>
            </a:br>
            <a:r>
              <a:rPr lang="en-US" sz="4400">
                <a:solidFill>
                  <a:srgbClr val="720000"/>
                </a:solidFill>
              </a:rPr>
              <a:t>Directory </a:t>
            </a:r>
            <a:br>
              <a:rPr lang="en-US" sz="4400">
                <a:solidFill>
                  <a:srgbClr val="720000"/>
                </a:solidFill>
              </a:rPr>
            </a:br>
            <a:r>
              <a:rPr lang="en-US" sz="4400">
                <a:solidFill>
                  <a:srgbClr val="720000"/>
                </a:solidFill>
              </a:rPr>
              <a:t>Information</a:t>
            </a:r>
            <a:endParaRPr sz="4400">
              <a:solidFill>
                <a:srgbClr val="720000"/>
              </a:solidFill>
            </a:endParaRPr>
          </a:p>
        </p:txBody>
      </p:sp>
      <p:sp>
        <p:nvSpPr>
          <p:cNvPr id="626" name="Google Shape;626;p43"/>
          <p:cNvSpPr/>
          <p:nvPr/>
        </p:nvSpPr>
        <p:spPr>
          <a:xfrm>
            <a:off x="3733800" y="609600"/>
            <a:ext cx="4953000" cy="276225"/>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Table 12.2  Information Elements of a File Directory </a:t>
            </a:r>
            <a:endParaRPr/>
          </a:p>
        </p:txBody>
      </p:sp>
      <p:cxnSp>
        <p:nvCxnSpPr>
          <p:cNvPr id="627" name="Google Shape;627;p43"/>
          <p:cNvCxnSpPr/>
          <p:nvPr/>
        </p:nvCxnSpPr>
        <p:spPr>
          <a:xfrm flipH="1" rot="10800000">
            <a:off x="3733800" y="914400"/>
            <a:ext cx="4876800" cy="1588"/>
          </a:xfrm>
          <a:prstGeom prst="straightConnector1">
            <a:avLst/>
          </a:prstGeom>
          <a:noFill/>
          <a:ln cap="flat" cmpd="sng" w="25400">
            <a:solidFill>
              <a:schemeClr val="dk1"/>
            </a:solidFill>
            <a:prstDash val="solid"/>
            <a:round/>
            <a:headEnd len="sm" w="sm" type="none"/>
            <a:tailEnd len="sm" w="sm" type="none"/>
          </a:ln>
        </p:spPr>
      </p:cxnSp>
      <p:pic>
        <p:nvPicPr>
          <p:cNvPr id="628" name="Google Shape;628;p43"/>
          <p:cNvPicPr preferRelativeResize="0"/>
          <p:nvPr/>
        </p:nvPicPr>
        <p:blipFill rotWithShape="1">
          <a:blip r:embed="rId4">
            <a:alphaModFix/>
          </a:blip>
          <a:srcRect b="0" l="0" r="0" t="0"/>
          <a:stretch/>
        </p:blipFill>
        <p:spPr>
          <a:xfrm>
            <a:off x="1143000" y="4114800"/>
            <a:ext cx="1365250" cy="1724025"/>
          </a:xfrm>
          <a:prstGeom prst="rect">
            <a:avLst/>
          </a:prstGeom>
          <a:noFill/>
          <a:ln>
            <a:noFill/>
          </a:ln>
        </p:spPr>
      </p:pic>
      <p:sp>
        <p:nvSpPr>
          <p:cNvPr id="629" name="Google Shape;629;p43"/>
          <p:cNvSpPr/>
          <p:nvPr/>
        </p:nvSpPr>
        <p:spPr>
          <a:xfrm>
            <a:off x="3724275" y="1295400"/>
            <a:ext cx="4572000"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Associated with any file management system and collection of files is a file directory.</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directory contains information about the files, including attributes, location, and ownership.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directory is itself a file, accessible by various file management routines.</a:t>
            </a:r>
            <a:endParaRPr/>
          </a:p>
        </p:txBody>
      </p:sp>
    </p:spTree>
  </p:cSld>
  <p:clrMapOvr>
    <a:masterClrMapping/>
  </p:clrMapOvr>
  <p:transition spd="med">
    <p:wipe dir="d"/>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4"/>
          <p:cNvSpPr txBox="1"/>
          <p:nvPr>
            <p:ph idx="4294967295" type="title"/>
          </p:nvPr>
        </p:nvSpPr>
        <p:spPr>
          <a:xfrm>
            <a:off x="304800" y="9525"/>
            <a:ext cx="8610600" cy="457200"/>
          </a:xfrm>
          <a:prstGeom prst="rect">
            <a:avLst/>
          </a:prstGeom>
          <a:noFill/>
          <a:ln>
            <a:noFill/>
          </a:ln>
        </p:spPr>
        <p:txBody>
          <a:bodyPr anchorCtr="0" anchor="b" bIns="0" lIns="91425" spcFirstLastPara="1" rIns="91425" wrap="square" tIns="0">
            <a:noAutofit/>
          </a:bodyPr>
          <a:lstStyle/>
          <a:p>
            <a:pPr indent="0" lvl="0" marL="0" rtl="0" algn="l">
              <a:lnSpc>
                <a:spcPct val="192857"/>
              </a:lnSpc>
              <a:spcBef>
                <a:spcPts val="0"/>
              </a:spcBef>
              <a:spcAft>
                <a:spcPts val="0"/>
              </a:spcAft>
              <a:buNone/>
            </a:pPr>
            <a:r>
              <a:rPr lang="en-US" sz="2800">
                <a:solidFill>
                  <a:srgbClr val="720000"/>
                </a:solidFill>
              </a:rPr>
              <a:t>File Directory Information</a:t>
            </a:r>
            <a:endParaRPr sz="2800">
              <a:solidFill>
                <a:srgbClr val="720000"/>
              </a:solidFill>
            </a:endParaRPr>
          </a:p>
        </p:txBody>
      </p:sp>
      <p:graphicFrame>
        <p:nvGraphicFramePr>
          <p:cNvPr id="636" name="Google Shape;636;p44"/>
          <p:cNvGraphicFramePr/>
          <p:nvPr/>
        </p:nvGraphicFramePr>
        <p:xfrm>
          <a:off x="381000" y="685800"/>
          <a:ext cx="8534400" cy="5816600"/>
        </p:xfrm>
        <a:graphic>
          <a:graphicData uri="http://schemas.openxmlformats.org/presentationml/2006/ole">
            <mc:AlternateContent>
              <mc:Choice Requires="v">
                <p:oleObj r:id="rId4" imgH="5816600" imgW="8534400" progId="" spid="_x0000_s1">
                  <p:embed/>
                </p:oleObj>
              </mc:Choice>
              <mc:Fallback>
                <p:oleObj r:id="rId5" imgH="5816600" imgW="8534400" progId="">
                  <p:embed/>
                  <p:pic>
                    <p:nvPicPr>
                      <p:cNvPr id="636" name="Google Shape;636;p44"/>
                      <p:cNvPicPr preferRelativeResize="0"/>
                      <p:nvPr/>
                    </p:nvPicPr>
                    <p:blipFill rotWithShape="1">
                      <a:blip r:embed="rId6">
                        <a:alphaModFix/>
                      </a:blip>
                      <a:srcRect b="0" l="0" r="0" t="0"/>
                      <a:stretch/>
                    </p:blipFill>
                    <p:spPr>
                      <a:xfrm>
                        <a:off x="381000" y="685800"/>
                        <a:ext cx="8534400" cy="5816600"/>
                      </a:xfrm>
                      <a:prstGeom prst="rect">
                        <a:avLst/>
                      </a:prstGeom>
                      <a:noFill/>
                      <a:ln>
                        <a:noFill/>
                      </a:ln>
                    </p:spPr>
                  </p:pic>
                </p:oleObj>
              </mc:Fallback>
            </mc:AlternateContent>
          </a:graphicData>
        </a:graphic>
      </p:graphicFrame>
      <p:sp>
        <p:nvSpPr>
          <p:cNvPr id="637" name="Google Shape;637;p44"/>
          <p:cNvSpPr/>
          <p:nvPr/>
        </p:nvSpPr>
        <p:spPr>
          <a:xfrm>
            <a:off x="3733800" y="609600"/>
            <a:ext cx="4953000" cy="276225"/>
          </a:xfrm>
          <a:prstGeom prst="rect">
            <a:avLst/>
          </a:prstGeom>
          <a:blipFill rotWithShape="1">
            <a:blip r:embed="rId7">
              <a:alphaModFix/>
            </a:blip>
            <a:tile algn="tl" flip="none" tx="0" sx="100000" ty="0" sy="100000"/>
          </a:blip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Arial"/>
                <a:ea typeface="Arial"/>
                <a:cs typeface="Arial"/>
                <a:sym typeface="Arial"/>
              </a:rPr>
              <a:t>Table 12.2  Information Elements of a File Directory </a:t>
            </a:r>
            <a:endParaRPr/>
          </a:p>
        </p:txBody>
      </p:sp>
      <p:cxnSp>
        <p:nvCxnSpPr>
          <p:cNvPr id="638" name="Google Shape;638;p44"/>
          <p:cNvCxnSpPr/>
          <p:nvPr/>
        </p:nvCxnSpPr>
        <p:spPr>
          <a:xfrm flipH="1" rot="10800000">
            <a:off x="3733800" y="914400"/>
            <a:ext cx="4876800" cy="1588"/>
          </a:xfrm>
          <a:prstGeom prst="straightConnector1">
            <a:avLst/>
          </a:prstGeom>
          <a:noFill/>
          <a:ln cap="flat" cmpd="sng" w="25400">
            <a:solidFill>
              <a:schemeClr val="dk1"/>
            </a:solidFill>
            <a:prstDash val="solid"/>
            <a:round/>
            <a:headEnd len="sm" w="sm" type="none"/>
            <a:tailEnd len="sm" w="sm" type="none"/>
          </a:ln>
        </p:spPr>
      </p:cxnSp>
      <p:sp>
        <p:nvSpPr>
          <p:cNvPr id="639" name="Google Shape;639;p44"/>
          <p:cNvSpPr/>
          <p:nvPr/>
        </p:nvSpPr>
        <p:spPr>
          <a:xfrm>
            <a:off x="0" y="6477000"/>
            <a:ext cx="910590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Table-the information typically stored in the directory for each file in the system.</a:t>
            </a:r>
            <a:endParaRPr/>
          </a:p>
        </p:txBody>
      </p:sp>
    </p:spTree>
  </p:cSld>
  <p:clrMapOvr>
    <a:masterClrMapping/>
  </p:clrMapOvr>
  <p:transition spd="med">
    <p:wipe dir="d"/>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45"/>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l">
              <a:lnSpc>
                <a:spcPct val="103846"/>
              </a:lnSpc>
              <a:spcBef>
                <a:spcPts val="0"/>
              </a:spcBef>
              <a:spcAft>
                <a:spcPts val="0"/>
              </a:spcAft>
              <a:buNone/>
            </a:pPr>
            <a:r>
              <a:rPr lang="en-US"/>
              <a:t>Operations Performed </a:t>
            </a:r>
            <a:br>
              <a:rPr lang="en-US"/>
            </a:br>
            <a:r>
              <a:rPr lang="en-US"/>
              <a:t>on a Directory</a:t>
            </a:r>
            <a:endParaRPr/>
          </a:p>
        </p:txBody>
      </p:sp>
      <p:sp>
        <p:nvSpPr>
          <p:cNvPr id="646" name="Google Shape;646;p45"/>
          <p:cNvSpPr txBox="1"/>
          <p:nvPr>
            <p:ph idx="4294967295" type="body"/>
          </p:nvPr>
        </p:nvSpPr>
        <p:spPr>
          <a:xfrm>
            <a:off x="609600" y="2286000"/>
            <a:ext cx="7924800" cy="39624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To understand the requirements for a file structure, it is helpful to consider the types of operations that may be performed on the directory:</a:t>
            </a:r>
            <a:endParaRPr/>
          </a:p>
        </p:txBody>
      </p:sp>
      <p:pic>
        <p:nvPicPr>
          <p:cNvPr id="647" name="Google Shape;647;p45"/>
          <p:cNvPicPr preferRelativeResize="0"/>
          <p:nvPr/>
        </p:nvPicPr>
        <p:blipFill rotWithShape="1">
          <a:blip r:embed="rId3">
            <a:alphaModFix/>
          </a:blip>
          <a:srcRect b="0" l="0" r="0" t="0"/>
          <a:stretch/>
        </p:blipFill>
        <p:spPr>
          <a:xfrm>
            <a:off x="3657600" y="4419600"/>
            <a:ext cx="1738313" cy="2030349"/>
          </a:xfrm>
          <a:prstGeom prst="rect">
            <a:avLst/>
          </a:prstGeom>
          <a:noFill/>
          <a:ln>
            <a:noFill/>
          </a:ln>
        </p:spPr>
      </p:pic>
      <p:grpSp>
        <p:nvGrpSpPr>
          <p:cNvPr id="648" name="Google Shape;648;p45"/>
          <p:cNvGrpSpPr/>
          <p:nvPr/>
        </p:nvGrpSpPr>
        <p:grpSpPr>
          <a:xfrm>
            <a:off x="459190" y="3658877"/>
            <a:ext cx="8149418" cy="708645"/>
            <a:chOff x="1990" y="1677677"/>
            <a:chExt cx="8149418" cy="708645"/>
          </a:xfrm>
        </p:grpSpPr>
        <p:sp>
          <p:nvSpPr>
            <p:cNvPr id="649" name="Google Shape;649;p45"/>
            <p:cNvSpPr/>
            <p:nvPr/>
          </p:nvSpPr>
          <p:spPr>
            <a:xfrm>
              <a:off x="1990" y="1677677"/>
              <a:ext cx="1771612" cy="708645"/>
            </a:xfrm>
            <a:prstGeom prst="chevron">
              <a:avLst>
                <a:gd fmla="val 5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5"/>
            <p:cNvSpPr txBox="1"/>
            <p:nvPr/>
          </p:nvSpPr>
          <p:spPr>
            <a:xfrm>
              <a:off x="356313" y="1677677"/>
              <a:ext cx="1062967" cy="708645"/>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None/>
              </a:pPr>
              <a:r>
                <a:rPr lang="en-US" sz="1900">
                  <a:solidFill>
                    <a:schemeClr val="lt1"/>
                  </a:solidFill>
                  <a:latin typeface="Arial"/>
                  <a:ea typeface="Arial"/>
                  <a:cs typeface="Arial"/>
                  <a:sym typeface="Arial"/>
                </a:rPr>
                <a:t>Search</a:t>
              </a:r>
              <a:endParaRPr sz="1900">
                <a:solidFill>
                  <a:schemeClr val="lt1"/>
                </a:solidFill>
                <a:latin typeface="Arial"/>
                <a:ea typeface="Arial"/>
                <a:cs typeface="Arial"/>
                <a:sym typeface="Arial"/>
              </a:endParaRPr>
            </a:p>
          </p:txBody>
        </p:sp>
        <p:sp>
          <p:nvSpPr>
            <p:cNvPr id="651" name="Google Shape;651;p45"/>
            <p:cNvSpPr/>
            <p:nvPr/>
          </p:nvSpPr>
          <p:spPr>
            <a:xfrm>
              <a:off x="1596442" y="1677677"/>
              <a:ext cx="1771612" cy="708645"/>
            </a:xfrm>
            <a:prstGeom prst="chevron">
              <a:avLst>
                <a:gd fmla="val 5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5"/>
            <p:cNvSpPr txBox="1"/>
            <p:nvPr/>
          </p:nvSpPr>
          <p:spPr>
            <a:xfrm>
              <a:off x="1950765" y="1677677"/>
              <a:ext cx="1062967" cy="708645"/>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None/>
              </a:pPr>
              <a:r>
                <a:rPr lang="en-US" sz="1900">
                  <a:solidFill>
                    <a:schemeClr val="lt1"/>
                  </a:solidFill>
                  <a:latin typeface="Arial"/>
                  <a:ea typeface="Arial"/>
                  <a:cs typeface="Arial"/>
                  <a:sym typeface="Arial"/>
                </a:rPr>
                <a:t>Create files</a:t>
              </a:r>
              <a:endParaRPr sz="1900">
                <a:solidFill>
                  <a:schemeClr val="lt1"/>
                </a:solidFill>
                <a:latin typeface="Arial"/>
                <a:ea typeface="Arial"/>
                <a:cs typeface="Arial"/>
                <a:sym typeface="Arial"/>
              </a:endParaRPr>
            </a:p>
          </p:txBody>
        </p:sp>
        <p:sp>
          <p:nvSpPr>
            <p:cNvPr id="653" name="Google Shape;653;p45"/>
            <p:cNvSpPr/>
            <p:nvPr/>
          </p:nvSpPr>
          <p:spPr>
            <a:xfrm>
              <a:off x="3190893" y="1677677"/>
              <a:ext cx="1771612" cy="708645"/>
            </a:xfrm>
            <a:prstGeom prst="chevron">
              <a:avLst>
                <a:gd fmla="val 5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5"/>
            <p:cNvSpPr txBox="1"/>
            <p:nvPr/>
          </p:nvSpPr>
          <p:spPr>
            <a:xfrm>
              <a:off x="3545216" y="1677677"/>
              <a:ext cx="1062967" cy="708645"/>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None/>
              </a:pPr>
              <a:r>
                <a:rPr lang="en-US" sz="1900">
                  <a:solidFill>
                    <a:schemeClr val="lt1"/>
                  </a:solidFill>
                  <a:latin typeface="Arial"/>
                  <a:ea typeface="Arial"/>
                  <a:cs typeface="Arial"/>
                  <a:sym typeface="Arial"/>
                </a:rPr>
                <a:t>Delete files</a:t>
              </a:r>
              <a:endParaRPr sz="1900">
                <a:solidFill>
                  <a:schemeClr val="lt1"/>
                </a:solidFill>
                <a:latin typeface="Arial"/>
                <a:ea typeface="Arial"/>
                <a:cs typeface="Arial"/>
                <a:sym typeface="Arial"/>
              </a:endParaRPr>
            </a:p>
          </p:txBody>
        </p:sp>
        <p:sp>
          <p:nvSpPr>
            <p:cNvPr id="655" name="Google Shape;655;p45"/>
            <p:cNvSpPr/>
            <p:nvPr/>
          </p:nvSpPr>
          <p:spPr>
            <a:xfrm>
              <a:off x="4785345" y="1677677"/>
              <a:ext cx="1771612" cy="708645"/>
            </a:xfrm>
            <a:prstGeom prst="chevron">
              <a:avLst>
                <a:gd fmla="val 5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5"/>
            <p:cNvSpPr txBox="1"/>
            <p:nvPr/>
          </p:nvSpPr>
          <p:spPr>
            <a:xfrm>
              <a:off x="5139668" y="1677677"/>
              <a:ext cx="1062967" cy="708645"/>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None/>
              </a:pPr>
              <a:r>
                <a:rPr lang="en-US" sz="1900">
                  <a:solidFill>
                    <a:schemeClr val="lt1"/>
                  </a:solidFill>
                  <a:latin typeface="Arial"/>
                  <a:ea typeface="Arial"/>
                  <a:cs typeface="Arial"/>
                  <a:sym typeface="Arial"/>
                </a:rPr>
                <a:t>List directory</a:t>
              </a:r>
              <a:endParaRPr sz="1900">
                <a:solidFill>
                  <a:schemeClr val="lt1"/>
                </a:solidFill>
                <a:latin typeface="Arial"/>
                <a:ea typeface="Arial"/>
                <a:cs typeface="Arial"/>
                <a:sym typeface="Arial"/>
              </a:endParaRPr>
            </a:p>
          </p:txBody>
        </p:sp>
        <p:sp>
          <p:nvSpPr>
            <p:cNvPr id="657" name="Google Shape;657;p45"/>
            <p:cNvSpPr/>
            <p:nvPr/>
          </p:nvSpPr>
          <p:spPr>
            <a:xfrm>
              <a:off x="6379796" y="1677677"/>
              <a:ext cx="1771612" cy="708645"/>
            </a:xfrm>
            <a:prstGeom prst="chevron">
              <a:avLst>
                <a:gd fmla="val 5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5"/>
            <p:cNvSpPr txBox="1"/>
            <p:nvPr/>
          </p:nvSpPr>
          <p:spPr>
            <a:xfrm>
              <a:off x="6734119" y="1677677"/>
              <a:ext cx="1062967" cy="708645"/>
            </a:xfrm>
            <a:prstGeom prst="rect">
              <a:avLst/>
            </a:prstGeom>
            <a:noFill/>
            <a:ln>
              <a:noFill/>
            </a:ln>
          </p:spPr>
          <p:txBody>
            <a:bodyPr anchorCtr="0" anchor="ctr" bIns="25325" lIns="76000" spcFirstLastPara="1" rIns="25325" wrap="square" tIns="25325">
              <a:noAutofit/>
            </a:bodyPr>
            <a:lstStyle/>
            <a:p>
              <a:pPr indent="0" lvl="0" marL="0" marR="0" rtl="0" algn="ctr">
                <a:lnSpc>
                  <a:spcPct val="90000"/>
                </a:lnSpc>
                <a:spcBef>
                  <a:spcPts val="0"/>
                </a:spcBef>
                <a:spcAft>
                  <a:spcPts val="0"/>
                </a:spcAft>
                <a:buNone/>
              </a:pPr>
              <a:r>
                <a:rPr lang="en-US" sz="1900">
                  <a:solidFill>
                    <a:schemeClr val="lt1"/>
                  </a:solidFill>
                  <a:latin typeface="Arial"/>
                  <a:ea typeface="Arial"/>
                  <a:cs typeface="Arial"/>
                  <a:sym typeface="Arial"/>
                </a:rPr>
                <a:t>Update directory</a:t>
              </a:r>
              <a:endParaRPr sz="1900">
                <a:solidFill>
                  <a:schemeClr val="lt1"/>
                </a:solidFill>
                <a:latin typeface="Arial"/>
                <a:ea typeface="Arial"/>
                <a:cs typeface="Arial"/>
                <a:sym typeface="Aria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46"/>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l">
              <a:lnSpc>
                <a:spcPct val="103846"/>
              </a:lnSpc>
              <a:spcBef>
                <a:spcPts val="0"/>
              </a:spcBef>
              <a:spcAft>
                <a:spcPts val="0"/>
              </a:spcAft>
              <a:buNone/>
            </a:pPr>
            <a:r>
              <a:rPr lang="en-US"/>
              <a:t>Two-Level Scheme </a:t>
            </a:r>
            <a:endParaRPr/>
          </a:p>
        </p:txBody>
      </p:sp>
      <p:grpSp>
        <p:nvGrpSpPr>
          <p:cNvPr id="665" name="Google Shape;665;p46"/>
          <p:cNvGrpSpPr/>
          <p:nvPr/>
        </p:nvGrpSpPr>
        <p:grpSpPr>
          <a:xfrm>
            <a:off x="382108" y="2507170"/>
            <a:ext cx="8379783" cy="3672459"/>
            <a:chOff x="1108" y="373570"/>
            <a:chExt cx="8379783" cy="3672459"/>
          </a:xfrm>
        </p:grpSpPr>
        <p:sp>
          <p:nvSpPr>
            <p:cNvPr id="666" name="Google Shape;666;p46"/>
            <p:cNvSpPr/>
            <p:nvPr/>
          </p:nvSpPr>
          <p:spPr>
            <a:xfrm>
              <a:off x="1108" y="495535"/>
              <a:ext cx="2562076" cy="1537245"/>
            </a:xfrm>
            <a:prstGeom prst="rect">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6"/>
            <p:cNvSpPr txBox="1"/>
            <p:nvPr/>
          </p:nvSpPr>
          <p:spPr>
            <a:xfrm>
              <a:off x="1108" y="495535"/>
              <a:ext cx="2562076" cy="1537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None/>
              </a:pPr>
              <a:r>
                <a:rPr lang="en-US" sz="2200">
                  <a:solidFill>
                    <a:schemeClr val="lt1"/>
                  </a:solidFill>
                  <a:latin typeface="Arial"/>
                  <a:ea typeface="Arial"/>
                  <a:cs typeface="Arial"/>
                  <a:sym typeface="Arial"/>
                </a:rPr>
                <a:t>There is one directory for each user and a master directory</a:t>
              </a:r>
              <a:endParaRPr sz="2200">
                <a:solidFill>
                  <a:schemeClr val="lt1"/>
                </a:solidFill>
                <a:latin typeface="Arial"/>
                <a:ea typeface="Arial"/>
                <a:cs typeface="Arial"/>
                <a:sym typeface="Arial"/>
              </a:endParaRPr>
            </a:p>
          </p:txBody>
        </p:sp>
        <p:sp>
          <p:nvSpPr>
            <p:cNvPr id="668" name="Google Shape;668;p46"/>
            <p:cNvSpPr/>
            <p:nvPr/>
          </p:nvSpPr>
          <p:spPr>
            <a:xfrm>
              <a:off x="2819392" y="373570"/>
              <a:ext cx="2743214" cy="1781175"/>
            </a:xfrm>
            <a:prstGeom prst="rect">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6"/>
            <p:cNvSpPr txBox="1"/>
            <p:nvPr/>
          </p:nvSpPr>
          <p:spPr>
            <a:xfrm>
              <a:off x="2819392" y="373570"/>
              <a:ext cx="2743214" cy="178117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None/>
              </a:pPr>
              <a:r>
                <a:rPr lang="en-US" sz="2200">
                  <a:solidFill>
                    <a:schemeClr val="lt1"/>
                  </a:solidFill>
                  <a:latin typeface="Arial"/>
                  <a:ea typeface="Arial"/>
                  <a:cs typeface="Arial"/>
                  <a:sym typeface="Arial"/>
                </a:rPr>
                <a:t>Master directory has an entry for each user directory providing address and access control information</a:t>
              </a:r>
              <a:endParaRPr sz="2200">
                <a:solidFill>
                  <a:schemeClr val="lt1"/>
                </a:solidFill>
                <a:latin typeface="Arial"/>
                <a:ea typeface="Arial"/>
                <a:cs typeface="Arial"/>
                <a:sym typeface="Arial"/>
              </a:endParaRPr>
            </a:p>
          </p:txBody>
        </p:sp>
        <p:sp>
          <p:nvSpPr>
            <p:cNvPr id="670" name="Google Shape;670;p46"/>
            <p:cNvSpPr/>
            <p:nvPr/>
          </p:nvSpPr>
          <p:spPr>
            <a:xfrm>
              <a:off x="5818815" y="495535"/>
              <a:ext cx="2562076" cy="1537245"/>
            </a:xfrm>
            <a:prstGeom prst="rect">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6"/>
            <p:cNvSpPr txBox="1"/>
            <p:nvPr/>
          </p:nvSpPr>
          <p:spPr>
            <a:xfrm>
              <a:off x="5818815" y="495535"/>
              <a:ext cx="2562076" cy="1537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None/>
              </a:pPr>
              <a:r>
                <a:rPr lang="en-US" sz="2200">
                  <a:solidFill>
                    <a:schemeClr val="lt1"/>
                  </a:solidFill>
                  <a:latin typeface="Arial"/>
                  <a:ea typeface="Arial"/>
                  <a:cs typeface="Arial"/>
                  <a:sym typeface="Arial"/>
                </a:rPr>
                <a:t>Each user directory is a simple list of the files of that user</a:t>
              </a:r>
              <a:endParaRPr sz="2200">
                <a:solidFill>
                  <a:schemeClr val="lt1"/>
                </a:solidFill>
                <a:latin typeface="Arial"/>
                <a:ea typeface="Arial"/>
                <a:cs typeface="Arial"/>
                <a:sym typeface="Arial"/>
              </a:endParaRPr>
            </a:p>
          </p:txBody>
        </p:sp>
        <p:sp>
          <p:nvSpPr>
            <p:cNvPr id="672" name="Google Shape;672;p46"/>
            <p:cNvSpPr/>
            <p:nvPr/>
          </p:nvSpPr>
          <p:spPr>
            <a:xfrm>
              <a:off x="1209678" y="2410953"/>
              <a:ext cx="2846236" cy="1635076"/>
            </a:xfrm>
            <a:prstGeom prst="rect">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6"/>
            <p:cNvSpPr txBox="1"/>
            <p:nvPr/>
          </p:nvSpPr>
          <p:spPr>
            <a:xfrm>
              <a:off x="1209678" y="2410953"/>
              <a:ext cx="2846236" cy="1635076"/>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None/>
              </a:pPr>
              <a:r>
                <a:rPr lang="en-US" sz="2200">
                  <a:solidFill>
                    <a:schemeClr val="lt1"/>
                  </a:solidFill>
                  <a:latin typeface="Arial"/>
                  <a:ea typeface="Arial"/>
                  <a:cs typeface="Arial"/>
                  <a:sym typeface="Arial"/>
                </a:rPr>
                <a:t>Names must be unique only within the collection of files of a single user</a:t>
              </a:r>
              <a:endParaRPr sz="2200">
                <a:solidFill>
                  <a:schemeClr val="lt1"/>
                </a:solidFill>
                <a:latin typeface="Arial"/>
                <a:ea typeface="Arial"/>
                <a:cs typeface="Arial"/>
                <a:sym typeface="Arial"/>
              </a:endParaRPr>
            </a:p>
          </p:txBody>
        </p:sp>
        <p:sp>
          <p:nvSpPr>
            <p:cNvPr id="674" name="Google Shape;674;p46"/>
            <p:cNvSpPr/>
            <p:nvPr/>
          </p:nvSpPr>
          <p:spPr>
            <a:xfrm>
              <a:off x="4312122" y="2410953"/>
              <a:ext cx="2860199" cy="1635076"/>
            </a:xfrm>
            <a:prstGeom prst="rect">
              <a:avLst/>
            </a:prstGeom>
            <a:solidFill>
              <a:srgbClr val="72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6"/>
            <p:cNvSpPr txBox="1"/>
            <p:nvPr/>
          </p:nvSpPr>
          <p:spPr>
            <a:xfrm>
              <a:off x="4312122" y="2410953"/>
              <a:ext cx="2860199" cy="1635076"/>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None/>
              </a:pPr>
              <a:r>
                <a:rPr lang="en-US" sz="2200">
                  <a:solidFill>
                    <a:schemeClr val="lt1"/>
                  </a:solidFill>
                  <a:latin typeface="Arial"/>
                  <a:ea typeface="Arial"/>
                  <a:cs typeface="Arial"/>
                  <a:sym typeface="Arial"/>
                </a:rPr>
                <a:t>File system can easily enforce access restriction on directories</a:t>
              </a:r>
              <a:endParaRPr sz="2200">
                <a:solidFill>
                  <a:schemeClr val="lt1"/>
                </a:solidFill>
                <a:latin typeface="Arial"/>
                <a:ea typeface="Arial"/>
                <a:cs typeface="Arial"/>
                <a:sym typeface="Arial"/>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47"/>
          <p:cNvSpPr txBox="1"/>
          <p:nvPr>
            <p:ph type="title"/>
          </p:nvPr>
        </p:nvSpPr>
        <p:spPr>
          <a:xfrm>
            <a:off x="457200" y="838200"/>
            <a:ext cx="2362200" cy="1981200"/>
          </a:xfrm>
          <a:prstGeom prst="rect">
            <a:avLst/>
          </a:prstGeom>
          <a:noFill/>
          <a:ln>
            <a:noFill/>
          </a:ln>
        </p:spPr>
        <p:txBody>
          <a:bodyPr anchorCtr="0" anchor="b" bIns="0" lIns="91425" spcFirstLastPara="1" rIns="91425" wrap="square" tIns="0">
            <a:noAutofit/>
          </a:bodyPr>
          <a:lstStyle/>
          <a:p>
            <a:pPr indent="0" lvl="0" marL="0" rtl="0" algn="l">
              <a:lnSpc>
                <a:spcPct val="216000"/>
              </a:lnSpc>
              <a:spcBef>
                <a:spcPts val="0"/>
              </a:spcBef>
              <a:spcAft>
                <a:spcPts val="0"/>
              </a:spcAft>
              <a:buNone/>
            </a:pPr>
            <a:r>
              <a:rPr lang="en-US" sz="2500"/>
              <a:t>Figure 12.4</a:t>
            </a:r>
            <a:br>
              <a:rPr lang="en-US" sz="2500"/>
            </a:br>
            <a:r>
              <a:rPr lang="en-US" sz="2500"/>
              <a:t>Tree-Structured Directory</a:t>
            </a:r>
            <a:endParaRPr/>
          </a:p>
        </p:txBody>
      </p:sp>
      <p:sp>
        <p:nvSpPr>
          <p:cNvPr id="682" name="Google Shape;682;p47"/>
          <p:cNvSpPr txBox="1"/>
          <p:nvPr>
            <p:ph idx="1" type="body"/>
          </p:nvPr>
        </p:nvSpPr>
        <p:spPr>
          <a:xfrm>
            <a:off x="457200" y="3200400"/>
            <a:ext cx="2209800" cy="3048000"/>
          </a:xfrm>
          <a:prstGeom prst="rect">
            <a:avLst/>
          </a:prstGeom>
          <a:noFill/>
          <a:ln>
            <a:noFill/>
          </a:ln>
        </p:spPr>
        <p:txBody>
          <a:bodyPr anchorCtr="0" anchor="t" bIns="45700" lIns="91425" spcFirstLastPara="1" rIns="91425" wrap="square" tIns="45700">
            <a:normAutofit lnSpcReduction="10000"/>
          </a:bodyPr>
          <a:lstStyle/>
          <a:p>
            <a:pPr indent="-282575" lvl="0" marL="282575" rtl="0" algn="l">
              <a:spcBef>
                <a:spcPts val="0"/>
              </a:spcBef>
              <a:spcAft>
                <a:spcPts val="0"/>
              </a:spcAft>
              <a:buSzPts val="1350"/>
              <a:buChar char="■"/>
            </a:pPr>
            <a:r>
              <a:rPr lang="en-US">
                <a:solidFill>
                  <a:srgbClr val="262626"/>
                </a:solidFill>
              </a:rPr>
              <a:t>Master directory with user directories underneath it</a:t>
            </a:r>
            <a:endParaRPr/>
          </a:p>
          <a:p>
            <a:pPr indent="-282575" lvl="0" marL="282575" rtl="0" algn="l">
              <a:spcBef>
                <a:spcPts val="1800"/>
              </a:spcBef>
              <a:spcAft>
                <a:spcPts val="0"/>
              </a:spcAft>
              <a:buSzPts val="1350"/>
              <a:buChar char="■"/>
            </a:pPr>
            <a:r>
              <a:rPr lang="en-US">
                <a:solidFill>
                  <a:srgbClr val="262626"/>
                </a:solidFill>
              </a:rPr>
              <a:t>Each user directory may have subdirectories and files as entries</a:t>
            </a:r>
            <a:endParaRPr/>
          </a:p>
          <a:p>
            <a:pPr indent="-196850" lvl="0" marL="282575" rtl="0" algn="l">
              <a:spcBef>
                <a:spcPts val="1800"/>
              </a:spcBef>
              <a:spcAft>
                <a:spcPts val="0"/>
              </a:spcAft>
              <a:buSzPts val="1350"/>
              <a:buNone/>
            </a:pPr>
            <a:r>
              <a:t/>
            </a:r>
            <a:endParaRPr>
              <a:solidFill>
                <a:srgbClr val="262626"/>
              </a:solidFill>
            </a:endParaRPr>
          </a:p>
        </p:txBody>
      </p:sp>
      <p:pic>
        <p:nvPicPr>
          <p:cNvPr descr="Fig12_04.gif" id="683" name="Google Shape;683;p47"/>
          <p:cNvPicPr preferRelativeResize="0"/>
          <p:nvPr/>
        </p:nvPicPr>
        <p:blipFill rotWithShape="1">
          <a:blip r:embed="rId3">
            <a:alphaModFix/>
          </a:blip>
          <a:srcRect b="0" l="0" r="0" t="0"/>
          <a:stretch/>
        </p:blipFill>
        <p:spPr>
          <a:xfrm>
            <a:off x="2895600" y="762000"/>
            <a:ext cx="5727700" cy="5486400"/>
          </a:xfrm>
          <a:prstGeom prst="rect">
            <a:avLst/>
          </a:prstGeom>
          <a:noFill/>
          <a:ln>
            <a:noFill/>
          </a:ln>
        </p:spPr>
      </p:pic>
      <p:sp>
        <p:nvSpPr>
          <p:cNvPr id="684" name="Google Shape;684;p47"/>
          <p:cNvSpPr txBox="1"/>
          <p:nvPr/>
        </p:nvSpPr>
        <p:spPr>
          <a:xfrm>
            <a:off x="3810000" y="5867400"/>
            <a:ext cx="3810000" cy="293688"/>
          </a:xfrm>
          <a:prstGeom prst="rect">
            <a:avLst/>
          </a:prstGeom>
          <a:solidFill>
            <a:schemeClr val="lt1"/>
          </a:solidFill>
          <a:ln cap="flat" cmpd="sng" w="9525">
            <a:solidFill>
              <a:schemeClr val="l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48"/>
          <p:cNvSpPr txBox="1"/>
          <p:nvPr>
            <p:ph type="title"/>
          </p:nvPr>
        </p:nvSpPr>
        <p:spPr>
          <a:xfrm>
            <a:off x="381000" y="0"/>
            <a:ext cx="8077200" cy="533400"/>
          </a:xfrm>
          <a:prstGeom prst="rect">
            <a:avLst/>
          </a:prstGeom>
          <a:noFill/>
          <a:ln>
            <a:noFill/>
          </a:ln>
        </p:spPr>
        <p:txBody>
          <a:bodyPr anchorCtr="0" anchor="b" bIns="0" lIns="91425" spcFirstLastPara="1" rIns="91425" wrap="square" tIns="0">
            <a:noAutofit/>
          </a:bodyPr>
          <a:lstStyle/>
          <a:p>
            <a:pPr indent="0" lvl="0" marL="0" rtl="0" algn="l">
              <a:lnSpc>
                <a:spcPct val="192857"/>
              </a:lnSpc>
              <a:spcBef>
                <a:spcPts val="0"/>
              </a:spcBef>
              <a:spcAft>
                <a:spcPts val="0"/>
              </a:spcAft>
              <a:buNone/>
            </a:pPr>
            <a:r>
              <a:rPr lang="en-US" sz="2800"/>
              <a:t>Example of Tree-Structured Directory</a:t>
            </a:r>
            <a:endParaRPr/>
          </a:p>
        </p:txBody>
      </p:sp>
      <p:pic>
        <p:nvPicPr>
          <p:cNvPr descr="Fig12_05.gif" id="691" name="Google Shape;691;p48"/>
          <p:cNvPicPr preferRelativeResize="0"/>
          <p:nvPr>
            <p:ph idx="1" type="body"/>
          </p:nvPr>
        </p:nvPicPr>
        <p:blipFill rotWithShape="1">
          <a:blip r:embed="rId3">
            <a:alphaModFix/>
          </a:blip>
          <a:srcRect b="9377" l="0" r="0" t="-789"/>
          <a:stretch/>
        </p:blipFill>
        <p:spPr>
          <a:xfrm>
            <a:off x="457200" y="533400"/>
            <a:ext cx="8180388" cy="6172199"/>
          </a:xfrm>
          <a:prstGeom prst="rect">
            <a:avLst/>
          </a:prstGeom>
          <a:solidFill>
            <a:schemeClr val="lt1"/>
          </a:solidFill>
          <a:ln>
            <a:noFill/>
          </a:ln>
        </p:spPr>
      </p:pic>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49"/>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 Sharing</a:t>
            </a:r>
            <a:endParaRPr/>
          </a:p>
        </p:txBody>
      </p:sp>
      <p:grpSp>
        <p:nvGrpSpPr>
          <p:cNvPr id="698" name="Google Shape;698;p49"/>
          <p:cNvGrpSpPr/>
          <p:nvPr/>
        </p:nvGrpSpPr>
        <p:grpSpPr>
          <a:xfrm>
            <a:off x="1672009" y="2288643"/>
            <a:ext cx="5647580" cy="4033313"/>
            <a:chOff x="1138609" y="2643"/>
            <a:chExt cx="5647580" cy="4033313"/>
          </a:xfrm>
        </p:grpSpPr>
        <p:sp>
          <p:nvSpPr>
            <p:cNvPr id="699" name="Google Shape;699;p49"/>
            <p:cNvSpPr/>
            <p:nvPr/>
          </p:nvSpPr>
          <p:spPr>
            <a:xfrm>
              <a:off x="3827933" y="1539591"/>
              <a:ext cx="1479128" cy="703930"/>
            </a:xfrm>
            <a:custGeom>
              <a:rect b="b" l="l" r="r" t="t"/>
              <a:pathLst>
                <a:path extrusionOk="0" h="120000" w="120000">
                  <a:moveTo>
                    <a:pt x="0" y="0"/>
                  </a:moveTo>
                  <a:lnTo>
                    <a:pt x="0" y="81777"/>
                  </a:lnTo>
                  <a:lnTo>
                    <a:pt x="120000" y="81777"/>
                  </a:lnTo>
                  <a:lnTo>
                    <a:pt x="120000" y="120000"/>
                  </a:lnTo>
                </a:path>
              </a:pathLst>
            </a:custGeom>
            <a:noFill/>
            <a:ln cap="flat" cmpd="sng" w="15875">
              <a:solidFill>
                <a:schemeClr val="accent6"/>
              </a:solidFill>
              <a:prstDash val="solid"/>
              <a:round/>
              <a:headEnd len="sm" w="sm" type="none"/>
              <a:tailEnd len="sm" w="sm" type="none"/>
            </a:ln>
          </p:spPr>
        </p:sp>
        <p:sp>
          <p:nvSpPr>
            <p:cNvPr id="700" name="Google Shape;700;p49"/>
            <p:cNvSpPr/>
            <p:nvPr/>
          </p:nvSpPr>
          <p:spPr>
            <a:xfrm>
              <a:off x="2348805" y="1539591"/>
              <a:ext cx="1479128" cy="703930"/>
            </a:xfrm>
            <a:custGeom>
              <a:rect b="b" l="l" r="r" t="t"/>
              <a:pathLst>
                <a:path extrusionOk="0" h="120000" w="120000">
                  <a:moveTo>
                    <a:pt x="120000" y="0"/>
                  </a:moveTo>
                  <a:lnTo>
                    <a:pt x="120000" y="81777"/>
                  </a:lnTo>
                  <a:lnTo>
                    <a:pt x="0" y="81777"/>
                  </a:lnTo>
                  <a:lnTo>
                    <a:pt x="0" y="120000"/>
                  </a:lnTo>
                </a:path>
              </a:pathLst>
            </a:custGeom>
            <a:noFill/>
            <a:ln cap="flat" cmpd="sng" w="15875">
              <a:solidFill>
                <a:schemeClr val="accent6"/>
              </a:solidFill>
              <a:prstDash val="solid"/>
              <a:round/>
              <a:headEnd len="sm" w="sm" type="none"/>
              <a:tailEnd len="sm" w="sm" type="none"/>
            </a:ln>
          </p:spPr>
        </p:sp>
        <p:sp>
          <p:nvSpPr>
            <p:cNvPr id="701" name="Google Shape;701;p49"/>
            <p:cNvSpPr/>
            <p:nvPr/>
          </p:nvSpPr>
          <p:spPr>
            <a:xfrm>
              <a:off x="2617737" y="2643"/>
              <a:ext cx="2420391" cy="1536948"/>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9"/>
            <p:cNvSpPr/>
            <p:nvPr/>
          </p:nvSpPr>
          <p:spPr>
            <a:xfrm>
              <a:off x="2886670" y="258128"/>
              <a:ext cx="2420391" cy="1536948"/>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9"/>
            <p:cNvSpPr txBox="1"/>
            <p:nvPr/>
          </p:nvSpPr>
          <p:spPr>
            <a:xfrm>
              <a:off x="2931686" y="303144"/>
              <a:ext cx="2330359" cy="1446916"/>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None/>
              </a:pPr>
              <a:r>
                <a:rPr lang="en-US" sz="2000">
                  <a:solidFill>
                    <a:schemeClr val="dk1"/>
                  </a:solidFill>
                  <a:latin typeface="Arial"/>
                  <a:ea typeface="Arial"/>
                  <a:cs typeface="Arial"/>
                  <a:sym typeface="Arial"/>
                </a:rPr>
                <a:t>Two issues arise when allowing files to be shared among a number of users:</a:t>
              </a:r>
              <a:endParaRPr sz="2000">
                <a:solidFill>
                  <a:schemeClr val="dk1"/>
                </a:solidFill>
                <a:latin typeface="Arial"/>
                <a:ea typeface="Arial"/>
                <a:cs typeface="Arial"/>
                <a:sym typeface="Arial"/>
              </a:endParaRPr>
            </a:p>
          </p:txBody>
        </p:sp>
        <p:sp>
          <p:nvSpPr>
            <p:cNvPr id="704" name="Google Shape;704;p49"/>
            <p:cNvSpPr/>
            <p:nvPr/>
          </p:nvSpPr>
          <p:spPr>
            <a:xfrm>
              <a:off x="1138609" y="2243522"/>
              <a:ext cx="2420391" cy="1536948"/>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9"/>
            <p:cNvSpPr/>
            <p:nvPr/>
          </p:nvSpPr>
          <p:spPr>
            <a:xfrm>
              <a:off x="1407541" y="2499008"/>
              <a:ext cx="2420391" cy="1536948"/>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9"/>
            <p:cNvSpPr txBox="1"/>
            <p:nvPr/>
          </p:nvSpPr>
          <p:spPr>
            <a:xfrm>
              <a:off x="1452557" y="2544024"/>
              <a:ext cx="2330359" cy="1446916"/>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None/>
              </a:pPr>
              <a:r>
                <a:rPr lang="en-US" sz="2300">
                  <a:solidFill>
                    <a:schemeClr val="dk1"/>
                  </a:solidFill>
                  <a:latin typeface="Arial"/>
                  <a:ea typeface="Arial"/>
                  <a:cs typeface="Arial"/>
                  <a:sym typeface="Arial"/>
                </a:rPr>
                <a:t>access rights</a:t>
              </a:r>
              <a:endParaRPr sz="2300">
                <a:solidFill>
                  <a:schemeClr val="dk1"/>
                </a:solidFill>
                <a:latin typeface="Arial"/>
                <a:ea typeface="Arial"/>
                <a:cs typeface="Arial"/>
                <a:sym typeface="Arial"/>
              </a:endParaRPr>
            </a:p>
          </p:txBody>
        </p:sp>
        <p:sp>
          <p:nvSpPr>
            <p:cNvPr id="707" name="Google Shape;707;p49"/>
            <p:cNvSpPr/>
            <p:nvPr/>
          </p:nvSpPr>
          <p:spPr>
            <a:xfrm>
              <a:off x="4096866" y="2243522"/>
              <a:ext cx="2420391" cy="1536948"/>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9"/>
            <p:cNvSpPr/>
            <p:nvPr/>
          </p:nvSpPr>
          <p:spPr>
            <a:xfrm>
              <a:off x="4365798" y="2499008"/>
              <a:ext cx="2420391" cy="1536948"/>
            </a:xfrm>
            <a:prstGeom prst="roundRect">
              <a:avLst>
                <a:gd fmla="val 10000" name="adj"/>
              </a:avLst>
            </a:prstGeom>
            <a:solidFill>
              <a:schemeClr val="lt1">
                <a:alpha val="89803"/>
              </a:schemeClr>
            </a:solidFill>
            <a:ln cap="flat" cmpd="sng" w="1587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9"/>
            <p:cNvSpPr txBox="1"/>
            <p:nvPr/>
          </p:nvSpPr>
          <p:spPr>
            <a:xfrm>
              <a:off x="4410814" y="2544024"/>
              <a:ext cx="2330359" cy="1446916"/>
            </a:xfrm>
            <a:prstGeom prst="rect">
              <a:avLst/>
            </a:prstGeom>
            <a:no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None/>
              </a:pPr>
              <a:r>
                <a:rPr lang="en-US" sz="2300">
                  <a:solidFill>
                    <a:schemeClr val="dk1"/>
                  </a:solidFill>
                  <a:latin typeface="Arial"/>
                  <a:ea typeface="Arial"/>
                  <a:cs typeface="Arial"/>
                  <a:sym typeface="Arial"/>
                </a:rPr>
                <a:t>management of simultaneous access</a:t>
              </a:r>
              <a:endParaRPr sz="2300">
                <a:solidFill>
                  <a:schemeClr val="dk1"/>
                </a:solidFill>
                <a:latin typeface="Arial"/>
                <a:ea typeface="Arial"/>
                <a:cs typeface="Arial"/>
                <a:sym typeface="Arial"/>
              </a:endParaRPr>
            </a:p>
          </p:txBody>
        </p:sp>
      </p:grpSp>
      <p:pic>
        <p:nvPicPr>
          <p:cNvPr id="710" name="Google Shape;710;p49"/>
          <p:cNvPicPr preferRelativeResize="0"/>
          <p:nvPr/>
        </p:nvPicPr>
        <p:blipFill rotWithShape="1">
          <a:blip r:embed="rId3">
            <a:alphaModFix/>
          </a:blip>
          <a:srcRect b="0" l="0" r="0" t="0"/>
          <a:stretch/>
        </p:blipFill>
        <p:spPr>
          <a:xfrm>
            <a:off x="1066800" y="2590800"/>
            <a:ext cx="1219200" cy="136683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50"/>
          <p:cNvSpPr txBox="1"/>
          <p:nvPr>
            <p:ph type="title"/>
          </p:nvPr>
        </p:nvSpPr>
        <p:spPr>
          <a:xfrm>
            <a:off x="533400" y="381000"/>
            <a:ext cx="4140200" cy="1322388"/>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Access Rights</a:t>
            </a:r>
            <a:endParaRPr/>
          </a:p>
        </p:txBody>
      </p:sp>
      <p:sp>
        <p:nvSpPr>
          <p:cNvPr id="717" name="Google Shape;717;p50"/>
          <p:cNvSpPr txBox="1"/>
          <p:nvPr>
            <p:ph idx="1" type="body"/>
          </p:nvPr>
        </p:nvSpPr>
        <p:spPr>
          <a:xfrm>
            <a:off x="533400" y="2133600"/>
            <a:ext cx="3783013" cy="4419600"/>
          </a:xfrm>
          <a:prstGeom prst="rect">
            <a:avLst/>
          </a:prstGeom>
          <a:noFill/>
          <a:ln>
            <a:noFill/>
          </a:ln>
        </p:spPr>
        <p:txBody>
          <a:bodyPr anchorCtr="0" anchor="t" bIns="45700" lIns="91425" spcFirstLastPara="1" rIns="91425" wrap="square" tIns="45700">
            <a:normAutofit/>
          </a:bodyPr>
          <a:lstStyle/>
          <a:p>
            <a:pPr indent="-282575" lvl="0" marL="282575" rtl="0" algn="l">
              <a:lnSpc>
                <a:spcPct val="80000"/>
              </a:lnSpc>
              <a:spcBef>
                <a:spcPts val="0"/>
              </a:spcBef>
              <a:spcAft>
                <a:spcPts val="0"/>
              </a:spcAft>
              <a:buSzPts val="1275"/>
              <a:buChar char="■"/>
            </a:pPr>
            <a:r>
              <a:rPr b="1" i="1" lang="en-US" sz="1700"/>
              <a:t>None</a:t>
            </a:r>
            <a:endParaRPr/>
          </a:p>
          <a:p>
            <a:pPr indent="-295275" lvl="1" marL="577850" rtl="0" algn="l">
              <a:lnSpc>
                <a:spcPct val="80000"/>
              </a:lnSpc>
              <a:spcBef>
                <a:spcPts val="1000"/>
              </a:spcBef>
              <a:spcAft>
                <a:spcPts val="0"/>
              </a:spcAft>
              <a:buSzPts val="1275"/>
              <a:buChar char="■"/>
            </a:pPr>
            <a:r>
              <a:rPr lang="en-US" sz="1700"/>
              <a:t>the user would not be allowed to read the user directory that includes the file</a:t>
            </a:r>
            <a:endParaRPr/>
          </a:p>
          <a:p>
            <a:pPr indent="-282575" lvl="0" marL="282575" rtl="0" algn="l">
              <a:lnSpc>
                <a:spcPct val="80000"/>
              </a:lnSpc>
              <a:spcBef>
                <a:spcPts val="1000"/>
              </a:spcBef>
              <a:spcAft>
                <a:spcPts val="0"/>
              </a:spcAft>
              <a:buSzPts val="1350"/>
              <a:buChar char="■"/>
            </a:pPr>
            <a:r>
              <a:rPr b="1" i="1" lang="en-US"/>
              <a:t>Knowledge</a:t>
            </a:r>
            <a:endParaRPr/>
          </a:p>
          <a:p>
            <a:pPr indent="-282575" lvl="2" marL="565150" rtl="0" algn="l">
              <a:lnSpc>
                <a:spcPct val="80000"/>
              </a:lnSpc>
              <a:spcBef>
                <a:spcPts val="1000"/>
              </a:spcBef>
              <a:spcAft>
                <a:spcPts val="0"/>
              </a:spcAft>
              <a:buSzPts val="1275"/>
              <a:buChar char="■"/>
            </a:pPr>
            <a:r>
              <a:rPr lang="en-US" sz="1700"/>
              <a:t>the user can determine that the file exists and who its owner is and can then petition the owner for additional access rights</a:t>
            </a:r>
            <a:endParaRPr/>
          </a:p>
          <a:p>
            <a:pPr indent="-282575" lvl="0" marL="282575" rtl="0" algn="l">
              <a:lnSpc>
                <a:spcPct val="80000"/>
              </a:lnSpc>
              <a:spcBef>
                <a:spcPts val="1000"/>
              </a:spcBef>
              <a:spcAft>
                <a:spcPts val="0"/>
              </a:spcAft>
              <a:buSzPts val="1350"/>
              <a:buChar char="■"/>
            </a:pPr>
            <a:r>
              <a:rPr b="1" i="1" lang="en-US"/>
              <a:t>Execution</a:t>
            </a:r>
            <a:endParaRPr/>
          </a:p>
          <a:p>
            <a:pPr indent="-282575" lvl="2" marL="565150" rtl="0" algn="l">
              <a:lnSpc>
                <a:spcPct val="80000"/>
              </a:lnSpc>
              <a:spcBef>
                <a:spcPts val="1000"/>
              </a:spcBef>
              <a:spcAft>
                <a:spcPts val="0"/>
              </a:spcAft>
              <a:buSzPts val="1275"/>
              <a:buChar char="■"/>
            </a:pPr>
            <a:r>
              <a:rPr lang="en-US" sz="1700"/>
              <a:t>the user can load and execute a program but cannot copy it</a:t>
            </a:r>
            <a:endParaRPr/>
          </a:p>
          <a:p>
            <a:pPr indent="-282575" lvl="0" marL="282575" rtl="0" algn="l">
              <a:lnSpc>
                <a:spcPct val="80000"/>
              </a:lnSpc>
              <a:spcBef>
                <a:spcPts val="1000"/>
              </a:spcBef>
              <a:spcAft>
                <a:spcPts val="0"/>
              </a:spcAft>
              <a:buSzPts val="1350"/>
              <a:buChar char="■"/>
            </a:pPr>
            <a:r>
              <a:rPr b="1" i="1" lang="en-US"/>
              <a:t>Reading</a:t>
            </a:r>
            <a:endParaRPr/>
          </a:p>
          <a:p>
            <a:pPr indent="-282575" lvl="2" marL="565150" rtl="0" algn="l">
              <a:lnSpc>
                <a:spcPct val="80000"/>
              </a:lnSpc>
              <a:spcBef>
                <a:spcPts val="1000"/>
              </a:spcBef>
              <a:spcAft>
                <a:spcPts val="0"/>
              </a:spcAft>
              <a:buSzPts val="1275"/>
              <a:buChar char="■"/>
            </a:pPr>
            <a:r>
              <a:rPr lang="en-US" sz="1700"/>
              <a:t>the user can read the file for any purpose, including copying and execution</a:t>
            </a:r>
            <a:endParaRPr/>
          </a:p>
          <a:p>
            <a:pPr indent="-201612" lvl="2" marL="565150" rtl="0" algn="l">
              <a:lnSpc>
                <a:spcPct val="90000"/>
              </a:lnSpc>
              <a:spcBef>
                <a:spcPts val="1800"/>
              </a:spcBef>
              <a:spcAft>
                <a:spcPts val="0"/>
              </a:spcAft>
              <a:buSzPts val="1275"/>
              <a:buNone/>
            </a:pPr>
            <a:r>
              <a:t/>
            </a:r>
            <a:endParaRPr sz="1700"/>
          </a:p>
          <a:p>
            <a:pPr indent="-201612" lvl="2" marL="565150" rtl="0" algn="l">
              <a:lnSpc>
                <a:spcPct val="90000"/>
              </a:lnSpc>
              <a:spcBef>
                <a:spcPts val="1800"/>
              </a:spcBef>
              <a:spcAft>
                <a:spcPts val="0"/>
              </a:spcAft>
              <a:buSzPts val="1275"/>
              <a:buNone/>
            </a:pPr>
            <a:r>
              <a:t/>
            </a:r>
            <a:endParaRPr sz="1700"/>
          </a:p>
        </p:txBody>
      </p:sp>
      <p:sp>
        <p:nvSpPr>
          <p:cNvPr id="718" name="Google Shape;718;p50"/>
          <p:cNvSpPr txBox="1"/>
          <p:nvPr>
            <p:ph idx="2" type="body"/>
          </p:nvPr>
        </p:nvSpPr>
        <p:spPr>
          <a:xfrm>
            <a:off x="4830763" y="2209800"/>
            <a:ext cx="3779837" cy="4343400"/>
          </a:xfrm>
          <a:prstGeom prst="rect">
            <a:avLst/>
          </a:prstGeom>
          <a:noFill/>
          <a:ln>
            <a:noFill/>
          </a:ln>
        </p:spPr>
        <p:txBody>
          <a:bodyPr anchorCtr="0" anchor="t" bIns="45700" lIns="91425" spcFirstLastPara="1" rIns="91425" wrap="square" tIns="45700">
            <a:normAutofit/>
          </a:bodyPr>
          <a:lstStyle/>
          <a:p>
            <a:pPr indent="-282575" lvl="0" marL="282575" rtl="0" algn="l">
              <a:lnSpc>
                <a:spcPct val="80000"/>
              </a:lnSpc>
              <a:spcBef>
                <a:spcPts val="0"/>
              </a:spcBef>
              <a:spcAft>
                <a:spcPts val="0"/>
              </a:spcAft>
              <a:buSzPts val="1275"/>
              <a:buChar char="■"/>
            </a:pPr>
            <a:r>
              <a:rPr b="1" i="1" lang="en-US" sz="1700"/>
              <a:t>Appending</a:t>
            </a:r>
            <a:endParaRPr/>
          </a:p>
          <a:p>
            <a:pPr indent="-295275" lvl="1" marL="577850" rtl="0" algn="l">
              <a:lnSpc>
                <a:spcPct val="80000"/>
              </a:lnSpc>
              <a:spcBef>
                <a:spcPts val="1400"/>
              </a:spcBef>
              <a:spcAft>
                <a:spcPts val="0"/>
              </a:spcAft>
              <a:buSzPts val="1275"/>
              <a:buChar char="■"/>
            </a:pPr>
            <a:r>
              <a:rPr lang="en-US" sz="1700"/>
              <a:t>the user can add data to the file but cannot modify or delete any of the file’s contents</a:t>
            </a:r>
            <a:endParaRPr/>
          </a:p>
          <a:p>
            <a:pPr indent="-282575" lvl="0" marL="282575" rtl="0" algn="l">
              <a:lnSpc>
                <a:spcPct val="80000"/>
              </a:lnSpc>
              <a:spcBef>
                <a:spcPts val="1400"/>
              </a:spcBef>
              <a:spcAft>
                <a:spcPts val="0"/>
              </a:spcAft>
              <a:buSzPts val="1350"/>
              <a:buChar char="■"/>
            </a:pPr>
            <a:r>
              <a:rPr b="1" i="1" lang="en-US"/>
              <a:t>Updating</a:t>
            </a:r>
            <a:endParaRPr/>
          </a:p>
          <a:p>
            <a:pPr indent="-295275" lvl="1" marL="577850" rtl="0" algn="l">
              <a:lnSpc>
                <a:spcPct val="80000"/>
              </a:lnSpc>
              <a:spcBef>
                <a:spcPts val="1400"/>
              </a:spcBef>
              <a:spcAft>
                <a:spcPts val="0"/>
              </a:spcAft>
              <a:buSzPts val="1275"/>
              <a:buChar char="■"/>
            </a:pPr>
            <a:r>
              <a:rPr lang="en-US" sz="1700"/>
              <a:t>the user can modify, delete, and add to the file’s data</a:t>
            </a:r>
            <a:endParaRPr/>
          </a:p>
          <a:p>
            <a:pPr indent="-282575" lvl="0" marL="282575" rtl="0" algn="l">
              <a:lnSpc>
                <a:spcPct val="80000"/>
              </a:lnSpc>
              <a:spcBef>
                <a:spcPts val="1400"/>
              </a:spcBef>
              <a:spcAft>
                <a:spcPts val="0"/>
              </a:spcAft>
              <a:buSzPts val="1350"/>
              <a:buChar char="■"/>
            </a:pPr>
            <a:r>
              <a:rPr b="1" i="1" lang="en-US"/>
              <a:t>Changing protection</a:t>
            </a:r>
            <a:endParaRPr/>
          </a:p>
          <a:p>
            <a:pPr indent="-295275" lvl="1" marL="577850" rtl="0" algn="l">
              <a:lnSpc>
                <a:spcPct val="80000"/>
              </a:lnSpc>
              <a:spcBef>
                <a:spcPts val="1400"/>
              </a:spcBef>
              <a:spcAft>
                <a:spcPts val="0"/>
              </a:spcAft>
              <a:buSzPts val="1275"/>
              <a:buChar char="■"/>
            </a:pPr>
            <a:r>
              <a:rPr lang="en-US" sz="1700"/>
              <a:t>the user can change the access rights granted to other users</a:t>
            </a:r>
            <a:endParaRPr/>
          </a:p>
          <a:p>
            <a:pPr indent="-282575" lvl="0" marL="282575" rtl="0" algn="l">
              <a:lnSpc>
                <a:spcPct val="80000"/>
              </a:lnSpc>
              <a:spcBef>
                <a:spcPts val="1400"/>
              </a:spcBef>
              <a:spcAft>
                <a:spcPts val="0"/>
              </a:spcAft>
              <a:buSzPts val="1350"/>
              <a:buChar char="■"/>
            </a:pPr>
            <a:r>
              <a:rPr b="1" i="1" lang="en-US"/>
              <a:t>Deletion</a:t>
            </a:r>
            <a:endParaRPr/>
          </a:p>
          <a:p>
            <a:pPr indent="-295275" lvl="1" marL="577850" rtl="0" algn="l">
              <a:lnSpc>
                <a:spcPct val="80000"/>
              </a:lnSpc>
              <a:spcBef>
                <a:spcPts val="1400"/>
              </a:spcBef>
              <a:spcAft>
                <a:spcPts val="0"/>
              </a:spcAft>
              <a:buSzPts val="1275"/>
              <a:buChar char="■"/>
            </a:pPr>
            <a:r>
              <a:rPr lang="en-US" sz="1700"/>
              <a:t>the user can delete the file from the file system</a:t>
            </a:r>
            <a:endParaRPr/>
          </a:p>
        </p:txBody>
      </p:sp>
      <p:pic>
        <p:nvPicPr>
          <p:cNvPr id="719" name="Google Shape;719;p50"/>
          <p:cNvPicPr preferRelativeResize="0"/>
          <p:nvPr/>
        </p:nvPicPr>
        <p:blipFill rotWithShape="1">
          <a:blip r:embed="rId3">
            <a:alphaModFix/>
          </a:blip>
          <a:srcRect b="0" l="0" r="0" t="0"/>
          <a:stretch/>
        </p:blipFill>
        <p:spPr>
          <a:xfrm>
            <a:off x="6858000" y="476794"/>
            <a:ext cx="1371600" cy="135200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250"/>
                                  </p:stCondLst>
                                  <p:childTnLst>
                                    <p:set>
                                      <p:cBhvr>
                                        <p:cTn dur="1" fill="hold">
                                          <p:stCondLst>
                                            <p:cond delay="0"/>
                                          </p:stCondLst>
                                        </p:cTn>
                                        <p:tgtEl>
                                          <p:spTgt spid="717">
                                            <p:txEl>
                                              <p:pRg end="0" st="0"/>
                                            </p:txEl>
                                          </p:spTgt>
                                        </p:tgtEl>
                                        <p:attrNameLst>
                                          <p:attrName>style.visibility</p:attrName>
                                        </p:attrNameLst>
                                      </p:cBhvr>
                                      <p:to>
                                        <p:strVal val="visible"/>
                                      </p:to>
                                    </p:set>
                                    <p:anim calcmode="lin" valueType="num">
                                      <p:cBhvr additive="base">
                                        <p:cTn dur="500"/>
                                        <p:tgtEl>
                                          <p:spTgt spid="717">
                                            <p:txEl>
                                              <p:pRg end="0" st="0"/>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1" st="1"/>
                                            </p:txEl>
                                          </p:spTgt>
                                        </p:tgtEl>
                                        <p:attrNameLst>
                                          <p:attrName>style.visibility</p:attrName>
                                        </p:attrNameLst>
                                      </p:cBhvr>
                                      <p:to>
                                        <p:strVal val="visible"/>
                                      </p:to>
                                    </p:set>
                                    <p:anim calcmode="lin" valueType="num">
                                      <p:cBhvr additive="base">
                                        <p:cTn dur="500"/>
                                        <p:tgtEl>
                                          <p:spTgt spid="717">
                                            <p:txEl>
                                              <p:pRg end="1" st="1"/>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2" st="2"/>
                                            </p:txEl>
                                          </p:spTgt>
                                        </p:tgtEl>
                                        <p:attrNameLst>
                                          <p:attrName>style.visibility</p:attrName>
                                        </p:attrNameLst>
                                      </p:cBhvr>
                                      <p:to>
                                        <p:strVal val="visible"/>
                                      </p:to>
                                    </p:set>
                                    <p:anim calcmode="lin" valueType="num">
                                      <p:cBhvr additive="base">
                                        <p:cTn dur="500"/>
                                        <p:tgtEl>
                                          <p:spTgt spid="717">
                                            <p:txEl>
                                              <p:pRg end="2" st="2"/>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3" st="3"/>
                                            </p:txEl>
                                          </p:spTgt>
                                        </p:tgtEl>
                                        <p:attrNameLst>
                                          <p:attrName>style.visibility</p:attrName>
                                        </p:attrNameLst>
                                      </p:cBhvr>
                                      <p:to>
                                        <p:strVal val="visible"/>
                                      </p:to>
                                    </p:set>
                                    <p:anim calcmode="lin" valueType="num">
                                      <p:cBhvr additive="base">
                                        <p:cTn dur="500"/>
                                        <p:tgtEl>
                                          <p:spTgt spid="717">
                                            <p:txEl>
                                              <p:pRg end="3" st="3"/>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4" st="4"/>
                                            </p:txEl>
                                          </p:spTgt>
                                        </p:tgtEl>
                                        <p:attrNameLst>
                                          <p:attrName>style.visibility</p:attrName>
                                        </p:attrNameLst>
                                      </p:cBhvr>
                                      <p:to>
                                        <p:strVal val="visible"/>
                                      </p:to>
                                    </p:set>
                                    <p:anim calcmode="lin" valueType="num">
                                      <p:cBhvr additive="base">
                                        <p:cTn dur="500"/>
                                        <p:tgtEl>
                                          <p:spTgt spid="717">
                                            <p:txEl>
                                              <p:pRg end="4" st="4"/>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5" st="5"/>
                                            </p:txEl>
                                          </p:spTgt>
                                        </p:tgtEl>
                                        <p:attrNameLst>
                                          <p:attrName>style.visibility</p:attrName>
                                        </p:attrNameLst>
                                      </p:cBhvr>
                                      <p:to>
                                        <p:strVal val="visible"/>
                                      </p:to>
                                    </p:set>
                                    <p:anim calcmode="lin" valueType="num">
                                      <p:cBhvr additive="base">
                                        <p:cTn dur="500"/>
                                        <p:tgtEl>
                                          <p:spTgt spid="717">
                                            <p:txEl>
                                              <p:pRg end="5" st="5"/>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6" st="6"/>
                                            </p:txEl>
                                          </p:spTgt>
                                        </p:tgtEl>
                                        <p:attrNameLst>
                                          <p:attrName>style.visibility</p:attrName>
                                        </p:attrNameLst>
                                      </p:cBhvr>
                                      <p:to>
                                        <p:strVal val="visible"/>
                                      </p:to>
                                    </p:set>
                                    <p:anim calcmode="lin" valueType="num">
                                      <p:cBhvr additive="base">
                                        <p:cTn dur="500"/>
                                        <p:tgtEl>
                                          <p:spTgt spid="717">
                                            <p:txEl>
                                              <p:pRg end="6" st="6"/>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7" st="7"/>
                                            </p:txEl>
                                          </p:spTgt>
                                        </p:tgtEl>
                                        <p:attrNameLst>
                                          <p:attrName>style.visibility</p:attrName>
                                        </p:attrNameLst>
                                      </p:cBhvr>
                                      <p:to>
                                        <p:strVal val="visible"/>
                                      </p:to>
                                    </p:set>
                                    <p:anim calcmode="lin" valueType="num">
                                      <p:cBhvr additive="base">
                                        <p:cTn dur="500"/>
                                        <p:tgtEl>
                                          <p:spTgt spid="717">
                                            <p:txEl>
                                              <p:pRg end="7" st="7"/>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8" st="8"/>
                                            </p:txEl>
                                          </p:spTgt>
                                        </p:tgtEl>
                                        <p:attrNameLst>
                                          <p:attrName>style.visibility</p:attrName>
                                        </p:attrNameLst>
                                      </p:cBhvr>
                                      <p:to>
                                        <p:strVal val="visible"/>
                                      </p:to>
                                    </p:set>
                                    <p:anim calcmode="lin" valueType="num">
                                      <p:cBhvr additive="base">
                                        <p:cTn dur="500"/>
                                        <p:tgtEl>
                                          <p:spTgt spid="717">
                                            <p:txEl>
                                              <p:pRg end="8" st="8"/>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250"/>
                                  </p:stCondLst>
                                  <p:childTnLst>
                                    <p:set>
                                      <p:cBhvr>
                                        <p:cTn dur="1" fill="hold">
                                          <p:stCondLst>
                                            <p:cond delay="0"/>
                                          </p:stCondLst>
                                        </p:cTn>
                                        <p:tgtEl>
                                          <p:spTgt spid="717">
                                            <p:txEl>
                                              <p:pRg end="9" st="9"/>
                                            </p:txEl>
                                          </p:spTgt>
                                        </p:tgtEl>
                                        <p:attrNameLst>
                                          <p:attrName>style.visibility</p:attrName>
                                        </p:attrNameLst>
                                      </p:cBhvr>
                                      <p:to>
                                        <p:strVal val="visible"/>
                                      </p:to>
                                    </p:set>
                                    <p:anim calcmode="lin" valueType="num">
                                      <p:cBhvr additive="base">
                                        <p:cTn dur="500"/>
                                        <p:tgtEl>
                                          <p:spTgt spid="717">
                                            <p:txEl>
                                              <p:pRg end="9" st="9"/>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500"/>
                            </p:stCondLst>
                            <p:childTnLst>
                              <p:par>
                                <p:cTn fill="hold" nodeType="afterEffect" presetClass="entr" presetID="2" presetSubtype="2">
                                  <p:stCondLst>
                                    <p:cond delay="250"/>
                                  </p:stCondLst>
                                  <p:childTnLst>
                                    <p:set>
                                      <p:cBhvr>
                                        <p:cTn dur="1" fill="hold">
                                          <p:stCondLst>
                                            <p:cond delay="0"/>
                                          </p:stCondLst>
                                        </p:cTn>
                                        <p:tgtEl>
                                          <p:spTgt spid="718">
                                            <p:txEl>
                                              <p:pRg end="0" st="0"/>
                                            </p:txEl>
                                          </p:spTgt>
                                        </p:tgtEl>
                                        <p:attrNameLst>
                                          <p:attrName>style.visibility</p:attrName>
                                        </p:attrNameLst>
                                      </p:cBhvr>
                                      <p:to>
                                        <p:strVal val="visible"/>
                                      </p:to>
                                    </p:set>
                                    <p:anim calcmode="lin" valueType="num">
                                      <p:cBhvr additive="base">
                                        <p:cTn dur="500"/>
                                        <p:tgtEl>
                                          <p:spTgt spid="718">
                                            <p:txEl>
                                              <p:pRg end="0" st="0"/>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000"/>
                            </p:stCondLst>
                            <p:childTnLst>
                              <p:par>
                                <p:cTn fill="hold" nodeType="afterEffect" presetClass="entr" presetID="2" presetSubtype="2">
                                  <p:stCondLst>
                                    <p:cond delay="250"/>
                                  </p:stCondLst>
                                  <p:childTnLst>
                                    <p:set>
                                      <p:cBhvr>
                                        <p:cTn dur="1" fill="hold">
                                          <p:stCondLst>
                                            <p:cond delay="0"/>
                                          </p:stCondLst>
                                        </p:cTn>
                                        <p:tgtEl>
                                          <p:spTgt spid="718">
                                            <p:txEl>
                                              <p:pRg end="1" st="1"/>
                                            </p:txEl>
                                          </p:spTgt>
                                        </p:tgtEl>
                                        <p:attrNameLst>
                                          <p:attrName>style.visibility</p:attrName>
                                        </p:attrNameLst>
                                      </p:cBhvr>
                                      <p:to>
                                        <p:strVal val="visible"/>
                                      </p:to>
                                    </p:set>
                                    <p:anim calcmode="lin" valueType="num">
                                      <p:cBhvr additive="base">
                                        <p:cTn dur="500"/>
                                        <p:tgtEl>
                                          <p:spTgt spid="718">
                                            <p:txEl>
                                              <p:pRg end="1" st="1"/>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1500"/>
                            </p:stCondLst>
                            <p:childTnLst>
                              <p:par>
                                <p:cTn fill="hold" nodeType="afterEffect" presetClass="entr" presetID="2" presetSubtype="2">
                                  <p:stCondLst>
                                    <p:cond delay="250"/>
                                  </p:stCondLst>
                                  <p:childTnLst>
                                    <p:set>
                                      <p:cBhvr>
                                        <p:cTn dur="1" fill="hold">
                                          <p:stCondLst>
                                            <p:cond delay="0"/>
                                          </p:stCondLst>
                                        </p:cTn>
                                        <p:tgtEl>
                                          <p:spTgt spid="718">
                                            <p:txEl>
                                              <p:pRg end="2" st="2"/>
                                            </p:txEl>
                                          </p:spTgt>
                                        </p:tgtEl>
                                        <p:attrNameLst>
                                          <p:attrName>style.visibility</p:attrName>
                                        </p:attrNameLst>
                                      </p:cBhvr>
                                      <p:to>
                                        <p:strVal val="visible"/>
                                      </p:to>
                                    </p:set>
                                    <p:anim calcmode="lin" valueType="num">
                                      <p:cBhvr additive="base">
                                        <p:cTn dur="500"/>
                                        <p:tgtEl>
                                          <p:spTgt spid="718">
                                            <p:txEl>
                                              <p:pRg end="2" st="2"/>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2">
                                  <p:stCondLst>
                                    <p:cond delay="250"/>
                                  </p:stCondLst>
                                  <p:childTnLst>
                                    <p:set>
                                      <p:cBhvr>
                                        <p:cTn dur="1" fill="hold">
                                          <p:stCondLst>
                                            <p:cond delay="0"/>
                                          </p:stCondLst>
                                        </p:cTn>
                                        <p:tgtEl>
                                          <p:spTgt spid="718">
                                            <p:txEl>
                                              <p:pRg end="3" st="3"/>
                                            </p:txEl>
                                          </p:spTgt>
                                        </p:tgtEl>
                                        <p:attrNameLst>
                                          <p:attrName>style.visibility</p:attrName>
                                        </p:attrNameLst>
                                      </p:cBhvr>
                                      <p:to>
                                        <p:strVal val="visible"/>
                                      </p:to>
                                    </p:set>
                                    <p:anim calcmode="lin" valueType="num">
                                      <p:cBhvr additive="base">
                                        <p:cTn dur="500"/>
                                        <p:tgtEl>
                                          <p:spTgt spid="718">
                                            <p:txEl>
                                              <p:pRg end="3" st="3"/>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2500"/>
                            </p:stCondLst>
                            <p:childTnLst>
                              <p:par>
                                <p:cTn fill="hold" nodeType="afterEffect" presetClass="entr" presetID="2" presetSubtype="2">
                                  <p:stCondLst>
                                    <p:cond delay="250"/>
                                  </p:stCondLst>
                                  <p:childTnLst>
                                    <p:set>
                                      <p:cBhvr>
                                        <p:cTn dur="1" fill="hold">
                                          <p:stCondLst>
                                            <p:cond delay="0"/>
                                          </p:stCondLst>
                                        </p:cTn>
                                        <p:tgtEl>
                                          <p:spTgt spid="718">
                                            <p:txEl>
                                              <p:pRg end="4" st="4"/>
                                            </p:txEl>
                                          </p:spTgt>
                                        </p:tgtEl>
                                        <p:attrNameLst>
                                          <p:attrName>style.visibility</p:attrName>
                                        </p:attrNameLst>
                                      </p:cBhvr>
                                      <p:to>
                                        <p:strVal val="visible"/>
                                      </p:to>
                                    </p:set>
                                    <p:anim calcmode="lin" valueType="num">
                                      <p:cBhvr additive="base">
                                        <p:cTn dur="500"/>
                                        <p:tgtEl>
                                          <p:spTgt spid="718">
                                            <p:txEl>
                                              <p:pRg end="4" st="4"/>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2">
                                  <p:stCondLst>
                                    <p:cond delay="250"/>
                                  </p:stCondLst>
                                  <p:childTnLst>
                                    <p:set>
                                      <p:cBhvr>
                                        <p:cTn dur="1" fill="hold">
                                          <p:stCondLst>
                                            <p:cond delay="0"/>
                                          </p:stCondLst>
                                        </p:cTn>
                                        <p:tgtEl>
                                          <p:spTgt spid="718">
                                            <p:txEl>
                                              <p:pRg end="5" st="5"/>
                                            </p:txEl>
                                          </p:spTgt>
                                        </p:tgtEl>
                                        <p:attrNameLst>
                                          <p:attrName>style.visibility</p:attrName>
                                        </p:attrNameLst>
                                      </p:cBhvr>
                                      <p:to>
                                        <p:strVal val="visible"/>
                                      </p:to>
                                    </p:set>
                                    <p:anim calcmode="lin" valueType="num">
                                      <p:cBhvr additive="base">
                                        <p:cTn dur="500"/>
                                        <p:tgtEl>
                                          <p:spTgt spid="718">
                                            <p:txEl>
                                              <p:pRg end="5" st="5"/>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3500"/>
                            </p:stCondLst>
                            <p:childTnLst>
                              <p:par>
                                <p:cTn fill="hold" nodeType="afterEffect" presetClass="entr" presetID="2" presetSubtype="2">
                                  <p:stCondLst>
                                    <p:cond delay="250"/>
                                  </p:stCondLst>
                                  <p:childTnLst>
                                    <p:set>
                                      <p:cBhvr>
                                        <p:cTn dur="1" fill="hold">
                                          <p:stCondLst>
                                            <p:cond delay="0"/>
                                          </p:stCondLst>
                                        </p:cTn>
                                        <p:tgtEl>
                                          <p:spTgt spid="718">
                                            <p:txEl>
                                              <p:pRg end="6" st="6"/>
                                            </p:txEl>
                                          </p:spTgt>
                                        </p:tgtEl>
                                        <p:attrNameLst>
                                          <p:attrName>style.visibility</p:attrName>
                                        </p:attrNameLst>
                                      </p:cBhvr>
                                      <p:to>
                                        <p:strVal val="visible"/>
                                      </p:to>
                                    </p:set>
                                    <p:anim calcmode="lin" valueType="num">
                                      <p:cBhvr additive="base">
                                        <p:cTn dur="500"/>
                                        <p:tgtEl>
                                          <p:spTgt spid="718">
                                            <p:txEl>
                                              <p:pRg end="6" st="6"/>
                                            </p:txEl>
                                          </p:spTgt>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2">
                                  <p:stCondLst>
                                    <p:cond delay="250"/>
                                  </p:stCondLst>
                                  <p:childTnLst>
                                    <p:set>
                                      <p:cBhvr>
                                        <p:cTn dur="1" fill="hold">
                                          <p:stCondLst>
                                            <p:cond delay="0"/>
                                          </p:stCondLst>
                                        </p:cTn>
                                        <p:tgtEl>
                                          <p:spTgt spid="718">
                                            <p:txEl>
                                              <p:pRg end="7" st="7"/>
                                            </p:txEl>
                                          </p:spTgt>
                                        </p:tgtEl>
                                        <p:attrNameLst>
                                          <p:attrName>style.visibility</p:attrName>
                                        </p:attrNameLst>
                                      </p:cBhvr>
                                      <p:to>
                                        <p:strVal val="visible"/>
                                      </p:to>
                                    </p:set>
                                    <p:anim calcmode="lin" valueType="num">
                                      <p:cBhvr additive="base">
                                        <p:cTn dur="500"/>
                                        <p:tgtEl>
                                          <p:spTgt spid="718">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51"/>
          <p:cNvSpPr txBox="1"/>
          <p:nvPr>
            <p:ph idx="4294967295" type="title"/>
          </p:nvPr>
        </p:nvSpPr>
        <p:spPr>
          <a:xfrm>
            <a:off x="-304800" y="533400"/>
            <a:ext cx="7824788" cy="1219200"/>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b="1" lang="en-US">
                <a:solidFill>
                  <a:srgbClr val="092646"/>
                </a:solidFill>
              </a:rPr>
              <a:t>User Access Rights</a:t>
            </a:r>
            <a:endParaRPr b="1">
              <a:solidFill>
                <a:srgbClr val="092646"/>
              </a:solidFill>
            </a:endParaRPr>
          </a:p>
        </p:txBody>
      </p:sp>
      <p:grpSp>
        <p:nvGrpSpPr>
          <p:cNvPr id="726" name="Google Shape;726;p51"/>
          <p:cNvGrpSpPr/>
          <p:nvPr/>
        </p:nvGrpSpPr>
        <p:grpSpPr>
          <a:xfrm>
            <a:off x="763855" y="2362200"/>
            <a:ext cx="7692489" cy="4038600"/>
            <a:chOff x="1855" y="0"/>
            <a:chExt cx="7692489" cy="4038600"/>
          </a:xfrm>
        </p:grpSpPr>
        <p:sp>
          <p:nvSpPr>
            <p:cNvPr id="727" name="Google Shape;727;p51"/>
            <p:cNvSpPr/>
            <p:nvPr/>
          </p:nvSpPr>
          <p:spPr>
            <a:xfrm>
              <a:off x="1855" y="0"/>
              <a:ext cx="1820707" cy="4038600"/>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51"/>
            <p:cNvSpPr txBox="1"/>
            <p:nvPr/>
          </p:nvSpPr>
          <p:spPr>
            <a:xfrm>
              <a:off x="1855" y="0"/>
              <a:ext cx="1820707" cy="1211580"/>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None/>
              </a:pPr>
              <a:r>
                <a:rPr lang="en-US" sz="3500">
                  <a:solidFill>
                    <a:schemeClr val="dk1"/>
                  </a:solidFill>
                  <a:latin typeface="Arial"/>
                  <a:ea typeface="Arial"/>
                  <a:cs typeface="Arial"/>
                  <a:sym typeface="Arial"/>
                </a:rPr>
                <a:t>Owner</a:t>
              </a:r>
              <a:endParaRPr sz="3500">
                <a:solidFill>
                  <a:schemeClr val="dk1"/>
                </a:solidFill>
                <a:latin typeface="Arial"/>
                <a:ea typeface="Arial"/>
                <a:cs typeface="Arial"/>
                <a:sym typeface="Arial"/>
              </a:endParaRPr>
            </a:p>
          </p:txBody>
        </p:sp>
        <p:sp>
          <p:nvSpPr>
            <p:cNvPr id="729" name="Google Shape;729;p51"/>
            <p:cNvSpPr/>
            <p:nvPr/>
          </p:nvSpPr>
          <p:spPr>
            <a:xfrm>
              <a:off x="183926" y="1211925"/>
              <a:ext cx="1456565" cy="793423"/>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51"/>
            <p:cNvSpPr txBox="1"/>
            <p:nvPr/>
          </p:nvSpPr>
          <p:spPr>
            <a:xfrm>
              <a:off x="207165" y="1235164"/>
              <a:ext cx="1410087" cy="746945"/>
            </a:xfrm>
            <a:prstGeom prst="rect">
              <a:avLst/>
            </a:prstGeom>
            <a:noFill/>
            <a:ln>
              <a:noFill/>
            </a:ln>
          </p:spPr>
          <p:txBody>
            <a:bodyPr anchorCtr="0" anchor="ctr" bIns="32375" lIns="43175" spcFirstLastPara="1" rIns="43175" wrap="square" tIns="32375">
              <a:noAutofit/>
            </a:bodyPr>
            <a:lstStyle/>
            <a:p>
              <a:pPr indent="0" lvl="0" marL="0" marR="0" rtl="0" algn="ctr">
                <a:lnSpc>
                  <a:spcPct val="90000"/>
                </a:lnSpc>
                <a:spcBef>
                  <a:spcPts val="0"/>
                </a:spcBef>
                <a:spcAft>
                  <a:spcPts val="0"/>
                </a:spcAft>
                <a:buNone/>
              </a:pPr>
              <a:r>
                <a:rPr lang="en-US" sz="1700">
                  <a:solidFill>
                    <a:schemeClr val="lt1"/>
                  </a:solidFill>
                  <a:latin typeface="Arial"/>
                  <a:ea typeface="Arial"/>
                  <a:cs typeface="Arial"/>
                  <a:sym typeface="Arial"/>
                </a:rPr>
                <a:t>usually the initial creator of the file</a:t>
              </a:r>
              <a:endParaRPr sz="1700">
                <a:solidFill>
                  <a:schemeClr val="lt1"/>
                </a:solidFill>
                <a:latin typeface="Arial"/>
                <a:ea typeface="Arial"/>
                <a:cs typeface="Arial"/>
                <a:sym typeface="Arial"/>
              </a:endParaRPr>
            </a:p>
          </p:txBody>
        </p:sp>
        <p:sp>
          <p:nvSpPr>
            <p:cNvPr id="731" name="Google Shape;731;p51"/>
            <p:cNvSpPr/>
            <p:nvPr/>
          </p:nvSpPr>
          <p:spPr>
            <a:xfrm>
              <a:off x="183926" y="2127413"/>
              <a:ext cx="1456565" cy="793423"/>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51"/>
            <p:cNvSpPr txBox="1"/>
            <p:nvPr/>
          </p:nvSpPr>
          <p:spPr>
            <a:xfrm>
              <a:off x="207165" y="2150652"/>
              <a:ext cx="1410087" cy="746945"/>
            </a:xfrm>
            <a:prstGeom prst="rect">
              <a:avLst/>
            </a:prstGeom>
            <a:noFill/>
            <a:ln>
              <a:noFill/>
            </a:ln>
          </p:spPr>
          <p:txBody>
            <a:bodyPr anchorCtr="0" anchor="ctr" bIns="32375" lIns="43175" spcFirstLastPara="1" rIns="43175" wrap="square" tIns="32375">
              <a:noAutofit/>
            </a:bodyPr>
            <a:lstStyle/>
            <a:p>
              <a:pPr indent="0" lvl="0" marL="0" marR="0" rtl="0" algn="ctr">
                <a:lnSpc>
                  <a:spcPct val="90000"/>
                </a:lnSpc>
                <a:spcBef>
                  <a:spcPts val="0"/>
                </a:spcBef>
                <a:spcAft>
                  <a:spcPts val="0"/>
                </a:spcAft>
                <a:buNone/>
              </a:pPr>
              <a:r>
                <a:rPr lang="en-US" sz="1700">
                  <a:solidFill>
                    <a:schemeClr val="lt1"/>
                  </a:solidFill>
                  <a:latin typeface="Arial"/>
                  <a:ea typeface="Arial"/>
                  <a:cs typeface="Arial"/>
                  <a:sym typeface="Arial"/>
                </a:rPr>
                <a:t>has full rights</a:t>
              </a:r>
              <a:endParaRPr sz="1700">
                <a:solidFill>
                  <a:schemeClr val="lt1"/>
                </a:solidFill>
                <a:latin typeface="Arial"/>
                <a:ea typeface="Arial"/>
                <a:cs typeface="Arial"/>
                <a:sym typeface="Arial"/>
              </a:endParaRPr>
            </a:p>
          </p:txBody>
        </p:sp>
        <p:sp>
          <p:nvSpPr>
            <p:cNvPr id="733" name="Google Shape;733;p51"/>
            <p:cNvSpPr/>
            <p:nvPr/>
          </p:nvSpPr>
          <p:spPr>
            <a:xfrm>
              <a:off x="183926" y="3042901"/>
              <a:ext cx="1456565" cy="793423"/>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51"/>
            <p:cNvSpPr txBox="1"/>
            <p:nvPr/>
          </p:nvSpPr>
          <p:spPr>
            <a:xfrm>
              <a:off x="207165" y="3066140"/>
              <a:ext cx="1410087" cy="746945"/>
            </a:xfrm>
            <a:prstGeom prst="rect">
              <a:avLst/>
            </a:prstGeom>
            <a:noFill/>
            <a:ln>
              <a:noFill/>
            </a:ln>
          </p:spPr>
          <p:txBody>
            <a:bodyPr anchorCtr="0" anchor="ctr" bIns="32375" lIns="43175" spcFirstLastPara="1" rIns="43175" wrap="square" tIns="32375">
              <a:noAutofit/>
            </a:bodyPr>
            <a:lstStyle/>
            <a:p>
              <a:pPr indent="0" lvl="0" marL="0" marR="0" rtl="0" algn="ctr">
                <a:lnSpc>
                  <a:spcPct val="90000"/>
                </a:lnSpc>
                <a:spcBef>
                  <a:spcPts val="0"/>
                </a:spcBef>
                <a:spcAft>
                  <a:spcPts val="0"/>
                </a:spcAft>
                <a:buNone/>
              </a:pPr>
              <a:r>
                <a:rPr lang="en-US" sz="1700">
                  <a:solidFill>
                    <a:schemeClr val="lt1"/>
                  </a:solidFill>
                  <a:latin typeface="Arial"/>
                  <a:ea typeface="Arial"/>
                  <a:cs typeface="Arial"/>
                  <a:sym typeface="Arial"/>
                </a:rPr>
                <a:t>may grant rights to others</a:t>
              </a:r>
              <a:endParaRPr sz="1700">
                <a:solidFill>
                  <a:schemeClr val="lt1"/>
                </a:solidFill>
                <a:latin typeface="Arial"/>
                <a:ea typeface="Arial"/>
                <a:cs typeface="Arial"/>
                <a:sym typeface="Arial"/>
              </a:endParaRPr>
            </a:p>
          </p:txBody>
        </p:sp>
        <p:sp>
          <p:nvSpPr>
            <p:cNvPr id="735" name="Google Shape;735;p51"/>
            <p:cNvSpPr/>
            <p:nvPr/>
          </p:nvSpPr>
          <p:spPr>
            <a:xfrm>
              <a:off x="1959115" y="0"/>
              <a:ext cx="1820707" cy="4038600"/>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51"/>
            <p:cNvSpPr txBox="1"/>
            <p:nvPr/>
          </p:nvSpPr>
          <p:spPr>
            <a:xfrm>
              <a:off x="1959115" y="0"/>
              <a:ext cx="1820707" cy="1211580"/>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None/>
              </a:pPr>
              <a:r>
                <a:rPr lang="en-US" sz="3500">
                  <a:solidFill>
                    <a:schemeClr val="dk1"/>
                  </a:solidFill>
                  <a:latin typeface="Arial"/>
                  <a:ea typeface="Arial"/>
                  <a:cs typeface="Arial"/>
                  <a:sym typeface="Arial"/>
                </a:rPr>
                <a:t>Specific Users</a:t>
              </a:r>
              <a:endParaRPr sz="3500">
                <a:solidFill>
                  <a:schemeClr val="dk1"/>
                </a:solidFill>
                <a:latin typeface="Arial"/>
                <a:ea typeface="Arial"/>
                <a:cs typeface="Arial"/>
                <a:sym typeface="Arial"/>
              </a:endParaRPr>
            </a:p>
          </p:txBody>
        </p:sp>
        <p:sp>
          <p:nvSpPr>
            <p:cNvPr id="737" name="Google Shape;737;p51"/>
            <p:cNvSpPr/>
            <p:nvPr/>
          </p:nvSpPr>
          <p:spPr>
            <a:xfrm>
              <a:off x="2141186" y="1211580"/>
              <a:ext cx="1456565" cy="2625090"/>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51"/>
            <p:cNvSpPr txBox="1"/>
            <p:nvPr/>
          </p:nvSpPr>
          <p:spPr>
            <a:xfrm>
              <a:off x="2183847" y="1254241"/>
              <a:ext cx="1371243" cy="2539768"/>
            </a:xfrm>
            <a:prstGeom prst="rect">
              <a:avLst/>
            </a:prstGeom>
            <a:noFill/>
            <a:ln>
              <a:noFill/>
            </a:ln>
          </p:spPr>
          <p:txBody>
            <a:bodyPr anchorCtr="0" anchor="ctr" bIns="32375" lIns="43175" spcFirstLastPara="1" rIns="43175" wrap="square" tIns="32375">
              <a:noAutofit/>
            </a:bodyPr>
            <a:lstStyle/>
            <a:p>
              <a:pPr indent="0" lvl="0" marL="0" marR="0" rtl="0" algn="ctr">
                <a:lnSpc>
                  <a:spcPct val="90000"/>
                </a:lnSpc>
                <a:spcBef>
                  <a:spcPts val="0"/>
                </a:spcBef>
                <a:spcAft>
                  <a:spcPts val="0"/>
                </a:spcAft>
                <a:buNone/>
              </a:pPr>
              <a:r>
                <a:rPr lang="en-US" sz="1700">
                  <a:solidFill>
                    <a:schemeClr val="lt1"/>
                  </a:solidFill>
                  <a:latin typeface="Arial"/>
                  <a:ea typeface="Arial"/>
                  <a:cs typeface="Arial"/>
                  <a:sym typeface="Arial"/>
                </a:rPr>
                <a:t>individual users who are designated by user ID</a:t>
              </a:r>
              <a:endParaRPr sz="1700">
                <a:solidFill>
                  <a:schemeClr val="lt1"/>
                </a:solidFill>
                <a:latin typeface="Arial"/>
                <a:ea typeface="Arial"/>
                <a:cs typeface="Arial"/>
                <a:sym typeface="Arial"/>
              </a:endParaRPr>
            </a:p>
          </p:txBody>
        </p:sp>
        <p:sp>
          <p:nvSpPr>
            <p:cNvPr id="739" name="Google Shape;739;p51"/>
            <p:cNvSpPr/>
            <p:nvPr/>
          </p:nvSpPr>
          <p:spPr>
            <a:xfrm>
              <a:off x="3916376" y="0"/>
              <a:ext cx="1820707" cy="4038600"/>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51"/>
            <p:cNvSpPr txBox="1"/>
            <p:nvPr/>
          </p:nvSpPr>
          <p:spPr>
            <a:xfrm>
              <a:off x="3916376" y="0"/>
              <a:ext cx="1820707" cy="1211580"/>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None/>
              </a:pPr>
              <a:r>
                <a:rPr lang="en-US" sz="3500">
                  <a:solidFill>
                    <a:schemeClr val="dk1"/>
                  </a:solidFill>
                  <a:latin typeface="Arial"/>
                  <a:ea typeface="Arial"/>
                  <a:cs typeface="Arial"/>
                  <a:sym typeface="Arial"/>
                </a:rPr>
                <a:t>User Groups</a:t>
              </a:r>
              <a:endParaRPr sz="3500">
                <a:solidFill>
                  <a:schemeClr val="dk1"/>
                </a:solidFill>
                <a:latin typeface="Arial"/>
                <a:ea typeface="Arial"/>
                <a:cs typeface="Arial"/>
                <a:sym typeface="Arial"/>
              </a:endParaRPr>
            </a:p>
          </p:txBody>
        </p:sp>
        <p:sp>
          <p:nvSpPr>
            <p:cNvPr id="741" name="Google Shape;741;p51"/>
            <p:cNvSpPr/>
            <p:nvPr/>
          </p:nvSpPr>
          <p:spPr>
            <a:xfrm>
              <a:off x="4098447" y="1211580"/>
              <a:ext cx="1456565" cy="2625090"/>
            </a:xfrm>
            <a:prstGeom prst="roundRect">
              <a:avLst>
                <a:gd fmla="val 10000" name="adj"/>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51"/>
            <p:cNvSpPr txBox="1"/>
            <p:nvPr/>
          </p:nvSpPr>
          <p:spPr>
            <a:xfrm>
              <a:off x="4141108" y="1254241"/>
              <a:ext cx="1371243" cy="2539768"/>
            </a:xfrm>
            <a:prstGeom prst="rect">
              <a:avLst/>
            </a:prstGeom>
            <a:noFill/>
            <a:ln>
              <a:noFill/>
            </a:ln>
          </p:spPr>
          <p:txBody>
            <a:bodyPr anchorCtr="0" anchor="ctr" bIns="32375" lIns="43175" spcFirstLastPara="1" rIns="43175" wrap="square" tIns="32375">
              <a:noAutofit/>
            </a:bodyPr>
            <a:lstStyle/>
            <a:p>
              <a:pPr indent="0" lvl="0" marL="0" marR="0" rtl="0" algn="ctr">
                <a:lnSpc>
                  <a:spcPct val="90000"/>
                </a:lnSpc>
                <a:spcBef>
                  <a:spcPts val="0"/>
                </a:spcBef>
                <a:spcAft>
                  <a:spcPts val="0"/>
                </a:spcAft>
                <a:buNone/>
              </a:pPr>
              <a:r>
                <a:rPr lang="en-US" sz="1700">
                  <a:solidFill>
                    <a:schemeClr val="lt1"/>
                  </a:solidFill>
                  <a:latin typeface="Arial"/>
                  <a:ea typeface="Arial"/>
                  <a:cs typeface="Arial"/>
                  <a:sym typeface="Arial"/>
                </a:rPr>
                <a:t>a set of users who are not individually defined</a:t>
              </a:r>
              <a:endParaRPr sz="1700">
                <a:solidFill>
                  <a:schemeClr val="lt1"/>
                </a:solidFill>
                <a:latin typeface="Arial"/>
                <a:ea typeface="Arial"/>
                <a:cs typeface="Arial"/>
                <a:sym typeface="Arial"/>
              </a:endParaRPr>
            </a:p>
          </p:txBody>
        </p:sp>
        <p:sp>
          <p:nvSpPr>
            <p:cNvPr id="743" name="Google Shape;743;p51"/>
            <p:cNvSpPr/>
            <p:nvPr/>
          </p:nvSpPr>
          <p:spPr>
            <a:xfrm>
              <a:off x="5873637" y="0"/>
              <a:ext cx="1820707" cy="4038600"/>
            </a:xfrm>
            <a:prstGeom prst="roundRect">
              <a:avLst>
                <a:gd fmla="val 10000" name="adj"/>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51"/>
            <p:cNvSpPr txBox="1"/>
            <p:nvPr/>
          </p:nvSpPr>
          <p:spPr>
            <a:xfrm>
              <a:off x="5873637" y="0"/>
              <a:ext cx="1820707" cy="1211580"/>
            </a:xfrm>
            <a:prstGeom prst="rect">
              <a:avLst/>
            </a:prstGeom>
            <a:noFill/>
            <a:ln>
              <a:noFill/>
            </a:ln>
          </p:spPr>
          <p:txBody>
            <a:bodyPr anchorCtr="0" anchor="ctr" bIns="133350" lIns="133350" spcFirstLastPara="1" rIns="133350" wrap="square" tIns="133350">
              <a:noAutofit/>
            </a:bodyPr>
            <a:lstStyle/>
            <a:p>
              <a:pPr indent="0" lvl="0" marL="0" marR="0" rtl="0" algn="ctr">
                <a:lnSpc>
                  <a:spcPct val="90000"/>
                </a:lnSpc>
                <a:spcBef>
                  <a:spcPts val="0"/>
                </a:spcBef>
                <a:spcAft>
                  <a:spcPts val="0"/>
                </a:spcAft>
                <a:buNone/>
              </a:pPr>
              <a:r>
                <a:rPr lang="en-US" sz="3500">
                  <a:solidFill>
                    <a:schemeClr val="dk1"/>
                  </a:solidFill>
                  <a:latin typeface="Arial"/>
                  <a:ea typeface="Arial"/>
                  <a:cs typeface="Arial"/>
                  <a:sym typeface="Arial"/>
                </a:rPr>
                <a:t>All</a:t>
              </a:r>
              <a:endParaRPr sz="3500">
                <a:solidFill>
                  <a:schemeClr val="dk1"/>
                </a:solidFill>
                <a:latin typeface="Arial"/>
                <a:ea typeface="Arial"/>
                <a:cs typeface="Arial"/>
                <a:sym typeface="Arial"/>
              </a:endParaRPr>
            </a:p>
          </p:txBody>
        </p:sp>
        <p:sp>
          <p:nvSpPr>
            <p:cNvPr id="745" name="Google Shape;745;p51"/>
            <p:cNvSpPr/>
            <p:nvPr/>
          </p:nvSpPr>
          <p:spPr>
            <a:xfrm>
              <a:off x="6055707" y="1212763"/>
              <a:ext cx="1456565" cy="1217693"/>
            </a:xfrm>
            <a:prstGeom prst="roundRect">
              <a:avLst>
                <a:gd fmla="val 1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51"/>
            <p:cNvSpPr txBox="1"/>
            <p:nvPr/>
          </p:nvSpPr>
          <p:spPr>
            <a:xfrm>
              <a:off x="6091372" y="1248428"/>
              <a:ext cx="1385235" cy="1146363"/>
            </a:xfrm>
            <a:prstGeom prst="rect">
              <a:avLst/>
            </a:prstGeom>
            <a:noFill/>
            <a:ln>
              <a:noFill/>
            </a:ln>
          </p:spPr>
          <p:txBody>
            <a:bodyPr anchorCtr="0" anchor="ctr" bIns="32375" lIns="43175" spcFirstLastPara="1" rIns="43175" wrap="square" tIns="32375">
              <a:noAutofit/>
            </a:bodyPr>
            <a:lstStyle/>
            <a:p>
              <a:pPr indent="0" lvl="0" marL="0" marR="0" rtl="0" algn="ctr">
                <a:lnSpc>
                  <a:spcPct val="90000"/>
                </a:lnSpc>
                <a:spcBef>
                  <a:spcPts val="0"/>
                </a:spcBef>
                <a:spcAft>
                  <a:spcPts val="0"/>
                </a:spcAft>
                <a:buNone/>
              </a:pPr>
              <a:r>
                <a:rPr lang="en-US" sz="1700">
                  <a:solidFill>
                    <a:schemeClr val="lt1"/>
                  </a:solidFill>
                  <a:latin typeface="Arial"/>
                  <a:ea typeface="Arial"/>
                  <a:cs typeface="Arial"/>
                  <a:sym typeface="Arial"/>
                </a:rPr>
                <a:t>all users who have access to this system</a:t>
              </a:r>
              <a:endParaRPr sz="1700">
                <a:solidFill>
                  <a:schemeClr val="lt1"/>
                </a:solidFill>
                <a:latin typeface="Arial"/>
                <a:ea typeface="Arial"/>
                <a:cs typeface="Arial"/>
                <a:sym typeface="Arial"/>
              </a:endParaRPr>
            </a:p>
          </p:txBody>
        </p:sp>
        <p:sp>
          <p:nvSpPr>
            <p:cNvPr id="747" name="Google Shape;747;p51"/>
            <p:cNvSpPr/>
            <p:nvPr/>
          </p:nvSpPr>
          <p:spPr>
            <a:xfrm>
              <a:off x="6055707" y="2617793"/>
              <a:ext cx="1456565" cy="1217693"/>
            </a:xfrm>
            <a:prstGeom prst="roundRect">
              <a:avLst>
                <a:gd fmla="val 1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51"/>
            <p:cNvSpPr txBox="1"/>
            <p:nvPr/>
          </p:nvSpPr>
          <p:spPr>
            <a:xfrm>
              <a:off x="6091372" y="2653458"/>
              <a:ext cx="1385235" cy="1146363"/>
            </a:xfrm>
            <a:prstGeom prst="rect">
              <a:avLst/>
            </a:prstGeom>
            <a:noFill/>
            <a:ln>
              <a:noFill/>
            </a:ln>
          </p:spPr>
          <p:txBody>
            <a:bodyPr anchorCtr="0" anchor="ctr" bIns="32375" lIns="43175" spcFirstLastPara="1" rIns="43175" wrap="square" tIns="32375">
              <a:noAutofit/>
            </a:bodyPr>
            <a:lstStyle/>
            <a:p>
              <a:pPr indent="0" lvl="0" marL="0" marR="0" rtl="0" algn="ctr">
                <a:lnSpc>
                  <a:spcPct val="90000"/>
                </a:lnSpc>
                <a:spcBef>
                  <a:spcPts val="0"/>
                </a:spcBef>
                <a:spcAft>
                  <a:spcPts val="0"/>
                </a:spcAft>
                <a:buNone/>
              </a:pPr>
              <a:r>
                <a:rPr lang="en-US" sz="1700">
                  <a:solidFill>
                    <a:schemeClr val="lt1"/>
                  </a:solidFill>
                  <a:latin typeface="Arial"/>
                  <a:ea typeface="Arial"/>
                  <a:cs typeface="Arial"/>
                  <a:sym typeface="Arial"/>
                </a:rPr>
                <a:t>these are public files</a:t>
              </a:r>
              <a:endParaRPr sz="1700">
                <a:solidFill>
                  <a:schemeClr val="lt1"/>
                </a:solidFill>
                <a:latin typeface="Arial"/>
                <a:ea typeface="Arial"/>
                <a:cs typeface="Arial"/>
                <a:sym typeface="Arial"/>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Secondary Storage Management</a:t>
            </a:r>
            <a:endParaRPr/>
          </a:p>
        </p:txBody>
      </p:sp>
      <p:sp>
        <p:nvSpPr>
          <p:cNvPr id="755" name="Google Shape;755;p52"/>
          <p:cNvSpPr txBox="1"/>
          <p:nvPr>
            <p:ph idx="4294967295" type="body"/>
          </p:nvPr>
        </p:nvSpPr>
        <p:spPr>
          <a:xfrm>
            <a:off x="609600" y="2362200"/>
            <a:ext cx="7848600" cy="38862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On secondary storage, a file consists of a collection of blocks. </a:t>
            </a:r>
            <a:endParaRPr/>
          </a:p>
          <a:p>
            <a:pPr indent="-282575" lvl="0" marL="282575" rtl="0" algn="l">
              <a:spcBef>
                <a:spcPts val="1800"/>
              </a:spcBef>
              <a:spcAft>
                <a:spcPts val="0"/>
              </a:spcAft>
              <a:buSzPts val="1500"/>
              <a:buChar char="■"/>
            </a:pPr>
            <a:r>
              <a:rPr lang="en-US"/>
              <a:t>The operating system or file management system is responsible for allocating blocks to files.</a:t>
            </a:r>
            <a:endParaRPr/>
          </a:p>
          <a:p>
            <a:pPr indent="-282575" lvl="0" marL="282575" rtl="0" algn="l">
              <a:spcBef>
                <a:spcPts val="1800"/>
              </a:spcBef>
              <a:spcAft>
                <a:spcPts val="0"/>
              </a:spcAft>
              <a:buSzPts val="1500"/>
              <a:buChar char="■"/>
            </a:pPr>
            <a:r>
              <a:rPr lang="en-US"/>
              <a:t>This raises two management issues. </a:t>
            </a:r>
            <a:endParaRPr/>
          </a:p>
          <a:p>
            <a:pPr indent="-295275" lvl="1" marL="577850" rtl="0" algn="l">
              <a:spcBef>
                <a:spcPts val="600"/>
              </a:spcBef>
              <a:spcAft>
                <a:spcPts val="0"/>
              </a:spcAft>
              <a:buSzPts val="1350"/>
              <a:buChar char="■"/>
            </a:pPr>
            <a:r>
              <a:rPr lang="en-US"/>
              <a:t>First, space on secondary storage must be allocated to files,</a:t>
            </a:r>
            <a:endParaRPr/>
          </a:p>
          <a:p>
            <a:pPr indent="-295275" lvl="1" marL="577850" rtl="0" algn="l">
              <a:spcBef>
                <a:spcPts val="600"/>
              </a:spcBef>
              <a:spcAft>
                <a:spcPts val="0"/>
              </a:spcAft>
              <a:buSzPts val="1350"/>
              <a:buChar char="■"/>
            </a:pPr>
            <a:r>
              <a:rPr lang="en-US"/>
              <a:t>Second, it is necessary to keep track of the space available for allocation.</a:t>
            </a:r>
            <a:endParaRPr/>
          </a:p>
        </p:txBody>
      </p:sp>
      <p:pic>
        <p:nvPicPr>
          <p:cNvPr id="756" name="Google Shape;756;p52"/>
          <p:cNvPicPr preferRelativeResize="0"/>
          <p:nvPr/>
        </p:nvPicPr>
        <p:blipFill rotWithShape="1">
          <a:blip r:embed="rId3">
            <a:alphaModFix/>
          </a:blip>
          <a:srcRect b="0" l="0" r="0" t="0"/>
          <a:stretch/>
        </p:blipFill>
        <p:spPr>
          <a:xfrm rot="-1525842">
            <a:off x="900113" y="247650"/>
            <a:ext cx="1514475" cy="158908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53"/>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 Allocation </a:t>
            </a:r>
            <a:endParaRPr/>
          </a:p>
        </p:txBody>
      </p:sp>
      <p:sp>
        <p:nvSpPr>
          <p:cNvPr id="763" name="Google Shape;763;p53"/>
          <p:cNvSpPr txBox="1"/>
          <p:nvPr>
            <p:ph idx="4294967295" type="body"/>
          </p:nvPr>
        </p:nvSpPr>
        <p:spPr>
          <a:xfrm>
            <a:off x="609600" y="2362200"/>
            <a:ext cx="7848600" cy="38862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2500"/>
              <a:buFont typeface="Noto Sans Symbols"/>
              <a:buChar char="▪"/>
            </a:pPr>
            <a:r>
              <a:rPr lang="en-US"/>
              <a:t>Disks are divided into physical blocks (sectors on a track)</a:t>
            </a:r>
            <a:endParaRPr/>
          </a:p>
          <a:p>
            <a:pPr indent="-282575" lvl="0" marL="282575" rtl="0" algn="l">
              <a:spcBef>
                <a:spcPts val="1800"/>
              </a:spcBef>
              <a:spcAft>
                <a:spcPts val="0"/>
              </a:spcAft>
              <a:buSzPts val="2500"/>
              <a:buFont typeface="Noto Sans Symbols"/>
              <a:buChar char="▪"/>
            </a:pPr>
            <a:r>
              <a:rPr lang="en-US"/>
              <a:t>Files are divided into logical blocks (subdivisions of the file)</a:t>
            </a:r>
            <a:endParaRPr/>
          </a:p>
          <a:p>
            <a:pPr indent="-282575" lvl="0" marL="282575" rtl="0" algn="l">
              <a:spcBef>
                <a:spcPts val="1800"/>
              </a:spcBef>
              <a:spcAft>
                <a:spcPts val="0"/>
              </a:spcAft>
              <a:buSzPts val="2500"/>
              <a:buFont typeface="Noto Sans Symbols"/>
              <a:buChar char="▪"/>
            </a:pPr>
            <a:r>
              <a:rPr lang="en-US"/>
              <a:t>Logical block size = some multiple of a physical block size</a:t>
            </a:r>
            <a:endParaRPr/>
          </a:p>
        </p:txBody>
      </p:sp>
      <p:pic>
        <p:nvPicPr>
          <p:cNvPr id="764" name="Google Shape;764;p53"/>
          <p:cNvPicPr preferRelativeResize="0"/>
          <p:nvPr/>
        </p:nvPicPr>
        <p:blipFill rotWithShape="1">
          <a:blip r:embed="rId3">
            <a:alphaModFix/>
          </a:blip>
          <a:srcRect b="0" l="0" r="0" t="0"/>
          <a:stretch/>
        </p:blipFill>
        <p:spPr>
          <a:xfrm rot="-1525842">
            <a:off x="900113" y="247650"/>
            <a:ext cx="1514475" cy="158908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54"/>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 Allocation </a:t>
            </a:r>
            <a:endParaRPr/>
          </a:p>
        </p:txBody>
      </p:sp>
      <p:sp>
        <p:nvSpPr>
          <p:cNvPr id="771" name="Google Shape;771;p54"/>
          <p:cNvSpPr txBox="1"/>
          <p:nvPr>
            <p:ph idx="4294967295" type="body"/>
          </p:nvPr>
        </p:nvSpPr>
        <p:spPr>
          <a:xfrm>
            <a:off x="609600" y="2362200"/>
            <a:ext cx="7848600" cy="38862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2500"/>
              <a:buFont typeface="Noto Sans Symbols"/>
              <a:buChar char="▪"/>
            </a:pPr>
            <a:r>
              <a:rPr lang="en-US"/>
              <a:t>The operating system or file management system is responsible for allocating blocks to files</a:t>
            </a:r>
            <a:endParaRPr/>
          </a:p>
          <a:p>
            <a:pPr indent="-282575" lvl="0" marL="282575" rtl="0" algn="l">
              <a:spcBef>
                <a:spcPts val="1800"/>
              </a:spcBef>
              <a:spcAft>
                <a:spcPts val="0"/>
              </a:spcAft>
              <a:buSzPts val="2500"/>
              <a:buFont typeface="Noto Sans Symbols"/>
              <a:buChar char="▪"/>
            </a:pPr>
            <a:r>
              <a:rPr lang="en-US"/>
              <a:t>Space is allocated to a file as one or more </a:t>
            </a:r>
            <a:r>
              <a:rPr b="1" i="1" lang="en-US"/>
              <a:t>portions </a:t>
            </a:r>
            <a:r>
              <a:rPr lang="en-US"/>
              <a:t>(contiguous set of allocated disk blocks).  A portion is the logical block size</a:t>
            </a:r>
            <a:endParaRPr/>
          </a:p>
          <a:p>
            <a:pPr indent="-282575" lvl="0" marL="282575" rtl="0" algn="l">
              <a:spcBef>
                <a:spcPts val="1800"/>
              </a:spcBef>
              <a:spcAft>
                <a:spcPts val="0"/>
              </a:spcAft>
              <a:buSzPts val="2500"/>
              <a:buFont typeface="Noto Sans Symbols"/>
              <a:buChar char="▪"/>
            </a:pPr>
            <a:r>
              <a:rPr b="1" i="1" lang="en-US"/>
              <a:t>File allocation table (FAT)</a:t>
            </a:r>
            <a:endParaRPr/>
          </a:p>
          <a:p>
            <a:pPr indent="-282575" lvl="2" marL="860425" rtl="0" algn="l">
              <a:spcBef>
                <a:spcPts val="600"/>
              </a:spcBef>
              <a:spcAft>
                <a:spcPts val="0"/>
              </a:spcAft>
              <a:buSzPts val="2250"/>
              <a:buFont typeface="Noto Sans Symbols"/>
              <a:buChar char="▪"/>
            </a:pPr>
            <a:r>
              <a:rPr lang="en-US"/>
              <a:t>data structure used to keep track of the portions assigned to a file</a:t>
            </a:r>
            <a:endParaRPr/>
          </a:p>
        </p:txBody>
      </p:sp>
      <p:pic>
        <p:nvPicPr>
          <p:cNvPr id="772" name="Google Shape;772;p54"/>
          <p:cNvPicPr preferRelativeResize="0"/>
          <p:nvPr/>
        </p:nvPicPr>
        <p:blipFill rotWithShape="1">
          <a:blip r:embed="rId3">
            <a:alphaModFix/>
          </a:blip>
          <a:srcRect b="0" l="0" r="0" t="0"/>
          <a:stretch/>
        </p:blipFill>
        <p:spPr>
          <a:xfrm rot="-1525842">
            <a:off x="900113" y="247650"/>
            <a:ext cx="1514475" cy="158908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55"/>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t>Preallocation vs </a:t>
            </a:r>
            <a:br>
              <a:rPr lang="en-US"/>
            </a:br>
            <a:r>
              <a:rPr lang="en-US"/>
              <a:t>Dynamic Allocation</a:t>
            </a:r>
            <a:endParaRPr/>
          </a:p>
        </p:txBody>
      </p:sp>
      <p:sp>
        <p:nvSpPr>
          <p:cNvPr id="779" name="Google Shape;779;p55"/>
          <p:cNvSpPr txBox="1"/>
          <p:nvPr>
            <p:ph idx="4294967295" type="body"/>
          </p:nvPr>
        </p:nvSpPr>
        <p:spPr>
          <a:xfrm>
            <a:off x="609600" y="2209800"/>
            <a:ext cx="7924800" cy="41148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a:solidFill>
                  <a:srgbClr val="262626"/>
                </a:solidFill>
              </a:rPr>
              <a:t>A preallocation policy requires that the maximum size of a file be declared at the time of the file creation request</a:t>
            </a:r>
            <a:endParaRPr/>
          </a:p>
          <a:p>
            <a:pPr indent="-282575" lvl="0" marL="282575" rtl="0" algn="l">
              <a:spcBef>
                <a:spcPts val="1800"/>
              </a:spcBef>
              <a:spcAft>
                <a:spcPts val="0"/>
              </a:spcAft>
              <a:buSzPts val="1500"/>
              <a:buChar char="■"/>
            </a:pPr>
            <a:r>
              <a:rPr lang="en-US">
                <a:solidFill>
                  <a:srgbClr val="262626"/>
                </a:solidFill>
              </a:rPr>
              <a:t>For many applications it is difficult to estimate reliably the maximum potential size of the file</a:t>
            </a:r>
            <a:endParaRPr/>
          </a:p>
          <a:p>
            <a:pPr indent="-282575" lvl="2" marL="860425" rtl="0" algn="l">
              <a:spcBef>
                <a:spcPts val="600"/>
              </a:spcBef>
              <a:spcAft>
                <a:spcPts val="0"/>
              </a:spcAft>
              <a:buSzPts val="1350"/>
              <a:buChar char="■"/>
            </a:pPr>
            <a:r>
              <a:rPr lang="en-US">
                <a:solidFill>
                  <a:srgbClr val="262626"/>
                </a:solidFill>
              </a:rPr>
              <a:t>tends to be wasteful because users and application programmers tend to overestimate size</a:t>
            </a:r>
            <a:endParaRPr/>
          </a:p>
          <a:p>
            <a:pPr indent="-282575" lvl="2" marL="282575" rtl="0" algn="l">
              <a:spcBef>
                <a:spcPts val="1800"/>
              </a:spcBef>
              <a:spcAft>
                <a:spcPts val="0"/>
              </a:spcAft>
              <a:buSzPts val="1500"/>
              <a:buChar char="■"/>
            </a:pPr>
            <a:r>
              <a:rPr lang="en-US" sz="2000">
                <a:solidFill>
                  <a:srgbClr val="262626"/>
                </a:solidFill>
              </a:rPr>
              <a:t>Dynamic allocation allocates space to a file in portions as needed</a:t>
            </a:r>
            <a:endParaRPr sz="2000">
              <a:solidFill>
                <a:srgbClr val="262626"/>
              </a:solidFill>
            </a:endParaRPr>
          </a:p>
        </p:txBody>
      </p:sp>
      <p:pic>
        <p:nvPicPr>
          <p:cNvPr id="780" name="Google Shape;780;p55"/>
          <p:cNvPicPr preferRelativeResize="0"/>
          <p:nvPr/>
        </p:nvPicPr>
        <p:blipFill rotWithShape="1">
          <a:blip r:embed="rId3">
            <a:alphaModFix/>
          </a:blip>
          <a:srcRect b="0" l="0" r="0" t="0"/>
          <a:stretch/>
        </p:blipFill>
        <p:spPr>
          <a:xfrm>
            <a:off x="4267200" y="5029200"/>
            <a:ext cx="1304925" cy="15049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56"/>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Portion Size</a:t>
            </a:r>
            <a:endParaRPr/>
          </a:p>
        </p:txBody>
      </p:sp>
      <p:sp>
        <p:nvSpPr>
          <p:cNvPr id="787" name="Google Shape;787;p56"/>
          <p:cNvSpPr txBox="1"/>
          <p:nvPr>
            <p:ph idx="4294967295" type="body"/>
          </p:nvPr>
        </p:nvSpPr>
        <p:spPr>
          <a:xfrm>
            <a:off x="609600" y="2209800"/>
            <a:ext cx="79248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In choosing a portion size there is a trade-off between efficiency from the point of view of a single file versus overall system efficiency</a:t>
            </a:r>
            <a:endParaRPr/>
          </a:p>
          <a:p>
            <a:pPr indent="-282575" lvl="0" marL="282575" rtl="0" algn="l">
              <a:spcBef>
                <a:spcPts val="1800"/>
              </a:spcBef>
              <a:spcAft>
                <a:spcPts val="0"/>
              </a:spcAft>
              <a:buSzPts val="1500"/>
              <a:buChar char="■"/>
            </a:pPr>
            <a:r>
              <a:rPr lang="en-US"/>
              <a:t>Items to be considered:</a:t>
            </a:r>
            <a:endParaRPr/>
          </a:p>
          <a:p>
            <a:pPr indent="-457200" lvl="2" marL="1035050" rtl="0" algn="l">
              <a:spcBef>
                <a:spcPts val="600"/>
              </a:spcBef>
              <a:spcAft>
                <a:spcPts val="0"/>
              </a:spcAft>
              <a:buSzPts val="2000"/>
              <a:buFont typeface="Lustria"/>
              <a:buAutoNum type="arabicParenR"/>
            </a:pPr>
            <a:r>
              <a:rPr lang="en-US" sz="2000"/>
              <a:t>contiguity of space increases performance, especially for </a:t>
            </a:r>
            <a:r>
              <a:rPr lang="en-US" sz="2000">
                <a:latin typeface="Cutive"/>
                <a:ea typeface="Cutive"/>
                <a:cs typeface="Cutive"/>
                <a:sym typeface="Cutive"/>
              </a:rPr>
              <a:t>Retrieve_Next</a:t>
            </a:r>
            <a:r>
              <a:rPr lang="en-US" sz="2000"/>
              <a:t> operations, and greatly for transactions running in a transaction-oriented operating system</a:t>
            </a:r>
            <a:endParaRPr/>
          </a:p>
          <a:p>
            <a:pPr indent="-457200" lvl="2" marL="1035050" rtl="0" algn="l">
              <a:spcBef>
                <a:spcPts val="600"/>
              </a:spcBef>
              <a:spcAft>
                <a:spcPts val="0"/>
              </a:spcAft>
              <a:buSzPts val="2000"/>
              <a:buFont typeface="Lustria"/>
              <a:buAutoNum type="arabicParenR"/>
            </a:pPr>
            <a:r>
              <a:rPr lang="en-US" sz="2000"/>
              <a:t>having a large number of small portions increases the size of tables needed to manage the allocation information</a:t>
            </a:r>
            <a:endParaRPr/>
          </a:p>
          <a:p>
            <a:pPr indent="-457200" lvl="2" marL="1035050" rtl="0" algn="l">
              <a:spcBef>
                <a:spcPts val="600"/>
              </a:spcBef>
              <a:spcAft>
                <a:spcPts val="0"/>
              </a:spcAft>
              <a:buSzPts val="2000"/>
              <a:buFont typeface="Lustria"/>
              <a:buAutoNum type="arabicParenR"/>
            </a:pPr>
            <a:r>
              <a:rPr lang="en-US" sz="2000"/>
              <a:t>having fixed-size portions simplifies the reallocation of space</a:t>
            </a:r>
            <a:endParaRPr/>
          </a:p>
          <a:p>
            <a:pPr indent="-457200" lvl="2" marL="1035050" rtl="0" algn="l">
              <a:spcBef>
                <a:spcPts val="600"/>
              </a:spcBef>
              <a:spcAft>
                <a:spcPts val="0"/>
              </a:spcAft>
              <a:buSzPts val="2000"/>
              <a:buFont typeface="Lustria"/>
              <a:buAutoNum type="arabicParenR"/>
            </a:pPr>
            <a:r>
              <a:rPr lang="en-US" sz="2000"/>
              <a:t>having variable-size or small fixed-size portions minimizes waste of unused storage due to overallocation</a:t>
            </a:r>
            <a:endParaRPr/>
          </a:p>
        </p:txBody>
      </p:sp>
      <p:pic>
        <p:nvPicPr>
          <p:cNvPr id="788" name="Google Shape;788;p56"/>
          <p:cNvPicPr preferRelativeResize="0"/>
          <p:nvPr/>
        </p:nvPicPr>
        <p:blipFill rotWithShape="1">
          <a:blip r:embed="rId3">
            <a:alphaModFix/>
          </a:blip>
          <a:srcRect b="0" l="0" r="0" t="0"/>
          <a:stretch/>
        </p:blipFill>
        <p:spPr>
          <a:xfrm>
            <a:off x="838200" y="533400"/>
            <a:ext cx="1736725" cy="12414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7"/>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Summarizing the Alternatives</a:t>
            </a:r>
            <a:endParaRPr/>
          </a:p>
        </p:txBody>
      </p:sp>
      <p:sp>
        <p:nvSpPr>
          <p:cNvPr id="795" name="Google Shape;795;p57"/>
          <p:cNvSpPr txBox="1"/>
          <p:nvPr>
            <p:ph idx="1" type="body"/>
          </p:nvPr>
        </p:nvSpPr>
        <p:spPr>
          <a:xfrm>
            <a:off x="654050" y="2209800"/>
            <a:ext cx="7848600" cy="43434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650"/>
              <a:buChar char="■"/>
            </a:pPr>
            <a:r>
              <a:rPr lang="en-US" sz="2200">
                <a:solidFill>
                  <a:srgbClr val="262626"/>
                </a:solidFill>
              </a:rPr>
              <a:t>Two major alternatives:</a:t>
            </a:r>
            <a:endParaRPr/>
          </a:p>
          <a:p>
            <a:pPr indent="-229234" lvl="0" marL="746125" rtl="0" algn="l">
              <a:spcBef>
                <a:spcPts val="1800"/>
              </a:spcBef>
              <a:spcAft>
                <a:spcPts val="0"/>
              </a:spcAft>
              <a:buSzPts val="1890"/>
              <a:buFont typeface="Lustria"/>
              <a:buNone/>
            </a:pPr>
            <a:r>
              <a:t/>
            </a:r>
            <a:endParaRPr>
              <a:solidFill>
                <a:srgbClr val="262626"/>
              </a:solidFill>
            </a:endParaRPr>
          </a:p>
        </p:txBody>
      </p:sp>
      <p:grpSp>
        <p:nvGrpSpPr>
          <p:cNvPr id="796" name="Google Shape;796;p57"/>
          <p:cNvGrpSpPr/>
          <p:nvPr/>
        </p:nvGrpSpPr>
        <p:grpSpPr>
          <a:xfrm>
            <a:off x="1679452" y="2743199"/>
            <a:ext cx="6089896" cy="3759200"/>
            <a:chOff x="3052" y="-1"/>
            <a:chExt cx="6089896" cy="3759200"/>
          </a:xfrm>
        </p:grpSpPr>
        <p:sp>
          <p:nvSpPr>
            <p:cNvPr id="797" name="Google Shape;797;p57"/>
            <p:cNvSpPr/>
            <p:nvPr/>
          </p:nvSpPr>
          <p:spPr>
            <a:xfrm rot="-5400000">
              <a:off x="-409103" y="412154"/>
              <a:ext cx="3759200" cy="2934890"/>
            </a:xfrm>
            <a:prstGeom prst="flowChartManualOperation">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57"/>
            <p:cNvSpPr txBox="1"/>
            <p:nvPr/>
          </p:nvSpPr>
          <p:spPr>
            <a:xfrm>
              <a:off x="3052" y="751839"/>
              <a:ext cx="2934890" cy="2255520"/>
            </a:xfrm>
            <a:prstGeom prst="rect">
              <a:avLst/>
            </a:prstGeom>
            <a:noFill/>
            <a:ln>
              <a:noFill/>
            </a:ln>
          </p:spPr>
          <p:txBody>
            <a:bodyPr anchorCtr="0" anchor="t" bIns="0" lIns="120650" spcFirstLastPara="1" rIns="120300" wrap="square" tIns="0">
              <a:noAutofit/>
            </a:bodyPr>
            <a:lstStyle/>
            <a:p>
              <a:pPr indent="0" lvl="0" marL="0" marR="0" rtl="0" algn="l">
                <a:lnSpc>
                  <a:spcPct val="90000"/>
                </a:lnSpc>
                <a:spcBef>
                  <a:spcPts val="0"/>
                </a:spcBef>
                <a:spcAft>
                  <a:spcPts val="0"/>
                </a:spcAft>
                <a:buNone/>
              </a:pPr>
              <a:r>
                <a:rPr b="1" lang="en-US" sz="1900">
                  <a:solidFill>
                    <a:schemeClr val="lt1"/>
                  </a:solidFill>
                  <a:latin typeface="Arial"/>
                  <a:ea typeface="Arial"/>
                  <a:cs typeface="Arial"/>
                  <a:sym typeface="Arial"/>
                </a:rPr>
                <a:t>Variable, large contiguous portions</a:t>
              </a:r>
              <a:endParaRPr sz="1900">
                <a:solidFill>
                  <a:schemeClr val="lt1"/>
                </a:solidFill>
                <a:latin typeface="Arial"/>
                <a:ea typeface="Arial"/>
                <a:cs typeface="Arial"/>
                <a:sym typeface="Arial"/>
              </a:endParaRPr>
            </a:p>
            <a:p>
              <a:pPr indent="-114300" lvl="1" marL="114300" marR="0" rtl="0" algn="l">
                <a:lnSpc>
                  <a:spcPct val="90000"/>
                </a:lnSpc>
                <a:spcBef>
                  <a:spcPts val="665"/>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provides better performance</a:t>
              </a:r>
              <a:endParaRPr b="0" i="0" sz="1500" u="none" cap="none" strike="noStrike">
                <a:solidFill>
                  <a:schemeClr val="lt1"/>
                </a:solidFill>
                <a:latin typeface="Arial"/>
                <a:ea typeface="Arial"/>
                <a:cs typeface="Arial"/>
                <a:sym typeface="Arial"/>
              </a:endParaRPr>
            </a:p>
            <a:p>
              <a:pPr indent="-114300" lvl="1" marL="114300" marR="0" rtl="0" algn="l">
                <a:lnSpc>
                  <a:spcPct val="90000"/>
                </a:lnSpc>
                <a:spcBef>
                  <a:spcPts val="225"/>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the variable size avoids waste</a:t>
              </a:r>
              <a:endParaRPr b="0" i="0" sz="1500" u="none" cap="none" strike="noStrike">
                <a:solidFill>
                  <a:schemeClr val="lt1"/>
                </a:solidFill>
                <a:latin typeface="Arial"/>
                <a:ea typeface="Arial"/>
                <a:cs typeface="Arial"/>
                <a:sym typeface="Arial"/>
              </a:endParaRPr>
            </a:p>
            <a:p>
              <a:pPr indent="-114300" lvl="1" marL="114300" marR="0" rtl="0" algn="l">
                <a:lnSpc>
                  <a:spcPct val="90000"/>
                </a:lnSpc>
                <a:spcBef>
                  <a:spcPts val="225"/>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the file allocation tables are small</a:t>
              </a:r>
              <a:endParaRPr b="0" i="0" sz="1500" u="none" cap="none" strike="noStrike">
                <a:solidFill>
                  <a:schemeClr val="lt1"/>
                </a:solidFill>
                <a:latin typeface="Arial"/>
                <a:ea typeface="Arial"/>
                <a:cs typeface="Arial"/>
                <a:sym typeface="Arial"/>
              </a:endParaRPr>
            </a:p>
          </p:txBody>
        </p:sp>
        <p:sp>
          <p:nvSpPr>
            <p:cNvPr id="799" name="Google Shape;799;p57"/>
            <p:cNvSpPr/>
            <p:nvPr/>
          </p:nvSpPr>
          <p:spPr>
            <a:xfrm rot="-5400000">
              <a:off x="2745903" y="412154"/>
              <a:ext cx="3759200" cy="2934890"/>
            </a:xfrm>
            <a:prstGeom prst="flowChartManualOperation">
              <a:avLst/>
            </a:prstGeom>
            <a:gradFill>
              <a:gsLst>
                <a:gs pos="0">
                  <a:srgbClr val="780000">
                    <a:alpha val="89803"/>
                  </a:srgbClr>
                </a:gs>
                <a:gs pos="100000">
                  <a:srgbClr val="AD0000">
                    <a:alpha val="89803"/>
                  </a:srgbClr>
                </a:gs>
              </a:gsLst>
              <a:lin ang="54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57"/>
            <p:cNvSpPr txBox="1"/>
            <p:nvPr/>
          </p:nvSpPr>
          <p:spPr>
            <a:xfrm>
              <a:off x="3158058" y="751839"/>
              <a:ext cx="2934890" cy="2255520"/>
            </a:xfrm>
            <a:prstGeom prst="rect">
              <a:avLst/>
            </a:prstGeom>
            <a:noFill/>
            <a:ln>
              <a:noFill/>
            </a:ln>
          </p:spPr>
          <p:txBody>
            <a:bodyPr anchorCtr="0" anchor="t" bIns="0" lIns="120650" spcFirstLastPara="1" rIns="120300" wrap="square" tIns="0">
              <a:noAutofit/>
            </a:bodyPr>
            <a:lstStyle/>
            <a:p>
              <a:pPr indent="0" lvl="0" marL="0" marR="0" rtl="0" algn="l">
                <a:lnSpc>
                  <a:spcPct val="90000"/>
                </a:lnSpc>
                <a:spcBef>
                  <a:spcPts val="0"/>
                </a:spcBef>
                <a:spcAft>
                  <a:spcPts val="0"/>
                </a:spcAft>
                <a:buNone/>
              </a:pPr>
              <a:r>
                <a:rPr b="1" lang="en-US" sz="1900">
                  <a:solidFill>
                    <a:schemeClr val="lt1"/>
                  </a:solidFill>
                  <a:latin typeface="Arial"/>
                  <a:ea typeface="Arial"/>
                  <a:cs typeface="Arial"/>
                  <a:sym typeface="Arial"/>
                </a:rPr>
                <a:t>Blocks</a:t>
              </a:r>
              <a:endParaRPr sz="1900">
                <a:solidFill>
                  <a:schemeClr val="lt1"/>
                </a:solidFill>
                <a:latin typeface="Arial"/>
                <a:ea typeface="Arial"/>
                <a:cs typeface="Arial"/>
                <a:sym typeface="Arial"/>
              </a:endParaRPr>
            </a:p>
            <a:p>
              <a:pPr indent="-114300" lvl="1" marL="114300" marR="0" rtl="0" algn="l">
                <a:lnSpc>
                  <a:spcPct val="90000"/>
                </a:lnSpc>
                <a:spcBef>
                  <a:spcPts val="665"/>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small fixed portions provide greater flexibility</a:t>
              </a:r>
              <a:endParaRPr b="0" i="0" sz="1500" u="none" cap="none" strike="noStrike">
                <a:solidFill>
                  <a:schemeClr val="lt1"/>
                </a:solidFill>
                <a:latin typeface="Arial"/>
                <a:ea typeface="Arial"/>
                <a:cs typeface="Arial"/>
                <a:sym typeface="Arial"/>
              </a:endParaRPr>
            </a:p>
            <a:p>
              <a:pPr indent="-114300" lvl="1" marL="114300" marR="0" rtl="0" algn="l">
                <a:lnSpc>
                  <a:spcPct val="90000"/>
                </a:lnSpc>
                <a:spcBef>
                  <a:spcPts val="225"/>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they may require large tables or complex structures for their allocation</a:t>
              </a:r>
              <a:endParaRPr b="0" i="0" sz="1500" u="none" cap="none" strike="noStrike">
                <a:solidFill>
                  <a:schemeClr val="lt1"/>
                </a:solidFill>
                <a:latin typeface="Arial"/>
                <a:ea typeface="Arial"/>
                <a:cs typeface="Arial"/>
                <a:sym typeface="Arial"/>
              </a:endParaRPr>
            </a:p>
            <a:p>
              <a:pPr indent="-114300" lvl="1" marL="114300" marR="0" rtl="0" algn="l">
                <a:lnSpc>
                  <a:spcPct val="90000"/>
                </a:lnSpc>
                <a:spcBef>
                  <a:spcPts val="225"/>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contiguity has been abandoned as a primary goal</a:t>
              </a:r>
              <a:endParaRPr b="0" i="0" sz="1500" u="none" cap="none" strike="noStrike">
                <a:solidFill>
                  <a:schemeClr val="lt1"/>
                </a:solidFill>
                <a:latin typeface="Arial"/>
                <a:ea typeface="Arial"/>
                <a:cs typeface="Arial"/>
                <a:sym typeface="Arial"/>
              </a:endParaRPr>
            </a:p>
            <a:p>
              <a:pPr indent="-114300" lvl="1" marL="114300" marR="0" rtl="0" algn="l">
                <a:lnSpc>
                  <a:spcPct val="90000"/>
                </a:lnSpc>
                <a:spcBef>
                  <a:spcPts val="225"/>
                </a:spcBef>
                <a:spcAft>
                  <a:spcPts val="0"/>
                </a:spcAft>
                <a:buClr>
                  <a:schemeClr val="lt1"/>
                </a:buClr>
                <a:buSzPts val="1500"/>
                <a:buFont typeface="Arial"/>
                <a:buChar char="•"/>
              </a:pPr>
              <a:r>
                <a:rPr b="0" i="0" lang="en-US" sz="1500" u="none" cap="none" strike="noStrike">
                  <a:solidFill>
                    <a:schemeClr val="lt1"/>
                  </a:solidFill>
                  <a:latin typeface="Arial"/>
                  <a:ea typeface="Arial"/>
                  <a:cs typeface="Arial"/>
                  <a:sym typeface="Arial"/>
                </a:rPr>
                <a:t>blocks are allocated as needed</a:t>
              </a:r>
              <a:endParaRPr b="0" i="0" sz="1500" u="none" cap="none" strike="noStrike">
                <a:solidFill>
                  <a:schemeClr val="lt1"/>
                </a:solidFill>
                <a:latin typeface="Arial"/>
                <a:ea typeface="Arial"/>
                <a:cs typeface="Arial"/>
                <a:sym typeface="Arial"/>
              </a:endParaRPr>
            </a:p>
          </p:txBody>
        </p:sp>
      </p:grpSp>
      <p:pic>
        <p:nvPicPr>
          <p:cNvPr id="801" name="Google Shape;801;p57"/>
          <p:cNvPicPr preferRelativeResize="0"/>
          <p:nvPr/>
        </p:nvPicPr>
        <p:blipFill rotWithShape="1">
          <a:blip r:embed="rId3">
            <a:alphaModFix/>
          </a:blip>
          <a:srcRect b="0" l="0" r="0" t="0"/>
          <a:stretch/>
        </p:blipFill>
        <p:spPr>
          <a:xfrm>
            <a:off x="6858000" y="2057400"/>
            <a:ext cx="1587500" cy="1181100"/>
          </a:xfrm>
          <a:prstGeom prst="rect">
            <a:avLst/>
          </a:prstGeom>
          <a:noFill/>
          <a:ln>
            <a:noFill/>
          </a:ln>
        </p:spPr>
      </p:pic>
      <p:pic>
        <p:nvPicPr>
          <p:cNvPr id="802" name="Google Shape;802;p57"/>
          <p:cNvPicPr preferRelativeResize="0"/>
          <p:nvPr/>
        </p:nvPicPr>
        <p:blipFill rotWithShape="1">
          <a:blip r:embed="rId4">
            <a:alphaModFix/>
          </a:blip>
          <a:srcRect b="0" l="0" r="0" t="0"/>
          <a:stretch/>
        </p:blipFill>
        <p:spPr>
          <a:xfrm>
            <a:off x="533400" y="5422900"/>
            <a:ext cx="1538288" cy="10890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58"/>
          <p:cNvSpPr txBox="1"/>
          <p:nvPr>
            <p:ph type="title"/>
          </p:nvPr>
        </p:nvSpPr>
        <p:spPr>
          <a:xfrm>
            <a:off x="457200" y="1143000"/>
            <a:ext cx="7924800" cy="8382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Table 12.3   </a:t>
            </a:r>
            <a:br>
              <a:rPr b="1" lang="en-US"/>
            </a:br>
            <a:r>
              <a:rPr b="1" lang="en-US"/>
              <a:t>File Allocation Methods</a:t>
            </a:r>
            <a:r>
              <a:rPr lang="en-US"/>
              <a:t> </a:t>
            </a:r>
            <a:endParaRPr/>
          </a:p>
        </p:txBody>
      </p:sp>
      <p:graphicFrame>
        <p:nvGraphicFramePr>
          <p:cNvPr id="809" name="Google Shape;809;p58"/>
          <p:cNvGraphicFramePr/>
          <p:nvPr/>
        </p:nvGraphicFramePr>
        <p:xfrm>
          <a:off x="457200" y="2209800"/>
          <a:ext cx="8204200" cy="4032250"/>
        </p:xfrm>
        <a:graphic>
          <a:graphicData uri="http://schemas.openxmlformats.org/presentationml/2006/ole">
            <mc:AlternateContent>
              <mc:Choice Requires="v">
                <p:oleObj r:id="rId4" imgH="4032250" imgW="8204200" progId="" spid="_x0000_s1">
                  <p:embed/>
                </p:oleObj>
              </mc:Choice>
              <mc:Fallback>
                <p:oleObj r:id="rId5" imgH="4032250" imgW="8204200" progId="">
                  <p:embed/>
                  <p:pic>
                    <p:nvPicPr>
                      <p:cNvPr id="809" name="Google Shape;809;p58"/>
                      <p:cNvPicPr preferRelativeResize="0"/>
                      <p:nvPr/>
                    </p:nvPicPr>
                    <p:blipFill rotWithShape="1">
                      <a:blip r:embed="rId6">
                        <a:alphaModFix/>
                      </a:blip>
                      <a:srcRect b="0" l="0" r="0" t="0"/>
                      <a:stretch/>
                    </p:blipFill>
                    <p:spPr>
                      <a:xfrm>
                        <a:off x="457200" y="2209800"/>
                        <a:ext cx="8204200" cy="4032250"/>
                      </a:xfrm>
                      <a:prstGeom prst="rect">
                        <a:avLst/>
                      </a:prstGeom>
                      <a:noFill/>
                      <a:ln>
                        <a:noFill/>
                      </a:ln>
                    </p:spPr>
                  </p:pic>
                </p:oleObj>
              </mc:Fallback>
            </mc:AlternateContent>
          </a:graphicData>
        </a:graphic>
      </p:graphicFrame>
    </p:spTree>
  </p:cSld>
  <p:clrMapOvr>
    <a:masterClrMapping/>
  </p:clrMapOvr>
  <p:transition spd="med">
    <p:wipe dir="u"/>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59"/>
          <p:cNvSpPr txBox="1"/>
          <p:nvPr>
            <p:ph type="title"/>
          </p:nvPr>
        </p:nvSpPr>
        <p:spPr>
          <a:xfrm>
            <a:off x="457200" y="685800"/>
            <a:ext cx="8305800" cy="7620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Contiguous File Allocation</a:t>
            </a:r>
            <a:endParaRPr/>
          </a:p>
        </p:txBody>
      </p:sp>
      <p:pic>
        <p:nvPicPr>
          <p:cNvPr descr="Fig12_07.gif" id="816" name="Google Shape;816;p59"/>
          <p:cNvPicPr preferRelativeResize="0"/>
          <p:nvPr>
            <p:ph idx="1" type="body"/>
          </p:nvPr>
        </p:nvPicPr>
        <p:blipFill rotWithShape="1">
          <a:blip r:embed="rId3">
            <a:alphaModFix/>
          </a:blip>
          <a:srcRect b="-43254" l="0" r="0" t="-43254"/>
          <a:stretch/>
        </p:blipFill>
        <p:spPr>
          <a:xfrm>
            <a:off x="2895600" y="-304800"/>
            <a:ext cx="5791200" cy="8686800"/>
          </a:xfrm>
          <a:prstGeom prst="rect">
            <a:avLst/>
          </a:prstGeom>
          <a:noFill/>
          <a:ln>
            <a:noFill/>
          </a:ln>
        </p:spPr>
      </p:pic>
      <p:sp>
        <p:nvSpPr>
          <p:cNvPr id="817" name="Google Shape;817;p59"/>
          <p:cNvSpPr txBox="1"/>
          <p:nvPr>
            <p:ph idx="2" type="body"/>
          </p:nvPr>
        </p:nvSpPr>
        <p:spPr>
          <a:xfrm>
            <a:off x="658813" y="1905000"/>
            <a:ext cx="2084387" cy="4038600"/>
          </a:xfrm>
          <a:prstGeom prst="rect">
            <a:avLst/>
          </a:prstGeom>
          <a:noFill/>
          <a:ln>
            <a:noFill/>
          </a:ln>
        </p:spPr>
        <p:txBody>
          <a:bodyPr anchorCtr="0" anchor="t" bIns="45700" lIns="91425" spcFirstLastPara="1" rIns="91425" wrap="square" tIns="45700">
            <a:normAutofit/>
          </a:bodyPr>
          <a:lstStyle/>
          <a:p>
            <a:pPr indent="-142875" lvl="0" marL="0" rtl="0" algn="l">
              <a:spcBef>
                <a:spcPts val="0"/>
              </a:spcBef>
              <a:spcAft>
                <a:spcPts val="0"/>
              </a:spcAft>
              <a:buSzPts val="2250"/>
              <a:buFont typeface="Noto Sans Symbols"/>
              <a:buChar char="▪"/>
            </a:pPr>
            <a:r>
              <a:rPr b="1" lang="en-US">
                <a:solidFill>
                  <a:srgbClr val="FF0000"/>
                </a:solidFill>
              </a:rPr>
              <a:t>A single contiguous set of blocks </a:t>
            </a:r>
            <a:r>
              <a:rPr b="1" lang="en-US">
                <a:solidFill>
                  <a:srgbClr val="262626"/>
                </a:solidFill>
              </a:rPr>
              <a:t>is allocated to a file at the time of file creation</a:t>
            </a:r>
            <a:endParaRPr/>
          </a:p>
          <a:p>
            <a:pPr indent="-142875" lvl="0" marL="0" rtl="0" algn="l">
              <a:spcBef>
                <a:spcPts val="1800"/>
              </a:spcBef>
              <a:spcAft>
                <a:spcPts val="0"/>
              </a:spcAft>
              <a:buSzPts val="2250"/>
              <a:buFont typeface="Noto Sans Symbols"/>
              <a:buChar char="▪"/>
            </a:pPr>
            <a:r>
              <a:rPr lang="en-US"/>
              <a:t>Thus, this is a preallocation strategy,</a:t>
            </a:r>
            <a:endParaRPr/>
          </a:p>
          <a:p>
            <a:pPr indent="-142875" lvl="0" marL="0" rtl="0" algn="l">
              <a:spcBef>
                <a:spcPts val="1800"/>
              </a:spcBef>
              <a:spcAft>
                <a:spcPts val="0"/>
              </a:spcAft>
              <a:buSzPts val="2250"/>
              <a:buFont typeface="Noto Sans Symbols"/>
              <a:buChar char="▪"/>
            </a:pPr>
            <a:r>
              <a:rPr lang="en-US">
                <a:solidFill>
                  <a:srgbClr val="262626"/>
                </a:solidFill>
              </a:rPr>
              <a:t>Preallocation strategy using variable-size portions</a:t>
            </a:r>
            <a:endParaRPr/>
          </a:p>
        </p:txBody>
      </p:sp>
      <p:sp>
        <p:nvSpPr>
          <p:cNvPr id="818" name="Google Shape;818;p59"/>
          <p:cNvSpPr txBox="1"/>
          <p:nvPr/>
        </p:nvSpPr>
        <p:spPr>
          <a:xfrm>
            <a:off x="4953000" y="5867400"/>
            <a:ext cx="6096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Trebuchet MS"/>
                <a:ea typeface="Trebuchet MS"/>
                <a:cs typeface="Trebuchet MS"/>
                <a:sym typeface="Trebuchet MS"/>
              </a:rPr>
              <a:t>12.9</a:t>
            </a:r>
            <a:endParaRPr/>
          </a:p>
        </p:txBody>
      </p:sp>
    </p:spTree>
  </p:cSld>
  <p:clrMapOvr>
    <a:masterClrMapping/>
  </p:clrMapOvr>
  <p:transition spd="med">
    <p:push/>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60"/>
          <p:cNvSpPr txBox="1"/>
          <p:nvPr>
            <p:ph type="title"/>
          </p:nvPr>
        </p:nvSpPr>
        <p:spPr>
          <a:xfrm>
            <a:off x="457200" y="685800"/>
            <a:ext cx="8305800" cy="7620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Contiguous File Allocation</a:t>
            </a:r>
            <a:endParaRPr/>
          </a:p>
        </p:txBody>
      </p:sp>
      <p:pic>
        <p:nvPicPr>
          <p:cNvPr descr="Fig12_07.gif" id="825" name="Google Shape;825;p60"/>
          <p:cNvPicPr preferRelativeResize="0"/>
          <p:nvPr>
            <p:ph idx="1" type="body"/>
          </p:nvPr>
        </p:nvPicPr>
        <p:blipFill rotWithShape="1">
          <a:blip r:embed="rId3">
            <a:alphaModFix/>
          </a:blip>
          <a:srcRect b="-43254" l="0" r="0" t="-43254"/>
          <a:stretch/>
        </p:blipFill>
        <p:spPr>
          <a:xfrm>
            <a:off x="2895600" y="-304800"/>
            <a:ext cx="5791200" cy="8686800"/>
          </a:xfrm>
          <a:prstGeom prst="rect">
            <a:avLst/>
          </a:prstGeom>
          <a:noFill/>
          <a:ln>
            <a:noFill/>
          </a:ln>
        </p:spPr>
      </p:pic>
      <p:sp>
        <p:nvSpPr>
          <p:cNvPr id="826" name="Google Shape;826;p60"/>
          <p:cNvSpPr txBox="1"/>
          <p:nvPr>
            <p:ph idx="2" type="body"/>
          </p:nvPr>
        </p:nvSpPr>
        <p:spPr>
          <a:xfrm>
            <a:off x="658813" y="1905000"/>
            <a:ext cx="2084387" cy="4038600"/>
          </a:xfrm>
          <a:prstGeom prst="rect">
            <a:avLst/>
          </a:prstGeom>
          <a:noFill/>
          <a:ln>
            <a:noFill/>
          </a:ln>
        </p:spPr>
        <p:txBody>
          <a:bodyPr anchorCtr="0" anchor="t" bIns="45700" lIns="91425" spcFirstLastPara="1" rIns="91425" wrap="square" tIns="45700">
            <a:normAutofit/>
          </a:bodyPr>
          <a:lstStyle/>
          <a:p>
            <a:pPr indent="-142875" lvl="0" marL="0" rtl="0" algn="l">
              <a:spcBef>
                <a:spcPts val="0"/>
              </a:spcBef>
              <a:spcAft>
                <a:spcPts val="0"/>
              </a:spcAft>
              <a:buSzPts val="2250"/>
              <a:buFont typeface="Noto Sans Symbols"/>
              <a:buChar char="▪"/>
            </a:pPr>
            <a:r>
              <a:rPr lang="en-US">
                <a:solidFill>
                  <a:srgbClr val="262626"/>
                </a:solidFill>
              </a:rPr>
              <a:t>The file allocation table needs </a:t>
            </a:r>
            <a:r>
              <a:rPr b="1" lang="en-US">
                <a:solidFill>
                  <a:srgbClr val="262626"/>
                </a:solidFill>
              </a:rPr>
              <a:t>just a single entry for each file, </a:t>
            </a:r>
            <a:endParaRPr b="1">
              <a:solidFill>
                <a:srgbClr val="262626"/>
              </a:solidFill>
            </a:endParaRPr>
          </a:p>
          <a:p>
            <a:pPr indent="-142875" lvl="0" marL="0" rtl="0" algn="l">
              <a:spcBef>
                <a:spcPts val="1800"/>
              </a:spcBef>
              <a:spcAft>
                <a:spcPts val="0"/>
              </a:spcAft>
              <a:buSzPts val="2250"/>
              <a:buFont typeface="Noto Sans Symbols"/>
              <a:buChar char="▪"/>
            </a:pPr>
            <a:r>
              <a:rPr lang="en-US">
                <a:solidFill>
                  <a:srgbClr val="262626"/>
                </a:solidFill>
              </a:rPr>
              <a:t>showing the </a:t>
            </a:r>
            <a:r>
              <a:rPr b="1" lang="en-US">
                <a:solidFill>
                  <a:srgbClr val="262626"/>
                </a:solidFill>
              </a:rPr>
              <a:t>starting block and the length of the file.</a:t>
            </a:r>
            <a:endParaRPr b="1">
              <a:solidFill>
                <a:srgbClr val="262626"/>
              </a:solidFill>
            </a:endParaRPr>
          </a:p>
        </p:txBody>
      </p:sp>
      <p:sp>
        <p:nvSpPr>
          <p:cNvPr id="827" name="Google Shape;827;p60"/>
          <p:cNvSpPr txBox="1"/>
          <p:nvPr/>
        </p:nvSpPr>
        <p:spPr>
          <a:xfrm>
            <a:off x="4953000" y="5867400"/>
            <a:ext cx="6096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Trebuchet MS"/>
                <a:ea typeface="Trebuchet MS"/>
                <a:cs typeface="Trebuchet MS"/>
                <a:sym typeface="Trebuchet MS"/>
              </a:rPr>
              <a:t>12.9</a:t>
            </a:r>
            <a:endParaRPr/>
          </a:p>
        </p:txBody>
      </p:sp>
    </p:spTree>
  </p:cSld>
  <p:clrMapOvr>
    <a:masterClrMapping/>
  </p:clrMapOvr>
  <p:transition spd="med">
    <p:push/>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61"/>
          <p:cNvSpPr txBox="1"/>
          <p:nvPr>
            <p:ph type="title"/>
          </p:nvPr>
        </p:nvSpPr>
        <p:spPr>
          <a:xfrm>
            <a:off x="457200" y="685800"/>
            <a:ext cx="8305800" cy="7620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Contiguous File Allocation</a:t>
            </a:r>
            <a:endParaRPr/>
          </a:p>
        </p:txBody>
      </p:sp>
      <p:pic>
        <p:nvPicPr>
          <p:cNvPr descr="Fig12_07.gif" id="834" name="Google Shape;834;p61"/>
          <p:cNvPicPr preferRelativeResize="0"/>
          <p:nvPr>
            <p:ph idx="1" type="body"/>
          </p:nvPr>
        </p:nvPicPr>
        <p:blipFill rotWithShape="1">
          <a:blip r:embed="rId3">
            <a:alphaModFix/>
          </a:blip>
          <a:srcRect b="-43254" l="0" r="0" t="-43254"/>
          <a:stretch/>
        </p:blipFill>
        <p:spPr>
          <a:xfrm>
            <a:off x="4495800" y="-304800"/>
            <a:ext cx="4191000" cy="8686800"/>
          </a:xfrm>
          <a:prstGeom prst="rect">
            <a:avLst/>
          </a:prstGeom>
          <a:noFill/>
          <a:ln>
            <a:noFill/>
          </a:ln>
        </p:spPr>
      </p:pic>
      <p:sp>
        <p:nvSpPr>
          <p:cNvPr id="835" name="Google Shape;835;p61"/>
          <p:cNvSpPr txBox="1"/>
          <p:nvPr>
            <p:ph idx="2" type="body"/>
          </p:nvPr>
        </p:nvSpPr>
        <p:spPr>
          <a:xfrm>
            <a:off x="457200" y="1892300"/>
            <a:ext cx="4038600" cy="42672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1350"/>
              <a:buFont typeface="Arial"/>
              <a:buChar char="•"/>
            </a:pPr>
            <a:r>
              <a:rPr lang="en-US"/>
              <a:t>Contiguous allocation is the </a:t>
            </a:r>
            <a:r>
              <a:rPr b="1" lang="en-US"/>
              <a:t>best from the point of view of the individual sequential file. </a:t>
            </a:r>
            <a:endParaRPr b="1"/>
          </a:p>
          <a:p>
            <a:pPr indent="-285750" lvl="0" marL="285750" rtl="0" algn="l">
              <a:spcBef>
                <a:spcPts val="1800"/>
              </a:spcBef>
              <a:spcAft>
                <a:spcPts val="0"/>
              </a:spcAft>
              <a:buSzPts val="1350"/>
              <a:buFont typeface="Arial"/>
              <a:buChar char="•"/>
            </a:pPr>
            <a:r>
              <a:rPr lang="en-US"/>
              <a:t>Multiple blocks can be read in at a time to improve I/O performance for sequential processing. </a:t>
            </a:r>
            <a:endParaRPr/>
          </a:p>
          <a:p>
            <a:pPr indent="-285750" lvl="0" marL="285750" rtl="0" algn="l">
              <a:spcBef>
                <a:spcPts val="1800"/>
              </a:spcBef>
              <a:spcAft>
                <a:spcPts val="0"/>
              </a:spcAft>
              <a:buSzPts val="1350"/>
              <a:buFont typeface="Arial"/>
              <a:buChar char="•"/>
            </a:pPr>
            <a:r>
              <a:rPr lang="en-US"/>
              <a:t>It is also easy to retrieve a single block. </a:t>
            </a:r>
            <a:endParaRPr/>
          </a:p>
          <a:p>
            <a:pPr indent="-285750" lvl="0" marL="285750" rtl="0" algn="l">
              <a:spcBef>
                <a:spcPts val="1800"/>
              </a:spcBef>
              <a:spcAft>
                <a:spcPts val="0"/>
              </a:spcAft>
              <a:buSzPts val="1350"/>
              <a:buFont typeface="Arial"/>
              <a:buChar char="•"/>
            </a:pPr>
            <a:r>
              <a:rPr lang="en-US"/>
              <a:t>For example, </a:t>
            </a:r>
            <a:r>
              <a:rPr b="1" lang="en-US"/>
              <a:t>if a file starts at block b , and the i th block of the file is wanted, its location on secondary storage is simply b + i – 1.</a:t>
            </a:r>
            <a:endParaRPr/>
          </a:p>
        </p:txBody>
      </p:sp>
      <p:sp>
        <p:nvSpPr>
          <p:cNvPr id="836" name="Google Shape;836;p61"/>
          <p:cNvSpPr txBox="1"/>
          <p:nvPr/>
        </p:nvSpPr>
        <p:spPr>
          <a:xfrm>
            <a:off x="4953000" y="5867400"/>
            <a:ext cx="6096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Trebuchet MS"/>
                <a:ea typeface="Trebuchet MS"/>
                <a:cs typeface="Trebuchet MS"/>
                <a:sym typeface="Trebuchet MS"/>
              </a:rPr>
              <a:t>12.9</a:t>
            </a:r>
            <a:endParaRPr/>
          </a:p>
        </p:txBody>
      </p:sp>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p62"/>
          <p:cNvSpPr txBox="1"/>
          <p:nvPr>
            <p:ph type="title"/>
          </p:nvPr>
        </p:nvSpPr>
        <p:spPr>
          <a:xfrm>
            <a:off x="457200" y="685800"/>
            <a:ext cx="8305800" cy="7620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Contiguous File Allocation</a:t>
            </a:r>
            <a:endParaRPr/>
          </a:p>
        </p:txBody>
      </p:sp>
      <p:pic>
        <p:nvPicPr>
          <p:cNvPr descr="Fig12_07.gif" id="843" name="Google Shape;843;p62"/>
          <p:cNvPicPr preferRelativeResize="0"/>
          <p:nvPr>
            <p:ph idx="1" type="body"/>
          </p:nvPr>
        </p:nvPicPr>
        <p:blipFill rotWithShape="1">
          <a:blip r:embed="rId3">
            <a:alphaModFix/>
          </a:blip>
          <a:srcRect b="-43254" l="0" r="0" t="-43254"/>
          <a:stretch/>
        </p:blipFill>
        <p:spPr>
          <a:xfrm>
            <a:off x="4495800" y="-304800"/>
            <a:ext cx="4191000" cy="8686800"/>
          </a:xfrm>
          <a:prstGeom prst="rect">
            <a:avLst/>
          </a:prstGeom>
          <a:noFill/>
          <a:ln>
            <a:noFill/>
          </a:ln>
        </p:spPr>
      </p:pic>
      <p:sp>
        <p:nvSpPr>
          <p:cNvPr id="844" name="Google Shape;844;p62"/>
          <p:cNvSpPr txBox="1"/>
          <p:nvPr>
            <p:ph idx="2" type="body"/>
          </p:nvPr>
        </p:nvSpPr>
        <p:spPr>
          <a:xfrm>
            <a:off x="457200" y="1892300"/>
            <a:ext cx="4038600" cy="42672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1800"/>
              <a:buFont typeface="Arial"/>
              <a:buChar char="•"/>
            </a:pPr>
            <a:r>
              <a:rPr lang="en-US" sz="2400"/>
              <a:t>Contiguous allocation presents some problems?</a:t>
            </a:r>
            <a:endParaRPr sz="2400"/>
          </a:p>
        </p:txBody>
      </p:sp>
      <p:sp>
        <p:nvSpPr>
          <p:cNvPr id="845" name="Google Shape;845;p62"/>
          <p:cNvSpPr txBox="1"/>
          <p:nvPr/>
        </p:nvSpPr>
        <p:spPr>
          <a:xfrm>
            <a:off x="4953000" y="5867400"/>
            <a:ext cx="6096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Trebuchet MS"/>
                <a:ea typeface="Trebuchet MS"/>
                <a:cs typeface="Trebuchet MS"/>
                <a:sym typeface="Trebuchet MS"/>
              </a:rPr>
              <a:t>12.9</a:t>
            </a:r>
            <a:endParaRPr/>
          </a:p>
        </p:txBody>
      </p:sp>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0" name="Shape 850"/>
        <p:cNvGrpSpPr/>
        <p:nvPr/>
      </p:nvGrpSpPr>
      <p:grpSpPr>
        <a:xfrm>
          <a:off x="0" y="0"/>
          <a:ext cx="0" cy="0"/>
          <a:chOff x="0" y="0"/>
          <a:chExt cx="0" cy="0"/>
        </a:xfrm>
      </p:grpSpPr>
      <p:sp>
        <p:nvSpPr>
          <p:cNvPr id="851" name="Google Shape;851;p63"/>
          <p:cNvSpPr txBox="1"/>
          <p:nvPr>
            <p:ph type="title"/>
          </p:nvPr>
        </p:nvSpPr>
        <p:spPr>
          <a:xfrm>
            <a:off x="457200" y="685800"/>
            <a:ext cx="8305800" cy="7620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Contiguous File Allocation</a:t>
            </a:r>
            <a:endParaRPr/>
          </a:p>
        </p:txBody>
      </p:sp>
      <p:pic>
        <p:nvPicPr>
          <p:cNvPr descr="Fig12_07.gif" id="852" name="Google Shape;852;p63"/>
          <p:cNvPicPr preferRelativeResize="0"/>
          <p:nvPr>
            <p:ph idx="1" type="body"/>
          </p:nvPr>
        </p:nvPicPr>
        <p:blipFill rotWithShape="1">
          <a:blip r:embed="rId3">
            <a:alphaModFix/>
          </a:blip>
          <a:srcRect b="-43254" l="0" r="0" t="-43254"/>
          <a:stretch/>
        </p:blipFill>
        <p:spPr>
          <a:xfrm>
            <a:off x="4495800" y="-304800"/>
            <a:ext cx="4191000" cy="8686800"/>
          </a:xfrm>
          <a:prstGeom prst="rect">
            <a:avLst/>
          </a:prstGeom>
          <a:noFill/>
          <a:ln>
            <a:noFill/>
          </a:ln>
        </p:spPr>
      </p:pic>
      <p:sp>
        <p:nvSpPr>
          <p:cNvPr id="853" name="Google Shape;853;p63"/>
          <p:cNvSpPr txBox="1"/>
          <p:nvPr>
            <p:ph idx="2" type="body"/>
          </p:nvPr>
        </p:nvSpPr>
        <p:spPr>
          <a:xfrm>
            <a:off x="457200" y="1892300"/>
            <a:ext cx="4038600" cy="42672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1350"/>
              <a:buFont typeface="Arial"/>
              <a:buChar char="•"/>
            </a:pPr>
            <a:r>
              <a:rPr lang="en-US"/>
              <a:t>External fragmentation will occur, making it difficult to find contiguous blocks of space of sufficient length. </a:t>
            </a:r>
            <a:endParaRPr/>
          </a:p>
          <a:p>
            <a:pPr indent="-285750" lvl="0" marL="285750" rtl="0" algn="l">
              <a:spcBef>
                <a:spcPts val="1800"/>
              </a:spcBef>
              <a:spcAft>
                <a:spcPts val="0"/>
              </a:spcAft>
              <a:buSzPts val="1350"/>
              <a:buFont typeface="Arial"/>
              <a:buChar char="•"/>
            </a:pPr>
            <a:r>
              <a:rPr lang="en-US"/>
              <a:t>Soln?</a:t>
            </a:r>
            <a:endParaRPr/>
          </a:p>
        </p:txBody>
      </p:sp>
      <p:sp>
        <p:nvSpPr>
          <p:cNvPr id="854" name="Google Shape;854;p63"/>
          <p:cNvSpPr txBox="1"/>
          <p:nvPr/>
        </p:nvSpPr>
        <p:spPr>
          <a:xfrm>
            <a:off x="4953000" y="5867400"/>
            <a:ext cx="6096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Trebuchet MS"/>
                <a:ea typeface="Trebuchet MS"/>
                <a:cs typeface="Trebuchet MS"/>
                <a:sym typeface="Trebuchet MS"/>
              </a:rPr>
              <a:t>12.9</a:t>
            </a:r>
            <a:endParaRPr/>
          </a:p>
        </p:txBody>
      </p:sp>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64"/>
          <p:cNvSpPr txBox="1"/>
          <p:nvPr>
            <p:ph type="title"/>
          </p:nvPr>
        </p:nvSpPr>
        <p:spPr>
          <a:xfrm>
            <a:off x="457200" y="685800"/>
            <a:ext cx="8305800" cy="7620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Contiguous File Allocation</a:t>
            </a:r>
            <a:endParaRPr/>
          </a:p>
        </p:txBody>
      </p:sp>
      <p:pic>
        <p:nvPicPr>
          <p:cNvPr descr="Fig12_07.gif" id="861" name="Google Shape;861;p64"/>
          <p:cNvPicPr preferRelativeResize="0"/>
          <p:nvPr>
            <p:ph idx="1" type="body"/>
          </p:nvPr>
        </p:nvPicPr>
        <p:blipFill rotWithShape="1">
          <a:blip r:embed="rId3">
            <a:alphaModFix/>
          </a:blip>
          <a:srcRect b="-43254" l="0" r="0" t="-43254"/>
          <a:stretch/>
        </p:blipFill>
        <p:spPr>
          <a:xfrm>
            <a:off x="4495800" y="-304800"/>
            <a:ext cx="4191000" cy="8686800"/>
          </a:xfrm>
          <a:prstGeom prst="rect">
            <a:avLst/>
          </a:prstGeom>
          <a:noFill/>
          <a:ln>
            <a:noFill/>
          </a:ln>
        </p:spPr>
      </p:pic>
      <p:sp>
        <p:nvSpPr>
          <p:cNvPr id="862" name="Google Shape;862;p64"/>
          <p:cNvSpPr txBox="1"/>
          <p:nvPr>
            <p:ph idx="2" type="body"/>
          </p:nvPr>
        </p:nvSpPr>
        <p:spPr>
          <a:xfrm>
            <a:off x="457200" y="1892300"/>
            <a:ext cx="4038600" cy="4267200"/>
          </a:xfrm>
          <a:prstGeom prst="rect">
            <a:avLst/>
          </a:prstGeom>
          <a:noFill/>
          <a:ln>
            <a:noFill/>
          </a:ln>
        </p:spPr>
        <p:txBody>
          <a:bodyPr anchorCtr="0" anchor="t" bIns="45700" lIns="91425" spcFirstLastPara="1" rIns="91425" wrap="square" tIns="45700">
            <a:normAutofit/>
          </a:bodyPr>
          <a:lstStyle/>
          <a:p>
            <a:pPr indent="-285750" lvl="0" marL="285750" rtl="0" algn="l">
              <a:spcBef>
                <a:spcPts val="0"/>
              </a:spcBef>
              <a:spcAft>
                <a:spcPts val="0"/>
              </a:spcAft>
              <a:buSzPts val="1350"/>
              <a:buFont typeface="Arial"/>
              <a:buChar char="•"/>
            </a:pPr>
            <a:r>
              <a:rPr lang="en-US"/>
              <a:t>Soln?</a:t>
            </a:r>
            <a:endParaRPr/>
          </a:p>
          <a:p>
            <a:pPr indent="-285750" lvl="0" marL="285750" rtl="0" algn="l">
              <a:spcBef>
                <a:spcPts val="1800"/>
              </a:spcBef>
              <a:spcAft>
                <a:spcPts val="0"/>
              </a:spcAft>
              <a:buSzPts val="1350"/>
              <a:buFont typeface="Arial"/>
              <a:buChar char="•"/>
            </a:pPr>
            <a:r>
              <a:rPr lang="en-US"/>
              <a:t>From time to time, it will be necessary to perform a compaction algorithm to free up additional space on the disk</a:t>
            </a:r>
            <a:endParaRPr/>
          </a:p>
        </p:txBody>
      </p:sp>
      <p:sp>
        <p:nvSpPr>
          <p:cNvPr id="863" name="Google Shape;863;p64"/>
          <p:cNvSpPr txBox="1"/>
          <p:nvPr/>
        </p:nvSpPr>
        <p:spPr>
          <a:xfrm>
            <a:off x="4953000" y="5867400"/>
            <a:ext cx="6096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Trebuchet MS"/>
                <a:ea typeface="Trebuchet MS"/>
                <a:cs typeface="Trebuchet MS"/>
                <a:sym typeface="Trebuchet MS"/>
              </a:rPr>
              <a:t>12.9</a:t>
            </a:r>
            <a:endParaRPr/>
          </a:p>
        </p:txBody>
      </p:sp>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65"/>
          <p:cNvSpPr txBox="1"/>
          <p:nvPr>
            <p:ph type="title"/>
          </p:nvPr>
        </p:nvSpPr>
        <p:spPr>
          <a:xfrm>
            <a:off x="533400" y="609600"/>
            <a:ext cx="79248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After Compaction</a:t>
            </a:r>
            <a:endParaRPr/>
          </a:p>
        </p:txBody>
      </p:sp>
      <p:pic>
        <p:nvPicPr>
          <p:cNvPr descr="Fig12_08.gif" id="870" name="Google Shape;870;p65"/>
          <p:cNvPicPr preferRelativeResize="0"/>
          <p:nvPr>
            <p:ph idx="1" type="body"/>
          </p:nvPr>
        </p:nvPicPr>
        <p:blipFill rotWithShape="1">
          <a:blip r:embed="rId3">
            <a:alphaModFix/>
          </a:blip>
          <a:srcRect b="-54890" l="0" r="0" t="-54890"/>
          <a:stretch/>
        </p:blipFill>
        <p:spPr>
          <a:xfrm>
            <a:off x="1066800" y="-1295400"/>
            <a:ext cx="6934200" cy="10442575"/>
          </a:xfrm>
          <a:prstGeom prst="rect">
            <a:avLst/>
          </a:prstGeom>
          <a:noFill/>
          <a:ln>
            <a:noFill/>
          </a:ln>
        </p:spPr>
      </p:pic>
      <p:sp>
        <p:nvSpPr>
          <p:cNvPr id="871" name="Google Shape;871;p65"/>
          <p:cNvSpPr txBox="1"/>
          <p:nvPr/>
        </p:nvSpPr>
        <p:spPr>
          <a:xfrm>
            <a:off x="1371600" y="5867400"/>
            <a:ext cx="6457950" cy="3698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Figure 12.10  Contiguous File Allocation (After Compaction)</a:t>
            </a:r>
            <a:endParaRPr/>
          </a:p>
        </p:txBody>
      </p:sp>
      <p:sp>
        <p:nvSpPr>
          <p:cNvPr id="872" name="Google Shape;872;p65"/>
          <p:cNvSpPr txBox="1"/>
          <p:nvPr/>
        </p:nvSpPr>
        <p:spPr>
          <a:xfrm>
            <a:off x="1676400" y="6248400"/>
            <a:ext cx="5549900" cy="1524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66"/>
          <p:cNvSpPr txBox="1"/>
          <p:nvPr>
            <p:ph type="title"/>
          </p:nvPr>
        </p:nvSpPr>
        <p:spPr>
          <a:xfrm>
            <a:off x="609600" y="762000"/>
            <a:ext cx="24384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Chained Allocation</a:t>
            </a:r>
            <a:endParaRPr/>
          </a:p>
        </p:txBody>
      </p:sp>
      <p:pic>
        <p:nvPicPr>
          <p:cNvPr descr="Fig12_09.gif" id="879" name="Google Shape;879;p66"/>
          <p:cNvPicPr preferRelativeResize="0"/>
          <p:nvPr>
            <p:ph idx="1" type="body"/>
          </p:nvPr>
        </p:nvPicPr>
        <p:blipFill rotWithShape="1">
          <a:blip r:embed="rId3">
            <a:alphaModFix/>
          </a:blip>
          <a:srcRect b="-38091" l="0" r="0" t="-38091"/>
          <a:stretch/>
        </p:blipFill>
        <p:spPr>
          <a:xfrm>
            <a:off x="3429000" y="0"/>
            <a:ext cx="5284788" cy="7966075"/>
          </a:xfrm>
          <a:prstGeom prst="rect">
            <a:avLst/>
          </a:prstGeom>
          <a:noFill/>
          <a:ln>
            <a:noFill/>
          </a:ln>
        </p:spPr>
      </p:pic>
      <p:sp>
        <p:nvSpPr>
          <p:cNvPr id="880" name="Google Shape;880;p66"/>
          <p:cNvSpPr txBox="1"/>
          <p:nvPr>
            <p:ph idx="2" type="body"/>
          </p:nvPr>
        </p:nvSpPr>
        <p:spPr>
          <a:xfrm>
            <a:off x="533400" y="2209800"/>
            <a:ext cx="2846388" cy="4038600"/>
          </a:xfrm>
          <a:prstGeom prst="rect">
            <a:avLst/>
          </a:prstGeom>
          <a:noFill/>
          <a:ln>
            <a:noFill/>
          </a:ln>
        </p:spPr>
        <p:txBody>
          <a:bodyPr anchorCtr="0" anchor="t" bIns="45700" lIns="91425" spcFirstLastPara="1" rIns="91425" wrap="square" tIns="45700">
            <a:normAutofit/>
          </a:bodyPr>
          <a:lstStyle/>
          <a:p>
            <a:pPr indent="-142875" lvl="0" marL="0" rtl="0" algn="l">
              <a:lnSpc>
                <a:spcPct val="90000"/>
              </a:lnSpc>
              <a:spcBef>
                <a:spcPts val="0"/>
              </a:spcBef>
              <a:spcAft>
                <a:spcPts val="0"/>
              </a:spcAft>
              <a:buSzPts val="2250"/>
              <a:buFont typeface="Noto Sans Symbols"/>
              <a:buChar char="▪"/>
            </a:pPr>
            <a:r>
              <a:rPr lang="en-US"/>
              <a:t>Allocation is on an </a:t>
            </a:r>
            <a:r>
              <a:rPr b="1" lang="en-US">
                <a:solidFill>
                  <a:srgbClr val="FF0000"/>
                </a:solidFill>
              </a:rPr>
              <a:t>individual block basis </a:t>
            </a:r>
            <a:endParaRPr/>
          </a:p>
          <a:p>
            <a:pPr indent="-142875" lvl="0" marL="0" rtl="0" algn="l">
              <a:lnSpc>
                <a:spcPct val="90000"/>
              </a:lnSpc>
              <a:spcBef>
                <a:spcPts val="1800"/>
              </a:spcBef>
              <a:spcAft>
                <a:spcPts val="0"/>
              </a:spcAft>
              <a:buSzPts val="2250"/>
              <a:buFont typeface="Noto Sans Symbols"/>
              <a:buChar char="▪"/>
            </a:pPr>
            <a:r>
              <a:rPr lang="en-US"/>
              <a:t>Each block contains a pointer to the next block in the chain</a:t>
            </a:r>
            <a:endParaRPr/>
          </a:p>
          <a:p>
            <a:pPr indent="-142875" lvl="0" marL="0" rtl="0" algn="l">
              <a:lnSpc>
                <a:spcPct val="90000"/>
              </a:lnSpc>
              <a:spcBef>
                <a:spcPts val="1800"/>
              </a:spcBef>
              <a:spcAft>
                <a:spcPts val="0"/>
              </a:spcAft>
              <a:buSzPts val="2250"/>
              <a:buFont typeface="Noto Sans Symbols"/>
              <a:buChar char="▪"/>
            </a:pPr>
            <a:r>
              <a:rPr lang="en-US"/>
              <a:t>The file allocation table needs just a single entry for each file.</a:t>
            </a:r>
            <a:endParaRPr/>
          </a:p>
          <a:p>
            <a:pPr indent="-142875" lvl="0" marL="0" rtl="0" algn="l">
              <a:lnSpc>
                <a:spcPct val="90000"/>
              </a:lnSpc>
              <a:spcBef>
                <a:spcPts val="1800"/>
              </a:spcBef>
              <a:spcAft>
                <a:spcPts val="0"/>
              </a:spcAft>
              <a:buSzPts val="2250"/>
              <a:buFont typeface="Noto Sans Symbols"/>
              <a:buChar char="▪"/>
            </a:pPr>
            <a:r>
              <a:rPr b="1" lang="en-US"/>
              <a:t>showing the starting block and the length of the file.</a:t>
            </a:r>
            <a:endParaRPr b="1"/>
          </a:p>
        </p:txBody>
      </p:sp>
      <p:sp>
        <p:nvSpPr>
          <p:cNvPr id="881" name="Google Shape;881;p66"/>
          <p:cNvSpPr txBox="1"/>
          <p:nvPr/>
        </p:nvSpPr>
        <p:spPr>
          <a:xfrm>
            <a:off x="5334000" y="5791200"/>
            <a:ext cx="6381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12.11</a:t>
            </a:r>
            <a:endParaRPr/>
          </a:p>
        </p:txBody>
      </p:sp>
    </p:spTree>
  </p:cSld>
  <p:clrMapOvr>
    <a:masterClrMapping/>
  </p:clrMapOvr>
  <p:transition spd="med">
    <p:wipe dir="l"/>
  </p:transition>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67"/>
          <p:cNvSpPr txBox="1"/>
          <p:nvPr>
            <p:ph type="title"/>
          </p:nvPr>
        </p:nvSpPr>
        <p:spPr>
          <a:xfrm>
            <a:off x="609600" y="762000"/>
            <a:ext cx="24384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Chained Allocation</a:t>
            </a:r>
            <a:endParaRPr/>
          </a:p>
        </p:txBody>
      </p:sp>
      <p:pic>
        <p:nvPicPr>
          <p:cNvPr descr="Fig12_09.gif" id="888" name="Google Shape;888;p67"/>
          <p:cNvPicPr preferRelativeResize="0"/>
          <p:nvPr>
            <p:ph idx="1" type="body"/>
          </p:nvPr>
        </p:nvPicPr>
        <p:blipFill rotWithShape="1">
          <a:blip r:embed="rId3">
            <a:alphaModFix/>
          </a:blip>
          <a:srcRect b="-38091" l="0" r="0" t="-38091"/>
          <a:stretch/>
        </p:blipFill>
        <p:spPr>
          <a:xfrm>
            <a:off x="3429000" y="0"/>
            <a:ext cx="5284788" cy="7966075"/>
          </a:xfrm>
          <a:prstGeom prst="rect">
            <a:avLst/>
          </a:prstGeom>
          <a:noFill/>
          <a:ln>
            <a:noFill/>
          </a:ln>
        </p:spPr>
      </p:pic>
      <p:sp>
        <p:nvSpPr>
          <p:cNvPr id="889" name="Google Shape;889;p67"/>
          <p:cNvSpPr txBox="1"/>
          <p:nvPr>
            <p:ph idx="2" type="body"/>
          </p:nvPr>
        </p:nvSpPr>
        <p:spPr>
          <a:xfrm>
            <a:off x="533400" y="2209800"/>
            <a:ext cx="2846388" cy="4038600"/>
          </a:xfrm>
          <a:prstGeom prst="rect">
            <a:avLst/>
          </a:prstGeom>
          <a:noFill/>
          <a:ln>
            <a:noFill/>
          </a:ln>
        </p:spPr>
        <p:txBody>
          <a:bodyPr anchorCtr="0" anchor="t" bIns="45700" lIns="91425" spcFirstLastPara="1" rIns="91425" wrap="square" tIns="45700">
            <a:normAutofit/>
          </a:bodyPr>
          <a:lstStyle/>
          <a:p>
            <a:pPr indent="-142875" lvl="0" marL="0" rtl="0" algn="l">
              <a:lnSpc>
                <a:spcPct val="90000"/>
              </a:lnSpc>
              <a:spcBef>
                <a:spcPts val="0"/>
              </a:spcBef>
              <a:spcAft>
                <a:spcPts val="0"/>
              </a:spcAft>
              <a:buSzPts val="2250"/>
              <a:buFont typeface="Noto Sans Symbols"/>
              <a:buChar char="▪"/>
            </a:pPr>
            <a:r>
              <a:rPr lang="en-US"/>
              <a:t>Although preallocation is possible, </a:t>
            </a:r>
            <a:endParaRPr/>
          </a:p>
          <a:p>
            <a:pPr indent="-142875" lvl="0" marL="0" rtl="0" algn="l">
              <a:lnSpc>
                <a:spcPct val="90000"/>
              </a:lnSpc>
              <a:spcBef>
                <a:spcPts val="1800"/>
              </a:spcBef>
              <a:spcAft>
                <a:spcPts val="0"/>
              </a:spcAft>
              <a:buSzPts val="2250"/>
              <a:buFont typeface="Noto Sans Symbols"/>
              <a:buChar char="▪"/>
            </a:pPr>
            <a:r>
              <a:rPr b="1" lang="en-US"/>
              <a:t>it is more common simply to allocate blocks as needed. </a:t>
            </a:r>
            <a:endParaRPr b="1"/>
          </a:p>
          <a:p>
            <a:pPr indent="-142875" lvl="0" marL="0" rtl="0" algn="l">
              <a:lnSpc>
                <a:spcPct val="90000"/>
              </a:lnSpc>
              <a:spcBef>
                <a:spcPts val="1800"/>
              </a:spcBef>
              <a:spcAft>
                <a:spcPts val="0"/>
              </a:spcAft>
              <a:buSzPts val="2250"/>
              <a:buFont typeface="Noto Sans Symbols"/>
              <a:buChar char="▪"/>
            </a:pPr>
            <a:r>
              <a:rPr lang="en-US"/>
              <a:t>The selection of blocks is now a simple matter: </a:t>
            </a:r>
            <a:endParaRPr/>
          </a:p>
          <a:p>
            <a:pPr indent="-142875" lvl="0" marL="0" rtl="0" algn="l">
              <a:lnSpc>
                <a:spcPct val="90000"/>
              </a:lnSpc>
              <a:spcBef>
                <a:spcPts val="1800"/>
              </a:spcBef>
              <a:spcAft>
                <a:spcPts val="0"/>
              </a:spcAft>
              <a:buSzPts val="2250"/>
              <a:buFont typeface="Noto Sans Symbols"/>
              <a:buChar char="▪"/>
            </a:pPr>
            <a:r>
              <a:rPr b="1" lang="en-US"/>
              <a:t>Any free block can be added to a chain. </a:t>
            </a:r>
            <a:endParaRPr b="1"/>
          </a:p>
          <a:p>
            <a:pPr indent="0" lvl="0" marL="0" rtl="0" algn="l">
              <a:lnSpc>
                <a:spcPct val="90000"/>
              </a:lnSpc>
              <a:spcBef>
                <a:spcPts val="1800"/>
              </a:spcBef>
              <a:spcAft>
                <a:spcPts val="0"/>
              </a:spcAft>
              <a:buSzPts val="1350"/>
              <a:buNone/>
            </a:pPr>
            <a:r>
              <a:t/>
            </a:r>
            <a:endParaRPr/>
          </a:p>
        </p:txBody>
      </p:sp>
      <p:sp>
        <p:nvSpPr>
          <p:cNvPr id="890" name="Google Shape;890;p67"/>
          <p:cNvSpPr txBox="1"/>
          <p:nvPr/>
        </p:nvSpPr>
        <p:spPr>
          <a:xfrm>
            <a:off x="5334000" y="5791200"/>
            <a:ext cx="6381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12.11</a:t>
            </a:r>
            <a:endParaRPr/>
          </a:p>
        </p:txBody>
      </p:sp>
    </p:spTree>
  </p:cSld>
  <p:clrMapOvr>
    <a:masterClrMapping/>
  </p:clrMapOvr>
  <p:transition spd="med">
    <p:wipe dir="l"/>
  </p:transition>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68"/>
          <p:cNvSpPr txBox="1"/>
          <p:nvPr>
            <p:ph type="title"/>
          </p:nvPr>
        </p:nvSpPr>
        <p:spPr>
          <a:xfrm>
            <a:off x="609600" y="762000"/>
            <a:ext cx="24384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Chained Allocation</a:t>
            </a:r>
            <a:endParaRPr/>
          </a:p>
        </p:txBody>
      </p:sp>
      <p:pic>
        <p:nvPicPr>
          <p:cNvPr descr="Fig12_09.gif" id="897" name="Google Shape;897;p68"/>
          <p:cNvPicPr preferRelativeResize="0"/>
          <p:nvPr>
            <p:ph idx="1" type="body"/>
          </p:nvPr>
        </p:nvPicPr>
        <p:blipFill rotWithShape="1">
          <a:blip r:embed="rId3">
            <a:alphaModFix/>
          </a:blip>
          <a:srcRect b="-38091" l="0" r="0" t="-38091"/>
          <a:stretch/>
        </p:blipFill>
        <p:spPr>
          <a:xfrm>
            <a:off x="3429000" y="0"/>
            <a:ext cx="5284788" cy="7966075"/>
          </a:xfrm>
          <a:prstGeom prst="rect">
            <a:avLst/>
          </a:prstGeom>
          <a:noFill/>
          <a:ln>
            <a:noFill/>
          </a:ln>
        </p:spPr>
      </p:pic>
      <p:sp>
        <p:nvSpPr>
          <p:cNvPr id="898" name="Google Shape;898;p68"/>
          <p:cNvSpPr txBox="1"/>
          <p:nvPr>
            <p:ph idx="2" type="body"/>
          </p:nvPr>
        </p:nvSpPr>
        <p:spPr>
          <a:xfrm>
            <a:off x="533400" y="2209800"/>
            <a:ext cx="2846388" cy="4038600"/>
          </a:xfrm>
          <a:prstGeom prst="rect">
            <a:avLst/>
          </a:prstGeom>
          <a:noFill/>
          <a:ln>
            <a:noFill/>
          </a:ln>
        </p:spPr>
        <p:txBody>
          <a:bodyPr anchorCtr="0" anchor="t" bIns="45700" lIns="91425" spcFirstLastPara="1" rIns="91425" wrap="square" tIns="45700">
            <a:normAutofit/>
          </a:bodyPr>
          <a:lstStyle/>
          <a:p>
            <a:pPr indent="-142875" lvl="0" marL="0" rtl="0" algn="l">
              <a:lnSpc>
                <a:spcPct val="90000"/>
              </a:lnSpc>
              <a:spcBef>
                <a:spcPts val="0"/>
              </a:spcBef>
              <a:spcAft>
                <a:spcPts val="0"/>
              </a:spcAft>
              <a:buSzPts val="2250"/>
              <a:buFont typeface="Noto Sans Symbols"/>
              <a:buChar char="▪"/>
            </a:pPr>
            <a:r>
              <a:rPr b="1" lang="en-US"/>
              <a:t>There is no external fragmentation</a:t>
            </a:r>
            <a:r>
              <a:rPr lang="en-US"/>
              <a:t> to worry about because only one block at a time is needed</a:t>
            </a:r>
            <a:endParaRPr/>
          </a:p>
          <a:p>
            <a:pPr indent="-142875" lvl="0" marL="0" rtl="0" algn="l">
              <a:lnSpc>
                <a:spcPct val="90000"/>
              </a:lnSpc>
              <a:spcBef>
                <a:spcPts val="1800"/>
              </a:spcBef>
              <a:spcAft>
                <a:spcPts val="0"/>
              </a:spcAft>
              <a:buSzPts val="2250"/>
              <a:buFont typeface="Noto Sans Symbols"/>
              <a:buChar char="▪"/>
            </a:pPr>
            <a:r>
              <a:rPr lang="en-US"/>
              <a:t>Better for sequential files</a:t>
            </a:r>
            <a:endParaRPr/>
          </a:p>
          <a:p>
            <a:pPr indent="0" lvl="0" marL="0" rtl="0" algn="l">
              <a:lnSpc>
                <a:spcPct val="90000"/>
              </a:lnSpc>
              <a:spcBef>
                <a:spcPts val="1800"/>
              </a:spcBef>
              <a:spcAft>
                <a:spcPts val="0"/>
              </a:spcAft>
              <a:buSzPts val="1350"/>
              <a:buNone/>
            </a:pPr>
            <a:r>
              <a:t/>
            </a:r>
            <a:endParaRPr/>
          </a:p>
        </p:txBody>
      </p:sp>
      <p:sp>
        <p:nvSpPr>
          <p:cNvPr id="899" name="Google Shape;899;p68"/>
          <p:cNvSpPr txBox="1"/>
          <p:nvPr/>
        </p:nvSpPr>
        <p:spPr>
          <a:xfrm>
            <a:off x="5334000" y="5791200"/>
            <a:ext cx="6381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12.11</a:t>
            </a:r>
            <a:endParaRPr/>
          </a:p>
        </p:txBody>
      </p:sp>
    </p:spTree>
  </p:cSld>
  <p:clrMapOvr>
    <a:masterClrMapping/>
  </p:clrMapOvr>
  <p:transition spd="med">
    <p:wipe dir="l"/>
  </p:transition>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sp>
        <p:nvSpPr>
          <p:cNvPr id="905" name="Google Shape;905;p69"/>
          <p:cNvSpPr txBox="1"/>
          <p:nvPr>
            <p:ph type="title"/>
          </p:nvPr>
        </p:nvSpPr>
        <p:spPr>
          <a:xfrm>
            <a:off x="609600" y="762000"/>
            <a:ext cx="6248400" cy="4572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lang="en-US"/>
              <a:t>Chained Allocation</a:t>
            </a:r>
            <a:endParaRPr/>
          </a:p>
        </p:txBody>
      </p:sp>
      <p:pic>
        <p:nvPicPr>
          <p:cNvPr descr="Fig12_09.gif" id="906" name="Google Shape;906;p69"/>
          <p:cNvPicPr preferRelativeResize="0"/>
          <p:nvPr>
            <p:ph idx="1" type="body"/>
          </p:nvPr>
        </p:nvPicPr>
        <p:blipFill rotWithShape="1">
          <a:blip r:embed="rId3">
            <a:alphaModFix/>
          </a:blip>
          <a:srcRect b="-38091" l="0" r="0" t="-38091"/>
          <a:stretch/>
        </p:blipFill>
        <p:spPr>
          <a:xfrm>
            <a:off x="3429000" y="0"/>
            <a:ext cx="5284788" cy="7966075"/>
          </a:xfrm>
          <a:prstGeom prst="rect">
            <a:avLst/>
          </a:prstGeom>
          <a:noFill/>
          <a:ln>
            <a:noFill/>
          </a:ln>
        </p:spPr>
      </p:pic>
      <p:sp>
        <p:nvSpPr>
          <p:cNvPr id="907" name="Google Shape;907;p69"/>
          <p:cNvSpPr txBox="1"/>
          <p:nvPr>
            <p:ph idx="2" type="body"/>
          </p:nvPr>
        </p:nvSpPr>
        <p:spPr>
          <a:xfrm>
            <a:off x="533400" y="1600200"/>
            <a:ext cx="2846388" cy="4648200"/>
          </a:xfrm>
          <a:prstGeom prst="rect">
            <a:avLst/>
          </a:prstGeom>
          <a:noFill/>
          <a:ln>
            <a:noFill/>
          </a:ln>
        </p:spPr>
        <p:txBody>
          <a:bodyPr anchorCtr="0" anchor="t" bIns="45700" lIns="91425" spcFirstLastPara="1" rIns="91425" wrap="square" tIns="45700">
            <a:normAutofit/>
          </a:bodyPr>
          <a:lstStyle/>
          <a:p>
            <a:pPr indent="-142875" lvl="0" marL="0" rtl="0" algn="l">
              <a:lnSpc>
                <a:spcPct val="90000"/>
              </a:lnSpc>
              <a:spcBef>
                <a:spcPts val="0"/>
              </a:spcBef>
              <a:spcAft>
                <a:spcPts val="0"/>
              </a:spcAft>
              <a:buSzPts val="2250"/>
              <a:buFont typeface="Noto Sans Symbols"/>
              <a:buChar char="▪"/>
            </a:pPr>
            <a:r>
              <a:rPr lang="en-US"/>
              <a:t>One consequence of chaining, as described so far, is that there is </a:t>
            </a:r>
            <a:r>
              <a:rPr b="1" lang="en-US"/>
              <a:t>no accommodation of the principle of locality.</a:t>
            </a:r>
            <a:r>
              <a:rPr lang="en-US"/>
              <a:t> </a:t>
            </a:r>
            <a:endParaRPr/>
          </a:p>
          <a:p>
            <a:pPr indent="-142875" lvl="0" marL="0" rtl="0" algn="l">
              <a:lnSpc>
                <a:spcPct val="90000"/>
              </a:lnSpc>
              <a:spcBef>
                <a:spcPts val="1800"/>
              </a:spcBef>
              <a:spcAft>
                <a:spcPts val="0"/>
              </a:spcAft>
              <a:buSzPts val="2250"/>
              <a:buFont typeface="Noto Sans Symbols"/>
              <a:buChar char="▪"/>
            </a:pPr>
            <a:r>
              <a:rPr lang="en-US"/>
              <a:t>To overcome this  problem</a:t>
            </a:r>
            <a:endParaRPr/>
          </a:p>
          <a:p>
            <a:pPr indent="-142875" lvl="0" marL="0" rtl="0" algn="l">
              <a:lnSpc>
                <a:spcPct val="90000"/>
              </a:lnSpc>
              <a:spcBef>
                <a:spcPts val="1800"/>
              </a:spcBef>
              <a:spcAft>
                <a:spcPts val="0"/>
              </a:spcAft>
              <a:buSzPts val="2250"/>
              <a:buFont typeface="Noto Sans Symbols"/>
              <a:buChar char="▪"/>
            </a:pPr>
            <a:r>
              <a:rPr b="1" lang="en-US"/>
              <a:t>Some systems periodically consolidate files</a:t>
            </a:r>
            <a:endParaRPr b="1"/>
          </a:p>
        </p:txBody>
      </p:sp>
      <p:sp>
        <p:nvSpPr>
          <p:cNvPr id="908" name="Google Shape;908;p69"/>
          <p:cNvSpPr txBox="1"/>
          <p:nvPr/>
        </p:nvSpPr>
        <p:spPr>
          <a:xfrm>
            <a:off x="5334000" y="5791200"/>
            <a:ext cx="638175"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12.11</a:t>
            </a:r>
            <a:endParaRPr/>
          </a:p>
        </p:txBody>
      </p:sp>
    </p:spTree>
  </p:cSld>
  <p:clrMapOvr>
    <a:masterClrMapping/>
  </p:clrMapOvr>
  <p:transition spd="med">
    <p:wipe dir="l"/>
  </p:transition>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70"/>
          <p:cNvSpPr txBox="1"/>
          <p:nvPr>
            <p:ph type="title"/>
          </p:nvPr>
        </p:nvSpPr>
        <p:spPr>
          <a:xfrm>
            <a:off x="457200" y="-228600"/>
            <a:ext cx="8077200" cy="1524000"/>
          </a:xfrm>
          <a:prstGeom prst="rect">
            <a:avLst/>
          </a:prstGeom>
          <a:noFill/>
          <a:ln>
            <a:noFill/>
          </a:ln>
        </p:spPr>
        <p:txBody>
          <a:bodyPr anchorCtr="0" anchor="b" bIns="0" lIns="91425" spcFirstLastPara="1" rIns="91425" wrap="square" tIns="0">
            <a:noAutofit/>
          </a:bodyPr>
          <a:lstStyle/>
          <a:p>
            <a:pPr indent="0" lvl="0" marL="0" rtl="0" algn="l">
              <a:lnSpc>
                <a:spcPct val="133333"/>
              </a:lnSpc>
              <a:spcBef>
                <a:spcPts val="0"/>
              </a:spcBef>
              <a:spcAft>
                <a:spcPts val="0"/>
              </a:spcAft>
              <a:buNone/>
            </a:pPr>
            <a:r>
              <a:rPr lang="en-US"/>
              <a:t>Chained Allocation After Consolidation</a:t>
            </a:r>
            <a:endParaRPr/>
          </a:p>
        </p:txBody>
      </p:sp>
      <p:pic>
        <p:nvPicPr>
          <p:cNvPr descr="Fig12_10.gif" id="915" name="Google Shape;915;p70"/>
          <p:cNvPicPr preferRelativeResize="0"/>
          <p:nvPr>
            <p:ph idx="1" type="body"/>
          </p:nvPr>
        </p:nvPicPr>
        <p:blipFill rotWithShape="1">
          <a:blip r:embed="rId3">
            <a:alphaModFix/>
          </a:blip>
          <a:srcRect b="-48927" l="0" r="0" t="-48927"/>
          <a:stretch/>
        </p:blipFill>
        <p:spPr>
          <a:xfrm>
            <a:off x="1219200" y="-1066800"/>
            <a:ext cx="6808788" cy="9985375"/>
          </a:xfrm>
          <a:prstGeom prst="rect">
            <a:avLst/>
          </a:prstGeom>
          <a:noFill/>
          <a:ln>
            <a:noFill/>
          </a:ln>
        </p:spPr>
      </p:pic>
      <p:sp>
        <p:nvSpPr>
          <p:cNvPr id="916" name="Google Shape;916;p70"/>
          <p:cNvSpPr txBox="1"/>
          <p:nvPr/>
        </p:nvSpPr>
        <p:spPr>
          <a:xfrm>
            <a:off x="2362200" y="6019800"/>
            <a:ext cx="771525" cy="36988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12.12</a:t>
            </a:r>
            <a:endParaRPr/>
          </a:p>
        </p:txBody>
      </p:sp>
    </p:spTree>
  </p:cSld>
  <p:clrMapOvr>
    <a:masterClrMapping/>
  </p:clrMapOvr>
  <p:transition spd="med">
    <p:wipe dir="d"/>
  </p:transition>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71"/>
          <p:cNvSpPr txBox="1"/>
          <p:nvPr>
            <p:ph idx="4294967295" type="title"/>
          </p:nvPr>
        </p:nvSpPr>
        <p:spPr>
          <a:xfrm>
            <a:off x="0" y="685800"/>
            <a:ext cx="9144000"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solidFill>
                  <a:srgbClr val="720000"/>
                </a:solidFill>
              </a:rPr>
              <a:t>Indexed Allocation with    Block Portions</a:t>
            </a:r>
            <a:endParaRPr>
              <a:solidFill>
                <a:srgbClr val="720000"/>
              </a:solidFill>
            </a:endParaRPr>
          </a:p>
        </p:txBody>
      </p:sp>
      <p:pic>
        <p:nvPicPr>
          <p:cNvPr id="923" name="Google Shape;923;p71"/>
          <p:cNvPicPr preferRelativeResize="0"/>
          <p:nvPr>
            <p:ph idx="4294967295" type="body"/>
          </p:nvPr>
        </p:nvPicPr>
        <p:blipFill rotWithShape="1">
          <a:blip r:embed="rId3">
            <a:alphaModFix/>
          </a:blip>
          <a:srcRect b="0" l="-1433" r="-1433" t="0"/>
          <a:stretch/>
        </p:blipFill>
        <p:spPr>
          <a:xfrm>
            <a:off x="1143000" y="2057400"/>
            <a:ext cx="7162800" cy="4438650"/>
          </a:xfrm>
          <a:prstGeom prst="rect">
            <a:avLst/>
          </a:prstGeom>
          <a:noFill/>
          <a:ln>
            <a:noFill/>
          </a:ln>
        </p:spPr>
      </p:pic>
      <p:sp>
        <p:nvSpPr>
          <p:cNvPr id="924" name="Google Shape;924;p71"/>
          <p:cNvSpPr txBox="1"/>
          <p:nvPr/>
        </p:nvSpPr>
        <p:spPr>
          <a:xfrm>
            <a:off x="2133600" y="6172200"/>
            <a:ext cx="533400" cy="2619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12.13</a:t>
            </a:r>
            <a:endParaRPr/>
          </a:p>
        </p:txBody>
      </p:sp>
    </p:spTree>
  </p:cSld>
  <p:clrMapOvr>
    <a:masterClrMapping/>
  </p:clrMapOvr>
  <p:transition>
    <p:cut thruBlk="1"/>
  </p:transition>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72"/>
          <p:cNvSpPr txBox="1"/>
          <p:nvPr>
            <p:ph idx="4294967295" type="title"/>
          </p:nvPr>
        </p:nvSpPr>
        <p:spPr>
          <a:xfrm>
            <a:off x="0" y="685800"/>
            <a:ext cx="9144000"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solidFill>
                  <a:srgbClr val="720000"/>
                </a:solidFill>
              </a:rPr>
              <a:t>Indexed Allocation with    Block Portions</a:t>
            </a:r>
            <a:endParaRPr>
              <a:solidFill>
                <a:srgbClr val="720000"/>
              </a:solidFill>
            </a:endParaRPr>
          </a:p>
        </p:txBody>
      </p:sp>
      <p:pic>
        <p:nvPicPr>
          <p:cNvPr id="931" name="Google Shape;931;p72"/>
          <p:cNvPicPr preferRelativeResize="0"/>
          <p:nvPr>
            <p:ph idx="4294967295" type="body"/>
          </p:nvPr>
        </p:nvPicPr>
        <p:blipFill rotWithShape="1">
          <a:blip r:embed="rId3">
            <a:alphaModFix/>
          </a:blip>
          <a:srcRect b="0" l="-1433" r="-1433" t="0"/>
          <a:stretch/>
        </p:blipFill>
        <p:spPr>
          <a:xfrm>
            <a:off x="4724400" y="2057400"/>
            <a:ext cx="4114800" cy="4438650"/>
          </a:xfrm>
          <a:prstGeom prst="rect">
            <a:avLst/>
          </a:prstGeom>
          <a:noFill/>
          <a:ln>
            <a:noFill/>
          </a:ln>
        </p:spPr>
      </p:pic>
      <p:sp>
        <p:nvSpPr>
          <p:cNvPr id="932" name="Google Shape;932;p72"/>
          <p:cNvSpPr txBox="1"/>
          <p:nvPr/>
        </p:nvSpPr>
        <p:spPr>
          <a:xfrm>
            <a:off x="2133600" y="6172200"/>
            <a:ext cx="533400" cy="2619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Arial"/>
                <a:ea typeface="Arial"/>
                <a:cs typeface="Arial"/>
                <a:sym typeface="Arial"/>
              </a:rPr>
              <a:t>12.13</a:t>
            </a:r>
            <a:endParaRPr/>
          </a:p>
        </p:txBody>
      </p:sp>
      <p:sp>
        <p:nvSpPr>
          <p:cNvPr id="933" name="Google Shape;933;p72"/>
          <p:cNvSpPr/>
          <p:nvPr/>
        </p:nvSpPr>
        <p:spPr>
          <a:xfrm>
            <a:off x="457200" y="2033587"/>
            <a:ext cx="4191000" cy="313932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In this case, the file allocation table contains a separate one-level index for each file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index has one entry for each portion allocated to the file.</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File index for a file is kept in a separate block, and the entry for the file in the file allocation table points to that block</a:t>
            </a:r>
            <a:endParaRPr sz="1800">
              <a:solidFill>
                <a:schemeClr val="dk1"/>
              </a:solidFill>
              <a:latin typeface="Arial"/>
              <a:ea typeface="Arial"/>
              <a:cs typeface="Arial"/>
              <a:sym typeface="Arial"/>
            </a:endParaRPr>
          </a:p>
        </p:txBody>
      </p:sp>
    </p:spTree>
  </p:cSld>
  <p:clrMapOvr>
    <a:masterClrMapping/>
  </p:clrMapOvr>
  <p:transition>
    <p:cut thruBlk="1"/>
  </p:transition>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3"/>
          <p:cNvSpPr txBox="1"/>
          <p:nvPr>
            <p:ph idx="4294967295" type="title"/>
          </p:nvPr>
        </p:nvSpPr>
        <p:spPr>
          <a:xfrm>
            <a:off x="228600" y="609600"/>
            <a:ext cx="8610600"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solidFill>
                  <a:srgbClr val="720000"/>
                </a:solidFill>
              </a:rPr>
              <a:t>Indexed Allocation with</a:t>
            </a:r>
            <a:br>
              <a:rPr lang="en-US">
                <a:solidFill>
                  <a:srgbClr val="720000"/>
                </a:solidFill>
              </a:rPr>
            </a:br>
            <a:r>
              <a:rPr lang="en-US">
                <a:solidFill>
                  <a:srgbClr val="720000"/>
                </a:solidFill>
              </a:rPr>
              <a:t> Variable Length Portions</a:t>
            </a:r>
            <a:endParaRPr>
              <a:solidFill>
                <a:srgbClr val="720000"/>
              </a:solidFill>
            </a:endParaRPr>
          </a:p>
        </p:txBody>
      </p:sp>
      <p:pic>
        <p:nvPicPr>
          <p:cNvPr descr="Fig12_12.gif" id="940" name="Google Shape;940;p73"/>
          <p:cNvPicPr preferRelativeResize="0"/>
          <p:nvPr>
            <p:ph idx="4294967295" type="body"/>
          </p:nvPr>
        </p:nvPicPr>
        <p:blipFill rotWithShape="1">
          <a:blip r:embed="rId3">
            <a:alphaModFix/>
          </a:blip>
          <a:srcRect b="0" l="-7290" r="-7290" t="0"/>
          <a:stretch/>
        </p:blipFill>
        <p:spPr>
          <a:xfrm>
            <a:off x="914400" y="2057400"/>
            <a:ext cx="7486650" cy="4449763"/>
          </a:xfrm>
          <a:prstGeom prst="rect">
            <a:avLst/>
          </a:prstGeom>
          <a:noFill/>
          <a:ln>
            <a:noFill/>
          </a:ln>
        </p:spPr>
      </p:pic>
      <p:sp>
        <p:nvSpPr>
          <p:cNvPr id="941" name="Google Shape;941;p73"/>
          <p:cNvSpPr txBox="1"/>
          <p:nvPr/>
        </p:nvSpPr>
        <p:spPr>
          <a:xfrm>
            <a:off x="2286000" y="6096000"/>
            <a:ext cx="685800" cy="3079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Arial"/>
                <a:ea typeface="Arial"/>
                <a:cs typeface="Arial"/>
                <a:sym typeface="Arial"/>
              </a:rPr>
              <a:t>12.14</a:t>
            </a:r>
            <a:endParaRPr/>
          </a:p>
        </p:txBody>
      </p:sp>
    </p:spTree>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74"/>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t>Free Space Management</a:t>
            </a:r>
            <a:endParaRPr/>
          </a:p>
        </p:txBody>
      </p:sp>
      <p:sp>
        <p:nvSpPr>
          <p:cNvPr id="948" name="Google Shape;948;p74"/>
          <p:cNvSpPr txBox="1"/>
          <p:nvPr>
            <p:ph idx="4294967295" type="body"/>
          </p:nvPr>
        </p:nvSpPr>
        <p:spPr>
          <a:xfrm>
            <a:off x="609600" y="2209800"/>
            <a:ext cx="79248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Just as allocated space must be managed, so must the unallocated space</a:t>
            </a:r>
            <a:endParaRPr/>
          </a:p>
          <a:p>
            <a:pPr indent="-282575" lvl="0" marL="282575" rtl="0" algn="l">
              <a:spcBef>
                <a:spcPts val="1800"/>
              </a:spcBef>
              <a:spcAft>
                <a:spcPts val="0"/>
              </a:spcAft>
              <a:buSzPts val="1500"/>
              <a:buChar char="■"/>
            </a:pPr>
            <a:r>
              <a:rPr lang="en-US"/>
              <a:t>To perform file allocation, it is necessary to know which blocks are available</a:t>
            </a:r>
            <a:endParaRPr/>
          </a:p>
          <a:p>
            <a:pPr indent="-282575" lvl="0" marL="282575" rtl="0" algn="l">
              <a:spcBef>
                <a:spcPts val="1800"/>
              </a:spcBef>
              <a:spcAft>
                <a:spcPts val="0"/>
              </a:spcAft>
              <a:buSzPts val="1500"/>
              <a:buChar char="■"/>
            </a:pPr>
            <a:r>
              <a:rPr lang="en-US"/>
              <a:t>A </a:t>
            </a:r>
            <a:r>
              <a:rPr b="1" i="1" lang="en-US"/>
              <a:t>disk allocation table </a:t>
            </a:r>
            <a:r>
              <a:rPr lang="en-US"/>
              <a:t>is needed in addition to a file allocation table</a:t>
            </a:r>
            <a:endParaRPr/>
          </a:p>
        </p:txBody>
      </p:sp>
      <p:pic>
        <p:nvPicPr>
          <p:cNvPr id="949" name="Google Shape;949;p74"/>
          <p:cNvPicPr preferRelativeResize="0"/>
          <p:nvPr/>
        </p:nvPicPr>
        <p:blipFill rotWithShape="1">
          <a:blip r:embed="rId3">
            <a:alphaModFix/>
          </a:blip>
          <a:srcRect b="0" l="0" r="0" t="0"/>
          <a:stretch/>
        </p:blipFill>
        <p:spPr>
          <a:xfrm>
            <a:off x="5410200" y="4800600"/>
            <a:ext cx="1057275" cy="1185863"/>
          </a:xfrm>
          <a:prstGeom prst="rect">
            <a:avLst/>
          </a:prstGeom>
          <a:noFill/>
          <a:ln>
            <a:noFill/>
          </a:ln>
        </p:spPr>
      </p:pic>
      <p:pic>
        <p:nvPicPr>
          <p:cNvPr id="950" name="Google Shape;950;p74"/>
          <p:cNvPicPr preferRelativeResize="0"/>
          <p:nvPr/>
        </p:nvPicPr>
        <p:blipFill rotWithShape="1">
          <a:blip r:embed="rId4">
            <a:alphaModFix/>
          </a:blip>
          <a:srcRect b="0" l="0" r="0" t="0"/>
          <a:stretch/>
        </p:blipFill>
        <p:spPr>
          <a:xfrm>
            <a:off x="6705600" y="4495800"/>
            <a:ext cx="2082800" cy="20447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p75"/>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l">
              <a:lnSpc>
                <a:spcPct val="103846"/>
              </a:lnSpc>
              <a:spcBef>
                <a:spcPts val="0"/>
              </a:spcBef>
              <a:spcAft>
                <a:spcPts val="0"/>
              </a:spcAft>
              <a:buNone/>
            </a:pPr>
            <a:r>
              <a:rPr lang="en-US"/>
              <a:t> Bit Tables (Bit Vectors)</a:t>
            </a:r>
            <a:endParaRPr/>
          </a:p>
        </p:txBody>
      </p:sp>
      <p:sp>
        <p:nvSpPr>
          <p:cNvPr id="957" name="Google Shape;957;p75"/>
          <p:cNvSpPr txBox="1"/>
          <p:nvPr>
            <p:ph idx="4294967295" type="body"/>
          </p:nvPr>
        </p:nvSpPr>
        <p:spPr>
          <a:xfrm>
            <a:off x="609600" y="2209800"/>
            <a:ext cx="7924800" cy="40386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This method uses a vector containing one bit for each block on the disk</a:t>
            </a:r>
            <a:endParaRPr/>
          </a:p>
          <a:p>
            <a:pPr indent="-282575" lvl="0" marL="282575" rtl="0" algn="l">
              <a:spcBef>
                <a:spcPts val="1800"/>
              </a:spcBef>
              <a:spcAft>
                <a:spcPts val="0"/>
              </a:spcAft>
              <a:buSzPts val="1500"/>
              <a:buChar char="■"/>
            </a:pPr>
            <a:r>
              <a:rPr lang="en-US"/>
              <a:t>Each entry of a 0 corresponds to a free block, </a:t>
            </a:r>
            <a:endParaRPr/>
          </a:p>
          <a:p>
            <a:pPr indent="-282575" lvl="0" marL="282575" rtl="0" algn="l">
              <a:spcBef>
                <a:spcPts val="1800"/>
              </a:spcBef>
              <a:spcAft>
                <a:spcPts val="0"/>
              </a:spcAft>
              <a:buSzPts val="1500"/>
              <a:buChar char="■"/>
            </a:pPr>
            <a:r>
              <a:rPr lang="en-US"/>
              <a:t>Each 1 corresponds to a block in use</a:t>
            </a:r>
            <a:endParaRPr/>
          </a:p>
          <a:p>
            <a:pPr indent="-187325" lvl="0" marL="282575" rtl="0" algn="l">
              <a:spcBef>
                <a:spcPts val="1800"/>
              </a:spcBef>
              <a:spcAft>
                <a:spcPts val="0"/>
              </a:spcAft>
              <a:buSzPts val="1500"/>
              <a:buNone/>
            </a:pPr>
            <a:r>
              <a:t/>
            </a:r>
            <a:endParaRPr/>
          </a:p>
          <a:p>
            <a:pPr indent="-187325" lvl="0" marL="282575" rtl="0" algn="l">
              <a:spcBef>
                <a:spcPts val="1800"/>
              </a:spcBef>
              <a:spcAft>
                <a:spcPts val="0"/>
              </a:spcAft>
              <a:buSzPts val="1500"/>
              <a:buNone/>
            </a:pPr>
            <a:r>
              <a:t/>
            </a:r>
            <a:endParaRPr/>
          </a:p>
        </p:txBody>
      </p:sp>
      <p:sp>
        <p:nvSpPr>
          <p:cNvPr id="958" name="Google Shape;958;p75"/>
          <p:cNvSpPr/>
          <p:nvPr/>
        </p:nvSpPr>
        <p:spPr>
          <a:xfrm>
            <a:off x="2286000" y="3962400"/>
            <a:ext cx="4495800" cy="24130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Advantages:</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works well with any file allocation method</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it is as small as possible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76"/>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l">
              <a:lnSpc>
                <a:spcPct val="103846"/>
              </a:lnSpc>
              <a:spcBef>
                <a:spcPts val="0"/>
              </a:spcBef>
              <a:spcAft>
                <a:spcPts val="0"/>
              </a:spcAft>
              <a:buNone/>
            </a:pPr>
            <a:r>
              <a:rPr lang="en-US"/>
              <a:t> Bit Tables (Bit Vectors)</a:t>
            </a:r>
            <a:endParaRPr/>
          </a:p>
        </p:txBody>
      </p:sp>
      <p:sp>
        <p:nvSpPr>
          <p:cNvPr id="965" name="Google Shape;965;p76"/>
          <p:cNvSpPr txBox="1"/>
          <p:nvPr>
            <p:ph idx="4294967295" type="body"/>
          </p:nvPr>
        </p:nvSpPr>
        <p:spPr>
          <a:xfrm>
            <a:off x="533400" y="1981200"/>
            <a:ext cx="7924800" cy="40386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For the disk layout of Figure 12.9 , A vector of length 35 is needed and would have the following value:</a:t>
            </a:r>
            <a:endParaRPr/>
          </a:p>
          <a:p>
            <a:pPr indent="-282575" lvl="0" marL="282575" rtl="0" algn="l">
              <a:spcBef>
                <a:spcPts val="1800"/>
              </a:spcBef>
              <a:spcAft>
                <a:spcPts val="0"/>
              </a:spcAft>
              <a:buSzPts val="1500"/>
              <a:buChar char="■"/>
            </a:pPr>
            <a:r>
              <a:rPr lang="en-US"/>
              <a:t>00111000011111000011111111111011000</a:t>
            </a:r>
            <a:endParaRPr/>
          </a:p>
          <a:p>
            <a:pPr indent="-187325" lvl="0" marL="282575" rtl="0" algn="l">
              <a:spcBef>
                <a:spcPts val="1800"/>
              </a:spcBef>
              <a:spcAft>
                <a:spcPts val="0"/>
              </a:spcAft>
              <a:buSzPts val="1500"/>
              <a:buNone/>
            </a:pPr>
            <a:r>
              <a:t/>
            </a:r>
            <a:endParaRPr/>
          </a:p>
        </p:txBody>
      </p:sp>
      <p:pic>
        <p:nvPicPr>
          <p:cNvPr id="966" name="Google Shape;966;p76"/>
          <p:cNvPicPr preferRelativeResize="0"/>
          <p:nvPr/>
        </p:nvPicPr>
        <p:blipFill rotWithShape="1">
          <a:blip r:embed="rId3">
            <a:alphaModFix/>
          </a:blip>
          <a:srcRect b="10155" l="35139" r="45314" t="47461"/>
          <a:stretch/>
        </p:blipFill>
        <p:spPr>
          <a:xfrm>
            <a:off x="2514600" y="3352800"/>
            <a:ext cx="3914775" cy="3100387"/>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77"/>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l">
              <a:lnSpc>
                <a:spcPct val="103846"/>
              </a:lnSpc>
              <a:spcBef>
                <a:spcPts val="0"/>
              </a:spcBef>
              <a:spcAft>
                <a:spcPts val="0"/>
              </a:spcAft>
              <a:buNone/>
            </a:pPr>
            <a:r>
              <a:rPr lang="en-US"/>
              <a:t> Bit Tables (Bit Vectors)</a:t>
            </a:r>
            <a:endParaRPr/>
          </a:p>
        </p:txBody>
      </p:sp>
      <p:sp>
        <p:nvSpPr>
          <p:cNvPr id="973" name="Google Shape;973;p77"/>
          <p:cNvSpPr txBox="1"/>
          <p:nvPr>
            <p:ph idx="4294967295" type="body"/>
          </p:nvPr>
        </p:nvSpPr>
        <p:spPr>
          <a:xfrm>
            <a:off x="609600" y="2209800"/>
            <a:ext cx="7924800" cy="4038600"/>
          </a:xfrm>
          <a:prstGeom prst="rect">
            <a:avLst/>
          </a:prstGeom>
          <a:noFill/>
          <a:ln>
            <a:noFill/>
          </a:ln>
        </p:spPr>
        <p:txBody>
          <a:bodyPr anchorCtr="0" anchor="t" bIns="45700" lIns="91425" spcFirstLastPara="1" rIns="91425" wrap="square" tIns="45700">
            <a:noAutofit/>
          </a:bodyPr>
          <a:lstStyle/>
          <a:p>
            <a:pPr indent="-187325" lvl="0" marL="282575" rtl="0" algn="l">
              <a:spcBef>
                <a:spcPts val="0"/>
              </a:spcBef>
              <a:spcAft>
                <a:spcPts val="0"/>
              </a:spcAft>
              <a:buSzPts val="1500"/>
              <a:buNone/>
            </a:pPr>
            <a:r>
              <a:t/>
            </a:r>
            <a:endParaRPr/>
          </a:p>
          <a:p>
            <a:pPr indent="-187325" lvl="0" marL="282575" rtl="0" algn="l">
              <a:spcBef>
                <a:spcPts val="1800"/>
              </a:spcBef>
              <a:spcAft>
                <a:spcPts val="0"/>
              </a:spcAft>
              <a:buSzPts val="1500"/>
              <a:buNone/>
            </a:pPr>
            <a:r>
              <a:t/>
            </a:r>
            <a:endParaRPr/>
          </a:p>
        </p:txBody>
      </p:sp>
      <p:sp>
        <p:nvSpPr>
          <p:cNvPr id="974" name="Google Shape;974;p77"/>
          <p:cNvSpPr/>
          <p:nvPr/>
        </p:nvSpPr>
        <p:spPr>
          <a:xfrm>
            <a:off x="533400" y="2209800"/>
            <a:ext cx="7467600" cy="41656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Advantages:</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relatively easy to find one or a contiguous group of free blocks.</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works well with any file allocation method</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it is as small as possible</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sp>
        <p:nvSpPr>
          <p:cNvPr id="980" name="Google Shape;980;p78"/>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Chained Free Portions </a:t>
            </a:r>
            <a:endParaRPr/>
          </a:p>
        </p:txBody>
      </p:sp>
      <p:sp>
        <p:nvSpPr>
          <p:cNvPr id="981" name="Google Shape;981;p78"/>
          <p:cNvSpPr txBox="1"/>
          <p:nvPr>
            <p:ph idx="4294967295" type="body"/>
          </p:nvPr>
        </p:nvSpPr>
        <p:spPr>
          <a:xfrm>
            <a:off x="609600" y="2209800"/>
            <a:ext cx="78486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The free portions may be chained together by using a pointer and length value in each free portion</a:t>
            </a:r>
            <a:endParaRPr/>
          </a:p>
          <a:p>
            <a:pPr indent="-282575" lvl="0" marL="282575" rtl="0" algn="l">
              <a:spcBef>
                <a:spcPts val="1800"/>
              </a:spcBef>
              <a:spcAft>
                <a:spcPts val="0"/>
              </a:spcAft>
              <a:buSzPts val="1500"/>
              <a:buChar char="■"/>
            </a:pPr>
            <a:r>
              <a:rPr lang="en-US"/>
              <a:t>Negligible space overhead because there is no need for a disk allocation table, merely for a pointer to the beginning of the chain and the length of the first portion.</a:t>
            </a:r>
            <a:endParaRPr/>
          </a:p>
          <a:p>
            <a:pPr indent="-282575" lvl="0" marL="282575" rtl="0" algn="l">
              <a:spcBef>
                <a:spcPts val="1800"/>
              </a:spcBef>
              <a:spcAft>
                <a:spcPts val="0"/>
              </a:spcAft>
              <a:buSzPts val="1500"/>
              <a:buChar char="■"/>
            </a:pPr>
            <a:r>
              <a:rPr lang="en-US"/>
              <a:t>Suited to all file allocation methods</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79"/>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Chained Free Portions </a:t>
            </a:r>
            <a:endParaRPr/>
          </a:p>
        </p:txBody>
      </p:sp>
      <p:sp>
        <p:nvSpPr>
          <p:cNvPr id="988" name="Google Shape;988;p79"/>
          <p:cNvSpPr txBox="1"/>
          <p:nvPr>
            <p:ph idx="4294967295" type="body"/>
          </p:nvPr>
        </p:nvSpPr>
        <p:spPr>
          <a:xfrm>
            <a:off x="609600" y="2209800"/>
            <a:ext cx="78486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If allocation is a block at a time, simply choose the free block at the head of the chain and adjust the first pointer or length value.</a:t>
            </a:r>
            <a:endParaRPr/>
          </a:p>
          <a:p>
            <a:pPr indent="-282575" lvl="0" marL="282575" rtl="0" algn="l">
              <a:spcBef>
                <a:spcPts val="1800"/>
              </a:spcBef>
              <a:spcAft>
                <a:spcPts val="0"/>
              </a:spcAft>
              <a:buSzPts val="1500"/>
              <a:buChar char="■"/>
            </a:pPr>
            <a:r>
              <a:rPr lang="en-US"/>
              <a:t>If allocation is by variable-length portion, a first-fit algorithm may be used: </a:t>
            </a:r>
            <a:endParaRPr/>
          </a:p>
          <a:p>
            <a:pPr indent="-295275" lvl="1" marL="577850" rtl="0" algn="l">
              <a:spcBef>
                <a:spcPts val="600"/>
              </a:spcBef>
              <a:spcAft>
                <a:spcPts val="0"/>
              </a:spcAft>
              <a:buSzPts val="1500"/>
              <a:buChar char="■"/>
            </a:pPr>
            <a:r>
              <a:rPr lang="en-US" sz="2000"/>
              <a:t>The headers from the portions are fetched one at a time to determine the next suitable free portion in the chain.</a:t>
            </a:r>
            <a:endParaRPr/>
          </a:p>
          <a:p>
            <a:pPr indent="-295275" lvl="1" marL="577850" rtl="0" algn="l">
              <a:spcBef>
                <a:spcPts val="600"/>
              </a:spcBef>
              <a:spcAft>
                <a:spcPts val="0"/>
              </a:spcAft>
              <a:buSzPts val="1500"/>
              <a:buChar char="■"/>
            </a:pPr>
            <a:r>
              <a:rPr lang="en-US" sz="2000"/>
              <a:t>Again, pointer and length values are adjusted.</a:t>
            </a:r>
            <a:endParaRPr sz="20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80"/>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Chained Free Portions </a:t>
            </a:r>
            <a:endParaRPr/>
          </a:p>
        </p:txBody>
      </p:sp>
      <p:sp>
        <p:nvSpPr>
          <p:cNvPr id="995" name="Google Shape;995;p80"/>
          <p:cNvSpPr txBox="1"/>
          <p:nvPr>
            <p:ph idx="4294967295" type="body"/>
          </p:nvPr>
        </p:nvSpPr>
        <p:spPr>
          <a:xfrm>
            <a:off x="609600" y="2209800"/>
            <a:ext cx="78486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Negligible space overhead because there is no need for a disk allocation table, merely for a pointer to the beginning of the chain and the length of the first portion.</a:t>
            </a:r>
            <a:endParaRPr/>
          </a:p>
          <a:p>
            <a:pPr indent="-282575" lvl="0" marL="282575" rtl="0" algn="l">
              <a:spcBef>
                <a:spcPts val="1800"/>
              </a:spcBef>
              <a:spcAft>
                <a:spcPts val="0"/>
              </a:spcAft>
              <a:buSzPts val="1500"/>
              <a:buChar char="■"/>
            </a:pPr>
            <a:r>
              <a:rPr lang="en-US"/>
              <a:t>Suited to all file allocation methods</a:t>
            </a:r>
            <a:endParaRPr/>
          </a:p>
        </p:txBody>
      </p:sp>
      <p:sp>
        <p:nvSpPr>
          <p:cNvPr id="996" name="Google Shape;996;p80"/>
          <p:cNvSpPr/>
          <p:nvPr/>
        </p:nvSpPr>
        <p:spPr>
          <a:xfrm>
            <a:off x="1524000" y="4343400"/>
            <a:ext cx="6096000" cy="2108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Disadvantages:</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leads to fragmentation</a:t>
            </a:r>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every time you allocate a block you need to read the block first to recover the pointer to the new first free block before writing data to that block</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81"/>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Indexing</a:t>
            </a:r>
            <a:endParaRPr/>
          </a:p>
        </p:txBody>
      </p:sp>
      <p:sp>
        <p:nvSpPr>
          <p:cNvPr id="1003" name="Google Shape;1003;p81"/>
          <p:cNvSpPr txBox="1"/>
          <p:nvPr>
            <p:ph idx="4294967295" type="body"/>
          </p:nvPr>
        </p:nvSpPr>
        <p:spPr>
          <a:xfrm>
            <a:off x="457200" y="2187575"/>
            <a:ext cx="38862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Treats free space as a file and uses an index table as it would for file allocation</a:t>
            </a:r>
            <a:endParaRPr/>
          </a:p>
        </p:txBody>
      </p:sp>
      <p:pic>
        <p:nvPicPr>
          <p:cNvPr id="1004" name="Google Shape;1004;p81"/>
          <p:cNvPicPr preferRelativeResize="0"/>
          <p:nvPr/>
        </p:nvPicPr>
        <p:blipFill rotWithShape="1">
          <a:blip r:embed="rId3">
            <a:alphaModFix/>
          </a:blip>
          <a:srcRect b="0" l="0" r="0" t="0"/>
          <a:stretch/>
        </p:blipFill>
        <p:spPr>
          <a:xfrm>
            <a:off x="4572000" y="4495800"/>
            <a:ext cx="1800225" cy="1825625"/>
          </a:xfrm>
          <a:prstGeom prst="rect">
            <a:avLst/>
          </a:prstGeom>
          <a:noFill/>
          <a:ln>
            <a:noFill/>
          </a:ln>
        </p:spPr>
      </p:pic>
      <p:pic>
        <p:nvPicPr>
          <p:cNvPr id="1005" name="Google Shape;1005;p81"/>
          <p:cNvPicPr preferRelativeResize="0"/>
          <p:nvPr/>
        </p:nvPicPr>
        <p:blipFill rotWithShape="1">
          <a:blip r:embed="rId4">
            <a:alphaModFix/>
          </a:blip>
          <a:srcRect b="0" l="-1433" r="-1433" t="0"/>
          <a:stretch/>
        </p:blipFill>
        <p:spPr>
          <a:xfrm>
            <a:off x="4419600" y="2057400"/>
            <a:ext cx="4414837" cy="4438650"/>
          </a:xfrm>
          <a:prstGeom prst="rect">
            <a:avLst/>
          </a:prstGeom>
          <a:noFill/>
          <a:ln>
            <a:noFill/>
          </a:ln>
        </p:spPr>
      </p:pic>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0" name="Shape 1010"/>
        <p:cNvGrpSpPr/>
        <p:nvPr/>
      </p:nvGrpSpPr>
      <p:grpSpPr>
        <a:xfrm>
          <a:off x="0" y="0"/>
          <a:ext cx="0" cy="0"/>
          <a:chOff x="0" y="0"/>
          <a:chExt cx="0" cy="0"/>
        </a:xfrm>
      </p:grpSpPr>
      <p:sp>
        <p:nvSpPr>
          <p:cNvPr id="1011" name="Google Shape;1011;p8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Indexing</a:t>
            </a:r>
            <a:endParaRPr/>
          </a:p>
        </p:txBody>
      </p:sp>
      <p:sp>
        <p:nvSpPr>
          <p:cNvPr id="1012" name="Google Shape;1012;p82"/>
          <p:cNvSpPr txBox="1"/>
          <p:nvPr>
            <p:ph idx="4294967295" type="body"/>
          </p:nvPr>
        </p:nvSpPr>
        <p:spPr>
          <a:xfrm>
            <a:off x="457200" y="2187575"/>
            <a:ext cx="3886200" cy="41148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For efficiency, the index should be on the basis of variable-size portions rather than blocks</a:t>
            </a:r>
            <a:endParaRPr/>
          </a:p>
          <a:p>
            <a:pPr indent="-282575" lvl="0" marL="282575" rtl="0" algn="l">
              <a:spcBef>
                <a:spcPts val="1800"/>
              </a:spcBef>
              <a:spcAft>
                <a:spcPts val="0"/>
              </a:spcAft>
              <a:buSzPts val="1500"/>
              <a:buChar char="■"/>
            </a:pPr>
            <a:r>
              <a:rPr lang="en-US"/>
              <a:t>This approach provides efficient support for all of the file allocation methods</a:t>
            </a:r>
            <a:endParaRPr/>
          </a:p>
          <a:p>
            <a:pPr indent="-187325" lvl="0" marL="282575" rtl="0" algn="l">
              <a:spcBef>
                <a:spcPts val="1800"/>
              </a:spcBef>
              <a:spcAft>
                <a:spcPts val="0"/>
              </a:spcAft>
              <a:buSzPts val="1500"/>
              <a:buNone/>
            </a:pPr>
            <a:r>
              <a:t/>
            </a:r>
            <a:endParaRPr/>
          </a:p>
        </p:txBody>
      </p:sp>
      <p:pic>
        <p:nvPicPr>
          <p:cNvPr id="1013" name="Google Shape;1013;p82"/>
          <p:cNvPicPr preferRelativeResize="0"/>
          <p:nvPr/>
        </p:nvPicPr>
        <p:blipFill rotWithShape="1">
          <a:blip r:embed="rId3">
            <a:alphaModFix/>
          </a:blip>
          <a:srcRect b="0" l="0" r="0" t="0"/>
          <a:stretch/>
        </p:blipFill>
        <p:spPr>
          <a:xfrm>
            <a:off x="4572000" y="4495800"/>
            <a:ext cx="1800225" cy="1825625"/>
          </a:xfrm>
          <a:prstGeom prst="rect">
            <a:avLst/>
          </a:prstGeom>
          <a:noFill/>
          <a:ln>
            <a:noFill/>
          </a:ln>
        </p:spPr>
      </p:pic>
      <p:pic>
        <p:nvPicPr>
          <p:cNvPr descr="Fig12_12.gif" id="1014" name="Google Shape;1014;p82"/>
          <p:cNvPicPr preferRelativeResize="0"/>
          <p:nvPr/>
        </p:nvPicPr>
        <p:blipFill rotWithShape="1">
          <a:blip r:embed="rId4">
            <a:alphaModFix/>
          </a:blip>
          <a:srcRect b="0" l="-7290" r="-7290" t="0"/>
          <a:stretch/>
        </p:blipFill>
        <p:spPr>
          <a:xfrm>
            <a:off x="4343400" y="2057400"/>
            <a:ext cx="4495800" cy="4449763"/>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83"/>
          <p:cNvSpPr txBox="1"/>
          <p:nvPr>
            <p:ph type="title"/>
          </p:nvPr>
        </p:nvSpPr>
        <p:spPr>
          <a:xfrm>
            <a:off x="658813" y="455613"/>
            <a:ext cx="7824787" cy="1220787"/>
          </a:xfrm>
          <a:prstGeom prst="rect">
            <a:avLst/>
          </a:prstGeom>
          <a:noFill/>
          <a:ln>
            <a:noFill/>
          </a:ln>
        </p:spPr>
        <p:txBody>
          <a:bodyPr anchorCtr="0" anchor="b" bIns="0" lIns="91425" spcFirstLastPara="1" rIns="91425" wrap="square" tIns="0">
            <a:noAutofit/>
          </a:bodyPr>
          <a:lstStyle/>
          <a:p>
            <a:pPr indent="0" lvl="0" marL="0" rtl="0" algn="l">
              <a:lnSpc>
                <a:spcPct val="103846"/>
              </a:lnSpc>
              <a:spcBef>
                <a:spcPts val="0"/>
              </a:spcBef>
              <a:spcAft>
                <a:spcPts val="0"/>
              </a:spcAft>
              <a:buNone/>
            </a:pPr>
            <a:r>
              <a:rPr lang="en-US"/>
              <a:t>Free Block List </a:t>
            </a:r>
            <a:endParaRPr/>
          </a:p>
        </p:txBody>
      </p:sp>
      <p:sp>
        <p:nvSpPr>
          <p:cNvPr id="1021" name="Google Shape;1021;p83"/>
          <p:cNvSpPr/>
          <p:nvPr/>
        </p:nvSpPr>
        <p:spPr>
          <a:xfrm>
            <a:off x="609600" y="2209800"/>
            <a:ext cx="7924800" cy="4343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Each block is assigned a number sequentially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of the numbers of all free blocks is maintained in a reserved portion of the disk</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1" marL="1143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Depending on the size of the disk, either 24 or 32 bits will be needed to store a single block number</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size of the free block list is 24 or 32 times the size of the corresponding bit table and must be stored on disk</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sp>
        <p:nvSpPr>
          <p:cNvPr id="1026" name="Google Shape;1026;p84"/>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t/>
            </a:r>
            <a:endParaRPr/>
          </a:p>
        </p:txBody>
      </p:sp>
      <p:sp>
        <p:nvSpPr>
          <p:cNvPr id="1027" name="Google Shape;1027;p84"/>
          <p:cNvSpPr txBox="1"/>
          <p:nvPr>
            <p:ph idx="1" type="body"/>
          </p:nvPr>
        </p:nvSpPr>
        <p:spPr>
          <a:xfrm>
            <a:off x="533400" y="2286000"/>
            <a:ext cx="45720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As the free block list is too large to store in main memory, </a:t>
            </a:r>
            <a:endParaRPr/>
          </a:p>
          <a:p>
            <a:pPr indent="-282575" lvl="0" marL="282575" rtl="0" algn="l">
              <a:spcBef>
                <a:spcPts val="1800"/>
              </a:spcBef>
              <a:spcAft>
                <a:spcPts val="0"/>
              </a:spcAft>
              <a:buSzPts val="1500"/>
              <a:buChar char="■"/>
            </a:pPr>
            <a:r>
              <a:rPr lang="en-US"/>
              <a:t>Free Block List must be stored on disk rather than in main memory.</a:t>
            </a:r>
            <a:endParaRPr/>
          </a:p>
          <a:p>
            <a:pPr indent="-282575" lvl="0" marL="282575" rtl="0" algn="l">
              <a:spcBef>
                <a:spcPts val="1800"/>
              </a:spcBef>
              <a:spcAft>
                <a:spcPts val="0"/>
              </a:spcAft>
              <a:buSzPts val="1500"/>
              <a:buChar char="■"/>
            </a:pPr>
            <a:r>
              <a:rPr lang="en-US"/>
              <a:t>There are two effective techniques for storing a small part of the list in main memory.</a:t>
            </a:r>
            <a:endParaRPr/>
          </a:p>
        </p:txBody>
      </p:sp>
      <p:sp>
        <p:nvSpPr>
          <p:cNvPr id="1028" name="Google Shape;1028;p84"/>
          <p:cNvSpPr txBox="1"/>
          <p:nvPr/>
        </p:nvSpPr>
        <p:spPr>
          <a:xfrm>
            <a:off x="658813" y="455613"/>
            <a:ext cx="7824787" cy="1220787"/>
          </a:xfrm>
          <a:prstGeom prst="rect">
            <a:avLst/>
          </a:prstGeom>
          <a:noFill/>
          <a:ln>
            <a:noFill/>
          </a:ln>
        </p:spPr>
        <p:txBody>
          <a:bodyPr anchorCtr="0" anchor="b" bIns="0" lIns="91425" spcFirstLastPara="1" rIns="91425" wrap="square" tIns="0">
            <a:noAutofit/>
          </a:bodyPr>
          <a:lstStyle/>
          <a:p>
            <a:pPr indent="0" lvl="0" marL="0" marR="0" rtl="0" algn="l">
              <a:lnSpc>
                <a:spcPct val="103846"/>
              </a:lnSpc>
              <a:spcBef>
                <a:spcPts val="0"/>
              </a:spcBef>
              <a:spcAft>
                <a:spcPts val="0"/>
              </a:spcAft>
              <a:buNone/>
            </a:pPr>
            <a:r>
              <a:rPr lang="en-US" sz="5200">
                <a:solidFill>
                  <a:schemeClr val="lt1"/>
                </a:solidFill>
                <a:latin typeface="Lustria"/>
                <a:ea typeface="Lustria"/>
                <a:cs typeface="Lustria"/>
                <a:sym typeface="Lustria"/>
              </a:rPr>
              <a:t>Free Block List </a:t>
            </a:r>
            <a:endParaRPr sz="5200">
              <a:solidFill>
                <a:schemeClr val="lt1"/>
              </a:solidFill>
              <a:latin typeface="Lustria"/>
              <a:ea typeface="Lustria"/>
              <a:cs typeface="Lustria"/>
              <a:sym typeface="Lustria"/>
            </a:endParaRPr>
          </a:p>
        </p:txBody>
      </p:sp>
      <p:sp>
        <p:nvSpPr>
          <p:cNvPr id="1029" name="Google Shape;1029;p84"/>
          <p:cNvSpPr/>
          <p:nvPr/>
        </p:nvSpPr>
        <p:spPr>
          <a:xfrm>
            <a:off x="5257800" y="2209800"/>
            <a:ext cx="3276600" cy="4343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There are two effective techniques for storing a small part of the free block list in main memory:</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push-down stack with the first few thousand elements of the stack kept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FIFO queue, with a few thousand entries from both the head and the tail of the queue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3" name="Shape 1033"/>
        <p:cNvGrpSpPr/>
        <p:nvPr/>
      </p:nvGrpSpPr>
      <p:grpSpPr>
        <a:xfrm>
          <a:off x="0" y="0"/>
          <a:ext cx="0" cy="0"/>
          <a:chOff x="0" y="0"/>
          <a:chExt cx="0" cy="0"/>
        </a:xfrm>
      </p:grpSpPr>
      <p:sp>
        <p:nvSpPr>
          <p:cNvPr id="1034" name="Google Shape;1034;p85"/>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t/>
            </a:r>
            <a:endParaRPr/>
          </a:p>
        </p:txBody>
      </p:sp>
      <p:sp>
        <p:nvSpPr>
          <p:cNvPr id="1035" name="Google Shape;1035;p85"/>
          <p:cNvSpPr txBox="1"/>
          <p:nvPr>
            <p:ph idx="1" type="body"/>
          </p:nvPr>
        </p:nvSpPr>
        <p:spPr>
          <a:xfrm>
            <a:off x="533400" y="2286000"/>
            <a:ext cx="45720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Stack-</a:t>
            </a:r>
            <a:endParaRPr/>
          </a:p>
          <a:p>
            <a:pPr indent="-282575" lvl="0" marL="282575" rtl="0" algn="l">
              <a:spcBef>
                <a:spcPts val="1800"/>
              </a:spcBef>
              <a:spcAft>
                <a:spcPts val="0"/>
              </a:spcAft>
              <a:buSzPts val="1500"/>
              <a:buChar char="■"/>
            </a:pPr>
            <a:r>
              <a:rPr lang="en-US"/>
              <a:t>When a new block is allocated, it is popped from the top of the stack, which is in main memory. </a:t>
            </a:r>
            <a:endParaRPr/>
          </a:p>
          <a:p>
            <a:pPr indent="-282575" lvl="0" marL="282575" rtl="0" algn="l">
              <a:spcBef>
                <a:spcPts val="1800"/>
              </a:spcBef>
              <a:spcAft>
                <a:spcPts val="0"/>
              </a:spcAft>
              <a:buSzPts val="1500"/>
              <a:buChar char="■"/>
            </a:pPr>
            <a:r>
              <a:rPr lang="en-US"/>
              <a:t>Similarly, when a block is deallocated, it is pushed onto the stack.</a:t>
            </a:r>
            <a:endParaRPr/>
          </a:p>
        </p:txBody>
      </p:sp>
      <p:sp>
        <p:nvSpPr>
          <p:cNvPr id="1036" name="Google Shape;1036;p85"/>
          <p:cNvSpPr txBox="1"/>
          <p:nvPr/>
        </p:nvSpPr>
        <p:spPr>
          <a:xfrm>
            <a:off x="658813" y="455613"/>
            <a:ext cx="7824787" cy="1220787"/>
          </a:xfrm>
          <a:prstGeom prst="rect">
            <a:avLst/>
          </a:prstGeom>
          <a:noFill/>
          <a:ln>
            <a:noFill/>
          </a:ln>
        </p:spPr>
        <p:txBody>
          <a:bodyPr anchorCtr="0" anchor="b" bIns="0" lIns="91425" spcFirstLastPara="1" rIns="91425" wrap="square" tIns="0">
            <a:noAutofit/>
          </a:bodyPr>
          <a:lstStyle/>
          <a:p>
            <a:pPr indent="0" lvl="0" marL="0" marR="0" rtl="0" algn="l">
              <a:lnSpc>
                <a:spcPct val="103846"/>
              </a:lnSpc>
              <a:spcBef>
                <a:spcPts val="0"/>
              </a:spcBef>
              <a:spcAft>
                <a:spcPts val="0"/>
              </a:spcAft>
              <a:buNone/>
            </a:pPr>
            <a:r>
              <a:rPr lang="en-US" sz="5200">
                <a:solidFill>
                  <a:schemeClr val="lt1"/>
                </a:solidFill>
                <a:latin typeface="Lustria"/>
                <a:ea typeface="Lustria"/>
                <a:cs typeface="Lustria"/>
                <a:sym typeface="Lustria"/>
              </a:rPr>
              <a:t>Free Block List </a:t>
            </a:r>
            <a:endParaRPr sz="5200">
              <a:solidFill>
                <a:schemeClr val="lt1"/>
              </a:solidFill>
              <a:latin typeface="Lustria"/>
              <a:ea typeface="Lustria"/>
              <a:cs typeface="Lustria"/>
              <a:sym typeface="Lustria"/>
            </a:endParaRPr>
          </a:p>
        </p:txBody>
      </p:sp>
      <p:sp>
        <p:nvSpPr>
          <p:cNvPr id="1037" name="Google Shape;1037;p85"/>
          <p:cNvSpPr/>
          <p:nvPr/>
        </p:nvSpPr>
        <p:spPr>
          <a:xfrm>
            <a:off x="5257800" y="2209800"/>
            <a:ext cx="3276600" cy="4343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There are two effective techniques for storing a small part of the free block list in main memory:</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push-down stack with the first few thousand elements of the stack kept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FIFO queue, with a few thousand entries from both the head and the tail of the queue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p86"/>
          <p:cNvSpPr txBox="1"/>
          <p:nvPr>
            <p:ph idx="1" type="body"/>
          </p:nvPr>
        </p:nvSpPr>
        <p:spPr>
          <a:xfrm>
            <a:off x="533400" y="2286000"/>
            <a:ext cx="45720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Stack-</a:t>
            </a:r>
            <a:endParaRPr/>
          </a:p>
          <a:p>
            <a:pPr indent="-282575" lvl="0" marL="282575" rtl="0" algn="l">
              <a:spcBef>
                <a:spcPts val="1800"/>
              </a:spcBef>
              <a:spcAft>
                <a:spcPts val="0"/>
              </a:spcAft>
              <a:buSzPts val="1500"/>
              <a:buChar char="■"/>
            </a:pPr>
            <a:r>
              <a:rPr lang="en-US"/>
              <a:t>There only has to be a transfer between disk and main memory when </a:t>
            </a:r>
            <a:endParaRPr/>
          </a:p>
          <a:p>
            <a:pPr indent="-282575" lvl="0" marL="282575" rtl="0" algn="l">
              <a:spcBef>
                <a:spcPts val="1800"/>
              </a:spcBef>
              <a:spcAft>
                <a:spcPts val="0"/>
              </a:spcAft>
              <a:buSzPts val="1500"/>
              <a:buChar char="■"/>
            </a:pPr>
            <a:r>
              <a:rPr lang="en-US"/>
              <a:t>the in-memory portion of the stack becomes either full or empty.</a:t>
            </a:r>
            <a:endParaRPr/>
          </a:p>
        </p:txBody>
      </p:sp>
      <p:sp>
        <p:nvSpPr>
          <p:cNvPr id="1043" name="Google Shape;1043;p86"/>
          <p:cNvSpPr txBox="1"/>
          <p:nvPr/>
        </p:nvSpPr>
        <p:spPr>
          <a:xfrm>
            <a:off x="773125" y="666349"/>
            <a:ext cx="7824900" cy="978000"/>
          </a:xfrm>
          <a:prstGeom prst="rect">
            <a:avLst/>
          </a:prstGeom>
          <a:noFill/>
          <a:ln>
            <a:noFill/>
          </a:ln>
        </p:spPr>
        <p:txBody>
          <a:bodyPr anchorCtr="0" anchor="b" bIns="0" lIns="91425" spcFirstLastPara="1" rIns="91425" wrap="square" tIns="0">
            <a:noAutofit/>
          </a:bodyPr>
          <a:lstStyle/>
          <a:p>
            <a:pPr indent="0" lvl="0" marL="0" marR="0" rtl="0" algn="l">
              <a:lnSpc>
                <a:spcPct val="103846"/>
              </a:lnSpc>
              <a:spcBef>
                <a:spcPts val="0"/>
              </a:spcBef>
              <a:spcAft>
                <a:spcPts val="0"/>
              </a:spcAft>
              <a:buNone/>
            </a:pPr>
            <a:r>
              <a:rPr lang="en-US" sz="5200">
                <a:solidFill>
                  <a:schemeClr val="lt1"/>
                </a:solidFill>
                <a:latin typeface="Lustria"/>
                <a:ea typeface="Lustria"/>
                <a:cs typeface="Lustria"/>
                <a:sym typeface="Lustria"/>
              </a:rPr>
              <a:t>Free Block List </a:t>
            </a:r>
            <a:endParaRPr sz="5200">
              <a:solidFill>
                <a:schemeClr val="lt1"/>
              </a:solidFill>
              <a:latin typeface="Lustria"/>
              <a:ea typeface="Lustria"/>
              <a:cs typeface="Lustria"/>
              <a:sym typeface="Lustria"/>
            </a:endParaRPr>
          </a:p>
        </p:txBody>
      </p:sp>
      <p:sp>
        <p:nvSpPr>
          <p:cNvPr id="1044" name="Google Shape;1044;p86"/>
          <p:cNvSpPr/>
          <p:nvPr/>
        </p:nvSpPr>
        <p:spPr>
          <a:xfrm>
            <a:off x="5257800" y="2209800"/>
            <a:ext cx="3276600" cy="4343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There are two effective techniques for storing a small part of the free block list in main memory:</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push-down stack with the first few thousand elements of the stack kept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FIFO queue, with a few thousand entries from both the head and the tail of the queue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87"/>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t/>
            </a:r>
            <a:endParaRPr/>
          </a:p>
        </p:txBody>
      </p:sp>
      <p:sp>
        <p:nvSpPr>
          <p:cNvPr id="1050" name="Google Shape;1050;p87"/>
          <p:cNvSpPr txBox="1"/>
          <p:nvPr>
            <p:ph idx="1" type="body"/>
          </p:nvPr>
        </p:nvSpPr>
        <p:spPr>
          <a:xfrm>
            <a:off x="533400" y="2286000"/>
            <a:ext cx="45720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Queue-</a:t>
            </a:r>
            <a:endParaRPr/>
          </a:p>
          <a:p>
            <a:pPr indent="-282575" lvl="0" marL="282575" rtl="0" algn="l">
              <a:spcBef>
                <a:spcPts val="1800"/>
              </a:spcBef>
              <a:spcAft>
                <a:spcPts val="0"/>
              </a:spcAft>
              <a:buSzPts val="1500"/>
              <a:buChar char="■"/>
            </a:pPr>
            <a:r>
              <a:rPr lang="en-US"/>
              <a:t>A block is allocated by taking the first entry from the head of the queue and </a:t>
            </a:r>
            <a:endParaRPr/>
          </a:p>
          <a:p>
            <a:pPr indent="-282575" lvl="0" marL="282575" rtl="0" algn="l">
              <a:spcBef>
                <a:spcPts val="1800"/>
              </a:spcBef>
              <a:spcAft>
                <a:spcPts val="0"/>
              </a:spcAft>
              <a:buSzPts val="1500"/>
              <a:buChar char="■"/>
            </a:pPr>
            <a:r>
              <a:rPr lang="en-US"/>
              <a:t>deallocated by adding it to the end of the tail of the queue.</a:t>
            </a:r>
            <a:endParaRPr/>
          </a:p>
        </p:txBody>
      </p:sp>
      <p:sp>
        <p:nvSpPr>
          <p:cNvPr id="1051" name="Google Shape;1051;p87"/>
          <p:cNvSpPr txBox="1"/>
          <p:nvPr/>
        </p:nvSpPr>
        <p:spPr>
          <a:xfrm>
            <a:off x="658813" y="455613"/>
            <a:ext cx="7824787" cy="1220787"/>
          </a:xfrm>
          <a:prstGeom prst="rect">
            <a:avLst/>
          </a:prstGeom>
          <a:noFill/>
          <a:ln>
            <a:noFill/>
          </a:ln>
        </p:spPr>
        <p:txBody>
          <a:bodyPr anchorCtr="0" anchor="b" bIns="0" lIns="91425" spcFirstLastPara="1" rIns="91425" wrap="square" tIns="0">
            <a:noAutofit/>
          </a:bodyPr>
          <a:lstStyle/>
          <a:p>
            <a:pPr indent="0" lvl="0" marL="0" marR="0" rtl="0" algn="l">
              <a:lnSpc>
                <a:spcPct val="103846"/>
              </a:lnSpc>
              <a:spcBef>
                <a:spcPts val="0"/>
              </a:spcBef>
              <a:spcAft>
                <a:spcPts val="0"/>
              </a:spcAft>
              <a:buNone/>
            </a:pPr>
            <a:r>
              <a:rPr lang="en-US" sz="5200">
                <a:solidFill>
                  <a:schemeClr val="lt1"/>
                </a:solidFill>
                <a:latin typeface="Lustria"/>
                <a:ea typeface="Lustria"/>
                <a:cs typeface="Lustria"/>
                <a:sym typeface="Lustria"/>
              </a:rPr>
              <a:t>Free Block List </a:t>
            </a:r>
            <a:endParaRPr sz="5200">
              <a:solidFill>
                <a:schemeClr val="lt1"/>
              </a:solidFill>
              <a:latin typeface="Lustria"/>
              <a:ea typeface="Lustria"/>
              <a:cs typeface="Lustria"/>
              <a:sym typeface="Lustria"/>
            </a:endParaRPr>
          </a:p>
        </p:txBody>
      </p:sp>
      <p:sp>
        <p:nvSpPr>
          <p:cNvPr id="1052" name="Google Shape;1052;p87"/>
          <p:cNvSpPr/>
          <p:nvPr/>
        </p:nvSpPr>
        <p:spPr>
          <a:xfrm>
            <a:off x="5257800" y="2209800"/>
            <a:ext cx="3276600" cy="4343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There are two effective techniques for storing a small part of the free block list in main memory:</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push-down stack with the first few thousand elements of the stack kept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FIFO queue, with a few thousand entries from both the head and the tail of the queue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88"/>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t/>
            </a:r>
            <a:endParaRPr/>
          </a:p>
        </p:txBody>
      </p:sp>
      <p:sp>
        <p:nvSpPr>
          <p:cNvPr id="1058" name="Google Shape;1058;p88"/>
          <p:cNvSpPr txBox="1"/>
          <p:nvPr>
            <p:ph idx="1" type="body"/>
          </p:nvPr>
        </p:nvSpPr>
        <p:spPr>
          <a:xfrm>
            <a:off x="533400" y="2286000"/>
            <a:ext cx="45720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Queue-</a:t>
            </a:r>
            <a:endParaRPr/>
          </a:p>
          <a:p>
            <a:pPr indent="-282575" lvl="0" marL="282575" rtl="0" algn="l">
              <a:spcBef>
                <a:spcPts val="1800"/>
              </a:spcBef>
              <a:spcAft>
                <a:spcPts val="0"/>
              </a:spcAft>
              <a:buSzPts val="1500"/>
              <a:buChar char="■"/>
            </a:pPr>
            <a:r>
              <a:rPr lang="en-US"/>
              <a:t>There only has to be a transfer between disk and main memory </a:t>
            </a:r>
            <a:endParaRPr/>
          </a:p>
          <a:p>
            <a:pPr indent="-282575" lvl="0" marL="282575" rtl="0" algn="l">
              <a:spcBef>
                <a:spcPts val="1800"/>
              </a:spcBef>
              <a:spcAft>
                <a:spcPts val="0"/>
              </a:spcAft>
              <a:buSzPts val="1500"/>
              <a:buChar char="■"/>
            </a:pPr>
            <a:r>
              <a:rPr lang="en-US"/>
              <a:t>when either the in-memory portion of the head of the queue becomes empty or</a:t>
            </a:r>
            <a:endParaRPr/>
          </a:p>
          <a:p>
            <a:pPr indent="-282575" lvl="0" marL="282575" rtl="0" algn="l">
              <a:spcBef>
                <a:spcPts val="1800"/>
              </a:spcBef>
              <a:spcAft>
                <a:spcPts val="0"/>
              </a:spcAft>
              <a:buSzPts val="1500"/>
              <a:buChar char="■"/>
            </a:pPr>
            <a:r>
              <a:rPr lang="en-US"/>
              <a:t> the in-memory portion of the tail of the queue becomes full.</a:t>
            </a:r>
            <a:endParaRPr/>
          </a:p>
        </p:txBody>
      </p:sp>
      <p:sp>
        <p:nvSpPr>
          <p:cNvPr id="1059" name="Google Shape;1059;p88"/>
          <p:cNvSpPr txBox="1"/>
          <p:nvPr/>
        </p:nvSpPr>
        <p:spPr>
          <a:xfrm>
            <a:off x="658813" y="455613"/>
            <a:ext cx="7824787" cy="1220787"/>
          </a:xfrm>
          <a:prstGeom prst="rect">
            <a:avLst/>
          </a:prstGeom>
          <a:noFill/>
          <a:ln>
            <a:noFill/>
          </a:ln>
        </p:spPr>
        <p:txBody>
          <a:bodyPr anchorCtr="0" anchor="b" bIns="0" lIns="91425" spcFirstLastPara="1" rIns="91425" wrap="square" tIns="0">
            <a:noAutofit/>
          </a:bodyPr>
          <a:lstStyle/>
          <a:p>
            <a:pPr indent="0" lvl="0" marL="0" marR="0" rtl="0" algn="l">
              <a:lnSpc>
                <a:spcPct val="103846"/>
              </a:lnSpc>
              <a:spcBef>
                <a:spcPts val="0"/>
              </a:spcBef>
              <a:spcAft>
                <a:spcPts val="0"/>
              </a:spcAft>
              <a:buNone/>
            </a:pPr>
            <a:r>
              <a:rPr lang="en-US" sz="5200">
                <a:solidFill>
                  <a:schemeClr val="lt1"/>
                </a:solidFill>
                <a:latin typeface="Lustria"/>
                <a:ea typeface="Lustria"/>
                <a:cs typeface="Lustria"/>
                <a:sym typeface="Lustria"/>
              </a:rPr>
              <a:t>Free Block List </a:t>
            </a:r>
            <a:endParaRPr sz="5200">
              <a:solidFill>
                <a:schemeClr val="lt1"/>
              </a:solidFill>
              <a:latin typeface="Lustria"/>
              <a:ea typeface="Lustria"/>
              <a:cs typeface="Lustria"/>
              <a:sym typeface="Lustria"/>
            </a:endParaRPr>
          </a:p>
        </p:txBody>
      </p:sp>
      <p:sp>
        <p:nvSpPr>
          <p:cNvPr id="1060" name="Google Shape;1060;p88"/>
          <p:cNvSpPr/>
          <p:nvPr/>
        </p:nvSpPr>
        <p:spPr>
          <a:xfrm>
            <a:off x="5257800" y="2209800"/>
            <a:ext cx="3276600" cy="4343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There are two effective techniques for storing a small part of the free block list in main memory:</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push-down stack with the first few thousand elements of the stack kept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the list can be treated as a FIFO queue, with a few thousand entries from both the head and the tail of the queue in main memory</a:t>
            </a:r>
            <a:endParaRPr b="0" i="0" sz="1800" u="none" cap="none" strike="noStrike">
              <a:solidFill>
                <a:schemeClr val="dk1"/>
              </a:solidFill>
              <a:latin typeface="Arial"/>
              <a:ea typeface="Arial"/>
              <a:cs typeface="Arial"/>
              <a:sym typeface="Arial"/>
            </a:endParaRPr>
          </a:p>
          <a:p>
            <a:pPr indent="0" lvl="2" marL="228600" marR="0" rtl="0" algn="l">
              <a:lnSpc>
                <a:spcPct val="75000"/>
              </a:lnSpc>
              <a:spcBef>
                <a:spcPts val="18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89"/>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Review</a:t>
            </a:r>
            <a:endParaRPr/>
          </a:p>
        </p:txBody>
      </p:sp>
      <p:sp>
        <p:nvSpPr>
          <p:cNvPr id="1066" name="Google Shape;1066;p89"/>
          <p:cNvSpPr txBox="1"/>
          <p:nvPr>
            <p:ph idx="1" type="body"/>
          </p:nvPr>
        </p:nvSpPr>
        <p:spPr>
          <a:xfrm>
            <a:off x="533400" y="2286000"/>
            <a:ext cx="79502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File systems can support files organized as a sequence of bytes or as a sequence of records</a:t>
            </a:r>
            <a:endParaRPr/>
          </a:p>
          <a:p>
            <a:pPr indent="-282575" lvl="0" marL="282575" rtl="0" algn="l">
              <a:spcBef>
                <a:spcPts val="1800"/>
              </a:spcBef>
              <a:spcAft>
                <a:spcPts val="0"/>
              </a:spcAft>
              <a:buSzPts val="1500"/>
              <a:buChar char="■"/>
            </a:pPr>
            <a:r>
              <a:rPr lang="en-US"/>
              <a:t>Access methods depend on file organization</a:t>
            </a:r>
            <a:endParaRPr/>
          </a:p>
          <a:p>
            <a:pPr indent="-282575" lvl="0" marL="282575" rtl="0" algn="l">
              <a:spcBef>
                <a:spcPts val="1800"/>
              </a:spcBef>
              <a:spcAft>
                <a:spcPts val="0"/>
              </a:spcAft>
              <a:buSzPts val="1500"/>
              <a:buChar char="■"/>
            </a:pPr>
            <a:r>
              <a:rPr lang="en-US"/>
              <a:t>Disk storage of files can be contiguous, linked or indexed</a:t>
            </a:r>
            <a:endParaRPr/>
          </a:p>
          <a:p>
            <a:pPr indent="-282575" lvl="0" marL="282575" rtl="0" algn="l">
              <a:spcBef>
                <a:spcPts val="1800"/>
              </a:spcBef>
              <a:spcAft>
                <a:spcPts val="0"/>
              </a:spcAft>
              <a:buSzPts val="1500"/>
              <a:buChar char="■"/>
            </a:pPr>
            <a:r>
              <a:rPr b="1" lang="en-US">
                <a:solidFill>
                  <a:srgbClr val="FF0000"/>
                </a:solidFill>
              </a:rPr>
              <a:t>Logical blocks of a file are mapped to one or more disk sectors to create physical blocks.</a:t>
            </a:r>
            <a:endParaRPr/>
          </a:p>
          <a:p>
            <a:pPr indent="-282575" lvl="0" marL="282575" rtl="0" algn="l">
              <a:spcBef>
                <a:spcPts val="1800"/>
              </a:spcBef>
              <a:spcAft>
                <a:spcPts val="0"/>
              </a:spcAft>
              <a:buSzPts val="1500"/>
              <a:buChar char="■"/>
            </a:pPr>
            <a:r>
              <a:rPr lang="en-US"/>
              <a:t>File Allocation Tables map files to disk locations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p90"/>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073" name="Google Shape;1073;p90"/>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074" name="Google Shape;1074;p90"/>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075" name="Google Shape;1075;p90"/>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Regular, or Ordinary</a:t>
            </a:r>
            <a:endParaRPr sz="2400">
              <a:solidFill>
                <a:schemeClr val="lt1"/>
              </a:solidFill>
              <a:latin typeface="Arial"/>
              <a:ea typeface="Arial"/>
              <a:cs typeface="Arial"/>
              <a:sym typeface="Arial"/>
            </a:endParaRPr>
          </a:p>
        </p:txBody>
      </p:sp>
      <p:sp>
        <p:nvSpPr>
          <p:cNvPr id="1076" name="Google Shape;1076;p90"/>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Regular files contain information entered in them by a user, an application program, or a system utility program.</a:t>
            </a:r>
            <a:endParaRPr b="0" i="0" sz="2400" u="none" cap="none" strike="noStrike">
              <a:solidFill>
                <a:schemeClr val="dk1"/>
              </a:solidFill>
              <a:latin typeface="Arial"/>
              <a:ea typeface="Arial"/>
              <a:cs typeface="Arial"/>
              <a:sym typeface="Arial"/>
            </a:endParaRPr>
          </a:p>
          <a:p>
            <a:pPr indent="0" lvl="1" marL="114300" marR="0" rtl="0" algn="l">
              <a:lnSpc>
                <a:spcPct val="75000"/>
              </a:lnSpc>
              <a:spcBef>
                <a:spcPts val="24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An ordinary file is a file on the system that </a:t>
            </a:r>
            <a:r>
              <a:rPr b="1" i="0" lang="en-US" sz="2400" u="none" cap="none" strike="noStrike">
                <a:solidFill>
                  <a:schemeClr val="dk1"/>
                </a:solidFill>
                <a:latin typeface="Arial"/>
                <a:ea typeface="Arial"/>
                <a:cs typeface="Arial"/>
                <a:sym typeface="Arial"/>
              </a:rPr>
              <a:t>contains data, text, or program instructions.</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p91"/>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083" name="Google Shape;1083;p91"/>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084" name="Google Shape;1084;p91"/>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085" name="Google Shape;1085;p91"/>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Regular, or Ordinary</a:t>
            </a:r>
            <a:endParaRPr sz="2400">
              <a:solidFill>
                <a:schemeClr val="lt1"/>
              </a:solidFill>
              <a:latin typeface="Arial"/>
              <a:ea typeface="Arial"/>
              <a:cs typeface="Arial"/>
              <a:sym typeface="Arial"/>
            </a:endParaRPr>
          </a:p>
        </p:txBody>
      </p:sp>
      <p:sp>
        <p:nvSpPr>
          <p:cNvPr id="1086" name="Google Shape;1086;p91"/>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contains arbitrary data in zero or more data blocks</a:t>
            </a:r>
            <a:endParaRPr/>
          </a:p>
          <a:p>
            <a:pPr indent="0" lvl="1" marL="114300" marR="0" rtl="0" algn="l">
              <a:lnSpc>
                <a:spcPct val="75000"/>
              </a:lnSpc>
              <a:spcBef>
                <a:spcPts val="24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file system does not impose any internal structure to a regular file but treats it as a stream of bytes.</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2"/>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093" name="Google Shape;1093;p92"/>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094" name="Google Shape;1094;p92"/>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095" name="Google Shape;1095;p92"/>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Directory</a:t>
            </a:r>
            <a:endParaRPr/>
          </a:p>
        </p:txBody>
      </p:sp>
      <p:sp>
        <p:nvSpPr>
          <p:cNvPr id="1096" name="Google Shape;1096;p92"/>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contains a list of file names plus pointers to associated inodes (index nodes)</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Directories are hierarchically organized</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p93"/>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103" name="Google Shape;1103;p93"/>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104" name="Google Shape;1104;p93"/>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105" name="Google Shape;1105;p93"/>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Special</a:t>
            </a:r>
            <a:endParaRPr/>
          </a:p>
        </p:txBody>
      </p:sp>
      <p:sp>
        <p:nvSpPr>
          <p:cNvPr id="1106" name="Google Shape;1106;p93"/>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Contains no data but provides a mechanism to map physical devices to file names. </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file names are used to access peripheral devices, such as terminals and printers. </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Each I/O device is associated with a special file,</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p94"/>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113" name="Google Shape;1113;p94"/>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114" name="Google Shape;1114;p94"/>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115" name="Google Shape;1115;p94"/>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Named pipes</a:t>
            </a:r>
            <a:endParaRPr/>
          </a:p>
        </p:txBody>
      </p:sp>
      <p:sp>
        <p:nvSpPr>
          <p:cNvPr id="1116" name="Google Shape;1116;p94"/>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An interprocess communications facility</a:t>
            </a:r>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pipe file buffers data received in its input</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so that a process that reads from the pipe’s output receives the data on a first-in-first-out basis.</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95"/>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t/>
            </a:r>
            <a:endParaRPr/>
          </a:p>
        </p:txBody>
      </p:sp>
      <p:sp>
        <p:nvSpPr>
          <p:cNvPr id="1122" name="Google Shape;1122;p95"/>
          <p:cNvSpPr txBox="1"/>
          <p:nvPr>
            <p:ph idx="1" type="body"/>
          </p:nvPr>
        </p:nvSpPr>
        <p:spPr>
          <a:xfrm>
            <a:off x="658904" y="2286000"/>
            <a:ext cx="7646896" cy="3840163"/>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A </a:t>
            </a:r>
            <a:r>
              <a:rPr i="1" lang="en-US"/>
              <a:t>pipe</a:t>
            </a:r>
            <a:r>
              <a:rPr lang="en-US"/>
              <a:t> is a section of shared memory that processes use for communication. </a:t>
            </a:r>
            <a:endParaRPr/>
          </a:p>
          <a:p>
            <a:pPr indent="-282575" lvl="0" marL="282575" rtl="0" algn="l">
              <a:spcBef>
                <a:spcPts val="1800"/>
              </a:spcBef>
              <a:spcAft>
                <a:spcPts val="0"/>
              </a:spcAft>
              <a:buSzPts val="1350"/>
              <a:buChar char="■"/>
            </a:pPr>
            <a:r>
              <a:rPr b="1" lang="en-US"/>
              <a:t>The process that creates a pipe is the </a:t>
            </a:r>
            <a:r>
              <a:rPr b="1" i="1" lang="en-US"/>
              <a:t>pipe server</a:t>
            </a:r>
            <a:r>
              <a:rPr b="1" lang="en-US"/>
              <a:t>. A process that connects to a pipe is a </a:t>
            </a:r>
            <a:r>
              <a:rPr b="1" i="1" lang="en-US"/>
              <a:t>pipe client</a:t>
            </a:r>
            <a:r>
              <a:rPr b="1" lang="en-US"/>
              <a:t>.</a:t>
            </a:r>
            <a:r>
              <a:rPr lang="en-US"/>
              <a:t> One process writes information to the pipe, then the other process reads the information from the pipe.</a:t>
            </a:r>
            <a:endParaRPr/>
          </a:p>
        </p:txBody>
      </p:sp>
      <p:pic>
        <p:nvPicPr>
          <p:cNvPr id="1123" name="Google Shape;1123;p95"/>
          <p:cNvPicPr preferRelativeResize="0"/>
          <p:nvPr/>
        </p:nvPicPr>
        <p:blipFill rotWithShape="1">
          <a:blip r:embed="rId3">
            <a:alphaModFix/>
          </a:blip>
          <a:srcRect b="0" l="0" r="0" t="0"/>
          <a:stretch/>
        </p:blipFill>
        <p:spPr>
          <a:xfrm>
            <a:off x="838200" y="4495800"/>
            <a:ext cx="6595965" cy="1295400"/>
          </a:xfrm>
          <a:prstGeom prst="rect">
            <a:avLst/>
          </a:prstGeom>
          <a:noFill/>
          <a:ln>
            <a:noFill/>
          </a:ln>
        </p:spPr>
      </p:pic>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sp>
        <p:nvSpPr>
          <p:cNvPr id="1129" name="Google Shape;1129;p96"/>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130" name="Google Shape;1130;p96"/>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131" name="Google Shape;1131;p96"/>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132" name="Google Shape;1132;p96"/>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Special</a:t>
            </a:r>
            <a:endParaRPr/>
          </a:p>
        </p:txBody>
      </p:sp>
      <p:sp>
        <p:nvSpPr>
          <p:cNvPr id="1133" name="Google Shape;1133;p96"/>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Used </a:t>
            </a:r>
            <a:r>
              <a:rPr b="1" i="0" lang="en-US" sz="2400" u="none" cap="none" strike="noStrike">
                <a:solidFill>
                  <a:schemeClr val="dk1"/>
                </a:solidFill>
                <a:latin typeface="Arial"/>
                <a:ea typeface="Arial"/>
                <a:cs typeface="Arial"/>
                <a:sym typeface="Arial"/>
              </a:rPr>
              <a:t>to represent a real physical device such as a printer, tape drive or terminal, used for Input/Output (I/O) operations. </a:t>
            </a:r>
            <a:endParaRPr b="1"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Device or special files</a:t>
            </a:r>
            <a:r>
              <a:rPr b="0" i="0" lang="en-US" sz="2400" u="none" cap="none" strike="noStrike">
                <a:solidFill>
                  <a:schemeClr val="dk1"/>
                </a:solidFill>
                <a:latin typeface="Arial"/>
                <a:ea typeface="Arial"/>
                <a:cs typeface="Arial"/>
                <a:sym typeface="Arial"/>
              </a:rPr>
              <a:t> are used for device Input/Output(I/O) on </a:t>
            </a:r>
            <a:r>
              <a:rPr b="1" i="0" lang="en-US" sz="2400" u="none" cap="none" strike="noStrike">
                <a:solidFill>
                  <a:schemeClr val="dk1"/>
                </a:solidFill>
                <a:latin typeface="Arial"/>
                <a:ea typeface="Arial"/>
                <a:cs typeface="Arial"/>
                <a:sym typeface="Arial"/>
              </a:rPr>
              <a:t>UNIX and Linux systems.</a:t>
            </a:r>
            <a:endParaRPr b="1" i="0" sz="2400" u="none" cap="none" strike="noStrike">
              <a:solidFill>
                <a:schemeClr val="dk1"/>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97"/>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140" name="Google Shape;1140;p97"/>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141" name="Google Shape;1141;p97"/>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142" name="Google Shape;1142;p97"/>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Sockets</a:t>
            </a:r>
            <a:endParaRPr/>
          </a:p>
        </p:txBody>
      </p:sp>
      <p:sp>
        <p:nvSpPr>
          <p:cNvPr id="1143" name="Google Shape;1143;p97"/>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1" i="0" lang="en-US" sz="2400" u="none" cap="none" strike="noStrike">
                <a:solidFill>
                  <a:schemeClr val="dk1"/>
                </a:solidFill>
                <a:latin typeface="Arial"/>
                <a:ea typeface="Arial"/>
                <a:cs typeface="Arial"/>
                <a:sym typeface="Arial"/>
              </a:rPr>
              <a:t>Sockets – </a:t>
            </a:r>
            <a:r>
              <a:rPr b="0" i="0" lang="en-US" sz="2400" u="none" cap="none" strike="noStrike">
                <a:solidFill>
                  <a:schemeClr val="dk1"/>
                </a:solidFill>
                <a:latin typeface="Arial"/>
                <a:ea typeface="Arial"/>
                <a:cs typeface="Arial"/>
                <a:sym typeface="Arial"/>
              </a:rPr>
              <a:t>A Unix socket (or Inter-process communication socket) </a:t>
            </a:r>
            <a:r>
              <a:rPr b="1" i="0" lang="en-US" sz="2400" u="none" cap="none" strike="noStrike">
                <a:solidFill>
                  <a:schemeClr val="dk1"/>
                </a:solidFill>
                <a:latin typeface="Arial"/>
                <a:ea typeface="Arial"/>
                <a:cs typeface="Arial"/>
                <a:sym typeface="Arial"/>
              </a:rPr>
              <a:t>is a special file which allows for advanced inter-process communication. </a:t>
            </a:r>
            <a:endParaRPr b="1" i="0" sz="2400" u="none" cap="none" strike="noStrike">
              <a:solidFill>
                <a:schemeClr val="dk1"/>
              </a:solidFill>
              <a:latin typeface="Arial"/>
              <a:ea typeface="Arial"/>
              <a:cs typeface="Arial"/>
              <a:sym typeface="Arial"/>
            </a:endParaRPr>
          </a:p>
          <a:p>
            <a:pPr indent="0" lvl="1" marL="114300" marR="0" rtl="0" algn="l">
              <a:lnSpc>
                <a:spcPct val="75000"/>
              </a:lnSpc>
              <a:spcBef>
                <a:spcPts val="24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152400" lvl="1" marL="114300" marR="0" rtl="0" algn="l">
              <a:lnSpc>
                <a:spcPct val="75000"/>
              </a:lnSpc>
              <a:spcBef>
                <a:spcPts val="24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Unix Socket is used in a client-server application framework.</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8" name="Shape 1148"/>
        <p:cNvGrpSpPr/>
        <p:nvPr/>
      </p:nvGrpSpPr>
      <p:grpSpPr>
        <a:xfrm>
          <a:off x="0" y="0"/>
          <a:ext cx="0" cy="0"/>
          <a:chOff x="0" y="0"/>
          <a:chExt cx="0" cy="0"/>
        </a:xfrm>
      </p:grpSpPr>
      <p:sp>
        <p:nvSpPr>
          <p:cNvPr id="1149" name="Google Shape;1149;p98"/>
          <p:cNvSpPr txBox="1"/>
          <p:nvPr>
            <p:ph type="title"/>
          </p:nvPr>
        </p:nvSpPr>
        <p:spPr>
          <a:xfrm>
            <a:off x="685800" y="9144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solidFill>
                  <a:srgbClr val="06192F"/>
                </a:solidFill>
              </a:rPr>
              <a:t>UNIX File Management</a:t>
            </a:r>
            <a:endParaRPr/>
          </a:p>
        </p:txBody>
      </p:sp>
      <p:sp>
        <p:nvSpPr>
          <p:cNvPr id="1150" name="Google Shape;1150;p98"/>
          <p:cNvSpPr txBox="1"/>
          <p:nvPr>
            <p:ph idx="1" type="body"/>
          </p:nvPr>
        </p:nvSpPr>
        <p:spPr>
          <a:xfrm>
            <a:off x="4827588" y="1066800"/>
            <a:ext cx="3657600" cy="50736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In the UNIX file system, six types of files are distinguished:</a:t>
            </a:r>
            <a:endParaRPr/>
          </a:p>
        </p:txBody>
      </p:sp>
      <p:sp>
        <p:nvSpPr>
          <p:cNvPr id="1151" name="Google Shape;1151;p98"/>
          <p:cNvSpPr txBox="1"/>
          <p:nvPr>
            <p:ph idx="2" type="body"/>
          </p:nvPr>
        </p:nvSpPr>
        <p:spPr>
          <a:xfrm>
            <a:off x="658813" y="2774950"/>
            <a:ext cx="3657600" cy="31686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350"/>
              <a:buNone/>
            </a:pPr>
            <a:r>
              <a:t/>
            </a:r>
            <a:endParaRPr/>
          </a:p>
        </p:txBody>
      </p:sp>
      <p:sp>
        <p:nvSpPr>
          <p:cNvPr id="1152" name="Google Shape;1152;p98"/>
          <p:cNvSpPr/>
          <p:nvPr/>
        </p:nvSpPr>
        <p:spPr>
          <a:xfrm>
            <a:off x="609600" y="2362200"/>
            <a:ext cx="7696200" cy="1154430"/>
          </a:xfrm>
          <a:prstGeom prst="roundRect">
            <a:avLst>
              <a:gd fmla="val 16667" name="adj"/>
            </a:avLst>
          </a:prstGeom>
          <a:gradFill>
            <a:gsLst>
              <a:gs pos="0">
                <a:srgbClr val="780000">
                  <a:alpha val="89803"/>
                </a:srgbClr>
              </a:gs>
              <a:gs pos="100000">
                <a:srgbClr val="AD0000">
                  <a:alpha val="89803"/>
                </a:srgbClr>
              </a:gs>
            </a:gsLst>
            <a:lin ang="5400000" scaled="0"/>
          </a:gradFill>
          <a:ln>
            <a:noFill/>
          </a:ln>
        </p:spPr>
        <p:txBody>
          <a:bodyPr anchorCtr="0" anchor="ctr" bIns="45700" lIns="91425" spcFirstLastPara="1" rIns="91425" wrap="square" tIns="45700">
            <a:noAutofit/>
          </a:bodyPr>
          <a:lstStyle/>
          <a:p>
            <a:pPr indent="0" lvl="0" marL="0" marR="0" rtl="0" algn="l">
              <a:lnSpc>
                <a:spcPct val="85000"/>
              </a:lnSpc>
              <a:spcBef>
                <a:spcPts val="0"/>
              </a:spcBef>
              <a:spcAft>
                <a:spcPts val="0"/>
              </a:spcAft>
              <a:buNone/>
            </a:pPr>
            <a:r>
              <a:rPr b="1" lang="en-US" sz="2400">
                <a:solidFill>
                  <a:schemeClr val="lt1"/>
                </a:solidFill>
                <a:latin typeface="Arial"/>
                <a:ea typeface="Arial"/>
                <a:cs typeface="Arial"/>
                <a:sym typeface="Arial"/>
              </a:rPr>
              <a:t>Symbolic links</a:t>
            </a:r>
            <a:endParaRPr/>
          </a:p>
        </p:txBody>
      </p:sp>
      <p:sp>
        <p:nvSpPr>
          <p:cNvPr id="1153" name="Google Shape;1153;p98"/>
          <p:cNvSpPr/>
          <p:nvPr/>
        </p:nvSpPr>
        <p:spPr>
          <a:xfrm>
            <a:off x="609600" y="3689794"/>
            <a:ext cx="7696200" cy="1154430"/>
          </a:xfrm>
          <a:prstGeom prst="rect">
            <a:avLst/>
          </a:prstGeom>
          <a:solidFill>
            <a:schemeClr val="lt1">
              <a:alpha val="89803"/>
            </a:schemeClr>
          </a:solidFill>
          <a:ln cap="flat" cmpd="sng" w="15875">
            <a:solidFill>
              <a:srgbClr val="980000"/>
            </a:solidFill>
            <a:prstDash val="solid"/>
            <a:round/>
            <a:headEnd len="sm" w="sm" type="none"/>
            <a:tailEnd len="sm" w="sm" type="none"/>
          </a:ln>
        </p:spPr>
        <p:txBody>
          <a:bodyPr anchorCtr="0" anchor="t" bIns="45700" lIns="91425" spcFirstLastPara="1" rIns="91425" wrap="square" tIns="45700">
            <a:noAutofit/>
          </a:bodyPr>
          <a:lstStyle/>
          <a:p>
            <a:pPr indent="-152400" lvl="1" marL="114300" marR="0" rtl="0" algn="l">
              <a:lnSpc>
                <a:spcPct val="75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 data file that contains the name of the file it is linked to</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7" name="Shape 1157"/>
        <p:cNvGrpSpPr/>
        <p:nvPr/>
      </p:nvGrpSpPr>
      <p:grpSpPr>
        <a:xfrm>
          <a:off x="0" y="0"/>
          <a:ext cx="0" cy="0"/>
          <a:chOff x="0" y="0"/>
          <a:chExt cx="0" cy="0"/>
        </a:xfrm>
      </p:grpSpPr>
      <p:sp>
        <p:nvSpPr>
          <p:cNvPr id="1158" name="Google Shape;1158;p99"/>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Symbolic link</a:t>
            </a:r>
            <a:endParaRPr/>
          </a:p>
        </p:txBody>
      </p:sp>
      <p:sp>
        <p:nvSpPr>
          <p:cNvPr id="1159" name="Google Shape;1159;p99"/>
          <p:cNvSpPr txBox="1"/>
          <p:nvPr>
            <p:ph idx="1" type="body"/>
          </p:nvPr>
        </p:nvSpPr>
        <p:spPr>
          <a:xfrm>
            <a:off x="685800" y="2286000"/>
            <a:ext cx="77978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Symbolic link is used for referencing some other file of the file system.</a:t>
            </a:r>
            <a:endParaRPr/>
          </a:p>
          <a:p>
            <a:pPr indent="-282575" lvl="0" marL="282575" rtl="0" algn="l">
              <a:spcBef>
                <a:spcPts val="1800"/>
              </a:spcBef>
              <a:spcAft>
                <a:spcPts val="0"/>
              </a:spcAft>
              <a:buSzPts val="1500"/>
              <a:buChar char="■"/>
            </a:pPr>
            <a:r>
              <a:rPr b="1" lang="en-US"/>
              <a:t>Symbolic link is also known as Soft link. It contains a text form of the path to the file it references. </a:t>
            </a:r>
            <a:endParaRPr b="1"/>
          </a:p>
          <a:p>
            <a:pPr indent="-282575" lvl="0" marL="282575" rtl="0" algn="l">
              <a:spcBef>
                <a:spcPts val="1800"/>
              </a:spcBef>
              <a:spcAft>
                <a:spcPts val="0"/>
              </a:spcAft>
              <a:buSzPts val="1500"/>
              <a:buChar char="■"/>
            </a:pPr>
            <a:r>
              <a:rPr lang="en-US"/>
              <a:t>To an end user</a:t>
            </a:r>
            <a:r>
              <a:rPr b="1" lang="en-US"/>
              <a:t>, symbolic link will appear to have its own name, but when you try reading or writing data to this file, it will instead reference these operations to the file it points to. </a:t>
            </a:r>
            <a:endParaRPr b="1"/>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00"/>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Symbolic link</a:t>
            </a:r>
            <a:endParaRPr/>
          </a:p>
        </p:txBody>
      </p:sp>
      <p:sp>
        <p:nvSpPr>
          <p:cNvPr id="1165" name="Google Shape;1165;p100"/>
          <p:cNvSpPr txBox="1"/>
          <p:nvPr>
            <p:ph idx="1" type="body"/>
          </p:nvPr>
        </p:nvSpPr>
        <p:spPr>
          <a:xfrm>
            <a:off x="685800" y="2286000"/>
            <a:ext cx="77978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b="1" lang="en-US"/>
              <a:t>If we delete the soft link itself , the data file would still be there.If we delete the source file or move it to a different location, symbolic file will not function properly. </a:t>
            </a:r>
            <a:endParaRPr b="1"/>
          </a:p>
          <a:p>
            <a:pPr indent="-282575" lvl="0" marL="282575" rtl="0" algn="l">
              <a:spcBef>
                <a:spcPts val="1800"/>
              </a:spcBef>
              <a:spcAft>
                <a:spcPts val="0"/>
              </a:spcAft>
              <a:buSzPts val="1500"/>
              <a:buChar char="■"/>
            </a:pPr>
            <a:r>
              <a:rPr lang="en-US"/>
              <a:t>In long-format output of ls –l , </a:t>
            </a:r>
            <a:endParaRPr/>
          </a:p>
          <a:p>
            <a:pPr indent="-282575" lvl="0" marL="282575" rtl="0" algn="l">
              <a:spcBef>
                <a:spcPts val="1800"/>
              </a:spcBef>
              <a:spcAft>
                <a:spcPts val="0"/>
              </a:spcAft>
              <a:buSzPts val="1500"/>
              <a:buChar char="■"/>
            </a:pPr>
            <a:r>
              <a:rPr lang="en-US"/>
              <a:t>Symbolic link are marked by the “l” symbol (that’s a lower case L).</a:t>
            </a:r>
            <a:endParaRPr b="1"/>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9" name="Shape 1169"/>
        <p:cNvGrpSpPr/>
        <p:nvPr/>
      </p:nvGrpSpPr>
      <p:grpSpPr>
        <a:xfrm>
          <a:off x="0" y="0"/>
          <a:ext cx="0" cy="0"/>
          <a:chOff x="0" y="0"/>
          <a:chExt cx="0" cy="0"/>
        </a:xfrm>
      </p:grpSpPr>
      <p:sp>
        <p:nvSpPr>
          <p:cNvPr id="1170" name="Google Shape;1170;p101"/>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b="1" lang="en-US">
                <a:solidFill>
                  <a:srgbClr val="06192F"/>
                </a:solidFill>
              </a:rPr>
              <a:t>UNIX File Management</a:t>
            </a:r>
            <a:endParaRPr/>
          </a:p>
        </p:txBody>
      </p:sp>
      <p:pic>
        <p:nvPicPr>
          <p:cNvPr id="1171" name="Google Shape;1171;p101"/>
          <p:cNvPicPr preferRelativeResize="0"/>
          <p:nvPr>
            <p:ph idx="1" type="body"/>
          </p:nvPr>
        </p:nvPicPr>
        <p:blipFill rotWithShape="1">
          <a:blip r:embed="rId3">
            <a:alphaModFix/>
          </a:blip>
          <a:srcRect b="0" l="0" r="0" t="0"/>
          <a:stretch/>
        </p:blipFill>
        <p:spPr>
          <a:xfrm>
            <a:off x="1600200" y="2286000"/>
            <a:ext cx="5133975" cy="3962221"/>
          </a:xfrm>
          <a:prstGeom prst="rect">
            <a:avLst/>
          </a:prstGeom>
          <a:noFill/>
          <a:ln>
            <a:noFill/>
          </a:ln>
        </p:spPr>
      </p:pic>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02"/>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b="1" lang="en-US"/>
              <a:t>How to Find Out File Types in Linux</a:t>
            </a:r>
            <a:endParaRPr/>
          </a:p>
        </p:txBody>
      </p:sp>
      <p:sp>
        <p:nvSpPr>
          <p:cNvPr id="1177" name="Google Shape;1177;p102"/>
          <p:cNvSpPr txBox="1"/>
          <p:nvPr>
            <p:ph idx="1" type="body"/>
          </p:nvPr>
        </p:nvSpPr>
        <p:spPr>
          <a:xfrm>
            <a:off x="609600" y="2286000"/>
            <a:ext cx="7874000"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https://www.geeksforgeeks.org/how-to-find-out-file-types-in-linux/</a:t>
            </a:r>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103"/>
          <p:cNvSpPr txBox="1"/>
          <p:nvPr>
            <p:ph type="title"/>
          </p:nvPr>
        </p:nvSpPr>
        <p:spPr>
          <a:xfrm>
            <a:off x="0" y="381000"/>
            <a:ext cx="2743200" cy="1371600"/>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Inodes</a:t>
            </a:r>
            <a:endParaRPr/>
          </a:p>
        </p:txBody>
      </p:sp>
      <p:sp>
        <p:nvSpPr>
          <p:cNvPr id="1184" name="Google Shape;1184;p103"/>
          <p:cNvSpPr txBox="1"/>
          <p:nvPr>
            <p:ph idx="4294967295" type="body"/>
          </p:nvPr>
        </p:nvSpPr>
        <p:spPr>
          <a:xfrm>
            <a:off x="609600" y="2286000"/>
            <a:ext cx="7924800" cy="39624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Modern UNIX operating systems support multiple file systems </a:t>
            </a:r>
            <a:endParaRPr/>
          </a:p>
          <a:p>
            <a:pPr indent="-282575" lvl="0" marL="282575" rtl="0" algn="l">
              <a:spcBef>
                <a:spcPts val="1800"/>
              </a:spcBef>
              <a:spcAft>
                <a:spcPts val="0"/>
              </a:spcAft>
              <a:buSzPts val="1500"/>
              <a:buChar char="■"/>
            </a:pPr>
            <a:r>
              <a:rPr lang="en-US"/>
              <a:t>but map all of these into a uniform underlying system for supporting file systems and allocating disk space to files. </a:t>
            </a:r>
            <a:endParaRPr/>
          </a:p>
          <a:p>
            <a:pPr indent="-282575" lvl="0" marL="282575" rtl="0" algn="l">
              <a:spcBef>
                <a:spcPts val="1800"/>
              </a:spcBef>
              <a:spcAft>
                <a:spcPts val="0"/>
              </a:spcAft>
              <a:buSzPts val="1500"/>
              <a:buChar char="■"/>
            </a:pPr>
            <a:r>
              <a:rPr lang="en-US"/>
              <a:t>All types of UNIX files are administered by the OS by means of inodes.</a:t>
            </a:r>
            <a:endParaRPr/>
          </a:p>
        </p:txBody>
      </p:sp>
      <p:pic>
        <p:nvPicPr>
          <p:cNvPr id="1185" name="Google Shape;1185;p103"/>
          <p:cNvPicPr preferRelativeResize="0"/>
          <p:nvPr/>
        </p:nvPicPr>
        <p:blipFill rotWithShape="1">
          <a:blip r:embed="rId3">
            <a:alphaModFix/>
          </a:blip>
          <a:srcRect b="0" l="0" r="0" t="0"/>
          <a:stretch/>
        </p:blipFill>
        <p:spPr>
          <a:xfrm>
            <a:off x="6172200" y="4495800"/>
            <a:ext cx="2273300" cy="2063750"/>
          </a:xfrm>
          <a:prstGeom prst="rect">
            <a:avLst/>
          </a:prstGeom>
          <a:noFill/>
          <a:ln>
            <a:noFill/>
          </a:ln>
        </p:spPr>
      </p:pic>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0" name="Shape 1190"/>
        <p:cNvGrpSpPr/>
        <p:nvPr/>
      </p:nvGrpSpPr>
      <p:grpSpPr>
        <a:xfrm>
          <a:off x="0" y="0"/>
          <a:ext cx="0" cy="0"/>
          <a:chOff x="0" y="0"/>
          <a:chExt cx="0" cy="0"/>
        </a:xfrm>
      </p:grpSpPr>
      <p:sp>
        <p:nvSpPr>
          <p:cNvPr id="1191" name="Google Shape;1191;p104"/>
          <p:cNvSpPr txBox="1"/>
          <p:nvPr>
            <p:ph type="title"/>
          </p:nvPr>
        </p:nvSpPr>
        <p:spPr>
          <a:xfrm>
            <a:off x="0" y="381000"/>
            <a:ext cx="2743200" cy="1371600"/>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Inodes</a:t>
            </a:r>
            <a:endParaRPr/>
          </a:p>
        </p:txBody>
      </p:sp>
      <p:sp>
        <p:nvSpPr>
          <p:cNvPr id="1192" name="Google Shape;1192;p104"/>
          <p:cNvSpPr txBox="1"/>
          <p:nvPr>
            <p:ph idx="4294967295" type="body"/>
          </p:nvPr>
        </p:nvSpPr>
        <p:spPr>
          <a:xfrm>
            <a:off x="609600" y="2286000"/>
            <a:ext cx="7924800" cy="39624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The inode (index node) is a data structure in a Unix-style file system that describes a file-system object such as a file or a directory. </a:t>
            </a:r>
            <a:endParaRPr/>
          </a:p>
          <a:p>
            <a:pPr indent="-282575" lvl="0" marL="282575" rtl="0" algn="l">
              <a:spcBef>
                <a:spcPts val="1800"/>
              </a:spcBef>
              <a:spcAft>
                <a:spcPts val="0"/>
              </a:spcAft>
              <a:buSzPts val="1500"/>
              <a:buChar char="■"/>
            </a:pPr>
            <a:r>
              <a:rPr lang="en-US"/>
              <a:t>Each inode stores the attributes and disk block locations of the object's data</a:t>
            </a:r>
            <a:endParaRPr/>
          </a:p>
        </p:txBody>
      </p:sp>
      <p:pic>
        <p:nvPicPr>
          <p:cNvPr id="1193" name="Google Shape;1193;p104"/>
          <p:cNvPicPr preferRelativeResize="0"/>
          <p:nvPr/>
        </p:nvPicPr>
        <p:blipFill rotWithShape="1">
          <a:blip r:embed="rId3">
            <a:alphaModFix/>
          </a:blip>
          <a:srcRect b="0" l="0" r="0" t="0"/>
          <a:stretch/>
        </p:blipFill>
        <p:spPr>
          <a:xfrm>
            <a:off x="6172200" y="4495800"/>
            <a:ext cx="2273300" cy="2063750"/>
          </a:xfrm>
          <a:prstGeom prst="rect">
            <a:avLst/>
          </a:prstGeom>
          <a:noFill/>
          <a:ln>
            <a:noFill/>
          </a:ln>
        </p:spPr>
      </p:pic>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105"/>
          <p:cNvSpPr txBox="1"/>
          <p:nvPr>
            <p:ph type="title"/>
          </p:nvPr>
        </p:nvSpPr>
        <p:spPr>
          <a:xfrm>
            <a:off x="0" y="381000"/>
            <a:ext cx="2743200" cy="1371600"/>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Inodes</a:t>
            </a:r>
            <a:endParaRPr/>
          </a:p>
        </p:txBody>
      </p:sp>
      <p:sp>
        <p:nvSpPr>
          <p:cNvPr id="1200" name="Google Shape;1200;p105"/>
          <p:cNvSpPr txBox="1"/>
          <p:nvPr>
            <p:ph idx="4294967295" type="body"/>
          </p:nvPr>
        </p:nvSpPr>
        <p:spPr>
          <a:xfrm>
            <a:off x="609600" y="2286000"/>
            <a:ext cx="7924800" cy="39624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800"/>
              <a:buChar char="■"/>
            </a:pPr>
            <a:r>
              <a:rPr lang="en-US" sz="2400"/>
              <a:t>An inode (index node) is a control structure that contains the key information needed by the operating system for a particular file</a:t>
            </a:r>
            <a:endParaRPr/>
          </a:p>
        </p:txBody>
      </p:sp>
      <p:pic>
        <p:nvPicPr>
          <p:cNvPr id="1201" name="Google Shape;1201;p105"/>
          <p:cNvPicPr preferRelativeResize="0"/>
          <p:nvPr/>
        </p:nvPicPr>
        <p:blipFill rotWithShape="1">
          <a:blip r:embed="rId3">
            <a:alphaModFix/>
          </a:blip>
          <a:srcRect b="0" l="0" r="0" t="0"/>
          <a:stretch/>
        </p:blipFill>
        <p:spPr>
          <a:xfrm>
            <a:off x="6172200" y="4495800"/>
            <a:ext cx="2273300" cy="2063750"/>
          </a:xfrm>
          <a:prstGeom prst="rect">
            <a:avLst/>
          </a:prstGeom>
          <a:noFill/>
          <a:ln>
            <a:noFill/>
          </a:ln>
        </p:spPr>
      </p:pic>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6" name="Shape 1206"/>
        <p:cNvGrpSpPr/>
        <p:nvPr/>
      </p:nvGrpSpPr>
      <p:grpSpPr>
        <a:xfrm>
          <a:off x="0" y="0"/>
          <a:ext cx="0" cy="0"/>
          <a:chOff x="0" y="0"/>
          <a:chExt cx="0" cy="0"/>
        </a:xfrm>
      </p:grpSpPr>
      <p:sp>
        <p:nvSpPr>
          <p:cNvPr id="1207" name="Google Shape;1207;p106"/>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pic>
        <p:nvPicPr>
          <p:cNvPr descr="Fig12_14.gif" id="1208" name="Google Shape;1208;p106"/>
          <p:cNvPicPr preferRelativeResize="0"/>
          <p:nvPr/>
        </p:nvPicPr>
        <p:blipFill rotWithShape="1">
          <a:blip r:embed="rId3">
            <a:alphaModFix/>
          </a:blip>
          <a:srcRect b="0" l="0" r="0" t="0"/>
          <a:stretch/>
        </p:blipFill>
        <p:spPr>
          <a:xfrm>
            <a:off x="457200" y="1295400"/>
            <a:ext cx="8305800" cy="5178425"/>
          </a:xfrm>
          <a:prstGeom prst="rect">
            <a:avLst/>
          </a:prstGeom>
          <a:noFill/>
          <a:ln>
            <a:noFill/>
          </a:ln>
        </p:spPr>
      </p:pic>
    </p:spTree>
  </p:cSld>
  <p:clrMapOvr>
    <a:masterClrMapping/>
  </p:clrMapOvr>
  <p:transition spd="med">
    <p:wipe dir="r"/>
  </p:transition>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3" name="Shape 1213"/>
        <p:cNvGrpSpPr/>
        <p:nvPr/>
      </p:nvGrpSpPr>
      <p:grpSpPr>
        <a:xfrm>
          <a:off x="0" y="0"/>
          <a:ext cx="0" cy="0"/>
          <a:chOff x="0" y="0"/>
          <a:chExt cx="0" cy="0"/>
        </a:xfrm>
      </p:grpSpPr>
      <p:sp>
        <p:nvSpPr>
          <p:cNvPr id="1214" name="Google Shape;1214;p107"/>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pic>
        <p:nvPicPr>
          <p:cNvPr descr="Fig12_14.gif" id="1215" name="Google Shape;1215;p107"/>
          <p:cNvPicPr preferRelativeResize="0"/>
          <p:nvPr/>
        </p:nvPicPr>
        <p:blipFill rotWithShape="1">
          <a:blip r:embed="rId3">
            <a:alphaModFix/>
          </a:blip>
          <a:srcRect b="0" l="0" r="0" t="0"/>
          <a:stretch/>
        </p:blipFill>
        <p:spPr>
          <a:xfrm>
            <a:off x="4724400" y="1295400"/>
            <a:ext cx="4038600" cy="5178425"/>
          </a:xfrm>
          <a:prstGeom prst="rect">
            <a:avLst/>
          </a:prstGeom>
          <a:noFill/>
          <a:ln>
            <a:noFill/>
          </a:ln>
        </p:spPr>
      </p:pic>
      <p:sp>
        <p:nvSpPr>
          <p:cNvPr id="1216" name="Google Shape;1216;p107"/>
          <p:cNvSpPr/>
          <p:nvPr/>
        </p:nvSpPr>
        <p:spPr>
          <a:xfrm>
            <a:off x="457200" y="1371600"/>
            <a:ext cx="4038600" cy="92333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exact inode structure varies from one UNIX implementation to another.</a:t>
            </a:r>
            <a:endParaRPr/>
          </a:p>
        </p:txBody>
      </p:sp>
      <p:sp>
        <p:nvSpPr>
          <p:cNvPr id="1217" name="Google Shape;1217;p107"/>
          <p:cNvSpPr/>
          <p:nvPr/>
        </p:nvSpPr>
        <p:spPr>
          <a:xfrm>
            <a:off x="533400" y="5715000"/>
            <a:ext cx="396240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FreeBSD is a free and open-source Unix operating system</a:t>
            </a:r>
            <a:endParaRPr/>
          </a:p>
        </p:txBody>
      </p:sp>
    </p:spTree>
  </p:cSld>
  <p:clrMapOvr>
    <a:masterClrMapping/>
  </p:clrMapOvr>
  <p:transition spd="med">
    <p:wipe dir="r"/>
  </p:transition>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08"/>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sp>
        <p:nvSpPr>
          <p:cNvPr id="1224" name="Google Shape;1224;p108"/>
          <p:cNvSpPr/>
          <p:nvPr/>
        </p:nvSpPr>
        <p:spPr>
          <a:xfrm>
            <a:off x="457200" y="1371600"/>
            <a:ext cx="73914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The FreeBSD inode structure, </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includes the following data elements: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The type and access mode of the file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The file’s owner and group-access identifiers</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225" name="Google Shape;1225;p108"/>
          <p:cNvPicPr preferRelativeResize="0"/>
          <p:nvPr/>
        </p:nvPicPr>
        <p:blipFill rotWithShape="1">
          <a:blip r:embed="rId3">
            <a:alphaModFix/>
          </a:blip>
          <a:srcRect b="0" l="0" r="0" t="0"/>
          <a:stretch/>
        </p:blipFill>
        <p:spPr>
          <a:xfrm>
            <a:off x="457200" y="4233922"/>
            <a:ext cx="8182181" cy="1719262"/>
          </a:xfrm>
          <a:prstGeom prst="rect">
            <a:avLst/>
          </a:prstGeom>
          <a:noFill/>
          <a:ln>
            <a:noFill/>
          </a:ln>
        </p:spPr>
      </p:pic>
    </p:spTree>
  </p:cSld>
  <p:clrMapOvr>
    <a:masterClrMapping/>
  </p:clrMapOvr>
  <p:transition spd="med">
    <p:wipe dir="r"/>
  </p:transition>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109"/>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sp>
        <p:nvSpPr>
          <p:cNvPr id="1232" name="Google Shape;1232;p109"/>
          <p:cNvSpPr/>
          <p:nvPr/>
        </p:nvSpPr>
        <p:spPr>
          <a:xfrm>
            <a:off x="457200" y="1371600"/>
            <a:ext cx="7391400" cy="1754326"/>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time that the file was created, when it was most recently read and written,and when its inode was most recently updated by the system </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size of the file in bytes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pic>
        <p:nvPicPr>
          <p:cNvPr id="1233" name="Google Shape;1233;p109"/>
          <p:cNvPicPr preferRelativeResize="0"/>
          <p:nvPr/>
        </p:nvPicPr>
        <p:blipFill rotWithShape="1">
          <a:blip r:embed="rId3">
            <a:alphaModFix/>
          </a:blip>
          <a:srcRect b="0" l="0" r="0" t="0"/>
          <a:stretch/>
        </p:blipFill>
        <p:spPr>
          <a:xfrm>
            <a:off x="457200" y="4233922"/>
            <a:ext cx="8182181" cy="1719262"/>
          </a:xfrm>
          <a:prstGeom prst="rect">
            <a:avLst/>
          </a:prstGeom>
          <a:noFill/>
          <a:ln>
            <a:noFill/>
          </a:ln>
        </p:spPr>
      </p:pic>
    </p:spTree>
  </p:cSld>
  <p:clrMapOvr>
    <a:masterClrMapping/>
  </p:clrMapOvr>
  <p:transition spd="med">
    <p:wipe dir="r"/>
  </p:transition>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10"/>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sp>
        <p:nvSpPr>
          <p:cNvPr id="1240" name="Google Shape;1240;p110"/>
          <p:cNvSpPr/>
          <p:nvPr/>
        </p:nvSpPr>
        <p:spPr>
          <a:xfrm>
            <a:off x="457200" y="1143000"/>
            <a:ext cx="82296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A sequence of block pointers</a:t>
            </a:r>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The number of physical blocks used by the file, including blocks used to hold</a:t>
            </a:r>
            <a:endParaRPr/>
          </a:p>
          <a:p>
            <a:pPr indent="0" lvl="0" marL="0" marR="0" rtl="0" algn="l">
              <a:spcBef>
                <a:spcPts val="0"/>
              </a:spcBef>
              <a:spcAft>
                <a:spcPts val="0"/>
              </a:spcAft>
              <a:buNone/>
            </a:pPr>
            <a:r>
              <a:rPr lang="en-US" sz="1800">
                <a:solidFill>
                  <a:schemeClr val="dk1"/>
                </a:solidFill>
                <a:latin typeface="Arial"/>
                <a:ea typeface="Arial"/>
                <a:cs typeface="Arial"/>
                <a:sym typeface="Arial"/>
              </a:rPr>
              <a:t>indirect pointers and attributes</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1241" name="Google Shape;1241;p110"/>
          <p:cNvPicPr preferRelativeResize="0"/>
          <p:nvPr/>
        </p:nvPicPr>
        <p:blipFill rotWithShape="1">
          <a:blip r:embed="rId3">
            <a:alphaModFix/>
          </a:blip>
          <a:srcRect b="0" l="0" r="0" t="0"/>
          <a:stretch/>
        </p:blipFill>
        <p:spPr>
          <a:xfrm>
            <a:off x="457200" y="3581400"/>
            <a:ext cx="8229600" cy="2895600"/>
          </a:xfrm>
          <a:prstGeom prst="rect">
            <a:avLst/>
          </a:prstGeom>
          <a:noFill/>
          <a:ln>
            <a:noFill/>
          </a:ln>
        </p:spPr>
      </p:pic>
    </p:spTree>
  </p:cSld>
  <p:clrMapOvr>
    <a:masterClrMapping/>
  </p:clrMapOvr>
  <p:transition spd="med">
    <p:wipe dir="r"/>
  </p:transition>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6" name="Shape 1246"/>
        <p:cNvGrpSpPr/>
        <p:nvPr/>
      </p:nvGrpSpPr>
      <p:grpSpPr>
        <a:xfrm>
          <a:off x="0" y="0"/>
          <a:ext cx="0" cy="0"/>
          <a:chOff x="0" y="0"/>
          <a:chExt cx="0" cy="0"/>
        </a:xfrm>
      </p:grpSpPr>
      <p:sp>
        <p:nvSpPr>
          <p:cNvPr id="1247" name="Google Shape;1247;p111"/>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sp>
        <p:nvSpPr>
          <p:cNvPr id="1248" name="Google Shape;1248;p111"/>
          <p:cNvSpPr/>
          <p:nvPr/>
        </p:nvSpPr>
        <p:spPr>
          <a:xfrm>
            <a:off x="457200" y="1143000"/>
            <a:ext cx="82296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The number of directory entries that reference the file</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The kernel and user-settable flags that describe the characteristics of the file</a:t>
            </a:r>
            <a:endParaRPr sz="1800">
              <a:solidFill>
                <a:schemeClr val="dk1"/>
              </a:solidFill>
              <a:latin typeface="Arial"/>
              <a:ea typeface="Arial"/>
              <a:cs typeface="Arial"/>
              <a:sym typeface="Arial"/>
            </a:endParaRPr>
          </a:p>
        </p:txBody>
      </p:sp>
      <p:pic>
        <p:nvPicPr>
          <p:cNvPr id="1249" name="Google Shape;1249;p111"/>
          <p:cNvPicPr preferRelativeResize="0"/>
          <p:nvPr/>
        </p:nvPicPr>
        <p:blipFill rotWithShape="1">
          <a:blip r:embed="rId3">
            <a:alphaModFix/>
          </a:blip>
          <a:srcRect b="0" l="0" r="0" t="34410"/>
          <a:stretch/>
        </p:blipFill>
        <p:spPr>
          <a:xfrm>
            <a:off x="413190" y="3176587"/>
            <a:ext cx="8273610" cy="3086100"/>
          </a:xfrm>
          <a:prstGeom prst="rect">
            <a:avLst/>
          </a:prstGeom>
          <a:noFill/>
          <a:ln>
            <a:noFill/>
          </a:ln>
        </p:spPr>
      </p:pic>
    </p:spTree>
  </p:cSld>
  <p:clrMapOvr>
    <a:masterClrMapping/>
  </p:clrMapOvr>
  <p:transition spd="med">
    <p:wipe dir="r"/>
  </p:transition>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4" name="Shape 1254"/>
        <p:cNvGrpSpPr/>
        <p:nvPr/>
      </p:nvGrpSpPr>
      <p:grpSpPr>
        <a:xfrm>
          <a:off x="0" y="0"/>
          <a:ext cx="0" cy="0"/>
          <a:chOff x="0" y="0"/>
          <a:chExt cx="0" cy="0"/>
        </a:xfrm>
      </p:grpSpPr>
      <p:sp>
        <p:nvSpPr>
          <p:cNvPr id="1255" name="Google Shape;1255;p112"/>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sp>
        <p:nvSpPr>
          <p:cNvPr id="1256" name="Google Shape;1256;p112"/>
          <p:cNvSpPr/>
          <p:nvPr/>
        </p:nvSpPr>
        <p:spPr>
          <a:xfrm>
            <a:off x="457200" y="1371600"/>
            <a:ext cx="822960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 The generation number of the file (a randomly selected number assigned to the inode, each time that the latter is allocated to a new file;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1800">
                <a:solidFill>
                  <a:schemeClr val="dk1"/>
                </a:solidFill>
                <a:latin typeface="Arial"/>
                <a:ea typeface="Arial"/>
                <a:cs typeface="Arial"/>
                <a:sym typeface="Arial"/>
              </a:rPr>
              <a:t>• The blocksize of the data blocks referenced by the inode</a:t>
            </a:r>
            <a:endParaRPr sz="1800">
              <a:solidFill>
                <a:schemeClr val="dk1"/>
              </a:solidFill>
              <a:latin typeface="Arial"/>
              <a:ea typeface="Arial"/>
              <a:cs typeface="Arial"/>
              <a:sym typeface="Arial"/>
            </a:endParaRPr>
          </a:p>
        </p:txBody>
      </p:sp>
      <p:pic>
        <p:nvPicPr>
          <p:cNvPr id="1257" name="Google Shape;1257;p112"/>
          <p:cNvPicPr preferRelativeResize="0"/>
          <p:nvPr/>
        </p:nvPicPr>
        <p:blipFill rotWithShape="1">
          <a:blip r:embed="rId3">
            <a:alphaModFix/>
          </a:blip>
          <a:srcRect b="0" l="0" r="0" t="34410"/>
          <a:stretch/>
        </p:blipFill>
        <p:spPr>
          <a:xfrm>
            <a:off x="413190" y="3176587"/>
            <a:ext cx="8273610" cy="3086100"/>
          </a:xfrm>
          <a:prstGeom prst="rect">
            <a:avLst/>
          </a:prstGeom>
          <a:noFill/>
          <a:ln>
            <a:noFill/>
          </a:ln>
        </p:spPr>
      </p:pic>
    </p:spTree>
  </p:cSld>
  <p:clrMapOvr>
    <a:masterClrMapping/>
  </p:clrMapOvr>
  <p:transition spd="med">
    <p:wipe dir="r"/>
  </p:transition>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13"/>
          <p:cNvSpPr txBox="1"/>
          <p:nvPr>
            <p:ph type="title"/>
          </p:nvPr>
        </p:nvSpPr>
        <p:spPr>
          <a:xfrm>
            <a:off x="457200" y="609600"/>
            <a:ext cx="8153400" cy="60960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FreeBSD Inode and File Structure</a:t>
            </a:r>
            <a:endParaRPr/>
          </a:p>
        </p:txBody>
      </p:sp>
      <p:sp>
        <p:nvSpPr>
          <p:cNvPr id="1264" name="Google Shape;1264;p113"/>
          <p:cNvSpPr/>
          <p:nvPr/>
        </p:nvSpPr>
        <p:spPr>
          <a:xfrm>
            <a:off x="457200" y="1143000"/>
            <a:ext cx="8229600" cy="2308324"/>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On the disk, there is an inode table, or inode list, </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that contains the inodes of all the files in the file system. </a:t>
            </a:r>
            <a:endParaRPr b="0" i="0" sz="1800" u="none" cap="none" strike="noStrike">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When a file is opened, </a:t>
            </a:r>
            <a:endParaRPr sz="1800">
              <a:solidFill>
                <a:schemeClr val="dk1"/>
              </a:solidFill>
              <a:latin typeface="Arial"/>
              <a:ea typeface="Arial"/>
              <a:cs typeface="Arial"/>
              <a:sym typeface="Arial"/>
            </a:endParaRPr>
          </a:p>
          <a:p>
            <a:pPr indent="-171450" lvl="0" marL="285750" marR="0" rtl="0" algn="l">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a:p>
            <a:pPr indent="-285750" lvl="1" marL="7429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Arial"/>
                <a:ea typeface="Arial"/>
                <a:cs typeface="Arial"/>
                <a:sym typeface="Arial"/>
              </a:rPr>
              <a:t>its inode is brought into main memory and stored in a memory-resident inode table.</a:t>
            </a:r>
            <a:endParaRPr/>
          </a:p>
        </p:txBody>
      </p:sp>
      <p:pic>
        <p:nvPicPr>
          <p:cNvPr id="1265" name="Google Shape;1265;p113"/>
          <p:cNvPicPr preferRelativeResize="0"/>
          <p:nvPr/>
        </p:nvPicPr>
        <p:blipFill rotWithShape="1">
          <a:blip r:embed="rId3">
            <a:alphaModFix/>
          </a:blip>
          <a:srcRect b="0" l="0" r="0" t="34410"/>
          <a:stretch/>
        </p:blipFill>
        <p:spPr>
          <a:xfrm>
            <a:off x="413190" y="3467100"/>
            <a:ext cx="8273610" cy="3086100"/>
          </a:xfrm>
          <a:prstGeom prst="rect">
            <a:avLst/>
          </a:prstGeom>
          <a:noFill/>
          <a:ln>
            <a:noFill/>
          </a:ln>
        </p:spPr>
      </p:pic>
    </p:spTree>
  </p:cSld>
  <p:clrMapOvr>
    <a:masterClrMapping/>
  </p:clrMapOvr>
  <p:transition spd="med">
    <p:wipe dir="r"/>
  </p:transition>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0" name="Shape 1270"/>
        <p:cNvGrpSpPr/>
        <p:nvPr/>
      </p:nvGrpSpPr>
      <p:grpSpPr>
        <a:xfrm>
          <a:off x="0" y="0"/>
          <a:ext cx="0" cy="0"/>
          <a:chOff x="0" y="0"/>
          <a:chExt cx="0" cy="0"/>
        </a:xfrm>
      </p:grpSpPr>
      <p:sp>
        <p:nvSpPr>
          <p:cNvPr id="1271" name="Google Shape;1271;p114"/>
          <p:cNvSpPr txBox="1"/>
          <p:nvPr>
            <p:ph type="title"/>
          </p:nvPr>
        </p:nvSpPr>
        <p:spPr>
          <a:xfrm>
            <a:off x="557212" y="457200"/>
            <a:ext cx="7824788" cy="1322388"/>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File Allocation-Unix</a:t>
            </a:r>
            <a:endParaRPr/>
          </a:p>
        </p:txBody>
      </p:sp>
      <p:sp>
        <p:nvSpPr>
          <p:cNvPr id="1272" name="Google Shape;1272;p114"/>
          <p:cNvSpPr txBox="1"/>
          <p:nvPr>
            <p:ph idx="4294967295" type="body"/>
          </p:nvPr>
        </p:nvSpPr>
        <p:spPr>
          <a:xfrm>
            <a:off x="609600" y="2209800"/>
            <a:ext cx="7848600" cy="40386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File allocation is done on a block basis</a:t>
            </a:r>
            <a:endParaRPr/>
          </a:p>
          <a:p>
            <a:pPr indent="-282575" lvl="0" marL="282575" rtl="0" algn="l">
              <a:spcBef>
                <a:spcPts val="1800"/>
              </a:spcBef>
              <a:spcAft>
                <a:spcPts val="0"/>
              </a:spcAft>
              <a:buSzPts val="1500"/>
              <a:buChar char="■"/>
            </a:pPr>
            <a:r>
              <a:rPr lang="en-US"/>
              <a:t>Allocation is dynamic, as needed, rather than using preallocation </a:t>
            </a:r>
            <a:endParaRPr/>
          </a:p>
          <a:p>
            <a:pPr indent="-282575" lvl="0" marL="282575" rtl="0" algn="l">
              <a:spcBef>
                <a:spcPts val="1800"/>
              </a:spcBef>
              <a:spcAft>
                <a:spcPts val="0"/>
              </a:spcAft>
              <a:buSzPts val="1500"/>
              <a:buChar char="■"/>
            </a:pPr>
            <a:r>
              <a:rPr lang="en-US"/>
              <a:t>An indexed method is used to keep track of each file, with part of the index stored in the inode for the file</a:t>
            </a:r>
            <a:endParaRPr/>
          </a:p>
          <a:p>
            <a:pPr indent="-282575" lvl="0" marL="282575" rtl="0" algn="l">
              <a:spcBef>
                <a:spcPts val="1800"/>
              </a:spcBef>
              <a:spcAft>
                <a:spcPts val="0"/>
              </a:spcAft>
              <a:buSzPts val="1500"/>
              <a:buChar char="■"/>
            </a:pPr>
            <a:r>
              <a:rPr lang="en-US"/>
              <a:t>In all UNIX implementations, the inode includes a number of direct pointers and three indirect pointers (single, double, triple)</a:t>
            </a:r>
            <a:endParaRPr/>
          </a:p>
        </p:txBody>
      </p:sp>
      <p:pic>
        <p:nvPicPr>
          <p:cNvPr id="1273" name="Google Shape;1273;p114"/>
          <p:cNvPicPr preferRelativeResize="0"/>
          <p:nvPr/>
        </p:nvPicPr>
        <p:blipFill rotWithShape="1">
          <a:blip r:embed="rId3">
            <a:alphaModFix/>
          </a:blip>
          <a:srcRect b="0" l="0" r="0" t="0"/>
          <a:stretch/>
        </p:blipFill>
        <p:spPr>
          <a:xfrm>
            <a:off x="7010400" y="4953000"/>
            <a:ext cx="1371600" cy="1581150"/>
          </a:xfrm>
          <a:prstGeom prst="rect">
            <a:avLst/>
          </a:prstGeom>
          <a:noFill/>
          <a:ln>
            <a:noFill/>
          </a:ln>
        </p:spPr>
      </p:pic>
      <p:pic>
        <p:nvPicPr>
          <p:cNvPr id="1274" name="Google Shape;1274;p114"/>
          <p:cNvPicPr preferRelativeResize="0"/>
          <p:nvPr/>
        </p:nvPicPr>
        <p:blipFill rotWithShape="1">
          <a:blip r:embed="rId4">
            <a:alphaModFix/>
          </a:blip>
          <a:srcRect b="0" l="0" r="0" t="0"/>
          <a:stretch/>
        </p:blipFill>
        <p:spPr>
          <a:xfrm>
            <a:off x="4953000" y="5010150"/>
            <a:ext cx="1371600" cy="1538288"/>
          </a:xfrm>
          <a:prstGeom prst="rect">
            <a:avLst/>
          </a:prstGeom>
          <a:noFill/>
          <a:ln>
            <a:noFill/>
          </a:ln>
        </p:spPr>
      </p:pic>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9" name="Shape 1279"/>
        <p:cNvGrpSpPr/>
        <p:nvPr/>
      </p:nvGrpSpPr>
      <p:grpSpPr>
        <a:xfrm>
          <a:off x="0" y="0"/>
          <a:ext cx="0" cy="0"/>
          <a:chOff x="0" y="0"/>
          <a:chExt cx="0" cy="0"/>
        </a:xfrm>
      </p:grpSpPr>
      <p:sp>
        <p:nvSpPr>
          <p:cNvPr id="1280" name="Google Shape;1280;p115"/>
          <p:cNvSpPr txBox="1"/>
          <p:nvPr>
            <p:ph type="title"/>
          </p:nvPr>
        </p:nvSpPr>
        <p:spPr>
          <a:xfrm>
            <a:off x="658813" y="1644650"/>
            <a:ext cx="3657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UNIX Directories </a:t>
            </a:r>
            <a:br>
              <a:rPr b="1" lang="en-US"/>
            </a:br>
            <a:r>
              <a:rPr b="1" lang="en-US"/>
              <a:t>and Inodes</a:t>
            </a:r>
            <a:endParaRPr/>
          </a:p>
        </p:txBody>
      </p:sp>
      <p:sp>
        <p:nvSpPr>
          <p:cNvPr id="1281" name="Google Shape;1281;p115"/>
          <p:cNvSpPr txBox="1"/>
          <p:nvPr>
            <p:ph idx="1" type="body"/>
          </p:nvPr>
        </p:nvSpPr>
        <p:spPr>
          <a:xfrm>
            <a:off x="457200" y="2971800"/>
            <a:ext cx="7620000" cy="35052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Directories are structured in a hierarchical tree</a:t>
            </a:r>
            <a:endParaRPr/>
          </a:p>
          <a:p>
            <a:pPr indent="-282575" lvl="0" marL="282575" rtl="0" algn="l">
              <a:spcBef>
                <a:spcPts val="1800"/>
              </a:spcBef>
              <a:spcAft>
                <a:spcPts val="0"/>
              </a:spcAft>
              <a:buSzPts val="1350"/>
              <a:buChar char="■"/>
            </a:pPr>
            <a:r>
              <a:rPr lang="en-US"/>
              <a:t>Each directory can contain files and/or other directories</a:t>
            </a:r>
            <a:endParaRPr/>
          </a:p>
          <a:p>
            <a:pPr indent="-282575" lvl="0" marL="282575" rtl="0" algn="l">
              <a:spcBef>
                <a:spcPts val="1800"/>
              </a:spcBef>
              <a:spcAft>
                <a:spcPts val="0"/>
              </a:spcAft>
              <a:buSzPts val="1350"/>
              <a:buChar char="■"/>
            </a:pPr>
            <a:r>
              <a:rPr lang="en-US"/>
              <a:t>A directory that is inside another directory is referred to as a subdirectory</a:t>
            </a:r>
            <a:endParaRPr/>
          </a:p>
        </p:txBody>
      </p:sp>
    </p:spTree>
  </p:cSld>
  <p:clrMapOvr>
    <a:masterClrMapping/>
  </p:clrMapOvr>
  <p:transition spd="med">
    <p:wipe dir="d"/>
  </p:transition>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6" name="Shape 1286"/>
        <p:cNvGrpSpPr/>
        <p:nvPr/>
      </p:nvGrpSpPr>
      <p:grpSpPr>
        <a:xfrm>
          <a:off x="0" y="0"/>
          <a:ext cx="0" cy="0"/>
          <a:chOff x="0" y="0"/>
          <a:chExt cx="0" cy="0"/>
        </a:xfrm>
      </p:grpSpPr>
      <p:sp>
        <p:nvSpPr>
          <p:cNvPr id="1287" name="Google Shape;1287;p116"/>
          <p:cNvSpPr txBox="1"/>
          <p:nvPr>
            <p:ph type="title"/>
          </p:nvPr>
        </p:nvSpPr>
        <p:spPr>
          <a:xfrm>
            <a:off x="457200" y="609600"/>
            <a:ext cx="2860675" cy="1098550"/>
          </a:xfrm>
          <a:prstGeom prst="rect">
            <a:avLst/>
          </a:prstGeom>
          <a:noFill/>
          <a:ln>
            <a:noFill/>
          </a:ln>
        </p:spPr>
        <p:txBody>
          <a:bodyPr anchorCtr="0" anchor="b" bIns="0" lIns="91425" spcFirstLastPara="1" rIns="91425" wrap="square" tIns="0">
            <a:noAutofit/>
          </a:bodyPr>
          <a:lstStyle/>
          <a:p>
            <a:pPr indent="0" lvl="0" marL="0" rtl="0" algn="l">
              <a:lnSpc>
                <a:spcPct val="270000"/>
              </a:lnSpc>
              <a:spcBef>
                <a:spcPts val="0"/>
              </a:spcBef>
              <a:spcAft>
                <a:spcPts val="0"/>
              </a:spcAft>
              <a:buNone/>
            </a:pPr>
            <a:r>
              <a:rPr b="1" lang="en-US" sz="2000"/>
              <a:t>UNIX Directories </a:t>
            </a:r>
            <a:br>
              <a:rPr b="1" lang="en-US" sz="2000"/>
            </a:br>
            <a:r>
              <a:rPr b="1" lang="en-US" sz="2000"/>
              <a:t>and Inodes</a:t>
            </a:r>
            <a:endParaRPr b="1" sz="2000"/>
          </a:p>
        </p:txBody>
      </p:sp>
      <p:sp>
        <p:nvSpPr>
          <p:cNvPr id="1288" name="Google Shape;1288;p116"/>
          <p:cNvSpPr txBox="1"/>
          <p:nvPr>
            <p:ph idx="1" type="body"/>
          </p:nvPr>
        </p:nvSpPr>
        <p:spPr>
          <a:xfrm>
            <a:off x="457200" y="1752600"/>
            <a:ext cx="2590800" cy="47244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sz="2000"/>
              <a:t>A directory is simply a file that contains </a:t>
            </a:r>
            <a:endParaRPr sz="2000"/>
          </a:p>
          <a:p>
            <a:pPr indent="-282575" lvl="0" marL="282575" rtl="0" algn="l">
              <a:spcBef>
                <a:spcPts val="1800"/>
              </a:spcBef>
              <a:spcAft>
                <a:spcPts val="0"/>
              </a:spcAft>
              <a:buSzPts val="1500"/>
              <a:buChar char="■"/>
            </a:pPr>
            <a:r>
              <a:rPr lang="en-US" sz="2000"/>
              <a:t>a list of file names plus pointers to associated inodes.</a:t>
            </a:r>
            <a:endParaRPr/>
          </a:p>
        </p:txBody>
      </p:sp>
      <p:pic>
        <p:nvPicPr>
          <p:cNvPr descr="Fig12_15.gif" id="1289" name="Google Shape;1289;p116"/>
          <p:cNvPicPr preferRelativeResize="0"/>
          <p:nvPr/>
        </p:nvPicPr>
        <p:blipFill rotWithShape="1">
          <a:blip r:embed="rId3">
            <a:alphaModFix/>
          </a:blip>
          <a:srcRect b="0" l="0" r="0" t="0"/>
          <a:stretch/>
        </p:blipFill>
        <p:spPr>
          <a:xfrm>
            <a:off x="3317875" y="762000"/>
            <a:ext cx="5295900" cy="5638800"/>
          </a:xfrm>
          <a:prstGeom prst="rect">
            <a:avLst/>
          </a:prstGeom>
          <a:noFill/>
          <a:ln>
            <a:noFill/>
          </a:ln>
        </p:spPr>
      </p:pic>
      <p:sp>
        <p:nvSpPr>
          <p:cNvPr id="1290" name="Google Shape;1290;p116"/>
          <p:cNvSpPr txBox="1"/>
          <p:nvPr/>
        </p:nvSpPr>
        <p:spPr>
          <a:xfrm>
            <a:off x="4114800" y="6019800"/>
            <a:ext cx="14478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Arial"/>
                <a:ea typeface="Arial"/>
                <a:cs typeface="Arial"/>
                <a:sym typeface="Arial"/>
              </a:rPr>
              <a:t>      Figure 12.17</a:t>
            </a:r>
            <a:endParaRPr/>
          </a:p>
        </p:txBody>
      </p:sp>
    </p:spTree>
  </p:cSld>
  <p:clrMapOvr>
    <a:masterClrMapping/>
  </p:clrMapOvr>
  <p:transition spd="med">
    <p:wipe dir="d"/>
  </p:transition>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5" name="Shape 1295"/>
        <p:cNvGrpSpPr/>
        <p:nvPr/>
      </p:nvGrpSpPr>
      <p:grpSpPr>
        <a:xfrm>
          <a:off x="0" y="0"/>
          <a:ext cx="0" cy="0"/>
          <a:chOff x="0" y="0"/>
          <a:chExt cx="0" cy="0"/>
        </a:xfrm>
      </p:grpSpPr>
      <p:sp>
        <p:nvSpPr>
          <p:cNvPr id="1296" name="Google Shape;1296;p117"/>
          <p:cNvSpPr txBox="1"/>
          <p:nvPr>
            <p:ph type="title"/>
          </p:nvPr>
        </p:nvSpPr>
        <p:spPr>
          <a:xfrm>
            <a:off x="457200" y="609600"/>
            <a:ext cx="2860675" cy="1098550"/>
          </a:xfrm>
          <a:prstGeom prst="rect">
            <a:avLst/>
          </a:prstGeom>
          <a:noFill/>
          <a:ln>
            <a:noFill/>
          </a:ln>
        </p:spPr>
        <p:txBody>
          <a:bodyPr anchorCtr="0" anchor="b" bIns="0" lIns="91425" spcFirstLastPara="1" rIns="91425" wrap="square" tIns="0">
            <a:noAutofit/>
          </a:bodyPr>
          <a:lstStyle/>
          <a:p>
            <a:pPr indent="0" lvl="0" marL="0" rtl="0" algn="l">
              <a:lnSpc>
                <a:spcPct val="270000"/>
              </a:lnSpc>
              <a:spcBef>
                <a:spcPts val="0"/>
              </a:spcBef>
              <a:spcAft>
                <a:spcPts val="0"/>
              </a:spcAft>
              <a:buNone/>
            </a:pPr>
            <a:r>
              <a:rPr b="1" lang="en-US" sz="2000"/>
              <a:t>UNIX Directories </a:t>
            </a:r>
            <a:br>
              <a:rPr b="1" lang="en-US" sz="2000"/>
            </a:br>
            <a:r>
              <a:rPr b="1" lang="en-US" sz="2000"/>
              <a:t>and Inodes</a:t>
            </a:r>
            <a:endParaRPr b="1" sz="2000"/>
          </a:p>
        </p:txBody>
      </p:sp>
      <p:sp>
        <p:nvSpPr>
          <p:cNvPr id="1297" name="Google Shape;1297;p117"/>
          <p:cNvSpPr txBox="1"/>
          <p:nvPr>
            <p:ph idx="1" type="body"/>
          </p:nvPr>
        </p:nvSpPr>
        <p:spPr>
          <a:xfrm>
            <a:off x="457200" y="1752600"/>
            <a:ext cx="2590800" cy="472440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500"/>
              <a:buChar char="■"/>
            </a:pPr>
            <a:r>
              <a:rPr lang="en-US" sz="2000"/>
              <a:t>Each directory entry (dentry) contains a name for the associated file or subdirectory plus an integer called the i-number (index number). </a:t>
            </a:r>
            <a:endParaRPr sz="2000"/>
          </a:p>
          <a:p>
            <a:pPr indent="-282575" lvl="0" marL="282575" rtl="0" algn="l">
              <a:spcBef>
                <a:spcPts val="1800"/>
              </a:spcBef>
              <a:spcAft>
                <a:spcPts val="0"/>
              </a:spcAft>
              <a:buSzPts val="1500"/>
              <a:buChar char="■"/>
            </a:pPr>
            <a:r>
              <a:rPr lang="en-US" sz="2000"/>
              <a:t>When the file or directory is accessed, its i-number is used as an index into the inode table.</a:t>
            </a:r>
            <a:endParaRPr sz="2000"/>
          </a:p>
        </p:txBody>
      </p:sp>
      <p:pic>
        <p:nvPicPr>
          <p:cNvPr descr="Fig12_15.gif" id="1298" name="Google Shape;1298;p117"/>
          <p:cNvPicPr preferRelativeResize="0"/>
          <p:nvPr/>
        </p:nvPicPr>
        <p:blipFill rotWithShape="1">
          <a:blip r:embed="rId3">
            <a:alphaModFix/>
          </a:blip>
          <a:srcRect b="0" l="0" r="0" t="0"/>
          <a:stretch/>
        </p:blipFill>
        <p:spPr>
          <a:xfrm>
            <a:off x="3317875" y="762000"/>
            <a:ext cx="5295900" cy="5638800"/>
          </a:xfrm>
          <a:prstGeom prst="rect">
            <a:avLst/>
          </a:prstGeom>
          <a:noFill/>
          <a:ln>
            <a:noFill/>
          </a:ln>
        </p:spPr>
      </p:pic>
      <p:sp>
        <p:nvSpPr>
          <p:cNvPr id="1299" name="Google Shape;1299;p117"/>
          <p:cNvSpPr txBox="1"/>
          <p:nvPr/>
        </p:nvSpPr>
        <p:spPr>
          <a:xfrm>
            <a:off x="4114800" y="6019800"/>
            <a:ext cx="1447800" cy="2921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chemeClr val="dk1"/>
                </a:solidFill>
                <a:latin typeface="Arial"/>
                <a:ea typeface="Arial"/>
                <a:cs typeface="Arial"/>
                <a:sym typeface="Arial"/>
              </a:rPr>
              <a:t>      Figure 12.17</a:t>
            </a:r>
            <a:endParaRPr/>
          </a:p>
        </p:txBody>
      </p:sp>
    </p:spTree>
  </p:cSld>
  <p:clrMapOvr>
    <a:masterClrMapping/>
  </p:clrMapOvr>
  <p:transition spd="med">
    <p:wipe dir="d"/>
  </p:transition>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4" name="Shape 1304"/>
        <p:cNvGrpSpPr/>
        <p:nvPr/>
      </p:nvGrpSpPr>
      <p:grpSpPr>
        <a:xfrm>
          <a:off x="0" y="0"/>
          <a:ext cx="0" cy="0"/>
          <a:chOff x="0" y="0"/>
          <a:chExt cx="0" cy="0"/>
        </a:xfrm>
      </p:grpSpPr>
      <p:sp>
        <p:nvSpPr>
          <p:cNvPr id="1305" name="Google Shape;1305;p118"/>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r">
              <a:lnSpc>
                <a:spcPct val="103846"/>
              </a:lnSpc>
              <a:spcBef>
                <a:spcPts val="0"/>
              </a:spcBef>
              <a:spcAft>
                <a:spcPts val="0"/>
              </a:spcAft>
              <a:buNone/>
            </a:pPr>
            <a:r>
              <a:rPr lang="en-US"/>
              <a:t>Volume Structure</a:t>
            </a:r>
            <a:endParaRPr/>
          </a:p>
        </p:txBody>
      </p:sp>
      <p:sp>
        <p:nvSpPr>
          <p:cNvPr id="1306" name="Google Shape;1306;p118"/>
          <p:cNvSpPr txBox="1"/>
          <p:nvPr>
            <p:ph idx="1" type="body"/>
          </p:nvPr>
        </p:nvSpPr>
        <p:spPr>
          <a:xfrm>
            <a:off x="658813" y="2286000"/>
            <a:ext cx="2312987" cy="3840163"/>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650"/>
              <a:buChar char="■"/>
            </a:pPr>
            <a:r>
              <a:rPr lang="en-US" sz="2200">
                <a:solidFill>
                  <a:schemeClr val="dk1"/>
                </a:solidFill>
                <a:latin typeface="Lustria"/>
                <a:ea typeface="Lustria"/>
                <a:cs typeface="Lustria"/>
                <a:sym typeface="Lustria"/>
              </a:rPr>
              <a:t>A UNIX file system resides on a single logical disk or disk partition and is laid out with the following elements:</a:t>
            </a:r>
            <a:endParaRPr/>
          </a:p>
        </p:txBody>
      </p:sp>
      <p:sp>
        <p:nvSpPr>
          <p:cNvPr id="1307" name="Google Shape;1307;p118"/>
          <p:cNvSpPr/>
          <p:nvPr/>
        </p:nvSpPr>
        <p:spPr>
          <a:xfrm>
            <a:off x="3429000" y="2133600"/>
            <a:ext cx="5181600" cy="4267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noFill/>
          <a:ln>
            <a:noFill/>
          </a:ln>
        </p:spPr>
        <p:txBody>
          <a:bodyPr anchorCtr="1" anchor="ctr" bIns="45700" lIns="91425" spcFirstLastPara="1" rIns="91425" wrap="square" tIns="45700">
            <a:noAutofit/>
          </a:bodyPr>
          <a:lstStyle/>
          <a:p>
            <a:pPr indent="-114300" lvl="1" marL="114300" marR="0" rtl="0" algn="l">
              <a:lnSpc>
                <a:spcPct val="75000"/>
              </a:lnSpc>
              <a:spcBef>
                <a:spcPts val="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Boot block</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contains code required to boot the operating system</a:t>
            </a:r>
            <a:endParaRPr b="0" i="0" sz="1400" u="none" cap="none" strike="noStrike">
              <a:solidFill>
                <a:schemeClr val="dk1"/>
              </a:solidFill>
              <a:latin typeface="Arial"/>
              <a:ea typeface="Arial"/>
              <a:cs typeface="Arial"/>
              <a:sym typeface="Arial"/>
            </a:endParaRPr>
          </a:p>
          <a:p>
            <a:pPr indent="-114300" lvl="1" marL="114300" marR="0" rtl="0" algn="l">
              <a:lnSpc>
                <a:spcPct val="75000"/>
              </a:lnSpc>
              <a:spcBef>
                <a:spcPts val="14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Superblock</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contains attributes and information about the file system</a:t>
            </a:r>
            <a:endParaRPr b="0" i="0" sz="1400" u="none" cap="none" strike="noStrike">
              <a:solidFill>
                <a:schemeClr val="dk1"/>
              </a:solidFill>
              <a:latin typeface="Arial"/>
              <a:ea typeface="Arial"/>
              <a:cs typeface="Arial"/>
              <a:sym typeface="Arial"/>
            </a:endParaRPr>
          </a:p>
          <a:p>
            <a:pPr indent="-114300" lvl="1" marL="114300" marR="0" rtl="0" algn="l">
              <a:lnSpc>
                <a:spcPct val="75000"/>
              </a:lnSpc>
              <a:spcBef>
                <a:spcPts val="14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Inode table</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collection of inodes for each file</a:t>
            </a:r>
            <a:endParaRPr b="0" i="0" sz="1400" u="none" cap="none" strike="noStrike">
              <a:solidFill>
                <a:schemeClr val="dk1"/>
              </a:solidFill>
              <a:latin typeface="Arial"/>
              <a:ea typeface="Arial"/>
              <a:cs typeface="Arial"/>
              <a:sym typeface="Arial"/>
            </a:endParaRPr>
          </a:p>
          <a:p>
            <a:pPr indent="-114300" lvl="1" marL="114300" marR="0" rtl="0" algn="l">
              <a:lnSpc>
                <a:spcPct val="75000"/>
              </a:lnSpc>
              <a:spcBef>
                <a:spcPts val="140"/>
              </a:spcBef>
              <a:spcAft>
                <a:spcPts val="0"/>
              </a:spcAft>
              <a:buClr>
                <a:schemeClr val="dk1"/>
              </a:buClr>
              <a:buSzPts val="1800"/>
              <a:buFont typeface="Arial"/>
              <a:buChar char="•"/>
            </a:pPr>
            <a:r>
              <a:rPr b="1" i="0" lang="en-US" sz="1800" u="none" cap="none" strike="noStrike">
                <a:solidFill>
                  <a:schemeClr val="dk1"/>
                </a:solidFill>
                <a:latin typeface="Arial"/>
                <a:ea typeface="Arial"/>
                <a:cs typeface="Arial"/>
                <a:sym typeface="Arial"/>
              </a:rPr>
              <a:t>Data blocks</a:t>
            </a:r>
            <a:endParaRPr b="0" i="0" sz="1800" u="none" cap="none" strike="noStrike">
              <a:solidFill>
                <a:schemeClr val="dk1"/>
              </a:solidFill>
              <a:latin typeface="Arial"/>
              <a:ea typeface="Arial"/>
              <a:cs typeface="Arial"/>
              <a:sym typeface="Arial"/>
            </a:endParaRPr>
          </a:p>
          <a:p>
            <a:pPr indent="-114300" lvl="2" marL="228600" marR="0" rtl="0" algn="l">
              <a:lnSpc>
                <a:spcPct val="75000"/>
              </a:lnSpc>
              <a:spcBef>
                <a:spcPts val="180"/>
              </a:spcBef>
              <a:spcAft>
                <a:spcPts val="0"/>
              </a:spcAft>
              <a:buClr>
                <a:schemeClr val="dk1"/>
              </a:buClr>
              <a:buSzPts val="1400"/>
              <a:buFont typeface="Arial"/>
              <a:buChar char="•"/>
            </a:pPr>
            <a:r>
              <a:rPr b="0" i="0" lang="en-US" sz="1400" u="none" cap="none" strike="noStrike">
                <a:solidFill>
                  <a:schemeClr val="dk1"/>
                </a:solidFill>
                <a:latin typeface="Arial"/>
                <a:ea typeface="Arial"/>
                <a:cs typeface="Arial"/>
                <a:sym typeface="Arial"/>
              </a:rPr>
              <a:t>storage space available for data files and subdirectories</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19"/>
          <p:cNvSpPr txBox="1"/>
          <p:nvPr>
            <p:ph idx="4294967295" type="title"/>
          </p:nvPr>
        </p:nvSpPr>
        <p:spPr>
          <a:xfrm>
            <a:off x="0" y="455613"/>
            <a:ext cx="9144000" cy="992187"/>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r>
              <a:rPr lang="en-US">
                <a:solidFill>
                  <a:srgbClr val="720000"/>
                </a:solidFill>
              </a:rPr>
              <a:t>UNIX File Access Control</a:t>
            </a:r>
            <a:endParaRPr>
              <a:solidFill>
                <a:srgbClr val="720000"/>
              </a:solidFill>
            </a:endParaRPr>
          </a:p>
        </p:txBody>
      </p:sp>
      <p:pic>
        <p:nvPicPr>
          <p:cNvPr descr="Fig12_16.gif" id="1314" name="Google Shape;1314;p119"/>
          <p:cNvPicPr preferRelativeResize="0"/>
          <p:nvPr/>
        </p:nvPicPr>
        <p:blipFill rotWithShape="1">
          <a:blip r:embed="rId3">
            <a:alphaModFix/>
          </a:blip>
          <a:srcRect b="0" l="0" r="0" t="0"/>
          <a:stretch/>
        </p:blipFill>
        <p:spPr>
          <a:xfrm>
            <a:off x="381000" y="1524000"/>
            <a:ext cx="4235450" cy="2819400"/>
          </a:xfrm>
          <a:prstGeom prst="rect">
            <a:avLst/>
          </a:prstGeom>
          <a:noFill/>
          <a:ln>
            <a:noFill/>
          </a:ln>
        </p:spPr>
      </p:pic>
      <p:pic>
        <p:nvPicPr>
          <p:cNvPr id="1315" name="Google Shape;1315;p119"/>
          <p:cNvPicPr preferRelativeResize="0"/>
          <p:nvPr/>
        </p:nvPicPr>
        <p:blipFill rotWithShape="1">
          <a:blip r:embed="rId4">
            <a:alphaModFix/>
          </a:blip>
          <a:srcRect b="0" l="0" r="0" t="0"/>
          <a:stretch/>
        </p:blipFill>
        <p:spPr>
          <a:xfrm>
            <a:off x="6019800" y="2209800"/>
            <a:ext cx="1241425" cy="1241425"/>
          </a:xfrm>
          <a:prstGeom prst="rect">
            <a:avLst/>
          </a:prstGeom>
          <a:noFill/>
          <a:ln>
            <a:noFill/>
          </a:ln>
        </p:spPr>
      </p:pic>
      <p:pic>
        <p:nvPicPr>
          <p:cNvPr id="1316" name="Google Shape;1316;p119"/>
          <p:cNvPicPr preferRelativeResize="0"/>
          <p:nvPr/>
        </p:nvPicPr>
        <p:blipFill rotWithShape="1">
          <a:blip r:embed="rId5">
            <a:alphaModFix/>
          </a:blip>
          <a:srcRect b="0" l="0" r="0" t="0"/>
          <a:stretch/>
        </p:blipFill>
        <p:spPr>
          <a:xfrm>
            <a:off x="1600200" y="4648200"/>
            <a:ext cx="1612900" cy="1612900"/>
          </a:xfrm>
          <a:prstGeom prst="rect">
            <a:avLst/>
          </a:prstGeom>
          <a:noFill/>
          <a:ln>
            <a:noFill/>
          </a:ln>
        </p:spPr>
      </p:pic>
    </p:spTree>
  </p:cSld>
  <p:clrMapOvr>
    <a:masterClrMapping/>
  </p:clrMapOvr>
  <p:transition spd="med">
    <p:wipe dir="d"/>
  </p:transition>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120"/>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ctr">
              <a:lnSpc>
                <a:spcPct val="103846"/>
              </a:lnSpc>
              <a:spcBef>
                <a:spcPts val="0"/>
              </a:spcBef>
              <a:spcAft>
                <a:spcPts val="0"/>
              </a:spcAft>
              <a:buNone/>
            </a:pPr>
            <a:br>
              <a:rPr lang="en-US"/>
            </a:br>
            <a:r>
              <a:rPr lang="en-US"/>
              <a:t>Access Control Lists </a:t>
            </a:r>
            <a:br>
              <a:rPr lang="en-US"/>
            </a:br>
            <a:r>
              <a:rPr lang="en-US"/>
              <a:t>in UNIX</a:t>
            </a:r>
            <a:endParaRPr/>
          </a:p>
        </p:txBody>
      </p:sp>
      <p:sp>
        <p:nvSpPr>
          <p:cNvPr id="1323" name="Google Shape;1323;p120"/>
          <p:cNvSpPr txBox="1"/>
          <p:nvPr>
            <p:ph idx="4294967295" type="body"/>
          </p:nvPr>
        </p:nvSpPr>
        <p:spPr>
          <a:xfrm>
            <a:off x="609600" y="2209800"/>
            <a:ext cx="7848600" cy="40386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FreeBSD allows the administrator to assign a list of UNIX user IDs and groups to a file</a:t>
            </a:r>
            <a:endParaRPr/>
          </a:p>
          <a:p>
            <a:pPr indent="-282575" lvl="0" marL="282575" rtl="0" algn="l">
              <a:spcBef>
                <a:spcPts val="1800"/>
              </a:spcBef>
              <a:spcAft>
                <a:spcPts val="0"/>
              </a:spcAft>
              <a:buSzPts val="1500"/>
              <a:buChar char="■"/>
            </a:pPr>
            <a:r>
              <a:rPr lang="en-US"/>
              <a:t>Any number of users and groups can be associated with a file, each with three protection bits (read, write, execute)</a:t>
            </a:r>
            <a:endParaRPr/>
          </a:p>
          <a:p>
            <a:pPr indent="-282575" lvl="0" marL="282575" rtl="0" algn="l">
              <a:spcBef>
                <a:spcPts val="1800"/>
              </a:spcBef>
              <a:spcAft>
                <a:spcPts val="0"/>
              </a:spcAft>
              <a:buSzPts val="1500"/>
              <a:buChar char="■"/>
            </a:pPr>
            <a:r>
              <a:rPr lang="en-US"/>
              <a:t>A file may be protected solely by the traditional UNIX file access mechanism</a:t>
            </a:r>
            <a:endParaRPr/>
          </a:p>
          <a:p>
            <a:pPr indent="-282575" lvl="0" marL="282575" rtl="0" algn="l">
              <a:spcBef>
                <a:spcPts val="1800"/>
              </a:spcBef>
              <a:spcAft>
                <a:spcPts val="0"/>
              </a:spcAft>
              <a:buSzPts val="1500"/>
              <a:buChar char="■"/>
            </a:pPr>
            <a:r>
              <a:rPr lang="en-US"/>
              <a:t>FreeBSD files include an additional protection bit                             that indicates whether the file has                                                        an extended ACL</a:t>
            </a:r>
            <a:endParaRPr/>
          </a:p>
          <a:p>
            <a:pPr indent="-187325" lvl="0" marL="282575" rtl="0" algn="l">
              <a:spcBef>
                <a:spcPts val="1800"/>
              </a:spcBef>
              <a:spcAft>
                <a:spcPts val="0"/>
              </a:spcAft>
              <a:buSzPts val="1500"/>
              <a:buNone/>
            </a:pPr>
            <a:r>
              <a:t/>
            </a:r>
            <a:endParaRPr/>
          </a:p>
        </p:txBody>
      </p:sp>
      <p:pic>
        <p:nvPicPr>
          <p:cNvPr id="1324" name="Google Shape;1324;p120"/>
          <p:cNvPicPr preferRelativeResize="0"/>
          <p:nvPr/>
        </p:nvPicPr>
        <p:blipFill rotWithShape="1">
          <a:blip r:embed="rId3">
            <a:alphaModFix/>
          </a:blip>
          <a:srcRect b="0" l="0" r="0" t="0"/>
          <a:stretch/>
        </p:blipFill>
        <p:spPr>
          <a:xfrm>
            <a:off x="4876800" y="5105400"/>
            <a:ext cx="917575" cy="1295400"/>
          </a:xfrm>
          <a:prstGeom prst="rect">
            <a:avLst/>
          </a:prstGeom>
          <a:noFill/>
          <a:ln>
            <a:noFill/>
          </a:ln>
        </p:spPr>
      </p:pic>
      <p:pic>
        <p:nvPicPr>
          <p:cNvPr id="1325" name="Google Shape;1325;p120"/>
          <p:cNvPicPr preferRelativeResize="0"/>
          <p:nvPr/>
        </p:nvPicPr>
        <p:blipFill rotWithShape="1">
          <a:blip r:embed="rId4">
            <a:alphaModFix/>
          </a:blip>
          <a:srcRect b="0" l="0" r="0" t="0"/>
          <a:stretch/>
        </p:blipFill>
        <p:spPr>
          <a:xfrm>
            <a:off x="6477000" y="4419600"/>
            <a:ext cx="1981200" cy="1860550"/>
          </a:xfrm>
          <a:prstGeom prst="rect">
            <a:avLst/>
          </a:prstGeom>
          <a:noFill/>
          <a:ln>
            <a:noFill/>
          </a:ln>
        </p:spPr>
      </p:pic>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121"/>
          <p:cNvSpPr txBox="1"/>
          <p:nvPr>
            <p:ph type="title"/>
          </p:nvPr>
        </p:nvSpPr>
        <p:spPr>
          <a:xfrm>
            <a:off x="228600" y="15240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t>Linux Virtual File System (VFS)</a:t>
            </a:r>
            <a:endParaRPr/>
          </a:p>
        </p:txBody>
      </p:sp>
      <p:sp>
        <p:nvSpPr>
          <p:cNvPr id="1332" name="Google Shape;1332;p121"/>
          <p:cNvSpPr txBox="1"/>
          <p:nvPr>
            <p:ph idx="1" type="body"/>
          </p:nvPr>
        </p:nvSpPr>
        <p:spPr>
          <a:xfrm>
            <a:off x="381000" y="2895600"/>
            <a:ext cx="3657600" cy="37655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350"/>
              <a:buChar char="■"/>
            </a:pPr>
            <a:r>
              <a:rPr lang="en-US"/>
              <a:t>Linux includes a versatile and powerful file-handling facility, </a:t>
            </a:r>
            <a:endParaRPr/>
          </a:p>
          <a:p>
            <a:pPr indent="-282575" lvl="0" marL="282575" rtl="0" algn="l">
              <a:spcBef>
                <a:spcPts val="1800"/>
              </a:spcBef>
              <a:spcAft>
                <a:spcPts val="0"/>
              </a:spcAft>
              <a:buSzPts val="1350"/>
              <a:buChar char="■"/>
            </a:pPr>
            <a:r>
              <a:rPr lang="en-US"/>
              <a:t>Designed to support a wide variety of file management systems and file structures.</a:t>
            </a:r>
            <a:endParaRPr/>
          </a:p>
          <a:p>
            <a:pPr indent="-282575" lvl="0" marL="282575" rtl="0" algn="l">
              <a:spcBef>
                <a:spcPts val="1800"/>
              </a:spcBef>
              <a:spcAft>
                <a:spcPts val="0"/>
              </a:spcAft>
              <a:buSzPts val="1350"/>
              <a:buChar char="■"/>
            </a:pPr>
            <a:r>
              <a:rPr lang="en-US"/>
              <a:t>Presents a single, uniform file system interface to user processes</a:t>
            </a:r>
            <a:endParaRPr/>
          </a:p>
          <a:p>
            <a:pPr indent="-196850" lvl="0" marL="282575" rtl="0" algn="l">
              <a:spcBef>
                <a:spcPts val="1800"/>
              </a:spcBef>
              <a:spcAft>
                <a:spcPts val="0"/>
              </a:spcAft>
              <a:buSzPts val="1350"/>
              <a:buNone/>
            </a:pPr>
            <a:r>
              <a:t/>
            </a:r>
            <a:endParaRPr/>
          </a:p>
        </p:txBody>
      </p:sp>
      <p:pic>
        <p:nvPicPr>
          <p:cNvPr descr="Fig12_17.gif" id="1333" name="Google Shape;1333;p121"/>
          <p:cNvPicPr preferRelativeResize="0"/>
          <p:nvPr/>
        </p:nvPicPr>
        <p:blipFill rotWithShape="1">
          <a:blip r:embed="rId3">
            <a:alphaModFix/>
          </a:blip>
          <a:srcRect b="0" l="0" r="0" t="0"/>
          <a:stretch/>
        </p:blipFill>
        <p:spPr>
          <a:xfrm>
            <a:off x="4038600" y="685800"/>
            <a:ext cx="4621213" cy="5715000"/>
          </a:xfrm>
          <a:prstGeom prst="rect">
            <a:avLst/>
          </a:prstGeom>
          <a:noFill/>
          <a:ln>
            <a:noFill/>
          </a:ln>
        </p:spPr>
      </p:pic>
      <p:sp>
        <p:nvSpPr>
          <p:cNvPr id="1334" name="Google Shape;1334;p121"/>
          <p:cNvSpPr txBox="1"/>
          <p:nvPr/>
        </p:nvSpPr>
        <p:spPr>
          <a:xfrm>
            <a:off x="4419600" y="6019800"/>
            <a:ext cx="1219200" cy="3381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Tree>
  </p:cSld>
  <p:clrMapOvr>
    <a:masterClrMapping/>
  </p:clrMapOvr>
  <p:transition spd="med">
    <p:wipe dir="r"/>
  </p:transition>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122"/>
          <p:cNvSpPr txBox="1"/>
          <p:nvPr>
            <p:ph type="title"/>
          </p:nvPr>
        </p:nvSpPr>
        <p:spPr>
          <a:xfrm>
            <a:off x="228600" y="6096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92857"/>
              </a:lnSpc>
              <a:spcBef>
                <a:spcPts val="0"/>
              </a:spcBef>
              <a:spcAft>
                <a:spcPts val="0"/>
              </a:spcAft>
              <a:buNone/>
            </a:pPr>
            <a:r>
              <a:rPr b="1" lang="en-US" sz="2800"/>
              <a:t>Linux Virtual File System (VFS)</a:t>
            </a:r>
            <a:endParaRPr/>
          </a:p>
        </p:txBody>
      </p:sp>
      <p:sp>
        <p:nvSpPr>
          <p:cNvPr id="1341" name="Google Shape;1341;p122"/>
          <p:cNvSpPr txBox="1"/>
          <p:nvPr>
            <p:ph idx="1" type="body"/>
          </p:nvPr>
        </p:nvSpPr>
        <p:spPr>
          <a:xfrm>
            <a:off x="366712" y="1660525"/>
            <a:ext cx="3657600" cy="376555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800"/>
              <a:buChar char="■"/>
            </a:pPr>
            <a:r>
              <a:rPr lang="en-US" sz="2400"/>
              <a:t>Linux includes a versatile and powerful file-handling facility, </a:t>
            </a:r>
            <a:endParaRPr sz="2400"/>
          </a:p>
          <a:p>
            <a:pPr indent="-282575" lvl="0" marL="282575" rtl="0" algn="l">
              <a:spcBef>
                <a:spcPts val="1800"/>
              </a:spcBef>
              <a:spcAft>
                <a:spcPts val="0"/>
              </a:spcAft>
              <a:buSzPts val="1800"/>
              <a:buChar char="■"/>
            </a:pPr>
            <a:r>
              <a:rPr lang="en-US" sz="2400"/>
              <a:t>Designed to support a wide variety of file management systems and file structures.</a:t>
            </a:r>
            <a:endParaRPr/>
          </a:p>
          <a:p>
            <a:pPr indent="-282575" lvl="0" marL="282575" rtl="0" algn="l">
              <a:spcBef>
                <a:spcPts val="1800"/>
              </a:spcBef>
              <a:spcAft>
                <a:spcPts val="0"/>
              </a:spcAft>
              <a:buSzPts val="1800"/>
              <a:buChar char="■"/>
            </a:pPr>
            <a:r>
              <a:rPr lang="en-US" sz="2400"/>
              <a:t>Presents a single, uniform file system interface to user processes</a:t>
            </a:r>
            <a:endParaRPr/>
          </a:p>
          <a:p>
            <a:pPr indent="-168275" lvl="0" marL="282575" rtl="0" algn="l">
              <a:spcBef>
                <a:spcPts val="1800"/>
              </a:spcBef>
              <a:spcAft>
                <a:spcPts val="0"/>
              </a:spcAft>
              <a:buSzPts val="1800"/>
              <a:buNone/>
            </a:pPr>
            <a:r>
              <a:t/>
            </a:r>
            <a:endParaRPr sz="2400"/>
          </a:p>
        </p:txBody>
      </p:sp>
      <p:pic>
        <p:nvPicPr>
          <p:cNvPr descr="Fig12_17.gif" id="1342" name="Google Shape;1342;p122"/>
          <p:cNvPicPr preferRelativeResize="0"/>
          <p:nvPr/>
        </p:nvPicPr>
        <p:blipFill rotWithShape="1">
          <a:blip r:embed="rId3">
            <a:alphaModFix/>
          </a:blip>
          <a:srcRect b="0" l="0" r="0" t="0"/>
          <a:stretch/>
        </p:blipFill>
        <p:spPr>
          <a:xfrm>
            <a:off x="4038600" y="685800"/>
            <a:ext cx="4621213" cy="5715000"/>
          </a:xfrm>
          <a:prstGeom prst="rect">
            <a:avLst/>
          </a:prstGeom>
          <a:noFill/>
          <a:ln>
            <a:noFill/>
          </a:ln>
        </p:spPr>
      </p:pic>
      <p:sp>
        <p:nvSpPr>
          <p:cNvPr id="1343" name="Google Shape;1343;p122"/>
          <p:cNvSpPr txBox="1"/>
          <p:nvPr/>
        </p:nvSpPr>
        <p:spPr>
          <a:xfrm>
            <a:off x="4419600" y="6019800"/>
            <a:ext cx="1219200" cy="3381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Tree>
  </p:cSld>
  <p:clrMapOvr>
    <a:masterClrMapping/>
  </p:clrMapOvr>
  <p:transition spd="med">
    <p:wipe dir="r"/>
  </p:transition>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8" name="Shape 1348"/>
        <p:cNvGrpSpPr/>
        <p:nvPr/>
      </p:nvGrpSpPr>
      <p:grpSpPr>
        <a:xfrm>
          <a:off x="0" y="0"/>
          <a:ext cx="0" cy="0"/>
          <a:chOff x="0" y="0"/>
          <a:chExt cx="0" cy="0"/>
        </a:xfrm>
      </p:grpSpPr>
      <p:sp>
        <p:nvSpPr>
          <p:cNvPr id="1349" name="Google Shape;1349;p123"/>
          <p:cNvSpPr txBox="1"/>
          <p:nvPr>
            <p:ph type="title"/>
          </p:nvPr>
        </p:nvSpPr>
        <p:spPr>
          <a:xfrm>
            <a:off x="228600" y="15240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t>Linux Virtual File System (VFS)</a:t>
            </a:r>
            <a:endParaRPr/>
          </a:p>
        </p:txBody>
      </p:sp>
      <p:sp>
        <p:nvSpPr>
          <p:cNvPr id="1350" name="Google Shape;1350;p123"/>
          <p:cNvSpPr txBox="1"/>
          <p:nvPr>
            <p:ph idx="1" type="body"/>
          </p:nvPr>
        </p:nvSpPr>
        <p:spPr>
          <a:xfrm>
            <a:off x="381000" y="2895600"/>
            <a:ext cx="3657600" cy="37655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800"/>
              <a:buChar char="■"/>
            </a:pPr>
            <a:r>
              <a:rPr lang="en-US" sz="2400"/>
              <a:t>Defines a common file model that is </a:t>
            </a:r>
            <a:endParaRPr/>
          </a:p>
          <a:p>
            <a:pPr indent="-282575" lvl="0" marL="282575" rtl="0" algn="l">
              <a:spcBef>
                <a:spcPts val="1800"/>
              </a:spcBef>
              <a:spcAft>
                <a:spcPts val="0"/>
              </a:spcAft>
              <a:buSzPts val="1800"/>
              <a:buChar char="■"/>
            </a:pPr>
            <a:r>
              <a:rPr lang="en-US" sz="2400"/>
              <a:t>capable of representing any conceivable file system’s general feature and behavior</a:t>
            </a:r>
            <a:endParaRPr/>
          </a:p>
        </p:txBody>
      </p:sp>
      <p:pic>
        <p:nvPicPr>
          <p:cNvPr descr="Fig12_17.gif" id="1351" name="Google Shape;1351;p123"/>
          <p:cNvPicPr preferRelativeResize="0"/>
          <p:nvPr/>
        </p:nvPicPr>
        <p:blipFill rotWithShape="1">
          <a:blip r:embed="rId3">
            <a:alphaModFix/>
          </a:blip>
          <a:srcRect b="0" l="0" r="0" t="0"/>
          <a:stretch/>
        </p:blipFill>
        <p:spPr>
          <a:xfrm>
            <a:off x="4038600" y="685800"/>
            <a:ext cx="4621213" cy="5715000"/>
          </a:xfrm>
          <a:prstGeom prst="rect">
            <a:avLst/>
          </a:prstGeom>
          <a:noFill/>
          <a:ln>
            <a:noFill/>
          </a:ln>
        </p:spPr>
      </p:pic>
      <p:sp>
        <p:nvSpPr>
          <p:cNvPr id="1352" name="Google Shape;1352;p123"/>
          <p:cNvSpPr txBox="1"/>
          <p:nvPr/>
        </p:nvSpPr>
        <p:spPr>
          <a:xfrm>
            <a:off x="4419600" y="6019800"/>
            <a:ext cx="1219200" cy="3381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Tree>
  </p:cSld>
  <p:clrMapOvr>
    <a:masterClrMapping/>
  </p:clrMapOvr>
  <p:transition spd="med">
    <p:wipe dir="r"/>
  </p:transition>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124"/>
          <p:cNvSpPr txBox="1"/>
          <p:nvPr>
            <p:ph type="title"/>
          </p:nvPr>
        </p:nvSpPr>
        <p:spPr>
          <a:xfrm>
            <a:off x="228600" y="1524000"/>
            <a:ext cx="3657600" cy="1098550"/>
          </a:xfrm>
          <a:prstGeom prst="rect">
            <a:avLst/>
          </a:prstGeom>
          <a:noFill/>
          <a:ln>
            <a:noFill/>
          </a:ln>
        </p:spPr>
        <p:txBody>
          <a:bodyPr anchorCtr="0" anchor="b" bIns="0" lIns="91425" spcFirstLastPara="1" rIns="91425" wrap="square" tIns="0">
            <a:noAutofit/>
          </a:bodyPr>
          <a:lstStyle/>
          <a:p>
            <a:pPr indent="0" lvl="0" marL="0" rtl="0" algn="ctr">
              <a:lnSpc>
                <a:spcPct val="150000"/>
              </a:lnSpc>
              <a:spcBef>
                <a:spcPts val="0"/>
              </a:spcBef>
              <a:spcAft>
                <a:spcPts val="0"/>
              </a:spcAft>
              <a:buNone/>
            </a:pPr>
            <a:r>
              <a:rPr b="1" lang="en-US"/>
              <a:t>Linux Virtual File System (VFS)</a:t>
            </a:r>
            <a:endParaRPr/>
          </a:p>
        </p:txBody>
      </p:sp>
      <p:sp>
        <p:nvSpPr>
          <p:cNvPr id="1359" name="Google Shape;1359;p124"/>
          <p:cNvSpPr txBox="1"/>
          <p:nvPr>
            <p:ph idx="1" type="body"/>
          </p:nvPr>
        </p:nvSpPr>
        <p:spPr>
          <a:xfrm>
            <a:off x="381000" y="2895600"/>
            <a:ext cx="3657600" cy="3765550"/>
          </a:xfrm>
          <a:prstGeom prst="rect">
            <a:avLst/>
          </a:prstGeom>
          <a:noFill/>
          <a:ln>
            <a:noFill/>
          </a:ln>
        </p:spPr>
        <p:txBody>
          <a:bodyPr anchorCtr="0" anchor="t" bIns="45700" lIns="91425" spcFirstLastPara="1" rIns="91425" wrap="square" tIns="45700">
            <a:normAutofit/>
          </a:bodyPr>
          <a:lstStyle/>
          <a:p>
            <a:pPr indent="-282575" lvl="0" marL="282575" rtl="0" algn="l">
              <a:spcBef>
                <a:spcPts val="0"/>
              </a:spcBef>
              <a:spcAft>
                <a:spcPts val="0"/>
              </a:spcAft>
              <a:buSzPts val="1800"/>
              <a:buChar char="■"/>
            </a:pPr>
            <a:r>
              <a:rPr lang="en-US" sz="2400"/>
              <a:t>VFS Assumes files are objects that share basic properties regardless of the target file system or the underlying processor hardware</a:t>
            </a:r>
            <a:endParaRPr/>
          </a:p>
          <a:p>
            <a:pPr indent="-168275" lvl="0" marL="282575" rtl="0" algn="l">
              <a:spcBef>
                <a:spcPts val="1800"/>
              </a:spcBef>
              <a:spcAft>
                <a:spcPts val="0"/>
              </a:spcAft>
              <a:buSzPts val="1800"/>
              <a:buNone/>
            </a:pPr>
            <a:r>
              <a:t/>
            </a:r>
            <a:endParaRPr sz="2400"/>
          </a:p>
        </p:txBody>
      </p:sp>
      <p:pic>
        <p:nvPicPr>
          <p:cNvPr descr="Fig12_17.gif" id="1360" name="Google Shape;1360;p124"/>
          <p:cNvPicPr preferRelativeResize="0"/>
          <p:nvPr/>
        </p:nvPicPr>
        <p:blipFill rotWithShape="1">
          <a:blip r:embed="rId3">
            <a:alphaModFix/>
          </a:blip>
          <a:srcRect b="0" l="0" r="0" t="0"/>
          <a:stretch/>
        </p:blipFill>
        <p:spPr>
          <a:xfrm>
            <a:off x="4038600" y="685800"/>
            <a:ext cx="4621213" cy="5715000"/>
          </a:xfrm>
          <a:prstGeom prst="rect">
            <a:avLst/>
          </a:prstGeom>
          <a:noFill/>
          <a:ln>
            <a:noFill/>
          </a:ln>
        </p:spPr>
      </p:pic>
      <p:sp>
        <p:nvSpPr>
          <p:cNvPr id="1361" name="Google Shape;1361;p124"/>
          <p:cNvSpPr txBox="1"/>
          <p:nvPr/>
        </p:nvSpPr>
        <p:spPr>
          <a:xfrm>
            <a:off x="4419600" y="6019800"/>
            <a:ext cx="1219200" cy="3381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Tree>
  </p:cSld>
  <p:clrMapOvr>
    <a:masterClrMapping/>
  </p:clrMapOvr>
  <p:transition spd="med">
    <p:wipe dir="r"/>
  </p:transition>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6" name="Shape 1366"/>
        <p:cNvGrpSpPr/>
        <p:nvPr/>
      </p:nvGrpSpPr>
      <p:grpSpPr>
        <a:xfrm>
          <a:off x="0" y="0"/>
          <a:ext cx="0" cy="0"/>
          <a:chOff x="0" y="0"/>
          <a:chExt cx="0" cy="0"/>
        </a:xfrm>
      </p:grpSpPr>
      <p:sp>
        <p:nvSpPr>
          <p:cNvPr id="1367" name="Google Shape;1367;p125"/>
          <p:cNvSpPr txBox="1"/>
          <p:nvPr>
            <p:ph type="title"/>
          </p:nvPr>
        </p:nvSpPr>
        <p:spPr>
          <a:xfrm>
            <a:off x="533400" y="914400"/>
            <a:ext cx="41910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The Role of VFS </a:t>
            </a:r>
            <a:br>
              <a:rPr b="1" lang="en-US"/>
            </a:br>
            <a:r>
              <a:rPr b="1" lang="en-US"/>
              <a:t>Within the Kernel</a:t>
            </a:r>
            <a:endParaRPr/>
          </a:p>
        </p:txBody>
      </p:sp>
      <p:pic>
        <p:nvPicPr>
          <p:cNvPr descr="Fig12_18.gif" id="1368" name="Google Shape;1368;p125"/>
          <p:cNvPicPr preferRelativeResize="0"/>
          <p:nvPr>
            <p:ph idx="1" type="body"/>
          </p:nvPr>
        </p:nvPicPr>
        <p:blipFill rotWithShape="1">
          <a:blip r:embed="rId3">
            <a:alphaModFix/>
          </a:blip>
          <a:srcRect b="-118175" l="0" r="0" t="-118176"/>
          <a:stretch/>
        </p:blipFill>
        <p:spPr>
          <a:xfrm>
            <a:off x="533400" y="-1524000"/>
            <a:ext cx="7924800" cy="11887200"/>
          </a:xfrm>
          <a:prstGeom prst="rect">
            <a:avLst/>
          </a:prstGeom>
          <a:noFill/>
          <a:ln>
            <a:noFill/>
          </a:ln>
        </p:spPr>
      </p:pic>
      <p:sp>
        <p:nvSpPr>
          <p:cNvPr id="1369" name="Google Shape;1369;p125"/>
          <p:cNvSpPr txBox="1"/>
          <p:nvPr/>
        </p:nvSpPr>
        <p:spPr>
          <a:xfrm>
            <a:off x="1981200" y="5638800"/>
            <a:ext cx="1668463" cy="541338"/>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ransition spd="med">
    <p:wipe dir="l"/>
  </p:transition>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4" name="Shape 1374"/>
        <p:cNvGrpSpPr/>
        <p:nvPr/>
      </p:nvGrpSpPr>
      <p:grpSpPr>
        <a:xfrm>
          <a:off x="0" y="0"/>
          <a:ext cx="0" cy="0"/>
          <a:chOff x="0" y="0"/>
          <a:chExt cx="0" cy="0"/>
        </a:xfrm>
      </p:grpSpPr>
      <p:sp>
        <p:nvSpPr>
          <p:cNvPr id="1375" name="Google Shape;1375;p126"/>
          <p:cNvSpPr txBox="1"/>
          <p:nvPr>
            <p:ph type="title"/>
          </p:nvPr>
        </p:nvSpPr>
        <p:spPr>
          <a:xfrm>
            <a:off x="381000" y="152400"/>
            <a:ext cx="7848600" cy="1098550"/>
          </a:xfrm>
          <a:prstGeom prst="rect">
            <a:avLst/>
          </a:prstGeom>
          <a:noFill/>
          <a:ln>
            <a:noFill/>
          </a:ln>
        </p:spPr>
        <p:txBody>
          <a:bodyPr anchorCtr="0" anchor="b" bIns="0" lIns="91425" spcFirstLastPara="1" rIns="91425" wrap="square" tIns="0">
            <a:noAutofit/>
          </a:bodyPr>
          <a:lstStyle/>
          <a:p>
            <a:pPr indent="0" lvl="0" marL="0" rtl="0" algn="l">
              <a:lnSpc>
                <a:spcPct val="150000"/>
              </a:lnSpc>
              <a:spcBef>
                <a:spcPts val="0"/>
              </a:spcBef>
              <a:spcAft>
                <a:spcPts val="0"/>
              </a:spcAft>
              <a:buNone/>
            </a:pPr>
            <a:r>
              <a:rPr b="1" lang="en-US"/>
              <a:t>The Role of VFS Within the Kernel</a:t>
            </a:r>
            <a:endParaRPr/>
          </a:p>
        </p:txBody>
      </p:sp>
      <p:sp>
        <p:nvSpPr>
          <p:cNvPr id="1376" name="Google Shape;1376;p126"/>
          <p:cNvSpPr txBox="1"/>
          <p:nvPr>
            <p:ph idx="1" type="body"/>
          </p:nvPr>
        </p:nvSpPr>
        <p:spPr>
          <a:xfrm>
            <a:off x="561975" y="4010024"/>
            <a:ext cx="7923657" cy="2130643"/>
          </a:xfrm>
          <a:prstGeom prst="rect">
            <a:avLst/>
          </a:prstGeom>
          <a:noFill/>
          <a:ln>
            <a:noFill/>
          </a:ln>
        </p:spPr>
        <p:txBody>
          <a:bodyPr anchorCtr="0" anchor="t" bIns="45700" lIns="91425" spcFirstLastPara="1" rIns="91425" wrap="square" tIns="45700">
            <a:normAutofit lnSpcReduction="10000"/>
          </a:bodyPr>
          <a:lstStyle/>
          <a:p>
            <a:pPr indent="-282575" lvl="0" marL="282575" rtl="0" algn="l">
              <a:spcBef>
                <a:spcPts val="0"/>
              </a:spcBef>
              <a:spcAft>
                <a:spcPts val="0"/>
              </a:spcAft>
              <a:buSzPts val="1350"/>
              <a:buChar char="■"/>
            </a:pPr>
            <a:r>
              <a:rPr lang="en-US"/>
              <a:t>A user process issues a file system call (e.g., read) using the VFS file scheme. </a:t>
            </a:r>
            <a:endParaRPr/>
          </a:p>
          <a:p>
            <a:pPr indent="-282575" lvl="0" marL="282575" rtl="0" algn="l">
              <a:spcBef>
                <a:spcPts val="1800"/>
              </a:spcBef>
              <a:spcAft>
                <a:spcPts val="0"/>
              </a:spcAft>
              <a:buSzPts val="1350"/>
              <a:buChar char="■"/>
            </a:pPr>
            <a:r>
              <a:rPr lang="en-US"/>
              <a:t>The VFS converts this into an internal (to the kernel) file system call that is passed to a mapping function for a specific file system [e.g., IBM’s Journaling File System (JFS)]. </a:t>
            </a:r>
            <a:endParaRPr/>
          </a:p>
          <a:p>
            <a:pPr indent="-282575" lvl="0" marL="282575" rtl="0" algn="l">
              <a:spcBef>
                <a:spcPts val="1800"/>
              </a:spcBef>
              <a:spcAft>
                <a:spcPts val="0"/>
              </a:spcAft>
              <a:buSzPts val="1350"/>
              <a:buChar char="■"/>
            </a:pPr>
            <a:r>
              <a:rPr lang="en-US"/>
              <a:t>The mapping function is simply a mapping of file system functional calls from one scheme to another.</a:t>
            </a:r>
            <a:endParaRPr/>
          </a:p>
        </p:txBody>
      </p:sp>
      <p:pic>
        <p:nvPicPr>
          <p:cNvPr id="1377" name="Google Shape;1377;p126"/>
          <p:cNvPicPr preferRelativeResize="0"/>
          <p:nvPr/>
        </p:nvPicPr>
        <p:blipFill rotWithShape="1">
          <a:blip r:embed="rId3">
            <a:alphaModFix/>
          </a:blip>
          <a:srcRect b="0" l="0" r="0" t="0"/>
          <a:stretch/>
        </p:blipFill>
        <p:spPr>
          <a:xfrm>
            <a:off x="561975" y="1295400"/>
            <a:ext cx="8277225" cy="2714625"/>
          </a:xfrm>
          <a:prstGeom prst="rect">
            <a:avLst/>
          </a:prstGeom>
          <a:noFill/>
          <a:ln>
            <a:noFill/>
          </a:ln>
        </p:spPr>
      </p:pic>
    </p:spTree>
  </p:cSld>
  <p:clrMapOvr>
    <a:masterClrMapping/>
  </p:clrMapOvr>
  <p:transition spd="med">
    <p:wipe dir="l"/>
  </p:transition>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2" name="Shape 1382"/>
        <p:cNvGrpSpPr/>
        <p:nvPr/>
      </p:nvGrpSpPr>
      <p:grpSpPr>
        <a:xfrm>
          <a:off x="0" y="0"/>
          <a:ext cx="0" cy="0"/>
          <a:chOff x="0" y="0"/>
          <a:chExt cx="0" cy="0"/>
        </a:xfrm>
      </p:grpSpPr>
      <p:sp>
        <p:nvSpPr>
          <p:cNvPr id="1383" name="Google Shape;1383;p127"/>
          <p:cNvSpPr txBox="1"/>
          <p:nvPr>
            <p:ph type="title"/>
          </p:nvPr>
        </p:nvSpPr>
        <p:spPr>
          <a:xfrm>
            <a:off x="658813" y="455613"/>
            <a:ext cx="7824787" cy="1323975"/>
          </a:xfrm>
          <a:prstGeom prst="rect">
            <a:avLst/>
          </a:prstGeom>
          <a:no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None/>
            </a:pPr>
            <a:br>
              <a:rPr lang="en-US"/>
            </a:br>
            <a:r>
              <a:rPr lang="en-US" sz="5400"/>
              <a:t>Primary Object Types in VFS</a:t>
            </a:r>
            <a:endParaRPr/>
          </a:p>
        </p:txBody>
      </p:sp>
      <p:sp>
        <p:nvSpPr>
          <p:cNvPr id="1384" name="Google Shape;1384;p127"/>
          <p:cNvSpPr txBox="1"/>
          <p:nvPr>
            <p:ph idx="4294967295" type="body"/>
          </p:nvPr>
        </p:nvSpPr>
        <p:spPr>
          <a:xfrm>
            <a:off x="609600" y="2209800"/>
            <a:ext cx="7848600" cy="4038600"/>
          </a:xfrm>
          <a:prstGeom prst="rect">
            <a:avLst/>
          </a:prstGeom>
          <a:noFill/>
          <a:ln>
            <a:noFill/>
          </a:ln>
        </p:spPr>
        <p:txBody>
          <a:bodyPr anchorCtr="0" anchor="t" bIns="45700" lIns="91425" spcFirstLastPara="1" rIns="91425" wrap="square" tIns="45700">
            <a:noAutofit/>
          </a:bodyPr>
          <a:lstStyle/>
          <a:p>
            <a:pPr indent="-282575" lvl="0" marL="282575" rtl="0" algn="l">
              <a:spcBef>
                <a:spcPts val="0"/>
              </a:spcBef>
              <a:spcAft>
                <a:spcPts val="0"/>
              </a:spcAft>
              <a:buSzPts val="1500"/>
              <a:buChar char="■"/>
            </a:pPr>
            <a:r>
              <a:rPr lang="en-US"/>
              <a:t>VFS is an object-oriented scheme. </a:t>
            </a:r>
            <a:endParaRPr/>
          </a:p>
          <a:p>
            <a:pPr indent="-282575" lvl="0" marL="282575" rtl="0" algn="l">
              <a:spcBef>
                <a:spcPts val="1800"/>
              </a:spcBef>
              <a:spcAft>
                <a:spcPts val="0"/>
              </a:spcAft>
              <a:buSzPts val="1500"/>
              <a:buChar char="■"/>
            </a:pPr>
            <a:r>
              <a:rPr lang="en-US"/>
              <a:t>Because it is written in C, rather than a language that supports object programming (such as C++ or Java),</a:t>
            </a:r>
            <a:endParaRPr/>
          </a:p>
          <a:p>
            <a:pPr indent="-282575" lvl="0" marL="282575" rtl="0" algn="l">
              <a:spcBef>
                <a:spcPts val="1800"/>
              </a:spcBef>
              <a:spcAft>
                <a:spcPts val="0"/>
              </a:spcAft>
              <a:buSzPts val="1500"/>
              <a:buChar char="■"/>
            </a:pPr>
            <a:r>
              <a:rPr lang="en-US"/>
              <a:t>VFS objects are implemented simply as C data structures.</a:t>
            </a:r>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9" name="Shape 1389"/>
        <p:cNvGrpSpPr/>
        <p:nvPr/>
      </p:nvGrpSpPr>
      <p:grpSpPr>
        <a:xfrm>
          <a:off x="0" y="0"/>
          <a:ext cx="0" cy="0"/>
          <a:chOff x="0" y="0"/>
          <a:chExt cx="0" cy="0"/>
        </a:xfrm>
      </p:grpSpPr>
      <p:sp>
        <p:nvSpPr>
          <p:cNvPr id="1390" name="Google Shape;1390;p128"/>
          <p:cNvSpPr txBox="1"/>
          <p:nvPr>
            <p:ph type="title"/>
          </p:nvPr>
        </p:nvSpPr>
        <p:spPr>
          <a:xfrm>
            <a:off x="0" y="455613"/>
            <a:ext cx="9144000" cy="1144587"/>
          </a:xfrm>
          <a:prstGeom prst="rect">
            <a:avLst/>
          </a:prstGeom>
          <a:noFill/>
          <a:ln>
            <a:noFill/>
          </a:ln>
        </p:spPr>
        <p:txBody>
          <a:bodyPr anchorCtr="0" anchor="b" bIns="0" lIns="91425" spcFirstLastPara="1" rIns="91425" wrap="square" tIns="0">
            <a:noAutofit/>
          </a:bodyPr>
          <a:lstStyle/>
          <a:p>
            <a:pPr indent="0" lvl="0" marL="0" rtl="0" algn="ctr">
              <a:lnSpc>
                <a:spcPct val="112500"/>
              </a:lnSpc>
              <a:spcBef>
                <a:spcPts val="0"/>
              </a:spcBef>
              <a:spcAft>
                <a:spcPts val="0"/>
              </a:spcAft>
              <a:buNone/>
            </a:pPr>
            <a:r>
              <a:rPr lang="en-US" sz="4800"/>
              <a:t>Primary Object Types in VFS</a:t>
            </a:r>
            <a:endParaRPr sz="4800"/>
          </a:p>
        </p:txBody>
      </p:sp>
      <p:sp>
        <p:nvSpPr>
          <p:cNvPr id="1391" name="Google Shape;1391;p128"/>
          <p:cNvSpPr/>
          <p:nvPr/>
        </p:nvSpPr>
        <p:spPr>
          <a:xfrm>
            <a:off x="5410200" y="2209800"/>
            <a:ext cx="3048000" cy="1828800"/>
          </a:xfrm>
          <a:prstGeom prst="rect">
            <a:avLst/>
          </a:prstGeom>
          <a:solidFill>
            <a:srgbClr val="720000"/>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b="1" lang="en-US" sz="1800">
                <a:solidFill>
                  <a:schemeClr val="lt1"/>
                </a:solidFill>
                <a:latin typeface="Arial"/>
                <a:ea typeface="Arial"/>
                <a:cs typeface="Arial"/>
                <a:sym typeface="Arial"/>
              </a:rPr>
              <a:t>Dentry Object</a:t>
            </a:r>
            <a:endParaRPr sz="1800">
              <a:solidFill>
                <a:schemeClr val="lt1"/>
              </a:solidFill>
              <a:latin typeface="Arial"/>
              <a:ea typeface="Arial"/>
              <a:cs typeface="Arial"/>
              <a:sym typeface="Arial"/>
            </a:endParaRPr>
          </a:p>
          <a:p>
            <a:pPr indent="-114300" lvl="1" marL="114300" marR="0" rtl="0" algn="l">
              <a:lnSpc>
                <a:spcPct val="75000"/>
              </a:lnSpc>
              <a:spcBef>
                <a:spcPts val="36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represents a specific directory entry</a:t>
            </a:r>
            <a:endParaRPr b="0" i="0" sz="1800" u="none" cap="none" strike="noStrike">
              <a:solidFill>
                <a:schemeClr val="lt1"/>
              </a:solidFill>
              <a:latin typeface="Arial"/>
              <a:ea typeface="Arial"/>
              <a:cs typeface="Arial"/>
              <a:sym typeface="Arial"/>
            </a:endParaRPr>
          </a:p>
        </p:txBody>
      </p:sp>
      <p:sp>
        <p:nvSpPr>
          <p:cNvPr id="1392" name="Google Shape;1392;p128"/>
          <p:cNvSpPr/>
          <p:nvPr/>
        </p:nvSpPr>
        <p:spPr>
          <a:xfrm>
            <a:off x="5410200" y="4572000"/>
            <a:ext cx="3048000" cy="1828800"/>
          </a:xfrm>
          <a:prstGeom prst="rect">
            <a:avLst/>
          </a:prstGeom>
          <a:solidFill>
            <a:srgbClr val="720000"/>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b="1" lang="en-US" sz="1800">
                <a:solidFill>
                  <a:schemeClr val="lt1"/>
                </a:solidFill>
                <a:latin typeface="Arial"/>
                <a:ea typeface="Arial"/>
                <a:cs typeface="Arial"/>
                <a:sym typeface="Arial"/>
              </a:rPr>
              <a:t>File Object</a:t>
            </a:r>
            <a:endParaRPr sz="1800">
              <a:solidFill>
                <a:schemeClr val="lt1"/>
              </a:solidFill>
              <a:latin typeface="Arial"/>
              <a:ea typeface="Arial"/>
              <a:cs typeface="Arial"/>
              <a:sym typeface="Arial"/>
            </a:endParaRPr>
          </a:p>
          <a:p>
            <a:pPr indent="-114300" lvl="1" marL="114300" marR="0" rtl="0" algn="l">
              <a:lnSpc>
                <a:spcPct val="75000"/>
              </a:lnSpc>
              <a:spcBef>
                <a:spcPts val="36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represents an open file associated with a process</a:t>
            </a:r>
            <a:endParaRPr b="0" i="0" sz="1800" u="none" cap="none" strike="noStrike">
              <a:solidFill>
                <a:schemeClr val="lt1"/>
              </a:solidFill>
              <a:latin typeface="Arial"/>
              <a:ea typeface="Arial"/>
              <a:cs typeface="Arial"/>
              <a:sym typeface="Arial"/>
            </a:endParaRPr>
          </a:p>
        </p:txBody>
      </p:sp>
      <p:sp>
        <p:nvSpPr>
          <p:cNvPr id="1393" name="Google Shape;1393;p128"/>
          <p:cNvSpPr/>
          <p:nvPr/>
        </p:nvSpPr>
        <p:spPr>
          <a:xfrm>
            <a:off x="609600" y="2209800"/>
            <a:ext cx="3048000" cy="1828800"/>
          </a:xfrm>
          <a:prstGeom prst="rect">
            <a:avLst/>
          </a:prstGeom>
          <a:solidFill>
            <a:srgbClr val="720000"/>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b="1" lang="en-US" sz="1800">
                <a:solidFill>
                  <a:schemeClr val="lt1"/>
                </a:solidFill>
                <a:latin typeface="Arial"/>
                <a:ea typeface="Arial"/>
                <a:cs typeface="Arial"/>
                <a:sym typeface="Arial"/>
              </a:rPr>
              <a:t>Superblock Object</a:t>
            </a:r>
            <a:endParaRPr sz="1800">
              <a:solidFill>
                <a:schemeClr val="lt1"/>
              </a:solidFill>
              <a:latin typeface="Arial"/>
              <a:ea typeface="Arial"/>
              <a:cs typeface="Arial"/>
              <a:sym typeface="Arial"/>
            </a:endParaRPr>
          </a:p>
          <a:p>
            <a:pPr indent="-114300" lvl="1" marL="114300" marR="0" rtl="0" algn="l">
              <a:lnSpc>
                <a:spcPct val="75000"/>
              </a:lnSpc>
              <a:spcBef>
                <a:spcPts val="36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represents a specific mounted file system</a:t>
            </a:r>
            <a:endParaRPr b="0" i="0" sz="1800" u="none" cap="none" strike="noStrike">
              <a:solidFill>
                <a:schemeClr val="lt1"/>
              </a:solidFill>
              <a:latin typeface="Arial"/>
              <a:ea typeface="Arial"/>
              <a:cs typeface="Arial"/>
              <a:sym typeface="Arial"/>
            </a:endParaRPr>
          </a:p>
        </p:txBody>
      </p:sp>
      <p:sp>
        <p:nvSpPr>
          <p:cNvPr id="1394" name="Google Shape;1394;p128"/>
          <p:cNvSpPr/>
          <p:nvPr/>
        </p:nvSpPr>
        <p:spPr>
          <a:xfrm>
            <a:off x="990600" y="4572000"/>
            <a:ext cx="3048000" cy="1828800"/>
          </a:xfrm>
          <a:prstGeom prst="rect">
            <a:avLst/>
          </a:prstGeom>
          <a:solidFill>
            <a:srgbClr val="720000"/>
          </a:solidFill>
          <a:ln>
            <a:noFill/>
          </a:ln>
        </p:spPr>
        <p:txBody>
          <a:bodyPr anchorCtr="0" anchor="t" bIns="45700" lIns="91425" spcFirstLastPara="1" rIns="91425" wrap="square" tIns="45700">
            <a:noAutofit/>
          </a:bodyPr>
          <a:lstStyle/>
          <a:p>
            <a:pPr indent="0" lvl="0" marL="0" marR="0" rtl="0" algn="l">
              <a:lnSpc>
                <a:spcPct val="85000"/>
              </a:lnSpc>
              <a:spcBef>
                <a:spcPts val="0"/>
              </a:spcBef>
              <a:spcAft>
                <a:spcPts val="0"/>
              </a:spcAft>
              <a:buNone/>
            </a:pPr>
            <a:r>
              <a:rPr b="1" lang="en-US" sz="1800">
                <a:solidFill>
                  <a:schemeClr val="lt1"/>
                </a:solidFill>
                <a:latin typeface="Arial"/>
                <a:ea typeface="Arial"/>
                <a:cs typeface="Arial"/>
                <a:sym typeface="Arial"/>
              </a:rPr>
              <a:t>Inode Object</a:t>
            </a:r>
            <a:endParaRPr b="1" sz="1800">
              <a:solidFill>
                <a:schemeClr val="lt1"/>
              </a:solidFill>
              <a:latin typeface="Arial"/>
              <a:ea typeface="Arial"/>
              <a:cs typeface="Arial"/>
              <a:sym typeface="Arial"/>
            </a:endParaRPr>
          </a:p>
          <a:p>
            <a:pPr indent="-114300" lvl="1" marL="114300" marR="0" rtl="0" algn="l">
              <a:lnSpc>
                <a:spcPct val="75000"/>
              </a:lnSpc>
              <a:spcBef>
                <a:spcPts val="360"/>
              </a:spcBef>
              <a:spcAft>
                <a:spcPts val="0"/>
              </a:spcAft>
              <a:buClr>
                <a:schemeClr val="lt1"/>
              </a:buClr>
              <a:buSzPts val="1800"/>
              <a:buFont typeface="Arial"/>
              <a:buChar char="•"/>
            </a:pPr>
            <a:r>
              <a:rPr b="0" i="0" lang="en-US" sz="1800" u="none" cap="none" strike="noStrike">
                <a:solidFill>
                  <a:schemeClr val="lt1"/>
                </a:solidFill>
                <a:latin typeface="Arial"/>
                <a:ea typeface="Arial"/>
                <a:cs typeface="Arial"/>
                <a:sym typeface="Arial"/>
              </a:rPr>
              <a:t>represents a specific file</a:t>
            </a:r>
            <a:endParaRPr b="0" i="0" sz="1800" u="none" cap="none" strike="noStrike">
              <a:solidFill>
                <a:schemeClr val="lt1"/>
              </a:solidFill>
              <a:latin typeface="Arial"/>
              <a:ea typeface="Arial"/>
              <a:cs typeface="Arial"/>
              <a:sym typeface="Arial"/>
            </a:endParaRPr>
          </a:p>
        </p:txBody>
      </p:sp>
      <p:pic>
        <p:nvPicPr>
          <p:cNvPr id="1395" name="Google Shape;1395;p128"/>
          <p:cNvPicPr preferRelativeResize="0"/>
          <p:nvPr/>
        </p:nvPicPr>
        <p:blipFill rotWithShape="1">
          <a:blip r:embed="rId3">
            <a:alphaModFix/>
          </a:blip>
          <a:srcRect b="0" l="0" r="0" t="0"/>
          <a:stretch/>
        </p:blipFill>
        <p:spPr>
          <a:xfrm>
            <a:off x="3733800" y="3505200"/>
            <a:ext cx="1601788" cy="1612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dex">
  <a:themeElements>
    <a:clrScheme name="Codex">
      <a:dk1>
        <a:srgbClr val="000000"/>
      </a:dk1>
      <a:lt1>
        <a:srgbClr val="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2011-05-18T16:56:28Z</dcterms:created>
</cp:coreProperties>
</file>
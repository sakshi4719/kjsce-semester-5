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Lst>
  <p:sldSz cy="6858000" cx="9144000"/>
  <p:notesSz cx="6858000" cy="9144000"/>
  <p:embeddedFontLst>
    <p:embeddedFont>
      <p:font typeface="Helvetica Neue"/>
      <p:regular r:id="rId90"/>
      <p:bold r:id="rId91"/>
      <p:italic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4" roundtripDataSignature="AMtx7mjOGsyVZPQ2WKELV6gPrz0R+j0I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94" Type="http://customschemas.google.com/relationships/presentationmetadata" Target="metadata"/><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HelveticaNeue-bold.fntdata"/><Relationship Id="rId90" Type="http://schemas.openxmlformats.org/officeDocument/2006/relationships/font" Target="fonts/HelveticaNeue-regular.fntdata"/><Relationship Id="rId93" Type="http://schemas.openxmlformats.org/officeDocument/2006/relationships/font" Target="fonts/HelveticaNeue-boldItalic.fntdata"/><Relationship Id="rId92" Type="http://schemas.openxmlformats.org/officeDocument/2006/relationships/font" Target="fonts/HelveticaNeue-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82" name="Google Shape;28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92" name="Google Shape;29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02" name="Google Shape;30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13" name="Google Shape;31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33" name="Google Shape;33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43" name="Google Shape;34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53" name="Google Shape;35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64" name="Google Shape;36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94" name="Google Shape;39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04" name="Google Shape;40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15" name="Google Shape;41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26" name="Google Shape;42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37" name="Google Shape;43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48" name="Google Shape;44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58" name="Google Shape;45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68" name="Google Shape;46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88" name="Google Shape;48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98" name="Google Shape;49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08" name="Google Shape;50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18" name="Google Shape;51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29" name="Google Shape;52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40" name="Google Shape;54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51" name="Google Shape;55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61" name="Google Shape;56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71" name="Google Shape;57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90" name="Google Shape;59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00" name="Google Shape;60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10" name="Google Shape;61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20" name="Google Shape;62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39" name="Google Shape;63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49" name="Google Shape;64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86" name="Google Shape;686;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05" name="Google Shape;705;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15" name="Google Shape;715;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 name="Google Shape;716;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25" name="Google Shape;72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6" name="Google Shape;726;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76" name="Google Shape;77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7" name="Google Shape;777;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86" name="Google Shape;786;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7" name="Google Shape;787;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97" name="Google Shape;797;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8" name="Google Shape;798;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07" name="Google Shape;807;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17" name="Google Shape;81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8" name="Google Shape;818;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27" name="Google Shape;82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8" name="Google Shape;828;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37" name="Google Shape;837;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8" name="Google Shape;838;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47" name="Google Shape;847;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8" name="Google Shape;848;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57" name="Google Shape;857;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8" name="Google Shape;858;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67" name="Google Shape;867;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8" name="Google Shape;868;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77" name="Google Shape;87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7" name="Google Shape;887;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8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8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8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5" name="Google Shape;35;p8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8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8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9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9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9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9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9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9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9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9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9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9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9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4"/>
          <p:cNvSpPr/>
          <p:nvPr>
            <p:ph idx="2" type="pic"/>
          </p:nvPr>
        </p:nvSpPr>
        <p:spPr>
          <a:xfrm>
            <a:off x="1792288" y="612775"/>
            <a:ext cx="5486400" cy="4114800"/>
          </a:xfrm>
          <a:prstGeom prst="rect">
            <a:avLst/>
          </a:prstGeom>
          <a:noFill/>
          <a:ln>
            <a:noFill/>
          </a:ln>
        </p:spPr>
      </p:sp>
      <p:sp>
        <p:nvSpPr>
          <p:cNvPr id="68" name="Google Shape;68;p9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9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9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9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9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9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9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7.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Disk Scheduling</a:t>
            </a:r>
            <a:endParaRPr/>
          </a:p>
        </p:txBody>
      </p:sp>
      <p:sp>
        <p:nvSpPr>
          <p:cNvPr id="89" name="Google Shape;8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t/>
            </a:r>
            <a:endParaRPr/>
          </a:p>
        </p:txBody>
      </p:sp>
      <p:sp>
        <p:nvSpPr>
          <p:cNvPr id="90" name="Google Shape;90;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91" name="Google Shape;91;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2" name="Google Shape;92;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457200" y="168275"/>
            <a:ext cx="8229600"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Scheduling</a:t>
            </a:r>
            <a:endParaRPr/>
          </a:p>
        </p:txBody>
      </p:sp>
      <p:sp>
        <p:nvSpPr>
          <p:cNvPr id="99" name="Google Shape;99;p2"/>
          <p:cNvSpPr txBox="1"/>
          <p:nvPr>
            <p:ph idx="1" type="body"/>
          </p:nvPr>
        </p:nvSpPr>
        <p:spPr>
          <a:xfrm>
            <a:off x="889000" y="1123950"/>
            <a:ext cx="6945313" cy="514667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 operating system is responsible for using hardware efficiently — </a:t>
            </a:r>
            <a:endParaRPr/>
          </a:p>
          <a:p>
            <a:pPr indent="-342900" lvl="0" marL="342900" rtl="0" algn="l">
              <a:spcBef>
                <a:spcPts val="480"/>
              </a:spcBef>
              <a:spcAft>
                <a:spcPts val="0"/>
              </a:spcAft>
              <a:buClr>
                <a:schemeClr val="dk1"/>
              </a:buClr>
              <a:buSzPts val="2400"/>
              <a:buChar char="•"/>
            </a:pPr>
            <a:r>
              <a:rPr lang="en-US" sz="2400"/>
              <a:t>for the disk drives, this means having </a:t>
            </a:r>
            <a:r>
              <a:rPr b="1" lang="en-US" sz="2400">
                <a:solidFill>
                  <a:srgbClr val="0070C0"/>
                </a:solidFill>
              </a:rPr>
              <a:t>a fast access time and disk bandwidth</a:t>
            </a:r>
            <a:endParaRPr b="1" sz="500">
              <a:solidFill>
                <a:srgbClr val="0070C0"/>
              </a:solidFill>
            </a:endParaRPr>
          </a:p>
          <a:p>
            <a:pPr indent="-342900" lvl="0" marL="342900" rtl="0" algn="l">
              <a:spcBef>
                <a:spcPts val="480"/>
              </a:spcBef>
              <a:spcAft>
                <a:spcPts val="0"/>
              </a:spcAft>
              <a:buClr>
                <a:schemeClr val="dk1"/>
              </a:buClr>
              <a:buSzPts val="2400"/>
              <a:buChar char="•"/>
            </a:pPr>
            <a:r>
              <a:rPr lang="en-US" sz="2400"/>
              <a:t>Minimize seek time</a:t>
            </a:r>
            <a:endParaRPr sz="500"/>
          </a:p>
          <a:p>
            <a:pPr indent="-342900" lvl="0" marL="342900" rtl="0" algn="l">
              <a:spcBef>
                <a:spcPts val="480"/>
              </a:spcBef>
              <a:spcAft>
                <a:spcPts val="0"/>
              </a:spcAft>
              <a:buClr>
                <a:schemeClr val="dk1"/>
              </a:buClr>
              <a:buSzPts val="2400"/>
              <a:buChar char="•"/>
            </a:pPr>
            <a:r>
              <a:rPr lang="en-US" sz="2400"/>
              <a:t>Seek time ≈ seek distance</a:t>
            </a:r>
            <a:endParaRPr sz="500"/>
          </a:p>
        </p:txBody>
      </p:sp>
      <p:sp>
        <p:nvSpPr>
          <p:cNvPr id="100" name="Google Shape;100;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01" name="Google Shape;101;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02" name="Google Shape;102;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b="1" lang="en-US" sz="4000"/>
              <a:t>Disk scheduling</a:t>
            </a:r>
            <a:endParaRPr sz="4000"/>
          </a:p>
        </p:txBody>
      </p:sp>
      <p:sp>
        <p:nvSpPr>
          <p:cNvPr id="108" name="Google Shape;108;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Done by operating systems to schedule I/O requests arriving for the disk. </a:t>
            </a:r>
            <a:endParaRPr sz="2400"/>
          </a:p>
          <a:p>
            <a:pPr indent="-139700" lvl="0" marL="342900" rtl="0" algn="l">
              <a:spcBef>
                <a:spcPts val="640"/>
              </a:spcBef>
              <a:spcAft>
                <a:spcPts val="0"/>
              </a:spcAft>
              <a:buClr>
                <a:schemeClr val="dk1"/>
              </a:buClr>
              <a:buSzPts val="3200"/>
              <a:buNone/>
            </a:pPr>
            <a:r>
              <a:t/>
            </a:r>
            <a:endParaRPr/>
          </a:p>
        </p:txBody>
      </p:sp>
      <p:sp>
        <p:nvSpPr>
          <p:cNvPr id="109" name="Google Shape;109;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10" name="Google Shape;110;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11" name="Google Shape;111;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Hard Disk</a:t>
            </a:r>
            <a:endParaRPr/>
          </a:p>
        </p:txBody>
      </p:sp>
      <p:sp>
        <p:nvSpPr>
          <p:cNvPr id="117" name="Google Shape;11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hard disk or fixed disk</a:t>
            </a:r>
            <a:endParaRPr/>
          </a:p>
          <a:p>
            <a:pPr indent="-342900" lvl="0" marL="342900" rtl="0" algn="l">
              <a:spcBef>
                <a:spcPts val="480"/>
              </a:spcBef>
              <a:spcAft>
                <a:spcPts val="0"/>
              </a:spcAft>
              <a:buClr>
                <a:schemeClr val="dk1"/>
              </a:buClr>
              <a:buSzPts val="2400"/>
              <a:buChar char="•"/>
            </a:pPr>
            <a:r>
              <a:rPr lang="en-US" sz="2400"/>
              <a:t>Is an electro-mechanical data storage device that stores and retrieves digital data using magnetic storage and one or more rigid rapidly rotating platters coated with magnetic material. </a:t>
            </a:r>
            <a:endParaRPr sz="2400"/>
          </a:p>
          <a:p>
            <a:pPr indent="-342900" lvl="0" marL="342900" rtl="0" algn="l">
              <a:spcBef>
                <a:spcPts val="480"/>
              </a:spcBef>
              <a:spcAft>
                <a:spcPts val="0"/>
              </a:spcAft>
              <a:buClr>
                <a:schemeClr val="dk1"/>
              </a:buClr>
              <a:buSzPts val="2400"/>
              <a:buChar char="•"/>
            </a:pPr>
            <a:r>
              <a:rPr lang="en-US" sz="2400"/>
              <a:t>The platters are paired with magnetic heads, usually arranged on a moving actuator arm, which read and write data to the platter surfaces.</a:t>
            </a:r>
            <a:endParaRPr/>
          </a:p>
          <a:p>
            <a:pPr indent="-342900" lvl="0" marL="342900" rtl="0" algn="l">
              <a:spcBef>
                <a:spcPts val="480"/>
              </a:spcBef>
              <a:spcAft>
                <a:spcPts val="0"/>
              </a:spcAft>
              <a:buClr>
                <a:schemeClr val="dk1"/>
              </a:buClr>
              <a:buSzPts val="2400"/>
              <a:buChar char="•"/>
            </a:pPr>
            <a:r>
              <a:rPr lang="en-US" sz="2400"/>
              <a:t>Data is accessed in a random-access manner, individual blocks of data can be stored and retrieved in any order.</a:t>
            </a:r>
            <a:endParaRPr/>
          </a:p>
        </p:txBody>
      </p:sp>
      <p:sp>
        <p:nvSpPr>
          <p:cNvPr id="118" name="Google Shape;11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19" name="Google Shape;11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0" name="Google Shape;12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Important?</a:t>
            </a:r>
            <a:endParaRPr/>
          </a:p>
        </p:txBody>
      </p:sp>
      <p:sp>
        <p:nvSpPr>
          <p:cNvPr id="126" name="Google Shape;126;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sz="2400"/>
              <a:t>Important because:</a:t>
            </a:r>
            <a:endParaRPr/>
          </a:p>
          <a:p>
            <a:pPr indent="-457200" lvl="0" marL="457200" rtl="0" algn="l">
              <a:spcBef>
                <a:spcPts val="480"/>
              </a:spcBef>
              <a:spcAft>
                <a:spcPts val="0"/>
              </a:spcAft>
              <a:buClr>
                <a:schemeClr val="dk1"/>
              </a:buClr>
              <a:buSzPts val="2400"/>
              <a:buFont typeface="Calibri"/>
              <a:buAutoNum type="arabicParenR"/>
            </a:pPr>
            <a:r>
              <a:rPr lang="en-US" sz="2400"/>
              <a:t>Multiple I/O requests may arrive by different processes and </a:t>
            </a:r>
            <a:r>
              <a:rPr lang="en-US" sz="2400">
                <a:solidFill>
                  <a:srgbClr val="0070C0"/>
                </a:solidFill>
              </a:rPr>
              <a:t>only one I/O request can be served at a time </a:t>
            </a:r>
            <a:r>
              <a:rPr lang="en-US" sz="2400"/>
              <a:t>by the disk controller. </a:t>
            </a:r>
            <a:endParaRPr/>
          </a:p>
          <a:p>
            <a:pPr indent="-285750" lvl="1" marL="742950" rtl="0" algn="l">
              <a:spcBef>
                <a:spcPts val="480"/>
              </a:spcBef>
              <a:spcAft>
                <a:spcPts val="0"/>
              </a:spcAft>
              <a:buClr>
                <a:schemeClr val="dk1"/>
              </a:buClr>
              <a:buSzPts val="2400"/>
              <a:buChar char="–"/>
            </a:pPr>
            <a:r>
              <a:rPr lang="en-US" sz="2400"/>
              <a:t>Thus other I/O requests need to </a:t>
            </a:r>
            <a:r>
              <a:rPr lang="en-US" sz="2400">
                <a:solidFill>
                  <a:srgbClr val="0070C0"/>
                </a:solidFill>
              </a:rPr>
              <a:t>wait in the waiting queue</a:t>
            </a:r>
            <a:r>
              <a:rPr lang="en-US" sz="2400"/>
              <a:t> and need to be </a:t>
            </a:r>
            <a:r>
              <a:rPr lang="en-US" sz="2400">
                <a:solidFill>
                  <a:srgbClr val="0070C0"/>
                </a:solidFill>
              </a:rPr>
              <a:t>scheduled.</a:t>
            </a:r>
            <a:endParaRPr/>
          </a:p>
          <a:p>
            <a:pPr indent="-457200" lvl="0" marL="457200" rtl="0" algn="l">
              <a:spcBef>
                <a:spcPts val="480"/>
              </a:spcBef>
              <a:spcAft>
                <a:spcPts val="0"/>
              </a:spcAft>
              <a:buClr>
                <a:srgbClr val="0070C0"/>
              </a:buClr>
              <a:buSzPts val="2400"/>
              <a:buFont typeface="Calibri"/>
              <a:buAutoNum type="arabicParenR"/>
            </a:pPr>
            <a:r>
              <a:rPr lang="en-US" sz="2400">
                <a:solidFill>
                  <a:srgbClr val="0070C0"/>
                </a:solidFill>
              </a:rPr>
              <a:t>Two or more request may be far from each other </a:t>
            </a:r>
            <a:r>
              <a:rPr lang="en-US" sz="2400"/>
              <a:t>so can result in greater disk arm movement.</a:t>
            </a:r>
            <a:endParaRPr/>
          </a:p>
          <a:p>
            <a:pPr indent="-457200" lvl="0" marL="457200" rtl="0" algn="l">
              <a:spcBef>
                <a:spcPts val="480"/>
              </a:spcBef>
              <a:spcAft>
                <a:spcPts val="0"/>
              </a:spcAft>
              <a:buClr>
                <a:schemeClr val="dk1"/>
              </a:buClr>
              <a:buSzPts val="2400"/>
              <a:buFont typeface="Calibri"/>
              <a:buAutoNum type="arabicParenR"/>
            </a:pPr>
            <a:r>
              <a:rPr lang="en-US" sz="2400"/>
              <a:t>Hard drives are one of the </a:t>
            </a:r>
            <a:r>
              <a:rPr lang="en-US" sz="2400">
                <a:solidFill>
                  <a:srgbClr val="0070C0"/>
                </a:solidFill>
              </a:rPr>
              <a:t>slowest parts</a:t>
            </a:r>
            <a:r>
              <a:rPr lang="en-US" sz="2400"/>
              <a:t> of the computer system and thus </a:t>
            </a:r>
            <a:r>
              <a:rPr lang="en-US" sz="2400">
                <a:solidFill>
                  <a:srgbClr val="0070C0"/>
                </a:solidFill>
              </a:rPr>
              <a:t>need to be accessed in an efficient </a:t>
            </a:r>
            <a:r>
              <a:rPr lang="en-US" sz="2400"/>
              <a:t>manner.</a:t>
            </a:r>
            <a:endParaRPr/>
          </a:p>
          <a:p>
            <a:pPr indent="-304800" lvl="0" marL="457200" rtl="0" algn="l">
              <a:spcBef>
                <a:spcPts val="480"/>
              </a:spcBef>
              <a:spcAft>
                <a:spcPts val="0"/>
              </a:spcAft>
              <a:buClr>
                <a:schemeClr val="dk1"/>
              </a:buClr>
              <a:buSzPts val="2400"/>
              <a:buFont typeface="Calibri"/>
              <a:buNone/>
            </a:pPr>
            <a:r>
              <a:t/>
            </a:r>
            <a:endParaRPr sz="2400"/>
          </a:p>
        </p:txBody>
      </p:sp>
      <p:sp>
        <p:nvSpPr>
          <p:cNvPr id="127" name="Google Shape;12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28" name="Google Shape;12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29" name="Google Shape;12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important terms:</a:t>
            </a:r>
            <a:endParaRPr/>
          </a:p>
        </p:txBody>
      </p:sp>
      <p:sp>
        <p:nvSpPr>
          <p:cNvPr id="135" name="Google Shape;135;p6"/>
          <p:cNvSpPr txBox="1"/>
          <p:nvPr>
            <p:ph idx="1" type="body"/>
          </p:nvPr>
        </p:nvSpPr>
        <p:spPr>
          <a:xfrm>
            <a:off x="228600" y="1508918"/>
            <a:ext cx="41910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u="sng"/>
              <a:t>Seek Time</a:t>
            </a:r>
            <a:r>
              <a:rPr b="1" lang="en-US" sz="2400"/>
              <a:t>:</a:t>
            </a:r>
            <a:endParaRPr/>
          </a:p>
          <a:p>
            <a:pPr indent="-342900" lvl="0" marL="342900" rtl="0" algn="l">
              <a:spcBef>
                <a:spcPts val="480"/>
              </a:spcBef>
              <a:spcAft>
                <a:spcPts val="0"/>
              </a:spcAft>
              <a:buClr>
                <a:schemeClr val="dk1"/>
              </a:buClr>
              <a:buSzPts val="2400"/>
              <a:buChar char="•"/>
            </a:pPr>
            <a:r>
              <a:rPr lang="en-US" sz="2400"/>
              <a:t>Seek time is the time taken to </a:t>
            </a:r>
            <a:r>
              <a:rPr lang="en-US" sz="2400">
                <a:solidFill>
                  <a:srgbClr val="0070C0"/>
                </a:solidFill>
              </a:rPr>
              <a:t>move the disk arm to a specified track containing the desired sector </a:t>
            </a:r>
            <a:r>
              <a:rPr lang="en-US" sz="2400"/>
              <a:t>where the data is to be read or written. </a:t>
            </a:r>
            <a:endParaRPr/>
          </a:p>
          <a:p>
            <a:pPr indent="-342900" lvl="0" marL="342900" rtl="0" algn="l">
              <a:spcBef>
                <a:spcPts val="480"/>
              </a:spcBef>
              <a:spcAft>
                <a:spcPts val="0"/>
              </a:spcAft>
              <a:buClr>
                <a:schemeClr val="dk1"/>
              </a:buClr>
              <a:buSzPts val="2400"/>
              <a:buChar char="•"/>
            </a:pPr>
            <a:r>
              <a:rPr lang="en-US" sz="2400"/>
              <a:t>So the disk scheduling algorithm that </a:t>
            </a:r>
            <a:r>
              <a:rPr lang="en-US" sz="2400">
                <a:solidFill>
                  <a:srgbClr val="0070C0"/>
                </a:solidFill>
              </a:rPr>
              <a:t>gives minimum average seek time is better.</a:t>
            </a:r>
            <a:r>
              <a:rPr b="1" lang="en-US" sz="2400" u="sng">
                <a:solidFill>
                  <a:srgbClr val="0070C0"/>
                </a:solidFill>
              </a:rPr>
              <a:t> </a:t>
            </a:r>
            <a:endParaRPr sz="2400">
              <a:solidFill>
                <a:srgbClr val="0070C0"/>
              </a:solidFill>
            </a:endParaRPr>
          </a:p>
        </p:txBody>
      </p:sp>
      <p:sp>
        <p:nvSpPr>
          <p:cNvPr id="136" name="Google Shape;13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37" name="Google Shape;13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38" name="Google Shape;13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9" name="Google Shape;139;p6"/>
          <p:cNvPicPr preferRelativeResize="0"/>
          <p:nvPr/>
        </p:nvPicPr>
        <p:blipFill rotWithShape="1">
          <a:blip r:embed="rId3">
            <a:alphaModFix/>
          </a:blip>
          <a:srcRect b="0" l="0" r="0" t="0"/>
          <a:stretch/>
        </p:blipFill>
        <p:spPr>
          <a:xfrm>
            <a:off x="4876800" y="1676400"/>
            <a:ext cx="4114800" cy="4191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important terms:</a:t>
            </a:r>
            <a:endParaRPr/>
          </a:p>
        </p:txBody>
      </p:sp>
      <p:sp>
        <p:nvSpPr>
          <p:cNvPr id="145" name="Google Shape;145;p7"/>
          <p:cNvSpPr txBox="1"/>
          <p:nvPr>
            <p:ph idx="1" type="body"/>
          </p:nvPr>
        </p:nvSpPr>
        <p:spPr>
          <a:xfrm>
            <a:off x="228600" y="1508918"/>
            <a:ext cx="41910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u="sng"/>
              <a:t>Rotational Latency:</a:t>
            </a:r>
            <a:r>
              <a:rPr lang="en-US" sz="2400"/>
              <a:t> </a:t>
            </a:r>
            <a:endParaRPr/>
          </a:p>
          <a:p>
            <a:pPr indent="-342900" lvl="0" marL="342900" rtl="0" algn="l">
              <a:spcBef>
                <a:spcPts val="480"/>
              </a:spcBef>
              <a:spcAft>
                <a:spcPts val="0"/>
              </a:spcAft>
              <a:buClr>
                <a:schemeClr val="dk1"/>
              </a:buClr>
              <a:buSzPts val="2400"/>
              <a:buChar char="•"/>
            </a:pPr>
            <a:r>
              <a:rPr lang="en-US" sz="2400"/>
              <a:t>Rotational Latency is the time taken by the </a:t>
            </a:r>
            <a:r>
              <a:rPr lang="en-US" sz="2400">
                <a:solidFill>
                  <a:srgbClr val="0070C0"/>
                </a:solidFill>
              </a:rPr>
              <a:t>desired sector of disk to rotate to the disk head</a:t>
            </a:r>
            <a:r>
              <a:rPr lang="en-US" sz="2400"/>
              <a:t>, i.e. into a position so that it can access the read/write heads. </a:t>
            </a:r>
            <a:endParaRPr sz="2400"/>
          </a:p>
          <a:p>
            <a:pPr indent="-342900" lvl="0" marL="342900" rtl="0" algn="l">
              <a:spcBef>
                <a:spcPts val="480"/>
              </a:spcBef>
              <a:spcAft>
                <a:spcPts val="0"/>
              </a:spcAft>
              <a:buClr>
                <a:schemeClr val="dk1"/>
              </a:buClr>
              <a:buSzPts val="2400"/>
              <a:buChar char="•"/>
            </a:pPr>
            <a:r>
              <a:rPr lang="en-US" sz="2400"/>
              <a:t>So the disk scheduling algorithm that </a:t>
            </a:r>
            <a:r>
              <a:rPr lang="en-US" sz="2400">
                <a:solidFill>
                  <a:srgbClr val="0070C0"/>
                </a:solidFill>
              </a:rPr>
              <a:t>gives minimum rotational latency is better</a:t>
            </a:r>
            <a:endParaRPr/>
          </a:p>
        </p:txBody>
      </p:sp>
      <p:sp>
        <p:nvSpPr>
          <p:cNvPr id="146" name="Google Shape;1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47" name="Google Shape;1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48" name="Google Shape;1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9" name="Google Shape;149;p7"/>
          <p:cNvPicPr preferRelativeResize="0"/>
          <p:nvPr/>
        </p:nvPicPr>
        <p:blipFill rotWithShape="1">
          <a:blip r:embed="rId3">
            <a:alphaModFix/>
          </a:blip>
          <a:srcRect b="0" l="0" r="0" t="0"/>
          <a:stretch/>
        </p:blipFill>
        <p:spPr>
          <a:xfrm>
            <a:off x="4876800" y="1676400"/>
            <a:ext cx="4114800" cy="4191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important terms:</a:t>
            </a:r>
            <a:endParaRPr/>
          </a:p>
        </p:txBody>
      </p:sp>
      <p:sp>
        <p:nvSpPr>
          <p:cNvPr id="155" name="Google Shape;155;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u="sng"/>
              <a:t>Disk</a:t>
            </a:r>
            <a:r>
              <a:rPr lang="en-US" sz="2400" u="sng"/>
              <a:t> </a:t>
            </a:r>
            <a:r>
              <a:rPr b="1" lang="en-US" sz="2400" u="sng"/>
              <a:t>bandwidth:</a:t>
            </a:r>
            <a:endParaRPr/>
          </a:p>
          <a:p>
            <a:pPr indent="-342900" lvl="0" marL="342900" rtl="0" algn="l">
              <a:spcBef>
                <a:spcPts val="480"/>
              </a:spcBef>
              <a:spcAft>
                <a:spcPts val="0"/>
              </a:spcAft>
              <a:buClr>
                <a:srgbClr val="3366FF"/>
              </a:buClr>
              <a:buSzPts val="2400"/>
              <a:buChar char="•"/>
            </a:pPr>
            <a:r>
              <a:rPr lang="en-US" sz="2400">
                <a:solidFill>
                  <a:srgbClr val="3366FF"/>
                </a:solidFill>
              </a:rPr>
              <a:t> </a:t>
            </a:r>
            <a:r>
              <a:rPr lang="en-US" sz="2400"/>
              <a:t>is the total number of bytes transferred, divided by the total time between the first request for service and the completion of the last transfer</a:t>
            </a:r>
            <a:endParaRPr sz="2400"/>
          </a:p>
          <a:p>
            <a:pPr indent="-190500" lvl="0" marL="342900" rtl="0" algn="l">
              <a:spcBef>
                <a:spcPts val="480"/>
              </a:spcBef>
              <a:spcAft>
                <a:spcPts val="0"/>
              </a:spcAft>
              <a:buClr>
                <a:schemeClr val="dk1"/>
              </a:buClr>
              <a:buSzPts val="2400"/>
              <a:buNone/>
            </a:pPr>
            <a:r>
              <a:t/>
            </a:r>
            <a:endParaRPr sz="2400"/>
          </a:p>
        </p:txBody>
      </p:sp>
      <p:sp>
        <p:nvSpPr>
          <p:cNvPr id="156" name="Google Shape;15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57" name="Google Shape;15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58" name="Google Shape;15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64" name="Google Shape;164;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sp>
        <p:nvSpPr>
          <p:cNvPr id="165" name="Google Shape;165;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66" name="Google Shape;166;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67" name="Google Shape;167;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8" name="Google Shape;168;p9"/>
          <p:cNvPicPr preferRelativeResize="0"/>
          <p:nvPr/>
        </p:nvPicPr>
        <p:blipFill rotWithShape="1">
          <a:blip r:embed="rId3">
            <a:alphaModFix/>
          </a:blip>
          <a:srcRect b="0" l="0" r="0" t="0"/>
          <a:stretch/>
        </p:blipFill>
        <p:spPr>
          <a:xfrm>
            <a:off x="533400" y="1600200"/>
            <a:ext cx="8153400" cy="449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74" name="Google Shape;17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75" name="Google Shape;17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76" name="Google Shape;17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7" name="Google Shape;177;p10"/>
          <p:cNvPicPr preferRelativeResize="0"/>
          <p:nvPr>
            <p:ph idx="1" type="body"/>
          </p:nvPr>
        </p:nvPicPr>
        <p:blipFill rotWithShape="1">
          <a:blip r:embed="rId3">
            <a:alphaModFix/>
          </a:blip>
          <a:srcRect b="0" l="0" r="0" t="0"/>
          <a:stretch/>
        </p:blipFill>
        <p:spPr>
          <a:xfrm>
            <a:off x="533400" y="1676400"/>
            <a:ext cx="7924799" cy="4419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3" name="Google Shape;183;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84" name="Google Shape;184;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85" name="Google Shape;185;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6" name="Google Shape;186;p11"/>
          <p:cNvPicPr preferRelativeResize="0"/>
          <p:nvPr>
            <p:ph idx="1" type="body"/>
          </p:nvPr>
        </p:nvPicPr>
        <p:blipFill rotWithShape="1">
          <a:blip r:embed="rId3">
            <a:alphaModFix/>
          </a:blip>
          <a:srcRect b="0" l="0" r="0" t="0"/>
          <a:stretch/>
        </p:blipFill>
        <p:spPr>
          <a:xfrm>
            <a:off x="457200" y="1828800"/>
            <a:ext cx="8153400" cy="41632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92" name="Google Shape;19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193" name="Google Shape;19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194" name="Google Shape;19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5" name="Google Shape;195;p12"/>
          <p:cNvPicPr preferRelativeResize="0"/>
          <p:nvPr>
            <p:ph idx="1" type="body"/>
          </p:nvPr>
        </p:nvPicPr>
        <p:blipFill rotWithShape="1">
          <a:blip r:embed="rId3">
            <a:alphaModFix/>
          </a:blip>
          <a:srcRect b="0" l="0" r="0" t="0"/>
          <a:stretch/>
        </p:blipFill>
        <p:spPr>
          <a:xfrm>
            <a:off x="533400" y="1676400"/>
            <a:ext cx="8001000" cy="420131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1" name="Google Shape;20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02" name="Google Shape;20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03" name="Google Shape;20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4" name="Google Shape;204;p13"/>
          <p:cNvPicPr preferRelativeResize="0"/>
          <p:nvPr>
            <p:ph idx="1" type="body"/>
          </p:nvPr>
        </p:nvPicPr>
        <p:blipFill rotWithShape="1">
          <a:blip r:embed="rId3">
            <a:alphaModFix/>
          </a:blip>
          <a:srcRect b="0" l="0" r="0" t="0"/>
          <a:stretch/>
        </p:blipFill>
        <p:spPr>
          <a:xfrm>
            <a:off x="533400" y="1752600"/>
            <a:ext cx="8153400" cy="422989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10" name="Google Shape;210;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11" name="Google Shape;211;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2" name="Google Shape;212;p14"/>
          <p:cNvPicPr preferRelativeResize="0"/>
          <p:nvPr>
            <p:ph idx="1" type="body"/>
          </p:nvPr>
        </p:nvPicPr>
        <p:blipFill rotWithShape="1">
          <a:blip r:embed="rId3">
            <a:alphaModFix/>
          </a:blip>
          <a:srcRect b="0" l="0" r="0" t="0"/>
          <a:stretch/>
        </p:blipFill>
        <p:spPr>
          <a:xfrm>
            <a:off x="838200" y="1143000"/>
            <a:ext cx="6943725" cy="4615656"/>
          </a:xfrm>
          <a:prstGeom prst="rect">
            <a:avLst/>
          </a:prstGeom>
          <a:noFill/>
          <a:ln>
            <a:noFill/>
          </a:ln>
        </p:spPr>
      </p:pic>
      <p:sp>
        <p:nvSpPr>
          <p:cNvPr id="213" name="Google Shape;213;p14"/>
          <p:cNvSpPr/>
          <p:nvPr/>
        </p:nvSpPr>
        <p:spPr>
          <a:xfrm>
            <a:off x="381000" y="6019800"/>
            <a:ext cx="76962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Courtesy-https://www.cs.cmu.edu/~410-s14/lectures/L27_Disks1.pdf</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19" name="Google Shape;2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20" name="Google Shape;2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1" name="Google Shape;221;p15"/>
          <p:cNvPicPr preferRelativeResize="0"/>
          <p:nvPr>
            <p:ph idx="1" type="body"/>
          </p:nvPr>
        </p:nvPicPr>
        <p:blipFill rotWithShape="1">
          <a:blip r:embed="rId3">
            <a:alphaModFix/>
          </a:blip>
          <a:srcRect b="0" l="0" r="0" t="0"/>
          <a:stretch/>
        </p:blipFill>
        <p:spPr>
          <a:xfrm>
            <a:off x="685800" y="1600200"/>
            <a:ext cx="7696200" cy="4525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27" name="Google Shape;22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28" name="Google Shape;22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9" name="Google Shape;229;p16"/>
          <p:cNvPicPr preferRelativeResize="0"/>
          <p:nvPr/>
        </p:nvPicPr>
        <p:blipFill rotWithShape="1">
          <a:blip r:embed="rId3">
            <a:alphaModFix/>
          </a:blip>
          <a:srcRect b="73953" l="0" r="0" t="0"/>
          <a:stretch/>
        </p:blipFill>
        <p:spPr>
          <a:xfrm>
            <a:off x="838200" y="228600"/>
            <a:ext cx="7162799" cy="1398011"/>
          </a:xfrm>
          <a:prstGeom prst="rect">
            <a:avLst/>
          </a:prstGeom>
          <a:noFill/>
          <a:ln>
            <a:noFill/>
          </a:ln>
        </p:spPr>
      </p:pic>
      <p:pic>
        <p:nvPicPr>
          <p:cNvPr id="230" name="Google Shape;230;p16"/>
          <p:cNvPicPr preferRelativeResize="0"/>
          <p:nvPr/>
        </p:nvPicPr>
        <p:blipFill rotWithShape="1">
          <a:blip r:embed="rId4">
            <a:alphaModFix/>
          </a:blip>
          <a:srcRect b="0" l="0" r="0" t="0"/>
          <a:stretch/>
        </p:blipFill>
        <p:spPr>
          <a:xfrm>
            <a:off x="1524000" y="2047875"/>
            <a:ext cx="5334000" cy="3971925"/>
          </a:xfrm>
          <a:prstGeom prst="rect">
            <a:avLst/>
          </a:prstGeom>
          <a:noFill/>
          <a:ln>
            <a:noFill/>
          </a:ln>
        </p:spPr>
      </p:pic>
      <p:pic>
        <p:nvPicPr>
          <p:cNvPr id="231" name="Google Shape;231;p16"/>
          <p:cNvPicPr preferRelativeResize="0"/>
          <p:nvPr/>
        </p:nvPicPr>
        <p:blipFill rotWithShape="1">
          <a:blip r:embed="rId5">
            <a:alphaModFix/>
          </a:blip>
          <a:srcRect b="0" l="0" r="0" t="0"/>
          <a:stretch/>
        </p:blipFill>
        <p:spPr>
          <a:xfrm>
            <a:off x="332508" y="1721860"/>
            <a:ext cx="3133725" cy="809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37" name="Google Shape;23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38" name="Google Shape;23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9" name="Google Shape;239;p17"/>
          <p:cNvPicPr preferRelativeResize="0"/>
          <p:nvPr>
            <p:ph idx="1" type="body"/>
          </p:nvPr>
        </p:nvPicPr>
        <p:blipFill rotWithShape="1">
          <a:blip r:embed="rId3">
            <a:alphaModFix/>
          </a:blip>
          <a:srcRect b="0" l="0" r="0" t="0"/>
          <a:stretch/>
        </p:blipFill>
        <p:spPr>
          <a:xfrm>
            <a:off x="685800" y="1524000"/>
            <a:ext cx="7772400" cy="46021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important terms:</a:t>
            </a:r>
            <a:endParaRPr/>
          </a:p>
        </p:txBody>
      </p:sp>
      <p:sp>
        <p:nvSpPr>
          <p:cNvPr id="245" name="Google Shape;245;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US" sz="2400" u="sng"/>
              <a:t>Transfer Time:</a:t>
            </a:r>
            <a:r>
              <a:rPr lang="en-US" sz="2400"/>
              <a:t> Transfer time is the time to transfer the data. It depends on the rotating speed of the disk and number of bytes to be transferred.</a:t>
            </a:r>
            <a:endParaRPr/>
          </a:p>
          <a:p>
            <a:pPr indent="-190500" lvl="0" marL="342900" rtl="0" algn="l">
              <a:spcBef>
                <a:spcPts val="480"/>
              </a:spcBef>
              <a:spcAft>
                <a:spcPts val="0"/>
              </a:spcAft>
              <a:buClr>
                <a:schemeClr val="dk1"/>
              </a:buClr>
              <a:buSzPts val="2400"/>
              <a:buNone/>
            </a:pPr>
            <a:r>
              <a:t/>
            </a:r>
            <a:endParaRPr b="1" sz="2400" u="sng"/>
          </a:p>
          <a:p>
            <a:pPr indent="-342900" lvl="0" marL="342900" rtl="0" algn="l">
              <a:spcBef>
                <a:spcPts val="480"/>
              </a:spcBef>
              <a:spcAft>
                <a:spcPts val="0"/>
              </a:spcAft>
              <a:buClr>
                <a:schemeClr val="dk1"/>
              </a:buClr>
              <a:buSzPts val="2400"/>
              <a:buChar char="•"/>
            </a:pPr>
            <a:r>
              <a:rPr b="1" lang="en-US" sz="2400" u="sng"/>
              <a:t>Disk Access Time:</a:t>
            </a:r>
            <a:r>
              <a:rPr lang="en-US" sz="2400"/>
              <a:t> Disk Access Time is:</a:t>
            </a:r>
            <a:endParaRPr/>
          </a:p>
          <a:p>
            <a:pPr indent="0" lvl="0" marL="0" rtl="0" algn="l">
              <a:spcBef>
                <a:spcPts val="480"/>
              </a:spcBef>
              <a:spcAft>
                <a:spcPts val="0"/>
              </a:spcAft>
              <a:buClr>
                <a:srgbClr val="0070C0"/>
              </a:buClr>
              <a:buSzPts val="2400"/>
              <a:buNone/>
            </a:pPr>
            <a:r>
              <a:rPr lang="en-US" sz="2400">
                <a:solidFill>
                  <a:srgbClr val="0070C0"/>
                </a:solidFill>
              </a:rPr>
              <a:t>     </a:t>
            </a:r>
            <a:r>
              <a:rPr b="1" lang="en-US" sz="2400">
                <a:solidFill>
                  <a:srgbClr val="0070C0"/>
                </a:solidFill>
              </a:rPr>
              <a:t>Disk Access Time = Seek Time + Rotational Latency + Transfer Time</a:t>
            </a:r>
            <a:endParaRPr/>
          </a:p>
        </p:txBody>
      </p:sp>
      <p:sp>
        <p:nvSpPr>
          <p:cNvPr id="246" name="Google Shape;2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47" name="Google Shape;2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48" name="Google Shape;2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Disk Cylinder</a:t>
            </a:r>
            <a:endParaRPr/>
          </a:p>
        </p:txBody>
      </p:sp>
      <p:sp>
        <p:nvSpPr>
          <p:cNvPr id="254" name="Google Shape;254;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US" sz="2400" u="sng"/>
              <a:t>Matching track across surfaces are collectively called cylinder</a:t>
            </a:r>
            <a:endParaRPr b="1" sz="2400">
              <a:solidFill>
                <a:srgbClr val="0070C0"/>
              </a:solidFill>
            </a:endParaRPr>
          </a:p>
        </p:txBody>
      </p:sp>
      <p:sp>
        <p:nvSpPr>
          <p:cNvPr id="255" name="Google Shape;25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56" name="Google Shape;25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57" name="Google Shape;25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8" name="Google Shape;258;p19"/>
          <p:cNvPicPr preferRelativeResize="0"/>
          <p:nvPr/>
        </p:nvPicPr>
        <p:blipFill rotWithShape="1">
          <a:blip r:embed="rId3">
            <a:alphaModFix/>
          </a:blip>
          <a:srcRect b="0" l="0" r="0" t="0"/>
          <a:stretch/>
        </p:blipFill>
        <p:spPr>
          <a:xfrm>
            <a:off x="1295400" y="3401291"/>
            <a:ext cx="1724025" cy="942975"/>
          </a:xfrm>
          <a:prstGeom prst="rect">
            <a:avLst/>
          </a:prstGeom>
          <a:noFill/>
          <a:ln>
            <a:noFill/>
          </a:ln>
        </p:spPr>
      </p:pic>
      <p:pic>
        <p:nvPicPr>
          <p:cNvPr id="259" name="Google Shape;259;p19"/>
          <p:cNvPicPr preferRelativeResize="0"/>
          <p:nvPr/>
        </p:nvPicPr>
        <p:blipFill rotWithShape="1">
          <a:blip r:embed="rId4">
            <a:alphaModFix/>
          </a:blip>
          <a:srcRect b="0" l="0" r="0" t="0"/>
          <a:stretch/>
        </p:blipFill>
        <p:spPr>
          <a:xfrm>
            <a:off x="4038600" y="2743200"/>
            <a:ext cx="4162425" cy="2714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Disk Cylinder</a:t>
            </a:r>
            <a:endParaRPr/>
          </a:p>
        </p:txBody>
      </p:sp>
      <p:sp>
        <p:nvSpPr>
          <p:cNvPr id="265" name="Google Shape;265;p20"/>
          <p:cNvSpPr txBox="1"/>
          <p:nvPr>
            <p:ph idx="1" type="body"/>
          </p:nvPr>
        </p:nvSpPr>
        <p:spPr>
          <a:xfrm>
            <a:off x="381000" y="1600200"/>
            <a:ext cx="4800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US" sz="2400" u="sng"/>
              <a:t>Access within a cylinder is faster</a:t>
            </a:r>
            <a:endParaRPr/>
          </a:p>
          <a:p>
            <a:pPr indent="-342900" lvl="0" marL="342900" rtl="0" algn="l">
              <a:spcBef>
                <a:spcPts val="480"/>
              </a:spcBef>
              <a:spcAft>
                <a:spcPts val="0"/>
              </a:spcAft>
              <a:buClr>
                <a:srgbClr val="0070C0"/>
              </a:buClr>
              <a:buSzPts val="2400"/>
              <a:buChar char="•"/>
            </a:pPr>
            <a:r>
              <a:rPr b="1" lang="en-US" sz="2400" u="sng">
                <a:solidFill>
                  <a:srgbClr val="0070C0"/>
                </a:solidFill>
              </a:rPr>
              <a:t>Heads share one arm</a:t>
            </a:r>
            <a:endParaRPr/>
          </a:p>
          <a:p>
            <a:pPr indent="-285750" lvl="1" marL="742950" rtl="0" algn="l">
              <a:spcBef>
                <a:spcPts val="400"/>
              </a:spcBef>
              <a:spcAft>
                <a:spcPts val="0"/>
              </a:spcAft>
              <a:buClr>
                <a:srgbClr val="0070C0"/>
              </a:buClr>
              <a:buSzPts val="2000"/>
              <a:buChar char="–"/>
            </a:pPr>
            <a:r>
              <a:rPr b="1" lang="en-US" sz="2000" u="sng">
                <a:solidFill>
                  <a:srgbClr val="0070C0"/>
                </a:solidFill>
              </a:rPr>
              <a:t>All Heads always on same cylinder	</a:t>
            </a:r>
            <a:endParaRPr/>
          </a:p>
          <a:p>
            <a:pPr indent="-285750" lvl="1" marL="742950" rtl="0" algn="l">
              <a:spcBef>
                <a:spcPts val="400"/>
              </a:spcBef>
              <a:spcAft>
                <a:spcPts val="0"/>
              </a:spcAft>
              <a:buClr>
                <a:srgbClr val="0070C0"/>
              </a:buClr>
              <a:buSzPts val="2000"/>
              <a:buChar char="–"/>
            </a:pPr>
            <a:r>
              <a:rPr b="1" lang="en-US" sz="2000" u="sng">
                <a:solidFill>
                  <a:srgbClr val="0070C0"/>
                </a:solidFill>
              </a:rPr>
              <a:t>Active Head is aligned, others are closed</a:t>
            </a:r>
            <a:endParaRPr b="1" sz="2000">
              <a:solidFill>
                <a:srgbClr val="0070C0"/>
              </a:solidFill>
            </a:endParaRPr>
          </a:p>
        </p:txBody>
      </p:sp>
      <p:sp>
        <p:nvSpPr>
          <p:cNvPr id="266" name="Google Shape;26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67" name="Google Shape;26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68" name="Google Shape;26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9" name="Google Shape;269;p20"/>
          <p:cNvPicPr preferRelativeResize="0"/>
          <p:nvPr/>
        </p:nvPicPr>
        <p:blipFill rotWithShape="1">
          <a:blip r:embed="rId3">
            <a:alphaModFix/>
          </a:blip>
          <a:srcRect b="0" l="0" r="0" t="0"/>
          <a:stretch/>
        </p:blipFill>
        <p:spPr>
          <a:xfrm>
            <a:off x="5022273" y="1676400"/>
            <a:ext cx="3740727" cy="4114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important terms:</a:t>
            </a:r>
            <a:endParaRPr/>
          </a:p>
        </p:txBody>
      </p:sp>
      <p:sp>
        <p:nvSpPr>
          <p:cNvPr id="275" name="Google Shape;275;p21"/>
          <p:cNvSpPr txBox="1"/>
          <p:nvPr>
            <p:ph idx="1" type="body"/>
          </p:nvPr>
        </p:nvSpPr>
        <p:spPr>
          <a:xfrm>
            <a:off x="471054" y="13716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US" sz="2400" u="sng"/>
              <a:t>Disk Response Time: </a:t>
            </a:r>
            <a:endParaRPr b="1" sz="2400" u="sng"/>
          </a:p>
          <a:p>
            <a:pPr indent="-342900" lvl="0" marL="342900" rtl="0" algn="l">
              <a:spcBef>
                <a:spcPts val="480"/>
              </a:spcBef>
              <a:spcAft>
                <a:spcPts val="0"/>
              </a:spcAft>
              <a:buClr>
                <a:schemeClr val="dk1"/>
              </a:buClr>
              <a:buSzPts val="2400"/>
              <a:buChar char="•"/>
            </a:pPr>
            <a:r>
              <a:rPr lang="en-US" sz="2400"/>
              <a:t>Response Time is the average of time spent by a request waiting to perform its I/O operation. </a:t>
            </a:r>
            <a:endParaRPr sz="2400"/>
          </a:p>
          <a:p>
            <a:pPr indent="-342900" lvl="0" marL="342900" rtl="0" algn="l">
              <a:spcBef>
                <a:spcPts val="480"/>
              </a:spcBef>
              <a:spcAft>
                <a:spcPts val="0"/>
              </a:spcAft>
              <a:buClr>
                <a:schemeClr val="dk1"/>
              </a:buClr>
              <a:buSzPts val="2400"/>
              <a:buChar char="•"/>
            </a:pPr>
            <a:r>
              <a:rPr i="1" lang="en-US" sz="2400"/>
              <a:t>Average Response time </a:t>
            </a:r>
            <a:r>
              <a:rPr lang="en-US" sz="2400"/>
              <a:t>is the response time of the all requests. </a:t>
            </a:r>
            <a:endParaRPr sz="2400"/>
          </a:p>
          <a:p>
            <a:pPr indent="-342900" lvl="0" marL="342900" rtl="0" algn="l">
              <a:spcBef>
                <a:spcPts val="480"/>
              </a:spcBef>
              <a:spcAft>
                <a:spcPts val="0"/>
              </a:spcAft>
              <a:buClr>
                <a:schemeClr val="dk1"/>
              </a:buClr>
              <a:buSzPts val="2400"/>
              <a:buChar char="•"/>
            </a:pPr>
            <a:r>
              <a:rPr i="1" lang="en-US" sz="2400"/>
              <a:t>Variance Response Time </a:t>
            </a:r>
            <a:r>
              <a:rPr lang="en-US" sz="2400"/>
              <a:t>is measure of how individual request are serviced with respect to average response time. So the disk scheduling algorithm that gives minimum variance response time is better.</a:t>
            </a:r>
            <a:endParaRPr/>
          </a:p>
          <a:p>
            <a:pPr indent="0" lvl="0" marL="0" rtl="0" algn="l">
              <a:spcBef>
                <a:spcPts val="640"/>
              </a:spcBef>
              <a:spcAft>
                <a:spcPts val="0"/>
              </a:spcAft>
              <a:buClr>
                <a:schemeClr val="dk1"/>
              </a:buClr>
              <a:buSzPts val="3200"/>
              <a:buNone/>
            </a:pPr>
            <a:r>
              <a:t/>
            </a:r>
            <a:endParaRPr/>
          </a:p>
        </p:txBody>
      </p:sp>
      <p:pic>
        <p:nvPicPr>
          <p:cNvPr id="276" name="Google Shape;276;p21"/>
          <p:cNvPicPr preferRelativeResize="0"/>
          <p:nvPr/>
        </p:nvPicPr>
        <p:blipFill rotWithShape="1">
          <a:blip r:embed="rId3">
            <a:alphaModFix/>
          </a:blip>
          <a:srcRect b="25014" l="0" r="0" t="0"/>
          <a:stretch/>
        </p:blipFill>
        <p:spPr>
          <a:xfrm>
            <a:off x="484909" y="5078406"/>
            <a:ext cx="8229600" cy="934467"/>
          </a:xfrm>
          <a:prstGeom prst="rect">
            <a:avLst/>
          </a:prstGeom>
          <a:noFill/>
          <a:ln>
            <a:noFill/>
          </a:ln>
        </p:spPr>
      </p:pic>
      <p:sp>
        <p:nvSpPr>
          <p:cNvPr id="277" name="Google Shape;2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78" name="Google Shape;2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79" name="Google Shape;2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2"/>
          <p:cNvSpPr txBox="1"/>
          <p:nvPr>
            <p:ph type="title"/>
          </p:nvPr>
        </p:nvSpPr>
        <p:spPr>
          <a:xfrm>
            <a:off x="711200" y="141288"/>
            <a:ext cx="7975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Scheduling (Cont.)</a:t>
            </a:r>
            <a:endParaRPr/>
          </a:p>
        </p:txBody>
      </p:sp>
      <p:sp>
        <p:nvSpPr>
          <p:cNvPr id="286" name="Google Shape;286;p22"/>
          <p:cNvSpPr txBox="1"/>
          <p:nvPr>
            <p:ph idx="1" type="body"/>
          </p:nvPr>
        </p:nvSpPr>
        <p:spPr>
          <a:xfrm>
            <a:off x="889000" y="1023938"/>
            <a:ext cx="7394575" cy="47815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There are many sources of disk I/O request</a:t>
            </a:r>
            <a:endParaRPr/>
          </a:p>
          <a:p>
            <a:pPr indent="-285750" lvl="1" marL="742950" rtl="0" algn="l">
              <a:spcBef>
                <a:spcPts val="560"/>
              </a:spcBef>
              <a:spcAft>
                <a:spcPts val="0"/>
              </a:spcAft>
              <a:buClr>
                <a:schemeClr val="dk1"/>
              </a:buClr>
              <a:buSzPts val="2800"/>
              <a:buChar char="–"/>
            </a:pPr>
            <a:r>
              <a:rPr lang="en-US"/>
              <a:t>OS</a:t>
            </a:r>
            <a:endParaRPr/>
          </a:p>
          <a:p>
            <a:pPr indent="-285750" lvl="1" marL="742950" rtl="0" algn="l">
              <a:spcBef>
                <a:spcPts val="560"/>
              </a:spcBef>
              <a:spcAft>
                <a:spcPts val="0"/>
              </a:spcAft>
              <a:buClr>
                <a:schemeClr val="dk1"/>
              </a:buClr>
              <a:buSzPts val="2800"/>
              <a:buChar char="–"/>
            </a:pPr>
            <a:r>
              <a:rPr lang="en-US"/>
              <a:t>System processes</a:t>
            </a:r>
            <a:endParaRPr/>
          </a:p>
          <a:p>
            <a:pPr indent="-285750" lvl="1" marL="742950" rtl="0" algn="l">
              <a:spcBef>
                <a:spcPts val="560"/>
              </a:spcBef>
              <a:spcAft>
                <a:spcPts val="0"/>
              </a:spcAft>
              <a:buClr>
                <a:schemeClr val="dk1"/>
              </a:buClr>
              <a:buSzPts val="2800"/>
              <a:buChar char="–"/>
            </a:pPr>
            <a:r>
              <a:rPr lang="en-US"/>
              <a:t>Users processes</a:t>
            </a:r>
            <a:endParaRPr/>
          </a:p>
        </p:txBody>
      </p:sp>
      <p:sp>
        <p:nvSpPr>
          <p:cNvPr id="287" name="Google Shape;28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88" name="Google Shape;28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89" name="Google Shape;28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3"/>
          <p:cNvSpPr txBox="1"/>
          <p:nvPr>
            <p:ph type="title"/>
          </p:nvPr>
        </p:nvSpPr>
        <p:spPr>
          <a:xfrm>
            <a:off x="711200" y="141288"/>
            <a:ext cx="7975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Scheduling (Cont.)</a:t>
            </a:r>
            <a:endParaRPr/>
          </a:p>
        </p:txBody>
      </p:sp>
      <p:sp>
        <p:nvSpPr>
          <p:cNvPr id="296" name="Google Shape;296;p23"/>
          <p:cNvSpPr txBox="1"/>
          <p:nvPr>
            <p:ph idx="1" type="body"/>
          </p:nvPr>
        </p:nvSpPr>
        <p:spPr>
          <a:xfrm>
            <a:off x="889000" y="1023938"/>
            <a:ext cx="7394575" cy="47815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I/O request includes input or output mode, disk address, memory address, number of sectors to transfer</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OS maintains queue of requests, per disk or device</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Idle disk can immediately work on I/O request, busy disk means work must queue</a:t>
            </a:r>
            <a:endParaRPr/>
          </a:p>
          <a:p>
            <a:pPr indent="-285750" lvl="1" marL="742950" rtl="0" algn="l">
              <a:spcBef>
                <a:spcPts val="400"/>
              </a:spcBef>
              <a:spcAft>
                <a:spcPts val="0"/>
              </a:spcAft>
              <a:buClr>
                <a:schemeClr val="dk1"/>
              </a:buClr>
              <a:buSzPts val="2000"/>
              <a:buChar char="–"/>
            </a:pPr>
            <a:r>
              <a:rPr lang="en-US" sz="2000"/>
              <a:t>Optimization algorithms only make sense when a queue exists</a:t>
            </a:r>
            <a:endParaRPr/>
          </a:p>
        </p:txBody>
      </p:sp>
      <p:sp>
        <p:nvSpPr>
          <p:cNvPr id="297" name="Google Shape;29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298" name="Google Shape;29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299" name="Google Shape;29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4"/>
          <p:cNvSpPr txBox="1"/>
          <p:nvPr>
            <p:ph type="title"/>
          </p:nvPr>
        </p:nvSpPr>
        <p:spPr>
          <a:xfrm>
            <a:off x="711200" y="141288"/>
            <a:ext cx="7975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Scheduling (Cont.)</a:t>
            </a:r>
            <a:endParaRPr/>
          </a:p>
        </p:txBody>
      </p:sp>
      <p:sp>
        <p:nvSpPr>
          <p:cNvPr id="306" name="Google Shape;306;p24"/>
          <p:cNvSpPr txBox="1"/>
          <p:nvPr>
            <p:ph idx="1" type="body"/>
          </p:nvPr>
        </p:nvSpPr>
        <p:spPr>
          <a:xfrm>
            <a:off x="874713" y="1023938"/>
            <a:ext cx="4078287" cy="47815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US" sz="2800"/>
              <a:t>Drive controllers </a:t>
            </a:r>
            <a:endParaRPr/>
          </a:p>
          <a:p>
            <a:pPr indent="-285750" lvl="1" marL="742950" rtl="0" algn="l">
              <a:spcBef>
                <a:spcPts val="480"/>
              </a:spcBef>
              <a:spcAft>
                <a:spcPts val="0"/>
              </a:spcAft>
              <a:buClr>
                <a:schemeClr val="dk1"/>
              </a:buClr>
              <a:buSzPts val="2400"/>
              <a:buChar char="–"/>
            </a:pPr>
            <a:r>
              <a:rPr lang="en-US" sz="2400"/>
              <a:t>have small buffers and </a:t>
            </a:r>
            <a:endParaRPr/>
          </a:p>
          <a:p>
            <a:pPr indent="-285750" lvl="1" marL="742950" rtl="0" algn="l">
              <a:spcBef>
                <a:spcPts val="480"/>
              </a:spcBef>
              <a:spcAft>
                <a:spcPts val="0"/>
              </a:spcAft>
              <a:buClr>
                <a:schemeClr val="dk1"/>
              </a:buClr>
              <a:buSzPts val="2400"/>
              <a:buChar char="–"/>
            </a:pPr>
            <a:r>
              <a:rPr lang="en-US" sz="2400"/>
              <a:t>can manage a queue of I/O requests (of varying “depth”)</a:t>
            </a:r>
            <a:endParaRPr sz="2400"/>
          </a:p>
        </p:txBody>
      </p:sp>
      <p:sp>
        <p:nvSpPr>
          <p:cNvPr id="307" name="Google Shape;30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08" name="Google Shape;30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09" name="Google Shape;30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0" name="Google Shape;310;p24"/>
          <p:cNvPicPr preferRelativeResize="0"/>
          <p:nvPr/>
        </p:nvPicPr>
        <p:blipFill rotWithShape="1">
          <a:blip r:embed="rId3">
            <a:alphaModFix/>
          </a:blip>
          <a:srcRect b="0" l="0" r="0" t="0"/>
          <a:stretch/>
        </p:blipFill>
        <p:spPr>
          <a:xfrm>
            <a:off x="5257800" y="1125467"/>
            <a:ext cx="3024336" cy="2981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txBox="1"/>
          <p:nvPr>
            <p:ph type="title"/>
          </p:nvPr>
        </p:nvSpPr>
        <p:spPr>
          <a:xfrm>
            <a:off x="711200" y="141288"/>
            <a:ext cx="7975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Scheduling (Cont.)</a:t>
            </a:r>
            <a:endParaRPr/>
          </a:p>
        </p:txBody>
      </p:sp>
      <p:sp>
        <p:nvSpPr>
          <p:cNvPr id="317" name="Google Shape;317;p25"/>
          <p:cNvSpPr txBox="1"/>
          <p:nvPr>
            <p:ph idx="1" type="body"/>
          </p:nvPr>
        </p:nvSpPr>
        <p:spPr>
          <a:xfrm>
            <a:off x="874713" y="1023938"/>
            <a:ext cx="4078287" cy="47815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Several algorithms exist to schedule the servicing of disk I/O requests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analysis is true for one or many platters</a:t>
            </a:r>
            <a:endParaRPr/>
          </a:p>
        </p:txBody>
      </p:sp>
      <p:sp>
        <p:nvSpPr>
          <p:cNvPr id="318" name="Google Shape;3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19" name="Google Shape;3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20" name="Google Shape;3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1" name="Google Shape;321;p25"/>
          <p:cNvPicPr preferRelativeResize="0"/>
          <p:nvPr/>
        </p:nvPicPr>
        <p:blipFill rotWithShape="1">
          <a:blip r:embed="rId3">
            <a:alphaModFix/>
          </a:blip>
          <a:srcRect b="0" l="0" r="0" t="0"/>
          <a:stretch/>
        </p:blipFill>
        <p:spPr>
          <a:xfrm>
            <a:off x="5257800" y="1125467"/>
            <a:ext cx="3024336" cy="2981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Disk Scheduling Algorithms</a:t>
            </a:r>
            <a:endParaRPr/>
          </a:p>
        </p:txBody>
      </p:sp>
      <p:sp>
        <p:nvSpPr>
          <p:cNvPr id="327" name="Google Shape;32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There are many Disk Scheduling Algorithms-</a:t>
            </a:r>
            <a:endParaRPr sz="2400"/>
          </a:p>
          <a:p>
            <a:pPr indent="-342900" lvl="0" marL="342900" rtl="0" algn="l">
              <a:spcBef>
                <a:spcPts val="480"/>
              </a:spcBef>
              <a:spcAft>
                <a:spcPts val="0"/>
              </a:spcAft>
              <a:buClr>
                <a:schemeClr val="dk1"/>
              </a:buClr>
              <a:buSzPts val="2400"/>
              <a:buChar char="•"/>
            </a:pPr>
            <a:r>
              <a:rPr lang="en-US" sz="2400"/>
              <a:t>FCFS</a:t>
            </a:r>
            <a:endParaRPr/>
          </a:p>
          <a:p>
            <a:pPr indent="-342900" lvl="0" marL="342900" rtl="0" algn="l">
              <a:spcBef>
                <a:spcPts val="480"/>
              </a:spcBef>
              <a:spcAft>
                <a:spcPts val="0"/>
              </a:spcAft>
              <a:buClr>
                <a:schemeClr val="dk1"/>
              </a:buClr>
              <a:buSzPts val="2400"/>
              <a:buChar char="•"/>
            </a:pPr>
            <a:r>
              <a:rPr lang="en-US" sz="2400"/>
              <a:t>SSTF</a:t>
            </a:r>
            <a:endParaRPr/>
          </a:p>
          <a:p>
            <a:pPr indent="-342900" lvl="0" marL="342900" rtl="0" algn="l">
              <a:spcBef>
                <a:spcPts val="480"/>
              </a:spcBef>
              <a:spcAft>
                <a:spcPts val="0"/>
              </a:spcAft>
              <a:buClr>
                <a:schemeClr val="dk1"/>
              </a:buClr>
              <a:buSzPts val="2400"/>
              <a:buChar char="•"/>
            </a:pPr>
            <a:r>
              <a:rPr lang="en-US" sz="2400"/>
              <a:t>SCAN</a:t>
            </a:r>
            <a:endParaRPr/>
          </a:p>
          <a:p>
            <a:pPr indent="-342900" lvl="0" marL="342900" rtl="0" algn="l">
              <a:spcBef>
                <a:spcPts val="480"/>
              </a:spcBef>
              <a:spcAft>
                <a:spcPts val="0"/>
              </a:spcAft>
              <a:buClr>
                <a:schemeClr val="dk1"/>
              </a:buClr>
              <a:buSzPts val="2400"/>
              <a:buChar char="•"/>
            </a:pPr>
            <a:r>
              <a:rPr lang="en-US" sz="2400"/>
              <a:t>C-SCAN</a:t>
            </a:r>
            <a:endParaRPr/>
          </a:p>
          <a:p>
            <a:pPr indent="-342900" lvl="0" marL="342900" rtl="0" algn="l">
              <a:spcBef>
                <a:spcPts val="480"/>
              </a:spcBef>
              <a:spcAft>
                <a:spcPts val="0"/>
              </a:spcAft>
              <a:buClr>
                <a:schemeClr val="dk1"/>
              </a:buClr>
              <a:buSzPts val="2400"/>
              <a:buChar char="•"/>
            </a:pPr>
            <a:r>
              <a:rPr lang="en-US" sz="2400"/>
              <a:t>LOOK</a:t>
            </a:r>
            <a:endParaRPr/>
          </a:p>
          <a:p>
            <a:pPr indent="-342900" lvl="0" marL="342900" rtl="0" algn="l">
              <a:spcBef>
                <a:spcPts val="480"/>
              </a:spcBef>
              <a:spcAft>
                <a:spcPts val="0"/>
              </a:spcAft>
              <a:buClr>
                <a:schemeClr val="dk1"/>
              </a:buClr>
              <a:buSzPts val="2400"/>
              <a:buChar char="•"/>
            </a:pPr>
            <a:r>
              <a:rPr lang="en-US" sz="2400"/>
              <a:t>C-LOOK</a:t>
            </a:r>
            <a:endParaRPr/>
          </a:p>
          <a:p>
            <a:pPr indent="-139700" lvl="0" marL="342900" rtl="0" algn="l">
              <a:spcBef>
                <a:spcPts val="640"/>
              </a:spcBef>
              <a:spcAft>
                <a:spcPts val="0"/>
              </a:spcAft>
              <a:buClr>
                <a:schemeClr val="dk1"/>
              </a:buClr>
              <a:buSzPts val="3200"/>
              <a:buNone/>
            </a:pPr>
            <a:r>
              <a:t/>
            </a:r>
            <a:endParaRPr/>
          </a:p>
        </p:txBody>
      </p:sp>
      <p:sp>
        <p:nvSpPr>
          <p:cNvPr id="328" name="Google Shape;32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29" name="Google Shape;32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30" name="Google Shape;33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7"/>
          <p:cNvSpPr txBox="1"/>
          <p:nvPr>
            <p:ph type="title"/>
          </p:nvPr>
        </p:nvSpPr>
        <p:spPr>
          <a:xfrm>
            <a:off x="711200" y="141288"/>
            <a:ext cx="7975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Scheduling (Cont.)</a:t>
            </a:r>
            <a:endParaRPr/>
          </a:p>
        </p:txBody>
      </p:sp>
      <p:sp>
        <p:nvSpPr>
          <p:cNvPr id="337" name="Google Shape;337;p27"/>
          <p:cNvSpPr txBox="1"/>
          <p:nvPr>
            <p:ph idx="1" type="body"/>
          </p:nvPr>
        </p:nvSpPr>
        <p:spPr>
          <a:xfrm>
            <a:off x="874713" y="1023938"/>
            <a:ext cx="7286625" cy="47815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We illustrate scheduling algorithms with a request queue (0-199)</a:t>
            </a:r>
            <a:endParaRPr/>
          </a:p>
          <a:p>
            <a:pPr indent="-342900" lvl="0" marL="342900" rtl="0" algn="l">
              <a:spcBef>
                <a:spcPts val="480"/>
              </a:spcBef>
              <a:spcAft>
                <a:spcPts val="0"/>
              </a:spcAft>
              <a:buClr>
                <a:srgbClr val="0070C0"/>
              </a:buClr>
              <a:buSzPts val="2400"/>
              <a:buChar char="•"/>
            </a:pPr>
            <a:r>
              <a:rPr b="1" lang="en-US" sz="2400">
                <a:solidFill>
                  <a:srgbClr val="0070C0"/>
                </a:solidFill>
              </a:rPr>
              <a:t>Disk Queue with requests for I/O to blocks on cylinders</a:t>
            </a:r>
            <a:endParaRPr/>
          </a:p>
          <a:p>
            <a:pPr indent="-342900" lvl="0" marL="342900" rtl="0" algn="l">
              <a:spcBef>
                <a:spcPts val="480"/>
              </a:spcBef>
              <a:spcAft>
                <a:spcPts val="0"/>
              </a:spcAft>
              <a:buClr>
                <a:schemeClr val="dk1"/>
              </a:buClr>
              <a:buSzPts val="2400"/>
              <a:buFont typeface="Arial"/>
              <a:buNone/>
            </a:pPr>
            <a:r>
              <a:rPr lang="en-US" sz="2400"/>
              <a:t>		</a:t>
            </a:r>
            <a:br>
              <a:rPr lang="en-US" sz="2400"/>
            </a:br>
            <a:r>
              <a:rPr lang="en-US" sz="2400"/>
              <a:t>	98, 183, 37, 122, 14, 124, 65, 67</a:t>
            </a:r>
            <a:endParaRPr/>
          </a:p>
          <a:p>
            <a:pPr indent="-342900" lvl="0" marL="342900" rtl="0" algn="l">
              <a:spcBef>
                <a:spcPts val="480"/>
              </a:spcBef>
              <a:spcAft>
                <a:spcPts val="0"/>
              </a:spcAft>
              <a:buClr>
                <a:srgbClr val="0070C0"/>
              </a:buClr>
              <a:buSzPts val="2400"/>
              <a:buChar char="•"/>
            </a:pPr>
            <a:r>
              <a:rPr b="1" lang="en-US" sz="2400">
                <a:solidFill>
                  <a:srgbClr val="0070C0"/>
                </a:solidFill>
              </a:rPr>
              <a:t>Disk Head is initially at Cylinder 53	</a:t>
            </a:r>
            <a:endParaRPr/>
          </a:p>
          <a:p>
            <a:pPr indent="-342900" lvl="0" marL="342900" rtl="0" algn="l">
              <a:spcBef>
                <a:spcPts val="480"/>
              </a:spcBef>
              <a:spcAft>
                <a:spcPts val="0"/>
              </a:spcAft>
              <a:buClr>
                <a:schemeClr val="dk1"/>
              </a:buClr>
              <a:buSzPts val="2400"/>
              <a:buFont typeface="Arial"/>
              <a:buNone/>
            </a:pPr>
            <a:r>
              <a:rPr lang="en-US" sz="2400"/>
              <a:t>Head pointer 53</a:t>
            </a:r>
            <a:endParaRPr/>
          </a:p>
        </p:txBody>
      </p:sp>
      <p:sp>
        <p:nvSpPr>
          <p:cNvPr id="338" name="Google Shape;33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39" name="Google Shape;33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40" name="Google Shape;34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8"/>
          <p:cNvSpPr txBox="1"/>
          <p:nvPr>
            <p:ph type="title"/>
          </p:nvPr>
        </p:nvSpPr>
        <p:spPr>
          <a:xfrm>
            <a:off x="711200" y="141288"/>
            <a:ext cx="7975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FCFS</a:t>
            </a:r>
            <a:endParaRPr/>
          </a:p>
        </p:txBody>
      </p:sp>
      <p:sp>
        <p:nvSpPr>
          <p:cNvPr id="347" name="Google Shape;347;p28"/>
          <p:cNvSpPr txBox="1"/>
          <p:nvPr>
            <p:ph idx="1" type="body"/>
          </p:nvPr>
        </p:nvSpPr>
        <p:spPr>
          <a:xfrm>
            <a:off x="874713" y="1023938"/>
            <a:ext cx="7286625" cy="47815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Simplest form of disk scheduling</a:t>
            </a:r>
            <a:endParaRPr/>
          </a:p>
          <a:p>
            <a:pPr indent="-342900" lvl="0" marL="342900" rtl="0" algn="l">
              <a:spcBef>
                <a:spcPts val="480"/>
              </a:spcBef>
              <a:spcAft>
                <a:spcPts val="0"/>
              </a:spcAft>
              <a:buClr>
                <a:schemeClr val="dk1"/>
              </a:buClr>
              <a:buSzPts val="2400"/>
              <a:buChar char="•"/>
            </a:pPr>
            <a:r>
              <a:rPr lang="en-US" sz="2400"/>
              <a:t> First-come, first-served (FCFS) algorithm. </a:t>
            </a:r>
            <a:endParaRPr sz="2400"/>
          </a:p>
          <a:p>
            <a:pPr indent="-342900" lvl="0" marL="342900" rtl="0" algn="l">
              <a:spcBef>
                <a:spcPts val="480"/>
              </a:spcBef>
              <a:spcAft>
                <a:spcPts val="0"/>
              </a:spcAft>
              <a:buClr>
                <a:schemeClr val="dk1"/>
              </a:buClr>
              <a:buSzPts val="2400"/>
              <a:buChar char="•"/>
            </a:pPr>
            <a:r>
              <a:rPr lang="en-US" sz="2400"/>
              <a:t>Intrinsically fair</a:t>
            </a:r>
            <a:endParaRPr/>
          </a:p>
          <a:p>
            <a:pPr indent="-342900" lvl="0" marL="342900" rtl="0" algn="l">
              <a:spcBef>
                <a:spcPts val="480"/>
              </a:spcBef>
              <a:spcAft>
                <a:spcPts val="0"/>
              </a:spcAft>
              <a:buClr>
                <a:schemeClr val="dk1"/>
              </a:buClr>
              <a:buSzPts val="2400"/>
              <a:buChar char="•"/>
            </a:pPr>
            <a:r>
              <a:rPr lang="en-US" sz="2400"/>
              <a:t>Does not provide the fastest service</a:t>
            </a:r>
            <a:endParaRPr sz="2400"/>
          </a:p>
        </p:txBody>
      </p:sp>
      <p:sp>
        <p:nvSpPr>
          <p:cNvPr id="348" name="Google Shape;34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49" name="Google Shape;34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50" name="Google Shape;35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9"/>
          <p:cNvSpPr txBox="1"/>
          <p:nvPr>
            <p:ph type="title"/>
          </p:nvPr>
        </p:nvSpPr>
        <p:spPr>
          <a:xfrm>
            <a:off x="982663" y="155575"/>
            <a:ext cx="695007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FCFS</a:t>
            </a:r>
            <a:endParaRPr/>
          </a:p>
        </p:txBody>
      </p:sp>
      <p:sp>
        <p:nvSpPr>
          <p:cNvPr id="357" name="Google Shape;357;p29"/>
          <p:cNvSpPr txBox="1"/>
          <p:nvPr/>
        </p:nvSpPr>
        <p:spPr>
          <a:xfrm>
            <a:off x="1143000" y="1103313"/>
            <a:ext cx="5851525" cy="36988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Illustration shows total head movement of 640 cylinders</a:t>
            </a:r>
            <a:endParaRPr/>
          </a:p>
        </p:txBody>
      </p:sp>
      <p:pic>
        <p:nvPicPr>
          <p:cNvPr id="358" name="Google Shape;358;p29"/>
          <p:cNvPicPr preferRelativeResize="0"/>
          <p:nvPr/>
        </p:nvPicPr>
        <p:blipFill rotWithShape="1">
          <a:blip r:embed="rId3">
            <a:alphaModFix/>
          </a:blip>
          <a:srcRect b="0" l="0" r="0" t="0"/>
          <a:stretch/>
        </p:blipFill>
        <p:spPr>
          <a:xfrm>
            <a:off x="1220788" y="1633538"/>
            <a:ext cx="5840412" cy="4230687"/>
          </a:xfrm>
          <a:prstGeom prst="rect">
            <a:avLst/>
          </a:prstGeom>
          <a:noFill/>
          <a:ln>
            <a:noFill/>
          </a:ln>
        </p:spPr>
      </p:pic>
      <p:sp>
        <p:nvSpPr>
          <p:cNvPr id="359" name="Google Shape;359;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60" name="Google Shape;360;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61" name="Google Shape;361;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0"/>
          <p:cNvSpPr txBox="1"/>
          <p:nvPr>
            <p:ph type="title"/>
          </p:nvPr>
        </p:nvSpPr>
        <p:spPr>
          <a:xfrm>
            <a:off x="982663" y="155575"/>
            <a:ext cx="6950075"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FCFS</a:t>
            </a:r>
            <a:endParaRPr/>
          </a:p>
        </p:txBody>
      </p:sp>
      <p:sp>
        <p:nvSpPr>
          <p:cNvPr id="368" name="Google Shape;368;p30"/>
          <p:cNvSpPr txBox="1"/>
          <p:nvPr/>
        </p:nvSpPr>
        <p:spPr>
          <a:xfrm>
            <a:off x="685800" y="1008965"/>
            <a:ext cx="7508795" cy="1938984"/>
          </a:xfrm>
          <a:prstGeom prst="rect">
            <a:avLst/>
          </a:prstGeom>
          <a:noFill/>
          <a:ln>
            <a:noFill/>
          </a:ln>
        </p:spPr>
        <p:txBody>
          <a:bodyPr anchorCtr="0" anchor="ctr"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wild swing from </a:t>
            </a:r>
            <a:r>
              <a:rPr b="1" lang="en-US" sz="2000">
                <a:solidFill>
                  <a:srgbClr val="0070C0"/>
                </a:solidFill>
                <a:latin typeface="Calibri"/>
                <a:ea typeface="Calibri"/>
                <a:cs typeface="Calibri"/>
                <a:sym typeface="Calibri"/>
              </a:rPr>
              <a:t>122 to 14 and then back to 124 </a:t>
            </a:r>
            <a:r>
              <a:rPr lang="en-US" sz="2000">
                <a:solidFill>
                  <a:schemeClr val="dk1"/>
                </a:solidFill>
                <a:latin typeface="Calibri"/>
                <a:ea typeface="Calibri"/>
                <a:cs typeface="Calibri"/>
                <a:sym typeface="Calibri"/>
              </a:rPr>
              <a:t>illustrates the problem with this schedule.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If the requests for cylinders </a:t>
            </a:r>
            <a:r>
              <a:rPr b="1" lang="en-US" sz="2000">
                <a:solidFill>
                  <a:srgbClr val="0070C0"/>
                </a:solidFill>
                <a:latin typeface="Calibri"/>
                <a:ea typeface="Calibri"/>
                <a:cs typeface="Calibri"/>
                <a:sym typeface="Calibri"/>
              </a:rPr>
              <a:t>37 and 14</a:t>
            </a:r>
            <a:r>
              <a:rPr lang="en-US" sz="2000">
                <a:solidFill>
                  <a:schemeClr val="dk1"/>
                </a:solidFill>
                <a:latin typeface="Calibri"/>
                <a:ea typeface="Calibri"/>
                <a:cs typeface="Calibri"/>
                <a:sym typeface="Calibri"/>
              </a:rPr>
              <a:t> could be serviced together, </a:t>
            </a:r>
            <a:r>
              <a:rPr b="1" lang="en-US" sz="2000">
                <a:solidFill>
                  <a:srgbClr val="0070C0"/>
                </a:solidFill>
                <a:latin typeface="Calibri"/>
                <a:ea typeface="Calibri"/>
                <a:cs typeface="Calibri"/>
                <a:sym typeface="Calibri"/>
              </a:rPr>
              <a:t>before or after the requests for 122 and 124, </a:t>
            </a:r>
            <a:endParaRPr b="1" sz="2000">
              <a:solidFill>
                <a:srgbClr val="0070C0"/>
              </a:solidFill>
              <a:latin typeface="Calibri"/>
              <a:ea typeface="Calibri"/>
              <a:cs typeface="Calibri"/>
              <a:sym typeface="Calibri"/>
            </a:endParaRPr>
          </a:p>
          <a:p>
            <a:pPr indent="-285750" lvl="1" marL="10287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 total </a:t>
            </a:r>
            <a:r>
              <a:rPr b="1" i="0" lang="en-US" sz="2000" u="none" cap="none" strike="noStrike">
                <a:solidFill>
                  <a:srgbClr val="0070C0"/>
                </a:solidFill>
                <a:latin typeface="Calibri"/>
                <a:ea typeface="Calibri"/>
                <a:cs typeface="Calibri"/>
                <a:sym typeface="Calibri"/>
              </a:rPr>
              <a:t>head movement </a:t>
            </a:r>
            <a:r>
              <a:rPr b="0" i="0" lang="en-US" sz="2000" u="none" cap="none" strike="noStrike">
                <a:solidFill>
                  <a:schemeClr val="dk1"/>
                </a:solidFill>
                <a:latin typeface="Calibri"/>
                <a:ea typeface="Calibri"/>
                <a:cs typeface="Calibri"/>
                <a:sym typeface="Calibri"/>
              </a:rPr>
              <a:t>could be </a:t>
            </a:r>
            <a:r>
              <a:rPr b="1" i="0" lang="en-US" sz="2000" u="none" cap="none" strike="noStrike">
                <a:solidFill>
                  <a:srgbClr val="0070C0"/>
                </a:solidFill>
                <a:latin typeface="Calibri"/>
                <a:ea typeface="Calibri"/>
                <a:cs typeface="Calibri"/>
                <a:sym typeface="Calibri"/>
              </a:rPr>
              <a:t>decreased substantially</a:t>
            </a:r>
            <a:r>
              <a:rPr b="0" i="0" lang="en-US" sz="2000" u="none" cap="none" strike="noStrike">
                <a:solidFill>
                  <a:schemeClr val="dk1"/>
                </a:solidFill>
                <a:latin typeface="Calibri"/>
                <a:ea typeface="Calibri"/>
                <a:cs typeface="Calibri"/>
                <a:sym typeface="Calibri"/>
              </a:rPr>
              <a:t>, and performance could be thereby improved.</a:t>
            </a:r>
            <a:endParaRPr b="0" i="0" sz="2000" u="none" cap="none" strike="noStrike">
              <a:solidFill>
                <a:schemeClr val="dk1"/>
              </a:solidFill>
              <a:latin typeface="Calibri"/>
              <a:ea typeface="Calibri"/>
              <a:cs typeface="Calibri"/>
              <a:sym typeface="Calibri"/>
            </a:endParaRPr>
          </a:p>
        </p:txBody>
      </p:sp>
      <p:pic>
        <p:nvPicPr>
          <p:cNvPr id="369" name="Google Shape;369;p30"/>
          <p:cNvPicPr preferRelativeResize="0"/>
          <p:nvPr/>
        </p:nvPicPr>
        <p:blipFill rotWithShape="1">
          <a:blip r:embed="rId3">
            <a:alphaModFix/>
          </a:blip>
          <a:srcRect b="0" l="0" r="0" t="0"/>
          <a:stretch/>
        </p:blipFill>
        <p:spPr>
          <a:xfrm>
            <a:off x="1220788" y="3429000"/>
            <a:ext cx="5840412" cy="2633662"/>
          </a:xfrm>
          <a:prstGeom prst="rect">
            <a:avLst/>
          </a:prstGeom>
          <a:noFill/>
          <a:ln>
            <a:noFill/>
          </a:ln>
        </p:spPr>
      </p:pic>
      <p:sp>
        <p:nvSpPr>
          <p:cNvPr id="370" name="Google Shape;37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71" name="Google Shape;37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72" name="Google Shape;37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3" name="Google Shape;373;p30"/>
          <p:cNvSpPr/>
          <p:nvPr/>
        </p:nvSpPr>
        <p:spPr>
          <a:xfrm>
            <a:off x="1220788" y="5112327"/>
            <a:ext cx="4343400" cy="762000"/>
          </a:xfrm>
          <a:prstGeom prst="ellipse">
            <a:avLst/>
          </a:prstGeom>
          <a:no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FCFS</a:t>
            </a:r>
            <a:endParaRPr/>
          </a:p>
        </p:txBody>
      </p:sp>
      <p:sp>
        <p:nvSpPr>
          <p:cNvPr id="379" name="Google Shape;379;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Maintain Queue of Requests</a:t>
            </a:r>
            <a:endParaRPr/>
          </a:p>
          <a:p>
            <a:pPr indent="-342900" lvl="0" marL="342900" rtl="0" algn="l">
              <a:spcBef>
                <a:spcPts val="560"/>
              </a:spcBef>
              <a:spcAft>
                <a:spcPts val="0"/>
              </a:spcAft>
              <a:buClr>
                <a:schemeClr val="dk1"/>
              </a:buClr>
              <a:buSzPts val="2800"/>
              <a:buChar char="•"/>
            </a:pPr>
            <a:r>
              <a:rPr lang="en-US" sz="2800"/>
              <a:t>Implemented as FIFO Queue</a:t>
            </a:r>
            <a:endParaRPr/>
          </a:p>
        </p:txBody>
      </p:sp>
      <p:sp>
        <p:nvSpPr>
          <p:cNvPr id="380" name="Google Shape;38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81" name="Google Shape;38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82" name="Google Shape;38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FCFS</a:t>
            </a:r>
            <a:endParaRPr/>
          </a:p>
        </p:txBody>
      </p:sp>
      <p:sp>
        <p:nvSpPr>
          <p:cNvPr id="388" name="Google Shape;388;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Advantages:</a:t>
            </a:r>
            <a:endParaRPr/>
          </a:p>
          <a:p>
            <a:pPr indent="-342900" lvl="0" marL="342900" rtl="0" algn="l">
              <a:spcBef>
                <a:spcPts val="480"/>
              </a:spcBef>
              <a:spcAft>
                <a:spcPts val="0"/>
              </a:spcAft>
              <a:buClr>
                <a:srgbClr val="0070C0"/>
              </a:buClr>
              <a:buSzPts val="2400"/>
              <a:buChar char="•"/>
            </a:pPr>
            <a:r>
              <a:rPr b="1" lang="en-US" sz="2400">
                <a:solidFill>
                  <a:srgbClr val="0070C0"/>
                </a:solidFill>
              </a:rPr>
              <a:t>Every request gets a fair chance</a:t>
            </a:r>
            <a:endParaRPr/>
          </a:p>
          <a:p>
            <a:pPr indent="-342900" lvl="0" marL="342900" rtl="0" algn="l">
              <a:spcBef>
                <a:spcPts val="480"/>
              </a:spcBef>
              <a:spcAft>
                <a:spcPts val="0"/>
              </a:spcAft>
              <a:buClr>
                <a:schemeClr val="dk1"/>
              </a:buClr>
              <a:buSzPts val="2400"/>
              <a:buChar char="•"/>
            </a:pPr>
            <a:r>
              <a:rPr lang="en-US" sz="2400"/>
              <a:t>No indefinite postponement</a:t>
            </a:r>
            <a:endParaRPr/>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rPr lang="en-US" sz="2400"/>
              <a:t>Disadvantages:</a:t>
            </a:r>
            <a:endParaRPr/>
          </a:p>
          <a:p>
            <a:pPr indent="-342900" lvl="0" marL="342900" rtl="0" algn="l">
              <a:spcBef>
                <a:spcPts val="480"/>
              </a:spcBef>
              <a:spcAft>
                <a:spcPts val="0"/>
              </a:spcAft>
              <a:buClr>
                <a:srgbClr val="0070C0"/>
              </a:buClr>
              <a:buSzPts val="2400"/>
              <a:buChar char="•"/>
            </a:pPr>
            <a:r>
              <a:rPr b="1" lang="en-US" sz="2400">
                <a:solidFill>
                  <a:srgbClr val="0070C0"/>
                </a:solidFill>
              </a:rPr>
              <a:t>Does not try to optimize seek time</a:t>
            </a:r>
            <a:endParaRPr/>
          </a:p>
          <a:p>
            <a:pPr indent="-342900" lvl="0" marL="342900" rtl="0" algn="l">
              <a:spcBef>
                <a:spcPts val="480"/>
              </a:spcBef>
              <a:spcAft>
                <a:spcPts val="0"/>
              </a:spcAft>
              <a:buClr>
                <a:schemeClr val="dk1"/>
              </a:buClr>
              <a:buSzPts val="2400"/>
              <a:buChar char="•"/>
            </a:pPr>
            <a:r>
              <a:rPr lang="en-US" sz="2400"/>
              <a:t>May not provide the best possible service</a:t>
            </a:r>
            <a:endParaRPr/>
          </a:p>
          <a:p>
            <a:pPr indent="-342900" lvl="0" marL="342900" rtl="0" algn="l">
              <a:spcBef>
                <a:spcPts val="480"/>
              </a:spcBef>
              <a:spcAft>
                <a:spcPts val="0"/>
              </a:spcAft>
              <a:buClr>
                <a:srgbClr val="0070C0"/>
              </a:buClr>
              <a:buSzPts val="2400"/>
              <a:buChar char="•"/>
            </a:pPr>
            <a:r>
              <a:rPr b="1" lang="en-US" sz="2400">
                <a:solidFill>
                  <a:srgbClr val="0070C0"/>
                </a:solidFill>
              </a:rPr>
              <a:t>Unacceptably High Response time</a:t>
            </a:r>
            <a:endParaRPr b="1" sz="2400">
              <a:solidFill>
                <a:srgbClr val="0070C0"/>
              </a:solidFill>
            </a:endParaRPr>
          </a:p>
          <a:p>
            <a:pPr indent="-139700" lvl="0" marL="342900" rtl="0" algn="l">
              <a:spcBef>
                <a:spcPts val="640"/>
              </a:spcBef>
              <a:spcAft>
                <a:spcPts val="0"/>
              </a:spcAft>
              <a:buClr>
                <a:schemeClr val="dk1"/>
              </a:buClr>
              <a:buSzPts val="3200"/>
              <a:buNone/>
            </a:pPr>
            <a:r>
              <a:t/>
            </a:r>
            <a:endParaRPr/>
          </a:p>
        </p:txBody>
      </p:sp>
      <p:sp>
        <p:nvSpPr>
          <p:cNvPr id="389" name="Google Shape;389;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390" name="Google Shape;390;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391" name="Google Shape;391;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398" name="Google Shape;398;p33"/>
          <p:cNvSpPr txBox="1"/>
          <p:nvPr>
            <p:ph idx="1" type="body"/>
          </p:nvPr>
        </p:nvSpPr>
        <p:spPr>
          <a:xfrm>
            <a:off x="874713" y="1111250"/>
            <a:ext cx="7081837"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Service all the </a:t>
            </a:r>
            <a:r>
              <a:rPr b="1" lang="en-US" sz="2400">
                <a:solidFill>
                  <a:srgbClr val="0070C0"/>
                </a:solidFill>
              </a:rPr>
              <a:t>requests close to the current head position</a:t>
            </a:r>
            <a:r>
              <a:rPr lang="en-US" sz="2400"/>
              <a:t> before moving the head far to service other</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Shortest Seek Time First selects the </a:t>
            </a:r>
            <a:r>
              <a:rPr b="1" lang="en-US" sz="2400">
                <a:solidFill>
                  <a:srgbClr val="0070C0"/>
                </a:solidFill>
              </a:rPr>
              <a:t>request with the minimum seek time</a:t>
            </a:r>
            <a:r>
              <a:rPr lang="en-US" sz="2400"/>
              <a:t> from the current head position</a:t>
            </a:r>
            <a:endParaRPr/>
          </a:p>
        </p:txBody>
      </p:sp>
      <p:sp>
        <p:nvSpPr>
          <p:cNvPr id="399" name="Google Shape;39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00" name="Google Shape;40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01" name="Google Shape;40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4"/>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08" name="Google Shape;408;p34"/>
          <p:cNvSpPr txBox="1"/>
          <p:nvPr>
            <p:ph idx="1" type="body"/>
          </p:nvPr>
        </p:nvSpPr>
        <p:spPr>
          <a:xfrm>
            <a:off x="874713" y="1111250"/>
            <a:ext cx="7081837"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Illustration shows total head movement of 236 cylinders</a:t>
            </a:r>
            <a:endParaRPr/>
          </a:p>
        </p:txBody>
      </p:sp>
      <p:pic>
        <p:nvPicPr>
          <p:cNvPr descr="12" id="409" name="Google Shape;409;p34"/>
          <p:cNvPicPr preferRelativeResize="0"/>
          <p:nvPr/>
        </p:nvPicPr>
        <p:blipFill rotWithShape="1">
          <a:blip r:embed="rId3">
            <a:alphaModFix/>
          </a:blip>
          <a:srcRect b="0" l="0" r="0" t="0"/>
          <a:stretch/>
        </p:blipFill>
        <p:spPr>
          <a:xfrm>
            <a:off x="1143000" y="1752600"/>
            <a:ext cx="6781799" cy="4429125"/>
          </a:xfrm>
          <a:prstGeom prst="rect">
            <a:avLst/>
          </a:prstGeom>
          <a:noFill/>
          <a:ln>
            <a:noFill/>
          </a:ln>
        </p:spPr>
      </p:pic>
      <p:sp>
        <p:nvSpPr>
          <p:cNvPr id="410" name="Google Shape;41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11" name="Google Shape;41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12" name="Google Shape;41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5"/>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19" name="Google Shape;419;p35"/>
          <p:cNvSpPr txBox="1"/>
          <p:nvPr>
            <p:ph idx="1" type="body"/>
          </p:nvPr>
        </p:nvSpPr>
        <p:spPr>
          <a:xfrm>
            <a:off x="609600" y="762000"/>
            <a:ext cx="792480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 closest request to the initial head position (53) is at cylinder 65. </a:t>
            </a:r>
            <a:endParaRPr sz="2400"/>
          </a:p>
          <a:p>
            <a:pPr indent="-342900" lvl="0" marL="342900" rtl="0" algn="l">
              <a:spcBef>
                <a:spcPts val="480"/>
              </a:spcBef>
              <a:spcAft>
                <a:spcPts val="0"/>
              </a:spcAft>
              <a:buClr>
                <a:schemeClr val="dk1"/>
              </a:buClr>
              <a:buSzPts val="2400"/>
              <a:buChar char="•"/>
            </a:pPr>
            <a:r>
              <a:rPr lang="en-US" sz="2400"/>
              <a:t>At cylinder 65, the next closest is  cylinder 67. </a:t>
            </a:r>
            <a:endParaRPr sz="2400"/>
          </a:p>
        </p:txBody>
      </p:sp>
      <p:pic>
        <p:nvPicPr>
          <p:cNvPr descr="12" id="420" name="Google Shape;420;p35"/>
          <p:cNvPicPr preferRelativeResize="0"/>
          <p:nvPr/>
        </p:nvPicPr>
        <p:blipFill rotWithShape="1">
          <a:blip r:embed="rId3">
            <a:alphaModFix/>
          </a:blip>
          <a:srcRect b="0" l="0" r="0" t="0"/>
          <a:stretch/>
        </p:blipFill>
        <p:spPr>
          <a:xfrm>
            <a:off x="1143000" y="3429000"/>
            <a:ext cx="6781799" cy="2752725"/>
          </a:xfrm>
          <a:prstGeom prst="rect">
            <a:avLst/>
          </a:prstGeom>
          <a:noFill/>
          <a:ln>
            <a:noFill/>
          </a:ln>
        </p:spPr>
      </p:pic>
      <p:sp>
        <p:nvSpPr>
          <p:cNvPr id="421" name="Google Shape;42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22" name="Google Shape;42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23" name="Google Shape;42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6"/>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30" name="Google Shape;430;p36"/>
          <p:cNvSpPr txBox="1"/>
          <p:nvPr>
            <p:ph idx="1" type="body"/>
          </p:nvPr>
        </p:nvSpPr>
        <p:spPr>
          <a:xfrm>
            <a:off x="609600" y="762000"/>
            <a:ext cx="792480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From there, the request at cylinder 37 is closer than the one at 98, so 37 is served next. </a:t>
            </a:r>
            <a:endParaRPr/>
          </a:p>
          <a:p>
            <a:pPr indent="-285750" lvl="1" marL="742950" rtl="0" algn="l">
              <a:spcBef>
                <a:spcPts val="480"/>
              </a:spcBef>
              <a:spcAft>
                <a:spcPts val="0"/>
              </a:spcAft>
              <a:buClr>
                <a:schemeClr val="dk1"/>
              </a:buClr>
              <a:buSzPts val="2400"/>
              <a:buChar char="–"/>
            </a:pPr>
            <a:r>
              <a:rPr lang="en-US" sz="2400"/>
              <a:t>67-37=30</a:t>
            </a:r>
            <a:endParaRPr/>
          </a:p>
          <a:p>
            <a:pPr indent="-285750" lvl="1" marL="742950" rtl="0" algn="l">
              <a:spcBef>
                <a:spcPts val="480"/>
              </a:spcBef>
              <a:spcAft>
                <a:spcPts val="0"/>
              </a:spcAft>
              <a:buClr>
                <a:schemeClr val="dk1"/>
              </a:buClr>
              <a:buSzPts val="2400"/>
              <a:buChar char="–"/>
            </a:pPr>
            <a:r>
              <a:rPr lang="en-US" sz="2400"/>
              <a:t>98-67=31</a:t>
            </a:r>
            <a:endParaRPr/>
          </a:p>
          <a:p>
            <a:pPr indent="-342900" lvl="0" marL="342900" rtl="0" algn="l">
              <a:spcBef>
                <a:spcPts val="480"/>
              </a:spcBef>
              <a:spcAft>
                <a:spcPts val="0"/>
              </a:spcAft>
              <a:buClr>
                <a:schemeClr val="dk1"/>
              </a:buClr>
              <a:buSzPts val="2400"/>
              <a:buChar char="•"/>
            </a:pPr>
            <a:r>
              <a:rPr lang="en-US" sz="2400"/>
              <a:t>Continuing, we service the request at cylinder 14, then 98, 122, 124, and finally 183 </a:t>
            </a:r>
            <a:endParaRPr/>
          </a:p>
          <a:p>
            <a:pPr indent="-190500" lvl="0" marL="342900" rtl="0" algn="l">
              <a:spcBef>
                <a:spcPts val="480"/>
              </a:spcBef>
              <a:spcAft>
                <a:spcPts val="0"/>
              </a:spcAft>
              <a:buClr>
                <a:schemeClr val="dk1"/>
              </a:buClr>
              <a:buSzPts val="2400"/>
              <a:buNone/>
            </a:pPr>
            <a:r>
              <a:t/>
            </a:r>
            <a:endParaRPr sz="2400"/>
          </a:p>
        </p:txBody>
      </p:sp>
      <p:pic>
        <p:nvPicPr>
          <p:cNvPr descr="12" id="431" name="Google Shape;431;p36"/>
          <p:cNvPicPr preferRelativeResize="0"/>
          <p:nvPr/>
        </p:nvPicPr>
        <p:blipFill rotWithShape="1">
          <a:blip r:embed="rId3">
            <a:alphaModFix/>
          </a:blip>
          <a:srcRect b="0" l="0" r="0" t="0"/>
          <a:stretch/>
        </p:blipFill>
        <p:spPr>
          <a:xfrm>
            <a:off x="1143000" y="3429000"/>
            <a:ext cx="6781799" cy="2752725"/>
          </a:xfrm>
          <a:prstGeom prst="rect">
            <a:avLst/>
          </a:prstGeom>
          <a:noFill/>
          <a:ln>
            <a:noFill/>
          </a:ln>
        </p:spPr>
      </p:pic>
      <p:sp>
        <p:nvSpPr>
          <p:cNvPr id="432" name="Google Shape;432;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33" name="Google Shape;433;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34" name="Google Shape;434;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7"/>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41" name="Google Shape;441;p37"/>
          <p:cNvSpPr txBox="1"/>
          <p:nvPr>
            <p:ph idx="1" type="body"/>
          </p:nvPr>
        </p:nvSpPr>
        <p:spPr>
          <a:xfrm>
            <a:off x="609600" y="762000"/>
            <a:ext cx="792480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b="1" lang="en-US" sz="2400"/>
              <a:t>A total head movement of </a:t>
            </a:r>
            <a:r>
              <a:rPr b="1" lang="en-US" sz="2400">
                <a:solidFill>
                  <a:srgbClr val="0070C0"/>
                </a:solidFill>
              </a:rPr>
              <a:t>only 236 cylinders-</a:t>
            </a:r>
            <a:endParaRPr/>
          </a:p>
          <a:p>
            <a:pPr indent="-342900" lvl="0" marL="342900" rtl="0" algn="l">
              <a:spcBef>
                <a:spcPts val="480"/>
              </a:spcBef>
              <a:spcAft>
                <a:spcPts val="0"/>
              </a:spcAft>
              <a:buClr>
                <a:srgbClr val="0070C0"/>
              </a:buClr>
              <a:buSzPts val="2400"/>
              <a:buChar char="•"/>
            </a:pPr>
            <a:r>
              <a:rPr b="1" lang="en-US" sz="2400">
                <a:solidFill>
                  <a:srgbClr val="0070C0"/>
                </a:solidFill>
              </a:rPr>
              <a:t>In FCFS, 640 cylinders, </a:t>
            </a:r>
            <a:endParaRPr/>
          </a:p>
          <a:p>
            <a:pPr indent="-342900" lvl="0" marL="342900" rtl="0" algn="l">
              <a:spcBef>
                <a:spcPts val="480"/>
              </a:spcBef>
              <a:spcAft>
                <a:spcPts val="0"/>
              </a:spcAft>
              <a:buClr>
                <a:schemeClr val="dk1"/>
              </a:buClr>
              <a:buSzPts val="2400"/>
              <a:buChar char="•"/>
            </a:pPr>
            <a:r>
              <a:rPr lang="en-US" sz="2400"/>
              <a:t>SSTF-Little more than one-third of the distance needed for FCFS scheduling </a:t>
            </a:r>
            <a:endParaRPr sz="2400"/>
          </a:p>
          <a:p>
            <a:pPr indent="-342900" lvl="0" marL="342900" rtl="0" algn="l">
              <a:spcBef>
                <a:spcPts val="480"/>
              </a:spcBef>
              <a:spcAft>
                <a:spcPts val="0"/>
              </a:spcAft>
              <a:buClr>
                <a:schemeClr val="dk1"/>
              </a:buClr>
              <a:buSzPts val="2400"/>
              <a:buChar char="•"/>
            </a:pPr>
            <a:r>
              <a:rPr lang="en-US" sz="2400"/>
              <a:t>This algorithm gives a substantial improvement in performance.</a:t>
            </a:r>
            <a:endParaRPr sz="2400"/>
          </a:p>
        </p:txBody>
      </p:sp>
      <p:pic>
        <p:nvPicPr>
          <p:cNvPr descr="12" id="442" name="Google Shape;442;p37"/>
          <p:cNvPicPr preferRelativeResize="0"/>
          <p:nvPr/>
        </p:nvPicPr>
        <p:blipFill rotWithShape="1">
          <a:blip r:embed="rId3">
            <a:alphaModFix/>
          </a:blip>
          <a:srcRect b="0" l="0" r="0" t="0"/>
          <a:stretch/>
        </p:blipFill>
        <p:spPr>
          <a:xfrm>
            <a:off x="1132608" y="3505200"/>
            <a:ext cx="6781799" cy="2628034"/>
          </a:xfrm>
          <a:prstGeom prst="rect">
            <a:avLst/>
          </a:prstGeom>
          <a:noFill/>
          <a:ln>
            <a:noFill/>
          </a:ln>
        </p:spPr>
      </p:pic>
      <p:sp>
        <p:nvSpPr>
          <p:cNvPr id="443" name="Google Shape;443;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44" name="Google Shape;444;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45" name="Google Shape;445;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8"/>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52" name="Google Shape;452;p38"/>
          <p:cNvSpPr txBox="1"/>
          <p:nvPr>
            <p:ph idx="1" type="body"/>
          </p:nvPr>
        </p:nvSpPr>
        <p:spPr>
          <a:xfrm>
            <a:off x="609600" y="762000"/>
            <a:ext cx="79248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SSTF scheduling is a form of SJF scheduling; may </a:t>
            </a:r>
            <a:r>
              <a:rPr b="1" lang="en-US" sz="2400">
                <a:solidFill>
                  <a:srgbClr val="0070C0"/>
                </a:solidFill>
              </a:rPr>
              <a:t>cause starvation </a:t>
            </a:r>
            <a:r>
              <a:rPr lang="en-US" sz="2400"/>
              <a:t>of some requests</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How??</a:t>
            </a:r>
            <a:endParaRPr/>
          </a:p>
          <a:p>
            <a:pPr indent="-190500" lvl="0" marL="342900" rtl="0" algn="l">
              <a:spcBef>
                <a:spcPts val="480"/>
              </a:spcBef>
              <a:spcAft>
                <a:spcPts val="0"/>
              </a:spcAft>
              <a:buClr>
                <a:schemeClr val="dk1"/>
              </a:buClr>
              <a:buSzPts val="2400"/>
              <a:buNone/>
            </a:pPr>
            <a:r>
              <a:t/>
            </a:r>
            <a:endParaRPr b="1" sz="2400">
              <a:solidFill>
                <a:srgbClr val="0070C0"/>
              </a:solidFill>
            </a:endParaRPr>
          </a:p>
        </p:txBody>
      </p:sp>
      <p:sp>
        <p:nvSpPr>
          <p:cNvPr id="453" name="Google Shape;453;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54" name="Google Shape;454;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55" name="Google Shape;455;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9"/>
          <p:cNvSpPr txBox="1"/>
          <p:nvPr>
            <p:ph type="title"/>
          </p:nvPr>
        </p:nvSpPr>
        <p:spPr>
          <a:xfrm>
            <a:off x="457200" y="141288"/>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62" name="Google Shape;462;p39"/>
          <p:cNvSpPr txBox="1"/>
          <p:nvPr>
            <p:ph idx="1" type="body"/>
          </p:nvPr>
        </p:nvSpPr>
        <p:spPr>
          <a:xfrm>
            <a:off x="609600" y="762000"/>
            <a:ext cx="79248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If Requests are for cylinders 14 and 186?? </a:t>
            </a:r>
            <a:endParaRPr sz="2400"/>
          </a:p>
          <a:p>
            <a:pPr indent="-342900" lvl="0" marL="342900" rtl="0" algn="l">
              <a:spcBef>
                <a:spcPts val="480"/>
              </a:spcBef>
              <a:spcAft>
                <a:spcPts val="0"/>
              </a:spcAft>
              <a:buClr>
                <a:schemeClr val="dk1"/>
              </a:buClr>
              <a:buSzPts val="2400"/>
              <a:buChar char="•"/>
            </a:pPr>
            <a:r>
              <a:rPr lang="en-US" sz="2400"/>
              <a:t>While the request from 14 is being  serviced, a new request near 14 arrives. </a:t>
            </a:r>
            <a:endParaRPr sz="2400"/>
          </a:p>
          <a:p>
            <a:pPr indent="-285750" lvl="1" marL="742950" rtl="0" algn="l">
              <a:spcBef>
                <a:spcPts val="480"/>
              </a:spcBef>
              <a:spcAft>
                <a:spcPts val="0"/>
              </a:spcAft>
              <a:buClr>
                <a:schemeClr val="dk1"/>
              </a:buClr>
              <a:buSzPts val="2400"/>
              <a:buChar char="–"/>
            </a:pPr>
            <a:r>
              <a:rPr lang="en-US" sz="2400"/>
              <a:t>This new request will be serviced next, </a:t>
            </a:r>
            <a:r>
              <a:rPr b="1" lang="en-US" sz="2400">
                <a:solidFill>
                  <a:srgbClr val="0070C0"/>
                </a:solidFill>
              </a:rPr>
              <a:t>making the request at 186 wait. </a:t>
            </a:r>
            <a:endParaRPr b="1" sz="2400">
              <a:solidFill>
                <a:srgbClr val="0070C0"/>
              </a:solidFill>
            </a:endParaRPr>
          </a:p>
          <a:p>
            <a:pPr indent="-342900" lvl="0" marL="342900" rtl="0" algn="l">
              <a:spcBef>
                <a:spcPts val="480"/>
              </a:spcBef>
              <a:spcAft>
                <a:spcPts val="0"/>
              </a:spcAft>
              <a:buClr>
                <a:schemeClr val="dk1"/>
              </a:buClr>
              <a:buSzPts val="2400"/>
              <a:buChar char="•"/>
            </a:pPr>
            <a:r>
              <a:rPr lang="en-US" sz="2400"/>
              <a:t>While this request is being serviced, another request close to 14 could arrive. </a:t>
            </a:r>
            <a:endParaRPr sz="2400"/>
          </a:p>
          <a:p>
            <a:pPr indent="-285750" lvl="1" marL="742950" rtl="0" algn="l">
              <a:spcBef>
                <a:spcPts val="480"/>
              </a:spcBef>
              <a:spcAft>
                <a:spcPts val="0"/>
              </a:spcAft>
              <a:buClr>
                <a:schemeClr val="dk1"/>
              </a:buClr>
              <a:buSzPts val="2400"/>
              <a:buChar char="–"/>
            </a:pPr>
            <a:r>
              <a:rPr lang="en-US" sz="2400"/>
              <a:t>A continual stream of requests near one another could cause the request for </a:t>
            </a:r>
            <a:r>
              <a:rPr b="1" lang="en-US" sz="2400">
                <a:solidFill>
                  <a:srgbClr val="0070C0"/>
                </a:solidFill>
              </a:rPr>
              <a:t>cylinder 186 to wait indefinitely.</a:t>
            </a:r>
            <a:endParaRPr b="1" sz="2400">
              <a:solidFill>
                <a:srgbClr val="0070C0"/>
              </a:solidFill>
            </a:endParaRPr>
          </a:p>
        </p:txBody>
      </p:sp>
      <p:sp>
        <p:nvSpPr>
          <p:cNvPr id="463" name="Google Shape;463;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64" name="Google Shape;464;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65" name="Google Shape;465;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0"/>
          <p:cNvSpPr txBox="1"/>
          <p:nvPr>
            <p:ph type="title"/>
          </p:nvPr>
        </p:nvSpPr>
        <p:spPr>
          <a:xfrm>
            <a:off x="408707" y="-76200"/>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SSTF</a:t>
            </a:r>
            <a:endParaRPr/>
          </a:p>
        </p:txBody>
      </p:sp>
      <p:sp>
        <p:nvSpPr>
          <p:cNvPr id="472" name="Google Shape;472;p40"/>
          <p:cNvSpPr txBox="1"/>
          <p:nvPr>
            <p:ph idx="1" type="body"/>
          </p:nvPr>
        </p:nvSpPr>
        <p:spPr>
          <a:xfrm>
            <a:off x="561107" y="381000"/>
            <a:ext cx="7924800"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sz="2400"/>
              <a:t>Substantial improvement over the FCFS algorithm</a:t>
            </a:r>
            <a:endParaRPr/>
          </a:p>
          <a:p>
            <a:pPr indent="-342900" lvl="0" marL="342900" rtl="0" algn="l">
              <a:spcBef>
                <a:spcPts val="480"/>
              </a:spcBef>
              <a:spcAft>
                <a:spcPts val="0"/>
              </a:spcAft>
              <a:buClr>
                <a:srgbClr val="0070C0"/>
              </a:buClr>
              <a:buSzPts val="2400"/>
              <a:buChar char="•"/>
            </a:pPr>
            <a:r>
              <a:rPr b="1" lang="en-US" sz="2400">
                <a:solidFill>
                  <a:srgbClr val="0070C0"/>
                </a:solidFill>
              </a:rPr>
              <a:t>Not optimal</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We can do better by moving the head </a:t>
            </a:r>
            <a:endParaRPr/>
          </a:p>
          <a:p>
            <a:pPr indent="-285750" lvl="1" marL="742950" rtl="0" algn="l">
              <a:spcBef>
                <a:spcPts val="480"/>
              </a:spcBef>
              <a:spcAft>
                <a:spcPts val="0"/>
              </a:spcAft>
              <a:buClr>
                <a:schemeClr val="dk1"/>
              </a:buClr>
              <a:buSzPts val="2400"/>
              <a:buChar char="–"/>
            </a:pPr>
            <a:r>
              <a:rPr lang="en-US" sz="2400"/>
              <a:t>from 53 to 37, </a:t>
            </a:r>
            <a:r>
              <a:rPr b="1" lang="en-US" sz="2400">
                <a:solidFill>
                  <a:srgbClr val="0070C0"/>
                </a:solidFill>
              </a:rPr>
              <a:t>even though the latter is not closest</a:t>
            </a:r>
            <a:r>
              <a:rPr lang="en-US" sz="2400"/>
              <a:t>, and </a:t>
            </a:r>
            <a:endParaRPr sz="2400"/>
          </a:p>
          <a:p>
            <a:pPr indent="-285750" lvl="1" marL="742950" rtl="0" algn="l">
              <a:spcBef>
                <a:spcPts val="480"/>
              </a:spcBef>
              <a:spcAft>
                <a:spcPts val="0"/>
              </a:spcAft>
              <a:buClr>
                <a:schemeClr val="dk1"/>
              </a:buClr>
              <a:buSzPts val="2400"/>
              <a:buChar char="–"/>
            </a:pPr>
            <a:r>
              <a:rPr lang="en-US" sz="2400"/>
              <a:t>then to 14, before turning around to service 65, 67, 98, 122, 124, and 183. </a:t>
            </a:r>
            <a:endParaRPr sz="2400"/>
          </a:p>
          <a:p>
            <a:pPr indent="-285750" lvl="1" marL="742950" rtl="0" algn="l">
              <a:spcBef>
                <a:spcPts val="480"/>
              </a:spcBef>
              <a:spcAft>
                <a:spcPts val="0"/>
              </a:spcAft>
              <a:buClr>
                <a:schemeClr val="dk1"/>
              </a:buClr>
              <a:buSzPts val="2400"/>
              <a:buChar char="–"/>
            </a:pPr>
            <a:r>
              <a:rPr lang="en-US" sz="2400"/>
              <a:t>This strategy </a:t>
            </a:r>
            <a:r>
              <a:rPr b="1" lang="en-US" sz="2400">
                <a:solidFill>
                  <a:srgbClr val="0070C0"/>
                </a:solidFill>
              </a:rPr>
              <a:t>reduces the total </a:t>
            </a:r>
            <a:r>
              <a:rPr lang="en-US" sz="2400"/>
              <a:t>head movement to 208 cylinders.</a:t>
            </a:r>
            <a:endParaRPr b="1" sz="2400">
              <a:solidFill>
                <a:srgbClr val="0070C0"/>
              </a:solidFill>
            </a:endParaRPr>
          </a:p>
        </p:txBody>
      </p:sp>
      <p:sp>
        <p:nvSpPr>
          <p:cNvPr id="473" name="Google Shape;473;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74" name="Google Shape;474;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75" name="Google Shape;475;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12" id="476" name="Google Shape;476;p40"/>
          <p:cNvPicPr preferRelativeResize="0"/>
          <p:nvPr/>
        </p:nvPicPr>
        <p:blipFill rotWithShape="1">
          <a:blip r:embed="rId3">
            <a:alphaModFix/>
          </a:blip>
          <a:srcRect b="0" l="0" r="0" t="0"/>
          <a:stretch/>
        </p:blipFill>
        <p:spPr>
          <a:xfrm>
            <a:off x="1132608" y="4191000"/>
            <a:ext cx="6781799" cy="2209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1"/>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SSTF</a:t>
            </a:r>
            <a:endParaRPr/>
          </a:p>
        </p:txBody>
      </p:sp>
      <p:sp>
        <p:nvSpPr>
          <p:cNvPr id="482" name="Google Shape;482;p41"/>
          <p:cNvSpPr txBox="1"/>
          <p:nvPr>
            <p:ph idx="1" type="body"/>
          </p:nvPr>
        </p:nvSpPr>
        <p:spPr>
          <a:xfrm>
            <a:off x="609600" y="7620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sz="2400"/>
              <a:t>Advantages:</a:t>
            </a:r>
            <a:endParaRPr/>
          </a:p>
          <a:p>
            <a:pPr indent="-342900" lvl="0" marL="342900" rtl="0" algn="l">
              <a:spcBef>
                <a:spcPts val="480"/>
              </a:spcBef>
              <a:spcAft>
                <a:spcPts val="0"/>
              </a:spcAft>
              <a:buClr>
                <a:schemeClr val="dk1"/>
              </a:buClr>
              <a:buSzPts val="2400"/>
              <a:buChar char="•"/>
            </a:pPr>
            <a:r>
              <a:rPr lang="en-US" sz="2400"/>
              <a:t>Average Response Time decreases</a:t>
            </a:r>
            <a:endParaRPr/>
          </a:p>
          <a:p>
            <a:pPr indent="-285750" lvl="1" marL="742950" rtl="0" algn="l">
              <a:spcBef>
                <a:spcPts val="480"/>
              </a:spcBef>
              <a:spcAft>
                <a:spcPts val="0"/>
              </a:spcAft>
              <a:buClr>
                <a:srgbClr val="0070C0"/>
              </a:buClr>
              <a:buSzPts val="2400"/>
              <a:buChar char="–"/>
            </a:pPr>
            <a:r>
              <a:rPr b="1" lang="en-US" sz="2400">
                <a:solidFill>
                  <a:srgbClr val="0070C0"/>
                </a:solidFill>
              </a:rPr>
              <a:t>Very Good Average Response time</a:t>
            </a:r>
            <a:endParaRPr b="1" sz="2400">
              <a:solidFill>
                <a:srgbClr val="0070C0"/>
              </a:solidFill>
            </a:endParaRPr>
          </a:p>
          <a:p>
            <a:pPr indent="-342900" lvl="0" marL="342900" rtl="0" algn="l">
              <a:spcBef>
                <a:spcPts val="480"/>
              </a:spcBef>
              <a:spcAft>
                <a:spcPts val="0"/>
              </a:spcAft>
              <a:buClr>
                <a:schemeClr val="dk1"/>
              </a:buClr>
              <a:buSzPts val="2400"/>
              <a:buChar char="•"/>
            </a:pPr>
            <a:r>
              <a:rPr lang="en-US" sz="2400"/>
              <a:t>Throughput increases</a:t>
            </a:r>
            <a:endParaRPr/>
          </a:p>
          <a:p>
            <a:pPr indent="-285750" lvl="1" marL="742950" rtl="0" algn="l">
              <a:spcBef>
                <a:spcPts val="480"/>
              </a:spcBef>
              <a:spcAft>
                <a:spcPts val="0"/>
              </a:spcAft>
              <a:buClr>
                <a:srgbClr val="0070C0"/>
              </a:buClr>
              <a:buSzPts val="2400"/>
              <a:buChar char="–"/>
            </a:pPr>
            <a:r>
              <a:rPr b="1" lang="en-US" sz="2400">
                <a:solidFill>
                  <a:srgbClr val="0070C0"/>
                </a:solidFill>
              </a:rPr>
              <a:t>Excellent Throughput (More seeks are short)</a:t>
            </a:r>
            <a:endParaRPr/>
          </a:p>
          <a:p>
            <a:pPr indent="0" lvl="0" marL="0" rtl="0" algn="l">
              <a:spcBef>
                <a:spcPts val="480"/>
              </a:spcBef>
              <a:spcAft>
                <a:spcPts val="0"/>
              </a:spcAft>
              <a:buClr>
                <a:schemeClr val="dk1"/>
              </a:buClr>
              <a:buSzPts val="2400"/>
              <a:buNone/>
            </a:pPr>
            <a:r>
              <a:t/>
            </a:r>
            <a:endParaRPr b="1" sz="2400">
              <a:solidFill>
                <a:srgbClr val="0070C0"/>
              </a:solidFill>
            </a:endParaRPr>
          </a:p>
          <a:p>
            <a:pPr indent="0" lvl="0" marL="0" rtl="0" algn="l">
              <a:spcBef>
                <a:spcPts val="480"/>
              </a:spcBef>
              <a:spcAft>
                <a:spcPts val="0"/>
              </a:spcAft>
              <a:buClr>
                <a:schemeClr val="dk1"/>
              </a:buClr>
              <a:buSzPts val="2400"/>
              <a:buNone/>
            </a:pPr>
            <a:r>
              <a:rPr lang="en-US" sz="2400"/>
              <a:t>Disadvantages:</a:t>
            </a:r>
            <a:endParaRPr/>
          </a:p>
          <a:p>
            <a:pPr indent="-342900" lvl="0" marL="342900" rtl="0" algn="l">
              <a:spcBef>
                <a:spcPts val="480"/>
              </a:spcBef>
              <a:spcAft>
                <a:spcPts val="0"/>
              </a:spcAft>
              <a:buClr>
                <a:srgbClr val="0070C0"/>
              </a:buClr>
              <a:buSzPts val="2400"/>
              <a:buChar char="•"/>
            </a:pPr>
            <a:r>
              <a:rPr b="1" lang="en-US" sz="2400">
                <a:solidFill>
                  <a:srgbClr val="0070C0"/>
                </a:solidFill>
              </a:rPr>
              <a:t>Overhead </a:t>
            </a:r>
            <a:r>
              <a:rPr lang="en-US" sz="2400"/>
              <a:t>to calculate </a:t>
            </a:r>
            <a:r>
              <a:rPr b="1" lang="en-US" sz="2400">
                <a:solidFill>
                  <a:srgbClr val="0070C0"/>
                </a:solidFill>
              </a:rPr>
              <a:t>seek time in advance</a:t>
            </a:r>
            <a:endParaRPr/>
          </a:p>
          <a:p>
            <a:pPr indent="-342900" lvl="0" marL="342900" rtl="0" algn="l">
              <a:spcBef>
                <a:spcPts val="480"/>
              </a:spcBef>
              <a:spcAft>
                <a:spcPts val="0"/>
              </a:spcAft>
              <a:buClr>
                <a:schemeClr val="dk1"/>
              </a:buClr>
              <a:buSzPts val="2400"/>
              <a:buChar char="•"/>
            </a:pPr>
            <a:r>
              <a:rPr lang="en-US" sz="2400"/>
              <a:t>Can </a:t>
            </a:r>
            <a:r>
              <a:rPr b="1" lang="en-US" sz="2400">
                <a:solidFill>
                  <a:srgbClr val="0070C0"/>
                </a:solidFill>
              </a:rPr>
              <a:t>cause Starvation </a:t>
            </a:r>
            <a:r>
              <a:rPr lang="en-US" sz="2400"/>
              <a:t>for a request </a:t>
            </a:r>
            <a:endParaRPr sz="2400"/>
          </a:p>
          <a:p>
            <a:pPr indent="-342900" lvl="0" marL="342900" rtl="0" algn="l">
              <a:spcBef>
                <a:spcPts val="480"/>
              </a:spcBef>
              <a:spcAft>
                <a:spcPts val="0"/>
              </a:spcAft>
              <a:buClr>
                <a:schemeClr val="dk1"/>
              </a:buClr>
              <a:buSzPts val="2400"/>
              <a:buChar char="•"/>
            </a:pPr>
            <a:r>
              <a:rPr lang="en-US" sz="2400"/>
              <a:t>High variance of response time </a:t>
            </a:r>
            <a:endParaRPr sz="2400"/>
          </a:p>
          <a:p>
            <a:pPr indent="-285750" lvl="1" marL="742950" rtl="0" algn="l">
              <a:spcBef>
                <a:spcPts val="480"/>
              </a:spcBef>
              <a:spcAft>
                <a:spcPts val="0"/>
              </a:spcAft>
              <a:buClr>
                <a:srgbClr val="0070C0"/>
              </a:buClr>
              <a:buSzPts val="2400"/>
              <a:buChar char="–"/>
            </a:pPr>
            <a:r>
              <a:rPr b="1" lang="en-US" sz="2400">
                <a:solidFill>
                  <a:srgbClr val="0070C0"/>
                </a:solidFill>
              </a:rPr>
              <a:t>Intolerable Response time variance</a:t>
            </a:r>
            <a:endParaRPr/>
          </a:p>
          <a:p>
            <a:pPr indent="-285750" lvl="1" marL="742950" rtl="0" algn="l">
              <a:spcBef>
                <a:spcPts val="480"/>
              </a:spcBef>
              <a:spcAft>
                <a:spcPts val="0"/>
              </a:spcAft>
              <a:buClr>
                <a:schemeClr val="dk1"/>
              </a:buClr>
              <a:buSzPts val="2400"/>
              <a:buChar char="–"/>
            </a:pPr>
            <a:r>
              <a:rPr lang="en-US" sz="2400"/>
              <a:t>SSTF </a:t>
            </a:r>
            <a:r>
              <a:rPr b="1" lang="en-US" sz="2400">
                <a:solidFill>
                  <a:srgbClr val="0070C0"/>
                </a:solidFill>
              </a:rPr>
              <a:t>favors only some requests</a:t>
            </a:r>
            <a:endParaRPr/>
          </a:p>
          <a:p>
            <a:pPr indent="-158750" lvl="1" marL="742950" rtl="0" algn="l">
              <a:spcBef>
                <a:spcPts val="400"/>
              </a:spcBef>
              <a:spcAft>
                <a:spcPts val="0"/>
              </a:spcAft>
              <a:buClr>
                <a:schemeClr val="dk1"/>
              </a:buClr>
              <a:buSzPts val="2000"/>
              <a:buNone/>
            </a:pPr>
            <a:r>
              <a:t/>
            </a:r>
            <a:endParaRPr b="1" sz="2000">
              <a:solidFill>
                <a:srgbClr val="0070C0"/>
              </a:solidFill>
            </a:endParaRPr>
          </a:p>
          <a:p>
            <a:pPr indent="-190500" lvl="0" marL="34290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r>
              <a:t/>
            </a:r>
            <a:endParaRPr sz="2400"/>
          </a:p>
          <a:p>
            <a:pPr indent="0" lvl="0" marL="0" rtl="0" algn="l">
              <a:spcBef>
                <a:spcPts val="480"/>
              </a:spcBef>
              <a:spcAft>
                <a:spcPts val="0"/>
              </a:spcAft>
              <a:buClr>
                <a:schemeClr val="dk1"/>
              </a:buClr>
              <a:buSzPts val="2400"/>
              <a:buNone/>
            </a:pPr>
            <a:br>
              <a:rPr lang="en-US" sz="2400"/>
            </a:br>
            <a:endParaRPr sz="2400"/>
          </a:p>
        </p:txBody>
      </p:sp>
      <p:sp>
        <p:nvSpPr>
          <p:cNvPr id="483" name="Google Shape;483;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84" name="Google Shape;484;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85" name="Google Shape;485;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2"/>
          <p:cNvSpPr txBox="1"/>
          <p:nvPr>
            <p:ph type="title"/>
          </p:nvPr>
        </p:nvSpPr>
        <p:spPr>
          <a:xfrm>
            <a:off x="457200" y="155575"/>
            <a:ext cx="7840663"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a:t>
            </a:r>
            <a:endParaRPr/>
          </a:p>
        </p:txBody>
      </p:sp>
      <p:sp>
        <p:nvSpPr>
          <p:cNvPr id="492" name="Google Shape;492;p42"/>
          <p:cNvSpPr txBox="1"/>
          <p:nvPr>
            <p:ph idx="1" type="body"/>
          </p:nvPr>
        </p:nvSpPr>
        <p:spPr>
          <a:xfrm>
            <a:off x="860425" y="1150938"/>
            <a:ext cx="72056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 disk arm starts at one end of the disk, and </a:t>
            </a:r>
            <a:r>
              <a:rPr lang="en-US" sz="2400">
                <a:solidFill>
                  <a:srgbClr val="0070C0"/>
                </a:solidFill>
              </a:rPr>
              <a:t>moves toward the other end, servicing requests until it gets to the other end of the disk</a:t>
            </a:r>
            <a:endParaRPr/>
          </a:p>
          <a:p>
            <a:pPr indent="-190500" lvl="0" marL="342900" rtl="0" algn="l">
              <a:spcBef>
                <a:spcPts val="480"/>
              </a:spcBef>
              <a:spcAft>
                <a:spcPts val="0"/>
              </a:spcAft>
              <a:buClr>
                <a:schemeClr val="dk1"/>
              </a:buClr>
              <a:buSzPts val="2400"/>
              <a:buNone/>
            </a:pPr>
            <a:r>
              <a:t/>
            </a:r>
            <a:endParaRPr sz="2400">
              <a:solidFill>
                <a:srgbClr val="0070C0"/>
              </a:solidFill>
            </a:endParaRPr>
          </a:p>
          <a:p>
            <a:pPr indent="-342900" lvl="0" marL="342900" rtl="0" algn="l">
              <a:spcBef>
                <a:spcPts val="480"/>
              </a:spcBef>
              <a:spcAft>
                <a:spcPts val="0"/>
              </a:spcAft>
              <a:buClr>
                <a:srgbClr val="0070C0"/>
              </a:buClr>
              <a:buSzPts val="2400"/>
              <a:buChar char="•"/>
            </a:pPr>
            <a:r>
              <a:rPr lang="en-US" sz="2400">
                <a:solidFill>
                  <a:srgbClr val="0070C0"/>
                </a:solidFill>
              </a:rPr>
              <a:t>At the other end</a:t>
            </a:r>
            <a:r>
              <a:rPr lang="en-US" sz="2400"/>
              <a:t>, the </a:t>
            </a:r>
            <a:r>
              <a:rPr lang="en-US" sz="2400">
                <a:solidFill>
                  <a:srgbClr val="0070C0"/>
                </a:solidFill>
              </a:rPr>
              <a:t>direction</a:t>
            </a:r>
            <a:r>
              <a:rPr lang="en-US" sz="2400"/>
              <a:t> of head movement is </a:t>
            </a:r>
            <a:r>
              <a:rPr lang="en-US" sz="2400">
                <a:solidFill>
                  <a:srgbClr val="0070C0"/>
                </a:solidFill>
              </a:rPr>
              <a:t>reversed and servicing continues.</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head continuously scans back and forth across the disk.</a:t>
            </a:r>
            <a:endParaRPr sz="2400"/>
          </a:p>
        </p:txBody>
      </p:sp>
      <p:sp>
        <p:nvSpPr>
          <p:cNvPr id="493" name="Google Shape;493;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494" name="Google Shape;494;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495" name="Google Shape;495;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3"/>
          <p:cNvSpPr txBox="1"/>
          <p:nvPr>
            <p:ph type="title"/>
          </p:nvPr>
        </p:nvSpPr>
        <p:spPr>
          <a:xfrm>
            <a:off x="457200" y="155575"/>
            <a:ext cx="7840663"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a:t>
            </a:r>
            <a:endParaRPr/>
          </a:p>
        </p:txBody>
      </p:sp>
      <p:sp>
        <p:nvSpPr>
          <p:cNvPr id="502" name="Google Shape;502;p43"/>
          <p:cNvSpPr txBox="1"/>
          <p:nvPr>
            <p:ph idx="1" type="body"/>
          </p:nvPr>
        </p:nvSpPr>
        <p:spPr>
          <a:xfrm>
            <a:off x="860425" y="1150938"/>
            <a:ext cx="72056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3366FF"/>
              </a:buClr>
              <a:buSzPts val="2800"/>
              <a:buChar char="•"/>
            </a:pPr>
            <a:r>
              <a:rPr b="1" lang="en-US" sz="2800">
                <a:solidFill>
                  <a:srgbClr val="3366FF"/>
                </a:solidFill>
              </a:rPr>
              <a:t>SCAN algorithm</a:t>
            </a:r>
            <a:r>
              <a:rPr lang="en-US" sz="2800">
                <a:solidFill>
                  <a:srgbClr val="3366FF"/>
                </a:solidFill>
              </a:rPr>
              <a:t> </a:t>
            </a:r>
            <a:r>
              <a:rPr lang="en-US" sz="2800"/>
              <a:t>Sometimes called the </a:t>
            </a:r>
            <a:r>
              <a:rPr b="1" lang="en-US" sz="2800">
                <a:solidFill>
                  <a:srgbClr val="3366FF"/>
                </a:solidFill>
              </a:rPr>
              <a:t>elevator algorithm</a:t>
            </a:r>
            <a:endParaRPr/>
          </a:p>
          <a:p>
            <a:pPr indent="-342900" lvl="0" marL="342900" rtl="0" algn="l">
              <a:spcBef>
                <a:spcPts val="560"/>
              </a:spcBef>
              <a:spcAft>
                <a:spcPts val="0"/>
              </a:spcAft>
              <a:buClr>
                <a:schemeClr val="dk1"/>
              </a:buClr>
              <a:buSzPts val="2800"/>
              <a:buChar char="•"/>
            </a:pPr>
            <a:r>
              <a:rPr lang="en-US" sz="2800"/>
              <a:t>Since the disk arm behaves just like an elevator in a building, </a:t>
            </a:r>
            <a:endParaRPr sz="2800"/>
          </a:p>
          <a:p>
            <a:pPr indent="-285750" lvl="1" marL="742950" rtl="0" algn="l">
              <a:spcBef>
                <a:spcPts val="560"/>
              </a:spcBef>
              <a:spcAft>
                <a:spcPts val="0"/>
              </a:spcAft>
              <a:buClr>
                <a:schemeClr val="dk1"/>
              </a:buClr>
              <a:buSzPts val="2800"/>
              <a:buChar char="–"/>
            </a:pPr>
            <a:r>
              <a:rPr lang="en-US"/>
              <a:t>First servicing all the </a:t>
            </a:r>
            <a:r>
              <a:rPr b="1" lang="en-US">
                <a:solidFill>
                  <a:srgbClr val="0070C0"/>
                </a:solidFill>
              </a:rPr>
              <a:t>requests going up </a:t>
            </a:r>
            <a:r>
              <a:rPr lang="en-US"/>
              <a:t>and </a:t>
            </a:r>
            <a:endParaRPr/>
          </a:p>
          <a:p>
            <a:pPr indent="-285750" lvl="1" marL="742950" rtl="0" algn="l">
              <a:spcBef>
                <a:spcPts val="560"/>
              </a:spcBef>
              <a:spcAft>
                <a:spcPts val="0"/>
              </a:spcAft>
              <a:buClr>
                <a:schemeClr val="dk1"/>
              </a:buClr>
              <a:buSzPts val="2800"/>
              <a:buChar char="–"/>
            </a:pPr>
            <a:r>
              <a:rPr lang="en-US"/>
              <a:t>then reversing to </a:t>
            </a:r>
            <a:r>
              <a:rPr b="1" lang="en-US">
                <a:solidFill>
                  <a:srgbClr val="0070C0"/>
                </a:solidFill>
              </a:rPr>
              <a:t>service requests the other way.</a:t>
            </a:r>
            <a:endParaRPr b="1">
              <a:solidFill>
                <a:srgbClr val="0070C0"/>
              </a:solidFill>
            </a:endParaRPr>
          </a:p>
        </p:txBody>
      </p:sp>
      <p:sp>
        <p:nvSpPr>
          <p:cNvPr id="503" name="Google Shape;503;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04" name="Google Shape;504;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05" name="Google Shape;505;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4"/>
          <p:cNvSpPr txBox="1"/>
          <p:nvPr>
            <p:ph type="title"/>
          </p:nvPr>
        </p:nvSpPr>
        <p:spPr>
          <a:xfrm>
            <a:off x="457200" y="19526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 (Cont.)</a:t>
            </a:r>
            <a:endParaRPr/>
          </a:p>
        </p:txBody>
      </p:sp>
      <p:pic>
        <p:nvPicPr>
          <p:cNvPr id="512" name="Google Shape;512;p44"/>
          <p:cNvPicPr preferRelativeResize="0"/>
          <p:nvPr/>
        </p:nvPicPr>
        <p:blipFill rotWithShape="1">
          <a:blip r:embed="rId3">
            <a:alphaModFix/>
          </a:blip>
          <a:srcRect b="0" l="0" r="0" t="0"/>
          <a:stretch/>
        </p:blipFill>
        <p:spPr>
          <a:xfrm>
            <a:off x="0" y="762000"/>
            <a:ext cx="8991600" cy="5579725"/>
          </a:xfrm>
          <a:prstGeom prst="rect">
            <a:avLst/>
          </a:prstGeom>
          <a:noFill/>
          <a:ln>
            <a:noFill/>
          </a:ln>
        </p:spPr>
      </p:pic>
      <p:sp>
        <p:nvSpPr>
          <p:cNvPr id="513" name="Google Shape;513;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14" name="Google Shape;514;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15" name="Google Shape;515;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5"/>
          <p:cNvSpPr txBox="1"/>
          <p:nvPr>
            <p:ph type="title"/>
          </p:nvPr>
        </p:nvSpPr>
        <p:spPr>
          <a:xfrm>
            <a:off x="419100" y="76200"/>
            <a:ext cx="8229600" cy="414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SCAN (Cont.)</a:t>
            </a:r>
            <a:endParaRPr/>
          </a:p>
        </p:txBody>
      </p:sp>
      <p:pic>
        <p:nvPicPr>
          <p:cNvPr id="522" name="Google Shape;522;p45"/>
          <p:cNvPicPr preferRelativeResize="0"/>
          <p:nvPr/>
        </p:nvPicPr>
        <p:blipFill rotWithShape="1">
          <a:blip r:embed="rId3">
            <a:alphaModFix/>
          </a:blip>
          <a:srcRect b="0" l="0" r="0" t="0"/>
          <a:stretch/>
        </p:blipFill>
        <p:spPr>
          <a:xfrm>
            <a:off x="1746250" y="3810001"/>
            <a:ext cx="5981700" cy="2590800"/>
          </a:xfrm>
          <a:prstGeom prst="rect">
            <a:avLst/>
          </a:prstGeom>
          <a:noFill/>
          <a:ln>
            <a:noFill/>
          </a:ln>
        </p:spPr>
      </p:pic>
      <p:sp>
        <p:nvSpPr>
          <p:cNvPr id="523" name="Google Shape;523;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24" name="Google Shape;524;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25" name="Google Shape;525;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6" name="Google Shape;526;p45"/>
          <p:cNvSpPr/>
          <p:nvPr/>
        </p:nvSpPr>
        <p:spPr>
          <a:xfrm>
            <a:off x="671945" y="1828800"/>
            <a:ext cx="7696200" cy="83099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70C0"/>
              </a:buClr>
              <a:buSzPts val="2400"/>
              <a:buFont typeface="Arial"/>
              <a:buChar char="•"/>
            </a:pPr>
            <a:r>
              <a:rPr b="1" lang="en-US" sz="2400">
                <a:solidFill>
                  <a:srgbClr val="0070C0"/>
                </a:solidFill>
                <a:latin typeface="Calibri"/>
                <a:ea typeface="Calibri"/>
                <a:cs typeface="Calibri"/>
                <a:sym typeface="Calibri"/>
              </a:rPr>
              <a:t>Need to know the direction of head movement in addition to the head's current position, In Advance</a:t>
            </a:r>
            <a:endParaRPr b="1" sz="2400">
              <a:solidFill>
                <a:srgbClr val="0070C0"/>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6"/>
          <p:cNvSpPr txBox="1"/>
          <p:nvPr>
            <p:ph type="title"/>
          </p:nvPr>
        </p:nvSpPr>
        <p:spPr>
          <a:xfrm>
            <a:off x="419100" y="76200"/>
            <a:ext cx="8229600" cy="41433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SCAN (Cont.)</a:t>
            </a:r>
            <a:endParaRPr/>
          </a:p>
        </p:txBody>
      </p:sp>
      <p:pic>
        <p:nvPicPr>
          <p:cNvPr id="533" name="Google Shape;533;p46"/>
          <p:cNvPicPr preferRelativeResize="0"/>
          <p:nvPr/>
        </p:nvPicPr>
        <p:blipFill rotWithShape="1">
          <a:blip r:embed="rId3">
            <a:alphaModFix/>
          </a:blip>
          <a:srcRect b="0" l="0" r="0" t="0"/>
          <a:stretch/>
        </p:blipFill>
        <p:spPr>
          <a:xfrm>
            <a:off x="1746250" y="3048000"/>
            <a:ext cx="5981700" cy="3352801"/>
          </a:xfrm>
          <a:prstGeom prst="rect">
            <a:avLst/>
          </a:prstGeom>
          <a:noFill/>
          <a:ln>
            <a:noFill/>
          </a:ln>
        </p:spPr>
      </p:pic>
      <p:sp>
        <p:nvSpPr>
          <p:cNvPr id="534" name="Google Shape;534;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35" name="Google Shape;535;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36" name="Google Shape;536;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7" name="Google Shape;537;p46"/>
          <p:cNvSpPr/>
          <p:nvPr/>
        </p:nvSpPr>
        <p:spPr>
          <a:xfrm>
            <a:off x="692727" y="533400"/>
            <a:ext cx="7696200" cy="230832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Assuming that the disk arm is moving toward 0 and that the initial head  position is again 53,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The head will next service 37 and then 14. </a:t>
            </a:r>
            <a:endParaRPr sz="2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At cylinder 0, the arm will reverse and will move toward the other end of the disk, servicing the requests at 65, 67, 98, 122, 124, and 183 </a:t>
            </a:r>
            <a:endParaRPr sz="24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7"/>
          <p:cNvSpPr txBox="1"/>
          <p:nvPr>
            <p:ph type="title"/>
          </p:nvPr>
        </p:nvSpPr>
        <p:spPr>
          <a:xfrm>
            <a:off x="457200" y="19526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 (Cont.)</a:t>
            </a:r>
            <a:endParaRPr/>
          </a:p>
        </p:txBody>
      </p:sp>
      <p:pic>
        <p:nvPicPr>
          <p:cNvPr id="544" name="Google Shape;544;p47"/>
          <p:cNvPicPr preferRelativeResize="0"/>
          <p:nvPr/>
        </p:nvPicPr>
        <p:blipFill rotWithShape="1">
          <a:blip r:embed="rId3">
            <a:alphaModFix/>
          </a:blip>
          <a:srcRect b="0" l="0" r="0" t="0"/>
          <a:stretch/>
        </p:blipFill>
        <p:spPr>
          <a:xfrm>
            <a:off x="1746250" y="3929062"/>
            <a:ext cx="5981700" cy="2014538"/>
          </a:xfrm>
          <a:prstGeom prst="rect">
            <a:avLst/>
          </a:prstGeom>
          <a:noFill/>
          <a:ln>
            <a:noFill/>
          </a:ln>
        </p:spPr>
      </p:pic>
      <p:sp>
        <p:nvSpPr>
          <p:cNvPr id="545" name="Google Shape;54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46" name="Google Shape;54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47" name="Google Shape;54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8" name="Google Shape;548;p47"/>
          <p:cNvSpPr/>
          <p:nvPr/>
        </p:nvSpPr>
        <p:spPr>
          <a:xfrm>
            <a:off x="1143000" y="1028343"/>
            <a:ext cx="7239000" cy="267765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If a request arrives in the queue just </a:t>
            </a:r>
            <a:r>
              <a:rPr b="1" lang="en-US" sz="2400">
                <a:solidFill>
                  <a:srgbClr val="0070C0"/>
                </a:solidFill>
                <a:latin typeface="Calibri"/>
                <a:ea typeface="Calibri"/>
                <a:cs typeface="Calibri"/>
                <a:sym typeface="Calibri"/>
              </a:rPr>
              <a:t>in front of the head</a:t>
            </a:r>
            <a:r>
              <a:rPr lang="en-US"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it will be </a:t>
            </a:r>
            <a:r>
              <a:rPr b="1" i="0" lang="en-US" sz="2400" u="none" cap="none" strike="noStrike">
                <a:solidFill>
                  <a:srgbClr val="0070C0"/>
                </a:solidFill>
                <a:latin typeface="Calibri"/>
                <a:ea typeface="Calibri"/>
                <a:cs typeface="Calibri"/>
                <a:sym typeface="Calibri"/>
              </a:rPr>
              <a:t>serviced almost immediately;</a:t>
            </a:r>
            <a:endParaRPr/>
          </a:p>
          <a:p>
            <a:pPr indent="-133350" lvl="0" marL="285750" marR="0" rtl="0" algn="l">
              <a:spcBef>
                <a:spcPts val="0"/>
              </a:spcBef>
              <a:spcAft>
                <a:spcPts val="0"/>
              </a:spcAft>
              <a:buClr>
                <a:schemeClr val="dk1"/>
              </a:buClr>
              <a:buSzPts val="2400"/>
              <a:buFont typeface="Arial"/>
              <a:buNone/>
            </a:pPr>
            <a:r>
              <a:t/>
            </a:r>
            <a:endParaRPr sz="24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A request arriving just </a:t>
            </a:r>
            <a:r>
              <a:rPr b="1" lang="en-US" sz="2400">
                <a:solidFill>
                  <a:srgbClr val="0070C0"/>
                </a:solidFill>
                <a:latin typeface="Calibri"/>
                <a:ea typeface="Calibri"/>
                <a:cs typeface="Calibri"/>
                <a:sym typeface="Calibri"/>
              </a:rPr>
              <a:t>behind the head </a:t>
            </a:r>
            <a:endParaRPr b="1" sz="2400">
              <a:solidFill>
                <a:srgbClr val="0070C0"/>
              </a:solidFill>
              <a:latin typeface="Calibri"/>
              <a:ea typeface="Calibri"/>
              <a:cs typeface="Calibri"/>
              <a:sym typeface="Calibri"/>
            </a:endParaRPr>
          </a:p>
          <a:p>
            <a:pPr indent="-285750" lvl="1" marL="74295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will have to </a:t>
            </a:r>
            <a:r>
              <a:rPr b="1" i="0" lang="en-US" sz="2400" u="none" cap="none" strike="noStrike">
                <a:solidFill>
                  <a:srgbClr val="0070C0"/>
                </a:solidFill>
                <a:latin typeface="Calibri"/>
                <a:ea typeface="Calibri"/>
                <a:cs typeface="Calibri"/>
                <a:sym typeface="Calibri"/>
              </a:rPr>
              <a:t>wait until the arm moves to the end of the disk, reverses direction</a:t>
            </a:r>
            <a:r>
              <a:rPr b="0" i="0" lang="en-US" sz="2400" u="none" cap="none" strike="noStrike">
                <a:solidFill>
                  <a:schemeClr val="dk1"/>
                </a:solidFill>
                <a:latin typeface="Calibri"/>
                <a:ea typeface="Calibri"/>
                <a:cs typeface="Calibri"/>
                <a:sym typeface="Calibri"/>
              </a:rPr>
              <a:t>, and comes back.</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8"/>
          <p:cNvSpPr txBox="1"/>
          <p:nvPr>
            <p:ph type="title"/>
          </p:nvPr>
        </p:nvSpPr>
        <p:spPr>
          <a:xfrm>
            <a:off x="457200" y="155575"/>
            <a:ext cx="7840663"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a:t>
            </a:r>
            <a:endParaRPr/>
          </a:p>
        </p:txBody>
      </p:sp>
      <p:sp>
        <p:nvSpPr>
          <p:cNvPr id="555" name="Google Shape;555;p48"/>
          <p:cNvSpPr txBox="1"/>
          <p:nvPr>
            <p:ph idx="1" type="body"/>
          </p:nvPr>
        </p:nvSpPr>
        <p:spPr>
          <a:xfrm>
            <a:off x="860425" y="1150938"/>
            <a:ext cx="72056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Illustration shows total head movement of </a:t>
            </a:r>
            <a:r>
              <a:rPr lang="en-US" sz="2400">
                <a:solidFill>
                  <a:srgbClr val="0070C0"/>
                </a:solidFill>
              </a:rPr>
              <a:t>208 cylinders</a:t>
            </a:r>
            <a:endParaRPr/>
          </a:p>
          <a:p>
            <a:pPr indent="-342900" lvl="0" marL="342900" rtl="0" algn="l">
              <a:spcBef>
                <a:spcPts val="480"/>
              </a:spcBef>
              <a:spcAft>
                <a:spcPts val="0"/>
              </a:spcAft>
              <a:buClr>
                <a:schemeClr val="accent1"/>
              </a:buClr>
              <a:buSzPts val="2400"/>
              <a:buChar char="•"/>
            </a:pPr>
            <a:r>
              <a:rPr b="1" lang="en-US" sz="2400">
                <a:solidFill>
                  <a:schemeClr val="accent1"/>
                </a:solidFill>
              </a:rPr>
              <a:t>SSTF, </a:t>
            </a:r>
            <a:r>
              <a:rPr b="1" lang="en-US" sz="2400">
                <a:solidFill>
                  <a:srgbClr val="0070C0"/>
                </a:solidFill>
              </a:rPr>
              <a:t>236 cylinders-</a:t>
            </a:r>
            <a:endParaRPr/>
          </a:p>
          <a:p>
            <a:pPr indent="-342900" lvl="0" marL="342900" rtl="0" algn="l">
              <a:spcBef>
                <a:spcPts val="480"/>
              </a:spcBef>
              <a:spcAft>
                <a:spcPts val="0"/>
              </a:spcAft>
              <a:buClr>
                <a:srgbClr val="0070C0"/>
              </a:buClr>
              <a:buSzPts val="2400"/>
              <a:buChar char="•"/>
            </a:pPr>
            <a:r>
              <a:rPr b="1" lang="en-US" sz="2400">
                <a:solidFill>
                  <a:srgbClr val="0070C0"/>
                </a:solidFill>
              </a:rPr>
              <a:t>FCFS, 640 cylinders</a:t>
            </a:r>
            <a:endParaRPr sz="2400"/>
          </a:p>
          <a:p>
            <a:pPr indent="-190500" lvl="0" marL="342900" rtl="0" algn="l">
              <a:spcBef>
                <a:spcPts val="480"/>
              </a:spcBef>
              <a:spcAft>
                <a:spcPts val="0"/>
              </a:spcAft>
              <a:buClr>
                <a:schemeClr val="dk1"/>
              </a:buClr>
              <a:buSzPts val="2400"/>
              <a:buNone/>
            </a:pPr>
            <a:r>
              <a:t/>
            </a:r>
            <a:endParaRPr sz="2400"/>
          </a:p>
        </p:txBody>
      </p:sp>
      <p:sp>
        <p:nvSpPr>
          <p:cNvPr id="556" name="Google Shape;556;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57" name="Google Shape;557;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58" name="Google Shape;558;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9"/>
          <p:cNvSpPr txBox="1"/>
          <p:nvPr>
            <p:ph type="title"/>
          </p:nvPr>
        </p:nvSpPr>
        <p:spPr>
          <a:xfrm>
            <a:off x="457200" y="155575"/>
            <a:ext cx="7840663"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a:t>
            </a:r>
            <a:endParaRPr/>
          </a:p>
        </p:txBody>
      </p:sp>
      <p:sp>
        <p:nvSpPr>
          <p:cNvPr id="565" name="Google Shape;565;p49"/>
          <p:cNvSpPr txBox="1"/>
          <p:nvPr>
            <p:ph idx="1" type="body"/>
          </p:nvPr>
        </p:nvSpPr>
        <p:spPr>
          <a:xfrm>
            <a:off x="860425" y="1150938"/>
            <a:ext cx="72056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But note that if requests are uniformly dense, largest density at other end of disk and those wait the longest</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a:t>
            </a:r>
            <a:endParaRPr/>
          </a:p>
          <a:p>
            <a:pPr indent="-190500" lvl="0" marL="342900" rtl="0" algn="l">
              <a:spcBef>
                <a:spcPts val="480"/>
              </a:spcBef>
              <a:spcAft>
                <a:spcPts val="0"/>
              </a:spcAft>
              <a:buClr>
                <a:schemeClr val="dk1"/>
              </a:buClr>
              <a:buSzPts val="2400"/>
              <a:buNone/>
            </a:pPr>
            <a:r>
              <a:t/>
            </a:r>
            <a:endParaRPr sz="2400"/>
          </a:p>
        </p:txBody>
      </p:sp>
      <p:sp>
        <p:nvSpPr>
          <p:cNvPr id="566" name="Google Shape;56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67" name="Google Shape;56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68" name="Google Shape;56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0"/>
          <p:cNvSpPr txBox="1"/>
          <p:nvPr>
            <p:ph type="title"/>
          </p:nvPr>
        </p:nvSpPr>
        <p:spPr>
          <a:xfrm>
            <a:off x="457200" y="155575"/>
            <a:ext cx="7840663"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a:t>
            </a:r>
            <a:endParaRPr/>
          </a:p>
        </p:txBody>
      </p:sp>
      <p:sp>
        <p:nvSpPr>
          <p:cNvPr id="575" name="Google Shape;575;p50"/>
          <p:cNvSpPr txBox="1"/>
          <p:nvPr>
            <p:ph idx="1" type="body"/>
          </p:nvPr>
        </p:nvSpPr>
        <p:spPr>
          <a:xfrm>
            <a:off x="533400" y="1219200"/>
            <a:ext cx="8283575"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Assuming a uniform distribution of requests for cylinders, </a:t>
            </a:r>
            <a:endParaRPr sz="2400"/>
          </a:p>
          <a:p>
            <a:pPr indent="-342900" lvl="0" marL="342900" rtl="0" algn="l">
              <a:spcBef>
                <a:spcPts val="480"/>
              </a:spcBef>
              <a:spcAft>
                <a:spcPts val="0"/>
              </a:spcAft>
              <a:buClr>
                <a:schemeClr val="dk1"/>
              </a:buClr>
              <a:buSzPts val="2400"/>
              <a:buChar char="•"/>
            </a:pPr>
            <a:r>
              <a:rPr lang="en-US" sz="2400"/>
              <a:t>When the head reaches one end and reverses direction. </a:t>
            </a:r>
            <a:endParaRPr sz="2400"/>
          </a:p>
          <a:p>
            <a:pPr indent="-342900" lvl="0" marL="342900" rtl="0" algn="l">
              <a:spcBef>
                <a:spcPts val="480"/>
              </a:spcBef>
              <a:spcAft>
                <a:spcPts val="0"/>
              </a:spcAft>
              <a:buClr>
                <a:schemeClr val="dk1"/>
              </a:buClr>
              <a:buSzPts val="2400"/>
              <a:buChar char="•"/>
            </a:pPr>
            <a:r>
              <a:rPr lang="en-US" sz="2400"/>
              <a:t>At this point, </a:t>
            </a:r>
            <a:r>
              <a:rPr b="1" lang="en-US" sz="2400">
                <a:solidFill>
                  <a:srgbClr val="0070C0"/>
                </a:solidFill>
              </a:rPr>
              <a:t>relatively few requests are immediately in front of the head, since these cylinders have recently been serviced. </a:t>
            </a:r>
            <a:endParaRPr b="1" sz="2400">
              <a:solidFill>
                <a:srgbClr val="0070C0"/>
              </a:solidFill>
            </a:endParaRPr>
          </a:p>
          <a:p>
            <a:pPr indent="-342900" lvl="0" marL="342900" rtl="0" algn="l">
              <a:spcBef>
                <a:spcPts val="480"/>
              </a:spcBef>
              <a:spcAft>
                <a:spcPts val="0"/>
              </a:spcAft>
              <a:buClr>
                <a:schemeClr val="dk1"/>
              </a:buClr>
              <a:buSzPts val="2400"/>
              <a:buChar char="•"/>
            </a:pPr>
            <a:r>
              <a:rPr lang="en-US" sz="2400"/>
              <a:t>The </a:t>
            </a:r>
            <a:r>
              <a:rPr b="1" lang="en-US" sz="2400">
                <a:solidFill>
                  <a:srgbClr val="0070C0"/>
                </a:solidFill>
              </a:rPr>
              <a:t>heaviest density </a:t>
            </a:r>
            <a:r>
              <a:rPr lang="en-US" sz="2400"/>
              <a:t>of requests is at the </a:t>
            </a:r>
            <a:r>
              <a:rPr b="1" lang="en-US" sz="2400">
                <a:solidFill>
                  <a:srgbClr val="0070C0"/>
                </a:solidFill>
              </a:rPr>
              <a:t>other end of the disk </a:t>
            </a:r>
            <a:endParaRPr b="1" sz="2400">
              <a:solidFill>
                <a:srgbClr val="0070C0"/>
              </a:solidFill>
            </a:endParaRPr>
          </a:p>
          <a:p>
            <a:pPr indent="-342900" lvl="0" marL="342900" rtl="0" algn="l">
              <a:spcBef>
                <a:spcPts val="480"/>
              </a:spcBef>
              <a:spcAft>
                <a:spcPts val="0"/>
              </a:spcAft>
              <a:buClr>
                <a:srgbClr val="0070C0"/>
              </a:buClr>
              <a:buSzPts val="2400"/>
              <a:buChar char="•"/>
            </a:pPr>
            <a:r>
              <a:rPr b="1" lang="en-US" sz="2400">
                <a:solidFill>
                  <a:srgbClr val="0070C0"/>
                </a:solidFill>
              </a:rPr>
              <a:t>These requests have also waited the longest so why not go there first? </a:t>
            </a:r>
            <a:endParaRPr b="1" sz="2400">
              <a:solidFill>
                <a:srgbClr val="0070C0"/>
              </a:solidFill>
            </a:endParaRPr>
          </a:p>
          <a:p>
            <a:pPr indent="-342900" lvl="0" marL="342900" rtl="0" algn="l">
              <a:spcBef>
                <a:spcPts val="480"/>
              </a:spcBef>
              <a:spcAft>
                <a:spcPts val="0"/>
              </a:spcAft>
              <a:buClr>
                <a:schemeClr val="dk1"/>
              </a:buClr>
              <a:buSzPts val="2400"/>
              <a:buChar char="•"/>
            </a:pPr>
            <a:r>
              <a:rPr lang="en-US" sz="2400"/>
              <a:t>That is the idea of the next algorithm.</a:t>
            </a:r>
            <a:endParaRPr sz="2400"/>
          </a:p>
        </p:txBody>
      </p:sp>
      <p:sp>
        <p:nvSpPr>
          <p:cNvPr id="576" name="Google Shape;57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77" name="Google Shape;57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78" name="Google Shape;57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SCAN</a:t>
            </a:r>
            <a:endParaRPr/>
          </a:p>
        </p:txBody>
      </p:sp>
      <p:sp>
        <p:nvSpPr>
          <p:cNvPr id="584" name="Google Shape;584;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lang="en-US" sz="2800"/>
              <a:t>Advantages:</a:t>
            </a:r>
            <a:endParaRPr/>
          </a:p>
          <a:p>
            <a:pPr indent="-342900" lvl="0" marL="342900" rtl="0" algn="l">
              <a:spcBef>
                <a:spcPts val="560"/>
              </a:spcBef>
              <a:spcAft>
                <a:spcPts val="0"/>
              </a:spcAft>
              <a:buClr>
                <a:schemeClr val="dk1"/>
              </a:buClr>
              <a:buSzPts val="2800"/>
              <a:buChar char="•"/>
            </a:pPr>
            <a:r>
              <a:rPr lang="en-US" sz="2800"/>
              <a:t>High throughput</a:t>
            </a:r>
            <a:endParaRPr/>
          </a:p>
          <a:p>
            <a:pPr indent="-342900" lvl="0" marL="342900" rtl="0" algn="l">
              <a:spcBef>
                <a:spcPts val="560"/>
              </a:spcBef>
              <a:spcAft>
                <a:spcPts val="0"/>
              </a:spcAft>
              <a:buClr>
                <a:schemeClr val="dk1"/>
              </a:buClr>
              <a:buSzPts val="2800"/>
              <a:buChar char="•"/>
            </a:pPr>
            <a:r>
              <a:rPr lang="en-US" sz="2800"/>
              <a:t>Low variance of response time</a:t>
            </a:r>
            <a:endParaRPr/>
          </a:p>
          <a:p>
            <a:pPr indent="-285750" lvl="1" marL="742950" rtl="0" algn="l">
              <a:spcBef>
                <a:spcPts val="480"/>
              </a:spcBef>
              <a:spcAft>
                <a:spcPts val="0"/>
              </a:spcAft>
              <a:buClr>
                <a:srgbClr val="0070C0"/>
              </a:buClr>
              <a:buSzPts val="2400"/>
              <a:buChar char="–"/>
            </a:pPr>
            <a:r>
              <a:rPr b="1" lang="en-US" sz="2400">
                <a:solidFill>
                  <a:srgbClr val="0070C0"/>
                </a:solidFill>
              </a:rPr>
              <a:t>Response time variance better than SSTF</a:t>
            </a:r>
            <a:endParaRPr b="1" sz="2400">
              <a:solidFill>
                <a:srgbClr val="0070C0"/>
              </a:solidFill>
            </a:endParaRPr>
          </a:p>
          <a:p>
            <a:pPr indent="-342900" lvl="0" marL="342900" rtl="0" algn="l">
              <a:spcBef>
                <a:spcPts val="560"/>
              </a:spcBef>
              <a:spcAft>
                <a:spcPts val="0"/>
              </a:spcAft>
              <a:buClr>
                <a:schemeClr val="dk1"/>
              </a:buClr>
              <a:buSzPts val="2800"/>
              <a:buChar char="•"/>
            </a:pPr>
            <a:r>
              <a:rPr lang="en-US" sz="2800"/>
              <a:t>Average response time</a:t>
            </a:r>
            <a:endParaRPr/>
          </a:p>
          <a:p>
            <a:pPr indent="-285750" lvl="1" marL="742950" rtl="0" algn="l">
              <a:spcBef>
                <a:spcPts val="480"/>
              </a:spcBef>
              <a:spcAft>
                <a:spcPts val="0"/>
              </a:spcAft>
              <a:buClr>
                <a:srgbClr val="0070C0"/>
              </a:buClr>
              <a:buSzPts val="2400"/>
              <a:buChar char="–"/>
            </a:pPr>
            <a:r>
              <a:rPr b="1" lang="en-US" sz="2400">
                <a:solidFill>
                  <a:srgbClr val="0070C0"/>
                </a:solidFill>
              </a:rPr>
              <a:t>Worse than SSTF, better than FCFS</a:t>
            </a:r>
            <a:endParaRPr b="1" sz="2400">
              <a:solidFill>
                <a:srgbClr val="0070C0"/>
              </a:solidFill>
            </a:endParaRPr>
          </a:p>
          <a:p>
            <a:pPr indent="0" lvl="0" marL="0" rtl="0" algn="l">
              <a:spcBef>
                <a:spcPts val="560"/>
              </a:spcBef>
              <a:spcAft>
                <a:spcPts val="0"/>
              </a:spcAft>
              <a:buClr>
                <a:schemeClr val="dk1"/>
              </a:buClr>
              <a:buSzPts val="2800"/>
              <a:buNone/>
            </a:pPr>
            <a:r>
              <a:rPr lang="en-US" sz="2800"/>
              <a:t>Disadvantages:</a:t>
            </a:r>
            <a:endParaRPr/>
          </a:p>
          <a:p>
            <a:pPr indent="-342900" lvl="0" marL="342900" rtl="0" algn="l">
              <a:spcBef>
                <a:spcPts val="560"/>
              </a:spcBef>
              <a:spcAft>
                <a:spcPts val="0"/>
              </a:spcAft>
              <a:buClr>
                <a:schemeClr val="dk1"/>
              </a:buClr>
              <a:buSzPts val="2800"/>
              <a:buChar char="•"/>
            </a:pPr>
            <a:r>
              <a:rPr lang="en-US" sz="2800"/>
              <a:t>Long waiting time for requests for locations just visited by disk arm</a:t>
            </a:r>
            <a:endParaRPr/>
          </a:p>
          <a:p>
            <a:pPr indent="-165100" lvl="0" marL="342900" rtl="0" algn="l">
              <a:spcBef>
                <a:spcPts val="560"/>
              </a:spcBef>
              <a:spcAft>
                <a:spcPts val="0"/>
              </a:spcAft>
              <a:buClr>
                <a:schemeClr val="dk1"/>
              </a:buClr>
              <a:buSzPts val="2800"/>
              <a:buNone/>
            </a:pPr>
            <a:r>
              <a:t/>
            </a:r>
            <a:endParaRPr sz="2800"/>
          </a:p>
        </p:txBody>
      </p:sp>
      <p:sp>
        <p:nvSpPr>
          <p:cNvPr id="585" name="Google Shape;58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86" name="Google Shape;58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87" name="Google Shape;58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2"/>
          <p:cNvSpPr txBox="1"/>
          <p:nvPr>
            <p:ph type="title"/>
          </p:nvPr>
        </p:nvSpPr>
        <p:spPr>
          <a:xfrm>
            <a:off x="457200" y="155575"/>
            <a:ext cx="7869238"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C-SCAN</a:t>
            </a:r>
            <a:endParaRPr/>
          </a:p>
        </p:txBody>
      </p:sp>
      <p:sp>
        <p:nvSpPr>
          <p:cNvPr id="594" name="Google Shape;594;p52"/>
          <p:cNvSpPr txBox="1"/>
          <p:nvPr>
            <p:ph idx="1" type="body"/>
          </p:nvPr>
        </p:nvSpPr>
        <p:spPr>
          <a:xfrm>
            <a:off x="889000" y="1138238"/>
            <a:ext cx="70405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70C0"/>
              </a:buClr>
              <a:buSzPts val="3200"/>
              <a:buChar char="•"/>
            </a:pPr>
            <a:r>
              <a:rPr lang="en-US">
                <a:solidFill>
                  <a:srgbClr val="0070C0"/>
                </a:solidFill>
              </a:rPr>
              <a:t>Circular Scan</a:t>
            </a:r>
            <a:endParaRPr b="1">
              <a:solidFill>
                <a:srgbClr val="0070C0"/>
              </a:solidFill>
            </a:endParaRPr>
          </a:p>
        </p:txBody>
      </p:sp>
      <p:sp>
        <p:nvSpPr>
          <p:cNvPr id="595" name="Google Shape;595;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596" name="Google Shape;596;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597" name="Google Shape;597;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3"/>
          <p:cNvSpPr txBox="1"/>
          <p:nvPr>
            <p:ph type="title"/>
          </p:nvPr>
        </p:nvSpPr>
        <p:spPr>
          <a:xfrm>
            <a:off x="457200" y="155575"/>
            <a:ext cx="7869238"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C-SCAN</a:t>
            </a:r>
            <a:endParaRPr/>
          </a:p>
        </p:txBody>
      </p:sp>
      <p:sp>
        <p:nvSpPr>
          <p:cNvPr id="604" name="Google Shape;604;p53"/>
          <p:cNvSpPr txBox="1"/>
          <p:nvPr>
            <p:ph idx="1" type="body"/>
          </p:nvPr>
        </p:nvSpPr>
        <p:spPr>
          <a:xfrm>
            <a:off x="889000" y="1138238"/>
            <a:ext cx="70405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head moves from </a:t>
            </a:r>
            <a:r>
              <a:rPr b="1" lang="en-US">
                <a:solidFill>
                  <a:srgbClr val="0070C0"/>
                </a:solidFill>
              </a:rPr>
              <a:t>one end of the disk to the other</a:t>
            </a:r>
            <a:r>
              <a:rPr lang="en-US"/>
              <a:t>, servicing requests as it goes</a:t>
            </a:r>
            <a:endParaRPr/>
          </a:p>
          <a:p>
            <a:pPr indent="-285750" lvl="1" marL="742950" rtl="0" algn="l">
              <a:spcBef>
                <a:spcPts val="560"/>
              </a:spcBef>
              <a:spcAft>
                <a:spcPts val="0"/>
              </a:spcAft>
              <a:buClr>
                <a:schemeClr val="dk1"/>
              </a:buClr>
              <a:buSzPts val="2800"/>
              <a:buChar char="–"/>
            </a:pPr>
            <a:r>
              <a:rPr lang="en-US"/>
              <a:t>When it reaches the other end, however, it </a:t>
            </a:r>
            <a:r>
              <a:rPr b="1" lang="en-US">
                <a:solidFill>
                  <a:srgbClr val="0070C0"/>
                </a:solidFill>
              </a:rPr>
              <a:t>immediately returns to the beginning of the disk</a:t>
            </a:r>
            <a:r>
              <a:rPr lang="en-US"/>
              <a:t>, </a:t>
            </a:r>
            <a:r>
              <a:rPr b="1" lang="en-US">
                <a:solidFill>
                  <a:srgbClr val="0070C0"/>
                </a:solidFill>
              </a:rPr>
              <a:t>without servicing any requests on the return trip</a:t>
            </a:r>
            <a:endParaRPr/>
          </a:p>
        </p:txBody>
      </p:sp>
      <p:sp>
        <p:nvSpPr>
          <p:cNvPr id="605" name="Google Shape;60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06" name="Google Shape;60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07" name="Google Shape;60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4"/>
          <p:cNvSpPr txBox="1"/>
          <p:nvPr>
            <p:ph type="title"/>
          </p:nvPr>
        </p:nvSpPr>
        <p:spPr>
          <a:xfrm>
            <a:off x="457200" y="155575"/>
            <a:ext cx="7869238" cy="57626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C-SCAN</a:t>
            </a:r>
            <a:endParaRPr/>
          </a:p>
        </p:txBody>
      </p:sp>
      <p:sp>
        <p:nvSpPr>
          <p:cNvPr id="614" name="Google Shape;614;p54"/>
          <p:cNvSpPr txBox="1"/>
          <p:nvPr>
            <p:ph idx="1" type="body"/>
          </p:nvPr>
        </p:nvSpPr>
        <p:spPr>
          <a:xfrm>
            <a:off x="889000" y="1138238"/>
            <a:ext cx="7040563"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Provides a more uniform wait time than SCAN</a:t>
            </a:r>
            <a:endParaRPr/>
          </a:p>
          <a:p>
            <a:pPr indent="-342900" lvl="0" marL="342900" rtl="0" algn="l">
              <a:spcBef>
                <a:spcPts val="640"/>
              </a:spcBef>
              <a:spcAft>
                <a:spcPts val="0"/>
              </a:spcAft>
              <a:buClr>
                <a:schemeClr val="dk1"/>
              </a:buClr>
              <a:buSzPts val="3200"/>
              <a:buChar char="•"/>
            </a:pPr>
            <a:r>
              <a:rPr lang="en-US"/>
              <a:t>Treats the cylinders as a </a:t>
            </a:r>
            <a:r>
              <a:rPr b="1" lang="en-US">
                <a:solidFill>
                  <a:srgbClr val="0070C0"/>
                </a:solidFill>
              </a:rPr>
              <a:t>circular list that wraps around from the last cylinder to the first one</a:t>
            </a:r>
            <a:endParaRPr/>
          </a:p>
        </p:txBody>
      </p:sp>
      <p:sp>
        <p:nvSpPr>
          <p:cNvPr id="615" name="Google Shape;61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16" name="Google Shape;61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17" name="Google Shape;61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55"/>
          <p:cNvSpPr txBox="1"/>
          <p:nvPr>
            <p:ph type="title"/>
          </p:nvPr>
        </p:nvSpPr>
        <p:spPr>
          <a:xfrm>
            <a:off x="457200" y="18256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C-SCAN (Cont.)</a:t>
            </a:r>
            <a:endParaRPr/>
          </a:p>
        </p:txBody>
      </p:sp>
      <p:pic>
        <p:nvPicPr>
          <p:cNvPr id="624" name="Google Shape;624;p55"/>
          <p:cNvPicPr preferRelativeResize="0"/>
          <p:nvPr/>
        </p:nvPicPr>
        <p:blipFill rotWithShape="1">
          <a:blip r:embed="rId3">
            <a:alphaModFix/>
          </a:blip>
          <a:srcRect b="3730" l="706" r="924" t="3731"/>
          <a:stretch/>
        </p:blipFill>
        <p:spPr>
          <a:xfrm>
            <a:off x="1638300" y="1265238"/>
            <a:ext cx="5802313" cy="4095750"/>
          </a:xfrm>
          <a:prstGeom prst="rect">
            <a:avLst/>
          </a:prstGeom>
          <a:noFill/>
          <a:ln>
            <a:noFill/>
          </a:ln>
        </p:spPr>
      </p:pic>
      <p:sp>
        <p:nvSpPr>
          <p:cNvPr id="625" name="Google Shape;62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26" name="Google Shape;62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27" name="Google Shape;62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C-SCAN</a:t>
            </a:r>
            <a:endParaRPr/>
          </a:p>
        </p:txBody>
      </p:sp>
      <p:sp>
        <p:nvSpPr>
          <p:cNvPr id="633" name="Google Shape;633;p5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Advantages:</a:t>
            </a:r>
            <a:endParaRPr/>
          </a:p>
          <a:p>
            <a:pPr indent="-342900" lvl="0" marL="342900" rtl="0" algn="l">
              <a:spcBef>
                <a:spcPts val="640"/>
              </a:spcBef>
              <a:spcAft>
                <a:spcPts val="0"/>
              </a:spcAft>
              <a:buClr>
                <a:schemeClr val="dk1"/>
              </a:buClr>
              <a:buSzPts val="3200"/>
              <a:buChar char="•"/>
            </a:pPr>
            <a:r>
              <a:rPr lang="en-US"/>
              <a:t>Provides more uniform wait time compared to SCAN</a:t>
            </a:r>
            <a:endParaRPr/>
          </a:p>
          <a:p>
            <a:pPr indent="0" lvl="0" marL="0" rtl="0" algn="l">
              <a:spcBef>
                <a:spcPts val="640"/>
              </a:spcBef>
              <a:spcAft>
                <a:spcPts val="0"/>
              </a:spcAft>
              <a:buClr>
                <a:schemeClr val="dk1"/>
              </a:buClr>
              <a:buSzPts val="3200"/>
              <a:buNone/>
            </a:pPr>
            <a:br>
              <a:rPr lang="en-US"/>
            </a:br>
            <a:endParaRPr/>
          </a:p>
        </p:txBody>
      </p:sp>
      <p:sp>
        <p:nvSpPr>
          <p:cNvPr id="634" name="Google Shape;634;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35" name="Google Shape;635;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36" name="Google Shape;636;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7"/>
          <p:cNvSpPr txBox="1"/>
          <p:nvPr>
            <p:ph type="title"/>
          </p:nvPr>
        </p:nvSpPr>
        <p:spPr>
          <a:xfrm>
            <a:off x="457200" y="19526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SCAN , C-SCAN</a:t>
            </a:r>
            <a:endParaRPr/>
          </a:p>
        </p:txBody>
      </p:sp>
      <p:sp>
        <p:nvSpPr>
          <p:cNvPr id="643" name="Google Shape;643;p57"/>
          <p:cNvSpPr txBox="1"/>
          <p:nvPr>
            <p:ph idx="1" type="body"/>
          </p:nvPr>
        </p:nvSpPr>
        <p:spPr>
          <a:xfrm>
            <a:off x="901700" y="1138238"/>
            <a:ext cx="6659563" cy="325755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Both SCAN and C-SCAN move the disk arm across the </a:t>
            </a:r>
            <a:r>
              <a:rPr b="1" lang="en-US" sz="2800">
                <a:solidFill>
                  <a:srgbClr val="0070C0"/>
                </a:solidFill>
              </a:rPr>
              <a:t>full width of the disk</a:t>
            </a:r>
            <a:r>
              <a:rPr lang="en-US" sz="2800"/>
              <a:t>.</a:t>
            </a:r>
            <a:endParaRPr/>
          </a:p>
          <a:p>
            <a:pPr indent="-342900" lvl="0" marL="342900" rtl="0" algn="l">
              <a:spcBef>
                <a:spcPts val="560"/>
              </a:spcBef>
              <a:spcAft>
                <a:spcPts val="0"/>
              </a:spcAft>
              <a:buClr>
                <a:schemeClr val="dk1"/>
              </a:buClr>
              <a:buSzPts val="2800"/>
              <a:buChar char="•"/>
            </a:pPr>
            <a:r>
              <a:rPr lang="en-US" sz="2800"/>
              <a:t>In practice </a:t>
            </a:r>
            <a:r>
              <a:rPr b="1" lang="en-US" sz="2800">
                <a:solidFill>
                  <a:srgbClr val="0070C0"/>
                </a:solidFill>
              </a:rPr>
              <a:t>neither algorithm is often implemented this way.</a:t>
            </a:r>
            <a:endParaRPr b="1" sz="2800">
              <a:solidFill>
                <a:srgbClr val="0070C0"/>
              </a:solidFill>
            </a:endParaRPr>
          </a:p>
        </p:txBody>
      </p:sp>
      <p:sp>
        <p:nvSpPr>
          <p:cNvPr id="644" name="Google Shape;644;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45" name="Google Shape;64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46" name="Google Shape;64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8"/>
          <p:cNvSpPr txBox="1"/>
          <p:nvPr>
            <p:ph type="title"/>
          </p:nvPr>
        </p:nvSpPr>
        <p:spPr>
          <a:xfrm>
            <a:off x="457200" y="19526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LOOK, C-LOOK</a:t>
            </a:r>
            <a:endParaRPr/>
          </a:p>
        </p:txBody>
      </p:sp>
      <p:sp>
        <p:nvSpPr>
          <p:cNvPr id="653" name="Google Shape;653;p58"/>
          <p:cNvSpPr txBox="1"/>
          <p:nvPr>
            <p:ph idx="1" type="body"/>
          </p:nvPr>
        </p:nvSpPr>
        <p:spPr>
          <a:xfrm>
            <a:off x="901700" y="1138238"/>
            <a:ext cx="7251700" cy="480536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600"/>
              <a:buChar char="•"/>
            </a:pPr>
            <a:r>
              <a:rPr lang="en-US" sz="2600"/>
              <a:t>LOOK a version of SCAN</a:t>
            </a:r>
            <a:endParaRPr/>
          </a:p>
          <a:p>
            <a:pPr indent="-342900" lvl="0" marL="342900" rtl="0" algn="l">
              <a:spcBef>
                <a:spcPts val="520"/>
              </a:spcBef>
              <a:spcAft>
                <a:spcPts val="0"/>
              </a:spcAft>
              <a:buClr>
                <a:schemeClr val="dk1"/>
              </a:buClr>
              <a:buSzPts val="2600"/>
              <a:buChar char="•"/>
            </a:pPr>
            <a:r>
              <a:rPr lang="en-US" sz="2600"/>
              <a:t>C-LOOK a version of C-SCAN</a:t>
            </a:r>
            <a:endParaRPr/>
          </a:p>
          <a:p>
            <a:pPr indent="-342900" lvl="0" marL="342900" rtl="0" algn="l">
              <a:spcBef>
                <a:spcPts val="520"/>
              </a:spcBef>
              <a:spcAft>
                <a:spcPts val="0"/>
              </a:spcAft>
              <a:buClr>
                <a:schemeClr val="dk1"/>
              </a:buClr>
              <a:buSzPts val="2600"/>
              <a:buChar char="•"/>
            </a:pPr>
            <a:r>
              <a:rPr lang="en-US" sz="2600"/>
              <a:t>They </a:t>
            </a:r>
            <a:r>
              <a:rPr b="1" i="1" lang="en-US" sz="2600">
                <a:solidFill>
                  <a:srgbClr val="0070C0"/>
                </a:solidFill>
              </a:rPr>
              <a:t>look </a:t>
            </a:r>
            <a:r>
              <a:rPr b="1" lang="en-US" sz="2600">
                <a:solidFill>
                  <a:srgbClr val="0070C0"/>
                </a:solidFill>
              </a:rPr>
              <a:t>for a request before continuing </a:t>
            </a:r>
            <a:r>
              <a:rPr lang="en-US" sz="2600"/>
              <a:t>to move in a given direction</a:t>
            </a:r>
            <a:endParaRPr sz="2600"/>
          </a:p>
          <a:p>
            <a:pPr indent="-342900" lvl="0" marL="342900" rtl="0" algn="l">
              <a:spcBef>
                <a:spcPts val="520"/>
              </a:spcBef>
              <a:spcAft>
                <a:spcPts val="0"/>
              </a:spcAft>
              <a:buClr>
                <a:schemeClr val="dk1"/>
              </a:buClr>
              <a:buSzPts val="2600"/>
              <a:buChar char="•"/>
            </a:pPr>
            <a:r>
              <a:rPr lang="en-US" sz="2600"/>
              <a:t>Arm only goes </a:t>
            </a:r>
            <a:r>
              <a:rPr b="1" lang="en-US" sz="2600">
                <a:solidFill>
                  <a:srgbClr val="0070C0"/>
                </a:solidFill>
              </a:rPr>
              <a:t>as far as the last request in each direction</a:t>
            </a:r>
            <a:r>
              <a:rPr lang="en-US" sz="2600"/>
              <a:t>, then </a:t>
            </a:r>
            <a:r>
              <a:rPr b="1" lang="en-US" sz="2600">
                <a:solidFill>
                  <a:srgbClr val="0070C0"/>
                </a:solidFill>
              </a:rPr>
              <a:t>reverses direction immediately, instead of going all the way to the end of the disk </a:t>
            </a:r>
            <a:endParaRPr/>
          </a:p>
        </p:txBody>
      </p:sp>
      <p:sp>
        <p:nvSpPr>
          <p:cNvPr id="654" name="Google Shape;654;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55" name="Google Shape;655;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56" name="Google Shape;656;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9"/>
          <p:cNvSpPr txBox="1"/>
          <p:nvPr>
            <p:ph idx="1" type="body"/>
          </p:nvPr>
        </p:nvSpPr>
        <p:spPr>
          <a:xfrm>
            <a:off x="457200" y="152400"/>
            <a:ext cx="8229600" cy="6629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t>LOOK Algorithm</a:t>
            </a:r>
            <a:endParaRPr/>
          </a:p>
          <a:p>
            <a:pPr indent="-342900" lvl="0" marL="342900" rtl="0" algn="l">
              <a:spcBef>
                <a:spcPts val="480"/>
              </a:spcBef>
              <a:spcAft>
                <a:spcPts val="0"/>
              </a:spcAft>
              <a:buClr>
                <a:schemeClr val="dk1"/>
              </a:buClr>
              <a:buSzPts val="2400"/>
              <a:buChar char="•"/>
            </a:pPr>
            <a:r>
              <a:rPr lang="en-US" sz="2400"/>
              <a:t>Request sequence = {176, 79, 34, 60, 92, 11, 41, 114} </a:t>
            </a:r>
            <a:endParaRPr sz="2400"/>
          </a:p>
          <a:p>
            <a:pPr indent="-342900" lvl="0" marL="342900" rtl="0" algn="l">
              <a:spcBef>
                <a:spcPts val="480"/>
              </a:spcBef>
              <a:spcAft>
                <a:spcPts val="0"/>
              </a:spcAft>
              <a:buClr>
                <a:schemeClr val="dk1"/>
              </a:buClr>
              <a:buSzPts val="2400"/>
              <a:buChar char="•"/>
            </a:pPr>
            <a:r>
              <a:rPr lang="en-US" sz="2400"/>
              <a:t>Initial head position = 50 </a:t>
            </a:r>
            <a:endParaRPr sz="2400"/>
          </a:p>
          <a:p>
            <a:pPr indent="-342900" lvl="0" marL="342900" rtl="0" algn="l">
              <a:spcBef>
                <a:spcPts val="480"/>
              </a:spcBef>
              <a:spcAft>
                <a:spcPts val="0"/>
              </a:spcAft>
              <a:buClr>
                <a:schemeClr val="dk1"/>
              </a:buClr>
              <a:buSzPts val="2400"/>
              <a:buChar char="•"/>
            </a:pPr>
            <a:r>
              <a:rPr lang="en-US" sz="2400"/>
              <a:t>Direction = right (We are moving from left to right)</a:t>
            </a:r>
            <a:endParaRPr/>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Seek Sequence is 60 79 92 114 176 41 34 11</a:t>
            </a:r>
            <a:endParaRPr/>
          </a:p>
          <a:p>
            <a:pPr indent="-190500" lvl="0" marL="342900" rtl="0" algn="l">
              <a:spcBef>
                <a:spcPts val="480"/>
              </a:spcBef>
              <a:spcAft>
                <a:spcPts val="0"/>
              </a:spcAft>
              <a:buClr>
                <a:schemeClr val="dk1"/>
              </a:buClr>
              <a:buSzPts val="2400"/>
              <a:buNone/>
            </a:pPr>
            <a:r>
              <a:t/>
            </a:r>
            <a:endParaRPr sz="2400"/>
          </a:p>
        </p:txBody>
      </p:sp>
      <p:sp>
        <p:nvSpPr>
          <p:cNvPr id="662" name="Google Shape;66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63" name="Google Shape;66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64" name="Google Shape;66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65" name="Google Shape;665;p59"/>
          <p:cNvPicPr preferRelativeResize="0"/>
          <p:nvPr/>
        </p:nvPicPr>
        <p:blipFill rotWithShape="1">
          <a:blip r:embed="rId3">
            <a:alphaModFix/>
          </a:blip>
          <a:srcRect b="0" l="0" r="0" t="0"/>
          <a:stretch/>
        </p:blipFill>
        <p:spPr>
          <a:xfrm>
            <a:off x="457200" y="1905000"/>
            <a:ext cx="8153400" cy="38862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0"/>
          <p:cNvSpPr txBox="1"/>
          <p:nvPr>
            <p:ph idx="1" type="body"/>
          </p:nvPr>
        </p:nvSpPr>
        <p:spPr>
          <a:xfrm>
            <a:off x="457200" y="152400"/>
            <a:ext cx="8229600" cy="66294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sz="2400"/>
              <a:t>LOOK Algorithm</a:t>
            </a:r>
            <a:endParaRPr/>
          </a:p>
          <a:p>
            <a:pPr indent="-342900" lvl="0" marL="342900" rtl="0" algn="l">
              <a:spcBef>
                <a:spcPts val="444"/>
              </a:spcBef>
              <a:spcAft>
                <a:spcPts val="0"/>
              </a:spcAft>
              <a:buClr>
                <a:schemeClr val="dk1"/>
              </a:buClr>
              <a:buSzPct val="100000"/>
              <a:buChar char="•"/>
            </a:pPr>
            <a:r>
              <a:rPr lang="en-US" sz="2400"/>
              <a:t>Request sequence = {176, 79, 34, 60, 92, 11, 41, 114} </a:t>
            </a:r>
            <a:endParaRPr sz="2400"/>
          </a:p>
          <a:p>
            <a:pPr indent="-342900" lvl="0" marL="342900" rtl="0" algn="l">
              <a:spcBef>
                <a:spcPts val="444"/>
              </a:spcBef>
              <a:spcAft>
                <a:spcPts val="0"/>
              </a:spcAft>
              <a:buClr>
                <a:schemeClr val="dk1"/>
              </a:buClr>
              <a:buSzPct val="100000"/>
              <a:buChar char="•"/>
            </a:pPr>
            <a:r>
              <a:rPr lang="en-US" sz="2400"/>
              <a:t>Initial head position = 50 </a:t>
            </a:r>
            <a:endParaRPr sz="2400"/>
          </a:p>
          <a:p>
            <a:pPr indent="-342900" lvl="0" marL="342900" rtl="0" algn="l">
              <a:spcBef>
                <a:spcPts val="444"/>
              </a:spcBef>
              <a:spcAft>
                <a:spcPts val="0"/>
              </a:spcAft>
              <a:buClr>
                <a:schemeClr val="dk1"/>
              </a:buClr>
              <a:buSzPct val="100000"/>
              <a:buChar char="•"/>
            </a:pPr>
            <a:r>
              <a:rPr lang="en-US" sz="2400"/>
              <a:t>Direction = right (We are moving from left to right)</a:t>
            </a:r>
            <a:endParaRPr/>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chemeClr val="dk1"/>
              </a:buClr>
              <a:buSzPct val="100000"/>
              <a:buChar char="•"/>
            </a:pPr>
            <a:r>
              <a:rPr lang="en-US" sz="2400"/>
              <a:t>Seek Sequence is 60 79 92 114 176 41 34 11</a:t>
            </a:r>
            <a:endParaRPr/>
          </a:p>
          <a:p>
            <a:pPr indent="-342900" lvl="0" marL="342900" rtl="0" algn="l">
              <a:spcBef>
                <a:spcPts val="444"/>
              </a:spcBef>
              <a:spcAft>
                <a:spcPts val="0"/>
              </a:spcAft>
              <a:buClr>
                <a:schemeClr val="dk1"/>
              </a:buClr>
              <a:buSzPct val="100000"/>
              <a:buChar char="•"/>
            </a:pPr>
            <a:r>
              <a:rPr lang="en-US" sz="2400"/>
              <a:t>Total seek count= (60-50)+(79-60)+(92-79)+(114-92)+(176-114)+(176-41)+(41-34)+(34-11)=291</a:t>
            </a:r>
            <a:endParaRPr/>
          </a:p>
          <a:p>
            <a:pPr indent="-342900" lvl="0" marL="342900" rtl="0" algn="l">
              <a:spcBef>
                <a:spcPts val="444"/>
              </a:spcBef>
              <a:spcAft>
                <a:spcPts val="0"/>
              </a:spcAft>
              <a:buClr>
                <a:schemeClr val="dk1"/>
              </a:buClr>
              <a:buSzPct val="100000"/>
              <a:buChar char="•"/>
            </a:pPr>
            <a:r>
              <a:rPr lang="en-US" sz="2400"/>
              <a:t>Total number of seek operations = 291 </a:t>
            </a:r>
            <a:endParaRPr/>
          </a:p>
          <a:p>
            <a:pPr indent="-201930" lvl="0" marL="342900" rtl="0" algn="l">
              <a:spcBef>
                <a:spcPts val="444"/>
              </a:spcBef>
              <a:spcAft>
                <a:spcPts val="0"/>
              </a:spcAft>
              <a:buClr>
                <a:schemeClr val="dk1"/>
              </a:buClr>
              <a:buSzPct val="100000"/>
              <a:buNone/>
            </a:pPr>
            <a:r>
              <a:t/>
            </a:r>
            <a:endParaRPr sz="2400"/>
          </a:p>
        </p:txBody>
      </p:sp>
      <p:sp>
        <p:nvSpPr>
          <p:cNvPr id="671" name="Google Shape;671;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72" name="Google Shape;672;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73" name="Google Shape;67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74" name="Google Shape;674;p60"/>
          <p:cNvPicPr preferRelativeResize="0"/>
          <p:nvPr/>
        </p:nvPicPr>
        <p:blipFill rotWithShape="1">
          <a:blip r:embed="rId3">
            <a:alphaModFix/>
          </a:blip>
          <a:srcRect b="0" l="0" r="0" t="0"/>
          <a:stretch/>
        </p:blipFill>
        <p:spPr>
          <a:xfrm>
            <a:off x="762000" y="1905000"/>
            <a:ext cx="7058025" cy="26574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C-LOOK</a:t>
            </a:r>
            <a:endParaRPr/>
          </a:p>
        </p:txBody>
      </p:sp>
      <p:sp>
        <p:nvSpPr>
          <p:cNvPr id="680" name="Google Shape;680;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Circular Look</a:t>
            </a:r>
            <a:endParaRPr/>
          </a:p>
        </p:txBody>
      </p:sp>
      <p:sp>
        <p:nvSpPr>
          <p:cNvPr id="681" name="Google Shape;681;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82" name="Google Shape;682;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83" name="Google Shape;683;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2"/>
          <p:cNvSpPr txBox="1"/>
          <p:nvPr>
            <p:ph type="title"/>
          </p:nvPr>
        </p:nvSpPr>
        <p:spPr>
          <a:xfrm>
            <a:off x="798513" y="277813"/>
            <a:ext cx="7888200" cy="5763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C-LOOK (Cont.)</a:t>
            </a:r>
            <a:endParaRPr/>
          </a:p>
        </p:txBody>
      </p:sp>
      <p:pic>
        <p:nvPicPr>
          <p:cNvPr descr="12" id="690" name="Google Shape;690;p62"/>
          <p:cNvPicPr preferRelativeResize="0"/>
          <p:nvPr/>
        </p:nvPicPr>
        <p:blipFill rotWithShape="1">
          <a:blip r:embed="rId3">
            <a:alphaModFix/>
          </a:blip>
          <a:srcRect b="0" l="0" r="0" t="0"/>
          <a:stretch/>
        </p:blipFill>
        <p:spPr>
          <a:xfrm>
            <a:off x="985838" y="1011238"/>
            <a:ext cx="7312025" cy="5140325"/>
          </a:xfrm>
          <a:prstGeom prst="rect">
            <a:avLst/>
          </a:prstGeom>
          <a:noFill/>
          <a:ln>
            <a:noFill/>
          </a:ln>
        </p:spPr>
      </p:pic>
      <p:sp>
        <p:nvSpPr>
          <p:cNvPr id="691" name="Google Shape;691;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692" name="Google Shape;69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693" name="Google Shape;693;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63"/>
          <p:cNvSpPr txBox="1"/>
          <p:nvPr>
            <p:ph idx="1" type="body"/>
          </p:nvPr>
        </p:nvSpPr>
        <p:spPr>
          <a:xfrm>
            <a:off x="457200" y="152400"/>
            <a:ext cx="8229600" cy="66294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sz="2400"/>
              <a:t>C-LOOK Algorithm</a:t>
            </a:r>
            <a:endParaRPr/>
          </a:p>
          <a:p>
            <a:pPr indent="-285750" lvl="1" marL="742950" rtl="0" algn="l">
              <a:spcBef>
                <a:spcPts val="370"/>
              </a:spcBef>
              <a:spcAft>
                <a:spcPts val="0"/>
              </a:spcAft>
              <a:buClr>
                <a:schemeClr val="dk1"/>
              </a:buClr>
              <a:buSzPct val="100000"/>
              <a:buChar char="–"/>
            </a:pPr>
            <a:r>
              <a:rPr lang="en-US" sz="2000"/>
              <a:t>Request sequence = {176, 79, 34, 60, 92, 11, 41, 114} </a:t>
            </a:r>
            <a:endParaRPr sz="2000"/>
          </a:p>
          <a:p>
            <a:pPr indent="-342900" lvl="0" marL="342900" rtl="0" algn="l">
              <a:spcBef>
                <a:spcPts val="444"/>
              </a:spcBef>
              <a:spcAft>
                <a:spcPts val="0"/>
              </a:spcAft>
              <a:buClr>
                <a:schemeClr val="dk1"/>
              </a:buClr>
              <a:buSzPct val="100000"/>
              <a:buChar char="•"/>
            </a:pPr>
            <a:r>
              <a:rPr lang="en-US" sz="2400"/>
              <a:t>Initial head position = 50 </a:t>
            </a:r>
            <a:endParaRPr sz="2400"/>
          </a:p>
          <a:p>
            <a:pPr indent="-342900" lvl="0" marL="342900" rtl="0" algn="l">
              <a:spcBef>
                <a:spcPts val="444"/>
              </a:spcBef>
              <a:spcAft>
                <a:spcPts val="0"/>
              </a:spcAft>
              <a:buClr>
                <a:schemeClr val="dk1"/>
              </a:buClr>
              <a:buSzPct val="100000"/>
              <a:buChar char="•"/>
            </a:pPr>
            <a:r>
              <a:rPr lang="en-US" sz="2400"/>
              <a:t>Direction = right (We are moving from left to right)</a:t>
            </a:r>
            <a:endParaRPr/>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201930" lvl="0" marL="342900" rtl="0" algn="l">
              <a:spcBef>
                <a:spcPts val="444"/>
              </a:spcBef>
              <a:spcAft>
                <a:spcPts val="0"/>
              </a:spcAft>
              <a:buClr>
                <a:schemeClr val="dk1"/>
              </a:buClr>
              <a:buSzPct val="100000"/>
              <a:buNone/>
            </a:pPr>
            <a:r>
              <a:t/>
            </a:r>
            <a:endParaRPr sz="2400"/>
          </a:p>
          <a:p>
            <a:pPr indent="-342900" lvl="0" marL="342900" rtl="0" algn="l">
              <a:spcBef>
                <a:spcPts val="444"/>
              </a:spcBef>
              <a:spcAft>
                <a:spcPts val="0"/>
              </a:spcAft>
              <a:buClr>
                <a:schemeClr val="dk1"/>
              </a:buClr>
              <a:buSzPct val="100000"/>
              <a:buChar char="•"/>
            </a:pPr>
            <a:r>
              <a:rPr lang="en-US" sz="2400"/>
              <a:t>Seek Sequence is 60 79 92 114 176 11 34 41 </a:t>
            </a:r>
            <a:endParaRPr/>
          </a:p>
          <a:p>
            <a:pPr indent="-342900" lvl="0" marL="342900" rtl="0" algn="l">
              <a:spcBef>
                <a:spcPts val="444"/>
              </a:spcBef>
              <a:spcAft>
                <a:spcPts val="0"/>
              </a:spcAft>
              <a:buClr>
                <a:schemeClr val="dk1"/>
              </a:buClr>
              <a:buSzPct val="100000"/>
              <a:buChar char="•"/>
            </a:pPr>
            <a:r>
              <a:rPr lang="en-US" sz="2400"/>
              <a:t>The total seek count = (60 – 50) + (79 – 60) + (92 – 79) + (114 – 92) + (176 – 114) + (176 – 11) + (34 – 11) + (41 – 34) = 321</a:t>
            </a:r>
            <a:endParaRPr/>
          </a:p>
          <a:p>
            <a:pPr indent="-342900" lvl="0" marL="342900" rtl="0" algn="l">
              <a:spcBef>
                <a:spcPts val="444"/>
              </a:spcBef>
              <a:spcAft>
                <a:spcPts val="0"/>
              </a:spcAft>
              <a:buClr>
                <a:schemeClr val="dk1"/>
              </a:buClr>
              <a:buSzPct val="100000"/>
              <a:buChar char="•"/>
            </a:pPr>
            <a:r>
              <a:rPr lang="en-US" sz="2400"/>
              <a:t>Total number of seek operations = 321</a:t>
            </a:r>
            <a:endParaRPr sz="2400"/>
          </a:p>
          <a:p>
            <a:pPr indent="-201930" lvl="0" marL="342900" rtl="0" algn="l">
              <a:spcBef>
                <a:spcPts val="444"/>
              </a:spcBef>
              <a:spcAft>
                <a:spcPts val="0"/>
              </a:spcAft>
              <a:buClr>
                <a:schemeClr val="dk1"/>
              </a:buClr>
              <a:buSzPct val="100000"/>
              <a:buNone/>
            </a:pPr>
            <a:r>
              <a:t/>
            </a:r>
            <a:endParaRPr sz="2400"/>
          </a:p>
        </p:txBody>
      </p:sp>
      <p:sp>
        <p:nvSpPr>
          <p:cNvPr id="699" name="Google Shape;699;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00" name="Google Shape;700;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01" name="Google Shape;701;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https://media.geeksforgeeks.org/wp-content/uploads/20190912194433/fcfs-3.jpg" id="702" name="Google Shape;702;p63"/>
          <p:cNvPicPr preferRelativeResize="0"/>
          <p:nvPr/>
        </p:nvPicPr>
        <p:blipFill rotWithShape="1">
          <a:blip r:embed="rId3">
            <a:alphaModFix/>
          </a:blip>
          <a:srcRect b="0" l="0" r="0" t="0"/>
          <a:stretch/>
        </p:blipFill>
        <p:spPr>
          <a:xfrm>
            <a:off x="401782" y="1676400"/>
            <a:ext cx="8513618" cy="31337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64"/>
          <p:cNvSpPr txBox="1"/>
          <p:nvPr>
            <p:ph type="title"/>
          </p:nvPr>
        </p:nvSpPr>
        <p:spPr>
          <a:xfrm>
            <a:off x="457200" y="195263"/>
            <a:ext cx="8229600"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LOOK,C-LOOK</a:t>
            </a:r>
            <a:endParaRPr/>
          </a:p>
        </p:txBody>
      </p:sp>
      <p:sp>
        <p:nvSpPr>
          <p:cNvPr id="709" name="Google Shape;709;p64"/>
          <p:cNvSpPr txBox="1"/>
          <p:nvPr>
            <p:ph idx="1" type="body"/>
          </p:nvPr>
        </p:nvSpPr>
        <p:spPr>
          <a:xfrm>
            <a:off x="901700" y="1138238"/>
            <a:ext cx="7251700" cy="480536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None/>
            </a:pPr>
            <a:r>
              <a:rPr lang="en-US" sz="2600"/>
              <a:t>LOOK-</a:t>
            </a:r>
            <a:endParaRPr/>
          </a:p>
          <a:p>
            <a:pPr indent="-342900" lvl="0" marL="342900" rtl="0" algn="l">
              <a:spcBef>
                <a:spcPts val="520"/>
              </a:spcBef>
              <a:spcAft>
                <a:spcPts val="0"/>
              </a:spcAft>
              <a:buClr>
                <a:schemeClr val="dk1"/>
              </a:buClr>
              <a:buSzPts val="2600"/>
              <a:buChar char="•"/>
            </a:pPr>
            <a:r>
              <a:rPr lang="en-US" sz="2600"/>
              <a:t>Improves Mean Response time and Variance</a:t>
            </a:r>
            <a:endParaRPr/>
          </a:p>
          <a:p>
            <a:pPr indent="-177800" lvl="0" marL="342900" rtl="0" algn="l">
              <a:spcBef>
                <a:spcPts val="520"/>
              </a:spcBef>
              <a:spcAft>
                <a:spcPts val="0"/>
              </a:spcAft>
              <a:buClr>
                <a:schemeClr val="dk1"/>
              </a:buClr>
              <a:buSzPts val="2600"/>
              <a:buNone/>
            </a:pPr>
            <a:r>
              <a:t/>
            </a:r>
            <a:endParaRPr sz="2600"/>
          </a:p>
          <a:p>
            <a:pPr indent="0" lvl="0" marL="0" rtl="0" algn="l">
              <a:spcBef>
                <a:spcPts val="520"/>
              </a:spcBef>
              <a:spcAft>
                <a:spcPts val="0"/>
              </a:spcAft>
              <a:buClr>
                <a:schemeClr val="dk1"/>
              </a:buClr>
              <a:buSzPts val="2600"/>
              <a:buNone/>
            </a:pPr>
            <a:r>
              <a:rPr lang="en-US" sz="2600"/>
              <a:t>C-LOOK-</a:t>
            </a:r>
            <a:endParaRPr/>
          </a:p>
          <a:p>
            <a:pPr indent="-342900" lvl="0" marL="342900" rtl="0" algn="l">
              <a:spcBef>
                <a:spcPts val="520"/>
              </a:spcBef>
              <a:spcAft>
                <a:spcPts val="0"/>
              </a:spcAft>
              <a:buClr>
                <a:schemeClr val="dk1"/>
              </a:buClr>
              <a:buSzPts val="2600"/>
              <a:buChar char="•"/>
            </a:pPr>
            <a:r>
              <a:rPr lang="en-US" sz="2600"/>
              <a:t>Very popular</a:t>
            </a:r>
            <a:endParaRPr/>
          </a:p>
        </p:txBody>
      </p:sp>
      <p:sp>
        <p:nvSpPr>
          <p:cNvPr id="710" name="Google Shape;710;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11" name="Google Shape;711;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12" name="Google Shape;712;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5"/>
          <p:cNvSpPr txBox="1"/>
          <p:nvPr>
            <p:ph type="title"/>
          </p:nvPr>
        </p:nvSpPr>
        <p:spPr>
          <a:xfrm>
            <a:off x="1276350" y="150813"/>
            <a:ext cx="7712075" cy="5762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000"/>
              <a:buFont typeface="Calibri"/>
              <a:buNone/>
            </a:pPr>
            <a:r>
              <a:rPr lang="en-US" sz="3000"/>
              <a:t>Selecting a Disk-Scheduling Algorithm</a:t>
            </a:r>
            <a:endParaRPr/>
          </a:p>
        </p:txBody>
      </p:sp>
      <p:sp>
        <p:nvSpPr>
          <p:cNvPr id="719" name="Google Shape;719;p65"/>
          <p:cNvSpPr txBox="1"/>
          <p:nvPr>
            <p:ph idx="1" type="body"/>
          </p:nvPr>
        </p:nvSpPr>
        <p:spPr>
          <a:xfrm>
            <a:off x="844550" y="1081088"/>
            <a:ext cx="709295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SSTF is common and has a </a:t>
            </a:r>
            <a:r>
              <a:rPr b="1" lang="en-US" sz="2400">
                <a:solidFill>
                  <a:srgbClr val="0070C0"/>
                </a:solidFill>
              </a:rPr>
              <a:t>natural appeal</a:t>
            </a:r>
            <a:endParaRPr/>
          </a:p>
          <a:p>
            <a:pPr indent="-342900" lvl="0" marL="342900" rtl="0" algn="l">
              <a:spcBef>
                <a:spcPts val="480"/>
              </a:spcBef>
              <a:spcAft>
                <a:spcPts val="0"/>
              </a:spcAft>
              <a:buClr>
                <a:schemeClr val="dk1"/>
              </a:buClr>
              <a:buSzPts val="2400"/>
              <a:buChar char="•"/>
            </a:pPr>
            <a:r>
              <a:rPr lang="en-US" sz="2400"/>
              <a:t>SCAN and C-SCAN perform better for systems that place a </a:t>
            </a:r>
            <a:r>
              <a:rPr b="1" lang="en-US" sz="2400">
                <a:solidFill>
                  <a:srgbClr val="0070C0"/>
                </a:solidFill>
              </a:rPr>
              <a:t>heavy load on the disk</a:t>
            </a:r>
            <a:endParaRPr/>
          </a:p>
          <a:p>
            <a:pPr indent="-285750" lvl="1" marL="742950" rtl="0" algn="l">
              <a:spcBef>
                <a:spcPts val="480"/>
              </a:spcBef>
              <a:spcAft>
                <a:spcPts val="0"/>
              </a:spcAft>
              <a:buClr>
                <a:srgbClr val="0070C0"/>
              </a:buClr>
              <a:buSzPts val="2400"/>
              <a:buChar char="–"/>
            </a:pPr>
            <a:r>
              <a:rPr b="1" lang="en-US" sz="2400">
                <a:solidFill>
                  <a:srgbClr val="0070C0"/>
                </a:solidFill>
              </a:rPr>
              <a:t>Less starvation</a:t>
            </a:r>
            <a:endParaRPr/>
          </a:p>
          <a:p>
            <a:pPr indent="-342900" lvl="0" marL="342900" rtl="0" algn="l">
              <a:spcBef>
                <a:spcPts val="480"/>
              </a:spcBef>
              <a:spcAft>
                <a:spcPts val="0"/>
              </a:spcAft>
              <a:buClr>
                <a:schemeClr val="dk1"/>
              </a:buClr>
              <a:buSzPts val="2400"/>
              <a:buChar char="•"/>
            </a:pPr>
            <a:r>
              <a:rPr lang="en-US" sz="2400"/>
              <a:t>Performance depends on the number and types of requests</a:t>
            </a:r>
            <a:endParaRPr/>
          </a:p>
          <a:p>
            <a:pPr indent="-342900" lvl="0" marL="342900" rtl="0" algn="l">
              <a:spcBef>
                <a:spcPts val="480"/>
              </a:spcBef>
              <a:spcAft>
                <a:spcPts val="0"/>
              </a:spcAft>
              <a:buClr>
                <a:schemeClr val="dk1"/>
              </a:buClr>
              <a:buSzPts val="2400"/>
              <a:buChar char="•"/>
            </a:pPr>
            <a:r>
              <a:rPr lang="en-US" sz="2400"/>
              <a:t>Requests for disk service can be </a:t>
            </a:r>
            <a:r>
              <a:rPr b="1" lang="en-US" sz="2400">
                <a:solidFill>
                  <a:srgbClr val="0070C0"/>
                </a:solidFill>
              </a:rPr>
              <a:t>influenced by the file-allocation method</a:t>
            </a:r>
            <a:endParaRPr/>
          </a:p>
          <a:p>
            <a:pPr indent="-285750" lvl="1" marL="742950" rtl="0" algn="l">
              <a:spcBef>
                <a:spcPts val="480"/>
              </a:spcBef>
              <a:spcAft>
                <a:spcPts val="0"/>
              </a:spcAft>
              <a:buClr>
                <a:srgbClr val="0070C0"/>
              </a:buClr>
              <a:buSzPts val="2400"/>
              <a:buChar char="–"/>
            </a:pPr>
            <a:r>
              <a:rPr b="1" lang="en-US" sz="2400">
                <a:solidFill>
                  <a:srgbClr val="0070C0"/>
                </a:solidFill>
              </a:rPr>
              <a:t>And metadata layout</a:t>
            </a:r>
            <a:endParaRPr/>
          </a:p>
        </p:txBody>
      </p:sp>
      <p:sp>
        <p:nvSpPr>
          <p:cNvPr id="720" name="Google Shape;720;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21" name="Google Shape;721;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22" name="Google Shape;722;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66"/>
          <p:cNvSpPr txBox="1"/>
          <p:nvPr>
            <p:ph type="title"/>
          </p:nvPr>
        </p:nvSpPr>
        <p:spPr>
          <a:xfrm>
            <a:off x="1276350" y="150813"/>
            <a:ext cx="7712075" cy="5762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000"/>
              <a:buFont typeface="Calibri"/>
              <a:buNone/>
            </a:pPr>
            <a:r>
              <a:rPr lang="en-US" sz="3000"/>
              <a:t>Selecting a Disk-Scheduling Algorithm</a:t>
            </a:r>
            <a:endParaRPr/>
          </a:p>
        </p:txBody>
      </p:sp>
      <p:sp>
        <p:nvSpPr>
          <p:cNvPr id="729" name="Google Shape;729;p66"/>
          <p:cNvSpPr txBox="1"/>
          <p:nvPr>
            <p:ph idx="1" type="body"/>
          </p:nvPr>
        </p:nvSpPr>
        <p:spPr>
          <a:xfrm>
            <a:off x="844550" y="1081088"/>
            <a:ext cx="709295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 disk-scheduling algorithm should be written as a </a:t>
            </a:r>
            <a:r>
              <a:rPr b="1" lang="en-US" sz="2400"/>
              <a:t>separate module </a:t>
            </a:r>
            <a:r>
              <a:rPr lang="en-US" sz="2400"/>
              <a:t>of the operating system, </a:t>
            </a:r>
            <a:r>
              <a:rPr b="1" lang="en-US" sz="2400">
                <a:solidFill>
                  <a:srgbClr val="0070C0"/>
                </a:solidFill>
              </a:rPr>
              <a:t>allowing it to be replaced with a different algorithm if necessary</a:t>
            </a:r>
            <a:endParaRPr/>
          </a:p>
          <a:p>
            <a:pPr indent="-342900" lvl="0" marL="342900" rtl="0" algn="l">
              <a:spcBef>
                <a:spcPts val="480"/>
              </a:spcBef>
              <a:spcAft>
                <a:spcPts val="0"/>
              </a:spcAft>
              <a:buClr>
                <a:srgbClr val="0070C0"/>
              </a:buClr>
              <a:buSzPts val="2400"/>
              <a:buChar char="•"/>
            </a:pPr>
            <a:r>
              <a:rPr b="1" lang="en-US" sz="2400">
                <a:solidFill>
                  <a:srgbClr val="0070C0"/>
                </a:solidFill>
              </a:rPr>
              <a:t>Either SSTF or LOOK is a reasonable choice for the default algorithm</a:t>
            </a:r>
            <a:endParaRPr/>
          </a:p>
          <a:p>
            <a:pPr indent="-342900" lvl="0" marL="342900" rtl="0" algn="l">
              <a:spcBef>
                <a:spcPts val="480"/>
              </a:spcBef>
              <a:spcAft>
                <a:spcPts val="0"/>
              </a:spcAft>
              <a:buClr>
                <a:schemeClr val="dk1"/>
              </a:buClr>
              <a:buSzPts val="2400"/>
              <a:buChar char="•"/>
            </a:pPr>
            <a:r>
              <a:rPr lang="en-US" sz="2400"/>
              <a:t>What about rotational latency?</a:t>
            </a:r>
            <a:endParaRPr/>
          </a:p>
          <a:p>
            <a:pPr indent="-285750" lvl="1" marL="742950" rtl="0" algn="l">
              <a:spcBef>
                <a:spcPts val="480"/>
              </a:spcBef>
              <a:spcAft>
                <a:spcPts val="0"/>
              </a:spcAft>
              <a:buClr>
                <a:schemeClr val="dk1"/>
              </a:buClr>
              <a:buSzPts val="2400"/>
              <a:buChar char="–"/>
            </a:pPr>
            <a:r>
              <a:rPr lang="en-US" sz="2400"/>
              <a:t>Difficult for OS to calculate</a:t>
            </a:r>
            <a:endParaRPr/>
          </a:p>
          <a:p>
            <a:pPr indent="-342900" lvl="0" marL="342900" rtl="0" algn="l">
              <a:spcBef>
                <a:spcPts val="480"/>
              </a:spcBef>
              <a:spcAft>
                <a:spcPts val="0"/>
              </a:spcAft>
              <a:buClr>
                <a:schemeClr val="dk1"/>
              </a:buClr>
              <a:buSzPts val="2400"/>
              <a:buChar char="•"/>
            </a:pPr>
            <a:r>
              <a:rPr lang="en-US" sz="2400"/>
              <a:t>How does disk-based queueing effect OS queue ordering efforts?</a:t>
            </a:r>
            <a:endParaRPr/>
          </a:p>
        </p:txBody>
      </p:sp>
      <p:sp>
        <p:nvSpPr>
          <p:cNvPr id="730" name="Google Shape;730;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31" name="Google Shape;731;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32" name="Google Shape;732;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7"/>
          <p:cNvSpPr txBox="1"/>
          <p:nvPr>
            <p:ph idx="1" type="body"/>
          </p:nvPr>
        </p:nvSpPr>
        <p:spPr>
          <a:xfrm>
            <a:off x="457200" y="533400"/>
            <a:ext cx="8229600" cy="55927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ISRO | ISRO CS 2018 | Question 68</a:t>
            </a:r>
            <a:endParaRPr/>
          </a:p>
          <a:p>
            <a:pPr indent="0" lvl="0" marL="0" rtl="0" algn="l">
              <a:spcBef>
                <a:spcPts val="640"/>
              </a:spcBef>
              <a:spcAft>
                <a:spcPts val="0"/>
              </a:spcAft>
              <a:buClr>
                <a:schemeClr val="dk1"/>
              </a:buClr>
              <a:buSzPts val="2400"/>
              <a:buNone/>
            </a:pPr>
            <a:r>
              <a:rPr lang="en-US" sz="2400"/>
              <a:t>Disk requests come to a disk driver for cylinders in the order 10, 22, 20, 2, 40, 6, and 38 at a time when the disk drive is reading from cylinder 20. The seek time is 6 ms/cylinder. The total seek time, if the disk arm scheduling algorithms is first-come-first-served is</a:t>
            </a:r>
            <a:br>
              <a:rPr lang="en-US" sz="2400"/>
            </a:br>
            <a:r>
              <a:rPr b="1" lang="en-US" sz="2400"/>
              <a:t>(A)</a:t>
            </a:r>
            <a:r>
              <a:rPr lang="en-US" sz="2400"/>
              <a:t> 360 ms</a:t>
            </a:r>
            <a:br>
              <a:rPr lang="en-US" sz="2400"/>
            </a:br>
            <a:r>
              <a:rPr b="1" lang="en-US" sz="2400"/>
              <a:t>(B)</a:t>
            </a:r>
            <a:r>
              <a:rPr lang="en-US" sz="2400"/>
              <a:t> 850 ms</a:t>
            </a:r>
            <a:br>
              <a:rPr lang="en-US" sz="2400"/>
            </a:br>
            <a:r>
              <a:rPr b="1" lang="en-US" sz="2400"/>
              <a:t>(C)</a:t>
            </a:r>
            <a:r>
              <a:rPr lang="en-US" sz="2400"/>
              <a:t> 900 ms</a:t>
            </a:r>
            <a:br>
              <a:rPr lang="en-US" sz="2400"/>
            </a:br>
            <a:r>
              <a:rPr b="1" lang="en-US" sz="2400"/>
              <a:t>(D)</a:t>
            </a:r>
            <a:r>
              <a:rPr lang="en-US" sz="2400"/>
              <a:t> None of the above</a:t>
            </a:r>
            <a:br>
              <a:rPr lang="en-US" sz="2400"/>
            </a:br>
            <a:br>
              <a:rPr lang="en-US" sz="2400"/>
            </a:br>
            <a:br>
              <a:rPr lang="en-US"/>
            </a:br>
            <a:endParaRPr/>
          </a:p>
        </p:txBody>
      </p:sp>
      <p:sp>
        <p:nvSpPr>
          <p:cNvPr id="738" name="Google Shape;738;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10/17/2024</a:t>
            </a:r>
            <a:endParaRPr/>
          </a:p>
        </p:txBody>
      </p:sp>
      <p:sp>
        <p:nvSpPr>
          <p:cNvPr id="739" name="Google Shape;739;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40" name="Google Shape;740;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68"/>
          <p:cNvSpPr txBox="1"/>
          <p:nvPr>
            <p:ph idx="1" type="body"/>
          </p:nvPr>
        </p:nvSpPr>
        <p:spPr>
          <a:xfrm>
            <a:off x="457200" y="533400"/>
            <a:ext cx="8229600" cy="5592763"/>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Clr>
                <a:schemeClr val="dk1"/>
              </a:buClr>
              <a:buSzPct val="100000"/>
              <a:buNone/>
            </a:pPr>
            <a:r>
              <a:rPr b="1" lang="en-US"/>
              <a:t>ISRO | ISRO CS 2018 | Question 68</a:t>
            </a:r>
            <a:endParaRPr/>
          </a:p>
          <a:p>
            <a:pPr indent="0" lvl="0" marL="0" rtl="0" algn="l">
              <a:spcBef>
                <a:spcPts val="448"/>
              </a:spcBef>
              <a:spcAft>
                <a:spcPts val="0"/>
              </a:spcAft>
              <a:buClr>
                <a:schemeClr val="dk1"/>
              </a:buClr>
              <a:buSzPct val="100000"/>
              <a:buNone/>
            </a:pPr>
            <a:r>
              <a:rPr lang="en-US"/>
              <a:t>Disk requests come to a disk driver for cylinders in the order 10, 22, 20, 2, 40, 6, and 38 at a time when the disk drive is reading from cylinder 20. The seek time is 6 ms/cylinder. The total seek time, if the disk arm scheduling algorithms is first-come-first-served is</a:t>
            </a:r>
            <a:br>
              <a:rPr lang="en-US"/>
            </a:br>
            <a:r>
              <a:rPr b="1" lang="en-US"/>
              <a:t>(A)</a:t>
            </a:r>
            <a:r>
              <a:rPr lang="en-US"/>
              <a:t> 360 ms</a:t>
            </a:r>
            <a:br>
              <a:rPr lang="en-US"/>
            </a:br>
            <a:r>
              <a:rPr b="1" lang="en-US"/>
              <a:t>(B)</a:t>
            </a:r>
            <a:r>
              <a:rPr lang="en-US"/>
              <a:t> 850 ms</a:t>
            </a:r>
            <a:br>
              <a:rPr lang="en-US"/>
            </a:br>
            <a:r>
              <a:rPr b="1" lang="en-US"/>
              <a:t>(C)</a:t>
            </a:r>
            <a:r>
              <a:rPr lang="en-US"/>
              <a:t> 900 ms</a:t>
            </a:r>
            <a:br>
              <a:rPr lang="en-US"/>
            </a:br>
            <a:r>
              <a:rPr b="1" lang="en-US"/>
              <a:t>(D)</a:t>
            </a:r>
            <a:r>
              <a:rPr lang="en-US"/>
              <a:t> None of the above</a:t>
            </a:r>
            <a:br>
              <a:rPr lang="en-US"/>
            </a:br>
            <a:br>
              <a:rPr lang="en-US"/>
            </a:br>
            <a:br>
              <a:rPr lang="en-US"/>
            </a:br>
            <a:r>
              <a:rPr b="1" lang="en-US"/>
              <a:t>Answer:</a:t>
            </a:r>
            <a:r>
              <a:rPr lang="en-US"/>
              <a:t> </a:t>
            </a:r>
            <a:r>
              <a:rPr b="1" lang="en-US"/>
              <a:t>(D)</a:t>
            </a:r>
            <a:br>
              <a:rPr lang="en-US"/>
            </a:br>
            <a:br>
              <a:rPr lang="en-US"/>
            </a:br>
            <a:r>
              <a:rPr b="1" lang="en-US"/>
              <a:t>Explanation:</a:t>
            </a:r>
            <a:r>
              <a:rPr lang="en-US"/>
              <a:t> FCFS</a:t>
            </a:r>
            <a:br>
              <a:rPr lang="en-US"/>
            </a:br>
            <a:r>
              <a:rPr lang="en-US"/>
              <a:t>Total seek time in FCFS Scheduling when the disk drive is reading from cylinder 20 for cylinders in the order 10, 22, 20, 2, 40, 6, and 38 :</a:t>
            </a:r>
            <a:endParaRPr/>
          </a:p>
          <a:p>
            <a:pPr indent="0" lvl="0" marL="0" rtl="0" algn="l">
              <a:spcBef>
                <a:spcPts val="448"/>
              </a:spcBef>
              <a:spcAft>
                <a:spcPts val="0"/>
              </a:spcAft>
              <a:buClr>
                <a:schemeClr val="dk1"/>
              </a:buClr>
              <a:buSzPct val="100000"/>
              <a:buNone/>
            </a:pPr>
            <a:r>
              <a:rPr lang="en-US"/>
              <a:t>= (10 + 12 + 2 + 18 + 38 + 34 + 32)*6 = 146*6 = 876 ms</a:t>
            </a:r>
            <a:endParaRPr/>
          </a:p>
          <a:p>
            <a:pPr indent="0" lvl="0" marL="0" rtl="0" algn="l">
              <a:spcBef>
                <a:spcPts val="448"/>
              </a:spcBef>
              <a:spcAft>
                <a:spcPts val="0"/>
              </a:spcAft>
              <a:buClr>
                <a:schemeClr val="dk1"/>
              </a:buClr>
              <a:buSzPct val="100000"/>
              <a:buNone/>
            </a:pPr>
            <a:r>
              <a:rPr lang="en-US"/>
              <a:t>As no other option matches the answer, option (D) is correct.</a:t>
            </a:r>
            <a:br>
              <a:rPr lang="en-US"/>
            </a:br>
            <a:endParaRPr/>
          </a:p>
          <a:p>
            <a:pPr indent="0" lvl="0" marL="0" rtl="0" algn="l">
              <a:spcBef>
                <a:spcPts val="448"/>
              </a:spcBef>
              <a:spcAft>
                <a:spcPts val="0"/>
              </a:spcAft>
              <a:buClr>
                <a:schemeClr val="dk1"/>
              </a:buClr>
              <a:buSzPct val="100000"/>
              <a:buNone/>
            </a:pPr>
            <a:r>
              <a:t/>
            </a:r>
            <a:endParaRPr/>
          </a:p>
        </p:txBody>
      </p:sp>
      <p:sp>
        <p:nvSpPr>
          <p:cNvPr id="746" name="Google Shape;746;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10/17/2024</a:t>
            </a:r>
            <a:endParaRPr/>
          </a:p>
        </p:txBody>
      </p:sp>
      <p:sp>
        <p:nvSpPr>
          <p:cNvPr id="747" name="Google Shape;747;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48" name="Google Shape;748;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69"/>
          <p:cNvSpPr txBox="1"/>
          <p:nvPr>
            <p:ph idx="1" type="body"/>
          </p:nvPr>
        </p:nvSpPr>
        <p:spPr>
          <a:xfrm>
            <a:off x="457200" y="228600"/>
            <a:ext cx="8229600" cy="58975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t>GATE | GATE-CS-2014-(Set-1) | Question 65</a:t>
            </a:r>
            <a:endParaRPr/>
          </a:p>
          <a:p>
            <a:pPr indent="0" lvl="0" marL="0" rtl="0" algn="l">
              <a:spcBef>
                <a:spcPts val="480"/>
              </a:spcBef>
              <a:spcAft>
                <a:spcPts val="0"/>
              </a:spcAft>
              <a:buClr>
                <a:schemeClr val="dk1"/>
              </a:buClr>
              <a:buSzPts val="2400"/>
              <a:buNone/>
            </a:pPr>
            <a:r>
              <a:rPr lang="en-US" sz="2400"/>
              <a:t>Suppose a disk has 201 cylinders, numbered from 0 to 200. At some time the disk arm is at cylinder 100, and there is a queue of disk access requests for cylinders 30, 85, 90, 100, 105, 110, 135 and 145. If Shortest-Seek Time First (SSTF) is being used for scheduling the disk access, the request for cylinder 90 is serviced after servicing ____________ number of requests.</a:t>
            </a:r>
            <a:br>
              <a:rPr lang="en-US" sz="2400"/>
            </a:br>
            <a:r>
              <a:rPr b="1" lang="en-US" sz="2400"/>
              <a:t>(A)</a:t>
            </a:r>
            <a:r>
              <a:rPr lang="en-US" sz="2400"/>
              <a:t> 1</a:t>
            </a:r>
            <a:br>
              <a:rPr lang="en-US" sz="2400"/>
            </a:br>
            <a:r>
              <a:rPr b="1" lang="en-US" sz="2400"/>
              <a:t>(B)</a:t>
            </a:r>
            <a:r>
              <a:rPr lang="en-US" sz="2400"/>
              <a:t> 2</a:t>
            </a:r>
            <a:br>
              <a:rPr lang="en-US" sz="2400"/>
            </a:br>
            <a:r>
              <a:rPr b="1" lang="en-US" sz="2400"/>
              <a:t>(C)</a:t>
            </a:r>
            <a:r>
              <a:rPr lang="en-US" sz="2400"/>
              <a:t> 3</a:t>
            </a:r>
            <a:br>
              <a:rPr lang="en-US" sz="2400"/>
            </a:br>
            <a:r>
              <a:rPr b="1" lang="en-US" sz="2400"/>
              <a:t>(D)</a:t>
            </a:r>
            <a:r>
              <a:rPr lang="en-US" sz="2400"/>
              <a:t> 4</a:t>
            </a:r>
            <a:br>
              <a:rPr lang="en-US" sz="2400"/>
            </a:br>
            <a:br>
              <a:rPr lang="en-US" sz="2400"/>
            </a:br>
            <a:br>
              <a:rPr lang="en-US" sz="2400"/>
            </a:br>
            <a:endParaRPr sz="1000"/>
          </a:p>
        </p:txBody>
      </p:sp>
      <p:sp>
        <p:nvSpPr>
          <p:cNvPr id="754" name="Google Shape;754;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10/17/2024</a:t>
            </a:r>
            <a:endParaRPr/>
          </a:p>
        </p:txBody>
      </p:sp>
      <p:sp>
        <p:nvSpPr>
          <p:cNvPr id="755" name="Google Shape;755;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56" name="Google Shape;756;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70"/>
          <p:cNvSpPr txBox="1"/>
          <p:nvPr>
            <p:ph idx="1" type="body"/>
          </p:nvPr>
        </p:nvSpPr>
        <p:spPr>
          <a:xfrm>
            <a:off x="457200" y="228600"/>
            <a:ext cx="8229600" cy="58975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rPr b="1" lang="en-US" sz="2000"/>
              <a:t>GATE | GATE-CS-2014-(Set-1) | Question 65</a:t>
            </a:r>
            <a:endParaRPr/>
          </a:p>
          <a:p>
            <a:pPr indent="0" lvl="0" marL="0" rtl="0" algn="l">
              <a:spcBef>
                <a:spcPts val="400"/>
              </a:spcBef>
              <a:spcAft>
                <a:spcPts val="0"/>
              </a:spcAft>
              <a:buClr>
                <a:schemeClr val="dk1"/>
              </a:buClr>
              <a:buSzPts val="2000"/>
              <a:buNone/>
            </a:pPr>
            <a:r>
              <a:rPr lang="en-US" sz="2000"/>
              <a:t>Suppose a disk has 201 cylinders, numbered from 0 to 200. At some time the disk arm is at cylinder 100, and there is a queue of disk access requests for cylinders 30, 85, 90, 100, 105, 110, 135 and 145. If Shortest-Seek Time First (SSTF) is being used for scheduling the disk access, the request for cylinder 90 is serviced after servicing ____________ number of requests.</a:t>
            </a:r>
            <a:br>
              <a:rPr lang="en-US" sz="2000"/>
            </a:br>
            <a:r>
              <a:rPr b="1" lang="en-US" sz="2000"/>
              <a:t>(A)</a:t>
            </a:r>
            <a:r>
              <a:rPr lang="en-US" sz="2000"/>
              <a:t> 1</a:t>
            </a:r>
            <a:br>
              <a:rPr lang="en-US" sz="2000"/>
            </a:br>
            <a:r>
              <a:rPr b="1" lang="en-US" sz="2000"/>
              <a:t>(B)</a:t>
            </a:r>
            <a:r>
              <a:rPr lang="en-US" sz="2000"/>
              <a:t> 2</a:t>
            </a:r>
            <a:br>
              <a:rPr lang="en-US" sz="2000"/>
            </a:br>
            <a:r>
              <a:rPr b="1" lang="en-US" sz="2000"/>
              <a:t>(C)</a:t>
            </a:r>
            <a:r>
              <a:rPr lang="en-US" sz="2000"/>
              <a:t> 3</a:t>
            </a:r>
            <a:br>
              <a:rPr lang="en-US" sz="2000"/>
            </a:br>
            <a:r>
              <a:rPr b="1" lang="en-US" sz="2000"/>
              <a:t>(D)</a:t>
            </a:r>
            <a:r>
              <a:rPr lang="en-US" sz="2000"/>
              <a:t> 4</a:t>
            </a:r>
            <a:br>
              <a:rPr lang="en-US" sz="2000"/>
            </a:br>
            <a:br>
              <a:rPr lang="en-US" sz="2000"/>
            </a:br>
            <a:br>
              <a:rPr lang="en-US" sz="2000"/>
            </a:br>
            <a:r>
              <a:rPr b="1" lang="en-US" sz="2000"/>
              <a:t>Answer:</a:t>
            </a:r>
            <a:r>
              <a:rPr lang="en-US" sz="2000"/>
              <a:t> </a:t>
            </a:r>
            <a:r>
              <a:rPr b="1" lang="en-US" sz="2000"/>
              <a:t>(C)</a:t>
            </a:r>
            <a:br>
              <a:rPr lang="en-US" sz="2000"/>
            </a:br>
            <a:r>
              <a:rPr b="1" lang="en-US" sz="2000"/>
              <a:t>Explanation:</a:t>
            </a:r>
            <a:r>
              <a:rPr lang="en-US" sz="2000"/>
              <a:t> The disk will service that request first whose cylinder number is closest to its arm. Hence 1st serviced request is for cylinder no 100 ( as the arm is itself pointing to it ), then 105, then 110, and then the arm comes to service request for cylinder 90. Hence before servicing request for cylinder 90, the disk would had serviced 3 requests.</a:t>
            </a:r>
            <a:endParaRPr/>
          </a:p>
          <a:p>
            <a:pPr indent="0" lvl="0" marL="0" rtl="0" algn="l">
              <a:spcBef>
                <a:spcPts val="400"/>
              </a:spcBef>
              <a:spcAft>
                <a:spcPts val="0"/>
              </a:spcAft>
              <a:buClr>
                <a:schemeClr val="dk1"/>
              </a:buClr>
              <a:buSzPts val="2000"/>
              <a:buNone/>
            </a:pPr>
            <a:r>
              <a:rPr lang="en-US" sz="2000"/>
              <a:t>Hence option C.</a:t>
            </a:r>
            <a:br>
              <a:rPr lang="en-US" sz="2000"/>
            </a:br>
            <a:endParaRPr sz="2000"/>
          </a:p>
          <a:p>
            <a:pPr indent="-285750" lvl="0" marL="342900" rtl="0" algn="l">
              <a:spcBef>
                <a:spcPts val="180"/>
              </a:spcBef>
              <a:spcAft>
                <a:spcPts val="0"/>
              </a:spcAft>
              <a:buClr>
                <a:schemeClr val="dk1"/>
              </a:buClr>
              <a:buSzPts val="900"/>
              <a:buNone/>
            </a:pPr>
            <a:r>
              <a:t/>
            </a:r>
            <a:endParaRPr sz="900"/>
          </a:p>
        </p:txBody>
      </p:sp>
      <p:sp>
        <p:nvSpPr>
          <p:cNvPr id="762" name="Google Shape;762;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10/17/2024</a:t>
            </a:r>
            <a:endParaRPr/>
          </a:p>
        </p:txBody>
      </p:sp>
      <p:sp>
        <p:nvSpPr>
          <p:cNvPr id="763" name="Google Shape;763;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64" name="Google Shape;764;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7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770" name="Google Shape;770;p7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b="1" lang="en-US" sz="2400"/>
              <a:t>For I/O Operations</a:t>
            </a:r>
            <a:endParaRPr/>
          </a:p>
          <a:p>
            <a:pPr indent="-342900" lvl="0" marL="342900" rtl="0" algn="l">
              <a:spcBef>
                <a:spcPts val="480"/>
              </a:spcBef>
              <a:spcAft>
                <a:spcPts val="0"/>
              </a:spcAft>
              <a:buClr>
                <a:schemeClr val="dk1"/>
              </a:buClr>
              <a:buSzPts val="2400"/>
              <a:buChar char="•"/>
            </a:pPr>
            <a:r>
              <a:rPr b="1" lang="en-US" sz="2400"/>
              <a:t>Unit of transfer: </a:t>
            </a:r>
            <a:endParaRPr b="1" sz="2400"/>
          </a:p>
          <a:p>
            <a:pPr indent="-342900" lvl="0" marL="342900" rtl="0" algn="l">
              <a:spcBef>
                <a:spcPts val="480"/>
              </a:spcBef>
              <a:spcAft>
                <a:spcPts val="0"/>
              </a:spcAft>
              <a:buClr>
                <a:schemeClr val="dk1"/>
              </a:buClr>
              <a:buSzPts val="2400"/>
              <a:buChar char="•"/>
            </a:pPr>
            <a:r>
              <a:rPr lang="en-US" sz="2400"/>
              <a:t>Data may be transferred as a stream of bytes or characters(e.g., terminal I/O) or </a:t>
            </a:r>
            <a:r>
              <a:rPr lang="en-US" sz="2400">
                <a:solidFill>
                  <a:srgbClr val="0070C0"/>
                </a:solidFill>
              </a:rPr>
              <a:t>in larger blocks (e.g., disk I/O).</a:t>
            </a:r>
            <a:endParaRPr/>
          </a:p>
        </p:txBody>
      </p:sp>
      <p:sp>
        <p:nvSpPr>
          <p:cNvPr id="771" name="Google Shape;771;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72" name="Google Shape;772;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73" name="Google Shape;773;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72"/>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780" name="Google Shape;780;p72"/>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The operating system is responsible for several other aspects of disk management like</a:t>
            </a:r>
            <a:endParaRPr/>
          </a:p>
          <a:p>
            <a:pPr indent="-285750" lvl="1" marL="742950" rtl="0" algn="l">
              <a:spcBef>
                <a:spcPts val="480"/>
              </a:spcBef>
              <a:spcAft>
                <a:spcPts val="0"/>
              </a:spcAft>
              <a:buClr>
                <a:schemeClr val="dk1"/>
              </a:buClr>
              <a:buSzPts val="2400"/>
              <a:buChar char="–"/>
            </a:pPr>
            <a:r>
              <a:rPr lang="en-US" sz="2400"/>
              <a:t>disk initialization</a:t>
            </a:r>
            <a:endParaRPr/>
          </a:p>
          <a:p>
            <a:pPr indent="-285750" lvl="1" marL="742950" rtl="0" algn="l">
              <a:spcBef>
                <a:spcPts val="480"/>
              </a:spcBef>
              <a:spcAft>
                <a:spcPts val="0"/>
              </a:spcAft>
              <a:buClr>
                <a:schemeClr val="dk1"/>
              </a:buClr>
              <a:buSzPts val="2400"/>
              <a:buChar char="–"/>
            </a:pPr>
            <a:r>
              <a:rPr lang="en-US" sz="2400"/>
              <a:t>disk formatting</a:t>
            </a:r>
            <a:endParaRPr/>
          </a:p>
          <a:p>
            <a:pPr indent="-285750" lvl="1" marL="742950" rtl="0" algn="l">
              <a:spcBef>
                <a:spcPts val="480"/>
              </a:spcBef>
              <a:spcAft>
                <a:spcPts val="0"/>
              </a:spcAft>
              <a:buClr>
                <a:schemeClr val="dk1"/>
              </a:buClr>
              <a:buSzPts val="2400"/>
              <a:buChar char="–"/>
            </a:pPr>
            <a:r>
              <a:rPr lang="en-US" sz="2400"/>
              <a:t>booting from disk, and </a:t>
            </a:r>
            <a:endParaRPr sz="2400"/>
          </a:p>
          <a:p>
            <a:pPr indent="-285750" lvl="1" marL="742950" rtl="0" algn="l">
              <a:spcBef>
                <a:spcPts val="480"/>
              </a:spcBef>
              <a:spcAft>
                <a:spcPts val="0"/>
              </a:spcAft>
              <a:buClr>
                <a:schemeClr val="dk1"/>
              </a:buClr>
              <a:buSzPts val="2400"/>
              <a:buChar char="–"/>
            </a:pPr>
            <a:r>
              <a:rPr lang="en-US" sz="2400"/>
              <a:t>bad-block recovery</a:t>
            </a:r>
            <a:endParaRPr b="1" sz="2400">
              <a:solidFill>
                <a:srgbClr val="3366FF"/>
              </a:solidFill>
            </a:endParaRPr>
          </a:p>
        </p:txBody>
      </p:sp>
      <p:sp>
        <p:nvSpPr>
          <p:cNvPr id="781" name="Google Shape;781;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82" name="Google Shape;782;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83" name="Google Shape;783;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73"/>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790" name="Google Shape;790;p73"/>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366FF"/>
              </a:buClr>
              <a:buSzPts val="2400"/>
              <a:buNone/>
            </a:pPr>
            <a:r>
              <a:rPr b="1" lang="en-US" sz="2400">
                <a:solidFill>
                  <a:srgbClr val="3366FF"/>
                </a:solidFill>
              </a:rPr>
              <a:t>Low-level formatting</a:t>
            </a:r>
            <a:r>
              <a:rPr lang="en-US" sz="2400"/>
              <a:t>, or </a:t>
            </a:r>
            <a:r>
              <a:rPr b="1" lang="en-US" sz="2400">
                <a:solidFill>
                  <a:srgbClr val="3366FF"/>
                </a:solidFill>
              </a:rPr>
              <a:t>physical formatting</a:t>
            </a:r>
            <a:r>
              <a:rPr lang="en-US" sz="2400">
                <a:solidFill>
                  <a:srgbClr val="3366FF"/>
                </a:solidFill>
              </a:rPr>
              <a:t> </a:t>
            </a:r>
            <a:r>
              <a:rPr lang="en-US" sz="2400"/>
              <a:t>— </a:t>
            </a:r>
            <a:endParaRPr/>
          </a:p>
          <a:p>
            <a:pPr indent="-342900" lvl="0" marL="342900" rtl="0" algn="l">
              <a:spcBef>
                <a:spcPts val="480"/>
              </a:spcBef>
              <a:spcAft>
                <a:spcPts val="0"/>
              </a:spcAft>
              <a:buClr>
                <a:schemeClr val="dk1"/>
              </a:buClr>
              <a:buSzPts val="2400"/>
              <a:buChar char="•"/>
            </a:pPr>
            <a:r>
              <a:rPr lang="en-US" sz="2400"/>
              <a:t>Dividing a </a:t>
            </a:r>
            <a:r>
              <a:rPr lang="en-US" sz="2400">
                <a:solidFill>
                  <a:schemeClr val="accent1"/>
                </a:solidFill>
              </a:rPr>
              <a:t>disk into sectors </a:t>
            </a:r>
            <a:r>
              <a:rPr lang="en-US" sz="2400"/>
              <a:t>that the </a:t>
            </a:r>
            <a:r>
              <a:rPr lang="en-US" sz="2400">
                <a:solidFill>
                  <a:schemeClr val="accent1"/>
                </a:solidFill>
              </a:rPr>
              <a:t>disk controller can read and write</a:t>
            </a:r>
            <a:endParaRPr/>
          </a:p>
        </p:txBody>
      </p:sp>
      <p:sp>
        <p:nvSpPr>
          <p:cNvPr id="791" name="Google Shape;791;p7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792" name="Google Shape;792;p7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793" name="Google Shape;793;p7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794" name="Google Shape;794;p73"/>
          <p:cNvPicPr preferRelativeResize="0"/>
          <p:nvPr/>
        </p:nvPicPr>
        <p:blipFill rotWithShape="1">
          <a:blip r:embed="rId3">
            <a:alphaModFix/>
          </a:blip>
          <a:srcRect b="0" l="0" r="0" t="0"/>
          <a:stretch/>
        </p:blipFill>
        <p:spPr>
          <a:xfrm>
            <a:off x="1828800" y="2438400"/>
            <a:ext cx="5334000" cy="39719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4"/>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801" name="Google Shape;801;p74"/>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366FF"/>
              </a:buClr>
              <a:buSzPts val="2400"/>
              <a:buNone/>
            </a:pPr>
            <a:r>
              <a:rPr b="1" lang="en-US" sz="2400">
                <a:solidFill>
                  <a:srgbClr val="3366FF"/>
                </a:solidFill>
              </a:rPr>
              <a:t>Low-level formatting</a:t>
            </a:r>
            <a:r>
              <a:rPr lang="en-US" sz="2400"/>
              <a:t>, or </a:t>
            </a:r>
            <a:r>
              <a:rPr b="1" lang="en-US" sz="2400">
                <a:solidFill>
                  <a:srgbClr val="3366FF"/>
                </a:solidFill>
              </a:rPr>
              <a:t>physical formatting</a:t>
            </a:r>
            <a:r>
              <a:rPr lang="en-US" sz="2400">
                <a:solidFill>
                  <a:srgbClr val="3366FF"/>
                </a:solidFill>
              </a:rPr>
              <a:t> </a:t>
            </a:r>
            <a:r>
              <a:rPr lang="en-US" sz="2400"/>
              <a:t>— </a:t>
            </a:r>
            <a:endParaRPr/>
          </a:p>
          <a:p>
            <a:pPr indent="-285750" lvl="1" marL="742950" rtl="0" algn="l">
              <a:spcBef>
                <a:spcPts val="480"/>
              </a:spcBef>
              <a:spcAft>
                <a:spcPts val="0"/>
              </a:spcAft>
              <a:buClr>
                <a:schemeClr val="dk1"/>
              </a:buClr>
              <a:buSzPts val="2400"/>
              <a:buChar char="–"/>
            </a:pPr>
            <a:r>
              <a:rPr lang="en-US" sz="2400"/>
              <a:t>Each </a:t>
            </a:r>
            <a:r>
              <a:rPr lang="en-US" sz="2400" u="sng"/>
              <a:t>sector can hold </a:t>
            </a:r>
            <a:endParaRPr/>
          </a:p>
          <a:p>
            <a:pPr indent="-285750" lvl="1" marL="742950" rtl="0" algn="l">
              <a:spcBef>
                <a:spcPts val="480"/>
              </a:spcBef>
              <a:spcAft>
                <a:spcPts val="0"/>
              </a:spcAft>
              <a:buClr>
                <a:schemeClr val="dk1"/>
              </a:buClr>
              <a:buSzPts val="2400"/>
              <a:buChar char="–"/>
            </a:pPr>
            <a:r>
              <a:rPr lang="en-US" sz="2400" u="sng"/>
              <a:t>header information, </a:t>
            </a:r>
            <a:endParaRPr/>
          </a:p>
          <a:p>
            <a:pPr indent="-285750" lvl="1" marL="742950" rtl="0" algn="l">
              <a:spcBef>
                <a:spcPts val="480"/>
              </a:spcBef>
              <a:spcAft>
                <a:spcPts val="0"/>
              </a:spcAft>
              <a:buClr>
                <a:schemeClr val="dk1"/>
              </a:buClr>
              <a:buSzPts val="2400"/>
              <a:buChar char="–"/>
            </a:pPr>
            <a:r>
              <a:rPr lang="en-US" sz="2400" u="sng"/>
              <a:t>plus data, </a:t>
            </a:r>
            <a:endParaRPr/>
          </a:p>
          <a:p>
            <a:pPr indent="-285750" lvl="1" marL="742950" rtl="0" algn="l">
              <a:spcBef>
                <a:spcPts val="480"/>
              </a:spcBef>
              <a:spcAft>
                <a:spcPts val="0"/>
              </a:spcAft>
              <a:buClr>
                <a:schemeClr val="dk1"/>
              </a:buClr>
              <a:buSzPts val="2400"/>
              <a:buChar char="–"/>
            </a:pPr>
            <a:r>
              <a:rPr lang="en-US" sz="2400" u="sng"/>
              <a:t>plus error correction code </a:t>
            </a:r>
            <a:r>
              <a:rPr lang="en-US" sz="2400"/>
              <a:t>(</a:t>
            </a:r>
            <a:r>
              <a:rPr b="1" lang="en-US" sz="2400">
                <a:solidFill>
                  <a:srgbClr val="3366FF"/>
                </a:solidFill>
              </a:rPr>
              <a:t>ECC</a:t>
            </a:r>
            <a:r>
              <a:rPr lang="en-US" sz="2400"/>
              <a:t>)</a:t>
            </a:r>
            <a:endParaRPr/>
          </a:p>
        </p:txBody>
      </p:sp>
      <p:sp>
        <p:nvSpPr>
          <p:cNvPr id="802" name="Google Shape;802;p7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03" name="Google Shape;803;p7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04" name="Google Shape;804;p7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5"/>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811" name="Google Shape;811;p75"/>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366FF"/>
              </a:buClr>
              <a:buSzPts val="2400"/>
              <a:buNone/>
            </a:pPr>
            <a:r>
              <a:rPr b="1" lang="en-US" sz="2400">
                <a:solidFill>
                  <a:srgbClr val="3366FF"/>
                </a:solidFill>
              </a:rPr>
              <a:t>Low-level formatting</a:t>
            </a:r>
            <a:r>
              <a:rPr lang="en-US" sz="2400"/>
              <a:t>, or </a:t>
            </a:r>
            <a:r>
              <a:rPr b="1" lang="en-US" sz="2400">
                <a:solidFill>
                  <a:srgbClr val="3366FF"/>
                </a:solidFill>
              </a:rPr>
              <a:t>physical formatting</a:t>
            </a:r>
            <a:r>
              <a:rPr lang="en-US" sz="2400">
                <a:solidFill>
                  <a:srgbClr val="3366FF"/>
                </a:solidFill>
              </a:rPr>
              <a:t> </a:t>
            </a:r>
            <a:r>
              <a:rPr lang="en-US" sz="2400"/>
              <a:t>— </a:t>
            </a:r>
            <a:endParaRPr/>
          </a:p>
          <a:p>
            <a:pPr indent="-285750" lvl="1" marL="742950" rtl="0" algn="l">
              <a:spcBef>
                <a:spcPts val="480"/>
              </a:spcBef>
              <a:spcAft>
                <a:spcPts val="0"/>
              </a:spcAft>
              <a:buClr>
                <a:schemeClr val="dk1"/>
              </a:buClr>
              <a:buSzPts val="2400"/>
              <a:buChar char="–"/>
            </a:pPr>
            <a:r>
              <a:rPr lang="en-US" sz="2400"/>
              <a:t>Disk controller handles </a:t>
            </a:r>
            <a:r>
              <a:rPr lang="en-US" sz="2400">
                <a:solidFill>
                  <a:schemeClr val="accent1"/>
                </a:solidFill>
              </a:rPr>
              <a:t>how many bytes of data space to leave between the header and trailer of all sectors. </a:t>
            </a:r>
            <a:endParaRPr sz="2400">
              <a:solidFill>
                <a:schemeClr val="accent1"/>
              </a:solidFill>
            </a:endParaRPr>
          </a:p>
          <a:p>
            <a:pPr indent="-285750" lvl="1" marL="742950" rtl="0" algn="l">
              <a:spcBef>
                <a:spcPts val="480"/>
              </a:spcBef>
              <a:spcAft>
                <a:spcPts val="0"/>
              </a:spcAft>
              <a:buClr>
                <a:schemeClr val="dk1"/>
              </a:buClr>
              <a:buSzPts val="2400"/>
              <a:buChar char="–"/>
            </a:pPr>
            <a:r>
              <a:rPr lang="en-US" sz="2400"/>
              <a:t>It is usually possible to choose among a few sizes, such as 256,512, and 1,024 bytes.</a:t>
            </a:r>
            <a:endParaRPr/>
          </a:p>
          <a:p>
            <a:pPr indent="-285750" lvl="1" marL="742950" rtl="0" algn="l">
              <a:spcBef>
                <a:spcPts val="480"/>
              </a:spcBef>
              <a:spcAft>
                <a:spcPts val="0"/>
              </a:spcAft>
              <a:buClr>
                <a:schemeClr val="dk1"/>
              </a:buClr>
              <a:buSzPts val="2400"/>
              <a:buChar char="–"/>
            </a:pPr>
            <a:r>
              <a:rPr lang="en-US" sz="2400"/>
              <a:t>Usually </a:t>
            </a:r>
            <a:r>
              <a:rPr lang="en-US" sz="2400">
                <a:solidFill>
                  <a:schemeClr val="accent1"/>
                </a:solidFill>
              </a:rPr>
              <a:t>512 bytes of data</a:t>
            </a:r>
            <a:endParaRPr/>
          </a:p>
        </p:txBody>
      </p:sp>
      <p:sp>
        <p:nvSpPr>
          <p:cNvPr id="812" name="Google Shape;812;p7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13" name="Google Shape;813;p7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14" name="Google Shape;814;p7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76"/>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821" name="Google Shape;821;p76"/>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3366FF"/>
              </a:buClr>
              <a:buSzPts val="2400"/>
              <a:buNone/>
            </a:pPr>
            <a:r>
              <a:rPr b="1" lang="en-US" sz="2400">
                <a:solidFill>
                  <a:srgbClr val="3366FF"/>
                </a:solidFill>
              </a:rPr>
              <a:t>Low-level formatting</a:t>
            </a:r>
            <a:r>
              <a:rPr lang="en-US" sz="2400"/>
              <a:t>, or </a:t>
            </a:r>
            <a:r>
              <a:rPr b="1" lang="en-US" sz="2400">
                <a:solidFill>
                  <a:srgbClr val="3366FF"/>
                </a:solidFill>
              </a:rPr>
              <a:t>physical formatting</a:t>
            </a:r>
            <a:r>
              <a:rPr lang="en-US" sz="2400">
                <a:solidFill>
                  <a:srgbClr val="3366FF"/>
                </a:solidFill>
              </a:rPr>
              <a:t> </a:t>
            </a:r>
            <a:r>
              <a:rPr lang="en-US" sz="2400"/>
              <a:t>— </a:t>
            </a:r>
            <a:endParaRPr/>
          </a:p>
          <a:p>
            <a:pPr indent="-342900" lvl="0" marL="342900" rtl="0" algn="l">
              <a:spcBef>
                <a:spcPts val="480"/>
              </a:spcBef>
              <a:spcAft>
                <a:spcPts val="0"/>
              </a:spcAft>
              <a:buClr>
                <a:schemeClr val="dk1"/>
              </a:buClr>
              <a:buSzPts val="2400"/>
              <a:buChar char="•"/>
            </a:pPr>
            <a:r>
              <a:rPr lang="en-US" sz="2400"/>
              <a:t>Enables the manufacturer to test the disk </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To initialize the </a:t>
            </a:r>
            <a:r>
              <a:rPr lang="en-US" sz="2400">
                <a:solidFill>
                  <a:srgbClr val="0070C0"/>
                </a:solidFill>
              </a:rPr>
              <a:t>mapping from logical block numbers to defect-free sectors on the disk.</a:t>
            </a:r>
            <a:endParaRPr sz="2400">
              <a:solidFill>
                <a:srgbClr val="0070C0"/>
              </a:solidFill>
            </a:endParaRPr>
          </a:p>
        </p:txBody>
      </p:sp>
      <p:sp>
        <p:nvSpPr>
          <p:cNvPr id="822" name="Google Shape;822;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23" name="Google Shape;823;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24" name="Google Shape;824;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77"/>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831" name="Google Shape;831;p77"/>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rgbClr val="0070C0"/>
              </a:buClr>
              <a:buSzPts val="2400"/>
              <a:buNone/>
            </a:pPr>
            <a:r>
              <a:rPr b="1" lang="en-US" sz="2400">
                <a:solidFill>
                  <a:srgbClr val="0070C0"/>
                </a:solidFill>
              </a:rPr>
              <a:t>Partitioning</a:t>
            </a:r>
            <a:endParaRPr/>
          </a:p>
          <a:p>
            <a:pPr indent="-342900" lvl="0" marL="342900" rtl="0" algn="l">
              <a:spcBef>
                <a:spcPts val="480"/>
              </a:spcBef>
              <a:spcAft>
                <a:spcPts val="0"/>
              </a:spcAft>
              <a:buClr>
                <a:schemeClr val="dk1"/>
              </a:buClr>
              <a:buSzPts val="2400"/>
              <a:buChar char="•"/>
            </a:pPr>
            <a:r>
              <a:rPr lang="en-US" sz="2400"/>
              <a:t>To use a disk to hold files, the operating system still needs to </a:t>
            </a:r>
            <a:r>
              <a:rPr lang="en-US" sz="2400">
                <a:solidFill>
                  <a:schemeClr val="accent1"/>
                </a:solidFill>
              </a:rPr>
              <a:t>record its own data structures on the disk</a:t>
            </a:r>
            <a:endParaRPr/>
          </a:p>
          <a:p>
            <a:pPr indent="-285750" lvl="1" marL="742950" rtl="0" algn="l">
              <a:spcBef>
                <a:spcPts val="480"/>
              </a:spcBef>
              <a:spcAft>
                <a:spcPts val="0"/>
              </a:spcAft>
              <a:buClr>
                <a:srgbClr val="3366FF"/>
              </a:buClr>
              <a:buSzPts val="2400"/>
              <a:buChar char="–"/>
            </a:pPr>
            <a:r>
              <a:rPr b="1" lang="en-US" sz="2400">
                <a:solidFill>
                  <a:srgbClr val="3366FF"/>
                </a:solidFill>
              </a:rPr>
              <a:t>Partition</a:t>
            </a:r>
            <a:r>
              <a:rPr lang="en-US" sz="2400"/>
              <a:t> the disk into one or more groups of cylinders, each treated as a logical disk</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operating system can treat each partition as though it were a separate disk. </a:t>
            </a:r>
            <a:endParaRPr sz="2400"/>
          </a:p>
          <a:p>
            <a:pPr indent="-285750" lvl="1" marL="742950" rtl="0" algn="l">
              <a:spcBef>
                <a:spcPts val="480"/>
              </a:spcBef>
              <a:spcAft>
                <a:spcPts val="0"/>
              </a:spcAft>
              <a:buClr>
                <a:schemeClr val="accent1"/>
              </a:buClr>
              <a:buSzPts val="2400"/>
              <a:buChar char="–"/>
            </a:pPr>
            <a:r>
              <a:rPr lang="en-US" sz="2400">
                <a:solidFill>
                  <a:schemeClr val="accent1"/>
                </a:solidFill>
              </a:rPr>
              <a:t>One partition can hold a copy of the operating system's </a:t>
            </a:r>
            <a:r>
              <a:rPr lang="en-US" sz="2400"/>
              <a:t>executable code</a:t>
            </a:r>
            <a:endParaRPr/>
          </a:p>
          <a:p>
            <a:pPr indent="-285750" lvl="1" marL="742950" rtl="0" algn="l">
              <a:spcBef>
                <a:spcPts val="480"/>
              </a:spcBef>
              <a:spcAft>
                <a:spcPts val="0"/>
              </a:spcAft>
              <a:buClr>
                <a:schemeClr val="accent1"/>
              </a:buClr>
              <a:buSzPts val="2400"/>
              <a:buChar char="–"/>
            </a:pPr>
            <a:r>
              <a:rPr lang="en-US" sz="2400">
                <a:solidFill>
                  <a:schemeClr val="accent1"/>
                </a:solidFill>
              </a:rPr>
              <a:t>Another</a:t>
            </a:r>
            <a:r>
              <a:rPr lang="en-US" sz="2400"/>
              <a:t> holds </a:t>
            </a:r>
            <a:r>
              <a:rPr lang="en-US" sz="2400">
                <a:solidFill>
                  <a:schemeClr val="accent1"/>
                </a:solidFill>
              </a:rPr>
              <a:t>user files</a:t>
            </a:r>
            <a:endParaRPr sz="2400">
              <a:solidFill>
                <a:schemeClr val="accent1"/>
              </a:solidFill>
            </a:endParaRPr>
          </a:p>
        </p:txBody>
      </p:sp>
      <p:sp>
        <p:nvSpPr>
          <p:cNvPr id="832" name="Google Shape;832;p7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33" name="Google Shape;833;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34" name="Google Shape;834;p7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8"/>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a:t>
            </a:r>
            <a:endParaRPr/>
          </a:p>
        </p:txBody>
      </p:sp>
      <p:sp>
        <p:nvSpPr>
          <p:cNvPr id="841" name="Google Shape;841;p78"/>
          <p:cNvSpPr txBox="1"/>
          <p:nvPr>
            <p:ph idx="1" type="body"/>
          </p:nvPr>
        </p:nvSpPr>
        <p:spPr>
          <a:xfrm>
            <a:off x="844550" y="1157288"/>
            <a:ext cx="7245350" cy="4530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3366FF"/>
              </a:buClr>
              <a:buSzPts val="2400"/>
              <a:buNone/>
            </a:pPr>
            <a:r>
              <a:rPr b="1" lang="en-US" sz="2400">
                <a:solidFill>
                  <a:srgbClr val="3366FF"/>
                </a:solidFill>
              </a:rPr>
              <a:t>Logical formatting</a:t>
            </a:r>
            <a:r>
              <a:rPr lang="en-US" sz="2400">
                <a:solidFill>
                  <a:srgbClr val="3366FF"/>
                </a:solidFill>
              </a:rPr>
              <a:t> </a:t>
            </a:r>
            <a:endParaRPr sz="2400"/>
          </a:p>
          <a:p>
            <a:pPr indent="-342900" lvl="0" marL="342900" rtl="0" algn="l">
              <a:spcBef>
                <a:spcPts val="480"/>
              </a:spcBef>
              <a:spcAft>
                <a:spcPts val="0"/>
              </a:spcAft>
              <a:buClr>
                <a:schemeClr val="dk1"/>
              </a:buClr>
              <a:buSzPts val="2400"/>
              <a:buChar char="•"/>
            </a:pPr>
            <a:r>
              <a:rPr lang="en-US" sz="2400"/>
              <a:t>“making a file system”</a:t>
            </a:r>
            <a:endParaRPr sz="2400"/>
          </a:p>
          <a:p>
            <a:pPr indent="-342900" lvl="0" marL="342900" rtl="0" algn="l">
              <a:spcBef>
                <a:spcPts val="480"/>
              </a:spcBef>
              <a:spcAft>
                <a:spcPts val="0"/>
              </a:spcAft>
              <a:buClr>
                <a:schemeClr val="dk1"/>
              </a:buClr>
              <a:buSzPts val="2400"/>
              <a:buChar char="•"/>
            </a:pPr>
            <a:r>
              <a:rPr lang="en-US" sz="2400"/>
              <a:t>“</a:t>
            </a:r>
            <a:r>
              <a:rPr lang="en-US" sz="2400">
                <a:solidFill>
                  <a:schemeClr val="accent1"/>
                </a:solidFill>
              </a:rPr>
              <a:t>creation of a file system“</a:t>
            </a:r>
            <a:endParaRPr/>
          </a:p>
          <a:p>
            <a:pPr indent="-342900" lvl="0" marL="342900" rtl="0" algn="l">
              <a:spcBef>
                <a:spcPts val="480"/>
              </a:spcBef>
              <a:spcAft>
                <a:spcPts val="0"/>
              </a:spcAft>
              <a:buClr>
                <a:schemeClr val="dk1"/>
              </a:buClr>
              <a:buSzPts val="2400"/>
              <a:buChar char="•"/>
            </a:pPr>
            <a:r>
              <a:rPr lang="en-US" sz="2400"/>
              <a:t>The OS stores the </a:t>
            </a:r>
            <a:r>
              <a:rPr lang="en-US" sz="2400">
                <a:solidFill>
                  <a:srgbClr val="0070C0"/>
                </a:solidFill>
              </a:rPr>
              <a:t>initial file-system data structures </a:t>
            </a:r>
            <a:r>
              <a:rPr lang="en-US" sz="2400"/>
              <a:t>onto the disk. </a:t>
            </a:r>
            <a:endParaRPr sz="2400"/>
          </a:p>
          <a:p>
            <a:pPr indent="-342900" lvl="0" marL="342900" rtl="0" algn="l">
              <a:spcBef>
                <a:spcPts val="480"/>
              </a:spcBef>
              <a:spcAft>
                <a:spcPts val="0"/>
              </a:spcAft>
              <a:buClr>
                <a:schemeClr val="dk1"/>
              </a:buClr>
              <a:buSzPts val="2400"/>
              <a:buChar char="•"/>
            </a:pPr>
            <a:r>
              <a:rPr lang="en-US" sz="2400"/>
              <a:t>These data structures may include </a:t>
            </a:r>
            <a:endParaRPr sz="2400"/>
          </a:p>
          <a:p>
            <a:pPr indent="-285750" lvl="1" marL="742950" rtl="0" algn="l">
              <a:spcBef>
                <a:spcPts val="480"/>
              </a:spcBef>
              <a:spcAft>
                <a:spcPts val="0"/>
              </a:spcAft>
              <a:buClr>
                <a:schemeClr val="accent1"/>
              </a:buClr>
              <a:buSzPts val="2400"/>
              <a:buChar char="–"/>
            </a:pPr>
            <a:r>
              <a:rPr lang="en-US" sz="2400">
                <a:solidFill>
                  <a:schemeClr val="accent1"/>
                </a:solidFill>
              </a:rPr>
              <a:t>maps of free and allocated space</a:t>
            </a:r>
            <a:r>
              <a:rPr lang="en-US" sz="2400"/>
              <a:t> (a FAT or inodes) </a:t>
            </a:r>
            <a:endParaRPr sz="2400"/>
          </a:p>
          <a:p>
            <a:pPr indent="-285750" lvl="1" marL="742950" rtl="0" algn="l">
              <a:spcBef>
                <a:spcPts val="480"/>
              </a:spcBef>
              <a:spcAft>
                <a:spcPts val="0"/>
              </a:spcAft>
              <a:buClr>
                <a:schemeClr val="accent1"/>
              </a:buClr>
              <a:buSzPts val="2400"/>
              <a:buChar char="–"/>
            </a:pPr>
            <a:r>
              <a:rPr lang="en-US" sz="2400">
                <a:solidFill>
                  <a:schemeClr val="accent1"/>
                </a:solidFill>
              </a:rPr>
              <a:t>an initial empty directory</a:t>
            </a:r>
            <a:endParaRPr sz="2400">
              <a:solidFill>
                <a:schemeClr val="accent1"/>
              </a:solidFill>
            </a:endParaRPr>
          </a:p>
        </p:txBody>
      </p:sp>
      <p:sp>
        <p:nvSpPr>
          <p:cNvPr id="842" name="Google Shape;842;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43" name="Google Shape;843;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44" name="Google Shape;844;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9"/>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 (Cont.)</a:t>
            </a:r>
            <a:endParaRPr/>
          </a:p>
        </p:txBody>
      </p:sp>
      <p:sp>
        <p:nvSpPr>
          <p:cNvPr id="851" name="Google Shape;851;p79"/>
          <p:cNvSpPr txBox="1"/>
          <p:nvPr>
            <p:ph idx="1" type="body"/>
          </p:nvPr>
        </p:nvSpPr>
        <p:spPr>
          <a:xfrm>
            <a:off x="831850" y="928688"/>
            <a:ext cx="7029450" cy="4530725"/>
          </a:xfrm>
          <a:prstGeom prst="rect">
            <a:avLst/>
          </a:prstGeom>
          <a:noFill/>
          <a:ln>
            <a:noFill/>
          </a:ln>
        </p:spPr>
        <p:txBody>
          <a:bodyPr anchorCtr="0" anchor="t" bIns="45700" lIns="91425" spcFirstLastPara="1" rIns="91425" wrap="square" tIns="45700">
            <a:normAutofit/>
          </a:bodyPr>
          <a:lstStyle/>
          <a:p>
            <a:pPr indent="-254000" lvl="0" marL="342900" rtl="0" algn="l">
              <a:spcBef>
                <a:spcPts val="0"/>
              </a:spcBef>
              <a:spcAft>
                <a:spcPts val="0"/>
              </a:spcAft>
              <a:buClr>
                <a:schemeClr val="dk1"/>
              </a:buClr>
              <a:buSzPts val="1400"/>
              <a:buNone/>
            </a:pPr>
            <a:r>
              <a:t/>
            </a:r>
            <a:endParaRPr sz="1400"/>
          </a:p>
          <a:p>
            <a:pPr indent="0" lvl="0" marL="0" rtl="0" algn="l">
              <a:spcBef>
                <a:spcPts val="560"/>
              </a:spcBef>
              <a:spcAft>
                <a:spcPts val="0"/>
              </a:spcAft>
              <a:buClr>
                <a:schemeClr val="accent1"/>
              </a:buClr>
              <a:buSzPts val="2800"/>
              <a:buNone/>
            </a:pPr>
            <a:r>
              <a:rPr b="1" lang="en-US" sz="2800" u="sng">
                <a:solidFill>
                  <a:schemeClr val="accent1"/>
                </a:solidFill>
              </a:rPr>
              <a:t>Bad Blocks</a:t>
            </a:r>
            <a:endParaRPr/>
          </a:p>
          <a:p>
            <a:pPr indent="-342900" lvl="0" marL="342900" rtl="0" algn="l">
              <a:spcBef>
                <a:spcPts val="480"/>
              </a:spcBef>
              <a:spcAft>
                <a:spcPts val="0"/>
              </a:spcAft>
              <a:buClr>
                <a:schemeClr val="dk1"/>
              </a:buClr>
              <a:buSzPts val="2400"/>
              <a:buChar char="•"/>
            </a:pPr>
            <a:r>
              <a:rPr lang="en-US" sz="2400"/>
              <a:t>Methods such as </a:t>
            </a:r>
            <a:r>
              <a:rPr b="1" lang="en-US" sz="2400">
                <a:solidFill>
                  <a:srgbClr val="3366FF"/>
                </a:solidFill>
              </a:rPr>
              <a:t>sector sparing</a:t>
            </a:r>
            <a:r>
              <a:rPr lang="en-US" sz="2400">
                <a:solidFill>
                  <a:srgbClr val="3366FF"/>
                </a:solidFill>
              </a:rPr>
              <a:t> </a:t>
            </a:r>
            <a:r>
              <a:rPr lang="en-US" sz="2400"/>
              <a:t>used to handle bad blocks</a:t>
            </a:r>
            <a:endParaRPr/>
          </a:p>
        </p:txBody>
      </p:sp>
      <p:sp>
        <p:nvSpPr>
          <p:cNvPr id="852" name="Google Shape;852;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53" name="Google Shape;853;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54" name="Google Shape;854;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80"/>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 (Cont.)</a:t>
            </a:r>
            <a:endParaRPr/>
          </a:p>
        </p:txBody>
      </p:sp>
      <p:sp>
        <p:nvSpPr>
          <p:cNvPr id="861" name="Google Shape;861;p80"/>
          <p:cNvSpPr txBox="1"/>
          <p:nvPr>
            <p:ph idx="1" type="body"/>
          </p:nvPr>
        </p:nvSpPr>
        <p:spPr>
          <a:xfrm>
            <a:off x="831850" y="928688"/>
            <a:ext cx="7029450" cy="4530725"/>
          </a:xfrm>
          <a:prstGeom prst="rect">
            <a:avLst/>
          </a:prstGeom>
          <a:noFill/>
          <a:ln>
            <a:noFill/>
          </a:ln>
        </p:spPr>
        <p:txBody>
          <a:bodyPr anchorCtr="0" anchor="t" bIns="45700" lIns="91425" spcFirstLastPara="1" rIns="91425" wrap="square" tIns="45700">
            <a:normAutofit lnSpcReduction="10000"/>
          </a:bodyPr>
          <a:lstStyle/>
          <a:p>
            <a:pPr indent="-254000" lvl="0" marL="342900" rtl="0" algn="l">
              <a:spcBef>
                <a:spcPts val="0"/>
              </a:spcBef>
              <a:spcAft>
                <a:spcPts val="0"/>
              </a:spcAft>
              <a:buClr>
                <a:schemeClr val="dk1"/>
              </a:buClr>
              <a:buSzPts val="1400"/>
              <a:buNone/>
            </a:pPr>
            <a:r>
              <a:t/>
            </a:r>
            <a:endParaRPr sz="1400"/>
          </a:p>
          <a:p>
            <a:pPr indent="0" lvl="0" marL="0" rtl="0" algn="l">
              <a:spcBef>
                <a:spcPts val="480"/>
              </a:spcBef>
              <a:spcAft>
                <a:spcPts val="0"/>
              </a:spcAft>
              <a:buClr>
                <a:schemeClr val="accent1"/>
              </a:buClr>
              <a:buSzPts val="2400"/>
              <a:buNone/>
            </a:pPr>
            <a:r>
              <a:rPr b="1" lang="en-US" sz="2400" u="sng">
                <a:solidFill>
                  <a:schemeClr val="accent1"/>
                </a:solidFill>
              </a:rPr>
              <a:t>Bad Blocks</a:t>
            </a:r>
            <a:endParaRPr/>
          </a:p>
          <a:p>
            <a:pPr indent="-342900" lvl="0" marL="342900" rtl="0" algn="l">
              <a:spcBef>
                <a:spcPts val="480"/>
              </a:spcBef>
              <a:spcAft>
                <a:spcPts val="0"/>
              </a:spcAft>
              <a:buClr>
                <a:schemeClr val="dk1"/>
              </a:buClr>
              <a:buSzPts val="2400"/>
              <a:buChar char="•"/>
            </a:pPr>
            <a:r>
              <a:rPr lang="en-US" sz="2400"/>
              <a:t>Because disks have </a:t>
            </a:r>
            <a:r>
              <a:rPr lang="en-US" sz="2400">
                <a:solidFill>
                  <a:schemeClr val="accent1"/>
                </a:solidFill>
              </a:rPr>
              <a:t>moving parts and small tolerances </a:t>
            </a:r>
            <a:endParaRPr/>
          </a:p>
          <a:p>
            <a:pPr indent="-342900" lvl="0" marL="342900" rtl="0" algn="l">
              <a:spcBef>
                <a:spcPts val="480"/>
              </a:spcBef>
              <a:spcAft>
                <a:spcPts val="0"/>
              </a:spcAft>
              <a:buClr>
                <a:schemeClr val="dk1"/>
              </a:buClr>
              <a:buSzPts val="2400"/>
              <a:buChar char="•"/>
            </a:pPr>
            <a:r>
              <a:rPr lang="en-US" sz="2400"/>
              <a:t>As the disk head flies just above the disk surface, </a:t>
            </a:r>
            <a:endParaRPr/>
          </a:p>
          <a:p>
            <a:pPr indent="-342900" lvl="0" marL="342900" rtl="0" algn="l">
              <a:spcBef>
                <a:spcPts val="480"/>
              </a:spcBef>
              <a:spcAft>
                <a:spcPts val="0"/>
              </a:spcAft>
              <a:buClr>
                <a:schemeClr val="dk1"/>
              </a:buClr>
              <a:buSzPts val="2400"/>
              <a:buChar char="•"/>
            </a:pPr>
            <a:r>
              <a:rPr lang="en-US" sz="2400"/>
              <a:t>They are </a:t>
            </a:r>
            <a:r>
              <a:rPr lang="en-US" sz="2400">
                <a:solidFill>
                  <a:schemeClr val="accent1"/>
                </a:solidFill>
              </a:rPr>
              <a:t>prone to failure</a:t>
            </a:r>
            <a:endParaRPr sz="2400">
              <a:solidFill>
                <a:schemeClr val="accent1"/>
              </a:solidFill>
            </a:endParaRPr>
          </a:p>
          <a:p>
            <a:pPr indent="-190500" lvl="0" marL="342900" rtl="0" algn="l">
              <a:spcBef>
                <a:spcPts val="480"/>
              </a:spcBef>
              <a:spcAft>
                <a:spcPts val="0"/>
              </a:spcAft>
              <a:buClr>
                <a:schemeClr val="dk1"/>
              </a:buClr>
              <a:buSzPts val="2400"/>
              <a:buNone/>
            </a:pPr>
            <a:r>
              <a:t/>
            </a:r>
            <a:endParaRPr sz="2400">
              <a:solidFill>
                <a:schemeClr val="accent1"/>
              </a:solidFill>
            </a:endParaRPr>
          </a:p>
          <a:p>
            <a:pPr indent="-457200" lvl="0" marL="457200" rtl="0" algn="l">
              <a:spcBef>
                <a:spcPts val="480"/>
              </a:spcBef>
              <a:spcAft>
                <a:spcPts val="0"/>
              </a:spcAft>
              <a:buClr>
                <a:schemeClr val="dk1"/>
              </a:buClr>
              <a:buSzPts val="2400"/>
              <a:buFont typeface="Calibri"/>
              <a:buAutoNum type="arabicParenR"/>
            </a:pPr>
            <a:r>
              <a:rPr lang="en-US" sz="2400"/>
              <a:t>If the </a:t>
            </a:r>
            <a:r>
              <a:rPr lang="en-US" sz="2400">
                <a:solidFill>
                  <a:schemeClr val="accent1"/>
                </a:solidFill>
              </a:rPr>
              <a:t>failure is complete</a:t>
            </a:r>
            <a:r>
              <a:rPr lang="en-US" sz="2400"/>
              <a:t>; </a:t>
            </a:r>
            <a:endParaRPr sz="2400"/>
          </a:p>
          <a:p>
            <a:pPr indent="-285750" lvl="1" marL="742950" rtl="0" algn="l">
              <a:spcBef>
                <a:spcPts val="480"/>
              </a:spcBef>
              <a:spcAft>
                <a:spcPts val="0"/>
              </a:spcAft>
              <a:buClr>
                <a:schemeClr val="accent1"/>
              </a:buClr>
              <a:buSzPts val="2400"/>
              <a:buChar char="–"/>
            </a:pPr>
            <a:r>
              <a:rPr lang="en-US" sz="2400">
                <a:solidFill>
                  <a:schemeClr val="accent1"/>
                </a:solidFill>
              </a:rPr>
              <a:t>disk needs to be replaced </a:t>
            </a:r>
            <a:r>
              <a:rPr lang="en-US" sz="2400"/>
              <a:t>and its contents restored from backup media to the new disk. </a:t>
            </a:r>
            <a:endParaRPr sz="2400"/>
          </a:p>
          <a:p>
            <a:pPr indent="-457200" lvl="0" marL="457200" rtl="0" algn="l">
              <a:spcBef>
                <a:spcPts val="480"/>
              </a:spcBef>
              <a:spcAft>
                <a:spcPts val="0"/>
              </a:spcAft>
              <a:buClr>
                <a:schemeClr val="dk1"/>
              </a:buClr>
              <a:buSzPts val="2400"/>
              <a:buFont typeface="Calibri"/>
              <a:buAutoNum type="arabicParenR"/>
            </a:pPr>
            <a:r>
              <a:rPr lang="en-US" sz="2400"/>
              <a:t>More frequently, </a:t>
            </a:r>
            <a:r>
              <a:rPr lang="en-US" sz="2400">
                <a:solidFill>
                  <a:schemeClr val="accent1"/>
                </a:solidFill>
              </a:rPr>
              <a:t>one or more sectors become defective.</a:t>
            </a:r>
            <a:endParaRPr sz="2400">
              <a:solidFill>
                <a:schemeClr val="accent1"/>
              </a:solidFill>
            </a:endParaRPr>
          </a:p>
        </p:txBody>
      </p:sp>
      <p:sp>
        <p:nvSpPr>
          <p:cNvPr id="862" name="Google Shape;862;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63" name="Google Shape;863;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64" name="Google Shape;864;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81"/>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 (Cont.)</a:t>
            </a:r>
            <a:endParaRPr/>
          </a:p>
        </p:txBody>
      </p:sp>
      <p:sp>
        <p:nvSpPr>
          <p:cNvPr id="871" name="Google Shape;871;p81"/>
          <p:cNvSpPr txBox="1"/>
          <p:nvPr>
            <p:ph idx="1" type="body"/>
          </p:nvPr>
        </p:nvSpPr>
        <p:spPr>
          <a:xfrm>
            <a:off x="831850" y="928688"/>
            <a:ext cx="7029450" cy="45307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400"/>
              <a:buNone/>
            </a:pPr>
            <a:r>
              <a:rPr b="1" lang="en-US" sz="2400" u="sng">
                <a:solidFill>
                  <a:schemeClr val="accent1"/>
                </a:solidFill>
              </a:rPr>
              <a:t>Bad Blocks</a:t>
            </a:r>
            <a:endParaRPr/>
          </a:p>
          <a:p>
            <a:pPr indent="-342900" lvl="0" marL="342900" rtl="0" algn="l">
              <a:spcBef>
                <a:spcPts val="480"/>
              </a:spcBef>
              <a:spcAft>
                <a:spcPts val="0"/>
              </a:spcAft>
              <a:buClr>
                <a:schemeClr val="dk1"/>
              </a:buClr>
              <a:buSzPts val="2400"/>
              <a:buChar char="•"/>
            </a:pPr>
            <a:r>
              <a:rPr lang="en-US" sz="2400"/>
              <a:t>On simple disks, such as some disks with IDE controllers, </a:t>
            </a:r>
            <a:r>
              <a:rPr lang="en-US" sz="2400">
                <a:solidFill>
                  <a:schemeClr val="accent1"/>
                </a:solidFill>
              </a:rPr>
              <a:t>bad blocks are handled manually</a:t>
            </a:r>
            <a:r>
              <a:rPr lang="en-US" sz="2400"/>
              <a:t>.</a:t>
            </a:r>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More </a:t>
            </a:r>
            <a:r>
              <a:rPr lang="en-US" sz="2400">
                <a:solidFill>
                  <a:schemeClr val="accent1"/>
                </a:solidFill>
              </a:rPr>
              <a:t>sophisticated disks</a:t>
            </a:r>
            <a:r>
              <a:rPr lang="en-US" sz="2400"/>
              <a:t>, used in high-end PCs are smarter about bad-block recovery. </a:t>
            </a:r>
            <a:endParaRPr sz="2400"/>
          </a:p>
          <a:p>
            <a:pPr indent="-285750" lvl="1" marL="742950" rtl="0" algn="l">
              <a:spcBef>
                <a:spcPts val="480"/>
              </a:spcBef>
              <a:spcAft>
                <a:spcPts val="0"/>
              </a:spcAft>
              <a:buClr>
                <a:schemeClr val="dk1"/>
              </a:buClr>
              <a:buSzPts val="2400"/>
              <a:buChar char="–"/>
            </a:pPr>
            <a:r>
              <a:rPr lang="en-US" sz="2400"/>
              <a:t>The controller maintains a </a:t>
            </a:r>
            <a:r>
              <a:rPr lang="en-US" sz="2400">
                <a:solidFill>
                  <a:schemeClr val="accent1"/>
                </a:solidFill>
              </a:rPr>
              <a:t>list of bad blocks </a:t>
            </a:r>
            <a:r>
              <a:rPr lang="en-US" sz="2400"/>
              <a:t>on the disk. </a:t>
            </a:r>
            <a:endParaRPr sz="2400"/>
          </a:p>
          <a:p>
            <a:pPr indent="-285750" lvl="1" marL="742950" rtl="0" algn="l">
              <a:spcBef>
                <a:spcPts val="480"/>
              </a:spcBef>
              <a:spcAft>
                <a:spcPts val="0"/>
              </a:spcAft>
              <a:buClr>
                <a:schemeClr val="dk1"/>
              </a:buClr>
              <a:buSzPts val="2400"/>
              <a:buChar char="–"/>
            </a:pPr>
            <a:r>
              <a:rPr lang="en-US" sz="2400"/>
              <a:t>The list is </a:t>
            </a:r>
            <a:r>
              <a:rPr lang="en-US" sz="2400">
                <a:solidFill>
                  <a:schemeClr val="accent1"/>
                </a:solidFill>
              </a:rPr>
              <a:t>initialized during the low-level formatting </a:t>
            </a:r>
            <a:r>
              <a:rPr lang="en-US" sz="2400"/>
              <a:t>at the factory and is </a:t>
            </a:r>
            <a:r>
              <a:rPr lang="en-US" sz="2400">
                <a:solidFill>
                  <a:schemeClr val="accent1"/>
                </a:solidFill>
              </a:rPr>
              <a:t>updated over the life </a:t>
            </a:r>
            <a:r>
              <a:rPr lang="en-US" sz="2400"/>
              <a:t>of the disk.</a:t>
            </a:r>
            <a:endParaRPr sz="2400"/>
          </a:p>
        </p:txBody>
      </p:sp>
      <p:sp>
        <p:nvSpPr>
          <p:cNvPr id="872" name="Google Shape;872;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73" name="Google Shape;873;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74" name="Google Shape;874;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82"/>
          <p:cNvSpPr txBox="1"/>
          <p:nvPr>
            <p:ph type="title"/>
          </p:nvPr>
        </p:nvSpPr>
        <p:spPr>
          <a:xfrm>
            <a:off x="690563" y="214313"/>
            <a:ext cx="7996237" cy="5762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Disk Management (Cont.)</a:t>
            </a:r>
            <a:endParaRPr/>
          </a:p>
        </p:txBody>
      </p:sp>
      <p:sp>
        <p:nvSpPr>
          <p:cNvPr id="881" name="Google Shape;881;p82"/>
          <p:cNvSpPr txBox="1"/>
          <p:nvPr>
            <p:ph idx="1" type="body"/>
          </p:nvPr>
        </p:nvSpPr>
        <p:spPr>
          <a:xfrm>
            <a:off x="831850" y="928688"/>
            <a:ext cx="7029450" cy="45307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2400"/>
              <a:buNone/>
            </a:pPr>
            <a:r>
              <a:rPr b="1" lang="en-US" sz="2400" u="sng">
                <a:solidFill>
                  <a:schemeClr val="accent1"/>
                </a:solidFill>
              </a:rPr>
              <a:t>Bad Blocks</a:t>
            </a:r>
            <a:endParaRPr/>
          </a:p>
          <a:p>
            <a:pPr indent="-342900" lvl="0" marL="342900" rtl="0" algn="l">
              <a:spcBef>
                <a:spcPts val="480"/>
              </a:spcBef>
              <a:spcAft>
                <a:spcPts val="0"/>
              </a:spcAft>
              <a:buClr>
                <a:schemeClr val="dk1"/>
              </a:buClr>
              <a:buSzPts val="2400"/>
              <a:buChar char="•"/>
            </a:pPr>
            <a:r>
              <a:rPr lang="en-US" sz="2400"/>
              <a:t>Low-level formatting also sets aside </a:t>
            </a:r>
            <a:r>
              <a:rPr lang="en-US" sz="2400">
                <a:solidFill>
                  <a:schemeClr val="accent1"/>
                </a:solidFill>
              </a:rPr>
              <a:t>spare sectors not visible to the operating system. </a:t>
            </a:r>
            <a:endParaRPr sz="2400">
              <a:solidFill>
                <a:schemeClr val="accent1"/>
              </a:solidFill>
            </a:endParaRPr>
          </a:p>
          <a:p>
            <a:pPr indent="-190500" lvl="0" marL="342900" rtl="0" algn="l">
              <a:spcBef>
                <a:spcPts val="480"/>
              </a:spcBef>
              <a:spcAft>
                <a:spcPts val="0"/>
              </a:spcAft>
              <a:buClr>
                <a:schemeClr val="dk1"/>
              </a:buClr>
              <a:buSzPts val="2400"/>
              <a:buNone/>
            </a:pPr>
            <a:r>
              <a:t/>
            </a:r>
            <a:endParaRPr sz="2400"/>
          </a:p>
          <a:p>
            <a:pPr indent="-342900" lvl="0" marL="342900" rtl="0" algn="l">
              <a:spcBef>
                <a:spcPts val="480"/>
              </a:spcBef>
              <a:spcAft>
                <a:spcPts val="0"/>
              </a:spcAft>
              <a:buClr>
                <a:schemeClr val="dk1"/>
              </a:buClr>
              <a:buSzPts val="2400"/>
              <a:buChar char="•"/>
            </a:pPr>
            <a:r>
              <a:rPr lang="en-US" sz="2400"/>
              <a:t>The controller can be told to </a:t>
            </a:r>
            <a:r>
              <a:rPr lang="en-US" sz="2400">
                <a:solidFill>
                  <a:schemeClr val="accent1"/>
                </a:solidFill>
              </a:rPr>
              <a:t>replace each bad sector logically with one of the spare sectors. </a:t>
            </a:r>
            <a:r>
              <a:rPr lang="en-US" sz="2400"/>
              <a:t>This scheme is known as </a:t>
            </a:r>
            <a:r>
              <a:rPr lang="en-US" sz="2400">
                <a:solidFill>
                  <a:schemeClr val="accent1"/>
                </a:solidFill>
              </a:rPr>
              <a:t>sector sparing or forwarding</a:t>
            </a:r>
            <a:endParaRPr sz="2400">
              <a:solidFill>
                <a:schemeClr val="accent1"/>
              </a:solidFill>
            </a:endParaRPr>
          </a:p>
        </p:txBody>
      </p:sp>
      <p:sp>
        <p:nvSpPr>
          <p:cNvPr id="882" name="Google Shape;882;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83" name="Google Shape;883;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84" name="Google Shape;884;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3"/>
          <p:cNvSpPr txBox="1"/>
          <p:nvPr>
            <p:ph idx="1" type="body"/>
          </p:nvPr>
        </p:nvSpPr>
        <p:spPr>
          <a:xfrm>
            <a:off x="533400" y="3810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t>GATE | GATE CS 2008 | Question 31</a:t>
            </a:r>
            <a:endParaRPr/>
          </a:p>
          <a:p>
            <a:pPr indent="0" lvl="0" marL="0" rtl="0" algn="l">
              <a:spcBef>
                <a:spcPts val="480"/>
              </a:spcBef>
              <a:spcAft>
                <a:spcPts val="0"/>
              </a:spcAft>
              <a:buClr>
                <a:schemeClr val="dk1"/>
              </a:buClr>
              <a:buSzPts val="2400"/>
              <a:buNone/>
            </a:pPr>
            <a:r>
              <a:rPr lang="en-US" sz="2400"/>
              <a:t>For a magnetic disk with concentric circular tracks, the seek latency is not linearly proportional to the seek distance due to</a:t>
            </a:r>
            <a:br>
              <a:rPr lang="en-US" sz="2400"/>
            </a:br>
            <a:r>
              <a:rPr b="1" lang="en-US" sz="2400"/>
              <a:t>(A)</a:t>
            </a:r>
            <a:r>
              <a:rPr lang="en-US" sz="2400"/>
              <a:t> non-uniform distribution of requests</a:t>
            </a:r>
            <a:br>
              <a:rPr lang="en-US" sz="2400"/>
            </a:br>
            <a:r>
              <a:rPr b="1" lang="en-US" sz="2400"/>
              <a:t>(B)</a:t>
            </a:r>
            <a:r>
              <a:rPr lang="en-US" sz="2400"/>
              <a:t> arm starting and stopping inertia</a:t>
            </a:r>
            <a:br>
              <a:rPr lang="en-US" sz="2400"/>
            </a:br>
            <a:r>
              <a:rPr b="1" lang="en-US" sz="2400"/>
              <a:t>(C)</a:t>
            </a:r>
            <a:r>
              <a:rPr lang="en-US" sz="2400"/>
              <a:t> higher capacity of tracks on the periphery of the platter</a:t>
            </a:r>
            <a:br>
              <a:rPr lang="en-US" sz="2400"/>
            </a:br>
            <a:r>
              <a:rPr b="1" lang="en-US" sz="2400"/>
              <a:t>(D)</a:t>
            </a:r>
            <a:r>
              <a:rPr lang="en-US" sz="2400"/>
              <a:t> use of unfair arm scheduling policies</a:t>
            </a:r>
            <a:br>
              <a:rPr lang="en-US" sz="2400"/>
            </a:br>
            <a:br>
              <a:rPr lang="en-US" sz="2400"/>
            </a:br>
            <a:br>
              <a:rPr lang="en-US" sz="2400"/>
            </a:br>
            <a:endParaRPr sz="2400"/>
          </a:p>
        </p:txBody>
      </p:sp>
      <p:sp>
        <p:nvSpPr>
          <p:cNvPr id="890" name="Google Shape;890;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91" name="Google Shape;891;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892" name="Google Shape;892;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84"/>
          <p:cNvSpPr txBox="1"/>
          <p:nvPr>
            <p:ph idx="1" type="body"/>
          </p:nvPr>
        </p:nvSpPr>
        <p:spPr>
          <a:xfrm>
            <a:off x="533400" y="381000"/>
            <a:ext cx="8229600" cy="45259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b="1" lang="en-US" sz="2400"/>
              <a:t>GATE | GATE CS 2008 | Question 31</a:t>
            </a:r>
            <a:endParaRPr/>
          </a:p>
          <a:p>
            <a:pPr indent="0" lvl="0" marL="0" rtl="0" algn="l">
              <a:spcBef>
                <a:spcPts val="480"/>
              </a:spcBef>
              <a:spcAft>
                <a:spcPts val="0"/>
              </a:spcAft>
              <a:buClr>
                <a:schemeClr val="dk1"/>
              </a:buClr>
              <a:buSzPts val="2400"/>
              <a:buNone/>
            </a:pPr>
            <a:r>
              <a:rPr lang="en-US" sz="2400"/>
              <a:t>For a magnetic disk with concentric circular tracks, the seek latency is not linearly proportional to the seek distance due to</a:t>
            </a:r>
            <a:br>
              <a:rPr lang="en-US" sz="2400"/>
            </a:br>
            <a:r>
              <a:rPr b="1" lang="en-US" sz="2400"/>
              <a:t>(A)</a:t>
            </a:r>
            <a:r>
              <a:rPr lang="en-US" sz="2400"/>
              <a:t> non-uniform distribution of requests</a:t>
            </a:r>
            <a:br>
              <a:rPr lang="en-US" sz="2400"/>
            </a:br>
            <a:r>
              <a:rPr b="1" lang="en-US" sz="2400"/>
              <a:t>(B)</a:t>
            </a:r>
            <a:r>
              <a:rPr lang="en-US" sz="2400"/>
              <a:t> arm starting and stopping inertia</a:t>
            </a:r>
            <a:br>
              <a:rPr lang="en-US" sz="2400"/>
            </a:br>
            <a:r>
              <a:rPr b="1" lang="en-US" sz="2400"/>
              <a:t>(C)</a:t>
            </a:r>
            <a:r>
              <a:rPr lang="en-US" sz="2400"/>
              <a:t> higher capacity of tracks on the periphery of the platter</a:t>
            </a:r>
            <a:br>
              <a:rPr lang="en-US" sz="2400"/>
            </a:br>
            <a:r>
              <a:rPr b="1" lang="en-US" sz="2400"/>
              <a:t>(D)</a:t>
            </a:r>
            <a:r>
              <a:rPr lang="en-US" sz="2400"/>
              <a:t> use of unfair arm scheduling policies</a:t>
            </a:r>
            <a:br>
              <a:rPr lang="en-US" sz="2400"/>
            </a:br>
            <a:br>
              <a:rPr lang="en-US" sz="2400"/>
            </a:br>
            <a:br>
              <a:rPr lang="en-US" sz="2400"/>
            </a:br>
            <a:r>
              <a:rPr b="1" lang="en-US" sz="2400"/>
              <a:t>Answer:</a:t>
            </a:r>
            <a:r>
              <a:rPr lang="en-US" sz="2400"/>
              <a:t> </a:t>
            </a:r>
            <a:r>
              <a:rPr b="1" lang="en-US" sz="2400"/>
              <a:t>(B)</a:t>
            </a:r>
            <a:br>
              <a:rPr lang="en-US" sz="2400"/>
            </a:br>
            <a:r>
              <a:rPr b="1" lang="en-US" sz="2400"/>
              <a:t>Explanation:</a:t>
            </a:r>
            <a:r>
              <a:rPr lang="en-US" sz="2400"/>
              <a:t> Whenever head moves from one track to other then its speed and direction changes, which is noting but change in motion or the case of inertia. So answer B</a:t>
            </a:r>
            <a:endParaRPr/>
          </a:p>
          <a:p>
            <a:pPr indent="0" lvl="0" marL="0" rtl="0" algn="l">
              <a:spcBef>
                <a:spcPts val="480"/>
              </a:spcBef>
              <a:spcAft>
                <a:spcPts val="0"/>
              </a:spcAft>
              <a:buClr>
                <a:schemeClr val="dk1"/>
              </a:buClr>
              <a:buSzPts val="2400"/>
              <a:buNone/>
            </a:pPr>
            <a:r>
              <a:t/>
            </a:r>
            <a:endParaRPr sz="2400"/>
          </a:p>
        </p:txBody>
      </p:sp>
      <p:sp>
        <p:nvSpPr>
          <p:cNvPr id="898" name="Google Shape;898;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10/16/2024</a:t>
            </a:r>
            <a:endParaRPr/>
          </a:p>
        </p:txBody>
      </p:sp>
      <p:sp>
        <p:nvSpPr>
          <p:cNvPr id="899" name="Google Shape;899;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Prof. Shweta Dhawan Chachra</a:t>
            </a:r>
            <a:endParaRPr/>
          </a:p>
        </p:txBody>
      </p:sp>
      <p:sp>
        <p:nvSpPr>
          <p:cNvPr id="900" name="Google Shape;900;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2020-10-15T11:15:30Z</dcterms:created>
  <dc:creator>Admin</dc:creator>
</cp:coreProperties>
</file>
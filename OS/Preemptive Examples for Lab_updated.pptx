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70" r:id="rId17"/>
    <p:sldId id="271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20-09-15T09:53:13.4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16992 3101,'0'99,"24"-25,26 25,-25-24,0-26,-25 1,24-25,-24-50,0 0,-24 0,24 1,0-1,0 0,24 25,-24-25,25 25,0 0,0-25,0 1,24 24,-24 0,25 0,-26 0,1 0,-25 24,25 1,-25 0,0 25,0-1,0-24,0 0,0 0,-25-1,0-24,25 25,-49-25,49 50,-50-50,25 0,1 25,-1-25,0 0,0 0,25-25,0 0</inkml:trace>
  <inkml:trace contextRef="#ctx0" brushRef="#br0" timeOffset="923.673">17488 3051,'0'25,"0"0,0-1,24 51,1-1,0-24,25-1,-26 1,1 0,-25-26,50 1,-25 25,0-50,-25 25,24-25,1 24,25-24,-25-24,-25-26</inkml:trace>
  <inkml:trace contextRef="#ctx0" brushRef="#br0" timeOffset="1586.7728">17512 3473,'0'-25,"25"25,0-25,0-25,24 1,-24 49,25-50,0 25,-1 1</inkml:trace>
  <inkml:trace contextRef="#ctx0" brushRef="#br0" timeOffset="2590.243">18157 2927,'0'25,"0"0,-24-1,-26 51,50-1,-25 1,0-51,25 1,-24 25,24-75,24 25,1 0,50 0,-26 0</inkml:trace>
  <inkml:trace contextRef="#ctx0" brushRef="#br0" timeOffset="4395.3026">18455 2729,'0'24,"-25"-24,25 50,0-25,0 0,0-1,0 1,0 25,0-25,0-1,25 26,0 0,0-50,-1 24,26 1,-25-25,0 0,-1 0,1 0,0 0,0 0,-25-25,0-24,25-1,-25 25,24-24,-24-1,0 25,0 1,0-1,0 0,-24 0,-1 0,0 1,0 24,-24 0,49-25,-25 25,0 0,0 0,0 0</inkml:trace>
  <inkml:trace contextRef="#ctx0" brushRef="#br0" timeOffset="6550.0129">18505 2853,'24'0,"1"0,25 24,-1-24,26 25,-1 0,26 25,-1-26,-25-24,1 25,-51 0,1-25,-25 25,-25-25</inkml:trace>
  <inkml:trace contextRef="#ctx0" brushRef="#br0" timeOffset="10687.2298">17785 4167,'0'25,"0"49,50 1,-25-1,49 25,-24-24,-25 24,-1-25,1-49,-25 0,0-50,0 0,0 1,0-1,0 0,0 0,-49-24,24 24,-25-25,25 1,-49-26,49 50,-24-24,-1 24,50 0,-25 0,25 1,25 24,0-50,24 0,-24 26,25-51,-1 50,-49 1,25-1,-25 50</inkml:trace>
  <inkml:trace contextRef="#ctx0" brushRef="#br0" timeOffset="11149.4808">17934 4415,'25'0,"0"-25,24 1,-24-1,25 0,-25 25,-1-25,1 0</inkml:trace>
  <inkml:trace contextRef="#ctx0" brushRef="#br0" timeOffset="11590.5894">18182 4266,'25'0,"0"25,24 25,-24-25,25-1,-50 1,25 0,-25 0</inkml:trace>
  <inkml:trace contextRef="#ctx0" brushRef="#br0" timeOffset="12012.1963">18232 4093,'0'25,"0"-1</inkml:trace>
  <inkml:trace contextRef="#ctx0" brushRef="#br0" timeOffset="14937.5479">18480 4192,'0'-25,"25"25,-1 0,26 0,-25 0,0 0,-1 0,26 25,-25 25,0-26,-25 1,0 0,0-50,0 0,0 1,0-1,0-25,0 1,0-1,0 0,0 26,0-1,0 0,0 50,24 0,1-25,0 24,0-24,0 50,24-25,-24-25,25 25,-50-50,0-50,0 26,0-1,0 25,0 1,0 48,0 1,25 0,49 25,-49-26,0 1,24 0,-24-25,-25-25,0 0,0-24,0-26,0 1,0 24,0 1,0 24,0 0,0 50,0 0,0 24,0-24,50 0,-50 0,49-25,-24 25,25-25,-50 24,0 1,0 0,0 0,-25 0,25-1,0 1,-25-25,25-25</inkml:trace>
  <inkml:trace contextRef="#ctx0" brushRef="#br0" timeOffset="15583.0471">19026 3770</inkml:trace>
  <inkml:trace contextRef="#ctx0" brushRef="#br0" timeOffset="17025.5648">19373 3274,'0'0,"0"-25,0 1,0 48,0 26,0 24,25 1,24-1,-24 25,25-24,-1-1,-24-24,0 24,0-24,-1-25,1 24,-25-73,0-1,0 0,0 0,0-49,0 49,0-25,0 26,25-51,-25 50,25 25,-25-25,25 25,24 0,-24 0,25 0,-25 0,24 0,1 50,-25-25,-1 0,1 0,0-1</inkml:trace>
  <inkml:trace contextRef="#ctx0" brushRef="#br0" timeOffset="20123.0242">18505 5085,'0'0,"-25"-25,50 50,-1 0,1 24,25 26,-25-1,24 1,-24-1,0-24,24 24,-49-49,25 0,0-25,-25-25,0 0,0 0,-25 0,0 1,25-26,0 25,-24 0,24 1,0-1,0 0,0 0,24 25,-24-25,25 25,0 0,-25-24,25 24,25 0,-26 0,1 0,0 0,0 0,-25 24,25 1,-25 0,0 0,0 0,0-1,0 1,0 0,0 0,0 24,0-24,-25 0,0 0,0 0,0-25,1 0,48 0,1 0,25 0,-25 0,-25-25,49 25,-24-25,-25 0,0 0,25-24,-25 24,25-25,-25 26,0-26,0 25,0 0,24 25,-24-24,0-1,0 0,0 0,0-24,-24 49,24-25,0 0,-25 0,25 0,-25 1,25-26,-25 50,25-25,-25 0,1 25,24 25,24 25,1-1,0 51,25-51,-26-24,26 25,-25-26,0-24,-25 25,24-25,1 0,0 0,0 0,0 0,-1 0,-24-49</inkml:trace>
  <inkml:trace contextRef="#ctx0" brushRef="#br0" timeOffset="20680.9078">19001 5135,'25'0,"-1"0,-24-25,50 0,-25-25,24 1,1 24,0 0</inkml:trace>
  <inkml:trace contextRef="#ctx0" brushRef="#br0" timeOffset="21402.6986">19447 4837,'0'-25,"25"25,25 0,24 0,50-25,-25 0,-24 1,-26 24,-24 0,0 0,-50 0,25 49,-25-49,25 25,-24 25,24-1,0 1,0 0</inkml:trace>
  <inkml:trace contextRef="#ctx0" brushRef="#br0" timeOffset="22786.2436">20167 4490,'-25'0,"25"24,0 1,0 25,25 24,24-24,-24-1,25 1,-1 0,-24-25,0-25,0 0,-25-25,0 0,0 0,0-49,0-1,0 1,0 24,0 1,0 24,0 0,-50 25,25 0,-24 0,24 0,0 0,0 0,0 0,25 25,-24-25,24 25,-25-25,25 24,25 1,-1-25,1 50,50-50,-51 49,26-24,24-25,-24 25,0 0,-26 0,51-1,-26 1,-24-25,0 25,0 0,-25 0,0-50</inkml:trace>
  <inkml:trace contextRef="#ctx0" brushRef="#br0" timeOffset="24191.3886">19373 6449,'0'-25,"0"1,0-1,0 0,0 0,0-24,0 24,0 0,0 0,0 0,0-24,0 24,-25 0,25 50,0 0,25 0,24 24,-49-24,50 25,0-1,-26-24,-24 0,25-25,0 0,-25-50,0 25,0 1</inkml:trace>
  <inkml:trace contextRef="#ctx0" brushRef="#br0" timeOffset="24593.9158">19298 5978,'0'25,"0"0</inkml:trace>
  <inkml:trace contextRef="#ctx0" brushRef="#br0" timeOffset="28558.2454">19695 6052,'0'-24,"25"24,0 0,0 0,-1-25,1 25,0 0,0 0,25 25,-26-1,1 1,0 0,0 0,0 0,-25-1,0 1,0 0,0-50,0 0,0 1,-25-26,25 25,-25-24,25-1,-25 25,50 25,0-25,0 25,24 0,-24 0,25 50,-50-25,49 0,-24-1,-25 1,0 0,25-25,-25-25,0 0,0 1,0-26,0 0,0 26,-25-26,25 25,0 0,0 0,-25 25,0-49,1 24,24 0,-25 25,0 0,25-25,-25 1,25-1,0 50,0-1,50 26,-25-25,24 49,1-24,-25-25,-1 24,1-24,0-25,0-25,0 25,-1-24,-24-1,0 0,0-25,0 1,0-1,0 25,0 0,0-24,0 74,-24-25,24 24,-25 1,25 0,0 0,0 0,0-1,25-24,-25 25,24-25,1 25,25-25,-50 25,25-25,-1 0,1 0,0 0,0 0,0 0,-1 0,1-25,0 0,-25 0</inkml:trace>
  <inkml:trace contextRef="#ctx0" brushRef="#br0" timeOffset="29548.907">20117 5854,'25'-25,"0"-25,24 1,1-26,-1 1,-24 49,-25 0</inkml:trace>
  <inkml:trace contextRef="#ctx0" brushRef="#br0" timeOffset="37675.3495">20811 5879,'0'-25,"0"0,0-25,0-24,0 0,0-1,0 1,0-1,0 51,0-1,-24 0,-1 25,0-25,0 0,0 1,1 24,24 24,0 1,0 0,24-25,1 25,0 0,0-25,0 0,24 24,-24-24,0 0,0 0,-25-49,25 24,-25 0,0 0,0 1,0 48,0 1,24 0,1 0,0 0,-25-1,25 1,0 0,-1-25,1 25,0-25,0 0,0 0,24 0,-24 0,-25-25,0 0,0 0,0 1,0-26,0 25,-25 0,25 1,0-1,-25 25,1-25,24 0,0-24,0 24,-25 25,0 0,0-25,25 0,-25 25,25 25,0 0,0 0,50-25,-25 0,0 0,-1 0,1 0,0 0,0-25,0 25,-1-25,-24 0,25 25,-25-25,-25 25,25 25,0 0,0 0,0 0,0-1,0 1,0 0,25 0,0-25,0 0,0 0,-1 0,1-25,-25 0,0 0,0 1,0-1,0-25,0 25,0 1,-25-1,25 0,-24 0,24 0,-25 25,25-24,-25-1,25 50,25-25,-25 24,25-24,-1 50,1 0,25-1,-25-24,-1 0,1-25,-25 25,25-25,0 0,-25-25,0-50,25 26,-25 24,0-25,0 26,0-1,0 0,-25 25,25-25,-25-25,0 26,25-26,-25 0,25 75,25-25,0 25,-25-50,0 0,25 1,0-1,-25 0,0 0,0 0,24-24,-24 24,25 0,-25 0,-25-24,25-26,-24 26,-1-1,0 25,25 1,-25 24,25 24,-25-24,25 50,25 49,50 25,-1 0,-24 0,49 0,-25-24,26 24,-26-25,-49-25,24 1,-24-26,0 1,0-50,-25 25,0-50,-25 0,0 0,0-24,-24 24,-1-50,-24 1,-1 0,50-1,-24 50,24 1,0-26,25 25,0 0,0 0,-25 1,25-1,0-25,0 25,0-24,0 24,0 0,25 0,0 25,0 0,24 0,-24 0,25 0,-25 0,0 0,-1 25,-24 25,0-25,0 24,0 1,0-25,-24-1,24 26,0-25,0 0</inkml:trace>
  <inkml:trace contextRef="#ctx0" brushRef="#br0" timeOffset="39752.8943">22077 4862,'24'-25,"-24"-25,25 50,-25-25,25-24,0-1,-25 25,25 1,-25-26,0 0,0 26,0-1,0 0,0 0,-25 0,25-24,0-1,-25 25,25 1,-25-1,25 0,-25 0,25-24,0-1,-24 0,-1 1,25 24,0 0,0 50,0 0,0 0,0 24,0 26,0-1,49-24,-49 24,50 0,-25 1,0-26,-1-24,1 0,-25 0,25 0,0-25,0 0,-1 0,-24-25,25 0,-25 0,0 0</inkml:trace>
  <inkml:trace contextRef="#ctx0" brushRef="#br0" timeOffset="40811.3928">22027 4465,'25'-25,"24"0,-24-24,25-26,24 26,-24-26,24-24,-49 49,0 26,0 24,-50 0,0 24</inkml:trace>
  <inkml:trace contextRef="#ctx0" brushRef="#br0" timeOffset="117570.548">8409 5457,'25'0,"0"0,-25-25,49 25,-24 0,25 0,49-25,-25 25,50-49,0 24,-49 0,24 0,25 1,-49-1,24 0,50 0,24 0,-49 1,25 24,-50-25,-24 25,-1 0,1 0,-1 0,25 0,-24 0,-1 0,0 0,-24 0,24 0,1 0,-1 0,1 0,24 0,0 0,0 0,-24-25,49 25,-25 0,0 0,25 0,-25 0,50 0,-50 0,50 25,-49-25,-1 25,25-1,-25 1,0-25,25 25,-49 25,-1-50,-74 24,198-24,125 0,49-24,0-1,-49-25,-26 50,-24-25,-124 1,25 24,-26-25,-48 25,-1 0,-25-25,-24 25,-1 0,-73 0,24-25</inkml:trace>
  <inkml:trace contextRef="#ctx0" brushRef="#br0" timeOffset="124303.753">23292 11336,'-25'0,"25"-25,0 0,-25 25,1-25,-1 1,-50-26,51 0,-26 25,50 1,-25-1,0 25,0 0,1 0,-1 0,0 0,0 0,0 0,1 0,-1 0,-25 0,25 0,-24 0,24 0,-25 25,26-1,24 1,0 0,-25 0,25 0,-25 0,25-1,-25 26,0-50,1 25,24 0,-25-1,25 1,-25 0,25 0,0 0,0 24,0 1,0-1,0-24,25 25,-25-25,25-1,-1 1,-24 0,25-25,-25 25,25-25,0 25,24-1,-24 26,50-50,-51 25,1 0,25-25,-25 24,-1 1,1-25,0 0,0 0,0 0,-1 0,26 0,0-25,-25 25,-25-24,49 24,-49-25,25 0,0 0,0 0,-1 1,-24-1,0 0,0 0,25 25,-25-49,0 24,0-25,0 1,0-1,0 25,0 0,0 1,-25-1,25 0,-24 25,-1-25,25 0,-25 25,25-24,-25-1,25 0</inkml:trace>
  <inkml:trace contextRef="#ctx0" brushRef="#br0" timeOffset="127755.1498">22349 12278,'0'25,"0"-50,0 1,0-1,0 50,0-1,0 1,0 25,25-1,25 51,-1 24,-49-50,25 0,25 1,-25-50,-25 24,24-49,1 0,0 0,0-25,0 25,-1 0,-24-24,0-1</inkml:trace>
  <inkml:trace contextRef="#ctx0" brushRef="#br0" timeOffset="128640.0614">22176 12725,'0'0,"25"-25,-1 0,-24 0,50 1,-25-1,24-25,-24 25,0 1,0 24,0 0,-1 0,-24-25,25 25,-25-25,25 25,0 0,0 0,-1-25</inkml:trace>
  <inkml:trace contextRef="#ctx0" brushRef="#br0" timeOffset="135334.0206">23094 12353,'-25'0,"0"0,25 49,0-24,0 25,0-1,0-24,25 25,0-50,24 49,-24-24,25-25,-26 25,1-25,0 0,25 0,-1 0,-24-25,-25 0,0 1,0-26,0 25,0-49,0-1,0 1,0 0,-25-1,0 50,25-24,-24 49,24 24,0 1,0 0,49 25,-24-1,49 1,-49 24,25-49,-1 25,-24-50,0 0,0 0,-25-50,-25-24,0-1,-24-24,49 25,-25 49,0-25,0 50,25 25,0 0,-25-25,25 25,-24-1,-1 1,25 0,-25-25,25 25,0 0,0 0,25-25,0 0,-1 0,-24 24,50-24,-25 0,0 0,-1 0,1 0,0 0,0-24,24-1,-49 0,0 0,0 0,0-24,0 24,0 0,0 0,0 75,25-50,0 25,0 24,0 1,-1-25,1 24,0-24,0 25,-25-25,49-25,-49-25,0 0,0 0,0 0,0-24,0-1,0 0,0 26,0-1,-24 0,-1 0,25 0,-25 25,50 25,0-25,-25-25,0 1,0-26,0 25,0 0,24 1,-48-1,-1 25,25 25,0 24,0-24,0 0,0 24,0-24,25 0,-1 25,-24-26,25 1,0 0,0 25,0-25,0-1,24 1,-24-25,-25-25,0 1,0-1,0 0,0 0,0 0,0 0,0 1,0-1,0 0,0 0,0 0,0 1,0-1,0 0,0 0,-25 25,25 50,50 24,-25-24,24-1,-24 1,0 0,0-50,-25 25,0-50,0 0,0 0,0 0,-25-24,25-1,-25 0,25 1,0 24,0 0,0 0,25 25,-25-24,25 24,-1 0,1 0,-25 24,25 1,-25 0,25 0,0 0,-1-1,-24 1,25 0,0-25</inkml:trace>
  <inkml:trace contextRef="#ctx0" brushRef="#br0" timeOffset="137390.9063">24359 11286,'0'-25,"-25"-24,25 74,25-25,-1 49,51 26,-50 24,49-50,-49 1,0 0,24-50,-49 24,25 1,0-25,0 25,-1-25,-24 25,50-25,-25 0,0 0,-25-25,0 0,0-24,0 24,0-25,0 25,0 1,0-1,-25 0,0 0,25 0,-25 1,0 24,1 0,-1 0,25 24,0 1,0 0,0 0,25 0,-1-1,1 1,25-25,-1 0,-24 25,0-25,0 0,0 0,-1 0,1 0,0 0,0-25,-25 0,0 1,0-26,0 25,-25-24,25-1,-25 25,0 0,25 1,-24 24,-1 0,0 0,50 0,0 0,24 0,-24 0,25-25,-26 0,1 0,-25 50,0 25,25-1,0 26,25 49,-26-75,1 1,0 24,0-74,-25-25,0 1</inkml:trace>
  <inkml:trace contextRef="#ctx0" brushRef="#br0" timeOffset="138852.6502">24235 11708,'0'-25,"24"0,1 0,-25 1,25-1,0 0,0 0,-1-24,26-1,-50 25,25-24,-50 49,25 24,25-24,-25-24,25 24,-1-25,1-25,25 1,-25-1,-1 0,1 25,0 1</inkml:trace>
  <inkml:trace contextRef="#ctx0" brushRef="#br0" timeOffset="143659.8603">23317 11237,'0'24,"25"-24,-1 0,1-24,25-51,24 50,-24-24,-1 24,1 0,-50 0,-25 25,25 25</inkml:trace>
  <inkml:trace contextRef="#ctx0" brushRef="#br0" timeOffset="145160.2619">23763 10765,'0'-25,"0"1,0-26,0 25,25 0,0 25,0 0,24 0,-24 0,25 0,-26 25,26 0,-25-25,0 50,-25-1,0-24,0 0,0 24,0 1,0 24,0-24,-25-25,25 0,0-1,0-48,0-1,0 0,0 0,25-24,24-1,-24 0,25 50,-25-49,-1 24,26 0,-25 25,-25 25,0 0</inkml:trace>
  <inkml:trace contextRef="#ctx0" brushRef="#br0" timeOffset="146622.9878">24135 10344,'0'-25,"-24"0,24 50,0 24,24 1,-24-25,0 24,25-24,-25 0,0 0,25-25,-25 25,25-25,0 0,-1 0,26-25,-25 0,-25 0,25 50,-1 0,1 0,25 24,-50-24,49 0,-49 0,25-1,0-24</inkml:trace>
  <inkml:trace contextRef="#ctx0" brushRef="#br0" timeOffset="147478.5391">24507 10294,'0'-25,"0"0,0 1,25-26,0 0,0 26,0-26,-1 50,-24-50,25 50,-25 25</inkml:trace>
  <inkml:trace contextRef="#ctx0" brushRef="#br0" timeOffset="147977.8724">24557 10418,'0'-25,"0"0,25 1,0-1,24-25,26 25,-51-24,1 24,-25 0,25 25,-50 0</inkml:trace>
  <inkml:trace contextRef="#ctx0" brushRef="#br0" timeOffset="149708.6424">24855 9500,'24'0,"1"0,-74 0,24 0,-25 50,50 24,-49-24,24-1,25 1,-25-25,25 0,0-1,0 26,0 0,50-26,-1 26,-24-25,25 25,-26-1,1-24,0-25,-25 25,25-25,0 0,24 0,-24-50,-25 25,25 1,-25-1,25 25,-25-25,0 0,0 0,-25 0,0 1,0 24,0-25,1 25,-1 0,0 0,25 25,0-1,-25-24,25 25,0 0,0 25,0-25,0 24,0-24,0 25</inkml:trace>
  <inkml:trace contextRef="#ctx0" brushRef="#br0" timeOffset="156131.1628">2902 11559,'-24'0,"-1"-25,-25 0,25 1,-24-1,-1 25,25 0,-24 0,-1 0,1 0,24 0,0 0,0 0,25 25,-25-1,25 1,-24 25,24-25,0 24,-25-24,25 25,0-26,0 1,0 25,0-1,0 1,0-25,25 24,-1 1,1-25,0 0,25 24,-26-24,1-25,0 0,0 0,0 0,-1-25,1 25,-25-25,50-24,-25 24,24-25,-24 26,0-1,0 0,-1 0,-24 0,0-24,0 24,0 0,0-24,0 24,0-25,0 25,-24 25,24-24,-25 24,25-25,-25 25,25-25,-25 25,0 0,25-25,-24 25,-1-25,0 1,25 48</inkml:trace>
  <inkml:trace contextRef="#ctx0" brushRef="#br0" timeOffset="158477.8229">5829 10145,'-24'50,"-1"-25,0-25,-25 49,1 1,24-25,-25-1,26-24,-1 25,50-25,-25-25,24 25,26 0,-25 0,49 0,1 0,-1 50,0-25,-49-25,0 25</inkml:trace>
  <inkml:trace contextRef="#ctx0" brushRef="#br0" timeOffset="160787.9083">5780 10368,'25'0,"24"0,26 0,73 0,-23 0,73 0,25 0,25 0,-25 0,50 0,-49 0,-1 0,25 0,-50 0,-49 0,25 0,-100 0,-24 0,-75 0,-25 0,125-24,74 24,-75 0,-24 0,-26 0,1-25,0 0,0 25,0 0,-1 0,1 0,0 0,-50 0,0-25,1 0,-26 25,0-49,1 24,-1 0,1-24,-1 49,25-25,0 25,25-25,-24 0,48 25,26 25,0-25,-1 50,26-26,-26 1,50 0,-74 0,0-25,0 0,-25 25,-25-1,25 1,-25 0,0 0,25 0,-24 24,-1-24,25 25,0-1,-25 1,25-1,-25-24,25 0,0 0,0 0,0-50,-49 50,-51 74,1 25,-50 49</inkml:trace>
  <inkml:trace contextRef="#ctx0" brushRef="#br0" timeOffset="163412.2951">5333 11931,'25'0,"0"0,0 25,-25 0,49 49,-24-24,25-1,-1 26,26-1,-1-49,1 25,-1-26,50 1,-25-25,-24 0,-1 0,1 0,-26 0,-24-25,49 1,-49-1,0 0,49 0,-24-24,0-1,24 0,50 1,0-1,-50 0,-24 26,25 24,-51 0,26 0,-25 0,0 0,-1 0,26 49,-25-24,49 25,-49-26,0 26,0 0,24-25,-49-1,25-24,-25 25,25-25,-25-25,0 1,0-1,0 0,25-25,-25 1,49-1,-24 0,25 1,-1-26,1 51,-1-26,26 25,-26 0,1 1,0 24,-1 0,-24 0,0 0,0 0,0 0,-1-25,1 25,25-25,-1 25,-24-25,0 25,0-25,-25 1,0-1,0-25,25 50,-25-25,0 1,0-1,0 0,0 50,0 24,0-24,0 74,0 1,0-26</inkml:trace>
  <inkml:trace contextRef="#ctx0" brushRef="#br0" timeOffset="164458.59">8335 12303,'0'0,"0"-25,0-24,-25 49,25-25,-50 25,26 25,24 0,-50-1,50 1,-25 25,0-50,25 49,0-24,-25-25,1 50,24-25,0 24,0 26,0-26,24 1,1 24,25-24,-25-50,0 25,-1-1,1-24,0 0,0 0,0-24,-25-1,24 0,-24 0,0 0,0-24,0 24,0 0,-24 25,-1 0,0 0,-25 0,26 0,24 25,0 0,0 0</inkml:trace>
  <inkml:trace contextRef="#ctx0" brushRef="#br0" timeOffset="165564.0721">8459 12254,'0'0,"0"-25,-50-50,25 50,1 1,-1-1,0-25,0 50,-24 0,24-25,0 25,-25 0,25 0,1 0,-1 0,25 25,-25-25,25 50,-25-25,0 24,25 1,-24 0,-1 24,25 0,-25 1,25-26,0 26,0-1,0-24,0 49,0-25,25-24,24 0,-24-1,0-49,49 25,-24 0,0 0,24-25,1 0,-1 0,0-25,-24 0,24 0,-24-49,24-25,-49-25,25-25,-25 50,-1 24,-24 1,0-1,0 1,0 49,-24-49,-26-1,0 50,26-24,-51 49,26-25,-1 0,25 25,-24 0,49 25,0 0,24-25,-24 25,25-25,-25 49,50 26</inkml:trace>
  <inkml:trace contextRef="#ctx0" brushRef="#br0" timeOffset="167236.65">24433 8781,'25'25,"0"-1,-1 26,1-25,-25 0,50-1,-50 1,25 0,-25-50,0 0,24 1,-24-51,25 1,25-75,-25 75,-1-26,1-24,25-24,-25 73,-1 1,-24 24,0 25,0 50,0 0</inkml:trace>
  <inkml:trace contextRef="#ctx0" brushRef="#br0" timeOffset="171544.6029">199 6077,'0'50,"0"-25,0-1,0 1,49 25,-24-1,25 51,-1-26,1-24,-25-1,0-49,-25 25,24-25,-24-50,0 26,0-1,0 0,0 0,0-24,-24 24,24 0,0 0,0 0,0 50,24-25,1 25,25-25,-25 0,-25-25,0 0,-25 1,-25-51,25 50,-24-24,24-26,-25 26,26 24,-1 0,50 75</inkml:trace>
  <inkml:trace contextRef="#ctx0" brushRef="#br0" timeOffset="172257.1019">372 5457,'0'25,"25"0,0 24,49-24,-24 49,49 26,0 24,-49 0,0-50,-1-24,-24-1,0-24,-25 0,25-25,-25-25,0 0</inkml:trace>
  <inkml:trace contextRef="#ctx0" brushRef="#br0" timeOffset="172796.7752">645 5928,'25'0,"-25"-24,50-1,-26-25,26 25,-25 0,0-24,0 24,-1 0</inkml:trace>
  <inkml:trace contextRef="#ctx0" brushRef="#br0" timeOffset="173844.9845">1216 5879,'25'-25,"-50"50,25 0,0-1</inkml:trace>
  <inkml:trace contextRef="#ctx0" brushRef="#br0" timeOffset="175064.6202">1166 5879,'25'0,"-25"-25,0 0,25 25,24-74,51-50,-26 0,-24 49,-1 1,-24 24,0 50,-25 25</inkml:trace>
  <inkml:trace contextRef="#ctx0" brushRef="#br0" timeOffset="175738.6452">1464 5928,'0'-24,"0"-1,25 25,-25-25,24 0,1 0,0 0,0 1,24-1,-24 0,0 0,0 25,-25-49,0-1,49 0,-24 1</inkml:trace>
  <inkml:trace contextRef="#ctx0" brushRef="#br0" timeOffset="176872.4371">1563 4514,'0'50,"0"0,0-1,0-24,25 25,24 24,-49-24,50-25,-50 24,25-24,0 0,-1 49,1-49,0 0,25 49,-25-24,-1-25,1 24,0-24,0 0,-25 0,25-1,-1-24,1 0,0 0,0-24,0 24,-25-25,24 25,-24-25</inkml:trace>
  <inkml:trace contextRef="#ctx0" brushRef="#br0" timeOffset="177769.055">1786 5184,'0'-25,"25"1,-25-1,25-25,25-24,-1 49,1-25,-25 26,-1-1,-24 50</inkml:trace>
  <inkml:trace contextRef="#ctx0" brushRef="#br0" timeOffset="178335.3102">2506 5085,'0'-25,"0"-24,74-26,-24-24,74 0,-25 24,-50 1,1 49,0-25,-50 75</inkml:trace>
  <inkml:trace contextRef="#ctx0" brushRef="#br0" timeOffset="181275.0972">2803 3795,'0'0,"50"75,49-1,0 25,-24-49,-26 24,1-24,-25-25,0 24,-1-24,-24 25,25-50,-25 24,-25-73,25 24,-24 25,-1-25,25 0,0 1,-50-1,50 0,0 0,-25 0,25 1,0-1,0 0,25 25,0 0,0 0,-25-25,49 25,1 0,0 0,-26 0,26 0,-25 0,0 25,-1-25,-24 25,0 0,0-1,0 1,0 25,0-1,0 1,-24 0,-1-26,0 1,0 0,25 0,-25-25,-24 0,24 0,25-25,25 0,0 25,-1 0,-24-25,50 25,0-24,-26-26,51 50,-50-50,-1 50,-24-49,25 24,-25-25,0 1,0-26,0 1,0 0,0 24,0 25,0-24,-25 24,1 0,24-25,-25 25,0-24,25 24,-25 25,25-25,-25 25,25 25,0 25,0-26,0 1,25 0,0 25,25-1,24-24,-24 74,-1-49,26 0,-51-1,1-24,0 0,0-25,0 0,0 0,-1-25,-24 0,0 0,0 1,0-1</inkml:trace>
  <inkml:trace contextRef="#ctx0" brushRef="#br0" timeOffset="181776.0713">3523 3845,'24'-25,"1"25,0-50,25-24,49-1,0-49,-49 25,24 50,-74 24,25 25</inkml:trace>
  <inkml:trace contextRef="#ctx0" brushRef="#br0" timeOffset="183055.4106">4416 3324,'0'25,"0"-1,-25 1,0 0,-25 25,1-26,-1 26,25-50,1 25,48 0,1 24,25 26,24 49,1-25,-26 0,26-24,-26-1,-24-49,0 0,-25-1,0-48,25-1,-25 0,49 25,-49-25,50 25,-25 0,-1-25,1 25</inkml:trace>
  <inkml:trace contextRef="#ctx0" brushRef="#br0" timeOffset="183730.0181">4837 4093,'0'-50,"0"1,0-1,0 0,0 26,0-1,0 0,0 0,-25-24,1-1,-1 0,25 25,-25 1,25-1,-25 25,25 25,0-1,25-24,25 25</inkml:trace>
  <inkml:trace contextRef="#ctx0" brushRef="#br0" timeOffset="184602.7087">4713 3349,'-49'0,"73"0,1 0</inkml:trace>
  <inkml:trace contextRef="#ctx0" brushRef="#br0" timeOffset="185930.2705">4738 3671,'0'-25,"25"25,0 25,-1 0,1 25,0-26,25 26,-26-25,26 24,0-24,-50 0,49-25,-24 0,0 0,-25-25,0 0</inkml:trace>
  <inkml:trace contextRef="#ctx0" brushRef="#br0" timeOffset="187372.1441">4986 3026,'-25'0,"50"0,0 0,0 0,0 0,-1-25,1 1,-25 48,0 1,0 0,25 0,49 49,-24-24,24 49,-24-49,0-1,24 26,-49-1,24-49,-24 24,0-49,-50 0,0 0,25 25,-24 50,-1-50,-25 24,25 26,-24-51,24 1,0 25,0-25,50-25,-25-25</inkml:trace>
  <inkml:trace contextRef="#ctx0" brushRef="#br0" timeOffset="188766.5799">1216 6499,'0'-25,"0"0,0 50,0 0,-50 24,-49 51,-25 24,0-25,74-25,-24 1,99-75,-1 0,1 0,-25 25,50-1,0 76,-26-26,26 25,0 0,-26-49,1-25,-25 24,25-49,0 0,0-49,74 24,0-74,25 24,25-24,-50 25,-49 49,-26 0,1 25,-50 0,1 0</inkml:trace>
  <inkml:trace contextRef="#ctx0" brushRef="#br0" timeOffset="189919.7384">1513 7020,'0'0,"0"25,25-25,-25-25,0 0,0-25,0-49,0 0,-25 24,25 1,-24 24,-1 26,25-1,-25 25,25 25,0-1,25 1,-25 0,25 0,-1-25,1 49,25-49,-1 50,-24-25,0-25,25 25,-26-25,-24-50,0 25,25 0,-25 1,0-1,25 25,-25-25,0 0</inkml:trace>
  <inkml:trace contextRef="#ctx0" brushRef="#br0" timeOffset="191237.237">1513 6226,'0'-25,"25"0,0-24,0 24,0 25,-25 25,24-25,1 25,0-1,0 1,24 25,1-25,0-1,24 76,-49-51,25 1,-26-1,1-49,-25 25,25-25,0 25,0 0,-25 0,-25-1,0 1,25 0</inkml:trace>
  <inkml:trace contextRef="#ctx0" brushRef="#br0" timeOffset="192602.0606">1365 6152</inkml:trace>
  <inkml:trace contextRef="#ctx0" brushRef="#br0" timeOffset="196515.0352">10493 5904,'0'0,"-50"-25,1 0,-26 0,25-25,1 26,-1-26,-24 25,24 0,1 1,-1-1,0 25,-24-25,24 25,26-25,-26 25,0 0,1 0,-1 0,25 0,1 0,-51 0,50 25,-24-25,-1 25,0 0,26-1,-1-24,-25 50,25-25,-24 0,24 24,0-24,25 0,0 0,0 0,0-1,0 1,-25 25,25-25,0 24,0-24,0 0,0 0,0 24,50 1,-25-1,24 1,-49-25,50 24,-25-49,0 25,-1-25,1 0,25 0,0 0,-1 0,26 0,-1 0,0 0,26 0,-1 0,0-49,-49 24,-1 0,1-25,-1-49,1 0,-50 49,25-24,0 24,-25 26,0-1,0-25,0 25,0 0,-25 25,25-24,-25 24,0-25,-49 0,49-25,-49 26,24-51,-49 50,49 1,25-1,-24 0,74 50</inkml:trace>
  <inkml:trace contextRef="#ctx0" brushRef="#br0" timeOffset="202265.3462">7318 11162,'0'0,"-50"0,25 0,-24 0,24 0,0 0,-25 0,1 25,24 0,25 0,-25-1,0-24,25 50,-49-25,49 0,0-1,-25 26,0-25,25 24,0-24,0 0,0 0,0 0,0-1,0 1,0 25,0-25,25-1,-25 26,25-25,24 0,-49 49,50-74,-50 50,50-50,-26 0,1 0,25 0,24 0,26-25,-26-25,0 1,1-26,-1 26,-24-51,-25 76,-25-1,0-25,0 25,-25 1,0-1,25 0,-25 25,25-25,-25 25,25-25,-24 1,-1-1,-25 25,25-25,1 0,-26 25,25 0,-24 0,24 0,0 0</inkml:trace>
  <inkml:trace contextRef="#ctx0" brushRef="#br0" timeOffset="204149.6821">7020 11112,'0'0,"0"50,0-25,0 25,25 24,-25 0,25 50,-1-49,1 24,25-25,-50 50</inkml:trace>
  <inkml:trace contextRef="#ctx0" brushRef="#br0" timeOffset="206706.0031">7144 11857,'25'124,"0"99,0 99,-1-24,26 0,0 49,24-49,-49-100,0 0,-1 51,1-26,0 25,0-75,0-73,-1 24,-24 25,25-1,-25-48,25-1,0-25,-25-24,25-1,-25 1,24-25,1 0,-25 24,0 26,0-26,0 26,0-26,25 26,-25-26,25-49,-50 0,25-24,-25 24,25-25,-25 25,1-50,-26 25,50 0,-25 25,-24-24,24-1,0 25,25-25,-25 25,50 0,-25 25,25 0,0 24,24-24,26 50,-26-26,-24-24,25 49,-26-49,-24 0,25-25,-25-25,0 0,0 1,25-1,0-25,-25-24,74-1,-24 1,-1-50,1-25,0 50,-1 0,-24 74,-50 50,25-1,0 1,0 0,0 25,0 49</inkml:trace>
  <inkml:trace contextRef="#ctx0" brushRef="#br0" timeOffset="207831.622">7690 17909,'0'0,"-25"-25,0 0,25 1,-25-1,25 0,-24 25,24-50,-25 26,25-1,0 0,-25 0,25 0,0 1,-25 24,25-25,-25 0,1 0,24 50,0 0,0 0,0-1,24 26,26 0,0 24,-1 50,1-50,-1-24,-24 24,0-24,25-25,-50 0,24-25,1 0,-25-25,25 0,0 25,24-50,-24 26,25-1,-25 25,-25-25,0 0,-25 25</inkml:trace>
  <inkml:trace contextRef="#ctx0" brushRef="#br0" timeOffset="208466.4125">7591 18008,'0'0,"-25"0,25-25,0-24,25 49,-25-25,24 0,1 0,25-24,-25 24,24-25,1 26,-50-26,49 50,-49-25,25 25</inkml:trace>
  <inkml:trace contextRef="#ctx0" brushRef="#br0" timeOffset="209025.5571">8335 17562,'0'-25,"0"0,0-25,74 1,-24-26,-1 26,1 24,0-25,-26 50,-24 50,-24-25</inkml:trace>
  <inkml:trace contextRef="#ctx0" brushRef="#br0" timeOffset="209571.5292">8533 17562,'0'-25,"0"0,25 25,-25-25,50 0,-1 1,1-1,-1-25,1 25,-25 1,0-1,-1 25</inkml:trace>
  <inkml:trace contextRef="#ctx0" brushRef="#br0" timeOffset="210408.5943">8905 16892,'0'0,"25"0,0 0,0-25,-1 0,1 1,0-1,0-25,0 50,-1-25,1 1,0-1,-25 50,0-1,0 1,0 0,0 0,0 0,0 24,0 1,0-1,50 26,-26-26,-24 26,25-26,0 1,-25-25,25-25</inkml:trace>
  <inkml:trace contextRef="#ctx0" brushRef="#br0" timeOffset="211244.4488">9104 17165,'0'-25,"24"25,-24-25,0 0,25 25,-25-24,25 24,0-25,0 0,-25 0,24 25,-24-25,25 25,0-24,0 24,-25-25,25 0,-25 0</inkml:trace>
  <inkml:trace contextRef="#ctx0" brushRef="#br0" timeOffset="212475.2265">9525 16942,'25'-25,"0"0,-25 0,25 25</inkml:trace>
  <inkml:trace contextRef="#ctx0" brushRef="#br0" timeOffset="213466.6532">9699 16470,'0'0,"0"-24,-25-1,25 0,0 0,0 0,25-24,49 24,-24-25,0 25,-26 1,26 24,-25 0,0 0,-25 49,24 1,-24-25,25 24,-25 1,0-25,0 0,0-1,0 1,0 0,0-50,0 0,25 25,-25-24,50 24,-26 0,26 0,0 0,-1 0,1 0,0 0,-26 0,1 0,0 24,-25 1,0 0,0 0</inkml:trace>
  <inkml:trace contextRef="#ctx0" brushRef="#br0" timeOffset="214128.9602">10245 17264,'0'-25,"0"0,24 25,-24-24,25 24,-25-25,25 25,-25-25,25 25,-25-25,0 50</inkml:trace>
  <inkml:trace contextRef="#ctx0" brushRef="#br0" timeOffset="214571.3544">10294 17363,'25'0,"-25"-25,25 1,-25-1,25 0,0 25,-25-50,24 50,-24-24,25 24,-25-25</inkml:trace>
  <inkml:trace contextRef="#ctx0" brushRef="#br0" timeOffset="215839.8196">10617 16842,'0'25,"0"0,0 0,25-25,-1 25,26 24,24-24,-24 0,0 24,-1-24,-24-25,0 0,0 0,-25-25,0 1,-25-26,25 25,0 0,-25-24,0 24,25 0,-25 25,1 0,-1 0,25-25,0 1,-25 24,25-25,25 74,24 1,26 24,49 26,-25 24,50 24,0 26,-25-25,-25-50,-74-24,0-51,-25-48,-25 24,0 0,0-25</inkml:trace>
  <inkml:trace contextRef="#ctx0" brushRef="#br0" timeOffset="217906.4027">5358 11311,'0'-25,"-25"0,1 25,-26-24,25 24,-49-25,24 25,-24 0,24 0,0 0,26 0,-1 0,0 25,0-25,25 24,0 1,0 0,0 0,0 0,0 24,0-24,25 25,-25-1,0 1,50-1,-26 1,1-25,25 49,0-49,-26 0,26 0,-25-25,24 0,-24 0,0-50,25 0,-26 26,26-26,-25 0,0 50,-25-24,0-1,0 0,0 0,0 0,0 1,-50-1,50 0,-50 0,50 0,-24 25,-1-24,0-1,0 25,50 0</inkml:trace>
  <inkml:trace contextRef="#ctx0" brushRef="#br0" timeOffset="219012.7444">8285 9674,'25'0,"0"0,-25 25,25-1,-1 26,26 49,-25-74,0 0,-1 24,1-49,0-49,-25-50,74-25,50-25,50-50,49 1,-49-25,-25 74,-25 25,-75 99,-73 25,-1 0,0 25,25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966906-2AC3-47AB-B8D5-78D9CAC18D54}" type="datetimeFigureOut">
              <a:rPr lang="en-IN" smtClean="0"/>
              <a:t>03-10-2022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7746E8-0131-4B68-8F9C-50D282D0AA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8830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02756" indent="-270291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081164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513629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1946095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378560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811026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243491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675957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fld id="{2B7A2D60-C016-492A-B1F8-A943F7F6D5AE}" type="slidenum">
              <a:rPr kumimoji="0" lang="en-US" altLang="en-US" b="0">
                <a:solidFill>
                  <a:schemeClr val="tx1"/>
                </a:solidFill>
                <a:latin typeface="Times New Roman" pitchFamily="18" charset="0"/>
              </a:rPr>
              <a:pPr/>
              <a:t>2</a:t>
            </a:fld>
            <a:endParaRPr kumimoji="0" lang="en-US" altLang="en-US" b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02756" indent="-270291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081164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513629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1946095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378560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811026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243491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675957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fld id="{2313B365-D0C2-4D8F-A49A-36D5B01F8B93}" type="slidenum">
              <a:rPr kumimoji="0" lang="en-US" altLang="en-US" b="0">
                <a:solidFill>
                  <a:schemeClr val="tx1"/>
                </a:solidFill>
                <a:latin typeface="Times New Roman" pitchFamily="18" charset="0"/>
              </a:rPr>
              <a:pPr/>
              <a:t>3</a:t>
            </a:fld>
            <a:endParaRPr kumimoji="0" lang="en-US" altLang="en-US" b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02756" indent="-270291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081164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513629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1946095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378560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811026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243491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675957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fld id="{35C6AEFE-AE71-4B0D-AA5B-BEBC13570334}" type="slidenum">
              <a:rPr kumimoji="0" lang="en-US" altLang="en-US" b="0">
                <a:solidFill>
                  <a:schemeClr val="tx1"/>
                </a:solidFill>
                <a:latin typeface="Times New Roman" pitchFamily="18" charset="0"/>
              </a:rPr>
              <a:pPr/>
              <a:t>4</a:t>
            </a:fld>
            <a:endParaRPr kumimoji="0" lang="en-US" altLang="en-US" b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8E9380F-5CFF-4EE7-8DC5-D361195C3396}" type="slidenum">
              <a:rPr lang="en-US" altLang="en-US" smtClean="0">
                <a:latin typeface="Times New Roman" pitchFamily="18" charset="0"/>
              </a:rPr>
              <a:pPr/>
              <a:t>5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8E9380F-5CFF-4EE7-8DC5-D361195C3396}" type="slidenum">
              <a:rPr lang="en-US" altLang="en-US" smtClean="0">
                <a:latin typeface="Times New Roman" pitchFamily="18" charset="0"/>
              </a:rPr>
              <a:pPr/>
              <a:t>6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76BA34F-67ED-4EF6-ABAE-5FA9C7BD7B33}" type="slidenum">
              <a:rPr lang="en-US" altLang="en-US" smtClean="0">
                <a:latin typeface="Times New Roman" pitchFamily="18" charset="0"/>
              </a:rPr>
              <a:pPr/>
              <a:t>7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CC4A76D-4861-44BF-AFD9-B45E921DEE7F}" type="slidenum">
              <a:rPr lang="en-US" altLang="en-US" smtClean="0">
                <a:latin typeface="Times New Roman" pitchFamily="18" charset="0"/>
              </a:rPr>
              <a:pPr/>
              <a:t>8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CC4A76D-4861-44BF-AFD9-B45E921DEE7F}" type="slidenum">
              <a:rPr lang="en-US" altLang="en-US" smtClean="0">
                <a:latin typeface="Times New Roman" pitchFamily="18" charset="0"/>
              </a:rPr>
              <a:pPr/>
              <a:t>9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CC4A76D-4861-44BF-AFD9-B45E921DEE7F}" type="slidenum">
              <a:rPr lang="en-US" altLang="en-US" smtClean="0">
                <a:latin typeface="Times New Roman" pitchFamily="18" charset="0"/>
              </a:rPr>
              <a:pPr/>
              <a:t>10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CC4A76D-4861-44BF-AFD9-B45E921DEE7F}" type="slidenum">
              <a:rPr lang="en-US" altLang="en-US" smtClean="0">
                <a:latin typeface="Times New Roman" pitchFamily="18" charset="0"/>
              </a:rPr>
              <a:pPr/>
              <a:t>11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CC4A76D-4861-44BF-AFD9-B45E921DEE7F}" type="slidenum">
              <a:rPr lang="en-US" altLang="en-US" smtClean="0">
                <a:latin typeface="Times New Roman" pitchFamily="18" charset="0"/>
              </a:rPr>
              <a:pPr/>
              <a:t>12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CC4A76D-4861-44BF-AFD9-B45E921DEE7F}" type="slidenum">
              <a:rPr lang="en-US" altLang="en-US" smtClean="0">
                <a:latin typeface="Times New Roman" pitchFamily="18" charset="0"/>
              </a:rPr>
              <a:pPr/>
              <a:t>13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CC4A76D-4861-44BF-AFD9-B45E921DEE7F}" type="slidenum">
              <a:rPr lang="en-US" altLang="en-US" smtClean="0">
                <a:latin typeface="Times New Roman" pitchFamily="18" charset="0"/>
              </a:rPr>
              <a:pPr/>
              <a:t>14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CC4A76D-4861-44BF-AFD9-B45E921DEE7F}" type="slidenum">
              <a:rPr lang="en-US" altLang="en-US" smtClean="0">
                <a:latin typeface="Times New Roman" pitchFamily="18" charset="0"/>
              </a:rPr>
              <a:pPr/>
              <a:t>15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6A0C-076A-4760-9CBF-AD22465B0D5F}" type="datetimeFigureOut">
              <a:rPr lang="en-IN" smtClean="0"/>
              <a:t>03-10-2022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B00F-DBF2-43EC-A387-3AF0AECB1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030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6A0C-076A-4760-9CBF-AD22465B0D5F}" type="datetimeFigureOut">
              <a:rPr lang="en-IN" smtClean="0"/>
              <a:t>03-10-2022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B00F-DBF2-43EC-A387-3AF0AECB1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727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6A0C-076A-4760-9CBF-AD22465B0D5F}" type="datetimeFigureOut">
              <a:rPr lang="en-IN" smtClean="0"/>
              <a:t>03-10-2022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B00F-DBF2-43EC-A387-3AF0AECB1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547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6A0C-076A-4760-9CBF-AD22465B0D5F}" type="datetimeFigureOut">
              <a:rPr lang="en-IN" smtClean="0"/>
              <a:t>03-10-2022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B00F-DBF2-43EC-A387-3AF0AECB1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761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6A0C-076A-4760-9CBF-AD22465B0D5F}" type="datetimeFigureOut">
              <a:rPr lang="en-IN" smtClean="0"/>
              <a:t>03-10-2022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B00F-DBF2-43EC-A387-3AF0AECB1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302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6A0C-076A-4760-9CBF-AD22465B0D5F}" type="datetimeFigureOut">
              <a:rPr lang="en-IN" smtClean="0"/>
              <a:t>03-10-2022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B00F-DBF2-43EC-A387-3AF0AECB1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209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6A0C-076A-4760-9CBF-AD22465B0D5F}" type="datetimeFigureOut">
              <a:rPr lang="en-IN" smtClean="0"/>
              <a:t>03-10-2022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B00F-DBF2-43EC-A387-3AF0AECB1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033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6A0C-076A-4760-9CBF-AD22465B0D5F}" type="datetimeFigureOut">
              <a:rPr lang="en-IN" smtClean="0"/>
              <a:t>03-10-2022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B00F-DBF2-43EC-A387-3AF0AECB1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6946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6A0C-076A-4760-9CBF-AD22465B0D5F}" type="datetimeFigureOut">
              <a:rPr lang="en-IN" smtClean="0"/>
              <a:t>03-10-2022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B00F-DBF2-43EC-A387-3AF0AECB1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5409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6A0C-076A-4760-9CBF-AD22465B0D5F}" type="datetimeFigureOut">
              <a:rPr lang="en-IN" smtClean="0"/>
              <a:t>03-10-2022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B00F-DBF2-43EC-A387-3AF0AECB1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706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6A0C-076A-4760-9CBF-AD22465B0D5F}" type="datetimeFigureOut">
              <a:rPr lang="en-IN" smtClean="0"/>
              <a:t>03-10-2022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B00F-DBF2-43EC-A387-3AF0AECB1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6679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C16A0C-076A-4760-9CBF-AD22465B0D5F}" type="datetimeFigureOut">
              <a:rPr lang="en-IN" smtClean="0"/>
              <a:t>03-10-2022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DB00F-DBF2-43EC-A387-3AF0AECB1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474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customXml" Target="../ink/ink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 smtClean="0"/>
              <a:t>Preemptive</a:t>
            </a:r>
            <a:r>
              <a:rPr lang="en-IN" dirty="0" smtClean="0"/>
              <a:t> Examples for Lab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428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Example for Preemptive SJF (SRTF)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371600"/>
            <a:ext cx="7029450" cy="4495800"/>
          </a:xfrm>
          <a:noFill/>
        </p:spPr>
        <p:txBody>
          <a:bodyPr/>
          <a:lstStyle/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zh-CN" altLang="en-US" dirty="0" smtClean="0">
                <a:ea typeface="宋体" pitchFamily="2" charset="-122"/>
              </a:rPr>
              <a:t>	        </a:t>
            </a:r>
            <a:r>
              <a:rPr lang="zh-CN" altLang="en-US" sz="1800" dirty="0" smtClean="0">
                <a:ea typeface="宋体" pitchFamily="2" charset="-122"/>
              </a:rPr>
              <a:t>	</a:t>
            </a:r>
            <a:r>
              <a:rPr lang="en-US" altLang="zh-CN" sz="1800" u="sng" dirty="0" smtClean="0">
                <a:ea typeface="宋体" pitchFamily="2" charset="-122"/>
              </a:rPr>
              <a:t>Process </a:t>
            </a:r>
            <a:r>
              <a:rPr lang="en-US" altLang="zh-CN" sz="1800" dirty="0" smtClean="0">
                <a:ea typeface="宋体" pitchFamily="2" charset="-122"/>
              </a:rPr>
              <a:t>     	</a:t>
            </a:r>
            <a:r>
              <a:rPr lang="en-US" altLang="zh-CN" sz="1800" u="sng" dirty="0" smtClean="0">
                <a:ea typeface="宋体" pitchFamily="2" charset="-122"/>
              </a:rPr>
              <a:t>Arrival Time</a:t>
            </a:r>
            <a:r>
              <a:rPr lang="en-US" altLang="zh-CN" sz="1800" dirty="0" smtClean="0">
                <a:ea typeface="宋体" pitchFamily="2" charset="-122"/>
              </a:rPr>
              <a:t>	</a:t>
            </a:r>
            <a:r>
              <a:rPr lang="en-US" altLang="zh-CN" sz="1800" u="sng" dirty="0" smtClean="0">
                <a:ea typeface="宋体" pitchFamily="2" charset="-122"/>
              </a:rPr>
              <a:t>Burst Time</a:t>
            </a:r>
            <a:endParaRPr lang="en-US" altLang="zh-CN" sz="1800" dirty="0" smtClean="0">
              <a:ea typeface="宋体" pitchFamily="2" charset="-122"/>
            </a:endParaRP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1800" dirty="0" smtClean="0">
                <a:ea typeface="宋体" pitchFamily="2" charset="-122"/>
              </a:rPr>
              <a:t>		</a:t>
            </a:r>
            <a:r>
              <a:rPr lang="en-US" altLang="zh-CN" sz="1800" i="1" dirty="0" smtClean="0">
                <a:ea typeface="宋体" pitchFamily="2" charset="-122"/>
              </a:rPr>
              <a:t>P</a:t>
            </a:r>
            <a:r>
              <a:rPr lang="en-US" altLang="zh-CN" sz="1800" i="1" baseline="-25000" dirty="0" smtClean="0">
                <a:ea typeface="宋体" pitchFamily="2" charset="-122"/>
              </a:rPr>
              <a:t>1</a:t>
            </a:r>
            <a:r>
              <a:rPr lang="en-US" altLang="zh-CN" sz="1800" dirty="0" smtClean="0">
                <a:ea typeface="宋体" pitchFamily="2" charset="-122"/>
              </a:rPr>
              <a:t>	0.0	7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1800" dirty="0" smtClean="0">
                <a:ea typeface="宋体" pitchFamily="2" charset="-122"/>
              </a:rPr>
              <a:t>		 </a:t>
            </a:r>
            <a:r>
              <a:rPr lang="en-US" altLang="zh-CN" sz="1800" i="1" dirty="0" smtClean="0">
                <a:ea typeface="宋体" pitchFamily="2" charset="-122"/>
              </a:rPr>
              <a:t>P</a:t>
            </a:r>
            <a:r>
              <a:rPr lang="en-US" altLang="zh-CN" sz="1800" i="1" baseline="-25000" dirty="0" smtClean="0">
                <a:ea typeface="宋体" pitchFamily="2" charset="-122"/>
              </a:rPr>
              <a:t>2	</a:t>
            </a:r>
            <a:r>
              <a:rPr lang="en-US" altLang="zh-CN" sz="1800" dirty="0" smtClean="0">
                <a:ea typeface="宋体" pitchFamily="2" charset="-122"/>
              </a:rPr>
              <a:t>2.0	4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1800" dirty="0" smtClean="0">
                <a:ea typeface="宋体" pitchFamily="2" charset="-122"/>
              </a:rPr>
              <a:t>		 </a:t>
            </a:r>
            <a:r>
              <a:rPr lang="en-US" altLang="zh-CN" sz="1800" i="1" dirty="0" smtClean="0">
                <a:ea typeface="宋体" pitchFamily="2" charset="-122"/>
              </a:rPr>
              <a:t>P</a:t>
            </a:r>
            <a:r>
              <a:rPr lang="en-US" altLang="zh-CN" sz="1800" i="1" baseline="-25000" dirty="0" smtClean="0">
                <a:ea typeface="宋体" pitchFamily="2" charset="-122"/>
              </a:rPr>
              <a:t>3</a:t>
            </a:r>
            <a:r>
              <a:rPr lang="en-US" altLang="zh-CN" sz="1800" dirty="0" smtClean="0">
                <a:ea typeface="宋体" pitchFamily="2" charset="-122"/>
              </a:rPr>
              <a:t>	4.0	1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1800" dirty="0" smtClean="0">
                <a:ea typeface="宋体" pitchFamily="2" charset="-122"/>
              </a:rPr>
              <a:t>		 </a:t>
            </a:r>
            <a:r>
              <a:rPr lang="en-US" altLang="zh-CN" sz="1800" i="1" dirty="0" smtClean="0">
                <a:ea typeface="宋体" pitchFamily="2" charset="-122"/>
              </a:rPr>
              <a:t>P</a:t>
            </a:r>
            <a:r>
              <a:rPr lang="en-US" altLang="zh-CN" sz="1800" i="1" baseline="-25000" dirty="0" smtClean="0">
                <a:ea typeface="宋体" pitchFamily="2" charset="-122"/>
              </a:rPr>
              <a:t>4</a:t>
            </a:r>
            <a:r>
              <a:rPr lang="en-US" altLang="zh-CN" sz="1800" dirty="0" smtClean="0">
                <a:ea typeface="宋体" pitchFamily="2" charset="-122"/>
              </a:rPr>
              <a:t>	5.0	4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endParaRPr lang="en-US" altLang="zh-CN" sz="1800" dirty="0" smtClean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 smtClean="0">
                <a:ea typeface="宋体" pitchFamily="2" charset="-122"/>
              </a:rPr>
              <a:t>Time 0 – P</a:t>
            </a:r>
            <a:r>
              <a:rPr lang="en-US" altLang="zh-CN" sz="2000" baseline="-25000" dirty="0" smtClean="0">
                <a:ea typeface="宋体" pitchFamily="2" charset="-122"/>
              </a:rPr>
              <a:t>1</a:t>
            </a:r>
            <a:r>
              <a:rPr lang="en-US" altLang="zh-CN" sz="2000" dirty="0" smtClean="0">
                <a:ea typeface="宋体" pitchFamily="2" charset="-122"/>
              </a:rPr>
              <a:t> gets the CPU      Ready = [(P</a:t>
            </a:r>
            <a:r>
              <a:rPr lang="en-US" altLang="zh-CN" sz="2000" baseline="-25000" dirty="0" smtClean="0">
                <a:ea typeface="宋体" pitchFamily="2" charset="-122"/>
              </a:rPr>
              <a:t>1</a:t>
            </a:r>
            <a:r>
              <a:rPr lang="en-US" altLang="zh-CN" sz="2000" dirty="0" smtClean="0">
                <a:ea typeface="宋体" pitchFamily="2" charset="-122"/>
              </a:rPr>
              <a:t>,7)]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 smtClean="0">
                <a:ea typeface="宋体" pitchFamily="2" charset="-122"/>
              </a:rPr>
              <a:t>Time 2 – P</a:t>
            </a:r>
            <a:r>
              <a:rPr lang="en-US" altLang="zh-CN" sz="2000" baseline="-25000" dirty="0" smtClean="0">
                <a:ea typeface="宋体" pitchFamily="2" charset="-122"/>
              </a:rPr>
              <a:t>2</a:t>
            </a:r>
            <a:r>
              <a:rPr lang="en-US" altLang="zh-CN" sz="2000" dirty="0" smtClean="0">
                <a:ea typeface="宋体" pitchFamily="2" charset="-122"/>
              </a:rPr>
              <a:t> arrives –  CPU has </a:t>
            </a:r>
            <a:r>
              <a:rPr lang="en-US" altLang="zh-CN" sz="2000" b="1" dirty="0" smtClean="0">
                <a:ea typeface="宋体" pitchFamily="2" charset="-122"/>
              </a:rPr>
              <a:t>P</a:t>
            </a:r>
            <a:r>
              <a:rPr lang="en-US" altLang="zh-CN" sz="2000" b="1" baseline="-25000" dirty="0" smtClean="0">
                <a:ea typeface="宋体" pitchFamily="2" charset="-122"/>
              </a:rPr>
              <a:t>1</a:t>
            </a:r>
            <a:r>
              <a:rPr lang="en-US" altLang="zh-CN" sz="2000" b="1" dirty="0" smtClean="0">
                <a:ea typeface="宋体" pitchFamily="2" charset="-122"/>
              </a:rPr>
              <a:t> with rem. time=5</a:t>
            </a:r>
            <a:r>
              <a:rPr lang="en-US" altLang="zh-CN" sz="2000" dirty="0" smtClean="0">
                <a:ea typeface="宋体" pitchFamily="2" charset="-122"/>
              </a:rPr>
              <a:t>, Ready = [(P</a:t>
            </a:r>
            <a:r>
              <a:rPr lang="en-US" altLang="zh-CN" sz="2000" baseline="-25000" dirty="0" smtClean="0">
                <a:ea typeface="宋体" pitchFamily="2" charset="-122"/>
              </a:rPr>
              <a:t>2</a:t>
            </a:r>
            <a:r>
              <a:rPr lang="en-US" altLang="zh-CN" sz="2000" dirty="0" smtClean="0">
                <a:ea typeface="宋体" pitchFamily="2" charset="-122"/>
              </a:rPr>
              <a:t>,4)] – P</a:t>
            </a:r>
            <a:r>
              <a:rPr lang="en-US" altLang="zh-CN" sz="2000" baseline="-25000" dirty="0" smtClean="0">
                <a:ea typeface="宋体" pitchFamily="2" charset="-122"/>
              </a:rPr>
              <a:t>2</a:t>
            </a:r>
            <a:r>
              <a:rPr lang="en-US" altLang="zh-CN" sz="2000" dirty="0" smtClean="0">
                <a:ea typeface="宋体" pitchFamily="2" charset="-122"/>
              </a:rPr>
              <a:t> gets the CPU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 smtClean="0">
                <a:ea typeface="宋体" pitchFamily="2" charset="-122"/>
              </a:rPr>
              <a:t>Time 4 – P</a:t>
            </a:r>
            <a:r>
              <a:rPr lang="en-US" altLang="zh-CN" sz="2000" baseline="-25000" dirty="0" smtClean="0">
                <a:ea typeface="宋体" pitchFamily="2" charset="-122"/>
              </a:rPr>
              <a:t>3</a:t>
            </a:r>
            <a:r>
              <a:rPr lang="en-US" altLang="zh-CN" sz="2000" dirty="0" smtClean="0">
                <a:ea typeface="宋体" pitchFamily="2" charset="-122"/>
              </a:rPr>
              <a:t> arrives – CPU has </a:t>
            </a:r>
            <a:r>
              <a:rPr lang="en-US" altLang="zh-CN" sz="2000" b="1" dirty="0" smtClean="0">
                <a:ea typeface="宋体" pitchFamily="2" charset="-122"/>
              </a:rPr>
              <a:t>P</a:t>
            </a:r>
            <a:r>
              <a:rPr lang="en-US" altLang="zh-CN" sz="2000" b="1" baseline="-25000" dirty="0" smtClean="0">
                <a:ea typeface="宋体" pitchFamily="2" charset="-122"/>
              </a:rPr>
              <a:t>2</a:t>
            </a:r>
            <a:r>
              <a:rPr lang="en-US" altLang="zh-CN" sz="2000" b="1" dirty="0" smtClean="0">
                <a:ea typeface="宋体" pitchFamily="2" charset="-122"/>
              </a:rPr>
              <a:t> with rem. time = 2</a:t>
            </a:r>
            <a:r>
              <a:rPr lang="en-US" altLang="zh-CN" sz="2000" dirty="0" smtClean="0">
                <a:ea typeface="宋体" pitchFamily="2" charset="-122"/>
              </a:rPr>
              <a:t>, Ready = [(P</a:t>
            </a:r>
            <a:r>
              <a:rPr lang="en-US" altLang="zh-CN" sz="2000" baseline="-25000" dirty="0" smtClean="0">
                <a:ea typeface="宋体" pitchFamily="2" charset="-122"/>
              </a:rPr>
              <a:t>1</a:t>
            </a:r>
            <a:r>
              <a:rPr lang="en-US" altLang="zh-CN" sz="2000" dirty="0" smtClean="0">
                <a:ea typeface="宋体" pitchFamily="2" charset="-122"/>
              </a:rPr>
              <a:t>,5),(P</a:t>
            </a:r>
            <a:r>
              <a:rPr lang="en-US" altLang="zh-CN" sz="2000" baseline="-25000" dirty="0" smtClean="0">
                <a:ea typeface="宋体" pitchFamily="2" charset="-122"/>
              </a:rPr>
              <a:t>3</a:t>
            </a:r>
            <a:r>
              <a:rPr lang="en-US" altLang="zh-CN" sz="2000" dirty="0" smtClean="0">
                <a:ea typeface="宋体" pitchFamily="2" charset="-122"/>
              </a:rPr>
              <a:t>,1)] – P</a:t>
            </a:r>
            <a:r>
              <a:rPr lang="en-US" altLang="zh-CN" sz="2000" baseline="-25000" dirty="0" smtClean="0">
                <a:ea typeface="宋体" pitchFamily="2" charset="-122"/>
              </a:rPr>
              <a:t>3</a:t>
            </a:r>
            <a:r>
              <a:rPr lang="en-US" altLang="zh-CN" sz="2000" dirty="0" smtClean="0">
                <a:ea typeface="宋体" pitchFamily="2" charset="-122"/>
              </a:rPr>
              <a:t> gets the CPU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altLang="zh-CN" sz="2000" dirty="0" smtClean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altLang="zh-CN" dirty="0" smtClean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altLang="zh-CN" dirty="0" smtClean="0">
              <a:ea typeface="宋体" pitchFamily="2" charset="-122"/>
            </a:endParaRP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endParaRPr lang="zh-CN" altLang="en-US" dirty="0" smtClean="0">
              <a:ea typeface="宋体" pitchFamily="2" charset="-122"/>
            </a:endParaRPr>
          </a:p>
        </p:txBody>
      </p:sp>
      <p:sp>
        <p:nvSpPr>
          <p:cNvPr id="17413" name="Rectangle 44"/>
          <p:cNvSpPr>
            <a:spLocks noChangeArrowheads="1"/>
          </p:cNvSpPr>
          <p:nvPr/>
        </p:nvSpPr>
        <p:spPr bwMode="auto">
          <a:xfrm>
            <a:off x="1447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7414" name="Rectangle 45"/>
          <p:cNvSpPr>
            <a:spLocks noChangeArrowheads="1"/>
          </p:cNvSpPr>
          <p:nvPr/>
        </p:nvSpPr>
        <p:spPr bwMode="auto">
          <a:xfrm>
            <a:off x="1828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7415" name="Rectangle 46"/>
          <p:cNvSpPr>
            <a:spLocks noChangeArrowheads="1"/>
          </p:cNvSpPr>
          <p:nvPr/>
        </p:nvSpPr>
        <p:spPr bwMode="auto">
          <a:xfrm>
            <a:off x="2209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7416" name="Rectangle 47"/>
          <p:cNvSpPr>
            <a:spLocks noChangeArrowheads="1"/>
          </p:cNvSpPr>
          <p:nvPr/>
        </p:nvSpPr>
        <p:spPr bwMode="auto">
          <a:xfrm>
            <a:off x="2590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7417" name="Rectangle 48"/>
          <p:cNvSpPr>
            <a:spLocks noChangeArrowheads="1"/>
          </p:cNvSpPr>
          <p:nvPr/>
        </p:nvSpPr>
        <p:spPr bwMode="auto">
          <a:xfrm>
            <a:off x="2971800" y="5410200"/>
            <a:ext cx="381000" cy="609600"/>
          </a:xfrm>
          <a:prstGeom prst="rect">
            <a:avLst/>
          </a:prstGeom>
          <a:solidFill>
            <a:srgbClr val="CCECFF"/>
          </a:solidFill>
          <a:ln w="19050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7418" name="Line 51"/>
          <p:cNvSpPr>
            <a:spLocks noChangeShapeType="1"/>
          </p:cNvSpPr>
          <p:nvPr/>
        </p:nvSpPr>
        <p:spPr bwMode="auto">
          <a:xfrm>
            <a:off x="1447800" y="5410200"/>
            <a:ext cx="3581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7419" name="Line 52"/>
          <p:cNvSpPr>
            <a:spLocks noChangeShapeType="1"/>
          </p:cNvSpPr>
          <p:nvPr/>
        </p:nvSpPr>
        <p:spPr bwMode="auto">
          <a:xfrm>
            <a:off x="1447800" y="6019800"/>
            <a:ext cx="3581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7420" name="Line 55"/>
          <p:cNvSpPr>
            <a:spLocks noChangeShapeType="1"/>
          </p:cNvSpPr>
          <p:nvPr/>
        </p:nvSpPr>
        <p:spPr bwMode="auto">
          <a:xfrm>
            <a:off x="1447800" y="5410200"/>
            <a:ext cx="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7421" name="Line 56"/>
          <p:cNvSpPr>
            <a:spLocks noChangeShapeType="1"/>
          </p:cNvSpPr>
          <p:nvPr/>
        </p:nvSpPr>
        <p:spPr bwMode="auto">
          <a:xfrm>
            <a:off x="2209800" y="5410200"/>
            <a:ext cx="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7422" name="Line 57"/>
          <p:cNvSpPr>
            <a:spLocks noChangeShapeType="1"/>
          </p:cNvSpPr>
          <p:nvPr/>
        </p:nvSpPr>
        <p:spPr bwMode="auto">
          <a:xfrm>
            <a:off x="1828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7423" name="Line 58"/>
          <p:cNvSpPr>
            <a:spLocks noChangeShapeType="1"/>
          </p:cNvSpPr>
          <p:nvPr/>
        </p:nvSpPr>
        <p:spPr bwMode="auto">
          <a:xfrm>
            <a:off x="2209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7424" name="Line 59"/>
          <p:cNvSpPr>
            <a:spLocks noChangeShapeType="1"/>
          </p:cNvSpPr>
          <p:nvPr/>
        </p:nvSpPr>
        <p:spPr bwMode="auto">
          <a:xfrm>
            <a:off x="2590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7425" name="Line 60"/>
          <p:cNvSpPr>
            <a:spLocks noChangeShapeType="1"/>
          </p:cNvSpPr>
          <p:nvPr/>
        </p:nvSpPr>
        <p:spPr bwMode="auto">
          <a:xfrm>
            <a:off x="2971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7426" name="Line 61"/>
          <p:cNvSpPr>
            <a:spLocks noChangeShapeType="1"/>
          </p:cNvSpPr>
          <p:nvPr/>
        </p:nvSpPr>
        <p:spPr bwMode="auto">
          <a:xfrm>
            <a:off x="3352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7427" name="Line 64"/>
          <p:cNvSpPr>
            <a:spLocks noChangeShapeType="1"/>
          </p:cNvSpPr>
          <p:nvPr/>
        </p:nvSpPr>
        <p:spPr bwMode="auto">
          <a:xfrm>
            <a:off x="2971800" y="5410200"/>
            <a:ext cx="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7428" name="Text Box 66"/>
          <p:cNvSpPr txBox="1">
            <a:spLocks noChangeArrowheads="1"/>
          </p:cNvSpPr>
          <p:nvPr/>
        </p:nvSpPr>
        <p:spPr bwMode="auto">
          <a:xfrm>
            <a:off x="1636713" y="5424488"/>
            <a:ext cx="4206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 i="1"/>
              <a:t>P</a:t>
            </a:r>
            <a:r>
              <a:rPr lang="en-US" altLang="en-US" i="1" baseline="-25000">
                <a:latin typeface="Arial" charset="0"/>
              </a:rPr>
              <a:t>1</a:t>
            </a:r>
          </a:p>
        </p:txBody>
      </p:sp>
      <p:sp>
        <p:nvSpPr>
          <p:cNvPr id="17429" name="Text Box 67"/>
          <p:cNvSpPr txBox="1">
            <a:spLocks noChangeArrowheads="1"/>
          </p:cNvSpPr>
          <p:nvPr/>
        </p:nvSpPr>
        <p:spPr bwMode="auto">
          <a:xfrm>
            <a:off x="2398713" y="5424488"/>
            <a:ext cx="4206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 i="1"/>
              <a:t>P</a:t>
            </a:r>
            <a:r>
              <a:rPr lang="en-US" altLang="en-US" i="1" baseline="-25000">
                <a:latin typeface="Arial" charset="0"/>
              </a:rPr>
              <a:t>2</a:t>
            </a:r>
          </a:p>
        </p:txBody>
      </p:sp>
      <p:sp>
        <p:nvSpPr>
          <p:cNvPr id="17430" name="Text Box 68"/>
          <p:cNvSpPr txBox="1">
            <a:spLocks noChangeArrowheads="1"/>
          </p:cNvSpPr>
          <p:nvPr/>
        </p:nvSpPr>
        <p:spPr bwMode="auto">
          <a:xfrm>
            <a:off x="2932113" y="5424488"/>
            <a:ext cx="4206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 i="1"/>
              <a:t>P</a:t>
            </a:r>
            <a:r>
              <a:rPr lang="en-US" altLang="en-US" i="1" baseline="-25000">
                <a:latin typeface="Arial" charset="0"/>
              </a:rPr>
              <a:t>3</a:t>
            </a:r>
          </a:p>
        </p:txBody>
      </p:sp>
      <p:sp>
        <p:nvSpPr>
          <p:cNvPr id="17431" name="Line 69"/>
          <p:cNvSpPr>
            <a:spLocks noChangeShapeType="1"/>
          </p:cNvSpPr>
          <p:nvPr/>
        </p:nvSpPr>
        <p:spPr bwMode="auto">
          <a:xfrm>
            <a:off x="3352800" y="5410200"/>
            <a:ext cx="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7432" name="Text Box 70"/>
          <p:cNvSpPr txBox="1">
            <a:spLocks noChangeArrowheads="1"/>
          </p:cNvSpPr>
          <p:nvPr/>
        </p:nvSpPr>
        <p:spPr bwMode="auto">
          <a:xfrm>
            <a:off x="2051050" y="62087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/>
              <a:t>2</a:t>
            </a:r>
          </a:p>
        </p:txBody>
      </p:sp>
      <p:sp>
        <p:nvSpPr>
          <p:cNvPr id="17433" name="Text Box 71"/>
          <p:cNvSpPr txBox="1">
            <a:spLocks noChangeArrowheads="1"/>
          </p:cNvSpPr>
          <p:nvPr/>
        </p:nvSpPr>
        <p:spPr bwMode="auto">
          <a:xfrm>
            <a:off x="2813050" y="61864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/>
              <a:t>4</a:t>
            </a:r>
          </a:p>
        </p:txBody>
      </p:sp>
      <p:sp>
        <p:nvSpPr>
          <p:cNvPr id="17434" name="Text Box 72"/>
          <p:cNvSpPr txBox="1">
            <a:spLocks noChangeArrowheads="1"/>
          </p:cNvSpPr>
          <p:nvPr/>
        </p:nvSpPr>
        <p:spPr bwMode="auto">
          <a:xfrm>
            <a:off x="3194050" y="6172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/>
              <a:t>5</a:t>
            </a:r>
          </a:p>
        </p:txBody>
      </p:sp>
      <p:sp>
        <p:nvSpPr>
          <p:cNvPr id="2" name="Curved Down Arrow 1"/>
          <p:cNvSpPr/>
          <p:nvPr/>
        </p:nvSpPr>
        <p:spPr>
          <a:xfrm>
            <a:off x="6300192" y="3573016"/>
            <a:ext cx="2232248" cy="43204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7" name="Curved Down Arrow 26"/>
          <p:cNvSpPr/>
          <p:nvPr/>
        </p:nvSpPr>
        <p:spPr>
          <a:xfrm>
            <a:off x="6300192" y="4293096"/>
            <a:ext cx="2232248" cy="43204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8324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45"/>
          <p:cNvSpPr>
            <a:spLocks noChangeArrowheads="1"/>
          </p:cNvSpPr>
          <p:nvPr/>
        </p:nvSpPr>
        <p:spPr bwMode="auto">
          <a:xfrm>
            <a:off x="6019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8436" name="Rectangle 44"/>
          <p:cNvSpPr>
            <a:spLocks noChangeArrowheads="1"/>
          </p:cNvSpPr>
          <p:nvPr/>
        </p:nvSpPr>
        <p:spPr bwMode="auto">
          <a:xfrm>
            <a:off x="5638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8437" name="Rectangle 33"/>
          <p:cNvSpPr>
            <a:spLocks noChangeArrowheads="1"/>
          </p:cNvSpPr>
          <p:nvPr/>
        </p:nvSpPr>
        <p:spPr bwMode="auto">
          <a:xfrm>
            <a:off x="5257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8438" name="Rectangle 32"/>
          <p:cNvSpPr>
            <a:spLocks noChangeArrowheads="1"/>
          </p:cNvSpPr>
          <p:nvPr/>
        </p:nvSpPr>
        <p:spPr bwMode="auto">
          <a:xfrm>
            <a:off x="4876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8439" name="Rectangle 31"/>
          <p:cNvSpPr>
            <a:spLocks noChangeArrowheads="1"/>
          </p:cNvSpPr>
          <p:nvPr/>
        </p:nvSpPr>
        <p:spPr bwMode="auto">
          <a:xfrm>
            <a:off x="4495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8440" name="Rectangle 30"/>
          <p:cNvSpPr>
            <a:spLocks noChangeArrowheads="1"/>
          </p:cNvSpPr>
          <p:nvPr/>
        </p:nvSpPr>
        <p:spPr bwMode="auto">
          <a:xfrm>
            <a:off x="4114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8441" name="Rectangle 24"/>
          <p:cNvSpPr>
            <a:spLocks noChangeArrowheads="1"/>
          </p:cNvSpPr>
          <p:nvPr/>
        </p:nvSpPr>
        <p:spPr bwMode="auto">
          <a:xfrm>
            <a:off x="3352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8442" name="Rectangle 25"/>
          <p:cNvSpPr>
            <a:spLocks noChangeArrowheads="1"/>
          </p:cNvSpPr>
          <p:nvPr/>
        </p:nvSpPr>
        <p:spPr bwMode="auto">
          <a:xfrm>
            <a:off x="3733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8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Example for Preemptive SJF (SRTF)</a:t>
            </a:r>
          </a:p>
        </p:txBody>
      </p:sp>
      <p:sp>
        <p:nvSpPr>
          <p:cNvPr id="18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371600"/>
            <a:ext cx="7029450" cy="4495800"/>
          </a:xfrm>
          <a:noFill/>
        </p:spPr>
        <p:txBody>
          <a:bodyPr/>
          <a:lstStyle/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zh-CN" altLang="en-US" smtClean="0">
                <a:ea typeface="宋体" pitchFamily="2" charset="-122"/>
              </a:rPr>
              <a:t>	        </a:t>
            </a:r>
            <a:r>
              <a:rPr lang="zh-CN" altLang="en-US" sz="1800" smtClean="0">
                <a:ea typeface="宋体" pitchFamily="2" charset="-122"/>
              </a:rPr>
              <a:t>	</a:t>
            </a:r>
            <a:r>
              <a:rPr lang="en-US" altLang="zh-CN" sz="1800" u="sng" smtClean="0">
                <a:ea typeface="宋体" pitchFamily="2" charset="-122"/>
              </a:rPr>
              <a:t>Process </a:t>
            </a:r>
            <a:r>
              <a:rPr lang="en-US" altLang="zh-CN" sz="1800" smtClean="0">
                <a:ea typeface="宋体" pitchFamily="2" charset="-122"/>
              </a:rPr>
              <a:t>     	</a:t>
            </a:r>
            <a:r>
              <a:rPr lang="en-US" altLang="zh-CN" sz="1800" u="sng" smtClean="0">
                <a:ea typeface="宋体" pitchFamily="2" charset="-122"/>
              </a:rPr>
              <a:t>Arrival Time</a:t>
            </a:r>
            <a:r>
              <a:rPr lang="en-US" altLang="zh-CN" sz="1800" smtClean="0">
                <a:ea typeface="宋体" pitchFamily="2" charset="-122"/>
              </a:rPr>
              <a:t>	</a:t>
            </a:r>
            <a:r>
              <a:rPr lang="en-US" altLang="zh-CN" sz="1800" u="sng" smtClean="0">
                <a:ea typeface="宋体" pitchFamily="2" charset="-122"/>
              </a:rPr>
              <a:t>Burst Time</a:t>
            </a:r>
            <a:endParaRPr lang="en-US" altLang="zh-CN" sz="1800" smtClean="0">
              <a:ea typeface="宋体" pitchFamily="2" charset="-122"/>
            </a:endParaRP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1800" smtClean="0">
                <a:ea typeface="宋体" pitchFamily="2" charset="-122"/>
              </a:rPr>
              <a:t>		</a:t>
            </a:r>
            <a:r>
              <a:rPr lang="en-US" altLang="zh-CN" sz="1800" i="1" smtClean="0">
                <a:ea typeface="宋体" pitchFamily="2" charset="-122"/>
              </a:rPr>
              <a:t>P</a:t>
            </a:r>
            <a:r>
              <a:rPr lang="en-US" altLang="zh-CN" sz="1800" i="1" baseline="-25000" smtClean="0">
                <a:ea typeface="宋体" pitchFamily="2" charset="-122"/>
              </a:rPr>
              <a:t>1</a:t>
            </a:r>
            <a:r>
              <a:rPr lang="en-US" altLang="zh-CN" sz="1800" smtClean="0">
                <a:ea typeface="宋体" pitchFamily="2" charset="-122"/>
              </a:rPr>
              <a:t>	0.0	7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1800" smtClean="0">
                <a:ea typeface="宋体" pitchFamily="2" charset="-122"/>
              </a:rPr>
              <a:t>		 </a:t>
            </a:r>
            <a:r>
              <a:rPr lang="en-US" altLang="zh-CN" sz="1800" i="1" smtClean="0">
                <a:ea typeface="宋体" pitchFamily="2" charset="-122"/>
              </a:rPr>
              <a:t>P</a:t>
            </a:r>
            <a:r>
              <a:rPr lang="en-US" altLang="zh-CN" sz="1800" i="1" baseline="-25000" smtClean="0">
                <a:ea typeface="宋体" pitchFamily="2" charset="-122"/>
              </a:rPr>
              <a:t>2	</a:t>
            </a:r>
            <a:r>
              <a:rPr lang="en-US" altLang="zh-CN" sz="1800" smtClean="0">
                <a:ea typeface="宋体" pitchFamily="2" charset="-122"/>
              </a:rPr>
              <a:t>2.0	4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1800" smtClean="0">
                <a:ea typeface="宋体" pitchFamily="2" charset="-122"/>
              </a:rPr>
              <a:t>		 </a:t>
            </a:r>
            <a:r>
              <a:rPr lang="en-US" altLang="zh-CN" sz="1800" i="1" smtClean="0">
                <a:ea typeface="宋体" pitchFamily="2" charset="-122"/>
              </a:rPr>
              <a:t>P</a:t>
            </a:r>
            <a:r>
              <a:rPr lang="en-US" altLang="zh-CN" sz="1800" i="1" baseline="-25000" smtClean="0">
                <a:ea typeface="宋体" pitchFamily="2" charset="-122"/>
              </a:rPr>
              <a:t>3</a:t>
            </a:r>
            <a:r>
              <a:rPr lang="en-US" altLang="zh-CN" sz="1800" smtClean="0">
                <a:ea typeface="宋体" pitchFamily="2" charset="-122"/>
              </a:rPr>
              <a:t>	4.0	1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1800" smtClean="0">
                <a:ea typeface="宋体" pitchFamily="2" charset="-122"/>
              </a:rPr>
              <a:t>		 </a:t>
            </a:r>
            <a:r>
              <a:rPr lang="en-US" altLang="zh-CN" sz="1800" i="1" smtClean="0">
                <a:ea typeface="宋体" pitchFamily="2" charset="-122"/>
              </a:rPr>
              <a:t>P</a:t>
            </a:r>
            <a:r>
              <a:rPr lang="en-US" altLang="zh-CN" sz="1800" i="1" baseline="-25000" smtClean="0">
                <a:ea typeface="宋体" pitchFamily="2" charset="-122"/>
              </a:rPr>
              <a:t>4</a:t>
            </a:r>
            <a:r>
              <a:rPr lang="en-US" altLang="zh-CN" sz="1800" smtClean="0">
                <a:ea typeface="宋体" pitchFamily="2" charset="-122"/>
              </a:rPr>
              <a:t>	5.0	4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endParaRPr lang="en-US" altLang="zh-CN" sz="1800" smtClean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smtClean="0">
                <a:ea typeface="宋体" pitchFamily="2" charset="-122"/>
              </a:rPr>
              <a:t>Time 5 – P</a:t>
            </a:r>
            <a:r>
              <a:rPr lang="en-US" altLang="zh-CN" sz="2000" baseline="-25000" smtClean="0">
                <a:ea typeface="宋体" pitchFamily="2" charset="-122"/>
              </a:rPr>
              <a:t>3</a:t>
            </a:r>
            <a:r>
              <a:rPr lang="en-US" altLang="zh-CN" sz="2000" smtClean="0">
                <a:ea typeface="宋体" pitchFamily="2" charset="-122"/>
              </a:rPr>
              <a:t> completes and P</a:t>
            </a:r>
            <a:r>
              <a:rPr lang="en-US" altLang="zh-CN" sz="2000" baseline="-25000" smtClean="0">
                <a:ea typeface="宋体" pitchFamily="2" charset="-122"/>
              </a:rPr>
              <a:t>4</a:t>
            </a:r>
            <a:r>
              <a:rPr lang="en-US" altLang="zh-CN" sz="2000" smtClean="0">
                <a:ea typeface="宋体" pitchFamily="2" charset="-122"/>
              </a:rPr>
              <a:t> arrives - Ready = [(P</a:t>
            </a:r>
            <a:r>
              <a:rPr lang="en-US" altLang="zh-CN" sz="2000" baseline="-25000" smtClean="0">
                <a:ea typeface="宋体" pitchFamily="2" charset="-122"/>
              </a:rPr>
              <a:t>1</a:t>
            </a:r>
            <a:r>
              <a:rPr lang="en-US" altLang="zh-CN" sz="2000" smtClean="0">
                <a:ea typeface="宋体" pitchFamily="2" charset="-122"/>
              </a:rPr>
              <a:t>,5),(P</a:t>
            </a:r>
            <a:r>
              <a:rPr lang="en-US" altLang="zh-CN" sz="2000" baseline="-25000" smtClean="0">
                <a:ea typeface="宋体" pitchFamily="2" charset="-122"/>
              </a:rPr>
              <a:t>2</a:t>
            </a:r>
            <a:r>
              <a:rPr lang="en-US" altLang="zh-CN" sz="2000" smtClean="0">
                <a:ea typeface="宋体" pitchFamily="2" charset="-122"/>
              </a:rPr>
              <a:t>,2),(P</a:t>
            </a:r>
            <a:r>
              <a:rPr lang="en-US" altLang="zh-CN" sz="2000" baseline="-25000" smtClean="0">
                <a:ea typeface="宋体" pitchFamily="2" charset="-122"/>
              </a:rPr>
              <a:t>4</a:t>
            </a:r>
            <a:r>
              <a:rPr lang="en-US" altLang="zh-CN" sz="2000" smtClean="0">
                <a:ea typeface="宋体" pitchFamily="2" charset="-122"/>
              </a:rPr>
              <a:t>,4)] – P</a:t>
            </a:r>
            <a:r>
              <a:rPr lang="en-US" altLang="zh-CN" sz="2000" baseline="-25000" smtClean="0">
                <a:ea typeface="宋体" pitchFamily="2" charset="-122"/>
              </a:rPr>
              <a:t>2</a:t>
            </a:r>
            <a:r>
              <a:rPr lang="en-US" altLang="zh-CN" sz="2000" smtClean="0">
                <a:ea typeface="宋体" pitchFamily="2" charset="-122"/>
              </a:rPr>
              <a:t> gets the CPU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smtClean="0">
                <a:ea typeface="宋体" pitchFamily="2" charset="-122"/>
              </a:rPr>
              <a:t>Time 7 – P</a:t>
            </a:r>
            <a:r>
              <a:rPr lang="en-US" altLang="zh-CN" sz="2000" baseline="-25000" smtClean="0">
                <a:ea typeface="宋体" pitchFamily="2" charset="-122"/>
              </a:rPr>
              <a:t>2</a:t>
            </a:r>
            <a:r>
              <a:rPr lang="en-US" altLang="zh-CN" sz="2000" smtClean="0">
                <a:ea typeface="宋体" pitchFamily="2" charset="-122"/>
              </a:rPr>
              <a:t> completes – Ready = [(P</a:t>
            </a:r>
            <a:r>
              <a:rPr lang="en-US" altLang="zh-CN" sz="2000" baseline="-25000" smtClean="0">
                <a:ea typeface="宋体" pitchFamily="2" charset="-122"/>
              </a:rPr>
              <a:t>1</a:t>
            </a:r>
            <a:r>
              <a:rPr lang="en-US" altLang="zh-CN" sz="2000" smtClean="0">
                <a:ea typeface="宋体" pitchFamily="2" charset="-122"/>
              </a:rPr>
              <a:t>,5),(P</a:t>
            </a:r>
            <a:r>
              <a:rPr lang="en-US" altLang="zh-CN" sz="2000" baseline="-25000" smtClean="0">
                <a:ea typeface="宋体" pitchFamily="2" charset="-122"/>
              </a:rPr>
              <a:t>4</a:t>
            </a:r>
            <a:r>
              <a:rPr lang="en-US" altLang="zh-CN" sz="2000" smtClean="0">
                <a:ea typeface="宋体" pitchFamily="2" charset="-122"/>
              </a:rPr>
              <a:t>,4)] – P</a:t>
            </a:r>
            <a:r>
              <a:rPr lang="en-US" altLang="zh-CN" sz="2000" baseline="-25000" smtClean="0">
                <a:ea typeface="宋体" pitchFamily="2" charset="-122"/>
              </a:rPr>
              <a:t>4</a:t>
            </a:r>
            <a:r>
              <a:rPr lang="en-US" altLang="zh-CN" sz="2000" smtClean="0">
                <a:ea typeface="宋体" pitchFamily="2" charset="-122"/>
              </a:rPr>
              <a:t> gets the CPU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smtClean="0">
                <a:ea typeface="宋体" pitchFamily="2" charset="-122"/>
              </a:rPr>
              <a:t>Time 11 – P</a:t>
            </a:r>
            <a:r>
              <a:rPr lang="en-US" altLang="zh-CN" sz="2000" baseline="-25000" smtClean="0">
                <a:ea typeface="宋体" pitchFamily="2" charset="-122"/>
              </a:rPr>
              <a:t>4</a:t>
            </a:r>
            <a:r>
              <a:rPr lang="en-US" altLang="zh-CN" sz="2000" smtClean="0">
                <a:ea typeface="宋体" pitchFamily="2" charset="-122"/>
              </a:rPr>
              <a:t> completes, P</a:t>
            </a:r>
            <a:r>
              <a:rPr lang="en-US" altLang="zh-CN" sz="2000" baseline="-25000" smtClean="0">
                <a:ea typeface="宋体" pitchFamily="2" charset="-122"/>
              </a:rPr>
              <a:t>1</a:t>
            </a:r>
            <a:r>
              <a:rPr lang="en-US" altLang="zh-CN" sz="2000" smtClean="0">
                <a:ea typeface="宋体" pitchFamily="2" charset="-122"/>
              </a:rPr>
              <a:t> gets the CPU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altLang="zh-CN" sz="2000" smtClean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altLang="zh-CN" smtClean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altLang="zh-CN" smtClean="0">
              <a:ea typeface="宋体" pitchFamily="2" charset="-122"/>
            </a:endParaRP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endParaRPr lang="zh-CN" altLang="en-US" smtClean="0">
              <a:ea typeface="宋体" pitchFamily="2" charset="-122"/>
            </a:endParaRPr>
          </a:p>
        </p:txBody>
      </p:sp>
      <p:sp>
        <p:nvSpPr>
          <p:cNvPr id="18445" name="Rectangle 4"/>
          <p:cNvSpPr>
            <a:spLocks noChangeArrowheads="1"/>
          </p:cNvSpPr>
          <p:nvPr/>
        </p:nvSpPr>
        <p:spPr bwMode="auto">
          <a:xfrm>
            <a:off x="1447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8446" name="Rectangle 5"/>
          <p:cNvSpPr>
            <a:spLocks noChangeArrowheads="1"/>
          </p:cNvSpPr>
          <p:nvPr/>
        </p:nvSpPr>
        <p:spPr bwMode="auto">
          <a:xfrm>
            <a:off x="1828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8447" name="Rectangle 6"/>
          <p:cNvSpPr>
            <a:spLocks noChangeArrowheads="1"/>
          </p:cNvSpPr>
          <p:nvPr/>
        </p:nvSpPr>
        <p:spPr bwMode="auto">
          <a:xfrm>
            <a:off x="2209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8448" name="Rectangle 7"/>
          <p:cNvSpPr>
            <a:spLocks noChangeArrowheads="1"/>
          </p:cNvSpPr>
          <p:nvPr/>
        </p:nvSpPr>
        <p:spPr bwMode="auto">
          <a:xfrm>
            <a:off x="2590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8449" name="Rectangle 8"/>
          <p:cNvSpPr>
            <a:spLocks noChangeArrowheads="1"/>
          </p:cNvSpPr>
          <p:nvPr/>
        </p:nvSpPr>
        <p:spPr bwMode="auto">
          <a:xfrm>
            <a:off x="2971800" y="5410200"/>
            <a:ext cx="381000" cy="609600"/>
          </a:xfrm>
          <a:prstGeom prst="rect">
            <a:avLst/>
          </a:prstGeom>
          <a:solidFill>
            <a:srgbClr val="CCECFF"/>
          </a:solidFill>
          <a:ln w="19050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8450" name="Line 11"/>
          <p:cNvSpPr>
            <a:spLocks noChangeShapeType="1"/>
          </p:cNvSpPr>
          <p:nvPr/>
        </p:nvSpPr>
        <p:spPr bwMode="auto">
          <a:xfrm>
            <a:off x="1447800" y="5410200"/>
            <a:ext cx="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51" name="Line 12"/>
          <p:cNvSpPr>
            <a:spLocks noChangeShapeType="1"/>
          </p:cNvSpPr>
          <p:nvPr/>
        </p:nvSpPr>
        <p:spPr bwMode="auto">
          <a:xfrm>
            <a:off x="2209800" y="5410200"/>
            <a:ext cx="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52" name="Line 13"/>
          <p:cNvSpPr>
            <a:spLocks noChangeShapeType="1"/>
          </p:cNvSpPr>
          <p:nvPr/>
        </p:nvSpPr>
        <p:spPr bwMode="auto">
          <a:xfrm>
            <a:off x="1828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53" name="Line 14"/>
          <p:cNvSpPr>
            <a:spLocks noChangeShapeType="1"/>
          </p:cNvSpPr>
          <p:nvPr/>
        </p:nvSpPr>
        <p:spPr bwMode="auto">
          <a:xfrm>
            <a:off x="2209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54" name="Line 15"/>
          <p:cNvSpPr>
            <a:spLocks noChangeShapeType="1"/>
          </p:cNvSpPr>
          <p:nvPr/>
        </p:nvSpPr>
        <p:spPr bwMode="auto">
          <a:xfrm>
            <a:off x="2590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55" name="Line 16"/>
          <p:cNvSpPr>
            <a:spLocks noChangeShapeType="1"/>
          </p:cNvSpPr>
          <p:nvPr/>
        </p:nvSpPr>
        <p:spPr bwMode="auto">
          <a:xfrm>
            <a:off x="2971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56" name="Line 17"/>
          <p:cNvSpPr>
            <a:spLocks noChangeShapeType="1"/>
          </p:cNvSpPr>
          <p:nvPr/>
        </p:nvSpPr>
        <p:spPr bwMode="auto">
          <a:xfrm>
            <a:off x="3352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57" name="Line 18"/>
          <p:cNvSpPr>
            <a:spLocks noChangeShapeType="1"/>
          </p:cNvSpPr>
          <p:nvPr/>
        </p:nvSpPr>
        <p:spPr bwMode="auto">
          <a:xfrm>
            <a:off x="3733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58" name="Line 19"/>
          <p:cNvSpPr>
            <a:spLocks noChangeShapeType="1"/>
          </p:cNvSpPr>
          <p:nvPr/>
        </p:nvSpPr>
        <p:spPr bwMode="auto">
          <a:xfrm>
            <a:off x="2971800" y="5410200"/>
            <a:ext cx="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59" name="Text Box 20"/>
          <p:cNvSpPr txBox="1">
            <a:spLocks noChangeArrowheads="1"/>
          </p:cNvSpPr>
          <p:nvPr/>
        </p:nvSpPr>
        <p:spPr bwMode="auto">
          <a:xfrm>
            <a:off x="1636713" y="5424488"/>
            <a:ext cx="4206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 i="1"/>
              <a:t>P</a:t>
            </a:r>
            <a:r>
              <a:rPr lang="en-US" altLang="en-US" i="1" baseline="-25000">
                <a:latin typeface="Arial" charset="0"/>
              </a:rPr>
              <a:t>1</a:t>
            </a:r>
          </a:p>
        </p:txBody>
      </p:sp>
      <p:sp>
        <p:nvSpPr>
          <p:cNvPr id="18460" name="Text Box 21"/>
          <p:cNvSpPr txBox="1">
            <a:spLocks noChangeArrowheads="1"/>
          </p:cNvSpPr>
          <p:nvPr/>
        </p:nvSpPr>
        <p:spPr bwMode="auto">
          <a:xfrm>
            <a:off x="2398713" y="5424488"/>
            <a:ext cx="4206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 i="1"/>
              <a:t>P</a:t>
            </a:r>
            <a:r>
              <a:rPr lang="en-US" altLang="en-US" i="1" baseline="-25000">
                <a:latin typeface="Arial" charset="0"/>
              </a:rPr>
              <a:t>2</a:t>
            </a:r>
          </a:p>
        </p:txBody>
      </p:sp>
      <p:sp>
        <p:nvSpPr>
          <p:cNvPr id="18461" name="Text Box 22"/>
          <p:cNvSpPr txBox="1">
            <a:spLocks noChangeArrowheads="1"/>
          </p:cNvSpPr>
          <p:nvPr/>
        </p:nvSpPr>
        <p:spPr bwMode="auto">
          <a:xfrm>
            <a:off x="2932113" y="5424488"/>
            <a:ext cx="4206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 i="1"/>
              <a:t>P</a:t>
            </a:r>
            <a:r>
              <a:rPr lang="en-US" altLang="en-US" i="1" baseline="-25000">
                <a:latin typeface="Arial" charset="0"/>
              </a:rPr>
              <a:t>3</a:t>
            </a:r>
          </a:p>
        </p:txBody>
      </p:sp>
      <p:sp>
        <p:nvSpPr>
          <p:cNvPr id="18462" name="Line 23"/>
          <p:cNvSpPr>
            <a:spLocks noChangeShapeType="1"/>
          </p:cNvSpPr>
          <p:nvPr/>
        </p:nvSpPr>
        <p:spPr bwMode="auto">
          <a:xfrm>
            <a:off x="3352800" y="5410200"/>
            <a:ext cx="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63" name="Line 26"/>
          <p:cNvSpPr>
            <a:spLocks noChangeShapeType="1"/>
          </p:cNvSpPr>
          <p:nvPr/>
        </p:nvSpPr>
        <p:spPr bwMode="auto">
          <a:xfrm>
            <a:off x="4114800" y="5410200"/>
            <a:ext cx="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64" name="Text Box 27"/>
          <p:cNvSpPr txBox="1">
            <a:spLocks noChangeArrowheads="1"/>
          </p:cNvSpPr>
          <p:nvPr/>
        </p:nvSpPr>
        <p:spPr bwMode="auto">
          <a:xfrm>
            <a:off x="3541713" y="5424488"/>
            <a:ext cx="4206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 i="1"/>
              <a:t>P</a:t>
            </a:r>
            <a:r>
              <a:rPr lang="en-US" altLang="en-US" i="1" baseline="-25000">
                <a:latin typeface="Arial" charset="0"/>
              </a:rPr>
              <a:t>2</a:t>
            </a:r>
          </a:p>
        </p:txBody>
      </p:sp>
      <p:sp>
        <p:nvSpPr>
          <p:cNvPr id="18465" name="Line 29"/>
          <p:cNvSpPr>
            <a:spLocks noChangeShapeType="1"/>
          </p:cNvSpPr>
          <p:nvPr/>
        </p:nvSpPr>
        <p:spPr bwMode="auto">
          <a:xfrm>
            <a:off x="5638800" y="5410200"/>
            <a:ext cx="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66" name="Line 34"/>
          <p:cNvSpPr>
            <a:spLocks noChangeShapeType="1"/>
          </p:cNvSpPr>
          <p:nvPr/>
        </p:nvSpPr>
        <p:spPr bwMode="auto">
          <a:xfrm>
            <a:off x="4114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67" name="Line 35"/>
          <p:cNvSpPr>
            <a:spLocks noChangeShapeType="1"/>
          </p:cNvSpPr>
          <p:nvPr/>
        </p:nvSpPr>
        <p:spPr bwMode="auto">
          <a:xfrm>
            <a:off x="4495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68" name="Line 36"/>
          <p:cNvSpPr>
            <a:spLocks noChangeShapeType="1"/>
          </p:cNvSpPr>
          <p:nvPr/>
        </p:nvSpPr>
        <p:spPr bwMode="auto">
          <a:xfrm>
            <a:off x="4876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69" name="Line 37"/>
          <p:cNvSpPr>
            <a:spLocks noChangeShapeType="1"/>
          </p:cNvSpPr>
          <p:nvPr/>
        </p:nvSpPr>
        <p:spPr bwMode="auto">
          <a:xfrm>
            <a:off x="5257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70" name="Line 38"/>
          <p:cNvSpPr>
            <a:spLocks noChangeShapeType="1"/>
          </p:cNvSpPr>
          <p:nvPr/>
        </p:nvSpPr>
        <p:spPr bwMode="auto">
          <a:xfrm>
            <a:off x="5638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71" name="Text Box 39"/>
          <p:cNvSpPr txBox="1">
            <a:spLocks noChangeArrowheads="1"/>
          </p:cNvSpPr>
          <p:nvPr/>
        </p:nvSpPr>
        <p:spPr bwMode="auto">
          <a:xfrm>
            <a:off x="4724400" y="5424488"/>
            <a:ext cx="4206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 i="1"/>
              <a:t>P</a:t>
            </a:r>
            <a:r>
              <a:rPr lang="en-US" altLang="en-US" i="1" baseline="-25000">
                <a:latin typeface="Arial" charset="0"/>
              </a:rPr>
              <a:t>4</a:t>
            </a:r>
          </a:p>
        </p:txBody>
      </p:sp>
      <p:sp>
        <p:nvSpPr>
          <p:cNvPr id="18472" name="Text Box 40"/>
          <p:cNvSpPr txBox="1">
            <a:spLocks noChangeArrowheads="1"/>
          </p:cNvSpPr>
          <p:nvPr/>
        </p:nvSpPr>
        <p:spPr bwMode="auto">
          <a:xfrm>
            <a:off x="3194050" y="6172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/>
              <a:t>5</a:t>
            </a:r>
          </a:p>
        </p:txBody>
      </p:sp>
      <p:sp>
        <p:nvSpPr>
          <p:cNvPr id="18473" name="Text Box 41"/>
          <p:cNvSpPr txBox="1">
            <a:spLocks noChangeArrowheads="1"/>
          </p:cNvSpPr>
          <p:nvPr/>
        </p:nvSpPr>
        <p:spPr bwMode="auto">
          <a:xfrm>
            <a:off x="3956050" y="6172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/>
              <a:t>7</a:t>
            </a:r>
          </a:p>
        </p:txBody>
      </p:sp>
      <p:sp>
        <p:nvSpPr>
          <p:cNvPr id="18474" name="Text Box 42"/>
          <p:cNvSpPr txBox="1">
            <a:spLocks noChangeArrowheads="1"/>
          </p:cNvSpPr>
          <p:nvPr/>
        </p:nvSpPr>
        <p:spPr bwMode="auto">
          <a:xfrm>
            <a:off x="5416550" y="61722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/>
              <a:t>11</a:t>
            </a:r>
          </a:p>
        </p:txBody>
      </p:sp>
      <p:sp>
        <p:nvSpPr>
          <p:cNvPr id="18475" name="Rectangle 46"/>
          <p:cNvSpPr>
            <a:spLocks noChangeArrowheads="1"/>
          </p:cNvSpPr>
          <p:nvPr/>
        </p:nvSpPr>
        <p:spPr bwMode="auto">
          <a:xfrm>
            <a:off x="6400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8476" name="Rectangle 47"/>
          <p:cNvSpPr>
            <a:spLocks noChangeArrowheads="1"/>
          </p:cNvSpPr>
          <p:nvPr/>
        </p:nvSpPr>
        <p:spPr bwMode="auto">
          <a:xfrm>
            <a:off x="6781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8477" name="Rectangle 48"/>
          <p:cNvSpPr>
            <a:spLocks noChangeArrowheads="1"/>
          </p:cNvSpPr>
          <p:nvPr/>
        </p:nvSpPr>
        <p:spPr bwMode="auto">
          <a:xfrm>
            <a:off x="7162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8478" name="Line 49"/>
          <p:cNvSpPr>
            <a:spLocks noChangeShapeType="1"/>
          </p:cNvSpPr>
          <p:nvPr/>
        </p:nvSpPr>
        <p:spPr bwMode="auto">
          <a:xfrm>
            <a:off x="5638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79" name="Line 50"/>
          <p:cNvSpPr>
            <a:spLocks noChangeShapeType="1"/>
          </p:cNvSpPr>
          <p:nvPr/>
        </p:nvSpPr>
        <p:spPr bwMode="auto">
          <a:xfrm>
            <a:off x="6019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80" name="Line 51"/>
          <p:cNvSpPr>
            <a:spLocks noChangeShapeType="1"/>
          </p:cNvSpPr>
          <p:nvPr/>
        </p:nvSpPr>
        <p:spPr bwMode="auto">
          <a:xfrm>
            <a:off x="6400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81" name="Line 52"/>
          <p:cNvSpPr>
            <a:spLocks noChangeShapeType="1"/>
          </p:cNvSpPr>
          <p:nvPr/>
        </p:nvSpPr>
        <p:spPr bwMode="auto">
          <a:xfrm>
            <a:off x="6781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82" name="Line 53"/>
          <p:cNvSpPr>
            <a:spLocks noChangeShapeType="1"/>
          </p:cNvSpPr>
          <p:nvPr/>
        </p:nvSpPr>
        <p:spPr bwMode="auto">
          <a:xfrm>
            <a:off x="7162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83" name="Line 54"/>
          <p:cNvSpPr>
            <a:spLocks noChangeShapeType="1"/>
          </p:cNvSpPr>
          <p:nvPr/>
        </p:nvSpPr>
        <p:spPr bwMode="auto">
          <a:xfrm>
            <a:off x="7543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84" name="Line 9"/>
          <p:cNvSpPr>
            <a:spLocks noChangeShapeType="1"/>
          </p:cNvSpPr>
          <p:nvPr/>
        </p:nvSpPr>
        <p:spPr bwMode="auto">
          <a:xfrm>
            <a:off x="1447800" y="5410200"/>
            <a:ext cx="63246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85" name="Line 10"/>
          <p:cNvSpPr>
            <a:spLocks noChangeShapeType="1"/>
          </p:cNvSpPr>
          <p:nvPr/>
        </p:nvSpPr>
        <p:spPr bwMode="auto">
          <a:xfrm>
            <a:off x="1447800" y="6019800"/>
            <a:ext cx="64008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86" name="Line 43"/>
          <p:cNvSpPr>
            <a:spLocks noChangeShapeType="1"/>
          </p:cNvSpPr>
          <p:nvPr/>
        </p:nvSpPr>
        <p:spPr bwMode="auto">
          <a:xfrm>
            <a:off x="7543800" y="5410200"/>
            <a:ext cx="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87" name="Text Box 55"/>
          <p:cNvSpPr txBox="1">
            <a:spLocks noChangeArrowheads="1"/>
          </p:cNvSpPr>
          <p:nvPr/>
        </p:nvSpPr>
        <p:spPr bwMode="auto">
          <a:xfrm>
            <a:off x="6437313" y="5424488"/>
            <a:ext cx="4206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 i="1"/>
              <a:t>P</a:t>
            </a:r>
            <a:r>
              <a:rPr lang="en-US" altLang="en-US" i="1" baseline="-25000">
                <a:latin typeface="Arial" charset="0"/>
              </a:rPr>
              <a:t>1</a:t>
            </a:r>
          </a:p>
        </p:txBody>
      </p:sp>
      <p:sp>
        <p:nvSpPr>
          <p:cNvPr id="18488" name="Text Box 56"/>
          <p:cNvSpPr txBox="1">
            <a:spLocks noChangeArrowheads="1"/>
          </p:cNvSpPr>
          <p:nvPr/>
        </p:nvSpPr>
        <p:spPr bwMode="auto">
          <a:xfrm>
            <a:off x="7334250" y="61722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90088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371600"/>
            <a:ext cx="7029450" cy="5081736"/>
          </a:xfrm>
          <a:noFill/>
        </p:spPr>
        <p:txBody>
          <a:bodyPr>
            <a:normAutofit fontScale="70000" lnSpcReduction="20000"/>
          </a:bodyPr>
          <a:lstStyle/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zh-CN" altLang="en-US" dirty="0" smtClean="0">
                <a:ea typeface="宋体" pitchFamily="2" charset="-122"/>
              </a:rPr>
              <a:t>	        </a:t>
            </a:r>
            <a:r>
              <a:rPr lang="zh-CN" altLang="en-US" sz="1800" dirty="0" smtClean="0">
                <a:ea typeface="宋体" pitchFamily="2" charset="-122"/>
              </a:rPr>
              <a:t>	</a:t>
            </a:r>
            <a:r>
              <a:rPr lang="en-US" altLang="zh-CN" sz="1800" u="sng" dirty="0" smtClean="0">
                <a:ea typeface="宋体" pitchFamily="2" charset="-122"/>
              </a:rPr>
              <a:t>Process </a:t>
            </a:r>
            <a:r>
              <a:rPr lang="en-US" altLang="zh-CN" sz="1800" dirty="0" smtClean="0">
                <a:ea typeface="宋体" pitchFamily="2" charset="-122"/>
              </a:rPr>
              <a:t>     	</a:t>
            </a:r>
            <a:r>
              <a:rPr lang="en-US" altLang="zh-CN" sz="1800" u="sng" dirty="0" smtClean="0">
                <a:ea typeface="宋体" pitchFamily="2" charset="-122"/>
              </a:rPr>
              <a:t>Arrival Time</a:t>
            </a:r>
            <a:r>
              <a:rPr lang="en-US" altLang="zh-CN" sz="1800" dirty="0" smtClean="0">
                <a:ea typeface="宋体" pitchFamily="2" charset="-122"/>
              </a:rPr>
              <a:t>	</a:t>
            </a:r>
            <a:r>
              <a:rPr lang="en-US" altLang="zh-CN" sz="1800" u="sng" dirty="0" smtClean="0">
                <a:ea typeface="宋体" pitchFamily="2" charset="-122"/>
              </a:rPr>
              <a:t>Burst Time</a:t>
            </a:r>
            <a:endParaRPr lang="en-US" altLang="zh-CN" sz="1800" dirty="0" smtClean="0">
              <a:ea typeface="宋体" pitchFamily="2" charset="-122"/>
            </a:endParaRP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1800" dirty="0" smtClean="0">
                <a:ea typeface="宋体" pitchFamily="2" charset="-122"/>
              </a:rPr>
              <a:t>		</a:t>
            </a:r>
            <a:r>
              <a:rPr lang="en-US" altLang="zh-CN" sz="1800" i="1" dirty="0" smtClean="0">
                <a:ea typeface="宋体" pitchFamily="2" charset="-122"/>
              </a:rPr>
              <a:t>P</a:t>
            </a:r>
            <a:r>
              <a:rPr lang="en-US" altLang="zh-CN" sz="1800" i="1" baseline="-25000" dirty="0" smtClean="0">
                <a:ea typeface="宋体" pitchFamily="2" charset="-122"/>
              </a:rPr>
              <a:t>1</a:t>
            </a:r>
            <a:r>
              <a:rPr lang="en-US" altLang="zh-CN" sz="1800" dirty="0" smtClean="0">
                <a:ea typeface="宋体" pitchFamily="2" charset="-122"/>
              </a:rPr>
              <a:t>	0.0	7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1800" dirty="0" smtClean="0">
                <a:ea typeface="宋体" pitchFamily="2" charset="-122"/>
              </a:rPr>
              <a:t>		 </a:t>
            </a:r>
            <a:r>
              <a:rPr lang="en-US" altLang="zh-CN" sz="1800" i="1" dirty="0" smtClean="0">
                <a:ea typeface="宋体" pitchFamily="2" charset="-122"/>
              </a:rPr>
              <a:t>P</a:t>
            </a:r>
            <a:r>
              <a:rPr lang="en-US" altLang="zh-CN" sz="1800" i="1" baseline="-25000" dirty="0" smtClean="0">
                <a:ea typeface="宋体" pitchFamily="2" charset="-122"/>
              </a:rPr>
              <a:t>2	</a:t>
            </a:r>
            <a:r>
              <a:rPr lang="en-US" altLang="zh-CN" sz="1800" dirty="0" smtClean="0">
                <a:ea typeface="宋体" pitchFamily="2" charset="-122"/>
              </a:rPr>
              <a:t>2.0	4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1800" dirty="0" smtClean="0">
                <a:ea typeface="宋体" pitchFamily="2" charset="-122"/>
              </a:rPr>
              <a:t>		 </a:t>
            </a:r>
            <a:r>
              <a:rPr lang="en-US" altLang="zh-CN" sz="1800" i="1" dirty="0" smtClean="0">
                <a:ea typeface="宋体" pitchFamily="2" charset="-122"/>
              </a:rPr>
              <a:t>P</a:t>
            </a:r>
            <a:r>
              <a:rPr lang="en-US" altLang="zh-CN" sz="1800" i="1" baseline="-25000" dirty="0" smtClean="0">
                <a:ea typeface="宋体" pitchFamily="2" charset="-122"/>
              </a:rPr>
              <a:t>3</a:t>
            </a:r>
            <a:r>
              <a:rPr lang="en-US" altLang="zh-CN" sz="1800" dirty="0" smtClean="0">
                <a:ea typeface="宋体" pitchFamily="2" charset="-122"/>
              </a:rPr>
              <a:t>	4.0	1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1800" dirty="0" smtClean="0">
                <a:ea typeface="宋体" pitchFamily="2" charset="-122"/>
              </a:rPr>
              <a:t>		 </a:t>
            </a:r>
            <a:r>
              <a:rPr lang="en-US" altLang="zh-CN" sz="1800" i="1" dirty="0" smtClean="0">
                <a:ea typeface="宋体" pitchFamily="2" charset="-122"/>
              </a:rPr>
              <a:t>P</a:t>
            </a:r>
            <a:r>
              <a:rPr lang="en-US" altLang="zh-CN" sz="1800" i="1" baseline="-25000" dirty="0" smtClean="0">
                <a:ea typeface="宋体" pitchFamily="2" charset="-122"/>
              </a:rPr>
              <a:t>4</a:t>
            </a:r>
            <a:r>
              <a:rPr lang="en-US" altLang="zh-CN" sz="1800" dirty="0" smtClean="0">
                <a:ea typeface="宋体" pitchFamily="2" charset="-122"/>
              </a:rPr>
              <a:t>	5.0	4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dirty="0" smtClean="0">
                <a:ea typeface="宋体" pitchFamily="2" charset="-122"/>
              </a:rPr>
              <a:t>SJF (preemptive)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altLang="zh-CN" dirty="0" smtClean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altLang="zh-CN" dirty="0" smtClean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altLang="zh-CN" dirty="0" smtClean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altLang="zh-CN" dirty="0" smtClean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altLang="zh-CN" dirty="0" smtClean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altLang="zh-CN" dirty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dirty="0" smtClean="0">
                <a:ea typeface="宋体" pitchFamily="2" charset="-122"/>
              </a:rPr>
              <a:t>Waiting Time for Processes: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dirty="0" smtClean="0">
                <a:ea typeface="宋体" pitchFamily="2" charset="-122"/>
              </a:rPr>
              <a:t>P1=(0+(11-2))=9, P2=((2-2)+(5-4))=1, P3=(4-4)=0, P4=(7-5)=2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dirty="0" smtClean="0">
                <a:ea typeface="宋体" pitchFamily="2" charset="-122"/>
              </a:rPr>
              <a:t>Average waiting time = (9 + 1 + 0 +2)/4 = 3</a:t>
            </a:r>
            <a:endParaRPr lang="en-US" altLang="zh-CN" i="1" baseline="-25000" dirty="0" smtClean="0">
              <a:ea typeface="宋体" pitchFamily="2" charset="-122"/>
            </a:endParaRPr>
          </a:p>
        </p:txBody>
      </p:sp>
      <p:sp>
        <p:nvSpPr>
          <p:cNvPr id="19460" name="Rectangle 89"/>
          <p:cNvSpPr>
            <a:spLocks noChangeArrowheads="1"/>
          </p:cNvSpPr>
          <p:nvPr/>
        </p:nvSpPr>
        <p:spPr bwMode="auto">
          <a:xfrm>
            <a:off x="1219200" y="37338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Example for Preemptive SJF (SRTF)</a:t>
            </a:r>
          </a:p>
        </p:txBody>
      </p:sp>
      <p:sp>
        <p:nvSpPr>
          <p:cNvPr id="19462" name="Rectangle 37"/>
          <p:cNvSpPr>
            <a:spLocks noChangeArrowheads="1"/>
          </p:cNvSpPr>
          <p:nvPr/>
        </p:nvSpPr>
        <p:spPr bwMode="auto">
          <a:xfrm>
            <a:off x="5791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63" name="Rectangle 38"/>
          <p:cNvSpPr>
            <a:spLocks noChangeArrowheads="1"/>
          </p:cNvSpPr>
          <p:nvPr/>
        </p:nvSpPr>
        <p:spPr bwMode="auto">
          <a:xfrm>
            <a:off x="5410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64" name="Rectangle 39"/>
          <p:cNvSpPr>
            <a:spLocks noChangeArrowheads="1"/>
          </p:cNvSpPr>
          <p:nvPr/>
        </p:nvSpPr>
        <p:spPr bwMode="auto">
          <a:xfrm>
            <a:off x="5029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65" name="Rectangle 40"/>
          <p:cNvSpPr>
            <a:spLocks noChangeArrowheads="1"/>
          </p:cNvSpPr>
          <p:nvPr/>
        </p:nvSpPr>
        <p:spPr bwMode="auto">
          <a:xfrm>
            <a:off x="4648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66" name="Rectangle 41"/>
          <p:cNvSpPr>
            <a:spLocks noChangeArrowheads="1"/>
          </p:cNvSpPr>
          <p:nvPr/>
        </p:nvSpPr>
        <p:spPr bwMode="auto">
          <a:xfrm>
            <a:off x="4267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67" name="Rectangle 42"/>
          <p:cNvSpPr>
            <a:spLocks noChangeArrowheads="1"/>
          </p:cNvSpPr>
          <p:nvPr/>
        </p:nvSpPr>
        <p:spPr bwMode="auto">
          <a:xfrm>
            <a:off x="3886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68" name="Rectangle 43"/>
          <p:cNvSpPr>
            <a:spLocks noChangeArrowheads="1"/>
          </p:cNvSpPr>
          <p:nvPr/>
        </p:nvSpPr>
        <p:spPr bwMode="auto">
          <a:xfrm>
            <a:off x="3124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69" name="Rectangle 44"/>
          <p:cNvSpPr>
            <a:spLocks noChangeArrowheads="1"/>
          </p:cNvSpPr>
          <p:nvPr/>
        </p:nvSpPr>
        <p:spPr bwMode="auto">
          <a:xfrm>
            <a:off x="3505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70" name="Rectangle 45"/>
          <p:cNvSpPr>
            <a:spLocks noChangeArrowheads="1"/>
          </p:cNvSpPr>
          <p:nvPr/>
        </p:nvSpPr>
        <p:spPr bwMode="auto">
          <a:xfrm>
            <a:off x="1317625" y="3868738"/>
            <a:ext cx="184150" cy="366712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71" name="Rectangle 46"/>
          <p:cNvSpPr>
            <a:spLocks noChangeArrowheads="1"/>
          </p:cNvSpPr>
          <p:nvPr/>
        </p:nvSpPr>
        <p:spPr bwMode="auto">
          <a:xfrm>
            <a:off x="1600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72" name="Rectangle 47"/>
          <p:cNvSpPr>
            <a:spLocks noChangeArrowheads="1"/>
          </p:cNvSpPr>
          <p:nvPr/>
        </p:nvSpPr>
        <p:spPr bwMode="auto">
          <a:xfrm>
            <a:off x="1981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73" name="Rectangle 48"/>
          <p:cNvSpPr>
            <a:spLocks noChangeArrowheads="1"/>
          </p:cNvSpPr>
          <p:nvPr/>
        </p:nvSpPr>
        <p:spPr bwMode="auto">
          <a:xfrm>
            <a:off x="2362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74" name="Rectangle 49"/>
          <p:cNvSpPr>
            <a:spLocks noChangeArrowheads="1"/>
          </p:cNvSpPr>
          <p:nvPr/>
        </p:nvSpPr>
        <p:spPr bwMode="auto">
          <a:xfrm>
            <a:off x="2743200" y="3748088"/>
            <a:ext cx="381000" cy="609600"/>
          </a:xfrm>
          <a:prstGeom prst="rect">
            <a:avLst/>
          </a:prstGeom>
          <a:solidFill>
            <a:srgbClr val="CCECFF"/>
          </a:solidFill>
          <a:ln w="19050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75" name="Line 50"/>
          <p:cNvSpPr>
            <a:spLocks noChangeShapeType="1"/>
          </p:cNvSpPr>
          <p:nvPr/>
        </p:nvSpPr>
        <p:spPr bwMode="auto">
          <a:xfrm>
            <a:off x="1219200" y="3748088"/>
            <a:ext cx="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476" name="Line 51"/>
          <p:cNvSpPr>
            <a:spLocks noChangeShapeType="1"/>
          </p:cNvSpPr>
          <p:nvPr/>
        </p:nvSpPr>
        <p:spPr bwMode="auto">
          <a:xfrm>
            <a:off x="1981200" y="3748088"/>
            <a:ext cx="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477" name="Line 52"/>
          <p:cNvSpPr>
            <a:spLocks noChangeShapeType="1"/>
          </p:cNvSpPr>
          <p:nvPr/>
        </p:nvSpPr>
        <p:spPr bwMode="auto">
          <a:xfrm>
            <a:off x="1600200" y="4205288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478" name="Line 53"/>
          <p:cNvSpPr>
            <a:spLocks noChangeShapeType="1"/>
          </p:cNvSpPr>
          <p:nvPr/>
        </p:nvSpPr>
        <p:spPr bwMode="auto">
          <a:xfrm>
            <a:off x="1981200" y="4205288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479" name="Line 54"/>
          <p:cNvSpPr>
            <a:spLocks noChangeShapeType="1"/>
          </p:cNvSpPr>
          <p:nvPr/>
        </p:nvSpPr>
        <p:spPr bwMode="auto">
          <a:xfrm>
            <a:off x="2362200" y="4205288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480" name="Line 55"/>
          <p:cNvSpPr>
            <a:spLocks noChangeShapeType="1"/>
          </p:cNvSpPr>
          <p:nvPr/>
        </p:nvSpPr>
        <p:spPr bwMode="auto">
          <a:xfrm>
            <a:off x="2743200" y="4205288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481" name="Line 56"/>
          <p:cNvSpPr>
            <a:spLocks noChangeShapeType="1"/>
          </p:cNvSpPr>
          <p:nvPr/>
        </p:nvSpPr>
        <p:spPr bwMode="auto">
          <a:xfrm>
            <a:off x="3124200" y="4205288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482" name="Line 57"/>
          <p:cNvSpPr>
            <a:spLocks noChangeShapeType="1"/>
          </p:cNvSpPr>
          <p:nvPr/>
        </p:nvSpPr>
        <p:spPr bwMode="auto">
          <a:xfrm>
            <a:off x="3505200" y="4205288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483" name="Line 58"/>
          <p:cNvSpPr>
            <a:spLocks noChangeShapeType="1"/>
          </p:cNvSpPr>
          <p:nvPr/>
        </p:nvSpPr>
        <p:spPr bwMode="auto">
          <a:xfrm>
            <a:off x="2743200" y="3748088"/>
            <a:ext cx="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484" name="Text Box 59"/>
          <p:cNvSpPr txBox="1">
            <a:spLocks noChangeArrowheads="1"/>
          </p:cNvSpPr>
          <p:nvPr/>
        </p:nvSpPr>
        <p:spPr bwMode="auto">
          <a:xfrm>
            <a:off x="1408113" y="3762375"/>
            <a:ext cx="4206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 i="1"/>
              <a:t>P</a:t>
            </a:r>
            <a:r>
              <a:rPr lang="en-US" altLang="en-US" i="1" baseline="-25000">
                <a:latin typeface="Arial" charset="0"/>
              </a:rPr>
              <a:t>1</a:t>
            </a:r>
          </a:p>
        </p:txBody>
      </p:sp>
      <p:sp>
        <p:nvSpPr>
          <p:cNvPr id="19485" name="Text Box 60"/>
          <p:cNvSpPr txBox="1">
            <a:spLocks noChangeArrowheads="1"/>
          </p:cNvSpPr>
          <p:nvPr/>
        </p:nvSpPr>
        <p:spPr bwMode="auto">
          <a:xfrm>
            <a:off x="2170113" y="3762375"/>
            <a:ext cx="4206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 i="1"/>
              <a:t>P</a:t>
            </a:r>
            <a:r>
              <a:rPr lang="en-US" altLang="en-US" i="1" baseline="-25000">
                <a:latin typeface="Arial" charset="0"/>
              </a:rPr>
              <a:t>2</a:t>
            </a:r>
          </a:p>
        </p:txBody>
      </p:sp>
      <p:sp>
        <p:nvSpPr>
          <p:cNvPr id="19486" name="Text Box 61"/>
          <p:cNvSpPr txBox="1">
            <a:spLocks noChangeArrowheads="1"/>
          </p:cNvSpPr>
          <p:nvPr/>
        </p:nvSpPr>
        <p:spPr bwMode="auto">
          <a:xfrm>
            <a:off x="2703513" y="3762375"/>
            <a:ext cx="4206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 i="1"/>
              <a:t>P</a:t>
            </a:r>
            <a:r>
              <a:rPr lang="en-US" altLang="en-US" i="1" baseline="-25000">
                <a:latin typeface="Arial" charset="0"/>
              </a:rPr>
              <a:t>3</a:t>
            </a:r>
          </a:p>
        </p:txBody>
      </p:sp>
      <p:sp>
        <p:nvSpPr>
          <p:cNvPr id="19487" name="Line 62"/>
          <p:cNvSpPr>
            <a:spLocks noChangeShapeType="1"/>
          </p:cNvSpPr>
          <p:nvPr/>
        </p:nvSpPr>
        <p:spPr bwMode="auto">
          <a:xfrm>
            <a:off x="3124200" y="3748088"/>
            <a:ext cx="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488" name="Line 63"/>
          <p:cNvSpPr>
            <a:spLocks noChangeShapeType="1"/>
          </p:cNvSpPr>
          <p:nvPr/>
        </p:nvSpPr>
        <p:spPr bwMode="auto">
          <a:xfrm>
            <a:off x="3886200" y="3748088"/>
            <a:ext cx="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489" name="Text Box 64"/>
          <p:cNvSpPr txBox="1">
            <a:spLocks noChangeArrowheads="1"/>
          </p:cNvSpPr>
          <p:nvPr/>
        </p:nvSpPr>
        <p:spPr bwMode="auto">
          <a:xfrm>
            <a:off x="3313113" y="3762375"/>
            <a:ext cx="4206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 i="1"/>
              <a:t>P</a:t>
            </a:r>
            <a:r>
              <a:rPr lang="en-US" altLang="en-US" i="1" baseline="-25000">
                <a:latin typeface="Arial" charset="0"/>
              </a:rPr>
              <a:t>2</a:t>
            </a:r>
          </a:p>
        </p:txBody>
      </p:sp>
      <p:sp>
        <p:nvSpPr>
          <p:cNvPr id="19490" name="Line 65"/>
          <p:cNvSpPr>
            <a:spLocks noChangeShapeType="1"/>
          </p:cNvSpPr>
          <p:nvPr/>
        </p:nvSpPr>
        <p:spPr bwMode="auto">
          <a:xfrm>
            <a:off x="5410200" y="3748088"/>
            <a:ext cx="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491" name="Line 66"/>
          <p:cNvSpPr>
            <a:spLocks noChangeShapeType="1"/>
          </p:cNvSpPr>
          <p:nvPr/>
        </p:nvSpPr>
        <p:spPr bwMode="auto">
          <a:xfrm>
            <a:off x="3886200" y="4205288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492" name="Line 67"/>
          <p:cNvSpPr>
            <a:spLocks noChangeShapeType="1"/>
          </p:cNvSpPr>
          <p:nvPr/>
        </p:nvSpPr>
        <p:spPr bwMode="auto">
          <a:xfrm>
            <a:off x="4267200" y="4205288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493" name="Line 68"/>
          <p:cNvSpPr>
            <a:spLocks noChangeShapeType="1"/>
          </p:cNvSpPr>
          <p:nvPr/>
        </p:nvSpPr>
        <p:spPr bwMode="auto">
          <a:xfrm>
            <a:off x="4648200" y="4205288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494" name="Line 69"/>
          <p:cNvSpPr>
            <a:spLocks noChangeShapeType="1"/>
          </p:cNvSpPr>
          <p:nvPr/>
        </p:nvSpPr>
        <p:spPr bwMode="auto">
          <a:xfrm>
            <a:off x="5029200" y="4205288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495" name="Line 70"/>
          <p:cNvSpPr>
            <a:spLocks noChangeShapeType="1"/>
          </p:cNvSpPr>
          <p:nvPr/>
        </p:nvSpPr>
        <p:spPr bwMode="auto">
          <a:xfrm>
            <a:off x="5410200" y="4205288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496" name="Text Box 71"/>
          <p:cNvSpPr txBox="1">
            <a:spLocks noChangeArrowheads="1"/>
          </p:cNvSpPr>
          <p:nvPr/>
        </p:nvSpPr>
        <p:spPr bwMode="auto">
          <a:xfrm>
            <a:off x="4495800" y="3762375"/>
            <a:ext cx="420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 i="1"/>
              <a:t>P</a:t>
            </a:r>
            <a:r>
              <a:rPr lang="en-US" altLang="en-US" i="1" baseline="-25000">
                <a:latin typeface="Arial" charset="0"/>
              </a:rPr>
              <a:t>4</a:t>
            </a:r>
          </a:p>
        </p:txBody>
      </p:sp>
      <p:sp>
        <p:nvSpPr>
          <p:cNvPr id="19497" name="Text Box 72"/>
          <p:cNvSpPr txBox="1">
            <a:spLocks noChangeArrowheads="1"/>
          </p:cNvSpPr>
          <p:nvPr/>
        </p:nvSpPr>
        <p:spPr bwMode="auto">
          <a:xfrm>
            <a:off x="2965450" y="45100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/>
              <a:t>5</a:t>
            </a:r>
          </a:p>
        </p:txBody>
      </p:sp>
      <p:sp>
        <p:nvSpPr>
          <p:cNvPr id="19498" name="Text Box 73"/>
          <p:cNvSpPr txBox="1">
            <a:spLocks noChangeArrowheads="1"/>
          </p:cNvSpPr>
          <p:nvPr/>
        </p:nvSpPr>
        <p:spPr bwMode="auto">
          <a:xfrm>
            <a:off x="3727450" y="45100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/>
              <a:t>7</a:t>
            </a:r>
          </a:p>
        </p:txBody>
      </p:sp>
      <p:sp>
        <p:nvSpPr>
          <p:cNvPr id="19499" name="Text Box 74"/>
          <p:cNvSpPr txBox="1">
            <a:spLocks noChangeArrowheads="1"/>
          </p:cNvSpPr>
          <p:nvPr/>
        </p:nvSpPr>
        <p:spPr bwMode="auto">
          <a:xfrm>
            <a:off x="5187950" y="4510088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/>
              <a:t>11</a:t>
            </a:r>
          </a:p>
        </p:txBody>
      </p:sp>
      <p:sp>
        <p:nvSpPr>
          <p:cNvPr id="19500" name="Rectangle 75"/>
          <p:cNvSpPr>
            <a:spLocks noChangeArrowheads="1"/>
          </p:cNvSpPr>
          <p:nvPr/>
        </p:nvSpPr>
        <p:spPr bwMode="auto">
          <a:xfrm>
            <a:off x="6172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501" name="Rectangle 76"/>
          <p:cNvSpPr>
            <a:spLocks noChangeArrowheads="1"/>
          </p:cNvSpPr>
          <p:nvPr/>
        </p:nvSpPr>
        <p:spPr bwMode="auto">
          <a:xfrm>
            <a:off x="6553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502" name="Rectangle 77"/>
          <p:cNvSpPr>
            <a:spLocks noChangeArrowheads="1"/>
          </p:cNvSpPr>
          <p:nvPr/>
        </p:nvSpPr>
        <p:spPr bwMode="auto">
          <a:xfrm>
            <a:off x="6934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503" name="Line 78"/>
          <p:cNvSpPr>
            <a:spLocks noChangeShapeType="1"/>
          </p:cNvSpPr>
          <p:nvPr/>
        </p:nvSpPr>
        <p:spPr bwMode="auto">
          <a:xfrm>
            <a:off x="5410200" y="4205288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504" name="Line 79"/>
          <p:cNvSpPr>
            <a:spLocks noChangeShapeType="1"/>
          </p:cNvSpPr>
          <p:nvPr/>
        </p:nvSpPr>
        <p:spPr bwMode="auto">
          <a:xfrm>
            <a:off x="5791200" y="4205288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505" name="Line 80"/>
          <p:cNvSpPr>
            <a:spLocks noChangeShapeType="1"/>
          </p:cNvSpPr>
          <p:nvPr/>
        </p:nvSpPr>
        <p:spPr bwMode="auto">
          <a:xfrm>
            <a:off x="6172200" y="4205288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506" name="Line 81"/>
          <p:cNvSpPr>
            <a:spLocks noChangeShapeType="1"/>
          </p:cNvSpPr>
          <p:nvPr/>
        </p:nvSpPr>
        <p:spPr bwMode="auto">
          <a:xfrm>
            <a:off x="6553200" y="4205288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507" name="Line 82"/>
          <p:cNvSpPr>
            <a:spLocks noChangeShapeType="1"/>
          </p:cNvSpPr>
          <p:nvPr/>
        </p:nvSpPr>
        <p:spPr bwMode="auto">
          <a:xfrm>
            <a:off x="6934200" y="4205288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508" name="Line 83"/>
          <p:cNvSpPr>
            <a:spLocks noChangeShapeType="1"/>
          </p:cNvSpPr>
          <p:nvPr/>
        </p:nvSpPr>
        <p:spPr bwMode="auto">
          <a:xfrm>
            <a:off x="7315200" y="4205288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509" name="Line 84"/>
          <p:cNvSpPr>
            <a:spLocks noChangeShapeType="1"/>
          </p:cNvSpPr>
          <p:nvPr/>
        </p:nvSpPr>
        <p:spPr bwMode="auto">
          <a:xfrm>
            <a:off x="1219200" y="3748088"/>
            <a:ext cx="63246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510" name="Line 85"/>
          <p:cNvSpPr>
            <a:spLocks noChangeShapeType="1"/>
          </p:cNvSpPr>
          <p:nvPr/>
        </p:nvSpPr>
        <p:spPr bwMode="auto">
          <a:xfrm>
            <a:off x="1219200" y="4357688"/>
            <a:ext cx="64008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511" name="Line 86"/>
          <p:cNvSpPr>
            <a:spLocks noChangeShapeType="1"/>
          </p:cNvSpPr>
          <p:nvPr/>
        </p:nvSpPr>
        <p:spPr bwMode="auto">
          <a:xfrm>
            <a:off x="7315200" y="3748088"/>
            <a:ext cx="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512" name="Text Box 87"/>
          <p:cNvSpPr txBox="1">
            <a:spLocks noChangeArrowheads="1"/>
          </p:cNvSpPr>
          <p:nvPr/>
        </p:nvSpPr>
        <p:spPr bwMode="auto">
          <a:xfrm>
            <a:off x="6208713" y="3762375"/>
            <a:ext cx="4206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 i="1"/>
              <a:t>P</a:t>
            </a:r>
            <a:r>
              <a:rPr lang="en-US" altLang="en-US" i="1" baseline="-25000">
                <a:latin typeface="Arial" charset="0"/>
              </a:rPr>
              <a:t>1</a:t>
            </a:r>
          </a:p>
        </p:txBody>
      </p:sp>
      <p:sp>
        <p:nvSpPr>
          <p:cNvPr id="19513" name="Text Box 88"/>
          <p:cNvSpPr txBox="1">
            <a:spLocks noChangeArrowheads="1"/>
          </p:cNvSpPr>
          <p:nvPr/>
        </p:nvSpPr>
        <p:spPr bwMode="auto">
          <a:xfrm>
            <a:off x="7105650" y="4510088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/>
              <a:t>16</a:t>
            </a:r>
          </a:p>
        </p:txBody>
      </p:sp>
      <p:sp>
        <p:nvSpPr>
          <p:cNvPr id="19514" name="Text Box 90"/>
          <p:cNvSpPr txBox="1">
            <a:spLocks noChangeArrowheads="1"/>
          </p:cNvSpPr>
          <p:nvPr/>
        </p:nvSpPr>
        <p:spPr bwMode="auto">
          <a:xfrm>
            <a:off x="1828800" y="44958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/>
              <a:t>2</a:t>
            </a:r>
          </a:p>
        </p:txBody>
      </p:sp>
      <p:sp>
        <p:nvSpPr>
          <p:cNvPr id="19515" name="Text Box 91"/>
          <p:cNvSpPr txBox="1">
            <a:spLocks noChangeArrowheads="1"/>
          </p:cNvSpPr>
          <p:nvPr/>
        </p:nvSpPr>
        <p:spPr bwMode="auto">
          <a:xfrm>
            <a:off x="2514600" y="44958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08987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971600" y="0"/>
            <a:ext cx="7594600" cy="576262"/>
          </a:xfrm>
        </p:spPr>
        <p:txBody>
          <a:bodyPr/>
          <a:lstStyle/>
          <a:p>
            <a:pPr eaLnBrk="1" hangingPunct="1"/>
            <a:r>
              <a:rPr lang="en-US" altLang="en-US" sz="2800" dirty="0" smtClean="0"/>
              <a:t>Example of Shortest-remaining-time-first</a:t>
            </a:r>
          </a:p>
        </p:txBody>
      </p:sp>
      <p:sp>
        <p:nvSpPr>
          <p:cNvPr id="19459" name="Rectangle 36"/>
          <p:cNvSpPr>
            <a:spLocks noGrp="1" noChangeArrowheads="1"/>
          </p:cNvSpPr>
          <p:nvPr>
            <p:ph idx="1"/>
          </p:nvPr>
        </p:nvSpPr>
        <p:spPr>
          <a:xfrm>
            <a:off x="612006" y="656009"/>
            <a:ext cx="7975004" cy="5653311"/>
          </a:xfrm>
        </p:spPr>
        <p:txBody>
          <a:bodyPr>
            <a:normAutofit/>
          </a:bodyPr>
          <a:lstStyle/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sz="2000" dirty="0" smtClean="0"/>
              <a:t>Now we add the concepts of varying arrival times and preemption to the analysis</a:t>
            </a:r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sz="2000" dirty="0" smtClean="0"/>
              <a:t>		         </a:t>
            </a:r>
            <a:r>
              <a:rPr lang="en-US" altLang="en-US" sz="2000" u="sng" dirty="0" err="1" smtClean="0"/>
              <a:t>Process</a:t>
            </a:r>
            <a:r>
              <a:rPr lang="en-US" altLang="en-US" sz="2000" u="sng" dirty="0" err="1" smtClean="0">
                <a:solidFill>
                  <a:schemeClr val="bg1"/>
                </a:solidFill>
              </a:rPr>
              <a:t>A</a:t>
            </a:r>
            <a:r>
              <a:rPr lang="en-US" altLang="en-US" sz="2000" u="sng" dirty="0" smtClean="0">
                <a:solidFill>
                  <a:schemeClr val="bg1"/>
                </a:solidFill>
              </a:rPr>
              <a:t>	</a:t>
            </a:r>
            <a:r>
              <a:rPr lang="en-US" altLang="en-US" sz="2000" u="sng" dirty="0" err="1" smtClean="0">
                <a:solidFill>
                  <a:schemeClr val="bg1"/>
                </a:solidFill>
              </a:rPr>
              <a:t>arri</a:t>
            </a:r>
            <a:r>
              <a:rPr lang="en-US" altLang="en-US" sz="2000" u="sng" dirty="0" smtClean="0">
                <a:solidFill>
                  <a:schemeClr val="bg1"/>
                </a:solidFill>
              </a:rPr>
              <a:t> </a:t>
            </a:r>
            <a:r>
              <a:rPr lang="en-US" altLang="en-US" sz="2000" i="1" u="sng" dirty="0" smtClean="0"/>
              <a:t>Arrival </a:t>
            </a:r>
            <a:r>
              <a:rPr lang="en-US" altLang="en-US" sz="2000" u="sng" dirty="0" err="1" smtClean="0"/>
              <a:t>Time</a:t>
            </a:r>
            <a:r>
              <a:rPr lang="en-US" altLang="en-US" sz="2000" u="sng" dirty="0" err="1" smtClean="0">
                <a:solidFill>
                  <a:schemeClr val="bg1"/>
                </a:solidFill>
              </a:rPr>
              <a:t>T</a:t>
            </a:r>
            <a:r>
              <a:rPr lang="en-US" altLang="en-US" sz="2000" dirty="0" smtClean="0"/>
              <a:t>	</a:t>
            </a:r>
            <a:r>
              <a:rPr lang="en-US" altLang="en-US" sz="2000" u="sng" dirty="0" smtClean="0"/>
              <a:t>Burst Time</a:t>
            </a:r>
            <a:endParaRPr lang="en-US" altLang="en-US" sz="2000" dirty="0" smtClean="0"/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sz="2000" dirty="0" smtClean="0"/>
              <a:t>		 </a:t>
            </a:r>
            <a:r>
              <a:rPr lang="en-US" altLang="en-US" sz="2000" i="1" dirty="0" smtClean="0"/>
              <a:t>P</a:t>
            </a:r>
            <a:r>
              <a:rPr lang="en-US" altLang="en-US" sz="2000" i="1" baseline="-25000" dirty="0" smtClean="0"/>
              <a:t>1</a:t>
            </a:r>
            <a:r>
              <a:rPr lang="en-US" altLang="en-US" sz="2000" dirty="0" smtClean="0"/>
              <a:t>	</a:t>
            </a:r>
            <a:r>
              <a:rPr lang="en-US" altLang="en-US" sz="2000" dirty="0" smtClean="0">
                <a:solidFill>
                  <a:srgbClr val="000000"/>
                </a:solidFill>
              </a:rPr>
              <a:t>0</a:t>
            </a:r>
            <a:r>
              <a:rPr lang="en-US" altLang="en-US" sz="2000" dirty="0" smtClean="0"/>
              <a:t>	8</a:t>
            </a:r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sz="2000" dirty="0" smtClean="0"/>
              <a:t>		 </a:t>
            </a:r>
            <a:r>
              <a:rPr lang="en-US" altLang="en-US" sz="2000" i="1" dirty="0" smtClean="0"/>
              <a:t>P</a:t>
            </a:r>
            <a:r>
              <a:rPr lang="en-US" altLang="en-US" sz="2000" i="1" baseline="-25000" dirty="0" smtClean="0"/>
              <a:t>2 	</a:t>
            </a:r>
            <a:r>
              <a:rPr lang="en-US" altLang="en-US" sz="2000" dirty="0" smtClean="0">
                <a:solidFill>
                  <a:srgbClr val="000000"/>
                </a:solidFill>
              </a:rPr>
              <a:t>1</a:t>
            </a:r>
            <a:r>
              <a:rPr lang="en-US" altLang="en-US" sz="2000" dirty="0" smtClean="0"/>
              <a:t>	4</a:t>
            </a:r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sz="2000" dirty="0" smtClean="0"/>
              <a:t>		 </a:t>
            </a:r>
            <a:r>
              <a:rPr lang="en-US" altLang="en-US" sz="2000" i="1" dirty="0" smtClean="0"/>
              <a:t>P</a:t>
            </a:r>
            <a:r>
              <a:rPr lang="en-US" altLang="en-US" sz="2000" i="1" baseline="-25000" dirty="0" smtClean="0"/>
              <a:t>3</a:t>
            </a:r>
            <a:r>
              <a:rPr lang="en-US" altLang="en-US" sz="2000" dirty="0" smtClean="0"/>
              <a:t>	</a:t>
            </a:r>
            <a:r>
              <a:rPr lang="en-US" altLang="en-US" sz="2000" dirty="0" smtClean="0">
                <a:solidFill>
                  <a:srgbClr val="000000"/>
                </a:solidFill>
              </a:rPr>
              <a:t>2</a:t>
            </a:r>
            <a:r>
              <a:rPr lang="en-US" altLang="en-US" sz="2000" dirty="0" smtClean="0"/>
              <a:t>	9</a:t>
            </a:r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sz="2000" dirty="0" smtClean="0"/>
              <a:t>		 </a:t>
            </a:r>
            <a:r>
              <a:rPr lang="en-US" altLang="en-US" sz="2000" i="1" dirty="0" smtClean="0"/>
              <a:t>P</a:t>
            </a:r>
            <a:r>
              <a:rPr lang="en-US" altLang="en-US" sz="2000" i="1" baseline="-25000" dirty="0" smtClean="0"/>
              <a:t>4</a:t>
            </a:r>
            <a:r>
              <a:rPr lang="en-US" altLang="en-US" sz="2000" dirty="0" smtClean="0"/>
              <a:t>	</a:t>
            </a:r>
            <a:r>
              <a:rPr lang="en-US" altLang="en-US" sz="2000" dirty="0" smtClean="0">
                <a:solidFill>
                  <a:srgbClr val="000000"/>
                </a:solidFill>
              </a:rPr>
              <a:t>3</a:t>
            </a:r>
            <a:r>
              <a:rPr lang="en-US" altLang="en-US" sz="2000" dirty="0" smtClean="0"/>
              <a:t>	5</a:t>
            </a: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sz="2000" dirty="0"/>
          </a:p>
          <a:p>
            <a:pPr marL="0" indent="0"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sz="2800" b="1" dirty="0" smtClean="0"/>
              <a:t>????</a:t>
            </a:r>
          </a:p>
          <a:p>
            <a:pPr marL="0" indent="0"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sz="2800" b="1" dirty="0" smtClean="0"/>
              <a:t>Try solving this…………</a:t>
            </a: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/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 smtClean="0"/>
          </a:p>
          <a:p>
            <a:pPr marL="0" indent="0"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/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i="1" baseline="-25000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02BB8-BB22-4801-AA40-93519F68ED0D}" type="datetime1">
              <a:rPr lang="en-IN" smtClean="0"/>
              <a:t>03-10-2022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336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971600" y="0"/>
            <a:ext cx="7594600" cy="576262"/>
          </a:xfrm>
        </p:spPr>
        <p:txBody>
          <a:bodyPr/>
          <a:lstStyle/>
          <a:p>
            <a:pPr eaLnBrk="1" hangingPunct="1"/>
            <a:r>
              <a:rPr lang="en-US" altLang="en-US" sz="2800" dirty="0" smtClean="0"/>
              <a:t>Example of Shortest-remaining-time-first</a:t>
            </a:r>
          </a:p>
        </p:txBody>
      </p:sp>
      <p:sp>
        <p:nvSpPr>
          <p:cNvPr id="19459" name="Rectangle 36"/>
          <p:cNvSpPr>
            <a:spLocks noGrp="1" noChangeArrowheads="1"/>
          </p:cNvSpPr>
          <p:nvPr>
            <p:ph idx="1"/>
          </p:nvPr>
        </p:nvSpPr>
        <p:spPr>
          <a:xfrm>
            <a:off x="387263" y="620688"/>
            <a:ext cx="8424490" cy="5653311"/>
          </a:xfrm>
        </p:spPr>
        <p:txBody>
          <a:bodyPr>
            <a:normAutofit fontScale="62500" lnSpcReduction="20000"/>
          </a:bodyPr>
          <a:lstStyle/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 smtClean="0"/>
              <a:t>		         </a:t>
            </a:r>
            <a:r>
              <a:rPr lang="en-US" altLang="en-US" u="sng" dirty="0" err="1" smtClean="0"/>
              <a:t>Process</a:t>
            </a:r>
            <a:r>
              <a:rPr lang="en-US" altLang="en-US" u="sng" dirty="0" err="1" smtClean="0">
                <a:solidFill>
                  <a:schemeClr val="bg1"/>
                </a:solidFill>
              </a:rPr>
              <a:t>A</a:t>
            </a:r>
            <a:r>
              <a:rPr lang="en-US" altLang="en-US" u="sng" dirty="0" smtClean="0">
                <a:solidFill>
                  <a:schemeClr val="bg1"/>
                </a:solidFill>
              </a:rPr>
              <a:t>	</a:t>
            </a:r>
            <a:r>
              <a:rPr lang="en-US" altLang="en-US" u="sng" dirty="0" err="1" smtClean="0">
                <a:solidFill>
                  <a:schemeClr val="bg1"/>
                </a:solidFill>
              </a:rPr>
              <a:t>arri</a:t>
            </a:r>
            <a:r>
              <a:rPr lang="en-US" altLang="en-US" u="sng" dirty="0" smtClean="0">
                <a:solidFill>
                  <a:schemeClr val="bg1"/>
                </a:solidFill>
              </a:rPr>
              <a:t> </a:t>
            </a:r>
            <a:r>
              <a:rPr lang="en-US" altLang="en-US" i="1" u="sng" dirty="0" smtClean="0"/>
              <a:t>Arrival </a:t>
            </a:r>
            <a:r>
              <a:rPr lang="en-US" altLang="en-US" u="sng" dirty="0" err="1" smtClean="0"/>
              <a:t>Time</a:t>
            </a:r>
            <a:r>
              <a:rPr lang="en-US" altLang="en-US" u="sng" dirty="0" err="1" smtClean="0">
                <a:solidFill>
                  <a:schemeClr val="bg1"/>
                </a:solidFill>
              </a:rPr>
              <a:t>T</a:t>
            </a:r>
            <a:r>
              <a:rPr lang="en-US" altLang="en-US" dirty="0" smtClean="0"/>
              <a:t>	</a:t>
            </a:r>
            <a:r>
              <a:rPr lang="en-US" altLang="en-US" u="sng" dirty="0" smtClean="0"/>
              <a:t>Burst Time</a:t>
            </a:r>
            <a:endParaRPr lang="en-US" altLang="en-US" dirty="0" smtClean="0"/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 smtClean="0"/>
              <a:t>		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1</a:t>
            </a:r>
            <a:r>
              <a:rPr lang="en-US" altLang="en-US" dirty="0" smtClean="0"/>
              <a:t>	</a:t>
            </a:r>
            <a:r>
              <a:rPr lang="en-US" altLang="en-US" dirty="0" smtClean="0">
                <a:solidFill>
                  <a:srgbClr val="000000"/>
                </a:solidFill>
              </a:rPr>
              <a:t>0</a:t>
            </a:r>
            <a:r>
              <a:rPr lang="en-US" altLang="en-US" dirty="0" smtClean="0"/>
              <a:t>	8</a:t>
            </a:r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 smtClean="0"/>
              <a:t>		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2 	</a:t>
            </a:r>
            <a:r>
              <a:rPr lang="en-US" altLang="en-US" dirty="0" smtClean="0">
                <a:solidFill>
                  <a:srgbClr val="000000"/>
                </a:solidFill>
              </a:rPr>
              <a:t>1</a:t>
            </a:r>
            <a:r>
              <a:rPr lang="en-US" altLang="en-US" dirty="0" smtClean="0"/>
              <a:t>	4</a:t>
            </a:r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 smtClean="0"/>
              <a:t>		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3</a:t>
            </a:r>
            <a:r>
              <a:rPr lang="en-US" altLang="en-US" dirty="0" smtClean="0"/>
              <a:t>	</a:t>
            </a:r>
            <a:r>
              <a:rPr lang="en-US" altLang="en-US" dirty="0" smtClean="0">
                <a:solidFill>
                  <a:srgbClr val="000000"/>
                </a:solidFill>
              </a:rPr>
              <a:t>2</a:t>
            </a:r>
            <a:r>
              <a:rPr lang="en-US" altLang="en-US" dirty="0" smtClean="0"/>
              <a:t>	9</a:t>
            </a:r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 smtClean="0"/>
              <a:t>		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4</a:t>
            </a:r>
            <a:r>
              <a:rPr lang="en-US" altLang="en-US" dirty="0" smtClean="0"/>
              <a:t>	</a:t>
            </a:r>
            <a:r>
              <a:rPr lang="en-US" altLang="en-US" dirty="0" smtClean="0">
                <a:solidFill>
                  <a:srgbClr val="000000"/>
                </a:solidFill>
              </a:rPr>
              <a:t>3</a:t>
            </a:r>
            <a:r>
              <a:rPr lang="en-US" altLang="en-US" dirty="0" smtClean="0"/>
              <a:t>	5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dirty="0">
                <a:ea typeface="宋体" pitchFamily="2" charset="-122"/>
              </a:rPr>
              <a:t>Time 0 – P</a:t>
            </a:r>
            <a:r>
              <a:rPr lang="en-US" altLang="zh-CN" baseline="-25000" dirty="0">
                <a:ea typeface="宋体" pitchFamily="2" charset="-122"/>
              </a:rPr>
              <a:t>1</a:t>
            </a:r>
            <a:r>
              <a:rPr lang="en-US" altLang="zh-CN" dirty="0">
                <a:ea typeface="宋体" pitchFamily="2" charset="-122"/>
              </a:rPr>
              <a:t> gets the CPU      Ready = [(</a:t>
            </a:r>
            <a:r>
              <a:rPr lang="en-US" altLang="zh-CN" dirty="0" smtClean="0">
                <a:ea typeface="宋体" pitchFamily="2" charset="-122"/>
              </a:rPr>
              <a:t>P</a:t>
            </a:r>
            <a:r>
              <a:rPr lang="en-US" altLang="zh-CN" baseline="-25000" dirty="0" smtClean="0">
                <a:ea typeface="宋体" pitchFamily="2" charset="-122"/>
              </a:rPr>
              <a:t>1</a:t>
            </a:r>
            <a:r>
              <a:rPr lang="en-US" altLang="zh-CN" dirty="0" smtClean="0">
                <a:ea typeface="宋体" pitchFamily="2" charset="-122"/>
              </a:rPr>
              <a:t>,8)]</a:t>
            </a:r>
            <a:endParaRPr lang="en-US" altLang="zh-CN" dirty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dirty="0">
                <a:ea typeface="宋体" pitchFamily="2" charset="-122"/>
              </a:rPr>
              <a:t>Time </a:t>
            </a:r>
            <a:r>
              <a:rPr lang="en-US" altLang="zh-CN" dirty="0" smtClean="0">
                <a:ea typeface="宋体" pitchFamily="2" charset="-122"/>
              </a:rPr>
              <a:t>1 </a:t>
            </a:r>
            <a:r>
              <a:rPr lang="en-US" altLang="zh-CN" dirty="0">
                <a:ea typeface="宋体" pitchFamily="2" charset="-122"/>
              </a:rPr>
              <a:t>– P</a:t>
            </a:r>
            <a:r>
              <a:rPr lang="en-US" altLang="zh-CN" baseline="-25000" dirty="0">
                <a:ea typeface="宋体" pitchFamily="2" charset="-122"/>
              </a:rPr>
              <a:t>2</a:t>
            </a:r>
            <a:r>
              <a:rPr lang="en-US" altLang="zh-CN" dirty="0">
                <a:ea typeface="宋体" pitchFamily="2" charset="-122"/>
              </a:rPr>
              <a:t> arrives –  CPU has P</a:t>
            </a:r>
            <a:r>
              <a:rPr lang="en-US" altLang="zh-CN" baseline="-25000" dirty="0">
                <a:ea typeface="宋体" pitchFamily="2" charset="-122"/>
              </a:rPr>
              <a:t>1</a:t>
            </a:r>
            <a:r>
              <a:rPr lang="en-US" altLang="zh-CN" dirty="0">
                <a:ea typeface="宋体" pitchFamily="2" charset="-122"/>
              </a:rPr>
              <a:t> with </a:t>
            </a:r>
            <a:r>
              <a:rPr lang="en-US" altLang="zh-CN" dirty="0" smtClean="0">
                <a:ea typeface="宋体" pitchFamily="2" charset="-122"/>
              </a:rPr>
              <a:t>rem. time=7, </a:t>
            </a:r>
            <a:r>
              <a:rPr lang="en-US" altLang="zh-CN" dirty="0">
                <a:ea typeface="宋体" pitchFamily="2" charset="-122"/>
              </a:rPr>
              <a:t>Ready = [(P</a:t>
            </a:r>
            <a:r>
              <a:rPr lang="en-US" altLang="zh-CN" baseline="-25000" dirty="0">
                <a:ea typeface="宋体" pitchFamily="2" charset="-122"/>
              </a:rPr>
              <a:t>2</a:t>
            </a:r>
            <a:r>
              <a:rPr lang="en-US" altLang="zh-CN" dirty="0">
                <a:ea typeface="宋体" pitchFamily="2" charset="-122"/>
              </a:rPr>
              <a:t>,4)] – P</a:t>
            </a:r>
            <a:r>
              <a:rPr lang="en-US" altLang="zh-CN" baseline="-25000" dirty="0">
                <a:ea typeface="宋体" pitchFamily="2" charset="-122"/>
              </a:rPr>
              <a:t>2</a:t>
            </a:r>
            <a:r>
              <a:rPr lang="en-US" altLang="zh-CN" dirty="0">
                <a:ea typeface="宋体" pitchFamily="2" charset="-122"/>
              </a:rPr>
              <a:t> gets the CPU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dirty="0">
                <a:ea typeface="宋体" pitchFamily="2" charset="-122"/>
              </a:rPr>
              <a:t>Time </a:t>
            </a:r>
            <a:r>
              <a:rPr lang="en-US" altLang="zh-CN" dirty="0" smtClean="0">
                <a:ea typeface="宋体" pitchFamily="2" charset="-122"/>
              </a:rPr>
              <a:t>2 – </a:t>
            </a:r>
            <a:r>
              <a:rPr lang="en-US" altLang="zh-CN" dirty="0">
                <a:ea typeface="宋体" pitchFamily="2" charset="-122"/>
              </a:rPr>
              <a:t>P</a:t>
            </a:r>
            <a:r>
              <a:rPr lang="en-US" altLang="zh-CN" baseline="-25000" dirty="0">
                <a:ea typeface="宋体" pitchFamily="2" charset="-122"/>
              </a:rPr>
              <a:t>3</a:t>
            </a:r>
            <a:r>
              <a:rPr lang="en-US" altLang="zh-CN" dirty="0">
                <a:ea typeface="宋体" pitchFamily="2" charset="-122"/>
              </a:rPr>
              <a:t> arrives – CPU has P</a:t>
            </a:r>
            <a:r>
              <a:rPr lang="en-US" altLang="zh-CN" baseline="-25000" dirty="0">
                <a:ea typeface="宋体" pitchFamily="2" charset="-122"/>
              </a:rPr>
              <a:t>2</a:t>
            </a:r>
            <a:r>
              <a:rPr lang="en-US" altLang="zh-CN" dirty="0">
                <a:ea typeface="宋体" pitchFamily="2" charset="-122"/>
              </a:rPr>
              <a:t> with </a:t>
            </a:r>
            <a:r>
              <a:rPr lang="en-US" altLang="zh-CN" dirty="0" smtClean="0">
                <a:ea typeface="宋体" pitchFamily="2" charset="-122"/>
              </a:rPr>
              <a:t>rem. time </a:t>
            </a:r>
            <a:r>
              <a:rPr lang="en-US" altLang="zh-CN" dirty="0">
                <a:ea typeface="宋体" pitchFamily="2" charset="-122"/>
              </a:rPr>
              <a:t>= </a:t>
            </a:r>
            <a:r>
              <a:rPr lang="en-US" altLang="zh-CN" dirty="0" smtClean="0">
                <a:ea typeface="宋体" pitchFamily="2" charset="-122"/>
              </a:rPr>
              <a:t>3, </a:t>
            </a:r>
            <a:r>
              <a:rPr lang="en-US" altLang="zh-CN" dirty="0">
                <a:ea typeface="宋体" pitchFamily="2" charset="-122"/>
              </a:rPr>
              <a:t>Ready = [(</a:t>
            </a:r>
            <a:r>
              <a:rPr lang="en-US" altLang="zh-CN" dirty="0" smtClean="0">
                <a:ea typeface="宋体" pitchFamily="2" charset="-122"/>
              </a:rPr>
              <a:t>P</a:t>
            </a:r>
            <a:r>
              <a:rPr lang="en-US" altLang="zh-CN" baseline="-25000" dirty="0" smtClean="0">
                <a:ea typeface="宋体" pitchFamily="2" charset="-122"/>
              </a:rPr>
              <a:t>1</a:t>
            </a:r>
            <a:r>
              <a:rPr lang="en-US" altLang="zh-CN" dirty="0" smtClean="0">
                <a:ea typeface="宋体" pitchFamily="2" charset="-122"/>
              </a:rPr>
              <a:t>,7)(P</a:t>
            </a:r>
            <a:r>
              <a:rPr lang="en-US" altLang="zh-CN" baseline="-25000" dirty="0" smtClean="0">
                <a:ea typeface="宋体" pitchFamily="2" charset="-122"/>
              </a:rPr>
              <a:t>3</a:t>
            </a:r>
            <a:r>
              <a:rPr lang="en-US" altLang="zh-CN" dirty="0" smtClean="0">
                <a:ea typeface="宋体" pitchFamily="2" charset="-122"/>
              </a:rPr>
              <a:t>,9)]     – P2 continues with </a:t>
            </a:r>
            <a:r>
              <a:rPr lang="en-US" altLang="zh-CN" dirty="0">
                <a:ea typeface="宋体" pitchFamily="2" charset="-122"/>
              </a:rPr>
              <a:t>the </a:t>
            </a:r>
            <a:r>
              <a:rPr lang="en-US" altLang="zh-CN" dirty="0" smtClean="0">
                <a:ea typeface="宋体" pitchFamily="2" charset="-122"/>
              </a:rPr>
              <a:t>CPU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dirty="0" smtClean="0">
                <a:ea typeface="宋体" pitchFamily="2" charset="-122"/>
              </a:rPr>
              <a:t>Time 3- P4 arrives- CPU has P2 with rem. time=2, Ready</a:t>
            </a:r>
            <a:r>
              <a:rPr lang="en-US" altLang="zh-CN" dirty="0">
                <a:ea typeface="宋体" pitchFamily="2" charset="-122"/>
              </a:rPr>
              <a:t> </a:t>
            </a:r>
            <a:r>
              <a:rPr lang="en-US" altLang="zh-CN" dirty="0" smtClean="0">
                <a:ea typeface="宋体" pitchFamily="2" charset="-122"/>
              </a:rPr>
              <a:t>=[(</a:t>
            </a:r>
            <a:r>
              <a:rPr lang="en-US" altLang="zh-CN" dirty="0">
                <a:ea typeface="宋体" pitchFamily="2" charset="-122"/>
              </a:rPr>
              <a:t>P</a:t>
            </a:r>
            <a:r>
              <a:rPr lang="en-US" altLang="zh-CN" baseline="-25000" dirty="0">
                <a:ea typeface="宋体" pitchFamily="2" charset="-122"/>
              </a:rPr>
              <a:t>1</a:t>
            </a:r>
            <a:r>
              <a:rPr lang="en-US" altLang="zh-CN" dirty="0">
                <a:ea typeface="宋体" pitchFamily="2" charset="-122"/>
              </a:rPr>
              <a:t>,7)(P</a:t>
            </a:r>
            <a:r>
              <a:rPr lang="en-US" altLang="zh-CN" baseline="-25000" dirty="0">
                <a:ea typeface="宋体" pitchFamily="2" charset="-122"/>
              </a:rPr>
              <a:t>3</a:t>
            </a:r>
            <a:r>
              <a:rPr lang="en-US" altLang="zh-CN" dirty="0">
                <a:ea typeface="宋体" pitchFamily="2" charset="-122"/>
              </a:rPr>
              <a:t>,9</a:t>
            </a:r>
            <a:r>
              <a:rPr lang="en-US" altLang="zh-CN" dirty="0" smtClean="0">
                <a:ea typeface="宋体" pitchFamily="2" charset="-122"/>
              </a:rPr>
              <a:t>)(P4,5)]</a:t>
            </a:r>
            <a:r>
              <a:rPr lang="en-US" altLang="zh-CN" dirty="0">
                <a:ea typeface="宋体" pitchFamily="2" charset="-122"/>
              </a:rPr>
              <a:t> – P2 continues with the CPU</a:t>
            </a:r>
            <a:endParaRPr lang="en-US" altLang="zh-CN" dirty="0" smtClean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dirty="0" smtClean="0">
                <a:ea typeface="宋体" pitchFamily="2" charset="-122"/>
              </a:rPr>
              <a:t>After P2 finishes, then  P4 executes , then P1 , finally P3</a:t>
            </a: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i="1" dirty="0"/>
              <a:t>Preemptive </a:t>
            </a:r>
            <a:r>
              <a:rPr lang="en-US" altLang="en-US" dirty="0"/>
              <a:t>SJF Gantt </a:t>
            </a:r>
            <a:r>
              <a:rPr lang="en-US" altLang="en-US" dirty="0" smtClean="0"/>
              <a:t>Chart</a:t>
            </a: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/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 smtClean="0"/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/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 smtClean="0"/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/>
              <a:t>Average waiting time = [(10-1)+(1-1)+(17-2</a:t>
            </a:r>
            <a:r>
              <a:rPr lang="en-US" altLang="en-US" dirty="0" smtClean="0"/>
              <a:t>)+(5-3</a:t>
            </a:r>
            <a:r>
              <a:rPr lang="en-US" altLang="en-US" dirty="0"/>
              <a:t>)]/4 = 26/4 = 6.5 </a:t>
            </a:r>
            <a:r>
              <a:rPr lang="en-US" altLang="en-US" dirty="0" err="1"/>
              <a:t>msec</a:t>
            </a:r>
            <a:endParaRPr lang="en-US" altLang="en-US" dirty="0"/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/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i="1" baseline="-25000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02BB8-BB22-4801-AA40-93519F68ED0D}" type="datetime1">
              <a:rPr lang="en-IN" smtClean="0"/>
              <a:t>03-10-2022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6</a:t>
            </a:fld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797152"/>
            <a:ext cx="7164288" cy="880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5314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841895" y="332656"/>
            <a:ext cx="7750175" cy="6477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dirty="0" smtClean="0"/>
              <a:t>Example of RR with Time Quantum = 4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954088" y="1193800"/>
            <a:ext cx="7351712" cy="44831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dirty="0" smtClean="0"/>
              <a:t>		</a:t>
            </a:r>
            <a:r>
              <a:rPr lang="en-US" altLang="en-US" u="sng" dirty="0" smtClean="0"/>
              <a:t>Process</a:t>
            </a:r>
            <a:r>
              <a:rPr lang="en-US" altLang="en-US" dirty="0" smtClean="0"/>
              <a:t>	</a:t>
            </a:r>
            <a:r>
              <a:rPr lang="en-US" altLang="en-US" u="sng" dirty="0" smtClean="0"/>
              <a:t>Burst Time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i="1" dirty="0" smtClean="0"/>
              <a:t>		P</a:t>
            </a:r>
            <a:r>
              <a:rPr lang="en-US" altLang="en-US" i="1" baseline="-25000" dirty="0" smtClean="0"/>
              <a:t>1	</a:t>
            </a:r>
            <a:r>
              <a:rPr lang="en-US" altLang="en-US" dirty="0" smtClean="0"/>
              <a:t>24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dirty="0" smtClean="0"/>
              <a:t>		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2	 </a:t>
            </a:r>
            <a:r>
              <a:rPr lang="en-US" altLang="en-US" dirty="0" smtClean="0"/>
              <a:t>3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dirty="0" smtClean="0"/>
              <a:t>		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3	</a:t>
            </a:r>
            <a:r>
              <a:rPr lang="en-US" altLang="en-US" dirty="0" smtClean="0"/>
              <a:t>3	</a:t>
            </a:r>
          </a:p>
          <a:p>
            <a:pPr>
              <a:lnSpc>
                <a:spcPct val="90000"/>
              </a:lnSpc>
              <a:tabLst>
                <a:tab pos="2219325" algn="ctr"/>
                <a:tab pos="3994150" algn="ctr"/>
              </a:tabLst>
            </a:pPr>
            <a:r>
              <a:rPr lang="en-US" altLang="en-US" dirty="0" smtClean="0"/>
              <a:t>The Gantt chart is: </a:t>
            </a:r>
            <a:br>
              <a:rPr lang="en-US" altLang="en-US" dirty="0" smtClean="0"/>
            </a:b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pPr>
              <a:lnSpc>
                <a:spcPct val="90000"/>
              </a:lnSpc>
              <a:tabLst>
                <a:tab pos="2219325" algn="ctr"/>
                <a:tab pos="3994150" algn="ctr"/>
              </a:tabLst>
            </a:pPr>
            <a:r>
              <a:rPr lang="en-US" altLang="en-US" dirty="0" smtClean="0"/>
              <a:t>Typically, higher average turnaround than SJF, but better </a:t>
            </a:r>
            <a:r>
              <a:rPr lang="en-US" altLang="en-US" b="1" i="1" dirty="0" smtClean="0"/>
              <a:t>response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3BB0A-1B07-4246-B787-D3644BC28701}" type="datetime1">
              <a:rPr lang="en-IN" smtClean="0"/>
              <a:t>03-10-2022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7</a:t>
            </a:fld>
            <a:endParaRPr lang="en-IN"/>
          </a:p>
        </p:txBody>
      </p:sp>
      <p:sp>
        <p:nvSpPr>
          <p:cNvPr id="5" name="Frame 4"/>
          <p:cNvSpPr/>
          <p:nvPr/>
        </p:nvSpPr>
        <p:spPr>
          <a:xfrm>
            <a:off x="611560" y="4653136"/>
            <a:ext cx="7920880" cy="1008112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429000"/>
            <a:ext cx="7560840" cy="8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/>
              <p14:cNvContentPartPr/>
              <p14:nvPr/>
            </p14:nvContentPartPr>
            <p14:xfrm>
              <a:off x="71640" y="973440"/>
              <a:ext cx="9055080" cy="558144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280" y="964080"/>
                <a:ext cx="9073800" cy="560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54251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>
            <a:normAutofit fontScale="90000"/>
          </a:bodyPr>
          <a:lstStyle/>
          <a:p>
            <a:r>
              <a:rPr lang="en-IN" b="1" dirty="0" err="1"/>
              <a:t>Preemptive</a:t>
            </a:r>
            <a:r>
              <a:rPr lang="en-IN" b="1" dirty="0"/>
              <a:t> Priority Scheduling</a:t>
            </a:r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8060912"/>
              </p:ext>
            </p:extLst>
          </p:nvPr>
        </p:nvGraphicFramePr>
        <p:xfrm>
          <a:off x="539552" y="1484784"/>
          <a:ext cx="8064500" cy="291140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016125"/>
                <a:gridCol w="2016125"/>
                <a:gridCol w="2016125"/>
                <a:gridCol w="2016125"/>
              </a:tblGrid>
              <a:tr h="358422">
                <a:tc>
                  <a:txBody>
                    <a:bodyPr/>
                    <a:lstStyle/>
                    <a:p>
                      <a:r>
                        <a:rPr lang="en-IN" sz="1800"/>
                        <a:t>Process Id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Priority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Arrival Time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Burst Time</a:t>
                      </a:r>
                    </a:p>
                  </a:txBody>
                  <a:tcPr marL="89606" marR="89606" marT="44803" marB="44803" anchor="ctr"/>
                </a:tc>
              </a:tr>
              <a:tr h="358422">
                <a:tc>
                  <a:txBody>
                    <a:bodyPr/>
                    <a:lstStyle/>
                    <a:p>
                      <a:r>
                        <a:rPr lang="en-IN" sz="1800"/>
                        <a:t>1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 dirty="0" smtClean="0"/>
                        <a:t>2</a:t>
                      </a:r>
                      <a:endParaRPr lang="en-IN" sz="1800" dirty="0"/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0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1</a:t>
                      </a:r>
                    </a:p>
                  </a:txBody>
                  <a:tcPr marL="89606" marR="89606" marT="44803" marB="44803" anchor="ctr"/>
                </a:tc>
              </a:tr>
              <a:tr h="358422">
                <a:tc>
                  <a:txBody>
                    <a:bodyPr/>
                    <a:lstStyle/>
                    <a:p>
                      <a:r>
                        <a:rPr lang="en-IN" sz="1800"/>
                        <a:t>2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6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1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7</a:t>
                      </a:r>
                    </a:p>
                  </a:txBody>
                  <a:tcPr marL="89606" marR="89606" marT="44803" marB="44803" anchor="ctr"/>
                </a:tc>
              </a:tr>
              <a:tr h="358422">
                <a:tc>
                  <a:txBody>
                    <a:bodyPr/>
                    <a:lstStyle/>
                    <a:p>
                      <a:r>
                        <a:rPr lang="en-IN" sz="180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2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3</a:t>
                      </a:r>
                    </a:p>
                  </a:txBody>
                  <a:tcPr marL="89606" marR="89606" marT="44803" marB="44803" anchor="ctr"/>
                </a:tc>
              </a:tr>
              <a:tr h="358422">
                <a:tc>
                  <a:txBody>
                    <a:bodyPr/>
                    <a:lstStyle/>
                    <a:p>
                      <a:r>
                        <a:rPr lang="en-IN" sz="180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6</a:t>
                      </a:r>
                    </a:p>
                  </a:txBody>
                  <a:tcPr marL="89606" marR="89606" marT="44803" marB="44803" anchor="ctr"/>
                </a:tc>
              </a:tr>
              <a:tr h="358422">
                <a:tc>
                  <a:txBody>
                    <a:bodyPr/>
                    <a:lstStyle/>
                    <a:p>
                      <a:r>
                        <a:rPr lang="en-IN" sz="18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5</a:t>
                      </a:r>
                    </a:p>
                  </a:txBody>
                  <a:tcPr marL="89606" marR="89606" marT="44803" marB="44803" anchor="ctr"/>
                </a:tc>
              </a:tr>
              <a:tr h="358422">
                <a:tc>
                  <a:txBody>
                    <a:bodyPr/>
                    <a:lstStyle/>
                    <a:p>
                      <a:r>
                        <a:rPr lang="en-IN" sz="1800"/>
                        <a:t>6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 dirty="0" smtClean="0"/>
                        <a:t>10</a:t>
                      </a:r>
                      <a:endParaRPr lang="en-IN" sz="1800" dirty="0"/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15</a:t>
                      </a:r>
                    </a:p>
                  </a:txBody>
                  <a:tcPr marL="89606" marR="89606" marT="44803" marB="44803" anchor="ctr"/>
                </a:tc>
              </a:tr>
              <a:tr h="358422">
                <a:tc>
                  <a:txBody>
                    <a:bodyPr/>
                    <a:lstStyle/>
                    <a:p>
                      <a:r>
                        <a:rPr lang="en-IN" sz="1800"/>
                        <a:t>7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9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15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8</a:t>
                      </a:r>
                    </a:p>
                  </a:txBody>
                  <a:tcPr marL="89606" marR="89606" marT="44803" marB="44803" anchor="ctr"/>
                </a:tc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722AB-1D1C-4C25-AF54-98AC29A7D85C}" type="datetime1">
              <a:rPr lang="en-IN" smtClean="0"/>
              <a:t>03-10-2022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912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46856" y="-16988"/>
            <a:ext cx="8229600" cy="576262"/>
          </a:xfrm>
        </p:spPr>
        <p:txBody>
          <a:bodyPr>
            <a:noAutofit/>
          </a:bodyPr>
          <a:lstStyle/>
          <a:p>
            <a:r>
              <a:rPr lang="en-IN" sz="2800" b="1" dirty="0" err="1"/>
              <a:t>Preemptive</a:t>
            </a:r>
            <a:r>
              <a:rPr lang="en-IN" sz="2800" b="1" dirty="0"/>
              <a:t> Priority Scheduling</a:t>
            </a:r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1486815"/>
              </p:ext>
            </p:extLst>
          </p:nvPr>
        </p:nvGraphicFramePr>
        <p:xfrm>
          <a:off x="323528" y="620688"/>
          <a:ext cx="3145736" cy="338437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873583"/>
                <a:gridCol w="782601"/>
                <a:gridCol w="720080"/>
                <a:gridCol w="769472"/>
              </a:tblGrid>
              <a:tr h="662641">
                <a:tc>
                  <a:txBody>
                    <a:bodyPr/>
                    <a:lstStyle/>
                    <a:p>
                      <a:r>
                        <a:rPr lang="en-IN" sz="1600" dirty="0"/>
                        <a:t>Process Id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Priority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Arrival Time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Burst Time</a:t>
                      </a:r>
                    </a:p>
                  </a:txBody>
                  <a:tcPr marL="89606" marR="89606" marT="44803" marB="44803" anchor="ctr"/>
                </a:tc>
              </a:tr>
              <a:tr h="388819"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2</a:t>
                      </a:r>
                      <a:endParaRPr lang="en-IN" sz="1600" dirty="0"/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0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1</a:t>
                      </a:r>
                    </a:p>
                  </a:txBody>
                  <a:tcPr marL="89606" marR="89606" marT="44803" marB="44803" anchor="ctr"/>
                </a:tc>
              </a:tr>
              <a:tr h="388819">
                <a:tc>
                  <a:txBody>
                    <a:bodyPr/>
                    <a:lstStyle/>
                    <a:p>
                      <a:r>
                        <a:rPr lang="en-IN" sz="1600"/>
                        <a:t>2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6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1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7</a:t>
                      </a:r>
                    </a:p>
                  </a:txBody>
                  <a:tcPr marL="89606" marR="89606" marT="44803" marB="44803" anchor="ctr"/>
                </a:tc>
              </a:tr>
              <a:tr h="388819">
                <a:tc>
                  <a:txBody>
                    <a:bodyPr/>
                    <a:lstStyle/>
                    <a:p>
                      <a:r>
                        <a:rPr lang="en-IN" sz="160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2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3</a:t>
                      </a:r>
                    </a:p>
                  </a:txBody>
                  <a:tcPr marL="89606" marR="89606" marT="44803" marB="44803" anchor="ctr"/>
                </a:tc>
              </a:tr>
              <a:tr h="388819">
                <a:tc>
                  <a:txBody>
                    <a:bodyPr/>
                    <a:lstStyle/>
                    <a:p>
                      <a:r>
                        <a:rPr lang="en-IN" sz="1600" dirty="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6</a:t>
                      </a:r>
                    </a:p>
                  </a:txBody>
                  <a:tcPr marL="89606" marR="89606" marT="44803" marB="44803" anchor="ctr"/>
                </a:tc>
              </a:tr>
              <a:tr h="388819">
                <a:tc>
                  <a:txBody>
                    <a:bodyPr/>
                    <a:lstStyle/>
                    <a:p>
                      <a:r>
                        <a:rPr lang="en-IN" sz="16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5</a:t>
                      </a:r>
                    </a:p>
                  </a:txBody>
                  <a:tcPr marL="89606" marR="89606" marT="44803" marB="44803" anchor="ctr"/>
                </a:tc>
              </a:tr>
              <a:tr h="388819">
                <a:tc>
                  <a:txBody>
                    <a:bodyPr/>
                    <a:lstStyle/>
                    <a:p>
                      <a:r>
                        <a:rPr lang="en-IN" sz="1600"/>
                        <a:t>6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10</a:t>
                      </a:r>
                      <a:endParaRPr lang="en-IN" sz="1600" dirty="0"/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15</a:t>
                      </a:r>
                    </a:p>
                  </a:txBody>
                  <a:tcPr marL="89606" marR="89606" marT="44803" marB="44803" anchor="ctr"/>
                </a:tc>
              </a:tr>
              <a:tr h="388819">
                <a:tc>
                  <a:txBody>
                    <a:bodyPr/>
                    <a:lstStyle/>
                    <a:p>
                      <a:r>
                        <a:rPr lang="en-IN" sz="1600" dirty="0"/>
                        <a:t>7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9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15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8</a:t>
                      </a:r>
                    </a:p>
                  </a:txBody>
                  <a:tcPr marL="89606" marR="89606" marT="44803" marB="44803" anchor="ctr"/>
                </a:tc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42003-CDA8-44DA-958F-C7A41D7F86A2}" type="datetime1">
              <a:rPr lang="en-IN" smtClean="0"/>
              <a:t>03-10-2022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9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3525285" y="548680"/>
            <a:ext cx="561662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/>
              <a:t>At </a:t>
            </a:r>
            <a:r>
              <a:rPr lang="en-IN" sz="2000" dirty="0" smtClean="0"/>
              <a:t>time=0</a:t>
            </a:r>
            <a:r>
              <a:rPr lang="en-IN" sz="2000" dirty="0"/>
              <a:t>, P1 arrives with the burst time of 1 units and priority 2. </a:t>
            </a:r>
            <a:endParaRPr lang="en-IN" sz="2000" dirty="0" smtClean="0"/>
          </a:p>
          <a:p>
            <a:r>
              <a:rPr lang="en-IN" sz="2000" dirty="0" smtClean="0"/>
              <a:t>Since </a:t>
            </a:r>
            <a:r>
              <a:rPr lang="en-IN" sz="2000" dirty="0"/>
              <a:t>no other process is available hence this will be scheduled till next job arrives or its completion (whichever is lesser). </a:t>
            </a:r>
            <a:endParaRPr lang="en-IN" sz="2000" dirty="0" smtClean="0"/>
          </a:p>
          <a:p>
            <a:endParaRPr lang="en-IN" sz="2000" dirty="0"/>
          </a:p>
          <a:p>
            <a:r>
              <a:rPr lang="en-IN" sz="2000" dirty="0" smtClean="0"/>
              <a:t>Ready Queue={(P1,BT=1,PR=2)}</a:t>
            </a:r>
            <a:endParaRPr lang="en-IN" sz="2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3102124"/>
            <a:ext cx="87630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321726" y="4005064"/>
            <a:ext cx="835292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 smtClean="0"/>
              <a:t>At time=1</a:t>
            </a:r>
            <a:r>
              <a:rPr lang="en-IN" sz="2000" dirty="0"/>
              <a:t>, P2 arrives. </a:t>
            </a:r>
            <a:endParaRPr lang="en-IN" sz="2000" dirty="0" smtClean="0"/>
          </a:p>
          <a:p>
            <a:r>
              <a:rPr lang="en-IN" sz="2000" dirty="0" smtClean="0"/>
              <a:t>P1 terminates</a:t>
            </a:r>
          </a:p>
          <a:p>
            <a:r>
              <a:rPr lang="en-IN" sz="2000" dirty="0" smtClean="0"/>
              <a:t>No </a:t>
            </a:r>
            <a:r>
              <a:rPr lang="en-IN" sz="2000" dirty="0"/>
              <a:t>other process is available at this time hence the Operating system has to schedule </a:t>
            </a:r>
            <a:r>
              <a:rPr lang="en-IN" sz="2000" dirty="0" smtClean="0"/>
              <a:t>P2 </a:t>
            </a:r>
            <a:r>
              <a:rPr lang="en-IN" sz="2000" dirty="0"/>
              <a:t>regardless of the priority assigned to it</a:t>
            </a:r>
            <a:r>
              <a:rPr lang="en-IN" sz="2000" dirty="0" smtClean="0"/>
              <a:t>.</a:t>
            </a:r>
          </a:p>
          <a:p>
            <a:r>
              <a:rPr lang="en-IN" sz="2000" dirty="0"/>
              <a:t>Ready Queue={(</a:t>
            </a:r>
            <a:r>
              <a:rPr lang="en-IN" sz="2000" dirty="0" smtClean="0"/>
              <a:t>P2,BT=7,PR=6)}</a:t>
            </a:r>
            <a:endParaRPr lang="en-IN" sz="2000" dirty="0"/>
          </a:p>
          <a:p>
            <a:endParaRPr lang="en-IN" sz="20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658" y="5754282"/>
            <a:ext cx="17621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1927150" y="476672"/>
            <a:ext cx="700633" cy="1584176"/>
          </a:xfrm>
          <a:prstGeom prst="rect">
            <a:avLst/>
          </a:prstGeom>
          <a:noFill/>
          <a:ln w="38100"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3059832" y="1196752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1582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46856" y="-16988"/>
            <a:ext cx="8229600" cy="576262"/>
          </a:xfrm>
        </p:spPr>
        <p:txBody>
          <a:bodyPr>
            <a:noAutofit/>
          </a:bodyPr>
          <a:lstStyle/>
          <a:p>
            <a:r>
              <a:rPr lang="en-IN" sz="2800" b="1" dirty="0" err="1"/>
              <a:t>Preemptive</a:t>
            </a:r>
            <a:r>
              <a:rPr lang="en-IN" sz="2800" b="1" dirty="0"/>
              <a:t> Priority Scheduling</a:t>
            </a:r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3951405"/>
              </p:ext>
            </p:extLst>
          </p:nvPr>
        </p:nvGraphicFramePr>
        <p:xfrm>
          <a:off x="323528" y="620688"/>
          <a:ext cx="3145736" cy="367240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873583"/>
                <a:gridCol w="782601"/>
                <a:gridCol w="720080"/>
                <a:gridCol w="769472"/>
              </a:tblGrid>
              <a:tr h="719035">
                <a:tc>
                  <a:txBody>
                    <a:bodyPr/>
                    <a:lstStyle/>
                    <a:p>
                      <a:r>
                        <a:rPr lang="en-IN" sz="1600" dirty="0"/>
                        <a:t>Process Id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Priority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Arrival Time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Burst Time</a:t>
                      </a:r>
                    </a:p>
                  </a:txBody>
                  <a:tcPr marL="89606" marR="89606" marT="44803" marB="44803" anchor="ctr"/>
                </a:tc>
              </a:tr>
              <a:tr h="421910"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2</a:t>
                      </a:r>
                      <a:endParaRPr lang="en-IN" sz="1600" dirty="0"/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0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1</a:t>
                      </a:r>
                    </a:p>
                  </a:txBody>
                  <a:tcPr marL="89606" marR="89606" marT="44803" marB="44803" anchor="ctr"/>
                </a:tc>
              </a:tr>
              <a:tr h="421910">
                <a:tc>
                  <a:txBody>
                    <a:bodyPr/>
                    <a:lstStyle/>
                    <a:p>
                      <a:r>
                        <a:rPr lang="en-IN" sz="1600"/>
                        <a:t>2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6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1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7</a:t>
                      </a:r>
                    </a:p>
                  </a:txBody>
                  <a:tcPr marL="89606" marR="89606" marT="44803" marB="44803" anchor="ctr"/>
                </a:tc>
              </a:tr>
              <a:tr h="421910">
                <a:tc>
                  <a:txBody>
                    <a:bodyPr/>
                    <a:lstStyle/>
                    <a:p>
                      <a:r>
                        <a:rPr lang="en-IN" sz="160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2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3</a:t>
                      </a:r>
                    </a:p>
                  </a:txBody>
                  <a:tcPr marL="89606" marR="89606" marT="44803" marB="44803" anchor="ctr"/>
                </a:tc>
              </a:tr>
              <a:tr h="421910">
                <a:tc>
                  <a:txBody>
                    <a:bodyPr/>
                    <a:lstStyle/>
                    <a:p>
                      <a:r>
                        <a:rPr lang="en-IN" sz="1600" dirty="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6</a:t>
                      </a:r>
                    </a:p>
                  </a:txBody>
                  <a:tcPr marL="89606" marR="89606" marT="44803" marB="44803" anchor="ctr"/>
                </a:tc>
              </a:tr>
              <a:tr h="421910">
                <a:tc>
                  <a:txBody>
                    <a:bodyPr/>
                    <a:lstStyle/>
                    <a:p>
                      <a:r>
                        <a:rPr lang="en-IN" sz="16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5</a:t>
                      </a:r>
                    </a:p>
                  </a:txBody>
                  <a:tcPr marL="89606" marR="89606" marT="44803" marB="44803" anchor="ctr"/>
                </a:tc>
              </a:tr>
              <a:tr h="421910">
                <a:tc>
                  <a:txBody>
                    <a:bodyPr/>
                    <a:lstStyle/>
                    <a:p>
                      <a:r>
                        <a:rPr lang="en-IN" sz="1600"/>
                        <a:t>6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10</a:t>
                      </a:r>
                      <a:endParaRPr lang="en-IN" sz="1600" dirty="0"/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15</a:t>
                      </a:r>
                    </a:p>
                  </a:txBody>
                  <a:tcPr marL="89606" marR="89606" marT="44803" marB="44803" anchor="ctr"/>
                </a:tc>
              </a:tr>
              <a:tr h="421910">
                <a:tc>
                  <a:txBody>
                    <a:bodyPr/>
                    <a:lstStyle/>
                    <a:p>
                      <a:r>
                        <a:rPr lang="en-IN" sz="1600"/>
                        <a:t>7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9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15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8</a:t>
                      </a:r>
                    </a:p>
                  </a:txBody>
                  <a:tcPr marL="89606" marR="89606" marT="44803" marB="44803" anchor="ctr"/>
                </a:tc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42003-CDA8-44DA-958F-C7A41D7F86A2}" type="datetime1">
              <a:rPr lang="en-IN" smtClean="0"/>
              <a:t>03-10-2022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10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3851920" y="950530"/>
            <a:ext cx="504056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 smtClean="0"/>
              <a:t>At Time=2</a:t>
            </a:r>
          </a:p>
          <a:p>
            <a:r>
              <a:rPr lang="en-IN" sz="2000" dirty="0" smtClean="0"/>
              <a:t>P3 arrives , </a:t>
            </a:r>
            <a:r>
              <a:rPr lang="en-IN" sz="2000" dirty="0"/>
              <a:t>the priority of P3 is higher to P2. </a:t>
            </a:r>
            <a:endParaRPr lang="en-IN" sz="2000" dirty="0" smtClean="0"/>
          </a:p>
          <a:p>
            <a:r>
              <a:rPr lang="en-IN" sz="2000" b="1" dirty="0"/>
              <a:t>Ready Queue={(P3,BT=3,PR=3)}</a:t>
            </a:r>
          </a:p>
          <a:p>
            <a:endParaRPr lang="en-IN" sz="2000" dirty="0" smtClean="0"/>
          </a:p>
          <a:p>
            <a:r>
              <a:rPr lang="en-IN" sz="2000" dirty="0" smtClean="0"/>
              <a:t>P2 with Remaining Time=6,PR=6</a:t>
            </a:r>
          </a:p>
          <a:p>
            <a:r>
              <a:rPr lang="en-IN" sz="2000" b="1" dirty="0" smtClean="0"/>
              <a:t>P2 </a:t>
            </a:r>
            <a:r>
              <a:rPr lang="en-IN" sz="2000" b="1" dirty="0"/>
              <a:t>is Pre-empted </a:t>
            </a:r>
          </a:p>
          <a:p>
            <a:r>
              <a:rPr lang="en-IN" sz="2000" b="1" dirty="0"/>
              <a:t>P3 is selected</a:t>
            </a:r>
          </a:p>
          <a:p>
            <a:endParaRPr lang="en-IN" sz="2000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5680670"/>
            <a:ext cx="234315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107504" y="1719972"/>
            <a:ext cx="2520279" cy="818510"/>
          </a:xfrm>
          <a:prstGeom prst="rect">
            <a:avLst/>
          </a:prstGeom>
          <a:noFill/>
          <a:ln w="38100"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3059832" y="1196752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419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46856" y="-16988"/>
            <a:ext cx="8229600" cy="576262"/>
          </a:xfrm>
        </p:spPr>
        <p:txBody>
          <a:bodyPr>
            <a:noAutofit/>
          </a:bodyPr>
          <a:lstStyle/>
          <a:p>
            <a:r>
              <a:rPr lang="en-IN" sz="2800" b="1" dirty="0" err="1"/>
              <a:t>Preemptive</a:t>
            </a:r>
            <a:r>
              <a:rPr lang="en-IN" sz="2800" b="1" dirty="0"/>
              <a:t> Priority Scheduling</a:t>
            </a:r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0120879"/>
              </p:ext>
            </p:extLst>
          </p:nvPr>
        </p:nvGraphicFramePr>
        <p:xfrm>
          <a:off x="323528" y="620684"/>
          <a:ext cx="3600400" cy="308000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999845"/>
                <a:gridCol w="895713"/>
                <a:gridCol w="824156"/>
                <a:gridCol w="880686"/>
              </a:tblGrid>
              <a:tr h="603045">
                <a:tc>
                  <a:txBody>
                    <a:bodyPr/>
                    <a:lstStyle/>
                    <a:p>
                      <a:r>
                        <a:rPr lang="en-IN" sz="1600" dirty="0"/>
                        <a:t>Process Id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Priority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Arrival Time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Burst Time</a:t>
                      </a:r>
                    </a:p>
                  </a:txBody>
                  <a:tcPr marL="89606" marR="89606" marT="44803" marB="44803" anchor="ctr"/>
                </a:tc>
              </a:tr>
              <a:tr h="353851"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2</a:t>
                      </a:r>
                      <a:endParaRPr lang="en-IN" sz="1600" dirty="0"/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1</a:t>
                      </a:r>
                    </a:p>
                  </a:txBody>
                  <a:tcPr marL="89606" marR="89606" marT="44803" marB="44803" anchor="ctr"/>
                </a:tc>
              </a:tr>
              <a:tr h="353851">
                <a:tc>
                  <a:txBody>
                    <a:bodyPr/>
                    <a:lstStyle/>
                    <a:p>
                      <a:r>
                        <a:rPr lang="en-IN" sz="1600"/>
                        <a:t>2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6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7</a:t>
                      </a:r>
                    </a:p>
                  </a:txBody>
                  <a:tcPr marL="89606" marR="89606" marT="44803" marB="44803" anchor="ctr"/>
                </a:tc>
              </a:tr>
              <a:tr h="353851">
                <a:tc>
                  <a:txBody>
                    <a:bodyPr/>
                    <a:lstStyle/>
                    <a:p>
                      <a:r>
                        <a:rPr lang="en-IN" sz="160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2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3</a:t>
                      </a:r>
                    </a:p>
                  </a:txBody>
                  <a:tcPr marL="89606" marR="89606" marT="44803" marB="44803" anchor="ctr"/>
                </a:tc>
              </a:tr>
              <a:tr h="353851">
                <a:tc>
                  <a:txBody>
                    <a:bodyPr/>
                    <a:lstStyle/>
                    <a:p>
                      <a:r>
                        <a:rPr lang="en-IN" sz="1600" dirty="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6</a:t>
                      </a:r>
                    </a:p>
                  </a:txBody>
                  <a:tcPr marL="89606" marR="89606" marT="44803" marB="44803" anchor="ctr"/>
                </a:tc>
              </a:tr>
              <a:tr h="353851">
                <a:tc>
                  <a:txBody>
                    <a:bodyPr/>
                    <a:lstStyle/>
                    <a:p>
                      <a:r>
                        <a:rPr lang="en-IN" sz="16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5</a:t>
                      </a:r>
                    </a:p>
                  </a:txBody>
                  <a:tcPr marL="89606" marR="89606" marT="44803" marB="44803" anchor="ctr"/>
                </a:tc>
              </a:tr>
              <a:tr h="353851">
                <a:tc>
                  <a:txBody>
                    <a:bodyPr/>
                    <a:lstStyle/>
                    <a:p>
                      <a:r>
                        <a:rPr lang="en-IN" sz="1600"/>
                        <a:t>6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10</a:t>
                      </a:r>
                      <a:endParaRPr lang="en-IN" sz="1600" dirty="0"/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15</a:t>
                      </a:r>
                    </a:p>
                  </a:txBody>
                  <a:tcPr marL="89606" marR="89606" marT="44803" marB="44803" anchor="ctr"/>
                </a:tc>
              </a:tr>
              <a:tr h="353851">
                <a:tc>
                  <a:txBody>
                    <a:bodyPr/>
                    <a:lstStyle/>
                    <a:p>
                      <a:r>
                        <a:rPr lang="en-IN" sz="1600"/>
                        <a:t>7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9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15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8</a:t>
                      </a:r>
                    </a:p>
                  </a:txBody>
                  <a:tcPr marL="89606" marR="89606" marT="44803" marB="44803" anchor="ctr"/>
                </a:tc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B7DB3-49AC-4FDA-AFCF-45F0770072A5}" type="datetime1">
              <a:rPr lang="en-IN" smtClean="0"/>
              <a:t>03-10-2022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11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323528" y="3803795"/>
            <a:ext cx="849694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 smtClean="0"/>
              <a:t>During </a:t>
            </a:r>
            <a:r>
              <a:rPr lang="en-IN" sz="2000" dirty="0"/>
              <a:t>the execution of P3, three more processes P4, P5 and P6 becomes available. </a:t>
            </a:r>
            <a:r>
              <a:rPr lang="en-IN" sz="2000" dirty="0" smtClean="0"/>
              <a:t> </a:t>
            </a:r>
          </a:p>
          <a:p>
            <a:r>
              <a:rPr lang="en-IN" sz="2000" b="1" dirty="0"/>
              <a:t>Ready Queue={(P2,Rem BT=6,PR=6), (P4, BT=6,PR=5), (P5,BT=5,PR=4</a:t>
            </a:r>
            <a:r>
              <a:rPr lang="en-IN" sz="2000" b="1" dirty="0" smtClean="0"/>
              <a:t>), (P6,BT=15,PR=10)}</a:t>
            </a:r>
            <a:endParaRPr lang="en-IN" sz="2000" b="1" dirty="0"/>
          </a:p>
          <a:p>
            <a:r>
              <a:rPr lang="en-IN" sz="2000" dirty="0" smtClean="0"/>
              <a:t>Since</a:t>
            </a:r>
            <a:r>
              <a:rPr lang="en-IN" sz="2000" dirty="0"/>
              <a:t>, all these three have the priority lower to </a:t>
            </a:r>
            <a:r>
              <a:rPr lang="en-IN" sz="2000" dirty="0" smtClean="0"/>
              <a:t>P3,</a:t>
            </a:r>
          </a:p>
          <a:p>
            <a:r>
              <a:rPr lang="en-IN" sz="2000" b="1" dirty="0" smtClean="0"/>
              <a:t>No pre-emption, P3 continues</a:t>
            </a:r>
          </a:p>
          <a:p>
            <a:r>
              <a:rPr lang="en-IN" sz="2000" b="1" dirty="0" smtClean="0"/>
              <a:t>P3 terminates</a:t>
            </a:r>
          </a:p>
          <a:p>
            <a:r>
              <a:rPr lang="en-IN" sz="2000" dirty="0" smtClean="0"/>
              <a:t>P5 </a:t>
            </a:r>
            <a:r>
              <a:rPr lang="en-IN" sz="2000" dirty="0"/>
              <a:t>will be scheduled with the priority highest among the available processes</a:t>
            </a:r>
            <a:r>
              <a:rPr lang="en-IN" sz="2000" dirty="0" smtClean="0"/>
              <a:t>.</a:t>
            </a:r>
          </a:p>
          <a:p>
            <a:endParaRPr lang="en-IN" sz="2000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010358"/>
            <a:ext cx="311467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127138" y="1916832"/>
            <a:ext cx="2520279" cy="1368152"/>
          </a:xfrm>
          <a:prstGeom prst="rect">
            <a:avLst/>
          </a:prstGeom>
          <a:noFill/>
          <a:ln w="38100"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3454784" y="1124744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454784" y="1916832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9561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46856" y="-16988"/>
            <a:ext cx="8229600" cy="576262"/>
          </a:xfrm>
        </p:spPr>
        <p:txBody>
          <a:bodyPr>
            <a:noAutofit/>
          </a:bodyPr>
          <a:lstStyle/>
          <a:p>
            <a:r>
              <a:rPr lang="en-IN" sz="2800" b="1" dirty="0" err="1"/>
              <a:t>Preemptive</a:t>
            </a:r>
            <a:r>
              <a:rPr lang="en-IN" sz="2800" b="1" dirty="0"/>
              <a:t> Priority Scheduling</a:t>
            </a:r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4137592"/>
              </p:ext>
            </p:extLst>
          </p:nvPr>
        </p:nvGraphicFramePr>
        <p:xfrm>
          <a:off x="323528" y="620688"/>
          <a:ext cx="3145736" cy="3960437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873583"/>
                <a:gridCol w="782601"/>
                <a:gridCol w="720080"/>
                <a:gridCol w="769472"/>
              </a:tblGrid>
              <a:tr h="775430">
                <a:tc>
                  <a:txBody>
                    <a:bodyPr/>
                    <a:lstStyle/>
                    <a:p>
                      <a:r>
                        <a:rPr lang="en-IN" sz="1400" dirty="0"/>
                        <a:t>Process Id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Priority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Arrival Time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Burst Time</a:t>
                      </a:r>
                    </a:p>
                  </a:txBody>
                  <a:tcPr marL="89606" marR="89606" marT="44803" marB="44803" anchor="ctr"/>
                </a:tc>
              </a:tr>
              <a:tr h="455001"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2</a:t>
                      </a:r>
                      <a:endParaRPr lang="en-IN" sz="1400" dirty="0"/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0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</a:t>
                      </a:r>
                    </a:p>
                  </a:txBody>
                  <a:tcPr marL="89606" marR="89606" marT="44803" marB="44803" anchor="ctr"/>
                </a:tc>
              </a:tr>
              <a:tr h="455001">
                <a:tc>
                  <a:txBody>
                    <a:bodyPr/>
                    <a:lstStyle/>
                    <a:p>
                      <a:r>
                        <a:rPr lang="en-IN" sz="1400"/>
                        <a:t>2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6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7</a:t>
                      </a:r>
                    </a:p>
                  </a:txBody>
                  <a:tcPr marL="89606" marR="89606" marT="44803" marB="44803" anchor="ctr"/>
                </a:tc>
              </a:tr>
              <a:tr h="455001">
                <a:tc>
                  <a:txBody>
                    <a:bodyPr/>
                    <a:lstStyle/>
                    <a:p>
                      <a:r>
                        <a:rPr lang="en-IN" sz="140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2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3</a:t>
                      </a:r>
                    </a:p>
                  </a:txBody>
                  <a:tcPr marL="89606" marR="89606" marT="44803" marB="44803" anchor="ctr"/>
                </a:tc>
              </a:tr>
              <a:tr h="455001">
                <a:tc>
                  <a:txBody>
                    <a:bodyPr/>
                    <a:lstStyle/>
                    <a:p>
                      <a:r>
                        <a:rPr lang="en-IN" sz="1400" dirty="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</a:t>
                      </a:r>
                    </a:p>
                  </a:txBody>
                  <a:tcPr marL="89606" marR="89606" marT="44803" marB="44803" anchor="ctr"/>
                </a:tc>
              </a:tr>
              <a:tr h="455001">
                <a:tc>
                  <a:txBody>
                    <a:bodyPr/>
                    <a:lstStyle/>
                    <a:p>
                      <a:r>
                        <a:rPr lang="en-IN" sz="14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5</a:t>
                      </a:r>
                    </a:p>
                  </a:txBody>
                  <a:tcPr marL="89606" marR="89606" marT="44803" marB="44803" anchor="ctr"/>
                </a:tc>
              </a:tr>
              <a:tr h="455001">
                <a:tc>
                  <a:txBody>
                    <a:bodyPr/>
                    <a:lstStyle/>
                    <a:p>
                      <a:r>
                        <a:rPr lang="en-IN" sz="1400"/>
                        <a:t>6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</a:t>
                      </a:r>
                      <a:endParaRPr lang="en-IN" sz="1400" dirty="0"/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15</a:t>
                      </a:r>
                    </a:p>
                  </a:txBody>
                  <a:tcPr marL="89606" marR="89606" marT="44803" marB="44803" anchor="ctr"/>
                </a:tc>
              </a:tr>
              <a:tr h="455001">
                <a:tc>
                  <a:txBody>
                    <a:bodyPr/>
                    <a:lstStyle/>
                    <a:p>
                      <a:r>
                        <a:rPr lang="en-IN" sz="1400"/>
                        <a:t>7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9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8</a:t>
                      </a:r>
                    </a:p>
                  </a:txBody>
                  <a:tcPr marL="89606" marR="89606" marT="44803" marB="44803" anchor="ctr"/>
                </a:tc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1D185-FA63-4A91-9431-39CB93F177A1}" type="datetime1">
              <a:rPr lang="en-IN" smtClean="0"/>
              <a:t>03-10-2022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12</a:t>
            </a:fld>
            <a:endParaRPr lang="en-IN"/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5477" y="4544621"/>
            <a:ext cx="38290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3664320" y="620688"/>
            <a:ext cx="5372176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/>
              <a:t>During the </a:t>
            </a:r>
            <a:r>
              <a:rPr lang="en-IN" dirty="0"/>
              <a:t>execution of P5, all the processes got available in the ready queue. At this point, the algorithm will start behaving as Non </a:t>
            </a:r>
            <a:r>
              <a:rPr lang="en-IN" dirty="0" err="1"/>
              <a:t>Preemptive</a:t>
            </a:r>
            <a:r>
              <a:rPr lang="en-IN" dirty="0"/>
              <a:t> Priority Scheduling. </a:t>
            </a:r>
            <a:endParaRPr lang="en-IN" dirty="0" smtClean="0"/>
          </a:p>
          <a:p>
            <a:endParaRPr lang="en-IN" dirty="0" smtClean="0"/>
          </a:p>
          <a:p>
            <a:r>
              <a:rPr lang="en-IN" b="1" dirty="0"/>
              <a:t>Ready Queue={(P2,Rem BT=6,PR=6), (P4, BT=6,PR=5), </a:t>
            </a:r>
            <a:r>
              <a:rPr lang="en-IN" b="1" dirty="0" smtClean="0"/>
              <a:t>(</a:t>
            </a:r>
            <a:r>
              <a:rPr lang="en-IN" b="1" dirty="0"/>
              <a:t>P6,BT=15,PR=10)}</a:t>
            </a:r>
          </a:p>
          <a:p>
            <a:endParaRPr lang="en-IN" dirty="0"/>
          </a:p>
          <a:p>
            <a:r>
              <a:rPr lang="en-IN" dirty="0" smtClean="0"/>
              <a:t>P5 terminates</a:t>
            </a:r>
          </a:p>
          <a:p>
            <a:endParaRPr lang="en-IN" dirty="0"/>
          </a:p>
          <a:p>
            <a:r>
              <a:rPr lang="en-IN" dirty="0" smtClean="0"/>
              <a:t>P4 selected with least priority in ready queue and </a:t>
            </a:r>
            <a:r>
              <a:rPr lang="en-IN" dirty="0"/>
              <a:t>will be executed till the completion</a:t>
            </a:r>
            <a:r>
              <a:rPr lang="en-IN" dirty="0" smtClean="0"/>
              <a:t>.</a:t>
            </a:r>
          </a:p>
          <a:p>
            <a:r>
              <a:rPr lang="en-IN" b="1" dirty="0" smtClean="0"/>
              <a:t>Ready </a:t>
            </a:r>
            <a:r>
              <a:rPr lang="en-IN" b="1" dirty="0"/>
              <a:t>Queue={(P2,Rem BT=6,PR=6</a:t>
            </a:r>
            <a:r>
              <a:rPr lang="en-IN" b="1" dirty="0" smtClean="0"/>
              <a:t>), </a:t>
            </a:r>
            <a:r>
              <a:rPr lang="en-IN" b="1" dirty="0"/>
              <a:t>(P6,BT=15,PR=10</a:t>
            </a:r>
            <a:r>
              <a:rPr lang="en-IN" b="1" dirty="0" smtClean="0"/>
              <a:t>)}</a:t>
            </a:r>
          </a:p>
          <a:p>
            <a:endParaRPr lang="en-IN" b="1" dirty="0"/>
          </a:p>
          <a:p>
            <a:endParaRPr lang="en-IN" b="1" dirty="0" smtClean="0"/>
          </a:p>
          <a:p>
            <a:endParaRPr lang="en-IN" b="1" dirty="0"/>
          </a:p>
          <a:p>
            <a:endParaRPr lang="en-IN" b="1" dirty="0" smtClean="0"/>
          </a:p>
          <a:p>
            <a:r>
              <a:rPr lang="en-IN" dirty="0"/>
              <a:t>P4 terminates</a:t>
            </a:r>
          </a:p>
          <a:p>
            <a:endParaRPr lang="en-IN" b="1" dirty="0"/>
          </a:p>
          <a:p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251520" y="2749654"/>
            <a:ext cx="2520279" cy="1368152"/>
          </a:xfrm>
          <a:prstGeom prst="rect">
            <a:avLst/>
          </a:prstGeom>
          <a:noFill/>
          <a:ln w="38100"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3059832" y="1249596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059832" y="2276872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059832" y="3121804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059832" y="2708920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2633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46856" y="-16988"/>
            <a:ext cx="8229600" cy="576262"/>
          </a:xfrm>
        </p:spPr>
        <p:txBody>
          <a:bodyPr>
            <a:noAutofit/>
          </a:bodyPr>
          <a:lstStyle/>
          <a:p>
            <a:r>
              <a:rPr lang="en-IN" sz="2800" b="1" dirty="0" err="1"/>
              <a:t>Preemptive</a:t>
            </a:r>
            <a:r>
              <a:rPr lang="en-IN" sz="2800" b="1" dirty="0"/>
              <a:t> Priority Scheduling</a:t>
            </a:r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1413575"/>
              </p:ext>
            </p:extLst>
          </p:nvPr>
        </p:nvGraphicFramePr>
        <p:xfrm>
          <a:off x="323528" y="620688"/>
          <a:ext cx="3145736" cy="393433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873583"/>
                <a:gridCol w="782601"/>
                <a:gridCol w="720080"/>
                <a:gridCol w="769472"/>
              </a:tblGrid>
              <a:tr h="775430">
                <a:tc>
                  <a:txBody>
                    <a:bodyPr/>
                    <a:lstStyle/>
                    <a:p>
                      <a:r>
                        <a:rPr lang="en-IN" sz="1400" dirty="0"/>
                        <a:t>Process Id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Priority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Arrival Time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Burst Time</a:t>
                      </a:r>
                    </a:p>
                  </a:txBody>
                  <a:tcPr marL="89606" marR="89606" marT="44803" marB="44803" anchor="ctr"/>
                </a:tc>
              </a:tr>
              <a:tr h="455001"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2</a:t>
                      </a:r>
                      <a:endParaRPr lang="en-IN" sz="1400" dirty="0"/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0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</a:t>
                      </a:r>
                    </a:p>
                  </a:txBody>
                  <a:tcPr marL="89606" marR="89606" marT="44803" marB="44803" anchor="ctr"/>
                </a:tc>
              </a:tr>
              <a:tr h="455001">
                <a:tc>
                  <a:txBody>
                    <a:bodyPr/>
                    <a:lstStyle/>
                    <a:p>
                      <a:r>
                        <a:rPr lang="en-IN" sz="1400"/>
                        <a:t>2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6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7</a:t>
                      </a:r>
                    </a:p>
                  </a:txBody>
                  <a:tcPr marL="89606" marR="89606" marT="44803" marB="44803" anchor="ctr"/>
                </a:tc>
              </a:tr>
              <a:tr h="455001">
                <a:tc>
                  <a:txBody>
                    <a:bodyPr/>
                    <a:lstStyle/>
                    <a:p>
                      <a:r>
                        <a:rPr lang="en-IN" sz="140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2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3</a:t>
                      </a:r>
                    </a:p>
                  </a:txBody>
                  <a:tcPr marL="89606" marR="89606" marT="44803" marB="44803" anchor="ctr"/>
                </a:tc>
              </a:tr>
              <a:tr h="455001">
                <a:tc>
                  <a:txBody>
                    <a:bodyPr/>
                    <a:lstStyle/>
                    <a:p>
                      <a:r>
                        <a:rPr lang="en-IN" sz="1400" dirty="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</a:t>
                      </a:r>
                    </a:p>
                  </a:txBody>
                  <a:tcPr marL="89606" marR="89606" marT="44803" marB="44803" anchor="ctr"/>
                </a:tc>
              </a:tr>
              <a:tr h="428902">
                <a:tc>
                  <a:txBody>
                    <a:bodyPr/>
                    <a:lstStyle/>
                    <a:p>
                      <a:r>
                        <a:rPr lang="en-IN" sz="14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5</a:t>
                      </a:r>
                    </a:p>
                  </a:txBody>
                  <a:tcPr marL="89606" marR="89606" marT="44803" marB="44803" anchor="ctr"/>
                </a:tc>
              </a:tr>
              <a:tr h="455001">
                <a:tc>
                  <a:txBody>
                    <a:bodyPr/>
                    <a:lstStyle/>
                    <a:p>
                      <a:r>
                        <a:rPr lang="en-IN" sz="1400"/>
                        <a:t>6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</a:t>
                      </a:r>
                      <a:endParaRPr lang="en-IN" sz="1400" dirty="0"/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15</a:t>
                      </a:r>
                    </a:p>
                  </a:txBody>
                  <a:tcPr marL="89606" marR="89606" marT="44803" marB="44803" anchor="ctr"/>
                </a:tc>
              </a:tr>
              <a:tr h="455001">
                <a:tc>
                  <a:txBody>
                    <a:bodyPr/>
                    <a:lstStyle/>
                    <a:p>
                      <a:r>
                        <a:rPr lang="en-IN" sz="1400"/>
                        <a:t>7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9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8</a:t>
                      </a:r>
                    </a:p>
                  </a:txBody>
                  <a:tcPr marL="89606" marR="89606" marT="44803" marB="44803" anchor="ctr"/>
                </a:tc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1D185-FA63-4A91-9431-39CB93F177A1}" type="datetime1">
              <a:rPr lang="en-IN" smtClean="0"/>
              <a:t>03-10-2022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13</a:t>
            </a:fld>
            <a:endParaRPr lang="en-IN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6997" y="3419754"/>
            <a:ext cx="5616624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3635897" y="476671"/>
            <a:ext cx="537217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/>
              <a:t>Ready </a:t>
            </a:r>
            <a:r>
              <a:rPr lang="en-IN" b="1" dirty="0"/>
              <a:t>Queue={(P2,Rem BT=6,PR=6</a:t>
            </a:r>
            <a:r>
              <a:rPr lang="en-IN" b="1" dirty="0" smtClean="0"/>
              <a:t>), </a:t>
            </a:r>
            <a:r>
              <a:rPr lang="en-IN" b="1" dirty="0"/>
              <a:t>(P6,BT=15,PR=10)}</a:t>
            </a:r>
          </a:p>
          <a:p>
            <a:r>
              <a:rPr lang="en-IN" dirty="0"/>
              <a:t>P2 is </a:t>
            </a:r>
            <a:r>
              <a:rPr lang="en-IN" dirty="0" smtClean="0"/>
              <a:t>selected,</a:t>
            </a:r>
            <a:r>
              <a:rPr lang="en-IN" b="1" dirty="0"/>
              <a:t> as it has highest priority</a:t>
            </a:r>
            <a:endParaRPr lang="en-IN" dirty="0" smtClean="0"/>
          </a:p>
          <a:p>
            <a:endParaRPr lang="en-IN" dirty="0" smtClean="0"/>
          </a:p>
          <a:p>
            <a:r>
              <a:rPr lang="en-IN" dirty="0" smtClean="0"/>
              <a:t>At time=15, P7 arrives</a:t>
            </a:r>
          </a:p>
          <a:p>
            <a:r>
              <a:rPr lang="en-IN" b="1" dirty="0"/>
              <a:t>Ready Queue</a:t>
            </a:r>
            <a:r>
              <a:rPr lang="en-IN" b="1" dirty="0" smtClean="0"/>
              <a:t>={(</a:t>
            </a:r>
            <a:r>
              <a:rPr lang="en-IN" b="1" dirty="0"/>
              <a:t>P6,BT=15,PR=10</a:t>
            </a:r>
            <a:r>
              <a:rPr lang="en-IN" b="1" dirty="0" smtClean="0"/>
              <a:t>),(P7,BT=8,PR=9}</a:t>
            </a:r>
          </a:p>
          <a:p>
            <a:r>
              <a:rPr lang="en-IN" b="1" dirty="0" smtClean="0"/>
              <a:t>No pre-emption, PR of P7&lt;PR of P2</a:t>
            </a:r>
          </a:p>
          <a:p>
            <a:r>
              <a:rPr lang="en-IN" b="1" dirty="0" smtClean="0"/>
              <a:t>P2 continues </a:t>
            </a:r>
          </a:p>
          <a:p>
            <a:r>
              <a:rPr lang="en-IN" b="1" dirty="0" smtClean="0"/>
              <a:t>P2 terminates</a:t>
            </a:r>
          </a:p>
          <a:p>
            <a:endParaRPr lang="en-IN" b="1" dirty="0"/>
          </a:p>
          <a:p>
            <a:endParaRPr lang="en-IN" b="1" dirty="0" smtClean="0"/>
          </a:p>
          <a:p>
            <a:endParaRPr lang="en-IN" b="1" dirty="0"/>
          </a:p>
          <a:p>
            <a:endParaRPr lang="en-IN" b="1" dirty="0" smtClean="0"/>
          </a:p>
          <a:p>
            <a:endParaRPr lang="en-IN" dirty="0" smtClean="0"/>
          </a:p>
        </p:txBody>
      </p:sp>
      <p:sp>
        <p:nvSpPr>
          <p:cNvPr id="11" name="Rectangle 10"/>
          <p:cNvSpPr/>
          <p:nvPr/>
        </p:nvSpPr>
        <p:spPr>
          <a:xfrm>
            <a:off x="251520" y="2749654"/>
            <a:ext cx="2520279" cy="1368152"/>
          </a:xfrm>
          <a:prstGeom prst="rect">
            <a:avLst/>
          </a:prstGeom>
          <a:noFill/>
          <a:ln w="38100"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3059832" y="1340768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059832" y="2276872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059832" y="2761764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059832" y="3193812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059832" y="1844824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0504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46856" y="-16988"/>
            <a:ext cx="8229600" cy="576262"/>
          </a:xfrm>
        </p:spPr>
        <p:txBody>
          <a:bodyPr>
            <a:noAutofit/>
          </a:bodyPr>
          <a:lstStyle/>
          <a:p>
            <a:r>
              <a:rPr lang="en-IN" sz="2800" b="1" dirty="0" err="1"/>
              <a:t>Preemptive</a:t>
            </a:r>
            <a:r>
              <a:rPr lang="en-IN" sz="2800" b="1" dirty="0"/>
              <a:t> Priority Scheduling</a:t>
            </a:r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1655928"/>
              </p:ext>
            </p:extLst>
          </p:nvPr>
        </p:nvGraphicFramePr>
        <p:xfrm>
          <a:off x="323528" y="620688"/>
          <a:ext cx="3145736" cy="263708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873583"/>
                <a:gridCol w="782601"/>
                <a:gridCol w="720080"/>
                <a:gridCol w="769472"/>
              </a:tblGrid>
              <a:tr h="243027">
                <a:tc>
                  <a:txBody>
                    <a:bodyPr/>
                    <a:lstStyle/>
                    <a:p>
                      <a:r>
                        <a:rPr lang="en-IN" sz="1400" dirty="0"/>
                        <a:t>Process Id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Priority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Arrival Time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Burst Time</a:t>
                      </a:r>
                    </a:p>
                  </a:txBody>
                  <a:tcPr marL="89606" marR="89606" marT="44803" marB="44803" anchor="ctr"/>
                </a:tc>
              </a:tr>
              <a:tr h="243027"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2</a:t>
                      </a:r>
                      <a:endParaRPr lang="en-IN" sz="1400" dirty="0"/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0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</a:t>
                      </a:r>
                    </a:p>
                  </a:txBody>
                  <a:tcPr marL="89606" marR="89606" marT="44803" marB="44803" anchor="ctr"/>
                </a:tc>
              </a:tr>
              <a:tr h="243027">
                <a:tc>
                  <a:txBody>
                    <a:bodyPr/>
                    <a:lstStyle/>
                    <a:p>
                      <a:r>
                        <a:rPr lang="en-IN" sz="1400"/>
                        <a:t>2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6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7</a:t>
                      </a:r>
                    </a:p>
                  </a:txBody>
                  <a:tcPr marL="89606" marR="89606" marT="44803" marB="44803" anchor="ctr"/>
                </a:tc>
              </a:tr>
              <a:tr h="243027">
                <a:tc>
                  <a:txBody>
                    <a:bodyPr/>
                    <a:lstStyle/>
                    <a:p>
                      <a:r>
                        <a:rPr lang="en-IN" sz="140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2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3</a:t>
                      </a:r>
                    </a:p>
                  </a:txBody>
                  <a:tcPr marL="89606" marR="89606" marT="44803" marB="44803" anchor="ctr"/>
                </a:tc>
              </a:tr>
              <a:tr h="243027">
                <a:tc>
                  <a:txBody>
                    <a:bodyPr/>
                    <a:lstStyle/>
                    <a:p>
                      <a:r>
                        <a:rPr lang="en-IN" sz="1400" dirty="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</a:t>
                      </a:r>
                    </a:p>
                  </a:txBody>
                  <a:tcPr marL="89606" marR="89606" marT="44803" marB="44803" anchor="ctr"/>
                </a:tc>
              </a:tr>
              <a:tr h="243027">
                <a:tc>
                  <a:txBody>
                    <a:bodyPr/>
                    <a:lstStyle/>
                    <a:p>
                      <a:r>
                        <a:rPr lang="en-IN" sz="14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5</a:t>
                      </a:r>
                    </a:p>
                  </a:txBody>
                  <a:tcPr marL="89606" marR="89606" marT="44803" marB="44803" anchor="ctr"/>
                </a:tc>
              </a:tr>
              <a:tr h="243027">
                <a:tc>
                  <a:txBody>
                    <a:bodyPr/>
                    <a:lstStyle/>
                    <a:p>
                      <a:r>
                        <a:rPr lang="en-IN" sz="1400"/>
                        <a:t>6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</a:t>
                      </a:r>
                      <a:endParaRPr lang="en-IN" sz="1400" dirty="0"/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15</a:t>
                      </a:r>
                    </a:p>
                  </a:txBody>
                  <a:tcPr marL="89606" marR="89606" marT="44803" marB="44803" anchor="ctr"/>
                </a:tc>
              </a:tr>
              <a:tr h="243027">
                <a:tc>
                  <a:txBody>
                    <a:bodyPr/>
                    <a:lstStyle/>
                    <a:p>
                      <a:r>
                        <a:rPr lang="en-IN" sz="1400"/>
                        <a:t>7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9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8</a:t>
                      </a:r>
                    </a:p>
                  </a:txBody>
                  <a:tcPr marL="89606" marR="89606" marT="44803" marB="44803" anchor="ctr"/>
                </a:tc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5CF1E-D285-4E16-8A7D-24CEADC28772}" type="datetime1">
              <a:rPr lang="en-IN" smtClean="0"/>
              <a:t>03-10-2022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14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323528" y="3501008"/>
            <a:ext cx="82809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The only remaining process is P6 with the least priority, </a:t>
            </a:r>
            <a:r>
              <a:rPr lang="en-IN" dirty="0" smtClean="0"/>
              <a:t>will </a:t>
            </a:r>
            <a:r>
              <a:rPr lang="en-IN" dirty="0"/>
              <a:t>be executed at the last.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4581128"/>
            <a:ext cx="601027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3635896" y="692696"/>
            <a:ext cx="525658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/>
              <a:t>Ready Queue={(P6,BT=15,PR=10),(P7,BT=8,PR=9}</a:t>
            </a:r>
          </a:p>
          <a:p>
            <a:endParaRPr lang="en-IN" dirty="0" smtClean="0"/>
          </a:p>
          <a:p>
            <a:r>
              <a:rPr lang="en-IN" dirty="0" smtClean="0"/>
              <a:t>P7 will be selected</a:t>
            </a:r>
            <a:endParaRPr lang="en-IN" dirty="0"/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920" y="2708920"/>
            <a:ext cx="52768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3059832" y="1045271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059832" y="1568491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059832" y="1857632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059832" y="2165586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059832" y="1306881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059832" y="2545740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059832" y="2852936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194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46856" y="-16988"/>
            <a:ext cx="8229600" cy="576262"/>
          </a:xfrm>
        </p:spPr>
        <p:txBody>
          <a:bodyPr>
            <a:noAutofit/>
          </a:bodyPr>
          <a:lstStyle/>
          <a:p>
            <a:r>
              <a:rPr lang="en-IN" sz="2800" b="1" dirty="0" err="1"/>
              <a:t>Preemptive</a:t>
            </a:r>
            <a:r>
              <a:rPr lang="en-IN" sz="2800" b="1" dirty="0"/>
              <a:t> Priority Scheduling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8C6E-8524-4740-975E-5DF02C573017}" type="datetime1">
              <a:rPr lang="en-IN" smtClean="0"/>
              <a:t>03-10-2022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15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323528" y="3501008"/>
            <a:ext cx="828092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Turnaround Time = Completion Time - Arrival Time   </a:t>
            </a:r>
          </a:p>
          <a:p>
            <a:r>
              <a:rPr lang="en-IN" dirty="0"/>
              <a:t>Waiting Time = Turn Around Time - Burst Time  </a:t>
            </a:r>
            <a:r>
              <a:rPr lang="en-IN" dirty="0" smtClean="0"/>
              <a:t>or Sum of times spent in Ready queue</a:t>
            </a:r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r>
              <a:rPr lang="en-IN" dirty="0"/>
              <a:t>     </a:t>
            </a:r>
            <a:r>
              <a:rPr lang="en-IN" dirty="0" err="1"/>
              <a:t>Avg</a:t>
            </a:r>
            <a:r>
              <a:rPr lang="en-IN" dirty="0"/>
              <a:t> Waiting Time = (0+14+0+7+1+25+16)/7 = 63/7 = 9 units 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580627"/>
              </p:ext>
            </p:extLst>
          </p:nvPr>
        </p:nvGraphicFramePr>
        <p:xfrm>
          <a:off x="374849" y="836712"/>
          <a:ext cx="8229599" cy="23774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7"/>
              </a:tblGrid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Process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Priority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Arrival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Burst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Completion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Turn around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Waiting Time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14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7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12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25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120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16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234988"/>
            <a:ext cx="601027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354717" y="6031160"/>
            <a:ext cx="81369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/>
              <a:t>https://www.javatpoint.com/os-preemptive-priority-scheduling</a:t>
            </a:r>
          </a:p>
        </p:txBody>
      </p:sp>
    </p:spTree>
    <p:extLst>
      <p:ext uri="{BB962C8B-B14F-4D97-AF65-F5344CB8AC3E}">
        <p14:creationId xmlns:p14="http://schemas.microsoft.com/office/powerpoint/2010/main" val="2915938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262" y="2215356"/>
            <a:ext cx="5705475" cy="329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77367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57" y="1600200"/>
            <a:ext cx="8050085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905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849</Words>
  <Application>Microsoft Office PowerPoint</Application>
  <PresentationFormat>On-screen Show (4:3)</PresentationFormat>
  <Paragraphs>516</Paragraphs>
  <Slides>17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Preemptive Examples for Lab</vt:lpstr>
      <vt:lpstr>Example for Preemptive SJF (SRTF)</vt:lpstr>
      <vt:lpstr>Example for Preemptive SJF (SRTF)</vt:lpstr>
      <vt:lpstr>Example for Preemptive SJF (SRTF)</vt:lpstr>
      <vt:lpstr>Example of Shortest-remaining-time-first</vt:lpstr>
      <vt:lpstr>Example of Shortest-remaining-time-first</vt:lpstr>
      <vt:lpstr>Example of RR with Time Quantum = 4</vt:lpstr>
      <vt:lpstr>Preemptive Priority Scheduling</vt:lpstr>
      <vt:lpstr>Preemptive Priority Scheduling</vt:lpstr>
      <vt:lpstr>Preemptive Priority Scheduling</vt:lpstr>
      <vt:lpstr>Preemptive Priority Scheduling</vt:lpstr>
      <vt:lpstr>Preemptive Priority Scheduling</vt:lpstr>
      <vt:lpstr>Preemptive Priority Scheduling</vt:lpstr>
      <vt:lpstr>Preemptive Priority Scheduling</vt:lpstr>
      <vt:lpstr>Preemptive Priority Scheduling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Preemptive Examples for Lab</dc:title>
  <dc:creator>Admin</dc:creator>
  <cp:lastModifiedBy>Admin</cp:lastModifiedBy>
  <cp:revision>6</cp:revision>
  <dcterms:created xsi:type="dcterms:W3CDTF">2020-09-10T10:46:19Z</dcterms:created>
  <dcterms:modified xsi:type="dcterms:W3CDTF">2022-10-03T06:10:09Z</dcterms:modified>
</cp:coreProperties>
</file>
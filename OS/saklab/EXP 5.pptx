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307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93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30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155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08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5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9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07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468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EA902-20B8-4592-B10A-10E47B74309E}" type="datetimeFigureOut">
              <a:rPr lang="en-US" smtClean="0"/>
              <a:t>10/9/2020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A88FFC-60CF-492E-B055-0DE6A2F2C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16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EXP 5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56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Marcellus"/>
              </a:rPr>
              <a:t>A </a:t>
            </a:r>
            <a:r>
              <a:rPr lang="en-US" sz="2400" dirty="0">
                <a:latin typeface="Marcellus"/>
              </a:rPr>
              <a:t>synchronization tool </a:t>
            </a:r>
          </a:p>
          <a:p>
            <a:r>
              <a:rPr lang="en-US" sz="2400" dirty="0">
                <a:latin typeface="Marcellus"/>
              </a:rPr>
              <a:t>A semaphore S is </a:t>
            </a:r>
            <a:r>
              <a:rPr lang="en-US" sz="2400" dirty="0">
                <a:solidFill>
                  <a:srgbClr val="C00000"/>
                </a:solidFill>
                <a:latin typeface="Marcellus"/>
              </a:rPr>
              <a:t>an integer variable </a:t>
            </a:r>
            <a:r>
              <a:rPr lang="en-US" sz="2400" dirty="0">
                <a:latin typeface="Marcellus"/>
              </a:rPr>
              <a:t>that, </a:t>
            </a:r>
            <a:endParaRPr lang="en-US" sz="2400" dirty="0" smtClean="0">
              <a:latin typeface="Marcellus"/>
            </a:endParaRPr>
          </a:p>
          <a:p>
            <a:pPr lvl="1"/>
            <a:r>
              <a:rPr lang="en-US" dirty="0" smtClean="0">
                <a:latin typeface="Marcellus"/>
              </a:rPr>
              <a:t>apart </a:t>
            </a:r>
            <a:r>
              <a:rPr lang="en-US" dirty="0">
                <a:latin typeface="Marcellus"/>
              </a:rPr>
              <a:t>from initialization, </a:t>
            </a:r>
            <a:endParaRPr lang="en-US" dirty="0" smtClean="0">
              <a:latin typeface="Marcellus"/>
            </a:endParaRPr>
          </a:p>
          <a:p>
            <a:pPr lvl="1"/>
            <a:r>
              <a:rPr lang="en-US" dirty="0" smtClean="0">
                <a:latin typeface="Marcellus"/>
              </a:rPr>
              <a:t>is accessed </a:t>
            </a:r>
            <a:r>
              <a:rPr lang="en-US" dirty="0">
                <a:latin typeface="Marcellus"/>
              </a:rPr>
              <a:t>only through two standard atomic operations: </a:t>
            </a:r>
            <a:endParaRPr lang="en-US" dirty="0" smtClean="0">
              <a:latin typeface="Marcellus"/>
            </a:endParaRPr>
          </a:p>
          <a:p>
            <a:pPr lvl="2"/>
            <a:r>
              <a:rPr lang="en-US" sz="2400" dirty="0" smtClean="0">
                <a:latin typeface="Marcellus"/>
              </a:rPr>
              <a:t>wait </a:t>
            </a:r>
            <a:r>
              <a:rPr lang="en-US" sz="2400" dirty="0">
                <a:latin typeface="Marcellus"/>
              </a:rPr>
              <a:t>() and </a:t>
            </a:r>
            <a:endParaRPr lang="en-US" sz="2400" dirty="0" smtClean="0">
              <a:latin typeface="Marcellus"/>
            </a:endParaRPr>
          </a:p>
          <a:p>
            <a:pPr lvl="2"/>
            <a:r>
              <a:rPr lang="en-US" sz="2400" dirty="0" smtClean="0">
                <a:latin typeface="Marcellus"/>
              </a:rPr>
              <a:t>signal </a:t>
            </a:r>
            <a:r>
              <a:rPr lang="en-US" sz="2400" dirty="0">
                <a:latin typeface="Marcellus"/>
              </a:rPr>
              <a:t>().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Marcellus"/>
              </a:rPr>
              <a:t>wait </a:t>
            </a:r>
            <a:r>
              <a:rPr lang="en-US" dirty="0">
                <a:solidFill>
                  <a:srgbClr val="C00000"/>
                </a:solidFill>
                <a:latin typeface="Marcellus"/>
              </a:rPr>
              <a:t>() operation </a:t>
            </a:r>
            <a:r>
              <a:rPr lang="en-US" dirty="0" smtClean="0">
                <a:solidFill>
                  <a:srgbClr val="C00000"/>
                </a:solidFill>
                <a:latin typeface="Marcellus"/>
              </a:rPr>
              <a:t>= originally </a:t>
            </a:r>
            <a:r>
              <a:rPr lang="en-US" dirty="0">
                <a:solidFill>
                  <a:srgbClr val="C00000"/>
                </a:solidFill>
                <a:latin typeface="Marcellus"/>
              </a:rPr>
              <a:t>termed P </a:t>
            </a:r>
            <a:endParaRPr lang="en-US" dirty="0" smtClean="0">
              <a:solidFill>
                <a:srgbClr val="C00000"/>
              </a:solidFill>
              <a:latin typeface="Marcellus"/>
            </a:endParaRPr>
          </a:p>
          <a:p>
            <a:pPr lvl="2"/>
            <a:r>
              <a:rPr lang="en-US" sz="2400" dirty="0" smtClean="0">
                <a:latin typeface="Marcellus"/>
              </a:rPr>
              <a:t>from </a:t>
            </a:r>
            <a:r>
              <a:rPr lang="en-US" sz="2400" dirty="0">
                <a:latin typeface="Marcellus"/>
              </a:rPr>
              <a:t>the Dutch </a:t>
            </a:r>
            <a:r>
              <a:rPr lang="en-US" sz="2400" i="1" dirty="0" err="1">
                <a:latin typeface="Marcellus"/>
              </a:rPr>
              <a:t>proberen</a:t>
            </a:r>
            <a:r>
              <a:rPr lang="en-US" sz="2400" i="1" dirty="0" smtClean="0">
                <a:latin typeface="Marcellus"/>
              </a:rPr>
              <a:t>,</a:t>
            </a:r>
          </a:p>
          <a:p>
            <a:pPr lvl="2"/>
            <a:r>
              <a:rPr lang="en-US" sz="2400" i="1" dirty="0" smtClean="0">
                <a:latin typeface="Marcellus"/>
              </a:rPr>
              <a:t>Meaning  </a:t>
            </a:r>
            <a:r>
              <a:rPr lang="en-US" sz="2400" dirty="0">
                <a:latin typeface="Marcellus"/>
              </a:rPr>
              <a:t>"</a:t>
            </a:r>
            <a:r>
              <a:rPr lang="en-US" sz="2400" dirty="0" smtClean="0">
                <a:latin typeface="Marcellus"/>
              </a:rPr>
              <a:t>to test“ or “to attempt” 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Marcellus"/>
              </a:rPr>
              <a:t>signal() operation = originally </a:t>
            </a:r>
            <a:r>
              <a:rPr lang="en-US" dirty="0">
                <a:solidFill>
                  <a:srgbClr val="C00000"/>
                </a:solidFill>
                <a:latin typeface="Marcellus"/>
              </a:rPr>
              <a:t>called V </a:t>
            </a:r>
            <a:endParaRPr lang="en-US" dirty="0" smtClean="0">
              <a:solidFill>
                <a:srgbClr val="C00000"/>
              </a:solidFill>
              <a:latin typeface="Marcellus"/>
            </a:endParaRPr>
          </a:p>
          <a:p>
            <a:pPr lvl="2"/>
            <a:r>
              <a:rPr lang="en-US" sz="2400" dirty="0" smtClean="0">
                <a:latin typeface="Marcellus"/>
              </a:rPr>
              <a:t>from </a:t>
            </a:r>
            <a:r>
              <a:rPr lang="en-US" sz="2400" i="1" dirty="0" err="1">
                <a:latin typeface="Marcellus"/>
              </a:rPr>
              <a:t>verhogen</a:t>
            </a:r>
            <a:r>
              <a:rPr lang="en-US" sz="2400" i="1" dirty="0">
                <a:latin typeface="Marcellus"/>
              </a:rPr>
              <a:t>, </a:t>
            </a:r>
            <a:endParaRPr lang="en-US" sz="2400" i="1" dirty="0" smtClean="0">
              <a:latin typeface="Marcellus"/>
            </a:endParaRPr>
          </a:p>
          <a:p>
            <a:pPr lvl="2"/>
            <a:r>
              <a:rPr lang="en-US" sz="2400" i="1" dirty="0" smtClean="0">
                <a:latin typeface="Marcellus"/>
              </a:rPr>
              <a:t>Meaning  </a:t>
            </a:r>
            <a:r>
              <a:rPr lang="en-US" sz="2400" dirty="0" smtClean="0">
                <a:latin typeface="Marcellus"/>
              </a:rPr>
              <a:t>"to </a:t>
            </a:r>
            <a:r>
              <a:rPr lang="en-US" sz="2400" dirty="0">
                <a:latin typeface="Marcellus"/>
              </a:rPr>
              <a:t>increment</a:t>
            </a:r>
            <a:r>
              <a:rPr lang="en-US" sz="2400" dirty="0" smtClean="0">
                <a:latin typeface="Marcellus"/>
              </a:rPr>
              <a:t>" </a:t>
            </a:r>
            <a:endParaRPr lang="en-US" sz="2400" dirty="0" smtClean="0">
              <a:latin typeface="Marcellus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370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Classical Definition of Wait-</a:t>
            </a:r>
          </a:p>
          <a:p>
            <a:pPr marL="3200400" lvl="7" indent="0">
              <a:buNone/>
            </a:pPr>
            <a:endParaRPr lang="en-US" sz="2000" dirty="0" smtClean="0"/>
          </a:p>
          <a:p>
            <a:pPr marL="3200400" lvl="7" indent="0">
              <a:buNone/>
            </a:pPr>
            <a:r>
              <a:rPr lang="en-US" sz="2400" dirty="0" smtClean="0"/>
              <a:t>wait(S</a:t>
            </a:r>
            <a:r>
              <a:rPr lang="en-US" sz="2400" dirty="0"/>
              <a:t>) {</a:t>
            </a:r>
          </a:p>
          <a:p>
            <a:pPr marL="3200400" lvl="7" indent="0">
              <a:buNone/>
            </a:pPr>
            <a:r>
              <a:rPr lang="en-US" sz="2400" dirty="0" smtClean="0"/>
              <a:t>while </a:t>
            </a:r>
            <a:r>
              <a:rPr lang="en-US" sz="2400" dirty="0"/>
              <a:t>S &lt;= 0</a:t>
            </a:r>
          </a:p>
          <a:p>
            <a:pPr marL="3200400" lvl="7" indent="0">
              <a:buNone/>
            </a:pPr>
            <a:r>
              <a:rPr lang="en-US" sz="2400" i="1" dirty="0" smtClean="0"/>
              <a:t>;  II </a:t>
            </a:r>
            <a:r>
              <a:rPr lang="en-US" sz="2400" dirty="0"/>
              <a:t>no-op</a:t>
            </a:r>
          </a:p>
          <a:p>
            <a:pPr marL="3200400" lvl="7" indent="0">
              <a:buNone/>
            </a:pPr>
            <a:r>
              <a:rPr lang="en-US" sz="2400" dirty="0"/>
              <a:t>s-</a:t>
            </a:r>
            <a:r>
              <a:rPr lang="en-US" sz="2400" dirty="0" smtClean="0"/>
              <a:t>-;</a:t>
            </a:r>
          </a:p>
          <a:p>
            <a:pPr marL="3200400" lvl="7" indent="0">
              <a:buNone/>
            </a:pPr>
            <a:r>
              <a:rPr lang="en-US" sz="2400" dirty="0" smtClean="0"/>
              <a:t>}</a:t>
            </a:r>
          </a:p>
          <a:p>
            <a:pPr marL="3200400" lvl="7" indent="0">
              <a:buNone/>
            </a:pPr>
            <a:endParaRPr lang="en-US" sz="20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testing </a:t>
            </a:r>
            <a:r>
              <a:rPr lang="en-US" sz="2400" dirty="0" smtClean="0"/>
              <a:t>of the </a:t>
            </a:r>
            <a:r>
              <a:rPr lang="en-US" sz="2400" dirty="0"/>
              <a:t>integer value of S (</a:t>
            </a:r>
            <a:r>
              <a:rPr lang="en-US" sz="2400" dirty="0" smtClean="0"/>
              <a:t>S&lt;=0</a:t>
            </a:r>
            <a:r>
              <a:rPr lang="en-US" sz="2400" dirty="0"/>
              <a:t>), as well as its possible modification (S--), </a:t>
            </a:r>
            <a:r>
              <a:rPr lang="en-US" sz="2400" dirty="0" smtClean="0"/>
              <a:t>must be </a:t>
            </a:r>
            <a:r>
              <a:rPr lang="en-US" sz="2400" dirty="0"/>
              <a:t>executed without interruption.</a:t>
            </a:r>
          </a:p>
          <a:p>
            <a:pPr marL="3200400" lvl="7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38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Classical Definition of </a:t>
            </a:r>
            <a:r>
              <a:rPr lang="en-US" sz="2400" dirty="0" smtClean="0"/>
              <a:t>Signal-</a:t>
            </a:r>
            <a:endParaRPr lang="en-US" sz="2400" dirty="0"/>
          </a:p>
          <a:p>
            <a:pPr marL="3200400" lvl="7" indent="0">
              <a:buNone/>
            </a:pPr>
            <a:endParaRPr lang="en-US" sz="2400" dirty="0" smtClean="0"/>
          </a:p>
          <a:p>
            <a:pPr marL="3200400" lvl="7" indent="0">
              <a:buNone/>
            </a:pPr>
            <a:r>
              <a:rPr lang="en-US" sz="2400" dirty="0" smtClean="0"/>
              <a:t>signal(S</a:t>
            </a:r>
            <a:r>
              <a:rPr lang="en-US" sz="2400" dirty="0"/>
              <a:t>) {</a:t>
            </a:r>
          </a:p>
          <a:p>
            <a:pPr marL="3200400" lvl="7" indent="0">
              <a:buNone/>
            </a:pPr>
            <a:r>
              <a:rPr lang="en-US" sz="2400" dirty="0"/>
              <a:t>S++;</a:t>
            </a:r>
          </a:p>
          <a:p>
            <a:pPr marL="3200400" lvl="7" indent="0">
              <a:buNone/>
            </a:pPr>
            <a:r>
              <a:rPr lang="en-US" sz="2400" dirty="0" smtClean="0"/>
              <a:t>}</a:t>
            </a:r>
          </a:p>
          <a:p>
            <a:endParaRPr lang="en-US" sz="2400" dirty="0" smtClean="0"/>
          </a:p>
          <a:p>
            <a:r>
              <a:rPr lang="en-US" sz="2400" dirty="0" smtClean="0">
                <a:solidFill>
                  <a:srgbClr val="C00000"/>
                </a:solidFill>
              </a:rPr>
              <a:t>All </a:t>
            </a:r>
            <a:r>
              <a:rPr lang="en-US" sz="2400" dirty="0">
                <a:solidFill>
                  <a:srgbClr val="C00000"/>
                </a:solidFill>
              </a:rPr>
              <a:t>modifications to the integer value of the semaphore in the wait () </a:t>
            </a:r>
            <a:r>
              <a:rPr lang="en-US" sz="2400" dirty="0" smtClean="0">
                <a:solidFill>
                  <a:srgbClr val="C00000"/>
                </a:solidFill>
              </a:rPr>
              <a:t>and signal</a:t>
            </a:r>
            <a:r>
              <a:rPr lang="en-US" sz="2400" dirty="0">
                <a:solidFill>
                  <a:srgbClr val="C00000"/>
                </a:solidFill>
              </a:rPr>
              <a:t>() operations must be executed indivisibly. </a:t>
            </a:r>
            <a:endParaRPr lang="en-US" sz="2400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That </a:t>
            </a:r>
            <a:r>
              <a:rPr lang="en-US" dirty="0"/>
              <a:t>is, when one </a:t>
            </a:r>
            <a:r>
              <a:rPr lang="en-US" dirty="0" smtClean="0"/>
              <a:t>process modifies </a:t>
            </a:r>
            <a:r>
              <a:rPr lang="en-US" dirty="0"/>
              <a:t>the semaphore value, </a:t>
            </a:r>
            <a:r>
              <a:rPr lang="en-US" dirty="0">
                <a:solidFill>
                  <a:srgbClr val="C00000"/>
                </a:solidFill>
              </a:rPr>
              <a:t>no other process can simultaneously </a:t>
            </a:r>
            <a:r>
              <a:rPr lang="en-US" dirty="0" smtClean="0">
                <a:solidFill>
                  <a:srgbClr val="C00000"/>
                </a:solidFill>
              </a:rPr>
              <a:t>modify</a:t>
            </a:r>
            <a:r>
              <a:rPr lang="en-US" dirty="0" smtClean="0"/>
              <a:t> that </a:t>
            </a:r>
            <a:r>
              <a:rPr lang="en-US" dirty="0"/>
              <a:t>same semaphore value.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534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Usage of 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5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To Deal with n-process </a:t>
            </a:r>
            <a:r>
              <a:rPr lang="en-US" sz="2400" dirty="0" smtClean="0">
                <a:solidFill>
                  <a:srgbClr val="C00000"/>
                </a:solidFill>
              </a:rPr>
              <a:t>Critical Section Problem, </a:t>
            </a:r>
            <a:r>
              <a:rPr lang="en-US" sz="2400" dirty="0" err="1" smtClean="0">
                <a:solidFill>
                  <a:srgbClr val="C00000"/>
                </a:solidFill>
              </a:rPr>
              <a:t>i.e</a:t>
            </a:r>
            <a:r>
              <a:rPr lang="en-US" sz="2400" dirty="0" smtClean="0">
                <a:solidFill>
                  <a:srgbClr val="C00000"/>
                </a:solidFill>
              </a:rPr>
              <a:t> Mutual Exclusion</a:t>
            </a:r>
          </a:p>
          <a:p>
            <a:r>
              <a:rPr lang="en-US" sz="2400" dirty="0" smtClean="0"/>
              <a:t>To Solve </a:t>
            </a:r>
            <a:r>
              <a:rPr lang="en-US" sz="2400" dirty="0" smtClean="0">
                <a:solidFill>
                  <a:srgbClr val="C00000"/>
                </a:solidFill>
              </a:rPr>
              <a:t>Synchronization Problem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776539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Types of 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>
                <a:latin typeface="Marcellus"/>
              </a:rPr>
              <a:t>Types of Semaphores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Marcellus"/>
              </a:rPr>
              <a:t>Counting </a:t>
            </a:r>
          </a:p>
          <a:p>
            <a:pPr lvl="1"/>
            <a:r>
              <a:rPr lang="en-US" dirty="0" smtClean="0">
                <a:solidFill>
                  <a:srgbClr val="C00000"/>
                </a:solidFill>
                <a:latin typeface="Marcellus"/>
              </a:rPr>
              <a:t>Binary </a:t>
            </a:r>
          </a:p>
          <a:p>
            <a:pPr lvl="1"/>
            <a:endParaRPr lang="en-US" dirty="0">
              <a:latin typeface="Marcellus"/>
            </a:endParaRPr>
          </a:p>
          <a:p>
            <a:r>
              <a:rPr lang="en-US" sz="2400" dirty="0" smtClean="0">
                <a:latin typeface="Marcellus"/>
              </a:rPr>
              <a:t>Counting Semaphore-</a:t>
            </a:r>
          </a:p>
          <a:p>
            <a:pPr lvl="1"/>
            <a:r>
              <a:rPr lang="en-US" dirty="0" smtClean="0">
                <a:latin typeface="Marcellus"/>
              </a:rPr>
              <a:t>The </a:t>
            </a:r>
            <a:r>
              <a:rPr lang="en-US" dirty="0">
                <a:latin typeface="Marcellus"/>
              </a:rPr>
              <a:t>value of a counting semaphore can range over an </a:t>
            </a:r>
            <a:r>
              <a:rPr lang="en-US" dirty="0">
                <a:solidFill>
                  <a:srgbClr val="C00000"/>
                </a:solidFill>
                <a:latin typeface="Marcellus"/>
              </a:rPr>
              <a:t>unrestricted domain.</a:t>
            </a:r>
          </a:p>
          <a:p>
            <a:r>
              <a:rPr lang="en-US" sz="2400" dirty="0" smtClean="0">
                <a:latin typeface="Marcellus"/>
              </a:rPr>
              <a:t>Binary Semaphore-</a:t>
            </a:r>
          </a:p>
          <a:p>
            <a:pPr lvl="1"/>
            <a:r>
              <a:rPr lang="en-US" dirty="0" smtClean="0">
                <a:latin typeface="Marcellus"/>
              </a:rPr>
              <a:t>The </a:t>
            </a:r>
            <a:r>
              <a:rPr lang="en-US" dirty="0">
                <a:latin typeface="Marcellus"/>
              </a:rPr>
              <a:t>value of a binary semaphore can range </a:t>
            </a:r>
            <a:r>
              <a:rPr lang="en-US" dirty="0">
                <a:solidFill>
                  <a:srgbClr val="C00000"/>
                </a:solidFill>
                <a:latin typeface="Marcellus"/>
              </a:rPr>
              <a:t>only between 0 and 1. </a:t>
            </a:r>
            <a:r>
              <a:rPr lang="en-US" dirty="0" smtClean="0">
                <a:solidFill>
                  <a:srgbClr val="C00000"/>
                </a:solidFill>
                <a:latin typeface="Marcellus"/>
              </a:rPr>
              <a:t>	</a:t>
            </a:r>
          </a:p>
          <a:p>
            <a:pPr lvl="1"/>
            <a:r>
              <a:rPr lang="en-US" dirty="0" smtClean="0">
                <a:latin typeface="Marcellus"/>
              </a:rPr>
              <a:t>Also known </a:t>
            </a:r>
            <a:r>
              <a:rPr lang="en-US" dirty="0">
                <a:latin typeface="Marcellus"/>
              </a:rPr>
              <a:t>as </a:t>
            </a:r>
            <a:r>
              <a:rPr lang="en-US" dirty="0" err="1">
                <a:solidFill>
                  <a:srgbClr val="C00000"/>
                </a:solidFill>
                <a:latin typeface="Marcellus"/>
              </a:rPr>
              <a:t>mutex</a:t>
            </a:r>
            <a:r>
              <a:rPr lang="en-US" dirty="0">
                <a:solidFill>
                  <a:srgbClr val="C00000"/>
                </a:solidFill>
                <a:latin typeface="Marcellus"/>
              </a:rPr>
              <a:t> locks</a:t>
            </a:r>
            <a:r>
              <a:rPr lang="en-US" dirty="0">
                <a:latin typeface="Marcellus"/>
              </a:rPr>
              <a:t>, as they are locks </a:t>
            </a:r>
            <a:r>
              <a:rPr lang="en-US" dirty="0" smtClean="0">
                <a:latin typeface="Marcellus"/>
              </a:rPr>
              <a:t>that </a:t>
            </a:r>
            <a:r>
              <a:rPr lang="en-US" dirty="0" smtClean="0">
                <a:solidFill>
                  <a:srgbClr val="C00000"/>
                </a:solidFill>
                <a:latin typeface="Marcellus"/>
              </a:rPr>
              <a:t>provide </a:t>
            </a:r>
            <a:r>
              <a:rPr lang="en-US" dirty="0">
                <a:solidFill>
                  <a:srgbClr val="C00000"/>
                </a:solidFill>
                <a:latin typeface="Marcellus"/>
              </a:rPr>
              <a:t>mutual exclusion.</a:t>
            </a:r>
            <a:endParaRPr lang="en-US" dirty="0" smtClean="0">
              <a:solidFill>
                <a:srgbClr val="C00000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144540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Binary 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rgbClr val="C00000"/>
                </a:solidFill>
              </a:rPr>
              <a:t>Mutual Exclusion using Binary Semaphore</a:t>
            </a:r>
          </a:p>
          <a:p>
            <a:r>
              <a:rPr lang="en-US" dirty="0" smtClean="0"/>
              <a:t>Used </a:t>
            </a:r>
            <a:r>
              <a:rPr lang="en-US" dirty="0"/>
              <a:t>to deal with the critical-section problem f</a:t>
            </a:r>
            <a:r>
              <a:rPr lang="en-US" dirty="0" smtClean="0"/>
              <a:t>or multiple </a:t>
            </a:r>
            <a:r>
              <a:rPr lang="en-US" dirty="0"/>
              <a:t>processes. </a:t>
            </a:r>
            <a:endParaRPr lang="en-US" dirty="0" smtClean="0"/>
          </a:p>
          <a:p>
            <a:r>
              <a:rPr lang="en-US" dirty="0" smtClean="0"/>
              <a:t>Processes </a:t>
            </a:r>
            <a:r>
              <a:rPr lang="en-US" dirty="0"/>
              <a:t>share a semaphore, </a:t>
            </a:r>
            <a:r>
              <a:rPr lang="en-US" dirty="0" err="1"/>
              <a:t>mutex</a:t>
            </a:r>
            <a:r>
              <a:rPr lang="en-US" dirty="0"/>
              <a:t>, initialized to 1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b="1" dirty="0" smtClean="0">
              <a:solidFill>
                <a:srgbClr val="FF0000"/>
              </a:solidFill>
              <a:latin typeface="Marcellus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52" t="59467" r="35175" b="11407"/>
          <a:stretch/>
        </p:blipFill>
        <p:spPr bwMode="auto">
          <a:xfrm>
            <a:off x="2937681" y="2934249"/>
            <a:ext cx="3080983" cy="2130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062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Counting 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Used </a:t>
            </a:r>
            <a:r>
              <a:rPr lang="en-US" sz="2400" dirty="0"/>
              <a:t>to control access to a given </a:t>
            </a:r>
            <a:r>
              <a:rPr lang="en-US" sz="2400" dirty="0" smtClean="0"/>
              <a:t>resource consisting </a:t>
            </a:r>
            <a:r>
              <a:rPr lang="en-US" sz="2400" dirty="0"/>
              <a:t>of a finite number </a:t>
            </a:r>
            <a:r>
              <a:rPr lang="en-US" sz="2400" dirty="0" smtClean="0"/>
              <a:t>of </a:t>
            </a:r>
            <a:r>
              <a:rPr lang="en-US" sz="2400" dirty="0"/>
              <a:t>instances. </a:t>
            </a:r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semaphore is </a:t>
            </a:r>
            <a:r>
              <a:rPr lang="en-US" sz="2400" dirty="0">
                <a:solidFill>
                  <a:srgbClr val="C00000"/>
                </a:solidFill>
              </a:rPr>
              <a:t>initialized to </a:t>
            </a:r>
            <a:r>
              <a:rPr lang="en-US" sz="2400" dirty="0" smtClean="0">
                <a:solidFill>
                  <a:srgbClr val="C00000"/>
                </a:solidFill>
              </a:rPr>
              <a:t>the number </a:t>
            </a:r>
            <a:r>
              <a:rPr lang="en-US" sz="2400" dirty="0">
                <a:solidFill>
                  <a:srgbClr val="C00000"/>
                </a:solidFill>
              </a:rPr>
              <a:t>of resources available. </a:t>
            </a:r>
            <a:endParaRPr lang="en-US" sz="240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448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Counting 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9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Each </a:t>
            </a:r>
            <a:r>
              <a:rPr lang="en-US" sz="2400" dirty="0"/>
              <a:t>process that wishes to </a:t>
            </a:r>
            <a:r>
              <a:rPr lang="en-US" sz="2400" dirty="0">
                <a:solidFill>
                  <a:srgbClr val="C00000"/>
                </a:solidFill>
              </a:rPr>
              <a:t>use a </a:t>
            </a:r>
            <a:r>
              <a:rPr lang="en-US" sz="2400" dirty="0" smtClean="0">
                <a:solidFill>
                  <a:srgbClr val="C00000"/>
                </a:solidFill>
              </a:rPr>
              <a:t>resource </a:t>
            </a:r>
            <a:r>
              <a:rPr lang="en-US" sz="2400" dirty="0" smtClean="0"/>
              <a:t>performs </a:t>
            </a:r>
            <a:r>
              <a:rPr lang="en-US" sz="2400" dirty="0">
                <a:solidFill>
                  <a:srgbClr val="C00000"/>
                </a:solidFill>
              </a:rPr>
              <a:t>a wait() operation </a:t>
            </a:r>
            <a:r>
              <a:rPr lang="en-US" sz="2400" dirty="0"/>
              <a:t>on the semaphore </a:t>
            </a:r>
            <a:r>
              <a:rPr lang="en-US" sz="2400" dirty="0" smtClean="0"/>
              <a:t>,</a:t>
            </a:r>
          </a:p>
          <a:p>
            <a:pPr lvl="1"/>
            <a:r>
              <a:rPr lang="en-US" dirty="0" smtClean="0">
                <a:solidFill>
                  <a:schemeClr val="accent5"/>
                </a:solidFill>
              </a:rPr>
              <a:t>thereby </a:t>
            </a:r>
            <a:r>
              <a:rPr lang="en-US" dirty="0">
                <a:solidFill>
                  <a:schemeClr val="accent5"/>
                </a:solidFill>
              </a:rPr>
              <a:t>decrementing </a:t>
            </a:r>
            <a:r>
              <a:rPr lang="en-US" dirty="0" smtClean="0">
                <a:solidFill>
                  <a:schemeClr val="accent5"/>
                </a:solidFill>
              </a:rPr>
              <a:t>the count. </a:t>
            </a:r>
          </a:p>
          <a:p>
            <a:endParaRPr lang="en-US" sz="2400" dirty="0" smtClean="0">
              <a:solidFill>
                <a:schemeClr val="accent5"/>
              </a:solidFill>
            </a:endParaRPr>
          </a:p>
          <a:p>
            <a:r>
              <a:rPr lang="en-US" sz="2400" dirty="0" smtClean="0"/>
              <a:t>When </a:t>
            </a:r>
            <a:r>
              <a:rPr lang="en-US" sz="2400" dirty="0"/>
              <a:t>a process </a:t>
            </a:r>
            <a:r>
              <a:rPr lang="en-US" sz="2400" dirty="0">
                <a:solidFill>
                  <a:srgbClr val="C00000"/>
                </a:solidFill>
              </a:rPr>
              <a:t>releases a resource</a:t>
            </a:r>
            <a:r>
              <a:rPr lang="en-US" sz="2400" dirty="0"/>
              <a:t>, it performs </a:t>
            </a:r>
            <a:r>
              <a:rPr lang="en-US" sz="2400" dirty="0">
                <a:solidFill>
                  <a:srgbClr val="C00000"/>
                </a:solidFill>
              </a:rPr>
              <a:t>a signal() operation</a:t>
            </a:r>
          </a:p>
          <a:p>
            <a:pPr lvl="1"/>
            <a:r>
              <a:rPr lang="en-US" dirty="0" smtClean="0">
                <a:solidFill>
                  <a:schemeClr val="accent5"/>
                </a:solidFill>
              </a:rPr>
              <a:t>incrementing </a:t>
            </a:r>
            <a:r>
              <a:rPr lang="en-US" dirty="0">
                <a:solidFill>
                  <a:schemeClr val="accent5"/>
                </a:solidFill>
              </a:rPr>
              <a:t>the </a:t>
            </a:r>
            <a:r>
              <a:rPr lang="en-US" dirty="0" smtClean="0">
                <a:solidFill>
                  <a:schemeClr val="accent5"/>
                </a:solidFill>
              </a:rPr>
              <a:t>count. </a:t>
            </a:r>
          </a:p>
          <a:p>
            <a:endParaRPr lang="en-US" sz="2400" dirty="0" smtClean="0"/>
          </a:p>
          <a:p>
            <a:r>
              <a:rPr lang="en-US" sz="2400" dirty="0" smtClean="0"/>
              <a:t>When </a:t>
            </a:r>
            <a:r>
              <a:rPr lang="en-US" sz="2400" dirty="0"/>
              <a:t>the count for the semaphore goes to 0, </a:t>
            </a:r>
            <a:r>
              <a:rPr lang="en-US" sz="2400" dirty="0" smtClean="0"/>
              <a:t>all resources </a:t>
            </a:r>
            <a:r>
              <a:rPr lang="en-US" sz="2400" dirty="0"/>
              <a:t>are being used. </a:t>
            </a:r>
            <a:endParaRPr lang="en-US" sz="2400" dirty="0" smtClean="0"/>
          </a:p>
          <a:p>
            <a:pPr lvl="1"/>
            <a:r>
              <a:rPr lang="en-US" dirty="0" smtClean="0"/>
              <a:t>After </a:t>
            </a:r>
            <a:r>
              <a:rPr lang="en-US" dirty="0"/>
              <a:t>that, processes that wish to use a resource </a:t>
            </a:r>
            <a:r>
              <a:rPr lang="en-US" dirty="0" smtClean="0"/>
              <a:t>will </a:t>
            </a:r>
            <a:r>
              <a:rPr lang="en-US" b="1" dirty="0" smtClean="0">
                <a:solidFill>
                  <a:schemeClr val="accent5"/>
                </a:solidFill>
              </a:rPr>
              <a:t>block </a:t>
            </a:r>
            <a:r>
              <a:rPr lang="en-US" b="1" dirty="0">
                <a:solidFill>
                  <a:schemeClr val="accent5"/>
                </a:solidFill>
              </a:rPr>
              <a:t>until the count becomes greater than 0.</a:t>
            </a:r>
            <a:endParaRPr lang="en-US" b="1" dirty="0" smtClean="0">
              <a:solidFill>
                <a:schemeClr val="accent5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52158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85329" y="548994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000" dirty="0"/>
              <a:t>ISRO | ISRO CS 2017 – May | Question 78</a:t>
            </a:r>
          </a:p>
          <a:p>
            <a:pPr marL="0" indent="0" fontAlgn="base">
              <a:buNone/>
            </a:pPr>
            <a:r>
              <a:rPr lang="en-US" sz="2000" dirty="0" smtClean="0"/>
              <a:t>At particular </a:t>
            </a:r>
            <a:r>
              <a:rPr lang="en-US" sz="2000" dirty="0"/>
              <a:t>time, the value of a counting semaphore is 10, it will become 7 after:</a:t>
            </a:r>
            <a:br>
              <a:rPr lang="en-US" sz="2000" dirty="0"/>
            </a:br>
            <a:r>
              <a:rPr lang="en-US" sz="2000" dirty="0"/>
              <a:t>(a) 3 V operations</a:t>
            </a:r>
            <a:br>
              <a:rPr lang="en-US" sz="2000" dirty="0"/>
            </a:br>
            <a:r>
              <a:rPr lang="en-US" sz="2000" dirty="0"/>
              <a:t>(b) 3 P operations</a:t>
            </a:r>
            <a:br>
              <a:rPr lang="en-US" sz="2000" dirty="0"/>
            </a:br>
            <a:r>
              <a:rPr lang="en-US" sz="2000" dirty="0"/>
              <a:t>(c) 5 V operations and 2 P operations</a:t>
            </a:r>
            <a:br>
              <a:rPr lang="en-US" sz="2000" dirty="0"/>
            </a:br>
            <a:r>
              <a:rPr lang="en-US" sz="2000" dirty="0"/>
              <a:t>(d) 2 V operations and 5 P operations</a:t>
            </a:r>
            <a:br>
              <a:rPr lang="en-US" sz="2000" dirty="0"/>
            </a:br>
            <a:endParaRPr lang="en-US" sz="2000" dirty="0" smtClean="0"/>
          </a:p>
          <a:p>
            <a:pPr marL="0" indent="0" fontAlgn="base">
              <a:buNone/>
            </a:pPr>
            <a:r>
              <a:rPr lang="en-US" sz="2000" dirty="0" smtClean="0"/>
              <a:t>Which </a:t>
            </a:r>
            <a:r>
              <a:rPr lang="en-US" sz="2000" dirty="0"/>
              <a:t>of the following option is correct?</a:t>
            </a:r>
            <a:br>
              <a:rPr lang="en-US" sz="2000" dirty="0"/>
            </a:br>
            <a:r>
              <a:rPr lang="en-US" sz="2000" b="1" dirty="0"/>
              <a:t>(A)</a:t>
            </a:r>
            <a:r>
              <a:rPr lang="en-US" sz="2000" dirty="0"/>
              <a:t> Only (b)</a:t>
            </a:r>
            <a:br>
              <a:rPr lang="en-US" sz="2000" dirty="0"/>
            </a:br>
            <a:r>
              <a:rPr lang="en-US" sz="2000" b="1" dirty="0"/>
              <a:t>(B)</a:t>
            </a:r>
            <a:r>
              <a:rPr lang="en-US" sz="2000" dirty="0"/>
              <a:t> Only(d)</a:t>
            </a:r>
            <a:br>
              <a:rPr lang="en-US" sz="2000" dirty="0"/>
            </a:br>
            <a:r>
              <a:rPr lang="en-US" sz="2000" b="1" dirty="0"/>
              <a:t>(C)</a:t>
            </a:r>
            <a:r>
              <a:rPr lang="en-US" sz="2000" dirty="0"/>
              <a:t> Both (b) and (d)</a:t>
            </a:r>
            <a:br>
              <a:rPr lang="en-US" sz="2000" dirty="0"/>
            </a:br>
            <a:r>
              <a:rPr lang="en-US" sz="2000" b="1" dirty="0"/>
              <a:t>(D)</a:t>
            </a:r>
            <a:r>
              <a:rPr lang="en-US" sz="2000" dirty="0"/>
              <a:t> None of these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67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9" y="22648"/>
            <a:ext cx="7736306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000" dirty="0"/>
              <a:t>ISRO | ISRO CS 2017 – May | Question 78</a:t>
            </a:r>
          </a:p>
          <a:p>
            <a:pPr marL="0" indent="0" fontAlgn="base">
              <a:buNone/>
            </a:pPr>
            <a:r>
              <a:rPr lang="en-US" sz="2000" dirty="0" smtClean="0"/>
              <a:t>At particular </a:t>
            </a:r>
            <a:r>
              <a:rPr lang="en-US" sz="2000" dirty="0"/>
              <a:t>time, the value of a counting semaphore is 10, it will become 7 after:</a:t>
            </a:r>
            <a:br>
              <a:rPr lang="en-US" sz="2000" dirty="0"/>
            </a:br>
            <a:r>
              <a:rPr lang="en-US" sz="2000" dirty="0"/>
              <a:t>(a) 3 V operations</a:t>
            </a:r>
            <a:br>
              <a:rPr lang="en-US" sz="2000" dirty="0"/>
            </a:br>
            <a:r>
              <a:rPr lang="en-US" sz="2000" dirty="0"/>
              <a:t>(b) 3 P operations</a:t>
            </a:r>
            <a:br>
              <a:rPr lang="en-US" sz="2000" dirty="0"/>
            </a:br>
            <a:r>
              <a:rPr lang="en-US" sz="2000" dirty="0"/>
              <a:t>(c) 5 V operations and 2 P operations</a:t>
            </a:r>
            <a:br>
              <a:rPr lang="en-US" sz="2000" dirty="0"/>
            </a:br>
            <a:r>
              <a:rPr lang="en-US" sz="2000" dirty="0"/>
              <a:t>(d) 2 V operations and 5 P operations</a:t>
            </a:r>
            <a:br>
              <a:rPr lang="en-US" sz="2000" dirty="0"/>
            </a:br>
            <a:r>
              <a:rPr lang="en-US" sz="2000" dirty="0"/>
              <a:t>Which of the following option is correct?</a:t>
            </a:r>
            <a:br>
              <a:rPr lang="en-US" sz="2000" dirty="0"/>
            </a:br>
            <a:r>
              <a:rPr lang="en-US" sz="2000" b="1" dirty="0"/>
              <a:t>(A)</a:t>
            </a:r>
            <a:r>
              <a:rPr lang="en-US" sz="2000" dirty="0"/>
              <a:t> Only (b)</a:t>
            </a:r>
            <a:br>
              <a:rPr lang="en-US" sz="2000" dirty="0"/>
            </a:br>
            <a:r>
              <a:rPr lang="en-US" sz="2000" b="1" dirty="0"/>
              <a:t>(B)</a:t>
            </a:r>
            <a:r>
              <a:rPr lang="en-US" sz="2000" dirty="0"/>
              <a:t> Only(d)</a:t>
            </a:r>
            <a:br>
              <a:rPr lang="en-US" sz="2000" dirty="0"/>
            </a:br>
            <a:r>
              <a:rPr lang="en-US" sz="2000" b="1" dirty="0"/>
              <a:t>(C)</a:t>
            </a:r>
            <a:r>
              <a:rPr lang="en-US" sz="2000" dirty="0"/>
              <a:t> Both (b) and (d)</a:t>
            </a:r>
            <a:br>
              <a:rPr lang="en-US" sz="2000" dirty="0"/>
            </a:br>
            <a:r>
              <a:rPr lang="en-US" sz="2000" b="1" dirty="0"/>
              <a:t>(D)</a:t>
            </a:r>
            <a:r>
              <a:rPr lang="en-US" sz="2000" dirty="0"/>
              <a:t> None of these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 smtClean="0"/>
              <a:t>Answer</a:t>
            </a:r>
            <a:r>
              <a:rPr lang="en-US" sz="2000" b="1" dirty="0"/>
              <a:t>:</a:t>
            </a:r>
            <a:r>
              <a:rPr lang="en-US" sz="2000" dirty="0"/>
              <a:t> </a:t>
            </a:r>
            <a:r>
              <a:rPr lang="en-US" sz="2000" b="1" dirty="0"/>
              <a:t>(C</a:t>
            </a:r>
            <a:r>
              <a:rPr lang="en-US" sz="2000" b="1" dirty="0" smtClean="0"/>
              <a:t>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Explanation:</a:t>
            </a:r>
            <a:r>
              <a:rPr lang="en-US" sz="2000" dirty="0"/>
              <a:t> P: Wait operation decrements the value of the counting semaphore by 1.</a:t>
            </a:r>
            <a:br>
              <a:rPr lang="en-US" sz="2000" dirty="0"/>
            </a:br>
            <a:r>
              <a:rPr lang="en-US" sz="2000" dirty="0"/>
              <a:t>V: Signal operation increments the value of counting semaphore by 1.</a:t>
            </a:r>
            <a:br>
              <a:rPr lang="en-US" sz="2000" dirty="0"/>
            </a:br>
            <a:r>
              <a:rPr lang="en-US" sz="2000" dirty="0"/>
              <a:t>Current value of the counting semaphore = 10</a:t>
            </a:r>
            <a:br>
              <a:rPr lang="en-US" sz="2000" dirty="0"/>
            </a:br>
            <a:r>
              <a:rPr lang="en-US" sz="2000" dirty="0"/>
              <a:t>a) after 3 P operations, value of semaphore = 10-3 = 7</a:t>
            </a:r>
            <a:br>
              <a:rPr lang="en-US" sz="2000" dirty="0"/>
            </a:br>
            <a:r>
              <a:rPr lang="en-US" sz="2000" dirty="0"/>
              <a:t>d) after 2 v operations, and 5 operations value of semaphore = 10 + 2 – 5 = 7</a:t>
            </a:r>
            <a:br>
              <a:rPr lang="en-US" sz="2000" dirty="0"/>
            </a:br>
            <a:r>
              <a:rPr lang="en-US" sz="2000" dirty="0"/>
              <a:t>Hence option (C) is correct.</a:t>
            </a:r>
          </a:p>
        </p:txBody>
      </p:sp>
    </p:spTree>
    <p:extLst>
      <p:ext uri="{BB962C8B-B14F-4D97-AF65-F5344CB8AC3E}">
        <p14:creationId xmlns:p14="http://schemas.microsoft.com/office/powerpoint/2010/main" val="210674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12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33027" y="289681"/>
            <a:ext cx="7553295" cy="5703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000" dirty="0"/>
              <a:t>UGC-NET | UGC NET CS 2018 July – II | Question 51</a:t>
            </a:r>
          </a:p>
          <a:p>
            <a:pPr marL="0" indent="0" fontAlgn="base">
              <a:buNone/>
            </a:pPr>
            <a:r>
              <a:rPr lang="en-US" sz="2000" dirty="0" smtClean="0"/>
              <a:t>At </a:t>
            </a:r>
            <a:r>
              <a:rPr lang="en-US" sz="2000" dirty="0"/>
              <a:t>a particular time of computation, the value of a counting semaphore is 10. Then 12 P operations and “x” V operations were performed on this semaphore. If the final value of semaphore is 7, x will be:</a:t>
            </a:r>
            <a:br>
              <a:rPr lang="en-US" sz="2000" dirty="0"/>
            </a:br>
            <a:r>
              <a:rPr lang="en-US" sz="2000" b="1" dirty="0"/>
              <a:t>(A)</a:t>
            </a:r>
            <a:r>
              <a:rPr lang="en-US" sz="2000" dirty="0"/>
              <a:t> 8</a:t>
            </a:r>
            <a:br>
              <a:rPr lang="en-US" sz="2000" dirty="0"/>
            </a:br>
            <a:r>
              <a:rPr lang="en-US" sz="2000" b="1" dirty="0"/>
              <a:t>(B)</a:t>
            </a:r>
            <a:r>
              <a:rPr lang="en-US" sz="2000" dirty="0"/>
              <a:t> 9</a:t>
            </a:r>
            <a:br>
              <a:rPr lang="en-US" sz="2000" dirty="0"/>
            </a:br>
            <a:r>
              <a:rPr lang="en-US" sz="2000" b="1" dirty="0"/>
              <a:t>(C)</a:t>
            </a:r>
            <a:r>
              <a:rPr lang="en-US" sz="2000" dirty="0"/>
              <a:t> 10</a:t>
            </a:r>
            <a:br>
              <a:rPr lang="en-US" sz="2000" dirty="0"/>
            </a:br>
            <a:r>
              <a:rPr lang="en-US" sz="2000" b="1" dirty="0"/>
              <a:t>(D)</a:t>
            </a:r>
            <a:r>
              <a:rPr lang="en-US" sz="2000" dirty="0"/>
              <a:t> 11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8008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13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33027" y="289681"/>
            <a:ext cx="7553295" cy="57032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r>
              <a:rPr lang="en-US" sz="2000" dirty="0"/>
              <a:t>UGC-NET | UGC NET CS 2018 July – II | Question 51</a:t>
            </a:r>
          </a:p>
          <a:p>
            <a:pPr marL="0" indent="0" fontAlgn="base">
              <a:buNone/>
            </a:pPr>
            <a:r>
              <a:rPr lang="en-US" sz="2000" dirty="0" smtClean="0"/>
              <a:t>At </a:t>
            </a:r>
            <a:r>
              <a:rPr lang="en-US" sz="2000" dirty="0"/>
              <a:t>a particular time of computation, the value of a counting semaphore is 10. Then 12 P operations and “x” V operations were performed on this semaphore. If the final value of semaphore is 7, x will be:</a:t>
            </a:r>
            <a:br>
              <a:rPr lang="en-US" sz="2000" dirty="0"/>
            </a:br>
            <a:r>
              <a:rPr lang="en-US" sz="2000" b="1" dirty="0"/>
              <a:t>(A)</a:t>
            </a:r>
            <a:r>
              <a:rPr lang="en-US" sz="2000" dirty="0"/>
              <a:t> 8</a:t>
            </a:r>
            <a:br>
              <a:rPr lang="en-US" sz="2000" dirty="0"/>
            </a:br>
            <a:r>
              <a:rPr lang="en-US" sz="2000" b="1" dirty="0"/>
              <a:t>(B)</a:t>
            </a:r>
            <a:r>
              <a:rPr lang="en-US" sz="2000" dirty="0"/>
              <a:t> 9</a:t>
            </a:r>
            <a:br>
              <a:rPr lang="en-US" sz="2000" dirty="0"/>
            </a:br>
            <a:r>
              <a:rPr lang="en-US" sz="2000" b="1" dirty="0"/>
              <a:t>(C)</a:t>
            </a:r>
            <a:r>
              <a:rPr lang="en-US" sz="2000" dirty="0"/>
              <a:t> 10</a:t>
            </a:r>
            <a:br>
              <a:rPr lang="en-US" sz="2000" dirty="0"/>
            </a:br>
            <a:r>
              <a:rPr lang="en-US" sz="2000" b="1" dirty="0"/>
              <a:t>(D)</a:t>
            </a:r>
            <a:r>
              <a:rPr lang="en-US" sz="2000" dirty="0"/>
              <a:t> 11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/>
              <a:t>Answer:</a:t>
            </a:r>
            <a:r>
              <a:rPr lang="en-US" sz="2000" dirty="0"/>
              <a:t> </a:t>
            </a:r>
            <a:r>
              <a:rPr lang="en-US" sz="2000" b="1" dirty="0"/>
              <a:t>(B)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b="1" dirty="0" smtClean="0"/>
              <a:t>Explanation</a:t>
            </a:r>
            <a:r>
              <a:rPr lang="en-US" sz="2000" b="1" dirty="0"/>
              <a:t>:</a:t>
            </a:r>
            <a:r>
              <a:rPr lang="en-US" sz="2000" dirty="0"/>
              <a:t> </a:t>
            </a:r>
            <a:r>
              <a:rPr lang="en-US" sz="2000" dirty="0" err="1"/>
              <a:t>Intially</a:t>
            </a:r>
            <a:r>
              <a:rPr lang="en-US" sz="2000" dirty="0"/>
              <a:t> the value of a counting semaphore is 10 Now 12 P operation are performed.</a:t>
            </a:r>
            <a:br>
              <a:rPr lang="en-US" sz="2000" dirty="0"/>
            </a:br>
            <a:r>
              <a:rPr lang="en-US" sz="2000" dirty="0"/>
              <a:t>Now counting semaphore value = -2</a:t>
            </a:r>
            <a:br>
              <a:rPr lang="en-US" sz="2000" dirty="0"/>
            </a:br>
            <a:r>
              <a:rPr lang="en-US" sz="2000" dirty="0"/>
              <a:t>“x” V operations were performed on this semaphore and final value of counting semaphore = 7</a:t>
            </a:r>
            <a:br>
              <a:rPr lang="en-US" sz="2000" dirty="0"/>
            </a:br>
            <a:r>
              <a:rPr lang="en-US" sz="2000" dirty="0" err="1"/>
              <a:t>i.e</a:t>
            </a:r>
            <a:r>
              <a:rPr lang="en-US" sz="2000" dirty="0"/>
              <a:t> x + (-2) = 7</a:t>
            </a:r>
            <a:br>
              <a:rPr lang="en-US" sz="2000" dirty="0"/>
            </a:br>
            <a:r>
              <a:rPr lang="en-US" sz="2000" dirty="0"/>
              <a:t>x = 9.</a:t>
            </a:r>
            <a:br>
              <a:rPr lang="en-US" sz="2000" dirty="0"/>
            </a:br>
            <a:r>
              <a:rPr lang="en-US" sz="2000" dirty="0"/>
              <a:t>So, option (C) is correct.</a:t>
            </a:r>
          </a:p>
        </p:txBody>
      </p:sp>
    </p:spTree>
    <p:extLst>
      <p:ext uri="{BB962C8B-B14F-4D97-AF65-F5344CB8AC3E}">
        <p14:creationId xmlns:p14="http://schemas.microsoft.com/office/powerpoint/2010/main" val="150935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14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We can also use semaphores to solve various synchronization problems</a:t>
            </a:r>
            <a:r>
              <a:rPr lang="en-US" sz="2400" dirty="0" smtClean="0"/>
              <a:t>. </a:t>
            </a:r>
          </a:p>
          <a:p>
            <a:r>
              <a:rPr lang="en-US" sz="2400" dirty="0" smtClean="0"/>
              <a:t>Consider </a:t>
            </a:r>
            <a:r>
              <a:rPr lang="en-US" sz="2400" dirty="0"/>
              <a:t>two concurrently </a:t>
            </a:r>
            <a:r>
              <a:rPr lang="en-US" sz="2400" dirty="0" smtClean="0"/>
              <a:t>running </a:t>
            </a:r>
            <a:r>
              <a:rPr lang="en-US" sz="2400" dirty="0"/>
              <a:t>processes: </a:t>
            </a:r>
            <a:endParaRPr lang="en-US" sz="2400" dirty="0" smtClean="0"/>
          </a:p>
          <a:p>
            <a:pPr lvl="1"/>
            <a:r>
              <a:rPr lang="en-US" sz="2000" dirty="0" smtClean="0"/>
              <a:t>P1 </a:t>
            </a:r>
            <a:r>
              <a:rPr lang="en-US" sz="2000" dirty="0"/>
              <a:t>with a </a:t>
            </a:r>
            <a:r>
              <a:rPr lang="en-US" sz="2000" dirty="0" smtClean="0"/>
              <a:t>statement S1 </a:t>
            </a:r>
          </a:p>
          <a:p>
            <a:pPr lvl="1"/>
            <a:r>
              <a:rPr lang="en-US" sz="2000" dirty="0" smtClean="0"/>
              <a:t>P2 with a statement S2 . </a:t>
            </a:r>
          </a:p>
          <a:p>
            <a:pPr lvl="1"/>
            <a:r>
              <a:rPr lang="en-US" sz="2000" dirty="0" smtClean="0"/>
              <a:t>Suppose we require that S2 be executed only after S1 </a:t>
            </a:r>
            <a:r>
              <a:rPr lang="en-US" sz="2000" dirty="0"/>
              <a:t>has completed. 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41294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Semaphore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15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8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Let P1 and </a:t>
            </a:r>
            <a:r>
              <a:rPr lang="en-US" sz="2400" dirty="0"/>
              <a:t>P2 share a </a:t>
            </a:r>
            <a:r>
              <a:rPr lang="en-US" sz="2400" dirty="0">
                <a:solidFill>
                  <a:srgbClr val="C00000"/>
                </a:solidFill>
              </a:rPr>
              <a:t>common semaphore synch, initialized to </a:t>
            </a:r>
            <a:r>
              <a:rPr lang="en-US" sz="2400" dirty="0" smtClean="0">
                <a:solidFill>
                  <a:srgbClr val="C00000"/>
                </a:solidFill>
              </a:rPr>
              <a:t>0</a:t>
            </a:r>
          </a:p>
          <a:p>
            <a:r>
              <a:rPr lang="en-US" sz="2400" dirty="0" smtClean="0"/>
              <a:t>Statements inserted in P1</a:t>
            </a:r>
          </a:p>
          <a:p>
            <a:pPr marL="2286000" lvl="5" indent="0">
              <a:buNone/>
            </a:pPr>
            <a:r>
              <a:rPr lang="en-US" sz="2400" dirty="0"/>
              <a:t>S</a:t>
            </a:r>
            <a:r>
              <a:rPr lang="en-US" sz="2400" dirty="0" smtClean="0"/>
              <a:t>1</a:t>
            </a:r>
            <a:r>
              <a:rPr lang="en-US" sz="2400" dirty="0"/>
              <a:t>;</a:t>
            </a:r>
          </a:p>
          <a:p>
            <a:pPr marL="2286000" lvl="5" indent="0">
              <a:buNone/>
            </a:pPr>
            <a:r>
              <a:rPr lang="en-US" sz="2400" dirty="0"/>
              <a:t>signal(synch) ;</a:t>
            </a:r>
          </a:p>
          <a:p>
            <a:r>
              <a:rPr lang="en-US" sz="2400" dirty="0" smtClean="0"/>
              <a:t>Statements </a:t>
            </a:r>
            <a:r>
              <a:rPr lang="en-US" sz="2400" dirty="0"/>
              <a:t>inserted in </a:t>
            </a:r>
            <a:r>
              <a:rPr lang="en-US" sz="2400" dirty="0" smtClean="0"/>
              <a:t>P2</a:t>
            </a:r>
            <a:endParaRPr lang="en-US" sz="2400" dirty="0"/>
          </a:p>
          <a:p>
            <a:pPr marL="2286000" lvl="5" indent="0">
              <a:buNone/>
            </a:pPr>
            <a:r>
              <a:rPr lang="en-US" sz="2400" dirty="0" smtClean="0"/>
              <a:t>wait(synch</a:t>
            </a:r>
            <a:r>
              <a:rPr lang="en-US" sz="2400" dirty="0"/>
              <a:t>);</a:t>
            </a:r>
          </a:p>
          <a:p>
            <a:pPr marL="2286000" lvl="5" indent="0">
              <a:buNone/>
            </a:pPr>
            <a:r>
              <a:rPr lang="en-US" sz="2400" dirty="0" smtClean="0"/>
              <a:t>S2</a:t>
            </a:r>
            <a:r>
              <a:rPr lang="en-US" sz="2400" dirty="0"/>
              <a:t>;</a:t>
            </a:r>
          </a:p>
          <a:p>
            <a:r>
              <a:rPr lang="en-US" sz="2400" dirty="0"/>
              <a:t>Because synch is initialized to 0, </a:t>
            </a:r>
            <a:endParaRPr lang="en-US" sz="2400" dirty="0" smtClean="0"/>
          </a:p>
          <a:p>
            <a:r>
              <a:rPr lang="en-US" sz="2400" dirty="0" smtClean="0"/>
              <a:t>P2 </a:t>
            </a:r>
            <a:r>
              <a:rPr lang="en-US" sz="2400" dirty="0"/>
              <a:t>will execute </a:t>
            </a:r>
            <a:r>
              <a:rPr lang="en-US" sz="2400" dirty="0" smtClean="0"/>
              <a:t>S2 </a:t>
            </a:r>
            <a:r>
              <a:rPr lang="en-US" sz="2400" dirty="0"/>
              <a:t>only after </a:t>
            </a:r>
            <a:r>
              <a:rPr lang="en-US" sz="2400" dirty="0" smtClean="0"/>
              <a:t>P1 has </a:t>
            </a:r>
            <a:r>
              <a:rPr lang="en-US" sz="2400" dirty="0"/>
              <a:t>invoked signal (synch), which is after statement </a:t>
            </a:r>
            <a:r>
              <a:rPr lang="en-US" sz="2400" dirty="0" smtClean="0"/>
              <a:t>S1 </a:t>
            </a:r>
            <a:r>
              <a:rPr lang="en-US" sz="2400" dirty="0"/>
              <a:t>has been executed</a:t>
            </a:r>
            <a:r>
              <a:rPr lang="en-US" sz="2400" dirty="0" smtClean="0"/>
              <a:t>.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Marcellus"/>
              </a:rPr>
              <a:t>Else P2 will caught in </a:t>
            </a:r>
            <a:r>
              <a:rPr lang="en-US" dirty="0" err="1" smtClean="0">
                <a:solidFill>
                  <a:srgbClr val="FF0000"/>
                </a:solidFill>
                <a:latin typeface="Marcellus"/>
              </a:rPr>
              <a:t>infinte</a:t>
            </a:r>
            <a:r>
              <a:rPr lang="en-US" dirty="0" smtClean="0">
                <a:solidFill>
                  <a:srgbClr val="FF0000"/>
                </a:solidFill>
                <a:latin typeface="Marcellus"/>
              </a:rPr>
              <a:t> loop inside wait() </a:t>
            </a:r>
            <a:r>
              <a:rPr lang="en-US" dirty="0" err="1" smtClean="0">
                <a:solidFill>
                  <a:srgbClr val="FF0000"/>
                </a:solidFill>
                <a:latin typeface="Marcellus"/>
              </a:rPr>
              <a:t>fn</a:t>
            </a:r>
            <a:endParaRPr lang="en-US" dirty="0" smtClean="0">
              <a:solidFill>
                <a:srgbClr val="FF0000"/>
              </a:solidFill>
              <a:latin typeface="Marcellus"/>
            </a:endParaRPr>
          </a:p>
        </p:txBody>
      </p:sp>
      <p:sp>
        <p:nvSpPr>
          <p:cNvPr id="11" name="Curved Left Arrow 10"/>
          <p:cNvSpPr/>
          <p:nvPr/>
        </p:nvSpPr>
        <p:spPr>
          <a:xfrm>
            <a:off x="4094330" y="2388358"/>
            <a:ext cx="307380" cy="135112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146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16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75565" y="1160190"/>
            <a:ext cx="6888708" cy="40575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Must guarantee that no two processes can execute  the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  <a:cs typeface="Courier New" pitchFamily="49" charset="0"/>
              </a:rPr>
              <a:t>wait()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and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  <a:cs typeface="Courier New" pitchFamily="49" charset="0"/>
              </a:rPr>
              <a:t>signal()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on the same semaphore at the same 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time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prstClr val="black"/>
              </a:solidFill>
              <a:latin typeface="Marcellus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Thus, the implementation becomes the critical section problem </a:t>
            </a: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the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  <a:cs typeface="Courier New" pitchFamily="49" charset="0"/>
              </a:rPr>
              <a:t>wait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 and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  <a:cs typeface="Courier New" pitchFamily="49" charset="0"/>
              </a:rPr>
              <a:t>signal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 code are placed in the critical 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section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prstClr val="black"/>
              </a:solidFill>
              <a:latin typeface="Marcellus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prstClr val="black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260226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17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75565" y="1201133"/>
            <a:ext cx="6888708" cy="346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While a process is in its critical section, </a:t>
            </a: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any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other process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that tries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to enter its critical section must loop continuously in the entry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code=&gt;Infinite Loop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This continual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looping is clearly a problem in a real multiprogramming 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system where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a single CPU is shared among m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any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processes. </a:t>
            </a: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Busy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waiting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wastes CPU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cycles that some other process might be able to use productively. </a:t>
            </a:r>
            <a:endParaRPr lang="en-US" altLang="en-US" sz="2400" dirty="0" smtClean="0">
              <a:solidFill>
                <a:srgbClr val="C00000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1079181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18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75565" y="1201133"/>
            <a:ext cx="6888708" cy="3060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Disadvantage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Busy Waiting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Software Solutions i.e. </a:t>
            </a:r>
            <a:r>
              <a:rPr lang="en-US" altLang="en-US" sz="2400" dirty="0" err="1" smtClean="0">
                <a:solidFill>
                  <a:srgbClr val="C00000"/>
                </a:solidFill>
                <a:latin typeface="Marcellus"/>
              </a:rPr>
              <a:t>Algo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 1, Algo2, Peterson’s Solution and Semaphore definition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all suffer from Busy Waiting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prstClr val="black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168570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19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75565" y="1201132"/>
            <a:ext cx="6888708" cy="293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While a process is in its critical section, </a:t>
            </a: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This type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of semaphore is also called a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Spinlock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 </a:t>
            </a: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The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process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"spins"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while waiting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for the lock. </a:t>
            </a: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Advantage of Spinlocks-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No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context 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switch is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required when a process must wait on a lock, and a context switch 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may take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considerable time. </a:t>
            </a: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3360480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20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75565" y="1201132"/>
            <a:ext cx="6888708" cy="3725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Thus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, when locks are expected to be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held for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short times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, spinlocks are useful; </a:t>
            </a:r>
            <a:endParaRPr lang="en-US" altLang="en-US" sz="2400" dirty="0" smtClean="0">
              <a:solidFill>
                <a:srgbClr val="C00000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Often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employed on multiprocessor </a:t>
            </a: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systems where </a:t>
            </a:r>
          </a:p>
          <a:p>
            <a:pPr marL="1143000" lvl="2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one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thread can "spin" on one processor while </a:t>
            </a:r>
            <a:endParaRPr lang="en-US" altLang="en-US" sz="2400" dirty="0" smtClean="0">
              <a:solidFill>
                <a:srgbClr val="C00000"/>
              </a:solidFill>
              <a:latin typeface="Marcellu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another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thread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performs its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critical section on another processor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.</a:t>
            </a:r>
            <a:endParaRPr lang="en-US" altLang="en-US" sz="2400" dirty="0">
              <a:solidFill>
                <a:srgbClr val="C00000"/>
              </a:solidFill>
              <a:latin typeface="Marcellus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prstClr val="black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2228451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21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sp>
        <p:nvSpPr>
          <p:cNvPr id="13" name="Rectangle 12"/>
          <p:cNvSpPr/>
          <p:nvPr/>
        </p:nvSpPr>
        <p:spPr>
          <a:xfrm>
            <a:off x="675565" y="1201132"/>
            <a:ext cx="6888708" cy="5107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Could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now have busy waiting in critical section implementation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But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implementation code is short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Little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busy waiting if critical section rarely occupied</a:t>
            </a: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 smtClean="0">
              <a:solidFill>
                <a:prstClr val="black"/>
              </a:solidFill>
              <a:latin typeface="Marcellus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prstClr val="black"/>
                </a:solidFill>
                <a:latin typeface="Marcellus"/>
              </a:rPr>
              <a:t>Note </a:t>
            </a:r>
            <a:r>
              <a:rPr lang="en-US" altLang="en-US" sz="2400" dirty="0">
                <a:solidFill>
                  <a:prstClr val="black"/>
                </a:solidFill>
                <a:latin typeface="Marcellus"/>
              </a:rPr>
              <a:t>that applications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may spend lots of time in critical sections and therefore this is not a good solution</a:t>
            </a:r>
          </a:p>
          <a:p>
            <a:pPr lvl="0" defTabSz="914400">
              <a:lnSpc>
                <a:spcPct val="90000"/>
              </a:lnSpc>
              <a:spcBef>
                <a:spcPts val="1000"/>
              </a:spcBef>
            </a:pPr>
            <a:endParaRPr lang="en-US" altLang="en-US" sz="2400" dirty="0">
              <a:solidFill>
                <a:prstClr val="black"/>
              </a:solidFill>
              <a:latin typeface="Marcellus"/>
            </a:endParaRPr>
          </a:p>
          <a:p>
            <a: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prstClr val="black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2943895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783" y="1720410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Implementation with no Busy waiting 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47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Definition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23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Define </a:t>
            </a:r>
            <a:r>
              <a:rPr lang="en-US" sz="2400" dirty="0"/>
              <a:t>a semaphore </a:t>
            </a:r>
            <a:r>
              <a:rPr lang="en-US" sz="2400" dirty="0" smtClean="0"/>
              <a:t>as a </a:t>
            </a:r>
            <a:r>
              <a:rPr lang="en-US" sz="2400" dirty="0"/>
              <a:t>"C' </a:t>
            </a:r>
            <a:r>
              <a:rPr lang="en-US" sz="2400" dirty="0" err="1" smtClean="0"/>
              <a:t>struct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Each </a:t>
            </a:r>
            <a:r>
              <a:rPr lang="en-US" sz="2400" dirty="0"/>
              <a:t>semaphore has </a:t>
            </a:r>
            <a:endParaRPr lang="en-US" sz="2400" dirty="0" smtClean="0"/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an </a:t>
            </a:r>
            <a:r>
              <a:rPr lang="en-US" dirty="0">
                <a:solidFill>
                  <a:srgbClr val="C00000"/>
                </a:solidFill>
              </a:rPr>
              <a:t>integer value 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>
                <a:solidFill>
                  <a:srgbClr val="C00000"/>
                </a:solidFill>
              </a:rPr>
              <a:t>list of processes list. </a:t>
            </a:r>
            <a:endParaRPr lang="en-US" dirty="0" smtClean="0">
              <a:solidFill>
                <a:srgbClr val="C000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313" y="3383080"/>
            <a:ext cx="3604318" cy="1652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601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Semaphore Definition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24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With each semaphore there is an associated waiting queue</a:t>
            </a:r>
          </a:p>
          <a:p>
            <a:r>
              <a:rPr lang="en-US" sz="2400" dirty="0"/>
              <a:t>Each entry in a waiting queue has two data items:</a:t>
            </a:r>
          </a:p>
          <a:p>
            <a:pPr lvl="1"/>
            <a:r>
              <a:rPr lang="en-US" sz="2000" dirty="0"/>
              <a:t> </a:t>
            </a:r>
            <a:r>
              <a:rPr lang="en-US" sz="2000" dirty="0" smtClean="0"/>
              <a:t>value </a:t>
            </a:r>
            <a:r>
              <a:rPr lang="en-US" sz="2000" dirty="0"/>
              <a:t>(of type integer)</a:t>
            </a:r>
          </a:p>
          <a:p>
            <a:pPr lvl="1"/>
            <a:r>
              <a:rPr lang="en-US" sz="2000" dirty="0"/>
              <a:t> </a:t>
            </a:r>
            <a:r>
              <a:rPr lang="en-US" sz="2000" dirty="0" smtClean="0"/>
              <a:t>pointer </a:t>
            </a:r>
            <a:r>
              <a:rPr lang="en-US" sz="2000" dirty="0"/>
              <a:t>to next record in the list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928" y="2872071"/>
            <a:ext cx="3712444" cy="189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5260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Semaphore Definition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25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Wait()</a:t>
            </a:r>
          </a:p>
          <a:p>
            <a:pPr lvl="1"/>
            <a:r>
              <a:rPr lang="en-US" sz="2000" dirty="0" smtClean="0"/>
              <a:t>When a </a:t>
            </a:r>
            <a:r>
              <a:rPr lang="en-US" sz="2000" dirty="0"/>
              <a:t>process must wait on a semaphore, it is </a:t>
            </a:r>
            <a:r>
              <a:rPr lang="en-US" sz="2000" dirty="0">
                <a:solidFill>
                  <a:srgbClr val="C00000"/>
                </a:solidFill>
              </a:rPr>
              <a:t>added to the list of processes. </a:t>
            </a:r>
            <a:endParaRPr lang="en-US" sz="2000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Signal()</a:t>
            </a:r>
          </a:p>
          <a:p>
            <a:pPr lvl="1"/>
            <a:r>
              <a:rPr lang="en-US" sz="2000" dirty="0" smtClean="0"/>
              <a:t>A signal</a:t>
            </a:r>
            <a:r>
              <a:rPr lang="en-US" sz="2000" dirty="0"/>
              <a:t>() operation </a:t>
            </a:r>
            <a:r>
              <a:rPr lang="en-US" sz="2000" dirty="0">
                <a:solidFill>
                  <a:srgbClr val="C00000"/>
                </a:solidFill>
              </a:rPr>
              <a:t>removes one process from the list </a:t>
            </a:r>
            <a:r>
              <a:rPr lang="en-US" sz="2000" dirty="0"/>
              <a:t>of waiting </a:t>
            </a:r>
            <a:r>
              <a:rPr lang="en-US" sz="2000" dirty="0" smtClean="0"/>
              <a:t>processes and </a:t>
            </a:r>
            <a:r>
              <a:rPr lang="en-US" sz="2000" dirty="0"/>
              <a:t>awakens that </a:t>
            </a:r>
            <a:r>
              <a:rPr lang="en-US" sz="2000" dirty="0" smtClean="0"/>
              <a:t>process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6928" y="2872071"/>
            <a:ext cx="3712444" cy="1890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900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26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We modify </a:t>
            </a:r>
            <a:r>
              <a:rPr lang="en-US" sz="2400" dirty="0"/>
              <a:t>the definition </a:t>
            </a:r>
            <a:r>
              <a:rPr lang="en-US" sz="2400" dirty="0" smtClean="0"/>
              <a:t>of the </a:t>
            </a:r>
            <a:r>
              <a:rPr lang="en-US" sz="2400" dirty="0"/>
              <a:t>wait() and signal() semaphore operations.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When </a:t>
            </a:r>
            <a:r>
              <a:rPr lang="en-US" sz="2400" dirty="0"/>
              <a:t>a process executes </a:t>
            </a:r>
            <a:r>
              <a:rPr lang="en-US" sz="2400" dirty="0" smtClean="0"/>
              <a:t>the wait </a:t>
            </a:r>
            <a:r>
              <a:rPr lang="en-US" sz="2400" dirty="0"/>
              <a:t>() operation and </a:t>
            </a:r>
            <a:r>
              <a:rPr lang="en-US" sz="2400" dirty="0">
                <a:solidFill>
                  <a:srgbClr val="C00000"/>
                </a:solidFill>
              </a:rPr>
              <a:t>finds that the semaphore value is not positive</a:t>
            </a:r>
            <a:r>
              <a:rPr lang="en-US" sz="2400" dirty="0"/>
              <a:t>, it </a:t>
            </a:r>
            <a:r>
              <a:rPr lang="en-US" sz="2400" dirty="0" smtClean="0"/>
              <a:t>must wait</a:t>
            </a:r>
            <a:r>
              <a:rPr lang="en-US" sz="2400" dirty="0"/>
              <a:t>. </a:t>
            </a:r>
            <a:endParaRPr lang="en-US" sz="2400" dirty="0" smtClean="0"/>
          </a:p>
          <a:p>
            <a:endParaRPr lang="en-US" sz="2400" dirty="0" smtClean="0">
              <a:solidFill>
                <a:srgbClr val="C00000"/>
              </a:solidFill>
            </a:endParaRPr>
          </a:p>
          <a:p>
            <a:r>
              <a:rPr lang="en-US" sz="2400" dirty="0" smtClean="0">
                <a:solidFill>
                  <a:srgbClr val="C00000"/>
                </a:solidFill>
              </a:rPr>
              <a:t>Rather than busy </a:t>
            </a:r>
            <a:r>
              <a:rPr lang="en-US" sz="2400" dirty="0">
                <a:solidFill>
                  <a:srgbClr val="C00000"/>
                </a:solidFill>
              </a:rPr>
              <a:t>waiting, </a:t>
            </a:r>
            <a:r>
              <a:rPr lang="en-US" sz="2400" dirty="0" smtClean="0">
                <a:solidFill>
                  <a:srgbClr val="C00000"/>
                </a:solidFill>
              </a:rPr>
              <a:t>the </a:t>
            </a:r>
            <a:r>
              <a:rPr lang="en-US" sz="2400" dirty="0">
                <a:solidFill>
                  <a:srgbClr val="C00000"/>
                </a:solidFill>
              </a:rPr>
              <a:t>process can </a:t>
            </a:r>
            <a:r>
              <a:rPr lang="en-US" sz="2400" i="1" dirty="0" smtClean="0">
                <a:solidFill>
                  <a:srgbClr val="C00000"/>
                </a:solidFill>
              </a:rPr>
              <a:t>block </a:t>
            </a:r>
            <a:r>
              <a:rPr lang="en-US" sz="2400" dirty="0" smtClean="0">
                <a:solidFill>
                  <a:srgbClr val="C00000"/>
                </a:solidFill>
              </a:rPr>
              <a:t>itself</a:t>
            </a:r>
            <a:r>
              <a:rPr lang="en-US" sz="2400" dirty="0">
                <a:solidFill>
                  <a:srgbClr val="C00000"/>
                </a:solidFill>
              </a:rPr>
              <a:t>.</a:t>
            </a:r>
            <a:endParaRPr lang="en-US" sz="200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04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27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Two </a:t>
            </a:r>
            <a:r>
              <a:rPr lang="en-US" altLang="en-US" dirty="0"/>
              <a:t>operations: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endParaRPr lang="en-US" altLang="en-US" dirty="0"/>
          </a:p>
          <a:p>
            <a:pPr lvl="1"/>
            <a:r>
              <a:rPr lang="en-US" altLang="en-US" b="1" dirty="0" smtClean="0">
                <a:solidFill>
                  <a:srgbClr val="0070C0"/>
                </a:solidFill>
              </a:rPr>
              <a:t>wakeup</a:t>
            </a:r>
          </a:p>
        </p:txBody>
      </p:sp>
    </p:spTree>
    <p:extLst>
      <p:ext uri="{BB962C8B-B14F-4D97-AF65-F5344CB8AC3E}">
        <p14:creationId xmlns:p14="http://schemas.microsoft.com/office/powerpoint/2010/main" val="50277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28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Two </a:t>
            </a:r>
            <a:r>
              <a:rPr lang="en-US" altLang="en-US" dirty="0"/>
              <a:t>operations: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block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</a:t>
            </a:r>
            <a:endParaRPr lang="en-US" altLang="en-US" dirty="0" smtClean="0"/>
          </a:p>
          <a:p>
            <a:pPr lvl="1"/>
            <a:r>
              <a:rPr lang="en-US" dirty="0"/>
              <a:t>The block() operation suspends the process that invokes it. </a:t>
            </a:r>
          </a:p>
          <a:p>
            <a:pPr lvl="1"/>
            <a:r>
              <a:rPr lang="en-US" altLang="en-US" dirty="0" smtClean="0">
                <a:solidFill>
                  <a:srgbClr val="C00000"/>
                </a:solidFill>
              </a:rPr>
              <a:t>place </a:t>
            </a:r>
            <a:r>
              <a:rPr lang="en-US" altLang="en-US" dirty="0">
                <a:solidFill>
                  <a:srgbClr val="C00000"/>
                </a:solidFill>
              </a:rPr>
              <a:t>the process </a:t>
            </a:r>
            <a:r>
              <a:rPr lang="en-US" altLang="en-US" dirty="0"/>
              <a:t>invoking the operation </a:t>
            </a:r>
            <a:r>
              <a:rPr lang="en-US" altLang="en-US" dirty="0">
                <a:solidFill>
                  <a:srgbClr val="C00000"/>
                </a:solidFill>
              </a:rPr>
              <a:t>on the </a:t>
            </a:r>
            <a:r>
              <a:rPr lang="en-US" altLang="en-US" dirty="0" smtClean="0">
                <a:solidFill>
                  <a:srgbClr val="C00000"/>
                </a:solidFill>
              </a:rPr>
              <a:t>waiting queue </a:t>
            </a:r>
            <a:r>
              <a:rPr lang="en-US" altLang="en-US" dirty="0" smtClean="0"/>
              <a:t>associated with the semaphore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state of the process is switched to the </a:t>
            </a:r>
            <a:r>
              <a:rPr lang="en-US" dirty="0" smtClean="0">
                <a:solidFill>
                  <a:srgbClr val="C00000"/>
                </a:solidFill>
              </a:rPr>
              <a:t>waiting state</a:t>
            </a:r>
            <a:r>
              <a:rPr lang="en-US" dirty="0">
                <a:solidFill>
                  <a:srgbClr val="C00000"/>
                </a:solidFill>
              </a:rPr>
              <a:t>. 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Control transferred </a:t>
            </a:r>
            <a:r>
              <a:rPr lang="en-US" dirty="0"/>
              <a:t>to the </a:t>
            </a:r>
            <a:r>
              <a:rPr lang="en-US" dirty="0">
                <a:solidFill>
                  <a:srgbClr val="C00000"/>
                </a:solidFill>
              </a:rPr>
              <a:t>CPU scheduler, which selects </a:t>
            </a:r>
            <a:r>
              <a:rPr lang="en-US" dirty="0" smtClean="0">
                <a:solidFill>
                  <a:srgbClr val="C00000"/>
                </a:solidFill>
              </a:rPr>
              <a:t>another process </a:t>
            </a:r>
            <a:r>
              <a:rPr lang="en-US" dirty="0"/>
              <a:t>to execute</a:t>
            </a:r>
            <a:r>
              <a:rPr lang="en-US" dirty="0" smtClean="0"/>
              <a:t>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36249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29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b="1" dirty="0" smtClean="0">
                <a:solidFill>
                  <a:srgbClr val="3366FF"/>
                </a:solidFill>
              </a:rPr>
              <a:t>wakeup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</a:t>
            </a:r>
            <a:endParaRPr lang="en-US" altLang="en-US" dirty="0" smtClean="0"/>
          </a:p>
          <a:p>
            <a:r>
              <a:rPr lang="en-US" sz="2400" dirty="0"/>
              <a:t>A process that is blocked, waiting on a semaphore S, </a:t>
            </a:r>
            <a:r>
              <a:rPr lang="en-US" sz="2400" dirty="0">
                <a:solidFill>
                  <a:srgbClr val="C00000"/>
                </a:solidFill>
              </a:rPr>
              <a:t>should be restarted</a:t>
            </a:r>
          </a:p>
          <a:p>
            <a:pPr marL="0" indent="0">
              <a:buNone/>
            </a:pPr>
            <a:r>
              <a:rPr lang="en-US" sz="2400" dirty="0"/>
              <a:t>when some </a:t>
            </a:r>
            <a:r>
              <a:rPr lang="en-US" sz="2400" dirty="0">
                <a:solidFill>
                  <a:srgbClr val="C00000"/>
                </a:solidFill>
              </a:rPr>
              <a:t>other process executes a signal() </a:t>
            </a:r>
            <a:r>
              <a:rPr lang="en-US" sz="2400" dirty="0"/>
              <a:t>operation. 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process </a:t>
            </a:r>
            <a:r>
              <a:rPr lang="en-US" sz="2400" dirty="0" smtClean="0"/>
              <a:t>is restarted </a:t>
            </a:r>
            <a:r>
              <a:rPr lang="en-US" sz="2400" dirty="0"/>
              <a:t>by a wakeup () </a:t>
            </a:r>
            <a:r>
              <a:rPr lang="en-US" sz="2400" dirty="0" smtClean="0"/>
              <a:t>operation</a:t>
            </a:r>
          </a:p>
        </p:txBody>
      </p:sp>
    </p:spTree>
    <p:extLst>
      <p:ext uri="{BB962C8B-B14F-4D97-AF65-F5344CB8AC3E}">
        <p14:creationId xmlns:p14="http://schemas.microsoft.com/office/powerpoint/2010/main" val="235116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30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 b="1" dirty="0" smtClean="0">
                <a:solidFill>
                  <a:srgbClr val="3366FF"/>
                </a:solidFill>
              </a:rPr>
              <a:t>wakeup</a:t>
            </a:r>
            <a:r>
              <a:rPr lang="en-US" altLang="en-US" dirty="0" smtClean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</a:t>
            </a:r>
            <a:endParaRPr lang="en-US" altLang="en-US" dirty="0" smtClean="0"/>
          </a:p>
          <a:p>
            <a:r>
              <a:rPr lang="en-US" sz="2400" dirty="0" smtClean="0"/>
              <a:t>The </a:t>
            </a:r>
            <a:r>
              <a:rPr lang="en-US" sz="2400" dirty="0"/>
              <a:t>wakeup(P) operation </a:t>
            </a:r>
            <a:r>
              <a:rPr lang="en-US" sz="2400" dirty="0">
                <a:solidFill>
                  <a:srgbClr val="C00000"/>
                </a:solidFill>
              </a:rPr>
              <a:t>resumes the execution </a:t>
            </a:r>
            <a:r>
              <a:rPr lang="en-US" sz="2400" dirty="0"/>
              <a:t>of a blocked process P.</a:t>
            </a:r>
          </a:p>
          <a:p>
            <a:r>
              <a:rPr lang="en-US" altLang="en-US" sz="2400" dirty="0" smtClean="0"/>
              <a:t>Remove </a:t>
            </a:r>
            <a:r>
              <a:rPr lang="en-US" altLang="en-US" sz="2400" dirty="0"/>
              <a:t>one of processes in the waiting queue and place it in the ready queue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Changes </a:t>
            </a:r>
            <a:r>
              <a:rPr lang="en-US" sz="2400" dirty="0"/>
              <a:t>the process </a:t>
            </a:r>
            <a:r>
              <a:rPr lang="en-US" sz="2400" dirty="0" smtClean="0"/>
              <a:t>state from </a:t>
            </a:r>
            <a:r>
              <a:rPr lang="en-US" sz="2400" dirty="0" smtClean="0">
                <a:solidFill>
                  <a:srgbClr val="C00000"/>
                </a:solidFill>
              </a:rPr>
              <a:t>waiting to ready</a:t>
            </a:r>
          </a:p>
          <a:p>
            <a:r>
              <a:rPr lang="en-US" sz="2400" dirty="0" smtClean="0"/>
              <a:t>These </a:t>
            </a:r>
            <a:r>
              <a:rPr lang="en-US" sz="2400" dirty="0"/>
              <a:t>two </a:t>
            </a:r>
            <a:r>
              <a:rPr lang="en-US" sz="2400" dirty="0" smtClean="0"/>
              <a:t>operations are </a:t>
            </a:r>
            <a:r>
              <a:rPr lang="en-US" sz="2400" dirty="0"/>
              <a:t>provided by the operating system as basic system calls</a:t>
            </a:r>
            <a:r>
              <a:rPr lang="en-US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101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31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sz="2400" dirty="0" smtClean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174" y="1528550"/>
            <a:ext cx="3595758" cy="3257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2777" y="1705970"/>
            <a:ext cx="3205847" cy="3183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6259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32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Semaphore </a:t>
            </a:r>
            <a:r>
              <a:rPr lang="en-US" sz="2400" dirty="0"/>
              <a:t>values </a:t>
            </a:r>
            <a:r>
              <a:rPr lang="en-US" sz="2400" dirty="0">
                <a:solidFill>
                  <a:srgbClr val="C00000"/>
                </a:solidFill>
              </a:rPr>
              <a:t>may be negative</a:t>
            </a:r>
            <a:r>
              <a:rPr lang="en-US" sz="2400" dirty="0"/>
              <a:t>,</a:t>
            </a:r>
          </a:p>
          <a:p>
            <a:r>
              <a:rPr lang="en-US" sz="2400" dirty="0" smtClean="0"/>
              <a:t>If </a:t>
            </a:r>
            <a:r>
              <a:rPr lang="en-US" sz="2400" dirty="0"/>
              <a:t>a semaphore value is negative, its </a:t>
            </a:r>
            <a:r>
              <a:rPr lang="en-US" sz="2400" dirty="0" smtClean="0"/>
              <a:t>magnitude is </a:t>
            </a:r>
            <a:r>
              <a:rPr lang="en-US" sz="2400" dirty="0"/>
              <a:t>the </a:t>
            </a:r>
            <a:r>
              <a:rPr lang="en-US" sz="2400" dirty="0" smtClean="0">
                <a:solidFill>
                  <a:srgbClr val="C00000"/>
                </a:solidFill>
              </a:rPr>
              <a:t>no </a:t>
            </a:r>
            <a:r>
              <a:rPr lang="en-US" sz="2400" dirty="0">
                <a:solidFill>
                  <a:srgbClr val="C00000"/>
                </a:solidFill>
              </a:rPr>
              <a:t>of processes waiting on that semaphore</a:t>
            </a:r>
            <a:r>
              <a:rPr lang="en-US" sz="2400" dirty="0" smtClean="0">
                <a:solidFill>
                  <a:srgbClr val="C00000"/>
                </a:solidFill>
              </a:rPr>
              <a:t>.</a:t>
            </a:r>
          </a:p>
          <a:p>
            <a:endParaRPr lang="en-US" sz="2400" dirty="0"/>
          </a:p>
          <a:p>
            <a:r>
              <a:rPr lang="en-US" sz="2400" dirty="0"/>
              <a:t>Semaphore values are </a:t>
            </a:r>
            <a:r>
              <a:rPr lang="en-US" sz="2400" dirty="0">
                <a:solidFill>
                  <a:srgbClr val="C00000"/>
                </a:solidFill>
              </a:rPr>
              <a:t>never negative under the classical definition </a:t>
            </a:r>
            <a:r>
              <a:rPr lang="en-US" sz="2400" dirty="0"/>
              <a:t>of semaphores with busy waiting. </a:t>
            </a:r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17621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Implementation with no busy waiting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33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The list of waiting processes can be easily implemented by </a:t>
            </a:r>
            <a:endParaRPr lang="en-US" sz="2400" dirty="0" smtClean="0"/>
          </a:p>
          <a:p>
            <a:pPr lvl="1"/>
            <a:r>
              <a:rPr lang="en-US" dirty="0" smtClean="0">
                <a:solidFill>
                  <a:srgbClr val="C00000"/>
                </a:solidFill>
              </a:rPr>
              <a:t>a </a:t>
            </a:r>
            <a:r>
              <a:rPr lang="en-US" dirty="0">
                <a:solidFill>
                  <a:srgbClr val="C00000"/>
                </a:solidFill>
              </a:rPr>
              <a:t>link field </a:t>
            </a:r>
            <a:r>
              <a:rPr lang="en-US" dirty="0" smtClean="0"/>
              <a:t>in each </a:t>
            </a:r>
            <a:r>
              <a:rPr lang="en-US" dirty="0"/>
              <a:t>process control block </a:t>
            </a:r>
            <a:r>
              <a:rPr lang="en-US" dirty="0">
                <a:solidFill>
                  <a:srgbClr val="C00000"/>
                </a:solidFill>
              </a:rPr>
              <a:t>(PCB). </a:t>
            </a:r>
            <a:endParaRPr lang="en-US" dirty="0" smtClean="0">
              <a:solidFill>
                <a:srgbClr val="C00000"/>
              </a:solidFill>
            </a:endParaRPr>
          </a:p>
          <a:p>
            <a:r>
              <a:rPr lang="en-US" sz="2400" dirty="0" smtClean="0"/>
              <a:t>Each </a:t>
            </a:r>
            <a:r>
              <a:rPr lang="en-US" sz="2400" dirty="0"/>
              <a:t>semaphore contains </a:t>
            </a:r>
            <a:endParaRPr lang="en-US" sz="2400" dirty="0" smtClean="0"/>
          </a:p>
          <a:p>
            <a:pPr lvl="1"/>
            <a:r>
              <a:rPr lang="en-US" dirty="0" smtClean="0"/>
              <a:t>an </a:t>
            </a:r>
            <a:r>
              <a:rPr lang="en-US" dirty="0"/>
              <a:t>integer value and</a:t>
            </a:r>
          </a:p>
          <a:p>
            <a:pPr lvl="1"/>
            <a:r>
              <a:rPr lang="en-US" dirty="0"/>
              <a:t>a pointer to a list of PCBs. </a:t>
            </a:r>
            <a:endParaRPr lang="en-US" dirty="0" smtClean="0"/>
          </a:p>
          <a:p>
            <a:r>
              <a:rPr lang="en-US" sz="2400" dirty="0" smtClean="0"/>
              <a:t>One </a:t>
            </a:r>
            <a:r>
              <a:rPr lang="en-US" sz="2400" dirty="0"/>
              <a:t>way to </a:t>
            </a:r>
            <a:r>
              <a:rPr lang="en-US" sz="2400" dirty="0">
                <a:solidFill>
                  <a:srgbClr val="C00000"/>
                </a:solidFill>
              </a:rPr>
              <a:t>add and </a:t>
            </a:r>
            <a:r>
              <a:rPr lang="en-US" sz="2400" dirty="0" smtClean="0">
                <a:solidFill>
                  <a:srgbClr val="C00000"/>
                </a:solidFill>
              </a:rPr>
              <a:t>remove </a:t>
            </a:r>
            <a:r>
              <a:rPr lang="en-US" sz="2400" dirty="0">
                <a:solidFill>
                  <a:srgbClr val="C00000"/>
                </a:solidFill>
              </a:rPr>
              <a:t>processes from the </a:t>
            </a:r>
            <a:r>
              <a:rPr lang="en-US" sz="2400" dirty="0" smtClean="0">
                <a:solidFill>
                  <a:srgbClr val="C00000"/>
                </a:solidFill>
              </a:rPr>
              <a:t>list </a:t>
            </a:r>
          </a:p>
          <a:p>
            <a:pPr lvl="1"/>
            <a:r>
              <a:rPr lang="en-US" dirty="0" smtClean="0"/>
              <a:t>so </a:t>
            </a:r>
            <a:r>
              <a:rPr lang="en-US" dirty="0"/>
              <a:t>as to ensure bounded waiting is to use a </a:t>
            </a:r>
            <a:r>
              <a:rPr lang="en-US" dirty="0">
                <a:solidFill>
                  <a:srgbClr val="C00000"/>
                </a:solidFill>
              </a:rPr>
              <a:t>FIFO queue, </a:t>
            </a:r>
            <a:endParaRPr lang="en-US" dirty="0" smtClean="0">
              <a:solidFill>
                <a:srgbClr val="C00000"/>
              </a:solidFill>
            </a:endParaRPr>
          </a:p>
          <a:p>
            <a:pPr lvl="1"/>
            <a:r>
              <a:rPr lang="en-US" dirty="0" smtClean="0"/>
              <a:t>where </a:t>
            </a:r>
            <a:r>
              <a:rPr lang="en-US" dirty="0"/>
              <a:t>the </a:t>
            </a:r>
            <a:r>
              <a:rPr lang="en-US" dirty="0" smtClean="0"/>
              <a:t>semaphore contains </a:t>
            </a:r>
            <a:r>
              <a:rPr lang="en-US" dirty="0"/>
              <a:t>both head and tail pointers to the queue. </a:t>
            </a:r>
            <a:endParaRPr lang="en-US" dirty="0" smtClean="0"/>
          </a:p>
          <a:p>
            <a:pPr lvl="1"/>
            <a:r>
              <a:rPr lang="en-US" dirty="0" smtClean="0"/>
              <a:t>In </a:t>
            </a:r>
            <a:r>
              <a:rPr lang="en-US" dirty="0"/>
              <a:t>general</a:t>
            </a:r>
            <a:r>
              <a:rPr lang="en-US" dirty="0" smtClean="0"/>
              <a:t>, </a:t>
            </a:r>
            <a:r>
              <a:rPr lang="en-US" dirty="0"/>
              <a:t>the </a:t>
            </a:r>
            <a:r>
              <a:rPr lang="en-US" dirty="0" smtClean="0"/>
              <a:t>list can </a:t>
            </a:r>
            <a:r>
              <a:rPr lang="en-US" dirty="0"/>
              <a:t>use </a:t>
            </a:r>
            <a:r>
              <a:rPr lang="en-US" i="1" dirty="0"/>
              <a:t>any </a:t>
            </a:r>
            <a:r>
              <a:rPr lang="en-US" dirty="0"/>
              <a:t>queueing strategy.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98585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Deadlock and Starvation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34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882775" algn="ctr"/>
                <a:tab pos="4568825" algn="ctr"/>
              </a:tabLst>
            </a:pPr>
            <a:r>
              <a:rPr lang="en-US" altLang="en-US" sz="2400" b="1" dirty="0">
                <a:solidFill>
                  <a:srgbClr val="3366FF"/>
                </a:solidFill>
              </a:rPr>
              <a:t>Deadlock </a:t>
            </a:r>
            <a:r>
              <a:rPr lang="en-US" altLang="en-US" sz="2400" dirty="0"/>
              <a:t>– two or more processes are waiting indefinitely for an event that can be caused by only one of the waiting </a:t>
            </a:r>
            <a:r>
              <a:rPr lang="en-US" altLang="en-US" sz="2400" dirty="0" smtClean="0"/>
              <a:t>processes</a:t>
            </a:r>
          </a:p>
          <a:p>
            <a:pPr lvl="1">
              <a:tabLst>
                <a:tab pos="1882775" algn="ctr"/>
                <a:tab pos="4568825" algn="ctr"/>
              </a:tabLst>
            </a:pPr>
            <a:r>
              <a:rPr lang="en-US" altLang="en-US" sz="2000" dirty="0" smtClean="0"/>
              <a:t>The event in question is execution of signal operation</a:t>
            </a:r>
            <a:endParaRPr lang="en-US" altLang="en-US" sz="2000" dirty="0"/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sz="2400" dirty="0">
                <a:solidFill>
                  <a:srgbClr val="000000"/>
                </a:solidFill>
              </a:rPr>
              <a:t>Let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S</a:t>
            </a:r>
            <a:r>
              <a:rPr lang="en-US" altLang="en-US" sz="2400" dirty="0">
                <a:solidFill>
                  <a:srgbClr val="000000"/>
                </a:solidFill>
              </a:rPr>
              <a:t> and</a:t>
            </a: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800" b="1" i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Q</a:t>
            </a: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be </a:t>
            </a:r>
            <a:r>
              <a:rPr lang="en-US" altLang="en-US" sz="2400" dirty="0"/>
              <a:t>two semaphores initialized to 1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i="1" dirty="0">
                <a:solidFill>
                  <a:srgbClr val="000000"/>
                </a:solidFill>
              </a:rPr>
              <a:t>		        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0</a:t>
            </a:r>
            <a:r>
              <a:rPr lang="en-US" altLang="en-US" sz="2400" dirty="0">
                <a:solidFill>
                  <a:srgbClr val="000000"/>
                </a:solidFill>
              </a:rPr>
              <a:t>	                            </a:t>
            </a:r>
            <a:r>
              <a:rPr lang="en-US" altLang="en-US" sz="2400" i="1" dirty="0">
                <a:solidFill>
                  <a:srgbClr val="000000"/>
                </a:solidFill>
              </a:rPr>
              <a:t>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  </a:t>
            </a: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wait(S); 	              wait(Q);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   wait(Q); 	              wait(S);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 ...		     ...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   signal(S);                 signal(Q);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signal(Q);                 signal(S);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endParaRPr lang="en-US" altLang="en-US" sz="14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4916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Deadlock and Starvation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35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i="1" dirty="0">
                <a:solidFill>
                  <a:srgbClr val="000000"/>
                </a:solidFill>
              </a:rPr>
              <a:t>		        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0</a:t>
            </a:r>
            <a:r>
              <a:rPr lang="en-US" altLang="en-US" sz="2400" dirty="0">
                <a:solidFill>
                  <a:srgbClr val="000000"/>
                </a:solidFill>
              </a:rPr>
              <a:t>	                            </a:t>
            </a:r>
            <a:r>
              <a:rPr lang="en-US" altLang="en-US" sz="2400" i="1" dirty="0">
                <a:solidFill>
                  <a:srgbClr val="000000"/>
                </a:solidFill>
              </a:rPr>
              <a:t>P</a:t>
            </a:r>
            <a:r>
              <a:rPr lang="en-US" altLang="en-US" sz="2400" baseline="-25000" dirty="0">
                <a:solidFill>
                  <a:srgbClr val="000000"/>
                </a:solidFill>
              </a:rPr>
              <a:t>1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</a:t>
            </a:r>
            <a:r>
              <a:rPr lang="en-US" altLang="en-US" sz="2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wait(S</a:t>
            </a: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 	              wait(Q);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   wait(Q); 	              wait(S);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 ...		     ...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          signal(S);                 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signal(Q</a:t>
            </a: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             signal(Q);                 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	signal(S</a:t>
            </a:r>
            <a:r>
              <a:rPr lang="en-US" altLang="en-US" sz="1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P0 executes wait(S) then P1 executes wait(Q)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When P0 executes wait(Q), it must wait until P1 executes signal(Q)</a:t>
            </a:r>
          </a:p>
          <a:p>
            <a:pPr>
              <a:tabLst>
                <a:tab pos="1882775" algn="ctr"/>
                <a:tab pos="4568825" algn="ctr"/>
              </a:tabLst>
            </a:pPr>
            <a:r>
              <a:rPr lang="en-US" altLang="en-US" sz="2000" b="1" dirty="0" smtClean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When P1 executes wait(S), it must wait until P0 executes signal (S)</a:t>
            </a:r>
          </a:p>
          <a:p>
            <a:pPr>
              <a:tabLst>
                <a:tab pos="1882775" algn="ctr"/>
                <a:tab pos="4568825" algn="ctr"/>
              </a:tabLst>
            </a:pPr>
            <a:endParaRPr lang="en-US" alt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2702257" y="1992574"/>
            <a:ext cx="1586552" cy="6141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855794" y="1992574"/>
            <a:ext cx="1811987" cy="61414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676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Deadlock and Starvation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36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i="1" dirty="0">
                <a:solidFill>
                  <a:srgbClr val="000000"/>
                </a:solidFill>
              </a:rPr>
              <a:t>		</a:t>
            </a:r>
            <a:endParaRPr lang="en-US" alt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7214" y="1263908"/>
            <a:ext cx="7491409" cy="4228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tabLst>
                <a:tab pos="1882775" algn="ctr"/>
                <a:tab pos="4568825" algn="ctr"/>
              </a:tabLst>
            </a:pPr>
            <a:r>
              <a:rPr lang="en-US" altLang="en-US" sz="2400" dirty="0">
                <a:solidFill>
                  <a:srgbClr val="3366FF"/>
                </a:solidFill>
                <a:latin typeface="Marcellus"/>
                <a:sym typeface="MT Extra" pitchFamily="18" charset="2"/>
              </a:rPr>
              <a:t>Deadlock-Every process in the set is waiting for an event that can be caused only by another process in the </a:t>
            </a:r>
            <a:r>
              <a:rPr lang="en-US" altLang="en-US" sz="2400" dirty="0" smtClean="0">
                <a:solidFill>
                  <a:srgbClr val="3366FF"/>
                </a:solidFill>
                <a:latin typeface="Marcellus"/>
                <a:sym typeface="MT Extra" pitchFamily="18" charset="2"/>
              </a:rPr>
              <a:t>set</a:t>
            </a:r>
          </a:p>
          <a:p>
            <a:pPr marL="342900" indent="-342900">
              <a:buFont typeface="Arial" panose="020B0604020202020204" pitchFamily="34" charset="0"/>
              <a:buChar char="•"/>
              <a:tabLst>
                <a:tab pos="1882775" algn="ctr"/>
                <a:tab pos="4568825" algn="ctr"/>
              </a:tabLst>
            </a:pPr>
            <a:endParaRPr lang="en-US" altLang="en-US" sz="2400" dirty="0">
              <a:solidFill>
                <a:srgbClr val="3366FF"/>
              </a:solidFill>
              <a:latin typeface="Marcellus"/>
              <a:sym typeface="MT Extra" pitchFamily="18" charset="2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882775" algn="ctr"/>
                <a:tab pos="4568825" algn="ctr"/>
              </a:tabLst>
            </a:pPr>
            <a:r>
              <a:rPr lang="en-US" altLang="en-US" sz="2400" dirty="0">
                <a:solidFill>
                  <a:srgbClr val="3366FF"/>
                </a:solidFill>
                <a:latin typeface="Marcellus"/>
                <a:sym typeface="MT Extra" pitchFamily="18" charset="2"/>
              </a:rPr>
              <a:t>Starvation </a:t>
            </a:r>
            <a:r>
              <a:rPr lang="en-US" altLang="en-US" sz="2400" dirty="0">
                <a:latin typeface="Marcellus"/>
              </a:rPr>
              <a:t>– </a:t>
            </a:r>
            <a:r>
              <a:rPr lang="en-US" altLang="en-US" sz="2400" dirty="0">
                <a:solidFill>
                  <a:srgbClr val="3366FF"/>
                </a:solidFill>
                <a:latin typeface="Marcellus"/>
              </a:rPr>
              <a:t>indefinite blocking  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882775" algn="ctr"/>
                <a:tab pos="4568825" algn="ctr"/>
              </a:tabLst>
            </a:pPr>
            <a:r>
              <a:rPr lang="en-US" altLang="en-US" sz="2400" dirty="0">
                <a:latin typeface="Marcellus"/>
              </a:rPr>
              <a:t>A process may never be removed from the semaphore queue in which it is suspended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882775" algn="ctr"/>
                <a:tab pos="4568825" algn="ctr"/>
              </a:tabLst>
            </a:pPr>
            <a:endParaRPr lang="en-US" altLang="en-US" sz="2400" dirty="0" smtClean="0">
              <a:solidFill>
                <a:srgbClr val="3366FF"/>
              </a:solidFill>
              <a:latin typeface="Marcellus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882775" algn="ctr"/>
                <a:tab pos="4568825" algn="ctr"/>
              </a:tabLst>
            </a:pPr>
            <a:r>
              <a:rPr lang="en-US" altLang="en-US" sz="2400" dirty="0" smtClean="0">
                <a:solidFill>
                  <a:srgbClr val="3366FF"/>
                </a:solidFill>
                <a:latin typeface="Marcellus"/>
              </a:rPr>
              <a:t>Priority </a:t>
            </a:r>
            <a:r>
              <a:rPr lang="en-US" altLang="en-US" sz="2400" dirty="0">
                <a:solidFill>
                  <a:srgbClr val="3366FF"/>
                </a:solidFill>
                <a:latin typeface="Marcellus"/>
              </a:rPr>
              <a:t>Inversion </a:t>
            </a:r>
            <a:r>
              <a:rPr lang="en-US" altLang="en-US" sz="2400" dirty="0">
                <a:latin typeface="Marcellus"/>
              </a:rPr>
              <a:t>– Scheduling problem when lower-priority process holds a lock needed by higher-priority process</a:t>
            </a:r>
          </a:p>
          <a:p>
            <a:pPr marL="742950" lvl="1" indent="-285750">
              <a:lnSpc>
                <a:spcPct val="90000"/>
              </a:lnSpc>
              <a:buFont typeface="Arial" panose="020B0604020202020204" pitchFamily="34" charset="0"/>
              <a:buChar char="•"/>
              <a:tabLst>
                <a:tab pos="1882775" algn="ctr"/>
                <a:tab pos="4568825" algn="ctr"/>
              </a:tabLst>
            </a:pPr>
            <a:r>
              <a:rPr lang="en-US" altLang="en-US" sz="2400" dirty="0">
                <a:latin typeface="Marcellus"/>
              </a:rPr>
              <a:t>Solved via </a:t>
            </a:r>
            <a:r>
              <a:rPr lang="en-US" altLang="en-US" sz="2400" dirty="0">
                <a:solidFill>
                  <a:srgbClr val="3366FF"/>
                </a:solidFill>
                <a:latin typeface="Marcellus"/>
              </a:rPr>
              <a:t>priority- inheritance protocol</a:t>
            </a:r>
          </a:p>
        </p:txBody>
      </p:sp>
    </p:spTree>
    <p:extLst>
      <p:ext uri="{BB962C8B-B14F-4D97-AF65-F5344CB8AC3E}">
        <p14:creationId xmlns:p14="http://schemas.microsoft.com/office/powerpoint/2010/main" val="1155897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Classical Problems of Synchronization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37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i="1" dirty="0">
                <a:solidFill>
                  <a:srgbClr val="000000"/>
                </a:solidFill>
              </a:rPr>
              <a:t>		</a:t>
            </a:r>
            <a:endParaRPr lang="en-US" alt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7214" y="1263908"/>
            <a:ext cx="749140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800" dirty="0"/>
              <a:t>Classical problems used to test newly-proposed synchronization schemes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Bounded-Buffer Problem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Readers and Writers Problem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en-US" sz="2800" dirty="0"/>
              <a:t>Dining-Philosophers Problem</a:t>
            </a:r>
          </a:p>
        </p:txBody>
      </p:sp>
    </p:spTree>
    <p:extLst>
      <p:ext uri="{BB962C8B-B14F-4D97-AF65-F5344CB8AC3E}">
        <p14:creationId xmlns:p14="http://schemas.microsoft.com/office/powerpoint/2010/main" val="4079066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Bounded-Buffer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38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i="1" dirty="0">
                <a:solidFill>
                  <a:srgbClr val="000000"/>
                </a:solidFill>
              </a:rPr>
              <a:t>		</a:t>
            </a:r>
            <a:endParaRPr lang="en-US" alt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47213" y="911160"/>
            <a:ext cx="749140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1" dirty="0">
                <a:latin typeface="Marcellus"/>
              </a:rPr>
              <a:t>n</a:t>
            </a:r>
            <a:r>
              <a:rPr lang="en-US" altLang="en-US" sz="2400" dirty="0">
                <a:latin typeface="Marcellus"/>
              </a:rPr>
              <a:t> buffers, each can hold one item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Marcellus"/>
              </a:rPr>
              <a:t>Semaphore </a:t>
            </a:r>
            <a:r>
              <a:rPr lang="en-US" altLang="en-US" sz="2400" dirty="0" err="1">
                <a:solidFill>
                  <a:srgbClr val="C00000"/>
                </a:solidFill>
                <a:latin typeface="Marcellus"/>
                <a:cs typeface="Courier New" pitchFamily="49" charset="0"/>
              </a:rPr>
              <a:t>mutex</a:t>
            </a: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-&gt;Binary Semaphore </a:t>
            </a:r>
            <a:endParaRPr lang="en-US" altLang="en-US" sz="2400" dirty="0">
              <a:solidFill>
                <a:srgbClr val="C00000"/>
              </a:solidFill>
              <a:latin typeface="Marcellu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Provides mutual exclusion for access to the buffer pool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i</a:t>
            </a:r>
            <a:r>
              <a:rPr lang="en-US" altLang="en-US" sz="2400" dirty="0">
                <a:latin typeface="Marcellus"/>
              </a:rPr>
              <a:t>nitialized to the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value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Semaphore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  <a:cs typeface="Courier New" pitchFamily="49" charset="0"/>
              </a:rPr>
              <a:t>full</a:t>
            </a: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-&gt;Counting Semaphore</a:t>
            </a:r>
            <a:endParaRPr lang="en-US" altLang="en-US" sz="2400" dirty="0">
              <a:solidFill>
                <a:srgbClr val="C00000"/>
              </a:solidFill>
              <a:latin typeface="Marcellu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Counts no of full buffers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initialized </a:t>
            </a:r>
            <a:r>
              <a:rPr lang="en-US" altLang="en-US" sz="2400" dirty="0">
                <a:latin typeface="Marcellus"/>
              </a:rPr>
              <a:t>to the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value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Marcellus"/>
              </a:rPr>
              <a:t>Semaphore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  <a:cs typeface="Courier New" pitchFamily="49" charset="0"/>
              </a:rPr>
              <a:t>empty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-&gt;Counting Semaphore</a:t>
            </a:r>
            <a:endParaRPr lang="en-US" altLang="en-US" sz="2400" dirty="0">
              <a:solidFill>
                <a:srgbClr val="C00000"/>
              </a:solidFill>
              <a:latin typeface="Marcellus"/>
              <a:cs typeface="Courier New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Marcellus"/>
                <a:cs typeface="Courier New" pitchFamily="49" charset="0"/>
              </a:rPr>
              <a:t>Counts no of empty buffers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rgbClr val="000000"/>
                </a:solidFill>
                <a:latin typeface="Marcellus"/>
              </a:rPr>
              <a:t>initialized </a:t>
            </a:r>
            <a:r>
              <a:rPr lang="en-US" altLang="en-US" sz="2400" dirty="0">
                <a:latin typeface="Marcellus"/>
              </a:rPr>
              <a:t>to the </a:t>
            </a:r>
            <a:r>
              <a:rPr lang="en-US" altLang="en-US" sz="2400" dirty="0">
                <a:solidFill>
                  <a:srgbClr val="C00000"/>
                </a:solidFill>
                <a:latin typeface="Marcellus"/>
              </a:rPr>
              <a:t>value </a:t>
            </a: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rgbClr val="C00000"/>
              </a:solidFill>
              <a:latin typeface="Marcellu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 smtClean="0">
                <a:solidFill>
                  <a:srgbClr val="C00000"/>
                </a:solidFill>
                <a:latin typeface="Marcellus"/>
              </a:rPr>
              <a:t>Assuming Buffer is empty</a:t>
            </a:r>
            <a:endParaRPr lang="en-US" altLang="en-US" sz="2400" dirty="0">
              <a:solidFill>
                <a:srgbClr val="C00000"/>
              </a:solidFill>
              <a:latin typeface="Marcellus"/>
            </a:endParaRPr>
          </a:p>
        </p:txBody>
      </p:sp>
    </p:spTree>
    <p:extLst>
      <p:ext uri="{BB962C8B-B14F-4D97-AF65-F5344CB8AC3E}">
        <p14:creationId xmlns:p14="http://schemas.microsoft.com/office/powerpoint/2010/main" val="49891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Bounded-Buffer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1018910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39</a:t>
            </a:fld>
            <a:endParaRPr lang="en-US"/>
          </a:p>
        </p:txBody>
      </p:sp>
      <p:sp>
        <p:nvSpPr>
          <p:cNvPr id="12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982639" y="953779"/>
            <a:ext cx="7370285" cy="44870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  <a:tabLst>
                <a:tab pos="1882775" algn="ctr"/>
                <a:tab pos="4568825" algn="ctr"/>
              </a:tabLst>
            </a:pPr>
            <a:r>
              <a:rPr lang="en-US" altLang="en-US" sz="2400" i="1" dirty="0">
                <a:solidFill>
                  <a:srgbClr val="000000"/>
                </a:solidFill>
              </a:rPr>
              <a:t>		</a:t>
            </a:r>
            <a:endParaRPr lang="en-US" altLang="en-US" sz="2000" b="1" dirty="0">
              <a:solidFill>
                <a:srgbClr val="0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914400" y="953778"/>
            <a:ext cx="7848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dirty="0" smtClean="0"/>
              <a:t>The structure of the producer process</a:t>
            </a:r>
          </a:p>
          <a:p>
            <a:pPr>
              <a:buFont typeface="Monotype Sorts" pitchFamily="-84" charset="2"/>
              <a:buNone/>
            </a:pP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400" b="1" dirty="0" smtClean="0"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do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  ...</a:t>
            </a:r>
            <a:b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/* produce an item in </a:t>
            </a:r>
            <a:r>
              <a:rPr lang="en-US" altLang="en-US" sz="1600" b="1" dirty="0" err="1" smtClean="0">
                <a:latin typeface="Courier New" pitchFamily="49" charset="0"/>
                <a:cs typeface="Courier New" pitchFamily="49" charset="0"/>
              </a:rPr>
              <a:t>next_produced</a:t>
            </a: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wait(empty);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wait(</a:t>
            </a:r>
            <a:r>
              <a:rPr lang="en-US" altLang="en-US" sz="1600" b="1" dirty="0" err="1" smtClean="0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   ...</a:t>
            </a:r>
            <a:b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/* add next produced to the buffer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signal(</a:t>
            </a:r>
            <a:r>
              <a:rPr lang="en-US" altLang="en-US" sz="1600" b="1" dirty="0" err="1" smtClean="0">
                <a:latin typeface="Courier New" pitchFamily="49" charset="0"/>
                <a:cs typeface="Courier New" pitchFamily="49" charset="0"/>
              </a:rPr>
              <a:t>mutex</a:t>
            </a: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   signal(full);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 smtClean="0">
                <a:latin typeface="Courier New" pitchFamily="49" charset="0"/>
                <a:cs typeface="Courier New" pitchFamily="49" charset="0"/>
              </a:rPr>
              <a:t>     } while (true);</a:t>
            </a:r>
            <a:r>
              <a:rPr lang="en-US" altLang="en-US" sz="1400" b="1" dirty="0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altLang="en-US" sz="1400" b="1" dirty="0" smtClean="0">
                <a:latin typeface="Courier New" pitchFamily="49" charset="0"/>
                <a:cs typeface="Courier New" pitchFamily="49" charset="0"/>
              </a:rPr>
            </a:br>
            <a:endParaRPr lang="en-US" altLang="en-US" sz="14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09230" y="1263907"/>
            <a:ext cx="26293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smtClean="0"/>
              <a:t>Semaphore </a:t>
            </a:r>
            <a:r>
              <a:rPr lang="en-US" altLang="en-US" dirty="0" err="1">
                <a:solidFill>
                  <a:srgbClr val="000000"/>
                </a:solidFill>
                <a:cs typeface="Courier New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i</a:t>
            </a:r>
            <a:r>
              <a:rPr lang="en-US" altLang="en-US" dirty="0" smtClean="0"/>
              <a:t>nitialized </a:t>
            </a:r>
            <a:r>
              <a:rPr lang="en-US" altLang="en-US" dirty="0"/>
              <a:t>to the value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dirty="0">
                <a:solidFill>
                  <a:srgbClr val="000000"/>
                </a:solidFill>
                <a:cs typeface="Courier New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Semaphore </a:t>
            </a:r>
            <a:r>
              <a:rPr lang="en-US" altLang="en-US" dirty="0">
                <a:solidFill>
                  <a:srgbClr val="000000"/>
                </a:solidFill>
                <a:cs typeface="Courier New" pitchFamily="49" charset="0"/>
              </a:rPr>
              <a:t>empty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</p:txBody>
      </p:sp>
    </p:spTree>
    <p:extLst>
      <p:ext uri="{BB962C8B-B14F-4D97-AF65-F5344CB8AC3E}">
        <p14:creationId xmlns:p14="http://schemas.microsoft.com/office/powerpoint/2010/main" val="153461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Bounded-Buffer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40</a:t>
            </a:fld>
            <a:endParaRPr 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>
          <a:xfrm>
            <a:off x="839788" y="969726"/>
            <a:ext cx="7848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66" indent="-342866">
              <a:buFont typeface="Monotype Sorts" charset="0"/>
              <a:buChar char="n"/>
              <a:defRPr/>
            </a:pPr>
            <a:r>
              <a:rPr lang="en-US" sz="1600" dirty="0" smtClean="0">
                <a:ea typeface="ＭＳ Ｐゴシック" charset="0"/>
                <a:cs typeface="ＭＳ Ｐゴシック" charset="0"/>
              </a:rPr>
              <a:t>The structure of the consumer process</a:t>
            </a:r>
          </a:p>
          <a:p>
            <a:pPr marL="342866" indent="-342866">
              <a:buFont typeface="Monotype Sorts" charset="0"/>
              <a:buChar char="n"/>
              <a:defRPr/>
            </a:pPr>
            <a:endParaRPr lang="en-US" sz="1600" dirty="0" smtClean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400" b="1" dirty="0" smtClean="0">
                <a:latin typeface="Courier New"/>
                <a:ea typeface="ＭＳ Ｐゴシック" pitchFamily="-84" charset="-128"/>
                <a:cs typeface="Courier New"/>
              </a:rPr>
              <a:t>     </a:t>
            </a: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Do {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wait(full);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wait(</a:t>
            </a:r>
            <a:r>
              <a:rPr lang="en-US" sz="1600" b="1" dirty="0" err="1" smtClean="0">
                <a:latin typeface="Courier New"/>
                <a:ea typeface="ＭＳ Ｐゴシック" pitchFamily="-84" charset="-128"/>
                <a:cs typeface="Courier New"/>
              </a:rPr>
              <a:t>mutex</a:t>
            </a: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);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   ...</a:t>
            </a:r>
            <a:b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</a:b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/* remove an item from buffer to </a:t>
            </a:r>
            <a:r>
              <a:rPr lang="en-US" sz="1600" b="1" dirty="0" err="1" smtClean="0">
                <a:latin typeface="Courier New"/>
                <a:ea typeface="ＭＳ Ｐゴシック" pitchFamily="-84" charset="-128"/>
                <a:cs typeface="Courier New"/>
              </a:rPr>
              <a:t>next_consumed</a:t>
            </a: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   ...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signal(</a:t>
            </a:r>
            <a:r>
              <a:rPr lang="en-US" sz="1600" b="1" dirty="0" err="1" smtClean="0">
                <a:latin typeface="Courier New"/>
                <a:ea typeface="ＭＳ Ｐゴシック" pitchFamily="-84" charset="-128"/>
                <a:cs typeface="Courier New"/>
              </a:rPr>
              <a:t>mutex</a:t>
            </a: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);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signal(empty);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   ...</a:t>
            </a:r>
            <a:b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</a:b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/* consume the item in next consumed */ </a:t>
            </a:r>
          </a:p>
          <a:p>
            <a:pPr marL="0" indent="0">
              <a:buFont typeface="Monotype Sorts" pitchFamily="-84" charset="2"/>
              <a:buNone/>
              <a:defRPr/>
            </a:pP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      ...</a:t>
            </a:r>
            <a:b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</a:br>
            <a:r>
              <a:rPr lang="en-US" sz="1600" b="1" dirty="0" smtClean="0">
                <a:latin typeface="Courier New"/>
                <a:ea typeface="ＭＳ Ｐゴシック" pitchFamily="-84" charset="-128"/>
                <a:cs typeface="Courier New"/>
              </a:rPr>
              <a:t>     } while (true); </a:t>
            </a:r>
          </a:p>
          <a:p>
            <a:pPr marL="342866" indent="-342866">
              <a:buFont typeface="Monotype Sorts" pitchFamily="-84" charset="2"/>
              <a:buNone/>
              <a:defRPr/>
            </a:pPr>
            <a:endParaRPr lang="en-US" sz="16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58995" y="1245845"/>
            <a:ext cx="26293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 smtClean="0"/>
              <a:t>Semaphore </a:t>
            </a:r>
            <a:r>
              <a:rPr lang="en-US" altLang="en-US" dirty="0" err="1">
                <a:solidFill>
                  <a:srgbClr val="000000"/>
                </a:solidFill>
                <a:cs typeface="Courier New" pitchFamily="49" charset="0"/>
              </a:rPr>
              <a:t>mutex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i</a:t>
            </a:r>
            <a:r>
              <a:rPr lang="en-US" altLang="en-US" dirty="0" smtClean="0"/>
              <a:t>nitialized </a:t>
            </a:r>
            <a:r>
              <a:rPr lang="en-US" altLang="en-US" dirty="0"/>
              <a:t>to the value 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rgbClr val="000000"/>
                </a:solidFill>
              </a:rPr>
              <a:t>Semaphore </a:t>
            </a:r>
            <a:r>
              <a:rPr lang="en-US" altLang="en-US" dirty="0">
                <a:solidFill>
                  <a:srgbClr val="000000"/>
                </a:solidFill>
                <a:cs typeface="Courier New" pitchFamily="49" charset="0"/>
              </a:rPr>
              <a:t>full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dirty="0"/>
              <a:t>Semaphore </a:t>
            </a:r>
            <a:r>
              <a:rPr lang="en-US" altLang="en-US" dirty="0">
                <a:solidFill>
                  <a:srgbClr val="000000"/>
                </a:solidFill>
                <a:cs typeface="Courier New" pitchFamily="49" charset="0"/>
              </a:rPr>
              <a:t>empty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dirty="0" smtClean="0">
                <a:solidFill>
                  <a:srgbClr val="000000"/>
                </a:solidFill>
              </a:rPr>
              <a:t>initialized </a:t>
            </a:r>
            <a:r>
              <a:rPr lang="en-US" altLang="en-US" dirty="0"/>
              <a:t>to the value n</a:t>
            </a:r>
          </a:p>
        </p:txBody>
      </p:sp>
    </p:spTree>
    <p:extLst>
      <p:ext uri="{BB962C8B-B14F-4D97-AF65-F5344CB8AC3E}">
        <p14:creationId xmlns:p14="http://schemas.microsoft.com/office/powerpoint/2010/main" val="491498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Readers-Writers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41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60426" y="1111250"/>
            <a:ext cx="7866063" cy="500538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A data set/object/File/Record is shared among a number of concurrent processes</a:t>
            </a:r>
          </a:p>
          <a:p>
            <a:pPr lvl="1"/>
            <a:r>
              <a:rPr lang="en-US" altLang="en-US" sz="2000" dirty="0" smtClean="0"/>
              <a:t>Readers – </a:t>
            </a:r>
            <a:r>
              <a:rPr lang="en-US" altLang="en-US" sz="2000" dirty="0" smtClean="0">
                <a:solidFill>
                  <a:srgbClr val="C00000"/>
                </a:solidFill>
              </a:rPr>
              <a:t>only read </a:t>
            </a:r>
            <a:r>
              <a:rPr lang="en-US" altLang="en-US" sz="2000" dirty="0" smtClean="0"/>
              <a:t>the data set; they do </a:t>
            </a:r>
            <a:r>
              <a:rPr lang="en-US" altLang="en-US" sz="2000" b="1" i="1" dirty="0" smtClean="0"/>
              <a:t>not</a:t>
            </a:r>
            <a:r>
              <a:rPr lang="en-US" altLang="en-US" sz="2000" b="1" dirty="0" smtClean="0"/>
              <a:t> </a:t>
            </a:r>
            <a:r>
              <a:rPr lang="en-US" altLang="en-US" sz="2000" dirty="0" smtClean="0"/>
              <a:t>perform any updates</a:t>
            </a:r>
          </a:p>
          <a:p>
            <a:pPr lvl="1"/>
            <a:r>
              <a:rPr lang="en-US" altLang="en-US" sz="2000" dirty="0" smtClean="0"/>
              <a:t>Writers   – </a:t>
            </a:r>
            <a:r>
              <a:rPr lang="en-US" altLang="en-US" sz="2000" dirty="0" smtClean="0">
                <a:solidFill>
                  <a:srgbClr val="C00000"/>
                </a:solidFill>
              </a:rPr>
              <a:t>can both read and </a:t>
            </a:r>
            <a:r>
              <a:rPr lang="en-US" altLang="en-US" sz="2000" dirty="0">
                <a:solidFill>
                  <a:srgbClr val="C00000"/>
                </a:solidFill>
              </a:rPr>
              <a:t>write</a:t>
            </a:r>
            <a:r>
              <a:rPr lang="en-US" altLang="en-US" sz="2000" dirty="0"/>
              <a:t>/Want to update</a:t>
            </a:r>
            <a:endParaRPr lang="en-US" altLang="en-US" sz="2000" dirty="0" smtClean="0"/>
          </a:p>
          <a:p>
            <a:endParaRPr lang="en-US" altLang="en-US" sz="2400" dirty="0" smtClean="0"/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Problem – allow </a:t>
            </a:r>
            <a:r>
              <a:rPr lang="en-US" altLang="en-US" sz="2400" dirty="0" smtClean="0">
                <a:solidFill>
                  <a:srgbClr val="C00000"/>
                </a:solidFill>
              </a:rPr>
              <a:t>multiple readers </a:t>
            </a:r>
            <a:r>
              <a:rPr lang="en-US" altLang="en-US" sz="2400" dirty="0" smtClean="0"/>
              <a:t>to read at the same time, </a:t>
            </a:r>
            <a:r>
              <a:rPr lang="en-US" altLang="en-US" sz="2400" dirty="0" smtClean="0">
                <a:solidFill>
                  <a:srgbClr val="C00000"/>
                </a:solidFill>
              </a:rPr>
              <a:t>no adverse</a:t>
            </a:r>
            <a:r>
              <a:rPr lang="en-US" altLang="en-US" sz="2400" dirty="0" smtClean="0"/>
              <a:t> effects</a:t>
            </a:r>
          </a:p>
          <a:p>
            <a:pPr lvl="1"/>
            <a:r>
              <a:rPr lang="en-US" altLang="en-US" sz="2000" dirty="0" smtClean="0">
                <a:solidFill>
                  <a:srgbClr val="C00000"/>
                </a:solidFill>
              </a:rPr>
              <a:t>Only one single writer can access the shared data </a:t>
            </a:r>
            <a:r>
              <a:rPr lang="en-US" altLang="en-US" sz="2000" dirty="0" smtClean="0"/>
              <a:t>at the same time</a:t>
            </a:r>
          </a:p>
          <a:p>
            <a:pPr lvl="1"/>
            <a:r>
              <a:rPr lang="en-US" altLang="en-US" sz="2000" dirty="0" smtClean="0"/>
              <a:t>If </a:t>
            </a:r>
            <a:r>
              <a:rPr lang="en-US" altLang="en-US" sz="2000" dirty="0" smtClean="0">
                <a:solidFill>
                  <a:srgbClr val="C00000"/>
                </a:solidFill>
              </a:rPr>
              <a:t>a writer and some other process(reader/writer) access</a:t>
            </a:r>
            <a:r>
              <a:rPr lang="en-US" altLang="en-US" sz="2000" dirty="0" smtClean="0"/>
              <a:t> shared object simultaneously </a:t>
            </a:r>
            <a:r>
              <a:rPr lang="en-US" altLang="en-US" sz="2000" dirty="0" smtClean="0">
                <a:solidFill>
                  <a:srgbClr val="C00000"/>
                </a:solidFill>
              </a:rPr>
              <a:t>chaos </a:t>
            </a:r>
            <a:r>
              <a:rPr lang="en-US" altLang="en-US" sz="2000" dirty="0" smtClean="0"/>
              <a:t>may ensue</a:t>
            </a:r>
          </a:p>
          <a:p>
            <a:pPr lvl="1"/>
            <a:endParaRPr lang="en-US" altLang="en-US" sz="2000" dirty="0" smtClean="0"/>
          </a:p>
          <a:p>
            <a:r>
              <a:rPr lang="en-US" altLang="en-US" dirty="0" smtClean="0"/>
              <a:t>Requirements</a:t>
            </a:r>
          </a:p>
          <a:p>
            <a:pPr lvl="1"/>
            <a:r>
              <a:rPr lang="en-US" altLang="en-US" dirty="0" smtClean="0"/>
              <a:t>Writers must have exclusive access to the shared object</a:t>
            </a:r>
          </a:p>
          <a:p>
            <a:pPr lvl="1"/>
            <a:endParaRPr lang="en-US" altLang="en-US" sz="2000" dirty="0" smtClean="0"/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54560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Readers-Writers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42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60426" y="1097602"/>
            <a:ext cx="7866063" cy="500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Several variations of how readers and writers are considered  – all involve some form of priorities</a:t>
            </a:r>
          </a:p>
          <a:p>
            <a:endParaRPr lang="en-US" altLang="en-US" sz="2400" dirty="0" smtClean="0"/>
          </a:p>
          <a:p>
            <a:r>
              <a:rPr lang="en-US" altLang="en-US" sz="2400" dirty="0" smtClean="0">
                <a:solidFill>
                  <a:srgbClr val="C00000"/>
                </a:solidFill>
              </a:rPr>
              <a:t>First Reader </a:t>
            </a:r>
            <a:r>
              <a:rPr lang="en-US" altLang="en-US" sz="2400" dirty="0" smtClean="0"/>
              <a:t>Writer Problem-</a:t>
            </a:r>
          </a:p>
          <a:p>
            <a:pPr lvl="1"/>
            <a:r>
              <a:rPr lang="en-US" altLang="en-US" sz="2000" dirty="0" smtClean="0"/>
              <a:t>No reader will be kept waiting unless a writer has already obtained permission to use the shared object.</a:t>
            </a:r>
          </a:p>
          <a:p>
            <a:pPr lvl="1"/>
            <a:r>
              <a:rPr lang="en-US" altLang="en-US" sz="2000" dirty="0" smtClean="0">
                <a:solidFill>
                  <a:srgbClr val="C00000"/>
                </a:solidFill>
              </a:rPr>
              <a:t>No reader should wait for other readers</a:t>
            </a:r>
          </a:p>
          <a:p>
            <a:endParaRPr lang="en-US" altLang="en-US" sz="2400" dirty="0" smtClean="0"/>
          </a:p>
          <a:p>
            <a:r>
              <a:rPr lang="en-US" altLang="en-US" sz="2400" dirty="0" smtClean="0">
                <a:solidFill>
                  <a:srgbClr val="C00000"/>
                </a:solidFill>
              </a:rPr>
              <a:t>Second</a:t>
            </a:r>
            <a:r>
              <a:rPr lang="en-US" altLang="en-US" sz="2400" dirty="0" smtClean="0"/>
              <a:t> Reader Writer Problem-</a:t>
            </a:r>
          </a:p>
          <a:p>
            <a:pPr lvl="1"/>
            <a:r>
              <a:rPr lang="en-US" altLang="en-US" sz="2000" dirty="0" smtClean="0"/>
              <a:t>Once a writer is ready , that writer performs its write as soon as possible</a:t>
            </a:r>
          </a:p>
          <a:p>
            <a:pPr lvl="1"/>
            <a:r>
              <a:rPr lang="en-US" altLang="en-US" sz="2000" dirty="0" smtClean="0">
                <a:solidFill>
                  <a:srgbClr val="C00000"/>
                </a:solidFill>
              </a:rPr>
              <a:t>If a writer is waiting to access the object, no new readers may start reading</a:t>
            </a:r>
          </a:p>
          <a:p>
            <a:pPr lvl="1"/>
            <a:endParaRPr lang="en-US" altLang="en-US" sz="200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942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Readers-Writers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43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60426" y="1111250"/>
            <a:ext cx="7866063" cy="5005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 smtClean="0"/>
              <a:t>Solution to First Reader Writer Problem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Shared Data</a:t>
            </a:r>
          </a:p>
          <a:p>
            <a:pPr lvl="1"/>
            <a:r>
              <a:rPr lang="en-US" altLang="en-US" dirty="0" smtClean="0"/>
              <a:t>Data set</a:t>
            </a:r>
          </a:p>
          <a:p>
            <a:pPr lvl="1"/>
            <a:r>
              <a:rPr lang="en-US" altLang="en-US" dirty="0" smtClean="0"/>
              <a:t>Semaphore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</a:rPr>
              <a:t>rw_mutex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lvl="2"/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Common to both reader and writers</a:t>
            </a:r>
          </a:p>
          <a:p>
            <a:pPr lvl="2"/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Mutual Exclusion semaphore for the writers</a:t>
            </a:r>
          </a:p>
          <a:p>
            <a:pPr lvl="2"/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Also used by 1</a:t>
            </a:r>
            <a:r>
              <a:rPr lang="en-US" altLang="en-US" b="1" baseline="30000" dirty="0" smtClean="0">
                <a:solidFill>
                  <a:srgbClr val="000000"/>
                </a:solidFill>
                <a:latin typeface="Courier New" pitchFamily="49" charset="0"/>
              </a:rPr>
              <a:t>st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 or Last Reader that enters or exits CS</a:t>
            </a:r>
          </a:p>
          <a:p>
            <a:pPr lvl="2"/>
            <a:r>
              <a:rPr lang="en-US" altLang="en-US" dirty="0" smtClean="0"/>
              <a:t>initialized to 1</a:t>
            </a:r>
          </a:p>
          <a:p>
            <a:pPr lvl="1"/>
            <a:r>
              <a:rPr lang="en-US" altLang="en-US" dirty="0" smtClean="0"/>
              <a:t>Semaphore </a:t>
            </a:r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</a:rPr>
              <a:t>mutex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lvl="2"/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To ensure ME when variable </a:t>
            </a:r>
            <a:r>
              <a:rPr lang="en-US" altLang="en-US" b="1" dirty="0" err="1" smtClean="0">
                <a:solidFill>
                  <a:srgbClr val="000000"/>
                </a:solidFill>
                <a:latin typeface="Courier New" pitchFamily="49" charset="0"/>
              </a:rPr>
              <a:t>readcount</a:t>
            </a:r>
            <a:r>
              <a:rPr lang="en-US" altLang="en-US" b="1" dirty="0" smtClean="0">
                <a:solidFill>
                  <a:srgbClr val="000000"/>
                </a:solidFill>
                <a:latin typeface="Courier New" pitchFamily="49" charset="0"/>
              </a:rPr>
              <a:t> is updated</a:t>
            </a:r>
          </a:p>
          <a:p>
            <a:pPr lvl="2"/>
            <a:r>
              <a:rPr lang="en-US" altLang="en-US" dirty="0" smtClean="0"/>
              <a:t>initialized to 1</a:t>
            </a:r>
          </a:p>
          <a:p>
            <a:pPr lvl="1"/>
            <a:r>
              <a:rPr lang="en-US" altLang="en-US" dirty="0" smtClean="0"/>
              <a:t>Integer </a:t>
            </a:r>
            <a:r>
              <a:rPr lang="en-US" altLang="en-US" sz="2000" b="1" dirty="0" err="1" smtClean="0">
                <a:solidFill>
                  <a:srgbClr val="000000"/>
                </a:solidFill>
                <a:latin typeface="Courier New" pitchFamily="49" charset="0"/>
              </a:rPr>
              <a:t>read_count</a:t>
            </a:r>
            <a:r>
              <a:rPr lang="en-US" altLang="en-US" dirty="0" smtClean="0"/>
              <a:t> initialized to 0</a:t>
            </a:r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000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Readers-Writers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44</a:t>
            </a:fld>
            <a:endParaRPr lang="en-US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827088" y="1279525"/>
            <a:ext cx="7848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600" smtClean="0"/>
              <a:t>The structure of a writer process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FF"/>
                </a:solidFill>
              </a:rPr>
              <a:t>       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do {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wait(rw_mutex);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    ...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/* writing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signal(rw_mutex);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} while (true);</a:t>
            </a:r>
            <a:r>
              <a:rPr lang="en-US" altLang="en-US" sz="1400" b="1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altLang="en-US" sz="1400" b="1" smtClean="0">
                <a:latin typeface="Courier New" pitchFamily="49" charset="0"/>
                <a:cs typeface="Courier New" pitchFamily="49" charset="0"/>
              </a:rPr>
            </a:br>
            <a:endParaRPr lang="en-US" altLang="en-US" sz="1400" b="1" smtClean="0">
              <a:latin typeface="Courier New" pitchFamily="49" charset="0"/>
              <a:cs typeface="Courier New" pitchFamily="49" charset="0"/>
            </a:endParaRPr>
          </a:p>
          <a:p>
            <a:pPr>
              <a:buFont typeface="Monotype Sorts" pitchFamily="-84" charset="2"/>
              <a:buNone/>
            </a:pPr>
            <a:endParaRPr lang="en-US" altLang="en-US" smtClean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endParaRPr lang="en-US" altLang="en-US" smtClean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mtClean="0">
                <a:solidFill>
                  <a:srgbClr val="0000FF"/>
                </a:solidFill>
              </a:rPr>
              <a:t>       </a:t>
            </a:r>
            <a:endParaRPr lang="en-US" altLang="en-US" dirty="0" smtClean="0">
              <a:solidFill>
                <a:srgbClr val="0000FF"/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5660409" y="1111250"/>
            <a:ext cx="3066080" cy="500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400" dirty="0" smtClean="0"/>
              <a:t>Semaphore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rw_mutex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lvl="2"/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Mutual Exclusion for the writers</a:t>
            </a:r>
          </a:p>
          <a:p>
            <a:pPr lvl="2"/>
            <a:r>
              <a:rPr lang="en-US" altLang="en-US" sz="1400" dirty="0" smtClean="0"/>
              <a:t>initialized to 1</a:t>
            </a:r>
          </a:p>
          <a:p>
            <a:pPr lvl="1"/>
            <a:r>
              <a:rPr lang="en-US" altLang="en-US" sz="1400" dirty="0" smtClean="0"/>
              <a:t>Semaphore </a:t>
            </a:r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mutex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lvl="2"/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ME for </a:t>
            </a:r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readcount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update</a:t>
            </a:r>
          </a:p>
          <a:p>
            <a:pPr lvl="2"/>
            <a:r>
              <a:rPr lang="en-US" altLang="en-US" sz="1400" dirty="0" smtClean="0"/>
              <a:t>initialized to 1</a:t>
            </a:r>
          </a:p>
          <a:p>
            <a:pPr lvl="1"/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read_count</a:t>
            </a:r>
            <a:r>
              <a:rPr lang="en-US" altLang="en-US" sz="1400" dirty="0" smtClean="0"/>
              <a:t> initialized to 0</a:t>
            </a:r>
          </a:p>
          <a:p>
            <a:pPr lvl="1"/>
            <a:endParaRPr lang="en-US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133509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Readers-Writers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45</a:t>
            </a:fld>
            <a:endParaRPr 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841376" y="1076326"/>
            <a:ext cx="7747000" cy="50657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mtClean="0"/>
              <a:t>The structure of a reader process</a:t>
            </a:r>
            <a:endParaRPr lang="en-US" altLang="en-US" sz="1600" smtClean="0">
              <a:solidFill>
                <a:srgbClr val="0000FF"/>
              </a:solidFill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do {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wait(mutex);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read_count++;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if (read_count == 1)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   wait(rw_mutex);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    ...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/* reading is performed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    ...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wait(mutex);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read count--;</a:t>
            </a:r>
            <a:br>
              <a:rPr lang="en-US" altLang="en-US" sz="1600" b="1" smtClean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if (read_count == 0)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signal(rw_mutex);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    signal(mutex);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smtClean="0">
                <a:latin typeface="Courier New" pitchFamily="49" charset="0"/>
                <a:cs typeface="Courier New" pitchFamily="49" charset="0"/>
              </a:rPr>
              <a:t>       } while (true);</a:t>
            </a:r>
            <a:r>
              <a:rPr lang="en-US" altLang="en-US" sz="1400" b="1" smtClean="0">
                <a:latin typeface="Courier New" pitchFamily="49" charset="0"/>
                <a:cs typeface="Courier New" pitchFamily="49" charset="0"/>
              </a:rPr>
              <a:t/>
            </a:r>
            <a:br>
              <a:rPr lang="en-US" altLang="en-US" sz="1400" b="1" smtClean="0">
                <a:latin typeface="Courier New" pitchFamily="49" charset="0"/>
                <a:cs typeface="Courier New" pitchFamily="49" charset="0"/>
              </a:rPr>
            </a:br>
            <a:endParaRPr lang="en-US" altLang="en-US" sz="1400" b="1" smtClean="0">
              <a:latin typeface="Courier New" pitchFamily="49" charset="0"/>
              <a:cs typeface="Courier New" pitchFamily="49" charset="0"/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endParaRPr lang="en-US" altLang="en-US" sz="1600" smtClean="0">
              <a:solidFill>
                <a:srgbClr val="0000FF"/>
              </a:solidFill>
            </a:endParaRPr>
          </a:p>
          <a:p>
            <a:pPr>
              <a:lnSpc>
                <a:spcPct val="80000"/>
              </a:lnSpc>
              <a:buFont typeface="Monotype Sorts" pitchFamily="-84" charset="2"/>
              <a:buNone/>
            </a:pPr>
            <a:r>
              <a:rPr lang="en-US" altLang="en-US" sz="1600" smtClean="0">
                <a:solidFill>
                  <a:srgbClr val="0000FF"/>
                </a:solidFill>
              </a:rPr>
              <a:t>       </a:t>
            </a:r>
            <a:endParaRPr lang="en-US" altLang="en-US" sz="1600" dirty="0" smtClean="0">
              <a:solidFill>
                <a:srgbClr val="0000FF"/>
              </a:solidFill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660409" y="1111250"/>
            <a:ext cx="3066080" cy="50053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en-US" sz="1400" dirty="0" smtClean="0"/>
              <a:t>Semaphore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rw_mutex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lvl="2"/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Mutual Exclusion for the writers</a:t>
            </a:r>
          </a:p>
          <a:p>
            <a:pPr lvl="2"/>
            <a:r>
              <a:rPr lang="en-US" altLang="en-US" sz="1400" dirty="0" smtClean="0"/>
              <a:t>initialized to 1</a:t>
            </a:r>
          </a:p>
          <a:p>
            <a:pPr lvl="1"/>
            <a:r>
              <a:rPr lang="en-US" altLang="en-US" sz="1400" dirty="0" smtClean="0"/>
              <a:t>Semaphore </a:t>
            </a:r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mutex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</a:t>
            </a:r>
          </a:p>
          <a:p>
            <a:pPr lvl="2"/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ME for </a:t>
            </a:r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readcount</a:t>
            </a:r>
            <a:r>
              <a:rPr lang="en-US" altLang="en-US" sz="1400" b="1" dirty="0" smtClean="0">
                <a:solidFill>
                  <a:srgbClr val="000000"/>
                </a:solidFill>
                <a:latin typeface="Courier New" pitchFamily="49" charset="0"/>
              </a:rPr>
              <a:t> update</a:t>
            </a:r>
          </a:p>
          <a:p>
            <a:pPr lvl="2"/>
            <a:r>
              <a:rPr lang="en-US" altLang="en-US" sz="1400" dirty="0" smtClean="0"/>
              <a:t>initialized to 1</a:t>
            </a:r>
          </a:p>
          <a:p>
            <a:pPr lvl="1"/>
            <a:r>
              <a:rPr lang="en-US" altLang="en-US" sz="1400" b="1" dirty="0" err="1" smtClean="0">
                <a:solidFill>
                  <a:srgbClr val="000000"/>
                </a:solidFill>
                <a:latin typeface="Courier New" pitchFamily="49" charset="0"/>
              </a:rPr>
              <a:t>read_count</a:t>
            </a:r>
            <a:r>
              <a:rPr lang="en-US" altLang="en-US" sz="1400" dirty="0" smtClean="0"/>
              <a:t> initialized to 0</a:t>
            </a:r>
          </a:p>
          <a:p>
            <a:pPr lvl="1"/>
            <a:endParaRPr lang="en-US" alt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376932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791" y="191861"/>
            <a:ext cx="8546934" cy="72192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Marcellus" panose="020E0602050203020307" pitchFamily="34" charset="0"/>
              </a:rPr>
              <a:t>Readers-Writers Problem</a:t>
            </a:r>
            <a:endParaRPr lang="en-US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2258" y="2097118"/>
            <a:ext cx="385984" cy="91774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378189" y="2920765"/>
            <a:ext cx="176409" cy="6999786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="" xmlns:a16="http://schemas.microsoft.com/office/drawing/2014/main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316" y="5610533"/>
            <a:ext cx="726409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="" xmlns:a16="http://schemas.microsoft.com/office/drawing/2014/main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02318" y="991614"/>
            <a:ext cx="7736306" cy="401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Marcellus" panose="020E0602050203020307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="" xmlns:a16="http://schemas.microsoft.com/office/drawing/2014/main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11" y="5440809"/>
            <a:ext cx="2434302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B9999-0ACD-4FD1-BECD-A1A80FEC7B33}" type="datetime1">
              <a:rPr lang="en-US" smtClean="0"/>
              <a:t>10/9/2020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46</a:t>
            </a:fld>
            <a:endParaRPr lang="en-US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52735" y="1146177"/>
            <a:ext cx="7451678" cy="45307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 smtClean="0"/>
              <a:t>Both </a:t>
            </a:r>
            <a:r>
              <a:rPr lang="en-US" altLang="en-US" sz="2400" dirty="0" err="1" smtClean="0"/>
              <a:t>Soln</a:t>
            </a:r>
            <a:r>
              <a:rPr lang="en-US" altLang="en-US" sz="2400" dirty="0" smtClean="0"/>
              <a:t> may lead to Starvation</a:t>
            </a:r>
          </a:p>
          <a:p>
            <a:r>
              <a:rPr lang="en-US" altLang="en-US" sz="2400" dirty="0" smtClean="0"/>
              <a:t>First Reader Writer Problem-</a:t>
            </a:r>
          </a:p>
          <a:p>
            <a:pPr lvl="1"/>
            <a:r>
              <a:rPr lang="en-US" altLang="en-US" sz="2000" dirty="0" smtClean="0"/>
              <a:t>Writers may starve</a:t>
            </a:r>
          </a:p>
          <a:p>
            <a:endParaRPr lang="en-US" altLang="en-US" sz="2400" dirty="0" smtClean="0"/>
          </a:p>
          <a:p>
            <a:r>
              <a:rPr lang="en-US" altLang="en-US" sz="2400" dirty="0" smtClean="0"/>
              <a:t>Second Reader Writer Problem-</a:t>
            </a:r>
          </a:p>
          <a:p>
            <a:pPr lvl="1"/>
            <a:r>
              <a:rPr lang="en-US" altLang="en-US" sz="2000" dirty="0" smtClean="0"/>
              <a:t>Readers may starve</a:t>
            </a:r>
          </a:p>
          <a:p>
            <a:pPr lvl="1"/>
            <a:endParaRPr lang="en-US" altLang="en-US" sz="2000" dirty="0" smtClean="0"/>
          </a:p>
          <a:p>
            <a:r>
              <a:rPr lang="en-US" altLang="en-US" sz="2400" dirty="0" smtClean="0"/>
              <a:t>Problem is solved on some systems by kernel providing reader-writer locks</a:t>
            </a:r>
          </a:p>
        </p:txBody>
      </p:sp>
    </p:spTree>
    <p:extLst>
      <p:ext uri="{BB962C8B-B14F-4D97-AF65-F5344CB8AC3E}">
        <p14:creationId xmlns:p14="http://schemas.microsoft.com/office/powerpoint/2010/main" val="245216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2312</Words>
  <Application>Microsoft Office PowerPoint</Application>
  <PresentationFormat>On-screen Show (4:3)</PresentationFormat>
  <Paragraphs>492</Paragraphs>
  <Slides>46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EXP 5</vt:lpstr>
      <vt:lpstr>Semaphore</vt:lpstr>
      <vt:lpstr>Semaphore</vt:lpstr>
      <vt:lpstr>Semaphore</vt:lpstr>
      <vt:lpstr>Usage of Semaphore</vt:lpstr>
      <vt:lpstr>Types of Semaphore</vt:lpstr>
      <vt:lpstr>Binary Semaphore</vt:lpstr>
      <vt:lpstr>Counting Semaphore</vt:lpstr>
      <vt:lpstr>Counting Semaphore</vt:lpstr>
      <vt:lpstr>PowerPoint Presentation</vt:lpstr>
      <vt:lpstr>PowerPoint Presentation</vt:lpstr>
      <vt:lpstr>PowerPoint Presentation</vt:lpstr>
      <vt:lpstr>PowerPoint Presentation</vt:lpstr>
      <vt:lpstr>Semaphore</vt:lpstr>
      <vt:lpstr>Semaphore</vt:lpstr>
      <vt:lpstr>Busy Waiting</vt:lpstr>
      <vt:lpstr>Busy Waiting</vt:lpstr>
      <vt:lpstr>Busy Waiting</vt:lpstr>
      <vt:lpstr>Busy Waiting</vt:lpstr>
      <vt:lpstr>Busy Waiting</vt:lpstr>
      <vt:lpstr>Busy Waiting</vt:lpstr>
      <vt:lpstr>Semaphore Implementation with no Busy waiting </vt:lpstr>
      <vt:lpstr>Semaphore Definition</vt:lpstr>
      <vt:lpstr>Semaphore Definition</vt:lpstr>
      <vt:lpstr>Semaphore Definition</vt:lpstr>
      <vt:lpstr>Implementation with no busy waiting</vt:lpstr>
      <vt:lpstr>Implementation with no busy waiting</vt:lpstr>
      <vt:lpstr>Implementation with no busy waiting</vt:lpstr>
      <vt:lpstr>Implementation with no busy waiting</vt:lpstr>
      <vt:lpstr>Implementation with no busy waiting</vt:lpstr>
      <vt:lpstr>Implementation with no busy waiting</vt:lpstr>
      <vt:lpstr>Implementation with no busy waiting</vt:lpstr>
      <vt:lpstr>Implementation with no busy waiting</vt:lpstr>
      <vt:lpstr>Deadlock and Starvation</vt:lpstr>
      <vt:lpstr>Deadlock and Starvation</vt:lpstr>
      <vt:lpstr>Deadlock and Starvation</vt:lpstr>
      <vt:lpstr>Classical Problems of Synchronization</vt:lpstr>
      <vt:lpstr>Bounded-Buffer Problem</vt:lpstr>
      <vt:lpstr>Bounded-Buffer Problem</vt:lpstr>
      <vt:lpstr>Bounded-Buffer Problem</vt:lpstr>
      <vt:lpstr>Readers-Writers Problem</vt:lpstr>
      <vt:lpstr>Readers-Writers Problem</vt:lpstr>
      <vt:lpstr>Readers-Writers Problem</vt:lpstr>
      <vt:lpstr>Readers-Writers Problem</vt:lpstr>
      <vt:lpstr>Readers-Writers Problem</vt:lpstr>
      <vt:lpstr>Readers-Writers Problem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 5</dc:title>
  <dc:creator>Admin</dc:creator>
  <cp:lastModifiedBy>Admin</cp:lastModifiedBy>
  <cp:revision>2</cp:revision>
  <dcterms:created xsi:type="dcterms:W3CDTF">2020-10-09T10:05:33Z</dcterms:created>
  <dcterms:modified xsi:type="dcterms:W3CDTF">2020-10-09T10:07:19Z</dcterms:modified>
</cp:coreProperties>
</file>
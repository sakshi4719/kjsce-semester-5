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0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3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1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8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0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0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8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78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9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8CBDF-2A0B-4619-85E4-6C9DBA57170A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6C8B-2373-4DBE-ADBA-5178C68E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7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 Dining Philosophers Problem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71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Dining-Philosophers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928689" y="3403602"/>
            <a:ext cx="6908800" cy="2765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365250" algn="l"/>
                <a:tab pos="1538288" algn="l"/>
              </a:tabLst>
            </a:pPr>
            <a:r>
              <a:rPr lang="en-US" altLang="en-US" sz="2400" dirty="0" smtClean="0">
                <a:latin typeface="Marcellus"/>
              </a:rPr>
              <a:t>Philosophers spend their lives alternating thinking and eating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sz="2400" dirty="0" smtClean="0">
                <a:latin typeface="Marcellus"/>
              </a:rPr>
              <a:t>When </a:t>
            </a:r>
            <a:r>
              <a:rPr lang="en-US" altLang="ja-JP" sz="2400" dirty="0">
                <a:latin typeface="Marcellus"/>
              </a:rPr>
              <a:t>thinking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1800" dirty="0" smtClean="0">
                <a:latin typeface="Marcellus"/>
              </a:rPr>
              <a:t>Don’</a:t>
            </a:r>
            <a:r>
              <a:rPr lang="en-US" altLang="ja-JP" sz="1800" dirty="0" smtClean="0">
                <a:latin typeface="Marcellus"/>
              </a:rPr>
              <a:t>t interact with their neighbors 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sz="2400" dirty="0" smtClean="0">
                <a:latin typeface="Marcellus"/>
              </a:rPr>
              <a:t>When hungry-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ja-JP" sz="1800" dirty="0">
                <a:latin typeface="Marcellus"/>
              </a:rPr>
              <a:t>A philosopher needs both their right and left chopstick to eat. </a:t>
            </a:r>
            <a:endParaRPr lang="en-US" altLang="ja-JP" sz="1800" dirty="0" smtClean="0">
              <a:latin typeface="Marcellus"/>
            </a:endParaRP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ja-JP" sz="1800" dirty="0" smtClean="0">
                <a:latin typeface="Marcellus"/>
              </a:rPr>
              <a:t>A </a:t>
            </a:r>
            <a:r>
              <a:rPr lang="en-US" altLang="ja-JP" sz="1800" dirty="0">
                <a:latin typeface="Marcellus"/>
              </a:rPr>
              <a:t>hungry philosopher may only eat if there are both chopsticks </a:t>
            </a:r>
            <a:r>
              <a:rPr lang="en-US" altLang="ja-JP" sz="1800" dirty="0" smtClean="0">
                <a:latin typeface="Marcellus"/>
              </a:rPr>
              <a:t>available</a:t>
            </a:r>
          </a:p>
        </p:txBody>
      </p:sp>
      <p:pic>
        <p:nvPicPr>
          <p:cNvPr id="14" name="Picture 5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4" y="1079500"/>
            <a:ext cx="2208212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97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Dining-Philosophers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928689" y="3403602"/>
            <a:ext cx="6908800" cy="2765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365250" algn="l"/>
                <a:tab pos="1538288" algn="l"/>
              </a:tabLst>
            </a:pPr>
            <a:r>
              <a:rPr lang="en-US" altLang="ja-JP" sz="2000" dirty="0" smtClean="0">
                <a:latin typeface="Marcellus"/>
              </a:rPr>
              <a:t>Occasionally try to pick up 2 chopsticks that are closest to her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Chopsticks that are between her and her left and right neighbor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ja-JP" sz="2000" dirty="0" smtClean="0">
                <a:latin typeface="Marcellus"/>
              </a:rPr>
              <a:t>Pick up only one </a:t>
            </a:r>
            <a:r>
              <a:rPr lang="en-US" altLang="ja-JP" sz="2000" dirty="0">
                <a:latin typeface="Marcellus"/>
              </a:rPr>
              <a:t>at a </a:t>
            </a:r>
            <a:r>
              <a:rPr lang="en-US" altLang="ja-JP" sz="2000" dirty="0" smtClean="0">
                <a:latin typeface="Marcellus"/>
              </a:rPr>
              <a:t>time</a:t>
            </a:r>
            <a:endParaRPr lang="en-US" altLang="en-US" sz="2000" dirty="0" smtClean="0">
              <a:latin typeface="Marcellus"/>
            </a:endParaRP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Need both to eat, then release both when done</a:t>
            </a:r>
          </a:p>
        </p:txBody>
      </p:sp>
      <p:pic>
        <p:nvPicPr>
          <p:cNvPr id="14" name="Picture 5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4" y="1079500"/>
            <a:ext cx="2208212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41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Dining-Philosophers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928689" y="3403602"/>
            <a:ext cx="6908800" cy="2765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Classic Synchronization problem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Example of large class of concurrency control problems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Represents the need to allocate several resources among several processes 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1800" dirty="0" smtClean="0">
                <a:latin typeface="Marcellus"/>
              </a:rPr>
              <a:t>in a deadlock free and starvation free manner</a:t>
            </a:r>
          </a:p>
        </p:txBody>
      </p:sp>
      <p:pic>
        <p:nvPicPr>
          <p:cNvPr id="14" name="Picture 5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4" y="1079500"/>
            <a:ext cx="2208212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33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Dining-Philosophers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928689" y="3403602"/>
            <a:ext cx="6908800" cy="2765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 smtClean="0">
                <a:latin typeface="Marcellus"/>
              </a:rPr>
              <a:t>5 Philosophers share a common circular table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Surrounded by 5 chairs=each belonging to one philosopher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Center of table -&gt;Bowl of rice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Five single chopsticks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 smtClean="0">
                <a:latin typeface="Marcellus"/>
              </a:rPr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 smtClean="0">
                <a:latin typeface="Marcellus"/>
              </a:rPr>
              <a:t>Semaphore </a:t>
            </a:r>
            <a:r>
              <a:rPr lang="en-US" altLang="en-US" dirty="0" smtClean="0">
                <a:solidFill>
                  <a:srgbClr val="FF0000"/>
                </a:solidFill>
                <a:latin typeface="Marcellus"/>
              </a:rPr>
              <a:t>chopstick [5]</a:t>
            </a:r>
            <a:r>
              <a:rPr lang="en-US" altLang="en-US" dirty="0" smtClean="0">
                <a:latin typeface="Marcellus"/>
              </a:rPr>
              <a:t> initialized to 1</a:t>
            </a:r>
          </a:p>
          <a:p>
            <a:pPr lvl="1">
              <a:tabLst>
                <a:tab pos="1365250" algn="l"/>
                <a:tab pos="1538288" algn="l"/>
              </a:tabLst>
            </a:pPr>
            <a:endParaRPr lang="en-US" altLang="en-US" sz="2800" dirty="0" smtClean="0">
              <a:latin typeface="Marcellus"/>
            </a:endParaRPr>
          </a:p>
        </p:txBody>
      </p:sp>
      <p:pic>
        <p:nvPicPr>
          <p:cNvPr id="14" name="Picture 5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4" y="1079500"/>
            <a:ext cx="2208212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29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</a:t>
            </a:r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928689" y="3403602"/>
            <a:ext cx="6908800" cy="2765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Grab the chopstick –By Executing wait operation on the semaphore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 smtClean="0">
                <a:latin typeface="Marcellus"/>
              </a:rPr>
              <a:t>Release the chopstick-By executing the signal operation on the appropriate semaphore</a:t>
            </a:r>
          </a:p>
          <a:p>
            <a:pPr marL="228600" lvl="2">
              <a:spcBef>
                <a:spcPts val="1000"/>
              </a:spcBef>
              <a:tabLst>
                <a:tab pos="1365250" algn="l"/>
                <a:tab pos="1538288" algn="l"/>
              </a:tabLst>
            </a:pPr>
            <a:r>
              <a:rPr lang="en-US" altLang="en-US" dirty="0">
                <a:latin typeface="Marcellus"/>
              </a:rPr>
              <a:t>Semaphore </a:t>
            </a:r>
            <a:r>
              <a:rPr lang="en-US" altLang="en-US" dirty="0">
                <a:solidFill>
                  <a:srgbClr val="FF0000"/>
                </a:solidFill>
                <a:latin typeface="Marcellus"/>
              </a:rPr>
              <a:t>chopstick [5]</a:t>
            </a:r>
            <a:r>
              <a:rPr lang="en-US" altLang="en-US" dirty="0">
                <a:latin typeface="Marcellus"/>
              </a:rPr>
              <a:t> initialized to 1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sz="2000" dirty="0" smtClean="0">
              <a:latin typeface="Marcellus"/>
            </a:endParaRPr>
          </a:p>
        </p:txBody>
      </p:sp>
      <p:pic>
        <p:nvPicPr>
          <p:cNvPr id="14" name="Picture 5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4" y="1079500"/>
            <a:ext cx="2208212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94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9" y="1119190"/>
            <a:ext cx="7107237" cy="47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6238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The structure of Philosopher</a:t>
            </a:r>
            <a:r>
              <a:rPr lang="en-US" altLang="en-US" i="1" dirty="0" smtClean="0">
                <a:solidFill>
                  <a:srgbClr val="0000FF"/>
                </a:solidFill>
              </a:rPr>
              <a:t> i</a:t>
            </a:r>
            <a:r>
              <a:rPr lang="en-US" altLang="en-US" dirty="0" smtClean="0"/>
              <a:t>: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do { 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 wait (chopstick[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wait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chopStick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[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+ 1) % 5]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           //  eat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signal (chopstick[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signal (chopstick[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+ 1) % 5]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              //  think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 while (TRUE);</a:t>
            </a:r>
            <a:endParaRPr lang="en-US" altLang="en-US" sz="1600" dirty="0" smtClean="0">
              <a:solidFill>
                <a:srgbClr val="0000FF"/>
              </a:solidFill>
            </a:endParaRPr>
          </a:p>
          <a:p>
            <a:pPr marL="0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28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9" y="1119190"/>
            <a:ext cx="7107237" cy="47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6238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The structure of Philosopher</a:t>
            </a:r>
            <a:r>
              <a:rPr lang="en-US" altLang="en-US" i="1" dirty="0" smtClean="0">
                <a:solidFill>
                  <a:srgbClr val="0000FF"/>
                </a:solidFill>
              </a:rPr>
              <a:t> i</a:t>
            </a:r>
            <a:r>
              <a:rPr lang="en-US" altLang="en-US" dirty="0" smtClean="0"/>
              <a:t>: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do { 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 wait (chopstick[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wait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chopStick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[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+ 1) % 5]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           //  eat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signal (chopstick[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  signal (chopstick[ (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+ 1) % 5] );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              //  think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 while (TRUE);</a:t>
            </a:r>
            <a:endParaRPr lang="en-US" altLang="en-US" sz="1600" dirty="0" smtClean="0">
              <a:solidFill>
                <a:srgbClr val="0000FF"/>
              </a:solidFill>
            </a:endParaRPr>
          </a:p>
          <a:p>
            <a:pPr marL="0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54388" y="1612374"/>
            <a:ext cx="359959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hilosopher </a:t>
            </a:r>
            <a:r>
              <a:rPr lang="en-US" dirty="0" err="1"/>
              <a:t>i</a:t>
            </a:r>
            <a:r>
              <a:rPr lang="en-US" dirty="0"/>
              <a:t> has picked up the chopsticks on his sides. Then the eating function is performed.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Philosopher </a:t>
            </a:r>
            <a:r>
              <a:rPr lang="en-US" dirty="0" err="1"/>
              <a:t>i</a:t>
            </a:r>
            <a:r>
              <a:rPr lang="en-US" dirty="0"/>
              <a:t> has eaten and put down the chopsticks on his sides. Then the philosopher goes back to thinking.</a:t>
            </a:r>
          </a:p>
        </p:txBody>
      </p:sp>
    </p:spTree>
    <p:extLst>
      <p:ext uri="{BB962C8B-B14F-4D97-AF65-F5344CB8AC3E}">
        <p14:creationId xmlns:p14="http://schemas.microsoft.com/office/powerpoint/2010/main" val="162429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9" y="1119190"/>
            <a:ext cx="7107237" cy="47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/>
          </a:p>
          <a:p>
            <a:pPr marL="457200" lvl="1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What is the problem with this algorithm?</a:t>
            </a:r>
          </a:p>
          <a:p>
            <a:pPr marL="457200" lvl="1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557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9" y="1119190"/>
            <a:ext cx="7107237" cy="47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/>
          </a:p>
          <a:p>
            <a:pPr marL="457200" lvl="1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What is the problem with this algorithm?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/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Algorithm Guarantees that No two neighbors are eating simultaneously 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Still Must be rejected 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6369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9" y="1119190"/>
            <a:ext cx="7107237" cy="47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Why?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Possibility of deadlock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If all 5 philosophers are hungry simultaneously  and each grabs left chopstick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All elements of chopsticks will be =0</a:t>
            </a:r>
          </a:p>
          <a:p>
            <a:pPr marL="833438" lvl="1" indent="-376238"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 smtClean="0"/>
              <a:t>When each philosopher tries to grab her right chopstick, delayed forever</a:t>
            </a:r>
          </a:p>
          <a:p>
            <a:pPr marL="1195388" lvl="2" indent="-338138">
              <a:buFont typeface="Webdings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2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Solution for Dining-Philosophers Problem Algorithm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12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85826" y="1223963"/>
            <a:ext cx="6442075" cy="486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mtClean="0"/>
              <a:t>Deadlock handling</a:t>
            </a:r>
          </a:p>
          <a:p>
            <a:pPr lvl="1"/>
            <a:r>
              <a:rPr lang="en-US" altLang="en-US" smtClean="0"/>
              <a:t> Allow at most 4 philosophers to be sitting simultaneously at  the table.</a:t>
            </a:r>
          </a:p>
          <a:p>
            <a:pPr lvl="1"/>
            <a:r>
              <a:rPr lang="en-US" altLang="en-US" smtClean="0"/>
              <a:t> Allow a philosopher to pick up  the forks only if both are available (picking must be done in a critical section)</a:t>
            </a:r>
          </a:p>
          <a:p>
            <a:pPr lvl="1"/>
            <a:r>
              <a:rPr lang="en-US" altLang="en-US" smtClean="0"/>
              <a:t> Use an asymmetric solution  -- </a:t>
            </a:r>
          </a:p>
          <a:p>
            <a:pPr lvl="2"/>
            <a:r>
              <a:rPr lang="en-US" altLang="en-US" smtClean="0"/>
              <a:t>Odd-numbered  philosopher picks  up first the left chopstick and then the right chopstick. </a:t>
            </a:r>
          </a:p>
          <a:p>
            <a:pPr lvl="2"/>
            <a:r>
              <a:rPr lang="en-US" altLang="en-US" smtClean="0"/>
              <a:t>Even-numbered  philosopher picks  up first the right chopstick and then the left chopstick</a:t>
            </a:r>
          </a:p>
          <a:p>
            <a:pPr lvl="1"/>
            <a:endParaRPr lang="en-US" altLang="en-US" smtClean="0"/>
          </a:p>
          <a:p>
            <a:pPr>
              <a:buFont typeface="Monotype Sorts" pitchFamily="-84" charset="2"/>
              <a:buNone/>
            </a:pPr>
            <a:endParaRPr lang="en-US" altLang="en-US" smtClean="0"/>
          </a:p>
          <a:p>
            <a:endParaRPr lang="en-US" altLang="en-US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3015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Problems with Semaphores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13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27089" y="1282702"/>
            <a:ext cx="6959600" cy="486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 Incorrect use of semaphore operations:</a:t>
            </a:r>
            <a:br>
              <a:rPr lang="en-US" altLang="en-US" sz="2400" dirty="0" smtClean="0"/>
            </a:br>
            <a:endParaRPr lang="en-US" altLang="en-US" sz="2400" dirty="0" smtClean="0"/>
          </a:p>
          <a:p>
            <a:pPr lvl="1"/>
            <a:r>
              <a:rPr lang="en-US" altLang="en-US" dirty="0" smtClean="0"/>
              <a:t> signal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  ….  wait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 wait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  …  wait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 Omitting  of wait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 or signal (</a:t>
            </a:r>
            <a:r>
              <a:rPr lang="en-US" altLang="en-US" dirty="0" err="1" smtClean="0"/>
              <a:t>mutex</a:t>
            </a:r>
            <a:r>
              <a:rPr lang="en-US" altLang="en-US" dirty="0" smtClean="0"/>
              <a:t>) (or both)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Deadlock free solution does not necessarily eliminate the possibility of starvation</a:t>
            </a:r>
          </a:p>
          <a:p>
            <a:r>
              <a:rPr lang="en-US" altLang="en-US" sz="2400" dirty="0" smtClean="0"/>
              <a:t>Deadlock and starvation are possible.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1188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77" y="263921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15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27089" y="1282702"/>
            <a:ext cx="6959600" cy="486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dirty="0"/>
              <a:t>A high-level synchronization construct</a:t>
            </a:r>
          </a:p>
          <a:p>
            <a:pPr>
              <a:lnSpc>
                <a:spcPct val="80000"/>
              </a:lnSpc>
            </a:pPr>
            <a:endParaRPr lang="en-US" altLang="en-US" i="1" dirty="0" smtClean="0"/>
          </a:p>
          <a:p>
            <a:pPr>
              <a:lnSpc>
                <a:spcPct val="80000"/>
              </a:lnSpc>
            </a:pPr>
            <a:r>
              <a:rPr lang="en-US" altLang="en-US" i="1" dirty="0" smtClean="0"/>
              <a:t>Set </a:t>
            </a:r>
            <a:r>
              <a:rPr lang="en-US" altLang="en-US" i="1" dirty="0"/>
              <a:t>of programmer defined operators</a:t>
            </a:r>
          </a:p>
          <a:p>
            <a:pPr>
              <a:lnSpc>
                <a:spcPct val="80000"/>
              </a:lnSpc>
            </a:pPr>
            <a:endParaRPr lang="en-US" altLang="en-US" i="1" dirty="0" smtClean="0"/>
          </a:p>
          <a:p>
            <a:pPr>
              <a:lnSpc>
                <a:spcPct val="80000"/>
              </a:lnSpc>
            </a:pPr>
            <a:r>
              <a:rPr lang="en-US" altLang="en-US" i="1" dirty="0" smtClean="0">
                <a:solidFill>
                  <a:srgbClr val="C00000"/>
                </a:solidFill>
              </a:rPr>
              <a:t>Declaration  </a:t>
            </a:r>
            <a:r>
              <a:rPr lang="en-US" altLang="en-US" i="1" dirty="0">
                <a:solidFill>
                  <a:srgbClr val="C00000"/>
                </a:solidFill>
              </a:rPr>
              <a:t>of variables </a:t>
            </a:r>
            <a:endParaRPr lang="en-US" altLang="en-US" i="1" dirty="0" smtClean="0">
              <a:solidFill>
                <a:srgbClr val="C0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i="1" dirty="0" smtClean="0"/>
              <a:t>whose </a:t>
            </a:r>
            <a:r>
              <a:rPr lang="en-US" altLang="en-US" i="1" dirty="0">
                <a:solidFill>
                  <a:srgbClr val="C00000"/>
                </a:solidFill>
              </a:rPr>
              <a:t>value define the state </a:t>
            </a:r>
            <a:r>
              <a:rPr lang="en-US" altLang="en-US" i="1" dirty="0"/>
              <a:t>of an instance of the type</a:t>
            </a:r>
          </a:p>
          <a:p>
            <a:pPr>
              <a:lnSpc>
                <a:spcPct val="80000"/>
              </a:lnSpc>
            </a:pPr>
            <a:endParaRPr lang="en-US" altLang="en-US" i="1" dirty="0" smtClean="0"/>
          </a:p>
          <a:p>
            <a:pPr>
              <a:lnSpc>
                <a:spcPct val="80000"/>
              </a:lnSpc>
            </a:pPr>
            <a:r>
              <a:rPr lang="en-US" altLang="en-US" i="1" dirty="0" smtClean="0">
                <a:solidFill>
                  <a:srgbClr val="C00000"/>
                </a:solidFill>
              </a:rPr>
              <a:t>Bodies </a:t>
            </a:r>
            <a:r>
              <a:rPr lang="en-US" altLang="en-US" i="1" dirty="0">
                <a:solidFill>
                  <a:srgbClr val="C00000"/>
                </a:solidFill>
              </a:rPr>
              <a:t>of procedures </a:t>
            </a:r>
            <a:endParaRPr lang="en-US" altLang="en-US" i="1" dirty="0" smtClean="0">
              <a:solidFill>
                <a:srgbClr val="C0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i="1" dirty="0" smtClean="0"/>
              <a:t>that </a:t>
            </a:r>
            <a:r>
              <a:rPr lang="en-US" altLang="en-US" i="1" dirty="0">
                <a:solidFill>
                  <a:srgbClr val="C00000"/>
                </a:solidFill>
              </a:rPr>
              <a:t>implement oper</a:t>
            </a:r>
            <a:r>
              <a:rPr lang="en-US" altLang="en-US" i="1" dirty="0"/>
              <a:t>ations on the type</a:t>
            </a:r>
          </a:p>
          <a:p>
            <a:pPr>
              <a:lnSpc>
                <a:spcPct val="80000"/>
              </a:lnSpc>
            </a:pPr>
            <a:endParaRPr lang="en-US" altLang="en-US" i="1" dirty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417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195441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Syntax of 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16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0671" y="569709"/>
            <a:ext cx="6959600" cy="4860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monitor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monitor-name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// shared variable declarations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procedure P1 (…) { …. 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procedure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Pn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(…) {……}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Initialization code (…) { … 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  <a:p>
            <a:endParaRPr lang="en-US" altLang="en-US" sz="4000" dirty="0" smtClean="0"/>
          </a:p>
          <a:p>
            <a:endParaRPr lang="en-US" alt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243604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17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0671" y="569709"/>
            <a:ext cx="6959600" cy="4860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i="1" dirty="0"/>
              <a:t>Abstract data type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C00000"/>
                </a:solidFill>
              </a:rPr>
              <a:t>internal variables only accessible by code </a:t>
            </a:r>
            <a:r>
              <a:rPr lang="en-US" altLang="en-US" sz="2400" dirty="0"/>
              <a:t>within the </a:t>
            </a:r>
            <a:r>
              <a:rPr lang="en-US" altLang="en-US" sz="2400" dirty="0">
                <a:solidFill>
                  <a:srgbClr val="C00000"/>
                </a:solidFill>
              </a:rPr>
              <a:t>procedure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solidFill>
                  <a:srgbClr val="C00000"/>
                </a:solidFill>
              </a:rPr>
              <a:t>Procedure </a:t>
            </a:r>
            <a:r>
              <a:rPr lang="en-US" altLang="en-US" sz="2400" dirty="0"/>
              <a:t>defined within the monitor </a:t>
            </a:r>
            <a:r>
              <a:rPr lang="en-US" altLang="en-US" sz="2400" dirty="0">
                <a:solidFill>
                  <a:srgbClr val="C00000"/>
                </a:solidFill>
              </a:rPr>
              <a:t>can access only those variables </a:t>
            </a:r>
            <a:endParaRPr lang="en-US" altLang="en-US" sz="2400" dirty="0" smtClean="0">
              <a:solidFill>
                <a:srgbClr val="C0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 smtClean="0">
                <a:solidFill>
                  <a:srgbClr val="C00000"/>
                </a:solidFill>
              </a:rPr>
              <a:t>declared </a:t>
            </a:r>
            <a:r>
              <a:rPr lang="en-US" altLang="en-US" dirty="0">
                <a:solidFill>
                  <a:srgbClr val="C00000"/>
                </a:solidFill>
              </a:rPr>
              <a:t>locally within the monitor and </a:t>
            </a:r>
            <a:endParaRPr lang="en-US" altLang="en-US" dirty="0" smtClean="0">
              <a:solidFill>
                <a:srgbClr val="C0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 smtClean="0">
                <a:solidFill>
                  <a:srgbClr val="C00000"/>
                </a:solidFill>
              </a:rPr>
              <a:t>its </a:t>
            </a:r>
            <a:r>
              <a:rPr lang="en-US" altLang="en-US" dirty="0">
                <a:solidFill>
                  <a:srgbClr val="C00000"/>
                </a:solidFill>
              </a:rPr>
              <a:t>formal parameters.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monitor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monitor-name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// shared variable declarations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procedure P1 (…) { …. 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procedure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Pn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(…) {……}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Initialization code (…) { … 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}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  <a:p>
            <a:endParaRPr lang="en-US" altLang="en-US" sz="4000" dirty="0" smtClean="0"/>
          </a:p>
          <a:p>
            <a:endParaRPr lang="en-US" alt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9061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Schematic view of a Monitor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18</a:t>
            </a:fld>
            <a:endParaRPr lang="en-US"/>
          </a:p>
        </p:txBody>
      </p:sp>
      <p:pic>
        <p:nvPicPr>
          <p:cNvPr id="12" name="Picture 4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94" y="757685"/>
            <a:ext cx="4926013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 descr="What Is Monitors In Interprocess Communication In Operating System In HINDI  | Monitors In O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723" y="1078359"/>
            <a:ext cx="325755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19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0671" y="569709"/>
            <a:ext cx="6959600" cy="4860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is the collection of condition variables and procedures combined together in a special kind of module or a package.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The </a:t>
            </a:r>
            <a:r>
              <a:rPr lang="en-US" sz="2400" dirty="0">
                <a:solidFill>
                  <a:srgbClr val="C00000"/>
                </a:solidFill>
              </a:rPr>
              <a:t>processes running outside the monitor can’t access the internal variable of the monitor but can call procedures of the monitor</a:t>
            </a:r>
            <a:r>
              <a:rPr lang="en-US" sz="2400" dirty="0"/>
              <a:t>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Only </a:t>
            </a:r>
            <a:r>
              <a:rPr lang="en-US" sz="2400" dirty="0">
                <a:solidFill>
                  <a:srgbClr val="C00000"/>
                </a:solidFill>
              </a:rPr>
              <a:t>one process at a time</a:t>
            </a:r>
            <a:r>
              <a:rPr lang="en-US" sz="2400" dirty="0"/>
              <a:t> can execute code inside monitors.</a:t>
            </a:r>
          </a:p>
          <a:p>
            <a:endParaRPr lang="en-US" altLang="en-US" sz="4000" dirty="0" smtClean="0"/>
          </a:p>
          <a:p>
            <a:endParaRPr lang="en-US" alt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0859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20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0671" y="1228299"/>
            <a:ext cx="6959600" cy="42023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 smtClean="0"/>
              <a:t>Monitor ensures that 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Only one process may be active within the monitor at a time</a:t>
            </a:r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err="1" smtClean="0"/>
              <a:t>Prgmr</a:t>
            </a:r>
            <a:r>
              <a:rPr lang="en-US" altLang="en-US" sz="2400" dirty="0" smtClean="0"/>
              <a:t> does not need to 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code the synchronization constraint explicitly</a:t>
            </a:r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But not powerful enough to model some synchronization schemes</a:t>
            </a:r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Need to define additional condition construct</a:t>
            </a:r>
          </a:p>
          <a:p>
            <a:pPr lvl="2">
              <a:lnSpc>
                <a:spcPct val="80000"/>
              </a:lnSpc>
              <a:buFont typeface="Webdings" pitchFamily="18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143975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Condition Variables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21</a:t>
            </a:fld>
            <a:endParaRPr lang="en-US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827089" y="1150938"/>
            <a:ext cx="7272337" cy="439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Prgmr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can define </a:t>
            </a:r>
            <a:r>
              <a:rPr lang="en-US" alt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one or more condition variables</a:t>
            </a:r>
          </a:p>
          <a:p>
            <a:pPr marL="0" indent="0">
              <a:buNone/>
            </a:pPr>
            <a:r>
              <a:rPr lang="en-US" alt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condition</a:t>
            </a:r>
            <a:r>
              <a:rPr lang="en-US" alt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x, y</a:t>
            </a:r>
            <a:r>
              <a:rPr lang="en-US" alt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dirty="0" smtClean="0">
              <a:solidFill>
                <a:srgbClr val="C00000"/>
              </a:solidFill>
            </a:endParaRPr>
          </a:p>
          <a:p>
            <a:endParaRPr lang="en-US" altLang="en-US" dirty="0" smtClean="0"/>
          </a:p>
          <a:p>
            <a:r>
              <a:rPr lang="en-US" altLang="en-US" dirty="0" smtClean="0">
                <a:solidFill>
                  <a:srgbClr val="C00000"/>
                </a:solidFill>
              </a:rPr>
              <a:t>Only Two operations </a:t>
            </a:r>
            <a:r>
              <a:rPr lang="en-US" altLang="en-US" dirty="0" smtClean="0"/>
              <a:t>are allowed on a condition variable:</a:t>
            </a:r>
          </a:p>
          <a:p>
            <a:pPr lvl="1"/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x.wait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</a:rPr>
              <a:t>()</a:t>
            </a:r>
          </a:p>
          <a:p>
            <a:pPr lvl="1"/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x.signal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</a:rPr>
              <a:t>()</a:t>
            </a:r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pic>
        <p:nvPicPr>
          <p:cNvPr id="3074" name="Picture 2" descr="monito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909" y="3417652"/>
            <a:ext cx="2719754" cy="261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35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Condition Variables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22</a:t>
            </a:fld>
            <a:endParaRPr lang="en-US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827089" y="1150938"/>
            <a:ext cx="7272337" cy="4394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 err="1" smtClean="0">
                <a:solidFill>
                  <a:srgbClr val="000000"/>
                </a:solidFill>
                <a:latin typeface="Courier New" pitchFamily="49" charset="0"/>
              </a:rPr>
              <a:t>x.wait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() </a:t>
            </a:r>
            <a:r>
              <a:rPr lang="en-US" altLang="en-US" dirty="0" smtClean="0"/>
              <a:t>–  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</a:rPr>
              <a:t>Process performing wait operation on any condition variable are suspended</a:t>
            </a:r>
            <a:r>
              <a:rPr lang="en-US" altLang="en-US" dirty="0"/>
              <a:t>.</a:t>
            </a:r>
          </a:p>
          <a:p>
            <a:pPr lvl="2"/>
            <a:r>
              <a:rPr lang="en-US" altLang="en-US" dirty="0" smtClean="0"/>
              <a:t>suspended until </a:t>
            </a:r>
            <a:r>
              <a:rPr lang="en-US" altLang="en-US" b="1" dirty="0" err="1" smtClean="0">
                <a:solidFill>
                  <a:srgbClr val="000000"/>
                </a:solidFill>
                <a:latin typeface="Courier New" pitchFamily="49" charset="0"/>
              </a:rPr>
              <a:t>x.signal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()</a:t>
            </a:r>
          </a:p>
          <a:p>
            <a:pPr lvl="1"/>
            <a:r>
              <a:rPr lang="en-US" u="sng" dirty="0"/>
              <a:t>The suspended processes are placed in </a:t>
            </a:r>
            <a:r>
              <a:rPr lang="en-US" u="sng" dirty="0">
                <a:solidFill>
                  <a:srgbClr val="C00000"/>
                </a:solidFill>
              </a:rPr>
              <a:t>block queue of that condition variable.</a:t>
            </a:r>
            <a:r>
              <a:rPr lang="en-US" altLang="en-US" b="1" u="sng" dirty="0" smtClean="0">
                <a:solidFill>
                  <a:srgbClr val="C00000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 err="1" smtClean="0">
                <a:solidFill>
                  <a:srgbClr val="000000"/>
                </a:solidFill>
                <a:latin typeface="Courier New" pitchFamily="49" charset="0"/>
              </a:rPr>
              <a:t>x.signal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() </a:t>
            </a:r>
            <a:r>
              <a:rPr lang="en-US" altLang="en-US" dirty="0" smtClean="0"/>
              <a:t>–</a:t>
            </a:r>
            <a:r>
              <a:rPr lang="en-US" altLang="en-US" dirty="0" smtClean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When a process performs signal</a:t>
            </a:r>
            <a:r>
              <a:rPr lang="en-US" dirty="0"/>
              <a:t> operation on condition variable, </a:t>
            </a:r>
            <a:r>
              <a:rPr lang="en-US" dirty="0">
                <a:solidFill>
                  <a:srgbClr val="C00000"/>
                </a:solidFill>
              </a:rPr>
              <a:t>one of the blocked processes is given chance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pPr lvl="1"/>
            <a:r>
              <a:rPr lang="en-US" altLang="en-US" dirty="0" smtClean="0"/>
              <a:t>resumes one of processes</a:t>
            </a:r>
            <a:r>
              <a:rPr lang="en-US" altLang="en-US" dirty="0" smtClean="0">
                <a:solidFill>
                  <a:srgbClr val="0000FF"/>
                </a:solidFill>
              </a:rPr>
              <a:t> </a:t>
            </a:r>
            <a:r>
              <a:rPr lang="en-US" altLang="en-US" dirty="0" smtClean="0"/>
              <a:t>(if any)</a:t>
            </a:r>
            <a:r>
              <a:rPr lang="en-US" altLang="en-US" dirty="0" smtClean="0">
                <a:solidFill>
                  <a:srgbClr val="0000FF"/>
                </a:solidFill>
              </a:rPr>
              <a:t> </a:t>
            </a:r>
            <a:r>
              <a:rPr lang="en-US" altLang="en-US" dirty="0" smtClean="0"/>
              <a:t>that</a:t>
            </a:r>
            <a:r>
              <a:rPr lang="en-US" altLang="en-US" dirty="0" smtClean="0">
                <a:solidFill>
                  <a:srgbClr val="0000FF"/>
                </a:solidFill>
              </a:rPr>
              <a:t> </a:t>
            </a:r>
            <a:r>
              <a:rPr lang="en-US" altLang="en-US" dirty="0" smtClean="0"/>
              <a:t> invoked</a:t>
            </a:r>
            <a:r>
              <a:rPr lang="en-US" altLang="en-US" dirty="0" smtClean="0">
                <a:solidFill>
                  <a:srgbClr val="0000FF"/>
                </a:solidFill>
              </a:rPr>
              <a:t> </a:t>
            </a:r>
            <a:r>
              <a:rPr lang="en-US" altLang="en-US" b="1" dirty="0" err="1" smtClean="0">
                <a:solidFill>
                  <a:srgbClr val="000000"/>
                </a:solidFill>
                <a:latin typeface="Courier New" pitchFamily="49" charset="0"/>
              </a:rPr>
              <a:t>x.wait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()</a:t>
            </a:r>
          </a:p>
          <a:p>
            <a:pPr lvl="2"/>
            <a:r>
              <a:rPr lang="en-US" altLang="en-US" dirty="0" smtClean="0"/>
              <a:t>If no 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process is suspended</a:t>
            </a:r>
            <a:r>
              <a:rPr lang="en-US" altLang="en-US" dirty="0" smtClean="0"/>
              <a:t>, then it has no effect on the variable</a:t>
            </a:r>
          </a:p>
          <a:p>
            <a:pPr lvl="2"/>
            <a:r>
              <a:rPr lang="en-US" altLang="en-US" dirty="0" smtClean="0"/>
              <a:t>State of x, As if the operation was never executed</a:t>
            </a:r>
          </a:p>
          <a:p>
            <a:pPr lvl="2"/>
            <a:r>
              <a:rPr lang="en-US" altLang="en-US" dirty="0" smtClean="0"/>
              <a:t>In contrast to semaphore, state of semaphore always gets affected</a:t>
            </a:r>
          </a:p>
          <a:p>
            <a:pPr lvl="1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630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 with Condition Variables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23</a:t>
            </a:fld>
            <a:endParaRPr lang="en-US"/>
          </a:p>
        </p:txBody>
      </p:sp>
      <p:pic>
        <p:nvPicPr>
          <p:cNvPr id="13" name="Picture 4" descr="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6" y="1323975"/>
            <a:ext cx="6291263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19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Condition Variables Choices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24</a:t>
            </a:fld>
            <a:endParaRPr lang="en-US"/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>
          <a:xfrm>
            <a:off x="869950" y="1179515"/>
            <a:ext cx="7824788" cy="471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If </a:t>
            </a:r>
            <a:r>
              <a:rPr lang="en-US" altLang="en-US" dirty="0" smtClean="0">
                <a:solidFill>
                  <a:srgbClr val="C00000"/>
                </a:solidFill>
              </a:rPr>
              <a:t>process P invokes </a:t>
            </a:r>
            <a:r>
              <a:rPr lang="en-US" alt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x.signal</a:t>
            </a:r>
            <a:r>
              <a:rPr lang="en-US" alt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(),</a:t>
            </a:r>
            <a:r>
              <a:rPr lang="en-US" altLang="en-US" sz="2000" dirty="0" smtClean="0">
                <a:solidFill>
                  <a:srgbClr val="C00000"/>
                </a:solidFill>
                <a:cs typeface="Courier New" pitchFamily="49" charset="0"/>
              </a:rPr>
              <a:t> </a:t>
            </a:r>
            <a:r>
              <a:rPr lang="en-US" altLang="en-US" dirty="0" smtClean="0"/>
              <a:t>and</a:t>
            </a:r>
            <a:r>
              <a:rPr lang="en-US" altLang="en-US" sz="2000" dirty="0" smtClean="0">
                <a:cs typeface="Courier New" pitchFamily="49" charset="0"/>
              </a:rPr>
              <a:t> </a:t>
            </a:r>
          </a:p>
          <a:p>
            <a:pPr lvl="1"/>
            <a:r>
              <a:rPr lang="en-US" altLang="en-US" dirty="0" smtClean="0"/>
              <a:t>process Q is suspended in </a:t>
            </a:r>
            <a:r>
              <a:rPr lang="en-US" altLang="en-US" sz="16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x.wait</a:t>
            </a:r>
            <a:r>
              <a:rPr lang="en-US" altLang="en-US" sz="16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en-US" dirty="0" smtClean="0"/>
              <a:t>, </a:t>
            </a:r>
          </a:p>
          <a:p>
            <a:pPr lvl="1"/>
            <a:r>
              <a:rPr lang="en-US" altLang="en-US" dirty="0" smtClean="0">
                <a:solidFill>
                  <a:srgbClr val="C00000"/>
                </a:solidFill>
              </a:rPr>
              <a:t>Suspended process Q associated with condition x is invoked</a:t>
            </a:r>
            <a:endParaRPr lang="en-US" altLang="en-US" dirty="0">
              <a:solidFill>
                <a:srgbClr val="C00000"/>
              </a:solidFill>
            </a:endParaRPr>
          </a:p>
          <a:p>
            <a:pPr lvl="1"/>
            <a:r>
              <a:rPr lang="en-US" altLang="en-US" dirty="0" smtClean="0"/>
              <a:t>what should happen next? </a:t>
            </a:r>
          </a:p>
          <a:p>
            <a:endParaRPr lang="en-US" altLang="en-US" dirty="0"/>
          </a:p>
          <a:p>
            <a:r>
              <a:rPr lang="en-US" altLang="en-US" dirty="0" smtClean="0"/>
              <a:t>Both Q and P cannot execute in parallel. 	</a:t>
            </a:r>
          </a:p>
          <a:p>
            <a:pPr lvl="1"/>
            <a:r>
              <a:rPr lang="en-US" altLang="en-US" dirty="0" smtClean="0">
                <a:solidFill>
                  <a:srgbClr val="C00000"/>
                </a:solidFill>
              </a:rPr>
              <a:t>If Q is resumed, then P must wait</a:t>
            </a:r>
          </a:p>
          <a:p>
            <a:pPr lvl="1"/>
            <a:r>
              <a:rPr lang="en-US" altLang="en-US" dirty="0" smtClean="0"/>
              <a:t>Otherwise both P and Q will be active simultaneously within the monitor</a:t>
            </a:r>
          </a:p>
        </p:txBody>
      </p:sp>
    </p:spTree>
    <p:extLst>
      <p:ext uri="{BB962C8B-B14F-4D97-AF65-F5344CB8AC3E}">
        <p14:creationId xmlns:p14="http://schemas.microsoft.com/office/powerpoint/2010/main" val="175325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Condition Variables Choices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25</a:t>
            </a:fld>
            <a:endParaRPr lang="en-US"/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>
          <a:xfrm>
            <a:off x="869950" y="1179515"/>
            <a:ext cx="7824788" cy="471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Options include</a:t>
            </a:r>
          </a:p>
          <a:p>
            <a:pPr lvl="1"/>
            <a:r>
              <a:rPr lang="en-US" altLang="en-US" b="1" dirty="0" smtClean="0">
                <a:solidFill>
                  <a:srgbClr val="C00000"/>
                </a:solidFill>
              </a:rPr>
              <a:t>Signal and wait </a:t>
            </a:r>
            <a:r>
              <a:rPr lang="en-US" altLang="en-US" dirty="0" smtClean="0">
                <a:solidFill>
                  <a:srgbClr val="C00000"/>
                </a:solidFill>
              </a:rPr>
              <a:t>– </a:t>
            </a:r>
            <a:r>
              <a:rPr lang="en-US" altLang="en-US" dirty="0" smtClean="0"/>
              <a:t>P waits until Q either leaves the monitor or it waits for another condition</a:t>
            </a:r>
          </a:p>
          <a:p>
            <a:pPr lvl="1"/>
            <a:r>
              <a:rPr lang="en-US" altLang="en-US" b="1" dirty="0" smtClean="0">
                <a:solidFill>
                  <a:srgbClr val="C00000"/>
                </a:solidFill>
              </a:rPr>
              <a:t>Signal and continue </a:t>
            </a:r>
            <a:r>
              <a:rPr lang="en-US" altLang="en-US" dirty="0" smtClean="0">
                <a:solidFill>
                  <a:srgbClr val="C00000"/>
                </a:solidFill>
              </a:rPr>
              <a:t>– </a:t>
            </a:r>
            <a:r>
              <a:rPr lang="en-US" altLang="en-US" dirty="0" smtClean="0"/>
              <a:t>Q waits until P either leaves the monitor or it  waits for another condition</a:t>
            </a:r>
          </a:p>
        </p:txBody>
      </p:sp>
    </p:spTree>
    <p:extLst>
      <p:ext uri="{BB962C8B-B14F-4D97-AF65-F5344CB8AC3E}">
        <p14:creationId xmlns:p14="http://schemas.microsoft.com/office/powerpoint/2010/main" val="333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Condition Variables Choices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26</a:t>
            </a:fld>
            <a:endParaRPr lang="en-US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869950" y="1179515"/>
            <a:ext cx="7824788" cy="471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Since P was already executing in the monitor, </a:t>
            </a:r>
          </a:p>
          <a:p>
            <a:pPr lvl="1"/>
            <a:r>
              <a:rPr lang="en-US" altLang="en-US" dirty="0" smtClean="0"/>
              <a:t>Option 2 seems more reasonable</a:t>
            </a:r>
          </a:p>
          <a:p>
            <a:pPr lvl="1"/>
            <a:r>
              <a:rPr lang="en-US" altLang="en-US" dirty="0" smtClean="0"/>
              <a:t>However, If P continues, the logical condition for which Q was waiting may no longer hold by the time Q is resumed</a:t>
            </a:r>
          </a:p>
          <a:p>
            <a:r>
              <a:rPr lang="en-US" altLang="en-US" dirty="0" smtClean="0"/>
              <a:t>Both have pros and cons – language implementer can decide</a:t>
            </a:r>
          </a:p>
          <a:p>
            <a:r>
              <a:rPr lang="en-US" altLang="en-US" dirty="0" smtClean="0"/>
              <a:t>Monitors implemented in Concurrent Pascal compromise</a:t>
            </a:r>
          </a:p>
          <a:p>
            <a:pPr lvl="1"/>
            <a:r>
              <a:rPr lang="en-US" altLang="en-US" dirty="0" smtClean="0">
                <a:solidFill>
                  <a:srgbClr val="C00000"/>
                </a:solidFill>
              </a:rPr>
              <a:t>P executing signal immediately leaves the monitor, Q is resumed</a:t>
            </a:r>
          </a:p>
          <a:p>
            <a:r>
              <a:rPr lang="en-US" altLang="en-US" dirty="0" smtClean="0"/>
              <a:t>Implemented in other languages including Mesa, C#, Java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500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 Solution 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27</a:t>
            </a:fld>
            <a:endParaRPr lang="en-US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869950" y="1179515"/>
            <a:ext cx="7824788" cy="471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Deadlock free solution to Dining Philosophers Problem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To distinguish amongst the 3states in which the philosopher may be-</a:t>
            </a:r>
          </a:p>
          <a:p>
            <a:pPr lvl="1"/>
            <a:r>
              <a:rPr lang="en-US" altLang="en-US" sz="2000" b="1" dirty="0" err="1" smtClean="0">
                <a:solidFill>
                  <a:srgbClr val="C00000"/>
                </a:solidFill>
              </a:rPr>
              <a:t>enum</a:t>
            </a:r>
            <a:r>
              <a:rPr lang="en-US" altLang="en-US" sz="2000" b="1" dirty="0" smtClean="0">
                <a:solidFill>
                  <a:srgbClr val="C00000"/>
                </a:solidFill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</a:rPr>
              <a:t>{ THINKING; HUNGRY, EATING) state [5] </a:t>
            </a:r>
            <a:r>
              <a:rPr lang="en-US" altLang="en-US" sz="2000" b="1" dirty="0" smtClean="0">
                <a:solidFill>
                  <a:srgbClr val="C00000"/>
                </a:solidFill>
              </a:rPr>
              <a:t>;</a:t>
            </a:r>
          </a:p>
          <a:p>
            <a:endParaRPr lang="en-US" sz="2400" dirty="0" smtClean="0"/>
          </a:p>
          <a:p>
            <a:r>
              <a:rPr lang="en-US" sz="2400" dirty="0" smtClean="0"/>
              <a:t>Philosopher </a:t>
            </a:r>
            <a:r>
              <a:rPr lang="en-US" sz="2400" dirty="0" err="1" smtClean="0"/>
              <a:t>i</a:t>
            </a:r>
            <a:r>
              <a:rPr lang="en-US" sz="2400" dirty="0" smtClean="0"/>
              <a:t> can set the variable state [</a:t>
            </a:r>
            <a:r>
              <a:rPr lang="en-US" sz="2400" dirty="0" err="1" smtClean="0"/>
              <a:t>i</a:t>
            </a:r>
            <a:r>
              <a:rPr lang="en-US" sz="2400" dirty="0" smtClean="0"/>
              <a:t>] = EATING only 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if her two neighbors are not eating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(state [ (</a:t>
            </a:r>
            <a:r>
              <a:rPr lang="en-US" sz="2000" b="1" dirty="0" err="1" smtClean="0">
                <a:solidFill>
                  <a:srgbClr val="C00000"/>
                </a:solidFill>
              </a:rPr>
              <a:t>i</a:t>
            </a:r>
            <a:r>
              <a:rPr lang="en-US" sz="2000" b="1" dirty="0" smtClean="0">
                <a:solidFill>
                  <a:srgbClr val="C00000"/>
                </a:solidFill>
              </a:rPr>
              <a:t> +4) % 5] ! = EATING) and (state [ (</a:t>
            </a:r>
            <a:r>
              <a:rPr lang="en-US" sz="2000" b="1" dirty="0" err="1" smtClean="0">
                <a:solidFill>
                  <a:srgbClr val="C00000"/>
                </a:solidFill>
              </a:rPr>
              <a:t>i</a:t>
            </a:r>
            <a:r>
              <a:rPr lang="en-US" sz="2000" b="1" dirty="0" smtClean="0">
                <a:solidFill>
                  <a:srgbClr val="C00000"/>
                </a:solidFill>
              </a:rPr>
              <a:t> +1) % 5] '= EATING)</a:t>
            </a:r>
            <a:endParaRPr lang="en-US" altLang="en-US" sz="2000" b="1" dirty="0" smtClean="0">
              <a:solidFill>
                <a:srgbClr val="C00000"/>
              </a:solidFill>
            </a:endParaRP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81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Monitor Solution 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28</a:t>
            </a:fld>
            <a:endParaRPr lang="en-US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869950" y="1179515"/>
            <a:ext cx="7824788" cy="471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Also </a:t>
            </a:r>
            <a:r>
              <a:rPr lang="en-US" sz="2400" dirty="0"/>
              <a:t>need to declare</a:t>
            </a:r>
          </a:p>
          <a:p>
            <a:pPr lvl="1"/>
            <a:r>
              <a:rPr lang="en-US" sz="2000" dirty="0"/>
              <a:t>condition </a:t>
            </a:r>
            <a:r>
              <a:rPr lang="en-US" sz="2000" dirty="0" smtClean="0"/>
              <a:t>sel</a:t>
            </a:r>
            <a:r>
              <a:rPr lang="en-US" sz="2000" dirty="0"/>
              <a:t>f</a:t>
            </a:r>
            <a:r>
              <a:rPr lang="en-US" sz="2000" dirty="0" smtClean="0"/>
              <a:t>[5</a:t>
            </a:r>
            <a:r>
              <a:rPr lang="en-US" sz="2000" dirty="0"/>
              <a:t>];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in </a:t>
            </a:r>
            <a:r>
              <a:rPr lang="en-US" sz="2000" dirty="0"/>
              <a:t>which </a:t>
            </a:r>
            <a:r>
              <a:rPr lang="en-US" sz="2000" dirty="0" err="1" smtClean="0"/>
              <a:t>i</a:t>
            </a:r>
            <a:r>
              <a:rPr lang="en-US" sz="2000" baseline="30000" dirty="0" err="1" smtClean="0"/>
              <a:t>th</a:t>
            </a:r>
            <a:r>
              <a:rPr lang="en-US" sz="2000" baseline="30000" dirty="0" smtClean="0"/>
              <a:t> </a:t>
            </a:r>
            <a:r>
              <a:rPr lang="en-US" sz="2000" dirty="0" smtClean="0"/>
              <a:t>philosopher </a:t>
            </a:r>
            <a:r>
              <a:rPr lang="en-US" sz="2000" b="1" dirty="0" smtClean="0">
                <a:solidFill>
                  <a:srgbClr val="C00000"/>
                </a:solidFill>
              </a:rPr>
              <a:t>can </a:t>
            </a:r>
            <a:r>
              <a:rPr lang="en-US" sz="2000" b="1" dirty="0">
                <a:solidFill>
                  <a:srgbClr val="C00000"/>
                </a:solidFill>
              </a:rPr>
              <a:t>delay herself when she is hungry but is unable </a:t>
            </a:r>
            <a:r>
              <a:rPr lang="en-US" sz="2000" b="1" dirty="0" smtClean="0">
                <a:solidFill>
                  <a:srgbClr val="C00000"/>
                </a:solidFill>
              </a:rPr>
              <a:t>to obtain </a:t>
            </a:r>
            <a:r>
              <a:rPr lang="en-US" sz="2000" b="1" dirty="0">
                <a:solidFill>
                  <a:srgbClr val="C00000"/>
                </a:solidFill>
              </a:rPr>
              <a:t>the chopsticks she needs</a:t>
            </a:r>
            <a:r>
              <a:rPr lang="en-US" sz="2000" b="1" dirty="0" smtClean="0">
                <a:solidFill>
                  <a:srgbClr val="C00000"/>
                </a:solidFill>
              </a:rPr>
              <a:t>.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Distribution of </a:t>
            </a:r>
            <a:r>
              <a:rPr lang="en-US" sz="2400" dirty="0" smtClean="0"/>
              <a:t>chopsticks </a:t>
            </a:r>
            <a:r>
              <a:rPr lang="en-US" sz="2400" dirty="0"/>
              <a:t>is controlled by the </a:t>
            </a:r>
            <a:r>
              <a:rPr lang="en-US" sz="2400" dirty="0" smtClean="0">
                <a:solidFill>
                  <a:srgbClr val="C00000"/>
                </a:solidFill>
              </a:rPr>
              <a:t>monitor </a:t>
            </a:r>
            <a:r>
              <a:rPr lang="en-US" sz="2400" dirty="0" err="1">
                <a:solidFill>
                  <a:srgbClr val="C00000"/>
                </a:solidFill>
              </a:rPr>
              <a:t>DiningPhilosophers</a:t>
            </a:r>
            <a:endParaRPr lang="en-US" altLang="en-US" sz="2400" dirty="0" smtClean="0">
              <a:solidFill>
                <a:srgbClr val="C00000"/>
              </a:solidFill>
            </a:endParaRPr>
          </a:p>
          <a:p>
            <a:endParaRPr lang="en-US" altLang="en-US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11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Monitor Solution </a:t>
            </a:r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29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146176" y="979488"/>
            <a:ext cx="7345363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monitor 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DiningPhilosophers</a:t>
            </a:r>
            <a:endParaRPr lang="en-US" altLang="en-US" sz="16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{ THINKING; HUNGRY, EATING) state [5]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condition self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void pickup (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state[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test(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if (state[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!= EATING)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self[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].wait;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6635" y="3301407"/>
            <a:ext cx="344583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</a:t>
            </a:r>
            <a:r>
              <a:rPr lang="en-US" sz="2000" dirty="0" smtClean="0"/>
              <a:t>f </a:t>
            </a:r>
            <a:r>
              <a:rPr lang="en-US" sz="2000" dirty="0"/>
              <a:t>unable to eat, wait to be signaled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</a:t>
            </a:r>
            <a:r>
              <a:rPr lang="en-US" sz="2000" dirty="0" smtClean="0"/>
              <a:t>hilosopher </a:t>
            </a:r>
            <a:r>
              <a:rPr lang="en-US" sz="2000" dirty="0"/>
              <a:t>can delay herself when she is hungry but is unable to obtain the chopsticks she needs</a:t>
            </a:r>
            <a:r>
              <a:rPr lang="en-US" sz="2000" dirty="0" smtClean="0"/>
              <a:t>.</a:t>
            </a:r>
          </a:p>
          <a:p>
            <a:pPr lvl="1"/>
            <a:endParaRPr lang="en-US" sz="2000" dirty="0"/>
          </a:p>
        </p:txBody>
      </p:sp>
      <p:sp>
        <p:nvSpPr>
          <p:cNvPr id="12" name="Right Arrow 11"/>
          <p:cNvSpPr/>
          <p:nvPr/>
        </p:nvSpPr>
        <p:spPr>
          <a:xfrm>
            <a:off x="4206955" y="3538796"/>
            <a:ext cx="1473926" cy="266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3469991" y="2592159"/>
            <a:ext cx="2313247" cy="266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880631" y="2540585"/>
            <a:ext cx="187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Pickup </a:t>
            </a:r>
            <a:r>
              <a:rPr lang="en-US" dirty="0"/>
              <a:t>chopsticks </a:t>
            </a:r>
          </a:p>
        </p:txBody>
      </p:sp>
    </p:spTree>
    <p:extLst>
      <p:ext uri="{BB962C8B-B14F-4D97-AF65-F5344CB8AC3E}">
        <p14:creationId xmlns:p14="http://schemas.microsoft.com/office/powerpoint/2010/main" val="347904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Monitor Solution </a:t>
            </a:r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30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96569" y="651942"/>
            <a:ext cx="7345363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monitor 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DiningPhilosophers</a:t>
            </a:r>
            <a:endParaRPr lang="en-US" altLang="en-US" sz="16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void putdown (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state[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test((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test((</a:t>
            </a:r>
            <a:r>
              <a:rPr lang="en-US" altLang="en-US" sz="16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olidFill>
                  <a:srgbClr val="0000FF"/>
                </a:solidFill>
              </a:rPr>
              <a:t>	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0769" y="1644345"/>
            <a:ext cx="2106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Put down </a:t>
            </a:r>
            <a:r>
              <a:rPr lang="en-US" dirty="0" smtClean="0"/>
              <a:t>chopsticks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66393" y="1644345"/>
            <a:ext cx="1917649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370471" y="2987643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/>
              <a:t>if right neighbor R=(i+1)%5 is hungry and </a:t>
            </a:r>
          </a:p>
          <a:p>
            <a:pPr fontAlgn="base"/>
            <a:r>
              <a:rPr lang="en-US" dirty="0"/>
              <a:t>  </a:t>
            </a:r>
            <a:r>
              <a:rPr lang="en-US" dirty="0" smtClean="0"/>
              <a:t> </a:t>
            </a:r>
            <a:r>
              <a:rPr lang="en-US" dirty="0"/>
              <a:t>both of R’s neighbors are not eating, </a:t>
            </a:r>
          </a:p>
          <a:p>
            <a:pPr fontAlgn="base"/>
            <a:r>
              <a:rPr lang="en-US" dirty="0"/>
              <a:t>  </a:t>
            </a:r>
            <a:r>
              <a:rPr lang="en-US" dirty="0" smtClean="0"/>
              <a:t>set </a:t>
            </a:r>
            <a:r>
              <a:rPr lang="en-US" dirty="0"/>
              <a:t>R’s state to eating and wake it up by  </a:t>
            </a:r>
            <a:r>
              <a:rPr lang="en-US" dirty="0" smtClean="0"/>
              <a:t>signaling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10425" y="3159676"/>
            <a:ext cx="764225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6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Monitor Solution </a:t>
            </a:r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31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160463" y="944563"/>
            <a:ext cx="6908800" cy="526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void test (int i)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if ((state[(i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(state[i]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(state[(i + 1) % 5] != EATING) 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   state[i] = EATING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    self[i].signal ()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initialization_code()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for (int i = 0; i &lt; 5; i++)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state[i]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9370" y="2055238"/>
            <a:ext cx="294575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</a:t>
            </a:r>
            <a:r>
              <a:rPr lang="en-US" sz="2000" dirty="0"/>
              <a:t>her two neighbors are not </a:t>
            </a:r>
            <a:r>
              <a:rPr lang="en-US" sz="2000" dirty="0" smtClean="0"/>
              <a:t>eating and she is hungry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smtClean="0"/>
              <a:t>I.E. </a:t>
            </a:r>
            <a:r>
              <a:rPr lang="en-US" dirty="0"/>
              <a:t>if my left and right neighbors </a:t>
            </a:r>
            <a:r>
              <a:rPr lang="en-US" dirty="0" smtClean="0"/>
              <a:t>are </a:t>
            </a:r>
            <a:r>
              <a:rPr lang="en-US" dirty="0"/>
              <a:t>not eating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Set her state as eating</a:t>
            </a:r>
          </a:p>
          <a:p>
            <a:pPr lvl="1"/>
            <a:endParaRPr lang="en-US" sz="2000" dirty="0" smtClean="0"/>
          </a:p>
        </p:txBody>
      </p:sp>
      <p:sp>
        <p:nvSpPr>
          <p:cNvPr id="13" name="Right Arrow 12"/>
          <p:cNvSpPr/>
          <p:nvPr/>
        </p:nvSpPr>
        <p:spPr>
          <a:xfrm>
            <a:off x="5373806" y="2100472"/>
            <a:ext cx="941696" cy="308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73806" y="3932674"/>
            <a:ext cx="29457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signal() has no effect during Pickup(),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but is important to wake up waiting </a:t>
            </a:r>
            <a:r>
              <a:rPr lang="en-US" sz="2000" dirty="0" smtClean="0"/>
              <a:t>hungry </a:t>
            </a:r>
            <a:r>
              <a:rPr lang="en-US" sz="2000" dirty="0"/>
              <a:t>philosophers during Putdown()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23495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Solution 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32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14401" y="1090613"/>
            <a:ext cx="7445375" cy="5268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 smtClean="0"/>
              <a:t>Each philosopher </a:t>
            </a:r>
            <a:r>
              <a:rPr lang="en-US" altLang="en-US" i="1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invokes the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operations 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pickup()</a:t>
            </a:r>
            <a:r>
              <a:rPr lang="en-US" altLang="en-US" sz="2000" i="1" dirty="0" smtClean="0"/>
              <a:t> </a:t>
            </a:r>
            <a:r>
              <a:rPr lang="en-US" altLang="en-US" dirty="0" smtClean="0"/>
              <a:t>and 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putdown()</a:t>
            </a:r>
            <a:r>
              <a:rPr lang="en-US" altLang="en-US" sz="2000" dirty="0" smtClean="0"/>
              <a:t> </a:t>
            </a:r>
            <a:r>
              <a:rPr lang="en-US" altLang="en-US" dirty="0" smtClean="0"/>
              <a:t>in the following sequence: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DiningPhilosophers.pickup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  EAT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DiningPhilosophers.putdown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 smtClean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 smtClean="0">
                <a:solidFill>
                  <a:srgbClr val="0000FF"/>
                </a:solidFill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82865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Solution 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33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14401" y="1090613"/>
            <a:ext cx="7445375" cy="526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 smtClean="0">
              <a:solidFill>
                <a:srgbClr val="0000FF"/>
              </a:solidFill>
            </a:endParaRPr>
          </a:p>
          <a:p>
            <a:r>
              <a:rPr lang="en-US" sz="2400" dirty="0"/>
              <a:t>Each philosopher</a:t>
            </a:r>
            <a:r>
              <a:rPr lang="en-US" sz="2400" dirty="0" smtClean="0"/>
              <a:t>, before </a:t>
            </a:r>
            <a:r>
              <a:rPr lang="en-US" sz="2400" dirty="0"/>
              <a:t>starting to eat, must invoke the operation pickup().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act m</a:t>
            </a:r>
            <a:r>
              <a:rPr lang="en-US" sz="2400" dirty="0" smtClean="0"/>
              <a:t>ay result in </a:t>
            </a:r>
            <a:r>
              <a:rPr lang="en-US" sz="2400" dirty="0"/>
              <a:t>the suspension of the philosopher process.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After </a:t>
            </a:r>
            <a:r>
              <a:rPr lang="en-US" sz="2400" dirty="0"/>
              <a:t>the successful completion </a:t>
            </a:r>
            <a:r>
              <a:rPr lang="en-US" sz="2400" dirty="0" smtClean="0"/>
              <a:t>of the </a:t>
            </a:r>
            <a:r>
              <a:rPr lang="en-US" sz="2400" dirty="0"/>
              <a:t>operation, the philosopher may eat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After eating, philosopher invokes putdown() and start to think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400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400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 smtClean="0">
                <a:solidFill>
                  <a:srgbClr val="0000FF"/>
                </a:solidFill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82224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Solution to Dining Philosophers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34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14401" y="1090613"/>
            <a:ext cx="7445375" cy="526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dirty="0"/>
              <a:t>Execution of Pickup(), Putdown() and test() are all mutually exclusive, i.e. only one at a time can be </a:t>
            </a:r>
            <a:r>
              <a:rPr lang="en-US" dirty="0" smtClean="0"/>
              <a:t>executing</a:t>
            </a:r>
          </a:p>
          <a:p>
            <a:pPr>
              <a:lnSpc>
                <a:spcPct val="80000"/>
              </a:lnSpc>
            </a:pPr>
            <a:endParaRPr lang="en-US" altLang="en-US" dirty="0" smtClean="0"/>
          </a:p>
          <a:p>
            <a:pPr>
              <a:lnSpc>
                <a:spcPct val="80000"/>
              </a:lnSpc>
            </a:pPr>
            <a:r>
              <a:rPr lang="en-US" altLang="en-US" dirty="0" smtClean="0"/>
              <a:t>No 2 neighbors are eating simultaneously </a:t>
            </a:r>
          </a:p>
          <a:p>
            <a:pPr>
              <a:lnSpc>
                <a:spcPct val="80000"/>
              </a:lnSpc>
            </a:pPr>
            <a:endParaRPr lang="en-US" altLang="en-US" dirty="0" smtClean="0"/>
          </a:p>
          <a:p>
            <a:pPr>
              <a:lnSpc>
                <a:spcPct val="80000"/>
              </a:lnSpc>
            </a:pPr>
            <a:r>
              <a:rPr lang="en-US" altLang="en-US" dirty="0" smtClean="0"/>
              <a:t>So 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 smtClean="0">
                <a:solidFill>
                  <a:srgbClr val="0000FF"/>
                </a:solidFill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71681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-22923"/>
            <a:ext cx="8546934" cy="5551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Monitors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35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14401" y="1090613"/>
            <a:ext cx="7445375" cy="5268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 smtClean="0">
              <a:solidFill>
                <a:srgbClr val="0000FF"/>
              </a:solidFill>
            </a:endParaRPr>
          </a:p>
          <a:p>
            <a:pPr fontAlgn="base"/>
            <a:r>
              <a:rPr lang="en-US" b="1" dirty="0" smtClean="0"/>
              <a:t>Advantages </a:t>
            </a:r>
            <a:r>
              <a:rPr lang="en-US" b="1" dirty="0"/>
              <a:t>of Monitor: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lvl="1" fontAlgn="base"/>
            <a:r>
              <a:rPr lang="en-US" dirty="0" smtClean="0"/>
              <a:t>Make </a:t>
            </a:r>
            <a:r>
              <a:rPr lang="en-US" dirty="0"/>
              <a:t>parallel programming easier and </a:t>
            </a:r>
            <a:endParaRPr lang="en-US" dirty="0" smtClean="0"/>
          </a:p>
          <a:p>
            <a:pPr lvl="1" fontAlgn="base"/>
            <a:r>
              <a:rPr lang="en-US" dirty="0" smtClean="0"/>
              <a:t>less </a:t>
            </a:r>
            <a:r>
              <a:rPr lang="en-US" dirty="0"/>
              <a:t>error prone than using techniques such as semaphore.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Disadvantages </a:t>
            </a:r>
            <a:r>
              <a:rPr lang="en-US" b="1" dirty="0"/>
              <a:t>of Monitor: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lvl="1" fontAlgn="base"/>
            <a:r>
              <a:rPr lang="en-US" dirty="0" smtClean="0"/>
              <a:t>Monitors </a:t>
            </a:r>
            <a:r>
              <a:rPr lang="en-US" dirty="0"/>
              <a:t>have to be implemented as part of the programming language . </a:t>
            </a:r>
            <a:endParaRPr lang="en-US" dirty="0" smtClean="0"/>
          </a:p>
          <a:p>
            <a:pPr lvl="1" fontAlgn="base"/>
            <a:r>
              <a:rPr lang="en-US" dirty="0" smtClean="0"/>
              <a:t>The </a:t>
            </a:r>
            <a:r>
              <a:rPr lang="en-US" dirty="0"/>
              <a:t>compiler must generate code for them. </a:t>
            </a:r>
            <a:endParaRPr lang="en-US" dirty="0" smtClean="0"/>
          </a:p>
          <a:p>
            <a:pPr lvl="1" fontAlgn="base"/>
            <a:r>
              <a:rPr lang="en-US" dirty="0" smtClean="0"/>
              <a:t>This </a:t>
            </a:r>
            <a:r>
              <a:rPr lang="en-US" dirty="0"/>
              <a:t>gives the compiler the additional burden of having to know what operating system facilities are available to control access to critical sections in concurrent processes. </a:t>
            </a:r>
            <a:endParaRPr lang="en-US" dirty="0" smtClean="0"/>
          </a:p>
          <a:p>
            <a:pPr lvl="1" fontAlgn="base"/>
            <a:r>
              <a:rPr lang="en-US" dirty="0" smtClean="0"/>
              <a:t>Some </a:t>
            </a:r>
            <a:r>
              <a:rPr lang="en-US" dirty="0"/>
              <a:t>languages that do support monitors are </a:t>
            </a:r>
            <a:r>
              <a:rPr lang="en-US" dirty="0" err="1"/>
              <a:t>Java,C#,Visual</a:t>
            </a:r>
            <a:r>
              <a:rPr lang="en-US" dirty="0"/>
              <a:t> </a:t>
            </a:r>
            <a:r>
              <a:rPr lang="en-US" dirty="0" err="1"/>
              <a:t>Basic,Ada</a:t>
            </a:r>
            <a:r>
              <a:rPr lang="en-US" dirty="0"/>
              <a:t> and concurrent Euclid.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 smtClean="0">
                <a:solidFill>
                  <a:srgbClr val="0000FF"/>
                </a:solidFill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78938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Office PowerPoint</Application>
  <PresentationFormat>On-screen Show (4:3)</PresentationFormat>
  <Paragraphs>421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EXP Dining Philosophers Problem</vt:lpstr>
      <vt:lpstr>Dining-Philosophers Problem</vt:lpstr>
      <vt:lpstr>Dining-Philosophers Problem</vt:lpstr>
      <vt:lpstr>Dining-Philosophers Problem</vt:lpstr>
      <vt:lpstr>Dining-Philosophers Problem</vt:lpstr>
      <vt:lpstr>Semaphore Solution for Dining-Philosophers Problem</vt:lpstr>
      <vt:lpstr>Semaphore Solution for Dining-Philosophers Problem Algorithm</vt:lpstr>
      <vt:lpstr>Semaphore Solution for Dining-Philosophers Problem Algorithm</vt:lpstr>
      <vt:lpstr>Semaphore Solution for Dining-Philosophers Problem Algorithm</vt:lpstr>
      <vt:lpstr>Semaphore Solution for Dining-Philosophers Problem Algorithm</vt:lpstr>
      <vt:lpstr>Semaphore Solution for Dining-Philosophers Problem Algorithm</vt:lpstr>
      <vt:lpstr>Semaphore Solution for Dining-Philosophers Problem Algorithm</vt:lpstr>
      <vt:lpstr>Problems with Semaphores</vt:lpstr>
      <vt:lpstr>Monitors</vt:lpstr>
      <vt:lpstr>Monitors</vt:lpstr>
      <vt:lpstr>Syntax of Monitors</vt:lpstr>
      <vt:lpstr>Monitors</vt:lpstr>
      <vt:lpstr>Schematic view of a Monitor</vt:lpstr>
      <vt:lpstr>Monitors</vt:lpstr>
      <vt:lpstr>Monitors</vt:lpstr>
      <vt:lpstr>Condition Variables</vt:lpstr>
      <vt:lpstr>Condition Variables</vt:lpstr>
      <vt:lpstr>Monitor with Condition Variables</vt:lpstr>
      <vt:lpstr>Condition Variables Choices</vt:lpstr>
      <vt:lpstr>Condition Variables Choices</vt:lpstr>
      <vt:lpstr>Condition Variables Choices</vt:lpstr>
      <vt:lpstr>Monitor Solution to Dining Philosophers </vt:lpstr>
      <vt:lpstr>Monitor Solution to Dining Philosophers </vt:lpstr>
      <vt:lpstr>Monitor Solution to Dining Philosophers </vt:lpstr>
      <vt:lpstr>Monitor Solution to Dining Philosophers </vt:lpstr>
      <vt:lpstr>Monitor Solution to Dining Philosophers </vt:lpstr>
      <vt:lpstr>Solution to Dining Philosophers </vt:lpstr>
      <vt:lpstr>Solution to Dining Philosophers </vt:lpstr>
      <vt:lpstr>Solution to Dining Philosophers </vt:lpstr>
      <vt:lpstr>Monitors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 Dining Philosophers Problem</dc:title>
  <dc:creator>Admin</dc:creator>
  <cp:lastModifiedBy>Admin</cp:lastModifiedBy>
  <cp:revision>1</cp:revision>
  <dcterms:created xsi:type="dcterms:W3CDTF">2020-10-15T10:18:51Z</dcterms:created>
  <dcterms:modified xsi:type="dcterms:W3CDTF">2020-10-15T10:19:35Z</dcterms:modified>
</cp:coreProperties>
</file>
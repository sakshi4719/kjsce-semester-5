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9AF52-216C-49D5-B939-1C4D68F7BE27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75A17-C73A-4CBD-BBE4-7976F1749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72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459F63D-9210-44BC-9827-C4D0F2F92A63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07C551A-539F-49FB-A943-5563E12ACD9D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92CDCE7-2738-432B-85EB-E0573E7D48A0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2377EFD-A134-4176-8E14-7D35F863878D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CC36FAB-C924-43BB-8D65-E104266E7900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EE3314C-C883-47D6-808E-2CC15E959510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8FD414B-AC6D-4BD4-869D-9F5BF2712DDF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9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4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1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52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6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30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2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7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88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5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6B47A-50CA-423C-A827-37638273FB3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4FA79-E7D3-47BB-B2EF-15B068880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7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82563"/>
            <a:ext cx="7772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Banker’s Algorithm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28713"/>
            <a:ext cx="6756400" cy="44418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 smtClean="0"/>
              <a:t>Multiple instances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Each process must </a:t>
            </a:r>
            <a:r>
              <a:rPr lang="en-US" altLang="en-US" dirty="0" smtClean="0">
                <a:solidFill>
                  <a:srgbClr val="0070C0"/>
                </a:solidFill>
              </a:rPr>
              <a:t>a priori claim maximum use</a:t>
            </a:r>
          </a:p>
          <a:p>
            <a:pPr lvl="1"/>
            <a:r>
              <a:rPr lang="en-US" dirty="0"/>
              <a:t>This </a:t>
            </a:r>
            <a:r>
              <a:rPr lang="en-US" dirty="0" smtClean="0"/>
              <a:t>number </a:t>
            </a:r>
            <a:r>
              <a:rPr lang="en-US" dirty="0" smtClean="0">
                <a:solidFill>
                  <a:srgbClr val="0070C0"/>
                </a:solidFill>
              </a:rPr>
              <a:t>may not </a:t>
            </a:r>
            <a:r>
              <a:rPr lang="en-US" dirty="0">
                <a:solidFill>
                  <a:srgbClr val="0070C0"/>
                </a:solidFill>
              </a:rPr>
              <a:t>exceed the total number of resources in the system.</a:t>
            </a:r>
            <a:r>
              <a:rPr lang="en-US" altLang="en-US" dirty="0" smtClean="0">
                <a:solidFill>
                  <a:srgbClr val="0070C0"/>
                </a:solidFill>
              </a:rPr>
              <a:t/>
            </a:r>
            <a:br>
              <a:rPr lang="en-US" altLang="en-US" dirty="0" smtClean="0">
                <a:solidFill>
                  <a:srgbClr val="0070C0"/>
                </a:solidFill>
              </a:rPr>
            </a:br>
            <a:endParaRPr lang="en-US" altLang="en-US" dirty="0" smtClean="0">
              <a:solidFill>
                <a:srgbClr val="0070C0"/>
              </a:solidFill>
            </a:endParaRPr>
          </a:p>
          <a:p>
            <a:r>
              <a:rPr lang="en-US" altLang="en-US" dirty="0" smtClean="0"/>
              <a:t>When a process requests a resource </a:t>
            </a:r>
            <a:r>
              <a:rPr lang="en-US" altLang="en-US" dirty="0" smtClean="0">
                <a:solidFill>
                  <a:srgbClr val="0070C0"/>
                </a:solidFill>
              </a:rPr>
              <a:t>it may have to wait 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When a process </a:t>
            </a:r>
            <a:r>
              <a:rPr lang="en-US" altLang="en-US" dirty="0" smtClean="0">
                <a:solidFill>
                  <a:srgbClr val="0070C0"/>
                </a:solidFill>
              </a:rPr>
              <a:t>gets all its resources it must return them in a finite amount of time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BFB17-6868-41CB-B46D-6C9FA9305EBC}" type="datetime1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Banker’s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</a:t>
            </a:r>
            <a:r>
              <a:rPr lang="en-US" sz="2800" dirty="0" smtClean="0"/>
              <a:t> </a:t>
            </a:r>
            <a:r>
              <a:rPr lang="en-US" sz="2800" dirty="0"/>
              <a:t>resource allocation and deadlock avoidance algorithm. </a:t>
            </a:r>
            <a:endParaRPr lang="en-US" sz="2800" dirty="0" smtClean="0"/>
          </a:p>
          <a:p>
            <a:r>
              <a:rPr lang="en-US" sz="2800" dirty="0" smtClean="0"/>
              <a:t>This </a:t>
            </a:r>
            <a:r>
              <a:rPr lang="en-US" sz="2800" dirty="0"/>
              <a:t>algorithm test for safety simulating </a:t>
            </a:r>
            <a:endParaRPr lang="en-US" sz="28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allocation for predetermined maximum possible amounts of all resources, </a:t>
            </a:r>
            <a:endParaRPr lang="en-US" sz="2400" dirty="0" smtClean="0"/>
          </a:p>
          <a:p>
            <a:pPr lvl="1"/>
            <a:r>
              <a:rPr lang="en-US" sz="2400" dirty="0" smtClean="0"/>
              <a:t>then </a:t>
            </a:r>
            <a:r>
              <a:rPr lang="en-US" sz="2400" dirty="0"/>
              <a:t>makes </a:t>
            </a:r>
            <a:r>
              <a:rPr lang="en-US" sz="2400" dirty="0">
                <a:solidFill>
                  <a:srgbClr val="0070C0"/>
                </a:solidFill>
              </a:rPr>
              <a:t>an “s-state” check to test for possible activities, </a:t>
            </a:r>
            <a:endParaRPr lang="en-US" sz="2400" dirty="0" smtClean="0">
              <a:solidFill>
                <a:srgbClr val="0070C0"/>
              </a:solidFill>
            </a:endParaRPr>
          </a:p>
          <a:p>
            <a:pPr lvl="1"/>
            <a:r>
              <a:rPr lang="en-US" sz="2400" dirty="0" smtClean="0"/>
              <a:t>before </a:t>
            </a:r>
            <a:r>
              <a:rPr lang="en-US" sz="2400" dirty="0"/>
              <a:t>deciding </a:t>
            </a:r>
            <a:r>
              <a:rPr lang="en-US" sz="2400" dirty="0">
                <a:solidFill>
                  <a:srgbClr val="0070C0"/>
                </a:solidFill>
              </a:rPr>
              <a:t>whether allocation should be allowed to continue.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5214-1D12-4F98-A8C6-D8D7AA25E2F3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9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4788" y="327025"/>
            <a:ext cx="7586662" cy="431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Data Structures for the Banker</a:t>
            </a:r>
            <a:r>
              <a:rPr lang="ja-JP" altLang="en-US" sz="2800" smtClean="0"/>
              <a:t>’</a:t>
            </a:r>
            <a:r>
              <a:rPr lang="en-US" altLang="ja-JP" sz="2800" smtClean="0"/>
              <a:t>s Algorithm </a:t>
            </a:r>
            <a:endParaRPr lang="en-US" altLang="en-US" sz="280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2213" y="1654174"/>
            <a:ext cx="7370762" cy="4975226"/>
          </a:xfrm>
        </p:spPr>
        <p:txBody>
          <a:bodyPr>
            <a:normAutofit fontScale="62500" lnSpcReduction="20000"/>
          </a:bodyPr>
          <a:lstStyle/>
          <a:p>
            <a:r>
              <a:rPr lang="en-US" altLang="en-US" b="1" dirty="0" smtClean="0"/>
              <a:t>Available</a:t>
            </a:r>
            <a:r>
              <a:rPr lang="en-US" altLang="en-US" i="1" dirty="0" smtClean="0"/>
              <a:t>: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 Vector of length </a:t>
            </a:r>
            <a:r>
              <a:rPr lang="en-US" altLang="en-US" i="1" dirty="0" smtClean="0"/>
              <a:t>m</a:t>
            </a:r>
            <a:r>
              <a:rPr lang="en-US" altLang="en-US" dirty="0" smtClean="0"/>
              <a:t>. </a:t>
            </a:r>
          </a:p>
          <a:p>
            <a:pPr lvl="1"/>
            <a:r>
              <a:rPr lang="en-US" altLang="en-US" u="sng" dirty="0" smtClean="0"/>
              <a:t>If available [</a:t>
            </a:r>
            <a:r>
              <a:rPr lang="en-US" altLang="en-US" i="1" u="sng" dirty="0" smtClean="0"/>
              <a:t>j</a:t>
            </a:r>
            <a:r>
              <a:rPr lang="en-US" altLang="en-US" u="sng" dirty="0" smtClean="0"/>
              <a:t>] = </a:t>
            </a:r>
            <a:r>
              <a:rPr lang="en-US" altLang="en-US" i="1" u="sng" dirty="0" smtClean="0"/>
              <a:t>k</a:t>
            </a:r>
            <a:r>
              <a:rPr lang="en-US" altLang="en-US" u="sng" dirty="0" smtClean="0"/>
              <a:t>, there are</a:t>
            </a:r>
            <a:r>
              <a:rPr lang="en-US" altLang="en-US" i="1" u="sng" dirty="0" smtClean="0"/>
              <a:t> k</a:t>
            </a:r>
            <a:r>
              <a:rPr lang="en-US" altLang="en-US" u="sng" dirty="0" smtClean="0"/>
              <a:t> instances of resource type </a:t>
            </a:r>
            <a:r>
              <a:rPr lang="en-US" altLang="en-US" i="1" u="sng" dirty="0" err="1" smtClean="0"/>
              <a:t>R</a:t>
            </a:r>
            <a:r>
              <a:rPr lang="en-US" altLang="en-US" i="1" u="sng" baseline="-25000" dirty="0" err="1" smtClean="0"/>
              <a:t>j</a:t>
            </a:r>
            <a:r>
              <a:rPr lang="en-US" altLang="en-US" u="sng" baseline="-25000" dirty="0" smtClean="0"/>
              <a:t>  </a:t>
            </a:r>
            <a:r>
              <a:rPr lang="en-US" altLang="en-US" u="sng" dirty="0" smtClean="0"/>
              <a:t>available</a:t>
            </a:r>
          </a:p>
          <a:p>
            <a:endParaRPr lang="en-US" altLang="en-US" sz="800" dirty="0" smtClean="0"/>
          </a:p>
          <a:p>
            <a:r>
              <a:rPr lang="en-US" altLang="en-US" b="1" dirty="0" smtClean="0">
                <a:solidFill>
                  <a:srgbClr val="000000"/>
                </a:solidFill>
              </a:rPr>
              <a:t>Max</a:t>
            </a:r>
            <a:r>
              <a:rPr lang="en-US" altLang="en-US" i="1" dirty="0" smtClean="0"/>
              <a:t>: </a:t>
            </a:r>
          </a:p>
          <a:p>
            <a:pPr lvl="1"/>
            <a:r>
              <a:rPr lang="en-US" altLang="en-US" i="1" dirty="0" smtClean="0"/>
              <a:t>n x m</a:t>
            </a:r>
            <a:r>
              <a:rPr lang="en-US" altLang="en-US" dirty="0" smtClean="0"/>
              <a:t> matrix.  </a:t>
            </a:r>
          </a:p>
          <a:p>
            <a:pPr lvl="1"/>
            <a:r>
              <a:rPr lang="en-US" altLang="en-US" u="sng" dirty="0" smtClean="0"/>
              <a:t>If </a:t>
            </a:r>
            <a:r>
              <a:rPr lang="en-US" altLang="en-US" i="1" u="sng" dirty="0" smtClean="0"/>
              <a:t>Max </a:t>
            </a:r>
            <a:r>
              <a:rPr lang="en-US" altLang="en-US" u="sng" dirty="0" smtClean="0"/>
              <a:t>[</a:t>
            </a:r>
            <a:r>
              <a:rPr lang="en-US" altLang="en-US" i="1" u="sng" dirty="0" err="1" smtClean="0"/>
              <a:t>i,j</a:t>
            </a:r>
            <a:r>
              <a:rPr lang="en-US" altLang="en-US" u="sng" dirty="0" smtClean="0"/>
              <a:t>] = </a:t>
            </a:r>
            <a:r>
              <a:rPr lang="en-US" altLang="en-US" i="1" u="sng" dirty="0" smtClean="0"/>
              <a:t>k</a:t>
            </a:r>
            <a:r>
              <a:rPr lang="en-US" altLang="en-US" u="sng" dirty="0" smtClean="0"/>
              <a:t>, then process </a:t>
            </a:r>
            <a:r>
              <a:rPr lang="en-US" altLang="en-US" i="1" u="sng" dirty="0" smtClean="0"/>
              <a:t>P</a:t>
            </a:r>
            <a:r>
              <a:rPr lang="en-US" altLang="en-US" i="1" u="sng" baseline="-25000" dirty="0" smtClean="0"/>
              <a:t>i</a:t>
            </a:r>
            <a:r>
              <a:rPr lang="en-US" altLang="en-US" i="1" u="sng" dirty="0" smtClean="0"/>
              <a:t> </a:t>
            </a:r>
            <a:r>
              <a:rPr lang="en-US" altLang="en-US" u="sng" dirty="0" smtClean="0"/>
              <a:t>may request at most</a:t>
            </a:r>
            <a:r>
              <a:rPr lang="en-US" altLang="en-US" i="1" u="sng" dirty="0" smtClean="0"/>
              <a:t> k </a:t>
            </a:r>
            <a:r>
              <a:rPr lang="en-US" altLang="en-US" u="sng" dirty="0" smtClean="0"/>
              <a:t>instances of resource type </a:t>
            </a:r>
            <a:r>
              <a:rPr lang="en-US" altLang="en-US" i="1" u="sng" dirty="0" err="1" smtClean="0"/>
              <a:t>R</a:t>
            </a:r>
            <a:r>
              <a:rPr lang="en-US" altLang="en-US" i="1" u="sng" baseline="-25000" dirty="0" err="1" smtClean="0"/>
              <a:t>j</a:t>
            </a:r>
            <a:endParaRPr lang="en-US" altLang="en-US" i="1" u="sng" baseline="-25000" dirty="0" smtClean="0"/>
          </a:p>
          <a:p>
            <a:endParaRPr lang="en-US" altLang="en-US" sz="800" i="1" baseline="-25000" dirty="0" smtClean="0"/>
          </a:p>
          <a:p>
            <a:r>
              <a:rPr lang="en-US" altLang="en-US" b="1" dirty="0" smtClean="0">
                <a:solidFill>
                  <a:srgbClr val="000000"/>
                </a:solidFill>
              </a:rPr>
              <a:t>Allocation</a:t>
            </a:r>
            <a:r>
              <a:rPr lang="en-US" altLang="en-US" i="1" dirty="0" smtClean="0"/>
              <a:t>:  </a:t>
            </a:r>
          </a:p>
          <a:p>
            <a:pPr lvl="1"/>
            <a:r>
              <a:rPr lang="en-US" altLang="en-US" i="1" dirty="0" smtClean="0"/>
              <a:t>n </a:t>
            </a:r>
            <a:r>
              <a:rPr lang="en-US" altLang="en-US" dirty="0" smtClean="0"/>
              <a:t>x</a:t>
            </a:r>
            <a:r>
              <a:rPr lang="en-US" altLang="en-US" i="1" dirty="0" smtClean="0"/>
              <a:t> m</a:t>
            </a:r>
            <a:r>
              <a:rPr lang="en-US" altLang="en-US" dirty="0" smtClean="0"/>
              <a:t> matrix.  </a:t>
            </a:r>
          </a:p>
          <a:p>
            <a:pPr lvl="1"/>
            <a:r>
              <a:rPr lang="en-US" altLang="en-US" u="sng" dirty="0" smtClean="0"/>
              <a:t>If Allocation[</a:t>
            </a:r>
            <a:r>
              <a:rPr lang="en-US" altLang="en-US" i="1" u="sng" dirty="0" err="1" smtClean="0"/>
              <a:t>i,j</a:t>
            </a:r>
            <a:r>
              <a:rPr lang="en-US" altLang="en-US" u="sng" dirty="0" smtClean="0"/>
              <a:t>] = </a:t>
            </a:r>
            <a:r>
              <a:rPr lang="en-US" altLang="en-US" i="1" u="sng" dirty="0" smtClean="0"/>
              <a:t>k</a:t>
            </a:r>
            <a:r>
              <a:rPr lang="en-US" altLang="en-US" u="sng" dirty="0" smtClean="0"/>
              <a:t> then</a:t>
            </a:r>
            <a:r>
              <a:rPr lang="en-US" altLang="en-US" i="1" u="sng" dirty="0" smtClean="0"/>
              <a:t> P</a:t>
            </a:r>
            <a:r>
              <a:rPr lang="en-US" altLang="en-US" i="1" u="sng" baseline="-25000" dirty="0" smtClean="0"/>
              <a:t>i</a:t>
            </a:r>
            <a:r>
              <a:rPr lang="en-US" altLang="en-US" u="sng" dirty="0" smtClean="0"/>
              <a:t> is currently allocated </a:t>
            </a:r>
            <a:r>
              <a:rPr lang="en-US" altLang="en-US" i="1" u="sng" dirty="0" smtClean="0"/>
              <a:t>k</a:t>
            </a:r>
            <a:r>
              <a:rPr lang="en-US" altLang="en-US" u="sng" dirty="0" smtClean="0"/>
              <a:t> instances of </a:t>
            </a:r>
            <a:r>
              <a:rPr lang="en-US" altLang="en-US" i="1" u="sng" dirty="0" err="1" smtClean="0"/>
              <a:t>R</a:t>
            </a:r>
            <a:r>
              <a:rPr lang="en-US" altLang="en-US" i="1" u="sng" baseline="-25000" dirty="0" err="1" smtClean="0"/>
              <a:t>j</a:t>
            </a:r>
            <a:endParaRPr lang="en-US" altLang="en-US" i="1" u="sng" baseline="-25000" dirty="0" smtClean="0"/>
          </a:p>
          <a:p>
            <a:endParaRPr lang="en-US" altLang="en-US" sz="800" i="1" baseline="-25000" dirty="0" smtClean="0"/>
          </a:p>
          <a:p>
            <a:r>
              <a:rPr lang="en-US" altLang="en-US" b="1" dirty="0" smtClean="0">
                <a:solidFill>
                  <a:srgbClr val="000000"/>
                </a:solidFill>
              </a:rPr>
              <a:t>Need</a:t>
            </a:r>
            <a:r>
              <a:rPr lang="en-US" altLang="en-US" i="1" dirty="0" smtClean="0"/>
              <a:t>:  </a:t>
            </a:r>
          </a:p>
          <a:p>
            <a:pPr lvl="1"/>
            <a:r>
              <a:rPr lang="en-US" altLang="en-US" i="1" dirty="0" smtClean="0"/>
              <a:t>n </a:t>
            </a:r>
            <a:r>
              <a:rPr lang="en-US" altLang="en-US" dirty="0" smtClean="0"/>
              <a:t>x</a:t>
            </a:r>
            <a:r>
              <a:rPr lang="en-US" altLang="en-US" i="1" dirty="0" smtClean="0"/>
              <a:t> m</a:t>
            </a:r>
            <a:r>
              <a:rPr lang="en-US" altLang="en-US" dirty="0" smtClean="0"/>
              <a:t> matrix. </a:t>
            </a:r>
          </a:p>
          <a:p>
            <a:pPr lvl="1"/>
            <a:r>
              <a:rPr lang="en-US" altLang="en-US" u="sng" dirty="0" smtClean="0"/>
              <a:t>If </a:t>
            </a:r>
            <a:r>
              <a:rPr lang="en-US" altLang="en-US" i="1" u="sng" dirty="0" smtClean="0"/>
              <a:t>Need</a:t>
            </a:r>
            <a:r>
              <a:rPr lang="en-US" altLang="en-US" u="sng" dirty="0" smtClean="0"/>
              <a:t>[</a:t>
            </a:r>
            <a:r>
              <a:rPr lang="en-US" altLang="en-US" i="1" u="sng" dirty="0" err="1" smtClean="0"/>
              <a:t>i,j</a:t>
            </a:r>
            <a:r>
              <a:rPr lang="en-US" altLang="en-US" u="sng" dirty="0" smtClean="0"/>
              <a:t>] =</a:t>
            </a:r>
            <a:r>
              <a:rPr lang="en-US" altLang="en-US" i="1" u="sng" dirty="0" smtClean="0"/>
              <a:t> k</a:t>
            </a:r>
            <a:r>
              <a:rPr lang="en-US" altLang="en-US" u="sng" dirty="0" smtClean="0"/>
              <a:t>, then</a:t>
            </a:r>
            <a:r>
              <a:rPr lang="en-US" altLang="en-US" i="1" u="sng" dirty="0" smtClean="0"/>
              <a:t> P</a:t>
            </a:r>
            <a:r>
              <a:rPr lang="en-US" altLang="en-US" i="1" u="sng" baseline="-25000" dirty="0" smtClean="0"/>
              <a:t>i</a:t>
            </a:r>
            <a:r>
              <a:rPr lang="en-US" altLang="en-US" u="sng" dirty="0" smtClean="0"/>
              <a:t> may need </a:t>
            </a:r>
            <a:r>
              <a:rPr lang="en-US" altLang="en-US" i="1" u="sng" dirty="0" smtClean="0"/>
              <a:t>k</a:t>
            </a:r>
            <a:r>
              <a:rPr lang="en-US" altLang="en-US" u="sng" dirty="0" smtClean="0"/>
              <a:t> more instances of </a:t>
            </a:r>
            <a:r>
              <a:rPr lang="en-US" altLang="en-US" i="1" u="sng" dirty="0" err="1" smtClean="0"/>
              <a:t>R</a:t>
            </a:r>
            <a:r>
              <a:rPr lang="en-US" altLang="en-US" i="1" u="sng" baseline="-25000" dirty="0" err="1" smtClean="0"/>
              <a:t>j</a:t>
            </a:r>
            <a:r>
              <a:rPr lang="en-US" altLang="en-US" u="sng" baseline="-25000" dirty="0" smtClean="0"/>
              <a:t> </a:t>
            </a:r>
            <a:r>
              <a:rPr lang="en-US" altLang="en-US" u="sng" dirty="0" smtClean="0"/>
              <a:t>to complete its task</a:t>
            </a:r>
          </a:p>
          <a:p>
            <a:pPr lvl="2">
              <a:buFont typeface="Webdings" pitchFamily="18" charset="2"/>
              <a:buNone/>
            </a:pP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i="1" dirty="0" smtClean="0"/>
              <a:t>Need</a:t>
            </a:r>
            <a:r>
              <a:rPr lang="en-US" altLang="en-US" dirty="0" smtClean="0"/>
              <a:t> [</a:t>
            </a:r>
            <a:r>
              <a:rPr lang="en-US" altLang="en-US" i="1" dirty="0" err="1" smtClean="0"/>
              <a:t>i,j</a:t>
            </a:r>
            <a:r>
              <a:rPr lang="en-US" altLang="en-US" i="1" dirty="0" smtClean="0"/>
              <a:t>]</a:t>
            </a:r>
            <a:r>
              <a:rPr lang="en-US" altLang="en-US" dirty="0" smtClean="0"/>
              <a:t> = </a:t>
            </a:r>
            <a:r>
              <a:rPr lang="en-US" altLang="en-US" i="1" dirty="0" smtClean="0"/>
              <a:t>Max</a:t>
            </a:r>
            <a:r>
              <a:rPr lang="en-US" altLang="en-US" dirty="0" smtClean="0"/>
              <a:t>[</a:t>
            </a:r>
            <a:r>
              <a:rPr lang="en-US" altLang="en-US" i="1" dirty="0" err="1" smtClean="0"/>
              <a:t>i,j</a:t>
            </a:r>
            <a:r>
              <a:rPr lang="en-US" altLang="en-US" dirty="0" smtClean="0"/>
              <a:t>] – </a:t>
            </a:r>
            <a:r>
              <a:rPr lang="en-US" altLang="en-US" i="1" dirty="0" smtClean="0"/>
              <a:t>Allocation</a:t>
            </a:r>
            <a:r>
              <a:rPr lang="en-US" altLang="en-US" dirty="0" smtClean="0"/>
              <a:t> [</a:t>
            </a:r>
            <a:r>
              <a:rPr lang="en-US" altLang="en-US" i="1" dirty="0" err="1" smtClean="0"/>
              <a:t>i,j</a:t>
            </a:r>
            <a:r>
              <a:rPr lang="en-US" altLang="en-US" dirty="0" smtClean="0"/>
              <a:t>]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950913" y="899017"/>
            <a:ext cx="374333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i="1" dirty="0" smtClean="0">
                <a:solidFill>
                  <a:srgbClr val="00B0F0"/>
                </a:solidFill>
                <a:latin typeface="Helvetica" pitchFamily="-84" charset="0"/>
              </a:rPr>
              <a:t>n</a:t>
            </a:r>
            <a:r>
              <a:rPr lang="en-US" altLang="en-US" b="1" dirty="0" smtClean="0">
                <a:solidFill>
                  <a:srgbClr val="00B0F0"/>
                </a:solidFill>
                <a:latin typeface="Helvetica" pitchFamily="-84" charset="0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Helvetica" pitchFamily="-84" charset="0"/>
              </a:rPr>
              <a:t>= number of </a:t>
            </a:r>
            <a:r>
              <a:rPr lang="en-US" altLang="en-US" b="1" dirty="0" smtClean="0">
                <a:solidFill>
                  <a:srgbClr val="00B0F0"/>
                </a:solidFill>
                <a:latin typeface="Helvetica" pitchFamily="-84" charset="0"/>
              </a:rPr>
              <a:t>processes</a:t>
            </a:r>
          </a:p>
          <a:p>
            <a:pPr>
              <a:spcBef>
                <a:spcPct val="50000"/>
              </a:spcBef>
            </a:pPr>
            <a:r>
              <a:rPr lang="en-US" altLang="en-US" b="1" i="1" dirty="0" smtClean="0">
                <a:solidFill>
                  <a:srgbClr val="00B0F0"/>
                </a:solidFill>
                <a:latin typeface="Helvetica" pitchFamily="-84" charset="0"/>
              </a:rPr>
              <a:t>m </a:t>
            </a:r>
            <a:r>
              <a:rPr lang="en-US" altLang="en-US" b="1" dirty="0">
                <a:solidFill>
                  <a:srgbClr val="00B0F0"/>
                </a:solidFill>
                <a:latin typeface="Helvetica" pitchFamily="-84" charset="0"/>
              </a:rPr>
              <a:t>= number of resources types.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E56A-0E41-4C5F-A1BC-C75D2575C5A5}" type="datetime1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4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Safety Algorithm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157288"/>
            <a:ext cx="7372350" cy="494347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600" dirty="0" smtClean="0"/>
              <a:t>Let </a:t>
            </a:r>
            <a:r>
              <a:rPr lang="en-US" altLang="en-US" sz="26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6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600" dirty="0" smtClean="0"/>
              <a:t>and </a:t>
            </a:r>
            <a:r>
              <a:rPr lang="en-US" altLang="en-US" sz="26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600" dirty="0" smtClean="0">
                <a:solidFill>
                  <a:srgbClr val="000000"/>
                </a:solidFill>
              </a:rPr>
              <a:t> </a:t>
            </a:r>
            <a:r>
              <a:rPr lang="en-US" altLang="en-US" sz="2600" dirty="0" smtClean="0"/>
              <a:t>be vectors of length</a:t>
            </a:r>
            <a:r>
              <a:rPr lang="en-US" altLang="en-US" sz="2600" i="1" dirty="0" smtClean="0"/>
              <a:t> m</a:t>
            </a:r>
            <a:r>
              <a:rPr lang="en-US" altLang="en-US" sz="2600" dirty="0" smtClean="0"/>
              <a:t> and</a:t>
            </a:r>
            <a:r>
              <a:rPr lang="en-US" altLang="en-US" sz="2600" i="1" dirty="0" smtClean="0"/>
              <a:t> n</a:t>
            </a:r>
            <a:r>
              <a:rPr lang="en-US" altLang="en-US" sz="26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700" b="1" i="1" u="sng" dirty="0" smtClean="0"/>
              <a:t>Work </a:t>
            </a:r>
            <a:r>
              <a:rPr lang="en-US" altLang="en-US" sz="1700" b="1" u="sng" dirty="0" smtClean="0"/>
              <a:t>= </a:t>
            </a:r>
            <a:r>
              <a:rPr lang="en-US" altLang="en-US" sz="1700" b="1" i="1" u="sng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700" b="1" i="1" u="sng" dirty="0" smtClean="0"/>
              <a:t>Finish </a:t>
            </a:r>
            <a:r>
              <a:rPr lang="en-US" altLang="en-US" sz="1700" b="1" u="sng" dirty="0" smtClean="0"/>
              <a:t>[</a:t>
            </a:r>
            <a:r>
              <a:rPr lang="en-US" altLang="en-US" sz="1700" b="1" i="1" u="sng" dirty="0" err="1" smtClean="0"/>
              <a:t>i</a:t>
            </a:r>
            <a:r>
              <a:rPr lang="en-US" altLang="en-US" sz="1700" b="1" u="sng" dirty="0" smtClean="0"/>
              <a:t>] =</a:t>
            </a:r>
            <a:r>
              <a:rPr lang="en-US" altLang="en-US" sz="1700" b="1" i="1" u="sng" dirty="0" smtClean="0"/>
              <a:t> false </a:t>
            </a:r>
            <a:r>
              <a:rPr lang="en-US" altLang="en-US" sz="1700" b="1" u="sng" dirty="0" smtClean="0"/>
              <a:t>for</a:t>
            </a:r>
            <a:r>
              <a:rPr lang="en-US" altLang="en-US" sz="1700" b="1" i="1" u="sng" dirty="0" smtClean="0"/>
              <a:t> </a:t>
            </a:r>
            <a:r>
              <a:rPr lang="en-US" altLang="en-US" sz="1700" b="1" i="1" u="sng" dirty="0" err="1" smtClean="0"/>
              <a:t>i</a:t>
            </a:r>
            <a:r>
              <a:rPr lang="en-US" altLang="en-US" sz="1700" b="1" u="sng" dirty="0" smtClean="0"/>
              <a:t> = 0, 1, …, </a:t>
            </a:r>
            <a:r>
              <a:rPr lang="en-US" altLang="en-US" sz="1700" b="1" i="1" u="sng" dirty="0" smtClean="0"/>
              <a:t>n- </a:t>
            </a:r>
            <a:r>
              <a:rPr lang="en-US" altLang="en-US" sz="1700" b="1" u="sng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5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600" dirty="0" smtClean="0"/>
              <a:t>2.	Find an </a:t>
            </a:r>
            <a:r>
              <a:rPr lang="en-US" altLang="en-US" sz="2600" b="1" i="1" dirty="0" err="1" smtClean="0"/>
              <a:t>i</a:t>
            </a:r>
            <a:r>
              <a:rPr lang="en-US" altLang="en-US" sz="2600" i="1" dirty="0" smtClean="0"/>
              <a:t> </a:t>
            </a:r>
            <a:r>
              <a:rPr lang="en-US" altLang="en-US" sz="26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200" dirty="0" smtClean="0"/>
              <a:t>(a) </a:t>
            </a:r>
            <a:r>
              <a:rPr lang="en-US" altLang="en-US" sz="2200" b="1" i="1" dirty="0" smtClean="0"/>
              <a:t>Finish</a:t>
            </a:r>
            <a:r>
              <a:rPr lang="en-US" altLang="en-US" sz="2200" b="1" dirty="0" smtClean="0"/>
              <a:t> [</a:t>
            </a:r>
            <a:r>
              <a:rPr lang="en-US" altLang="en-US" sz="2200" b="1" i="1" dirty="0" err="1" smtClean="0"/>
              <a:t>i</a:t>
            </a:r>
            <a:r>
              <a:rPr lang="en-US" altLang="en-US" sz="2200" b="1" dirty="0" smtClean="0"/>
              <a:t>] = </a:t>
            </a:r>
            <a:r>
              <a:rPr lang="en-US" altLang="en-US" sz="2200" b="1" i="1" dirty="0" smtClean="0"/>
              <a:t>false</a:t>
            </a:r>
            <a:endParaRPr lang="en-US" altLang="en-US" sz="22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200" dirty="0" smtClean="0"/>
              <a:t>(b) </a:t>
            </a:r>
            <a:r>
              <a:rPr lang="en-US" altLang="en-US" sz="2200" b="1" i="1" dirty="0" err="1" smtClean="0"/>
              <a:t>Need</a:t>
            </a:r>
            <a:r>
              <a:rPr lang="en-US" altLang="en-US" sz="2200" b="1" i="1" baseline="-25000" dirty="0" err="1" smtClean="0"/>
              <a:t>i</a:t>
            </a:r>
            <a:r>
              <a:rPr lang="en-US" altLang="en-US" sz="2200" b="1" dirty="0" smtClean="0"/>
              <a:t> </a:t>
            </a:r>
            <a:r>
              <a:rPr lang="en-US" altLang="en-US" sz="2200" b="1" dirty="0" smtClean="0">
                <a:sym typeface="Symbol" pitchFamily="18" charset="2"/>
              </a:rPr>
              <a:t> </a:t>
            </a:r>
            <a:r>
              <a:rPr lang="en-US" altLang="en-US" sz="22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200" dirty="0" smtClean="0">
                <a:sym typeface="Symbol" pitchFamily="18" charset="2"/>
              </a:rPr>
              <a:t>If no such</a:t>
            </a:r>
            <a:r>
              <a:rPr lang="en-US" altLang="en-US" sz="2200" b="1" dirty="0" smtClean="0">
                <a:sym typeface="Symbol" pitchFamily="18" charset="2"/>
              </a:rPr>
              <a:t> </a:t>
            </a:r>
            <a:r>
              <a:rPr lang="en-US" altLang="en-US" sz="2200" b="1" i="1" dirty="0" err="1" smtClean="0">
                <a:sym typeface="Symbol" pitchFamily="18" charset="2"/>
              </a:rPr>
              <a:t>i</a:t>
            </a:r>
            <a:r>
              <a:rPr lang="en-US" altLang="en-US" sz="2200" b="1" i="1" dirty="0" smtClean="0">
                <a:sym typeface="Symbol" pitchFamily="18" charset="2"/>
              </a:rPr>
              <a:t> </a:t>
            </a:r>
            <a:r>
              <a:rPr lang="en-US" altLang="en-US" sz="22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5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600" i="1" dirty="0" smtClean="0"/>
              <a:t>3.  </a:t>
            </a:r>
            <a:r>
              <a:rPr lang="en-US" altLang="en-US" sz="2600" b="1" i="1" dirty="0" smtClean="0"/>
              <a:t>Work</a:t>
            </a:r>
            <a:r>
              <a:rPr lang="en-US" altLang="en-US" sz="2600" b="1" dirty="0" smtClean="0"/>
              <a:t> = </a:t>
            </a:r>
            <a:r>
              <a:rPr lang="en-US" altLang="en-US" sz="2600" b="1" i="1" dirty="0" smtClean="0"/>
              <a:t>Work </a:t>
            </a:r>
            <a:r>
              <a:rPr lang="en-US" altLang="en-US" sz="2600" b="1" dirty="0" smtClean="0"/>
              <a:t>+ </a:t>
            </a:r>
            <a:r>
              <a:rPr lang="en-US" altLang="en-US" sz="2600" b="1" i="1" dirty="0" err="1" smtClean="0"/>
              <a:t>Allocation</a:t>
            </a:r>
            <a:r>
              <a:rPr lang="en-US" altLang="en-US" sz="2600" b="1" i="1" baseline="-25000" dirty="0" err="1" smtClean="0"/>
              <a:t>i</a:t>
            </a:r>
            <a:r>
              <a:rPr lang="en-US" altLang="en-US" sz="2600" b="1" dirty="0" smtClean="0"/>
              <a:t/>
            </a:r>
            <a:br>
              <a:rPr lang="en-US" altLang="en-US" sz="2600" b="1" dirty="0" smtClean="0"/>
            </a:br>
            <a:r>
              <a:rPr lang="en-US" altLang="en-US" sz="2600" b="1" i="1" dirty="0" smtClean="0"/>
              <a:t>Finish</a:t>
            </a:r>
            <a:r>
              <a:rPr lang="en-US" altLang="en-US" sz="2600" b="1" dirty="0" smtClean="0"/>
              <a:t>[</a:t>
            </a:r>
            <a:r>
              <a:rPr lang="en-US" altLang="en-US" sz="2600" b="1" i="1" dirty="0" err="1" smtClean="0"/>
              <a:t>i</a:t>
            </a:r>
            <a:r>
              <a:rPr lang="en-US" altLang="en-US" sz="2600" b="1" dirty="0" smtClean="0"/>
              <a:t>] =</a:t>
            </a:r>
            <a:r>
              <a:rPr lang="en-US" altLang="en-US" sz="2600" b="1" i="1" dirty="0" smtClean="0"/>
              <a:t> true</a:t>
            </a:r>
            <a:r>
              <a:rPr lang="en-US" altLang="en-US" sz="2600" b="1" dirty="0" smtClean="0"/>
              <a:t/>
            </a:r>
            <a:br>
              <a:rPr lang="en-US" altLang="en-US" sz="2600" b="1" dirty="0" smtClean="0"/>
            </a:br>
            <a:r>
              <a:rPr lang="en-US" altLang="en-US" sz="26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5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600" dirty="0" smtClean="0"/>
              <a:t>4.	If </a:t>
            </a:r>
            <a:r>
              <a:rPr lang="en-US" altLang="en-US" sz="2600" b="1" i="1" dirty="0" smtClean="0"/>
              <a:t>Finish</a:t>
            </a:r>
            <a:r>
              <a:rPr lang="en-US" altLang="en-US" sz="2600" b="1" dirty="0" smtClean="0"/>
              <a:t> [</a:t>
            </a:r>
            <a:r>
              <a:rPr lang="en-US" altLang="en-US" sz="2600" b="1" i="1" dirty="0" err="1" smtClean="0"/>
              <a:t>i</a:t>
            </a:r>
            <a:r>
              <a:rPr lang="en-US" altLang="en-US" sz="2600" b="1" dirty="0" smtClean="0"/>
              <a:t>] == </a:t>
            </a:r>
            <a:r>
              <a:rPr lang="en-US" altLang="en-US" sz="2600" b="1" i="1" dirty="0" smtClean="0"/>
              <a:t>true</a:t>
            </a:r>
            <a:r>
              <a:rPr lang="en-US" altLang="en-US" sz="2600" b="1" dirty="0" smtClean="0"/>
              <a:t> </a:t>
            </a:r>
            <a:r>
              <a:rPr lang="en-US" altLang="en-US" sz="2600" dirty="0" smtClean="0"/>
              <a:t>for all </a:t>
            </a:r>
            <a:r>
              <a:rPr lang="en-US" altLang="en-US" sz="2600" b="1" i="1" dirty="0" err="1" smtClean="0"/>
              <a:t>i</a:t>
            </a:r>
            <a:r>
              <a:rPr lang="en-US" altLang="en-US" sz="2600" dirty="0" smtClean="0"/>
              <a:t>, then the system is in a safe state</a:t>
            </a:r>
          </a:p>
        </p:txBody>
      </p:sp>
      <p:sp>
        <p:nvSpPr>
          <p:cNvPr id="2" name="Curved Left Arrow 1"/>
          <p:cNvSpPr/>
          <p:nvPr/>
        </p:nvSpPr>
        <p:spPr>
          <a:xfrm rot="19390752">
            <a:off x="5766450" y="2741449"/>
            <a:ext cx="857689" cy="259430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581400" y="3352800"/>
            <a:ext cx="5256276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32C09-5916-4146-9652-8BE72574EA7D}" type="datetime1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7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152400"/>
            <a:ext cx="766445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 of Banker</a:t>
            </a:r>
            <a:r>
              <a:rPr lang="ja-JP" altLang="en-US" smtClean="0"/>
              <a:t>’</a:t>
            </a:r>
            <a:r>
              <a:rPr lang="en-US" altLang="ja-JP" smtClean="0"/>
              <a:t>s Algorithm</a:t>
            </a:r>
            <a:endParaRPr lang="en-US" altLang="en-US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360488"/>
            <a:ext cx="7923212" cy="4540250"/>
          </a:xfrm>
        </p:spPr>
        <p:txBody>
          <a:bodyPr>
            <a:noAutofit/>
          </a:bodyPr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>
                <a:solidFill>
                  <a:srgbClr val="0070C0"/>
                </a:solidFill>
              </a:rPr>
              <a:t>5 processes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P</a:t>
            </a:r>
            <a:r>
              <a:rPr lang="en-US" altLang="en-US" sz="2000" baseline="-25000" dirty="0" smtClean="0">
                <a:solidFill>
                  <a:srgbClr val="0070C0"/>
                </a:solidFill>
              </a:rPr>
              <a:t>0  </a:t>
            </a:r>
            <a:r>
              <a:rPr lang="en-US" altLang="en-US" sz="2000" dirty="0" smtClean="0">
                <a:solidFill>
                  <a:srgbClr val="0070C0"/>
                </a:solidFill>
              </a:rPr>
              <a:t>through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P</a:t>
            </a:r>
            <a:r>
              <a:rPr lang="en-US" altLang="en-US" sz="2000" baseline="-25000" dirty="0" smtClean="0">
                <a:solidFill>
                  <a:srgbClr val="0070C0"/>
                </a:solidFill>
              </a:rPr>
              <a:t>4</a:t>
            </a:r>
            <a:r>
              <a:rPr lang="en-US" altLang="en-US" sz="2000" dirty="0" smtClean="0">
                <a:solidFill>
                  <a:srgbClr val="0070C0"/>
                </a:solidFill>
              </a:rPr>
              <a:t>;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>
                <a:solidFill>
                  <a:srgbClr val="0070C0"/>
                </a:solidFill>
              </a:rPr>
              <a:t>      3 resource types: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>
                <a:solidFill>
                  <a:srgbClr val="0070C0"/>
                </a:solidFill>
              </a:rPr>
              <a:t>             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A</a:t>
            </a:r>
            <a:r>
              <a:rPr lang="en-US" altLang="en-US" sz="2000" dirty="0" smtClean="0">
                <a:solidFill>
                  <a:srgbClr val="0070C0"/>
                </a:solidFill>
              </a:rPr>
              <a:t> (10 instances), 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B</a:t>
            </a:r>
            <a:r>
              <a:rPr lang="en-US" altLang="en-US" sz="2000" dirty="0" smtClean="0">
                <a:solidFill>
                  <a:srgbClr val="0070C0"/>
                </a:solidFill>
              </a:rPr>
              <a:t> (5instances), and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C</a:t>
            </a:r>
            <a:r>
              <a:rPr lang="en-US" altLang="en-US" sz="2000" dirty="0" smtClean="0">
                <a:solidFill>
                  <a:srgbClr val="0070C0"/>
                </a:solidFill>
              </a:rPr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Snapshot at time </a:t>
            </a:r>
            <a:r>
              <a:rPr lang="en-US" altLang="en-US" sz="2000" i="1" dirty="0" smtClean="0"/>
              <a:t>T</a:t>
            </a:r>
            <a:r>
              <a:rPr lang="en-US" altLang="en-US" sz="2000" baseline="-25000" dirty="0" smtClean="0"/>
              <a:t>0</a:t>
            </a:r>
            <a:r>
              <a:rPr lang="en-US" altLang="en-US" sz="2000" dirty="0" smtClean="0"/>
              <a:t>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	</a:t>
            </a:r>
            <a:r>
              <a:rPr lang="en-US" altLang="en-US" sz="2000" i="1" u="sng" dirty="0" smtClean="0"/>
              <a:t>Allocation</a:t>
            </a:r>
            <a:r>
              <a:rPr lang="en-US" altLang="en-US" sz="2000" i="1" dirty="0" smtClean="0"/>
              <a:t>	  </a:t>
            </a:r>
            <a:r>
              <a:rPr lang="en-US" altLang="en-US" sz="2000" i="1" u="sng" dirty="0" smtClean="0"/>
              <a:t>Max</a:t>
            </a:r>
            <a:r>
              <a:rPr lang="en-US" altLang="en-US" sz="2000" i="1" dirty="0" smtClean="0"/>
              <a:t>	</a:t>
            </a:r>
            <a:r>
              <a:rPr lang="en-US" altLang="en-US" sz="2000" i="1" u="sng" dirty="0" smtClean="0"/>
              <a:t>Available</a:t>
            </a:r>
            <a:endParaRPr lang="en-US" altLang="en-US" sz="2000" i="1" dirty="0" smtClean="0"/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i="1" dirty="0" smtClean="0"/>
              <a:t>			A B C	       A B C 	A B C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0	</a:t>
            </a:r>
            <a:r>
              <a:rPr lang="en-US" altLang="en-US" sz="2000" dirty="0" smtClean="0"/>
              <a:t>0 1 0	         7 5 3 	3 3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1	</a:t>
            </a:r>
            <a:r>
              <a:rPr lang="en-US" altLang="en-US" sz="2000" dirty="0" smtClean="0"/>
              <a:t>2 0 0 	        3 2 2 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	3 0 2 	        9 0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3</a:t>
            </a:r>
            <a:r>
              <a:rPr lang="en-US" altLang="en-US" sz="2000" dirty="0" smtClean="0"/>
              <a:t>	2 1 1 	        2 2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	0 0 2	         4 3 3  		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DD0C-5732-4E16-A345-C8CD337FD1AA}" type="datetime1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7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(Cont.)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1136650"/>
            <a:ext cx="7724775" cy="4640263"/>
          </a:xfrm>
        </p:spPr>
        <p:txBody>
          <a:bodyPr>
            <a:normAutofit/>
          </a:bodyPr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The content of the matrix </a:t>
            </a:r>
            <a:r>
              <a:rPr lang="en-US" altLang="en-US" sz="2000" b="1" i="1" dirty="0" smtClean="0"/>
              <a:t>Need</a:t>
            </a:r>
            <a:r>
              <a:rPr lang="en-US" altLang="en-US" sz="2000" dirty="0" smtClean="0"/>
              <a:t> is defined to be </a:t>
            </a:r>
            <a:r>
              <a:rPr lang="en-US" altLang="en-US" sz="2000" b="1" i="1" dirty="0" smtClean="0"/>
              <a:t>Max</a:t>
            </a:r>
            <a:r>
              <a:rPr lang="en-US" altLang="en-US" sz="2000" b="1" dirty="0" smtClean="0"/>
              <a:t> – </a:t>
            </a:r>
            <a:r>
              <a:rPr lang="en-US" altLang="en-US" sz="2000" b="1" i="1" dirty="0" smtClean="0"/>
              <a:t>Allocation</a:t>
            </a:r>
            <a:endParaRPr lang="en-US" altLang="en-US" sz="2000" b="1" dirty="0" smtClean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sz="2000" dirty="0" smtClean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	</a:t>
            </a:r>
            <a:r>
              <a:rPr lang="en-US" altLang="en-US" sz="2000" i="1" u="sng" dirty="0" smtClean="0"/>
              <a:t>Need</a:t>
            </a:r>
            <a:endParaRPr lang="en-US" altLang="en-US" sz="2000" u="sng" dirty="0" smtClean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	</a:t>
            </a:r>
            <a:r>
              <a:rPr lang="en-US" altLang="en-US" sz="2000" i="1" dirty="0" smtClean="0"/>
              <a:t>A B C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0	</a:t>
            </a:r>
            <a:r>
              <a:rPr lang="en-US" altLang="en-US" sz="2000" dirty="0" smtClean="0"/>
              <a:t>7 4 3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1	</a:t>
            </a:r>
            <a:r>
              <a:rPr lang="en-US" altLang="en-US" sz="2000" dirty="0" smtClean="0"/>
              <a:t>1 2 2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	6 0 0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3</a:t>
            </a:r>
            <a:r>
              <a:rPr lang="en-US" altLang="en-US" sz="2000" dirty="0" smtClean="0"/>
              <a:t>	0 1 1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	4 3 1 </a:t>
            </a:r>
            <a:br>
              <a:rPr lang="en-US" altLang="en-US" sz="2000" dirty="0" smtClean="0"/>
            </a:br>
            <a:endParaRPr lang="en-US" altLang="en-US" sz="2000" dirty="0" smtClean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The system is in a safe state since the sequence &lt;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,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3</a:t>
            </a:r>
            <a:r>
              <a:rPr lang="en-US" altLang="en-US" sz="2000" dirty="0" smtClean="0"/>
              <a:t>,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,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,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0</a:t>
            </a:r>
            <a:r>
              <a:rPr lang="en-US" altLang="en-US" sz="2000" dirty="0" smtClean="0"/>
              <a:t>&gt; satisfies safety criteria</a:t>
            </a:r>
            <a:endParaRPr lang="en-US" altLang="en-US" sz="2000" baseline="-250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175260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622B-87B0-4F6B-8EA1-B12678138413}" type="datetime1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6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800" dirty="0"/>
              <a:t>Applying the Safety algorithm on the given system,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70" b="73325"/>
          <a:stretch/>
        </p:blipFill>
        <p:spPr bwMode="auto">
          <a:xfrm>
            <a:off x="0" y="1571409"/>
            <a:ext cx="424324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079008" y="2417618"/>
            <a:ext cx="5064991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000" dirty="0" smtClean="0"/>
              <a:t>Let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and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be vectors of length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and</a:t>
            </a:r>
            <a:r>
              <a:rPr lang="en-US" altLang="en-US" sz="2000" i="1" dirty="0" smtClean="0"/>
              <a:t> n</a:t>
            </a:r>
            <a:r>
              <a:rPr lang="en-US" altLang="en-US" sz="20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 smtClean="0"/>
              <a:t>Work </a:t>
            </a:r>
            <a:r>
              <a:rPr lang="en-US" altLang="en-US" b="1" dirty="0" smtClean="0"/>
              <a:t>= </a:t>
            </a:r>
            <a:r>
              <a:rPr lang="en-US" altLang="en-US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 smtClean="0"/>
              <a:t>Finish </a:t>
            </a:r>
            <a:r>
              <a:rPr lang="en-US" altLang="en-US" b="1" dirty="0" smtClean="0"/>
              <a:t>[</a:t>
            </a:r>
            <a:r>
              <a:rPr lang="en-US" altLang="en-US" b="1" i="1" dirty="0" err="1" smtClean="0"/>
              <a:t>i</a:t>
            </a:r>
            <a:r>
              <a:rPr lang="en-US" altLang="en-US" b="1" dirty="0" smtClean="0"/>
              <a:t>] =</a:t>
            </a:r>
            <a:r>
              <a:rPr lang="en-US" altLang="en-US" b="1" i="1" dirty="0" smtClean="0"/>
              <a:t> false </a:t>
            </a:r>
            <a:r>
              <a:rPr lang="en-US" altLang="en-US" b="1" dirty="0" smtClean="0"/>
              <a:t>for</a:t>
            </a:r>
            <a:r>
              <a:rPr lang="en-US" altLang="en-US" b="1" i="1" dirty="0" smtClean="0"/>
              <a:t> </a:t>
            </a:r>
            <a:r>
              <a:rPr lang="en-US" altLang="en-US" b="1" i="1" dirty="0" err="1" smtClean="0"/>
              <a:t>i</a:t>
            </a:r>
            <a:r>
              <a:rPr lang="en-US" altLang="en-US" b="1" dirty="0" smtClean="0"/>
              <a:t> = 0, 1, …, </a:t>
            </a:r>
            <a:r>
              <a:rPr lang="en-US" altLang="en-US" b="1" i="1" dirty="0" smtClean="0"/>
              <a:t>n- </a:t>
            </a:r>
            <a:r>
              <a:rPr lang="en-US" altLang="en-US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3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800600"/>
            <a:ext cx="33051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193" y="4800600"/>
            <a:ext cx="161925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277879" y="1675656"/>
            <a:ext cx="32944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i="1" dirty="0" smtClean="0">
                <a:solidFill>
                  <a:srgbClr val="00B0F0"/>
                </a:solidFill>
                <a:latin typeface="Helvetica" pitchFamily="-84" charset="0"/>
              </a:rPr>
              <a:t>n</a:t>
            </a:r>
            <a:r>
              <a:rPr lang="en-US" altLang="en-US" sz="1600" b="1" dirty="0" smtClean="0">
                <a:solidFill>
                  <a:srgbClr val="00B0F0"/>
                </a:solidFill>
                <a:latin typeface="Helvetica" pitchFamily="-84" charset="0"/>
              </a:rPr>
              <a:t> = number of processes</a:t>
            </a:r>
          </a:p>
          <a:p>
            <a:pPr>
              <a:spcBef>
                <a:spcPct val="50000"/>
              </a:spcBef>
            </a:pPr>
            <a:r>
              <a:rPr lang="en-US" altLang="en-US" sz="1600" b="1" i="1" dirty="0" smtClean="0">
                <a:solidFill>
                  <a:srgbClr val="00B0F0"/>
                </a:solidFill>
                <a:latin typeface="Helvetica" pitchFamily="-84" charset="0"/>
              </a:rPr>
              <a:t>m </a:t>
            </a:r>
            <a:r>
              <a:rPr lang="en-US" altLang="en-US" sz="1600" b="1" dirty="0" smtClean="0">
                <a:solidFill>
                  <a:srgbClr val="00B0F0"/>
                </a:solidFill>
                <a:latin typeface="Helvetica" pitchFamily="-84" charset="0"/>
              </a:rPr>
              <a:t>= number of resources types </a:t>
            </a:r>
            <a:endParaRPr lang="en-US" altLang="en-US" sz="1600" b="1" dirty="0">
              <a:solidFill>
                <a:srgbClr val="00B0F0"/>
              </a:solidFill>
              <a:latin typeface="Helvetica" pitchFamily="-8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57FF-00EB-48B1-9161-181F202A4BD6}" type="datetime1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8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800" dirty="0"/>
              <a:t>Applying the Safety algorithm on the given system,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70"/>
          <a:stretch/>
        </p:blipFill>
        <p:spPr bwMode="auto">
          <a:xfrm>
            <a:off x="-1" y="838200"/>
            <a:ext cx="4243243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243243" y="1150361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000" dirty="0" smtClean="0"/>
              <a:t>Let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and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be vectors of length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and</a:t>
            </a:r>
            <a:r>
              <a:rPr lang="en-US" altLang="en-US" sz="2000" i="1" dirty="0" smtClean="0"/>
              <a:t> n</a:t>
            </a:r>
            <a:r>
              <a:rPr lang="en-US" altLang="en-US" sz="20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Work </a:t>
            </a:r>
            <a:r>
              <a:rPr lang="en-US" altLang="en-US" sz="1200" b="1" dirty="0" smtClean="0"/>
              <a:t>= </a:t>
            </a:r>
            <a:r>
              <a:rPr lang="en-US" altLang="en-US" sz="12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Finish </a:t>
            </a:r>
            <a:r>
              <a:rPr lang="en-US" altLang="en-US" sz="1200" b="1" dirty="0" smtClean="0"/>
              <a:t>[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] =</a:t>
            </a:r>
            <a:r>
              <a:rPr lang="en-US" altLang="en-US" sz="1200" b="1" i="1" dirty="0" smtClean="0"/>
              <a:t> false </a:t>
            </a:r>
            <a:r>
              <a:rPr lang="en-US" altLang="en-US" sz="1200" b="1" dirty="0" smtClean="0"/>
              <a:t>for</a:t>
            </a:r>
            <a:r>
              <a:rPr lang="en-US" altLang="en-US" sz="1200" b="1" i="1" dirty="0" smtClean="0"/>
              <a:t> 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 = 0, 1, …, </a:t>
            </a:r>
            <a:r>
              <a:rPr lang="en-US" altLang="en-US" sz="1200" b="1" i="1" dirty="0" smtClean="0"/>
              <a:t>n- </a:t>
            </a:r>
            <a:r>
              <a:rPr lang="en-US" altLang="en-US" sz="12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2.	Find an </a:t>
            </a:r>
            <a:r>
              <a:rPr lang="en-US" altLang="en-US" sz="2000" b="1" i="1" dirty="0" err="1" smtClean="0"/>
              <a:t>i</a:t>
            </a:r>
            <a:r>
              <a:rPr lang="en-US" altLang="en-US" sz="2000" i="1" dirty="0" smtClean="0"/>
              <a:t> </a:t>
            </a:r>
            <a:r>
              <a:rPr lang="en-US" altLang="en-US" sz="20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(a)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 </a:t>
            </a:r>
            <a:r>
              <a:rPr lang="en-US" altLang="en-US" sz="1800" b="1" i="1" dirty="0" smtClean="0"/>
              <a:t>false</a:t>
            </a:r>
            <a:endParaRPr lang="en-US" altLang="en-US" sz="18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(b) </a:t>
            </a:r>
            <a:r>
              <a:rPr lang="en-US" altLang="en-US" sz="1800" b="1" i="1" dirty="0" err="1" smtClean="0"/>
              <a:t>Need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> </a:t>
            </a:r>
            <a:r>
              <a:rPr lang="en-US" altLang="en-US" sz="1800" b="1" dirty="0" smtClean="0">
                <a:sym typeface="Symbol" pitchFamily="18" charset="2"/>
              </a:rPr>
              <a:t> </a:t>
            </a:r>
            <a:r>
              <a:rPr lang="en-US" altLang="en-US" sz="18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>
                <a:sym typeface="Symbol" pitchFamily="18" charset="2"/>
              </a:rPr>
              <a:t>If no such</a:t>
            </a:r>
            <a:r>
              <a:rPr lang="en-US" altLang="en-US" sz="1800" b="1" dirty="0" smtClean="0">
                <a:sym typeface="Symbol" pitchFamily="18" charset="2"/>
              </a:rPr>
              <a:t> </a:t>
            </a:r>
            <a:r>
              <a:rPr lang="en-US" altLang="en-US" sz="1800" b="1" i="1" dirty="0" err="1" smtClean="0">
                <a:sym typeface="Symbol" pitchFamily="18" charset="2"/>
              </a:rPr>
              <a:t>i</a:t>
            </a:r>
            <a:r>
              <a:rPr lang="en-US" altLang="en-US" sz="1800" b="1" i="1" dirty="0" smtClean="0">
                <a:sym typeface="Symbol" pitchFamily="18" charset="2"/>
              </a:rPr>
              <a:t> </a:t>
            </a:r>
            <a:r>
              <a:rPr lang="en-US" altLang="en-US" sz="18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i="1" dirty="0" smtClean="0"/>
              <a:t>3.  </a:t>
            </a:r>
            <a:r>
              <a:rPr lang="en-US" altLang="en-US" sz="2000" b="1" i="1" dirty="0" smtClean="0"/>
              <a:t>Work</a:t>
            </a:r>
            <a:r>
              <a:rPr lang="en-US" altLang="en-US" sz="2000" b="1" dirty="0" smtClean="0"/>
              <a:t> = </a:t>
            </a:r>
            <a:r>
              <a:rPr lang="en-US" altLang="en-US" sz="2000" b="1" i="1" dirty="0" smtClean="0"/>
              <a:t>Work </a:t>
            </a:r>
            <a:r>
              <a:rPr lang="en-US" altLang="en-US" sz="2000" b="1" dirty="0" smtClean="0"/>
              <a:t>+ </a:t>
            </a:r>
            <a:r>
              <a:rPr lang="en-US" altLang="en-US" sz="2000" b="1" i="1" dirty="0" err="1" smtClean="0"/>
              <a:t>Allocation</a:t>
            </a:r>
            <a:r>
              <a:rPr lang="en-US" altLang="en-US" sz="2000" b="1" i="1" baseline="-25000" dirty="0" err="1" smtClean="0"/>
              <a:t>i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</a:t>
            </a:r>
            <a:r>
              <a:rPr lang="en-US" altLang="en-US" sz="2000" b="1" i="1" dirty="0" smtClean="0"/>
              <a:t> true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4.	If </a:t>
            </a: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 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== </a:t>
            </a:r>
            <a:r>
              <a:rPr lang="en-US" altLang="en-US" sz="2000" b="1" i="1" dirty="0" smtClean="0"/>
              <a:t>true</a:t>
            </a:r>
            <a:r>
              <a:rPr lang="en-US" altLang="en-US" sz="2000" b="1" dirty="0" smtClean="0"/>
              <a:t> </a:t>
            </a:r>
            <a:r>
              <a:rPr lang="en-US" altLang="en-US" sz="2000" dirty="0" smtClean="0"/>
              <a:t>for all </a:t>
            </a:r>
            <a:r>
              <a:rPr lang="en-US" altLang="en-US" sz="2000" b="1" i="1" dirty="0" err="1" smtClean="0"/>
              <a:t>i</a:t>
            </a:r>
            <a:r>
              <a:rPr lang="en-US" altLang="en-US" sz="2000" dirty="0" smtClean="0"/>
              <a:t>, then the system is in a safe state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181600"/>
            <a:ext cx="33051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193" y="5153025"/>
            <a:ext cx="16192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243243" y="762000"/>
            <a:ext cx="255711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 i="1" dirty="0" smtClean="0">
                <a:solidFill>
                  <a:srgbClr val="00B0F0"/>
                </a:solidFill>
                <a:latin typeface="Helvetica" pitchFamily="-84" charset="0"/>
              </a:rPr>
              <a:t>n</a:t>
            </a:r>
            <a:r>
              <a:rPr lang="en-US" altLang="en-US" sz="1200" b="1" dirty="0" smtClean="0">
                <a:solidFill>
                  <a:srgbClr val="00B0F0"/>
                </a:solidFill>
                <a:latin typeface="Helvetica" pitchFamily="-84" charset="0"/>
              </a:rPr>
              <a:t> </a:t>
            </a:r>
            <a:r>
              <a:rPr lang="en-US" altLang="en-US" sz="1200" b="1" dirty="0">
                <a:solidFill>
                  <a:srgbClr val="00B0F0"/>
                </a:solidFill>
                <a:latin typeface="Helvetica" pitchFamily="-84" charset="0"/>
              </a:rPr>
              <a:t>= number of </a:t>
            </a:r>
            <a:r>
              <a:rPr lang="en-US" altLang="en-US" sz="1200" b="1" dirty="0" smtClean="0">
                <a:solidFill>
                  <a:srgbClr val="00B0F0"/>
                </a:solidFill>
                <a:latin typeface="Helvetica" pitchFamily="-84" charset="0"/>
              </a:rPr>
              <a:t>processes</a:t>
            </a:r>
          </a:p>
          <a:p>
            <a:pPr>
              <a:spcBef>
                <a:spcPct val="50000"/>
              </a:spcBef>
            </a:pPr>
            <a:r>
              <a:rPr lang="en-US" altLang="en-US" sz="1200" b="1" i="1" dirty="0" smtClean="0">
                <a:solidFill>
                  <a:srgbClr val="00B0F0"/>
                </a:solidFill>
                <a:latin typeface="Helvetica" pitchFamily="-84" charset="0"/>
              </a:rPr>
              <a:t>m </a:t>
            </a:r>
            <a:r>
              <a:rPr lang="en-US" altLang="en-US" sz="1200" b="1" dirty="0">
                <a:solidFill>
                  <a:srgbClr val="00B0F0"/>
                </a:solidFill>
                <a:latin typeface="Helvetica" pitchFamily="-84" charset="0"/>
              </a:rPr>
              <a:t>= number of resources </a:t>
            </a:r>
            <a:r>
              <a:rPr lang="en-US" altLang="en-US" sz="1200" b="1" dirty="0" smtClean="0">
                <a:solidFill>
                  <a:srgbClr val="00B0F0"/>
                </a:solidFill>
                <a:latin typeface="Helvetica" pitchFamily="-84" charset="0"/>
              </a:rPr>
              <a:t>types </a:t>
            </a:r>
            <a:endParaRPr lang="en-US" altLang="en-US" sz="1200" b="1" dirty="0">
              <a:solidFill>
                <a:srgbClr val="00B0F0"/>
              </a:solidFill>
              <a:latin typeface="Helvetica" pitchFamily="-8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E73A-F72E-4CA2-A4DF-88104252C329}" type="datetime1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24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800" dirty="0"/>
              <a:t>Applying the Safety algorithm on the given system,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3" r="33485"/>
          <a:stretch/>
        </p:blipFill>
        <p:spPr bwMode="auto">
          <a:xfrm>
            <a:off x="0" y="762000"/>
            <a:ext cx="43434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243243" y="1157287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000" dirty="0" smtClean="0"/>
              <a:t>Let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and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be vectors of length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and</a:t>
            </a:r>
            <a:r>
              <a:rPr lang="en-US" altLang="en-US" sz="2000" i="1" dirty="0" smtClean="0"/>
              <a:t> n</a:t>
            </a:r>
            <a:r>
              <a:rPr lang="en-US" altLang="en-US" sz="20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Work </a:t>
            </a:r>
            <a:r>
              <a:rPr lang="en-US" altLang="en-US" sz="1200" b="1" dirty="0" smtClean="0"/>
              <a:t>= </a:t>
            </a:r>
            <a:r>
              <a:rPr lang="en-US" altLang="en-US" sz="12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Finish </a:t>
            </a:r>
            <a:r>
              <a:rPr lang="en-US" altLang="en-US" sz="1200" b="1" dirty="0" smtClean="0"/>
              <a:t>[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] =</a:t>
            </a:r>
            <a:r>
              <a:rPr lang="en-US" altLang="en-US" sz="1200" b="1" i="1" dirty="0" smtClean="0"/>
              <a:t> false </a:t>
            </a:r>
            <a:r>
              <a:rPr lang="en-US" altLang="en-US" sz="1200" b="1" dirty="0" smtClean="0"/>
              <a:t>for</a:t>
            </a:r>
            <a:r>
              <a:rPr lang="en-US" altLang="en-US" sz="1200" b="1" i="1" dirty="0" smtClean="0"/>
              <a:t> 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 = 0, 1, …, </a:t>
            </a:r>
            <a:r>
              <a:rPr lang="en-US" altLang="en-US" sz="1200" b="1" i="1" dirty="0" smtClean="0"/>
              <a:t>n- </a:t>
            </a:r>
            <a:r>
              <a:rPr lang="en-US" altLang="en-US" sz="12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2.	Find an </a:t>
            </a:r>
            <a:r>
              <a:rPr lang="en-US" altLang="en-US" sz="2000" b="1" i="1" dirty="0" err="1" smtClean="0"/>
              <a:t>i</a:t>
            </a:r>
            <a:r>
              <a:rPr lang="en-US" altLang="en-US" sz="2000" i="1" dirty="0" smtClean="0"/>
              <a:t> </a:t>
            </a:r>
            <a:r>
              <a:rPr lang="en-US" altLang="en-US" sz="20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(a)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 </a:t>
            </a:r>
            <a:r>
              <a:rPr lang="en-US" altLang="en-US" sz="1800" b="1" i="1" dirty="0" smtClean="0"/>
              <a:t>false</a:t>
            </a:r>
            <a:endParaRPr lang="en-US" altLang="en-US" sz="18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(b) </a:t>
            </a:r>
            <a:r>
              <a:rPr lang="en-US" altLang="en-US" sz="1800" b="1" i="1" dirty="0" err="1" smtClean="0"/>
              <a:t>Need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> </a:t>
            </a:r>
            <a:r>
              <a:rPr lang="en-US" altLang="en-US" sz="1800" b="1" dirty="0" smtClean="0">
                <a:sym typeface="Symbol" pitchFamily="18" charset="2"/>
              </a:rPr>
              <a:t> </a:t>
            </a:r>
            <a:r>
              <a:rPr lang="en-US" altLang="en-US" sz="18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>
                <a:sym typeface="Symbol" pitchFamily="18" charset="2"/>
              </a:rPr>
              <a:t>If no such</a:t>
            </a:r>
            <a:r>
              <a:rPr lang="en-US" altLang="en-US" sz="1800" b="1" dirty="0" smtClean="0">
                <a:sym typeface="Symbol" pitchFamily="18" charset="2"/>
              </a:rPr>
              <a:t> </a:t>
            </a:r>
            <a:r>
              <a:rPr lang="en-US" altLang="en-US" sz="1800" b="1" i="1" dirty="0" err="1" smtClean="0">
                <a:sym typeface="Symbol" pitchFamily="18" charset="2"/>
              </a:rPr>
              <a:t>i</a:t>
            </a:r>
            <a:r>
              <a:rPr lang="en-US" altLang="en-US" sz="1800" b="1" i="1" dirty="0" smtClean="0">
                <a:sym typeface="Symbol" pitchFamily="18" charset="2"/>
              </a:rPr>
              <a:t> </a:t>
            </a:r>
            <a:r>
              <a:rPr lang="en-US" altLang="en-US" sz="18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i="1" dirty="0" smtClean="0"/>
              <a:t>3.  </a:t>
            </a:r>
            <a:r>
              <a:rPr lang="en-US" altLang="en-US" sz="2000" b="1" i="1" dirty="0" smtClean="0"/>
              <a:t>Work</a:t>
            </a:r>
            <a:r>
              <a:rPr lang="en-US" altLang="en-US" sz="2000" b="1" dirty="0" smtClean="0"/>
              <a:t> = </a:t>
            </a:r>
            <a:r>
              <a:rPr lang="en-US" altLang="en-US" sz="2000" b="1" i="1" dirty="0" smtClean="0"/>
              <a:t>Work </a:t>
            </a:r>
            <a:r>
              <a:rPr lang="en-US" altLang="en-US" sz="2000" b="1" dirty="0" smtClean="0"/>
              <a:t>+ </a:t>
            </a:r>
            <a:r>
              <a:rPr lang="en-US" altLang="en-US" sz="2000" b="1" i="1" dirty="0" err="1" smtClean="0"/>
              <a:t>Allocation</a:t>
            </a:r>
            <a:r>
              <a:rPr lang="en-US" altLang="en-US" sz="2000" b="1" i="1" baseline="-25000" dirty="0" err="1" smtClean="0"/>
              <a:t>i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</a:t>
            </a:r>
            <a:r>
              <a:rPr lang="en-US" altLang="en-US" sz="2000" b="1" i="1" dirty="0" smtClean="0"/>
              <a:t> true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4.	If </a:t>
            </a: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 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== </a:t>
            </a:r>
            <a:r>
              <a:rPr lang="en-US" altLang="en-US" sz="2000" b="1" i="1" dirty="0" smtClean="0"/>
              <a:t>true</a:t>
            </a:r>
            <a:r>
              <a:rPr lang="en-US" altLang="en-US" sz="2000" b="1" dirty="0" smtClean="0"/>
              <a:t> </a:t>
            </a:r>
            <a:r>
              <a:rPr lang="en-US" altLang="en-US" sz="2000" dirty="0" smtClean="0"/>
              <a:t>for all </a:t>
            </a:r>
            <a:r>
              <a:rPr lang="en-US" altLang="en-US" sz="2000" b="1" i="1" dirty="0" err="1" smtClean="0"/>
              <a:t>i</a:t>
            </a:r>
            <a:r>
              <a:rPr lang="en-US" altLang="en-US" sz="2000" dirty="0" smtClean="0"/>
              <a:t>, then the system is in a safe state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181600"/>
            <a:ext cx="33051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193" y="5153025"/>
            <a:ext cx="16192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C0778-B2CF-4F98-A5C7-8CAD53E3FB04}" type="datetime1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33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800" dirty="0"/>
              <a:t>Applying the Safety algorithm on the given system,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/>
          <a:stretch/>
        </p:blipFill>
        <p:spPr bwMode="auto">
          <a:xfrm>
            <a:off x="20781" y="838200"/>
            <a:ext cx="4322619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243243" y="1143433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000" dirty="0" smtClean="0"/>
              <a:t>Let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and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be vectors of length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and</a:t>
            </a:r>
            <a:r>
              <a:rPr lang="en-US" altLang="en-US" sz="2000" i="1" dirty="0" smtClean="0"/>
              <a:t> n</a:t>
            </a:r>
            <a:r>
              <a:rPr lang="en-US" altLang="en-US" sz="20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Work </a:t>
            </a:r>
            <a:r>
              <a:rPr lang="en-US" altLang="en-US" sz="1200" b="1" dirty="0" smtClean="0"/>
              <a:t>= </a:t>
            </a:r>
            <a:r>
              <a:rPr lang="en-US" altLang="en-US" sz="12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Finish </a:t>
            </a:r>
            <a:r>
              <a:rPr lang="en-US" altLang="en-US" sz="1200" b="1" dirty="0" smtClean="0"/>
              <a:t>[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] =</a:t>
            </a:r>
            <a:r>
              <a:rPr lang="en-US" altLang="en-US" sz="1200" b="1" i="1" dirty="0" smtClean="0"/>
              <a:t> false </a:t>
            </a:r>
            <a:r>
              <a:rPr lang="en-US" altLang="en-US" sz="1200" b="1" dirty="0" smtClean="0"/>
              <a:t>for</a:t>
            </a:r>
            <a:r>
              <a:rPr lang="en-US" altLang="en-US" sz="1200" b="1" i="1" dirty="0" smtClean="0"/>
              <a:t> 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 = 0, 1, …, </a:t>
            </a:r>
            <a:r>
              <a:rPr lang="en-US" altLang="en-US" sz="1200" b="1" i="1" dirty="0" smtClean="0"/>
              <a:t>n- </a:t>
            </a:r>
            <a:r>
              <a:rPr lang="en-US" altLang="en-US" sz="12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2.	Find an </a:t>
            </a:r>
            <a:r>
              <a:rPr lang="en-US" altLang="en-US" sz="2000" b="1" i="1" dirty="0" err="1" smtClean="0"/>
              <a:t>i</a:t>
            </a:r>
            <a:r>
              <a:rPr lang="en-US" altLang="en-US" sz="2000" i="1" dirty="0" smtClean="0"/>
              <a:t> </a:t>
            </a:r>
            <a:r>
              <a:rPr lang="en-US" altLang="en-US" sz="20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(a)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 </a:t>
            </a:r>
            <a:r>
              <a:rPr lang="en-US" altLang="en-US" sz="1800" b="1" i="1" dirty="0" smtClean="0"/>
              <a:t>false</a:t>
            </a:r>
            <a:endParaRPr lang="en-US" altLang="en-US" sz="18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(b) </a:t>
            </a:r>
            <a:r>
              <a:rPr lang="en-US" altLang="en-US" sz="1800" b="1" i="1" dirty="0" err="1" smtClean="0"/>
              <a:t>Need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> </a:t>
            </a:r>
            <a:r>
              <a:rPr lang="en-US" altLang="en-US" sz="1800" b="1" dirty="0" smtClean="0">
                <a:sym typeface="Symbol" pitchFamily="18" charset="2"/>
              </a:rPr>
              <a:t> </a:t>
            </a:r>
            <a:r>
              <a:rPr lang="en-US" altLang="en-US" sz="18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>
                <a:sym typeface="Symbol" pitchFamily="18" charset="2"/>
              </a:rPr>
              <a:t>If no such</a:t>
            </a:r>
            <a:r>
              <a:rPr lang="en-US" altLang="en-US" sz="1800" b="1" dirty="0" smtClean="0">
                <a:sym typeface="Symbol" pitchFamily="18" charset="2"/>
              </a:rPr>
              <a:t> </a:t>
            </a:r>
            <a:r>
              <a:rPr lang="en-US" altLang="en-US" sz="1800" b="1" i="1" dirty="0" err="1" smtClean="0">
                <a:sym typeface="Symbol" pitchFamily="18" charset="2"/>
              </a:rPr>
              <a:t>i</a:t>
            </a:r>
            <a:r>
              <a:rPr lang="en-US" altLang="en-US" sz="1800" b="1" i="1" dirty="0" smtClean="0">
                <a:sym typeface="Symbol" pitchFamily="18" charset="2"/>
              </a:rPr>
              <a:t> </a:t>
            </a:r>
            <a:r>
              <a:rPr lang="en-US" altLang="en-US" sz="18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i="1" dirty="0" smtClean="0"/>
              <a:t>3.  </a:t>
            </a:r>
            <a:r>
              <a:rPr lang="en-US" altLang="en-US" sz="2000" b="1" i="1" dirty="0" smtClean="0"/>
              <a:t>Work</a:t>
            </a:r>
            <a:r>
              <a:rPr lang="en-US" altLang="en-US" sz="2000" b="1" dirty="0" smtClean="0"/>
              <a:t> = </a:t>
            </a:r>
            <a:r>
              <a:rPr lang="en-US" altLang="en-US" sz="2000" b="1" i="1" dirty="0" smtClean="0"/>
              <a:t>Work </a:t>
            </a:r>
            <a:r>
              <a:rPr lang="en-US" altLang="en-US" sz="2000" b="1" dirty="0" smtClean="0"/>
              <a:t>+ </a:t>
            </a:r>
            <a:r>
              <a:rPr lang="en-US" altLang="en-US" sz="2000" b="1" i="1" dirty="0" err="1" smtClean="0"/>
              <a:t>Allocation</a:t>
            </a:r>
            <a:r>
              <a:rPr lang="en-US" altLang="en-US" sz="2000" b="1" i="1" baseline="-25000" dirty="0" err="1" smtClean="0"/>
              <a:t>i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</a:t>
            </a:r>
            <a:r>
              <a:rPr lang="en-US" altLang="en-US" sz="2000" b="1" i="1" dirty="0" smtClean="0"/>
              <a:t> true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4.	If </a:t>
            </a: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 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== </a:t>
            </a:r>
            <a:r>
              <a:rPr lang="en-US" altLang="en-US" sz="2000" b="1" i="1" dirty="0" smtClean="0"/>
              <a:t>true</a:t>
            </a:r>
            <a:r>
              <a:rPr lang="en-US" altLang="en-US" sz="2000" b="1" dirty="0" smtClean="0"/>
              <a:t> </a:t>
            </a:r>
            <a:r>
              <a:rPr lang="en-US" altLang="en-US" sz="2000" dirty="0" smtClean="0"/>
              <a:t>for all </a:t>
            </a:r>
            <a:r>
              <a:rPr lang="en-US" altLang="en-US" sz="2000" b="1" i="1" dirty="0" err="1" smtClean="0"/>
              <a:t>i</a:t>
            </a:r>
            <a:r>
              <a:rPr lang="en-US" altLang="en-US" sz="2000" dirty="0" smtClean="0"/>
              <a:t>, then the system is in a safe state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181600"/>
            <a:ext cx="33051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193" y="5153025"/>
            <a:ext cx="16192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3983-B50A-44EA-8D6E-769D965DE346}" type="datetime1">
              <a:rPr lang="en-US" smtClean="0"/>
              <a:t>10/15/2020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07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73175" y="231775"/>
            <a:ext cx="79248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Resource-Request Algorithm for Process </a:t>
            </a:r>
            <a:r>
              <a:rPr lang="en-US" altLang="en-US" sz="2800" i="1" smtClean="0"/>
              <a:t>P</a:t>
            </a:r>
            <a:r>
              <a:rPr lang="en-US" altLang="en-US" sz="2800" i="1" baseline="-25000" smtClean="0"/>
              <a:t>i</a:t>
            </a:r>
            <a:endParaRPr lang="en-US" altLang="en-US" sz="2800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325" y="1114425"/>
            <a:ext cx="7642225" cy="46863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 smtClean="0"/>
              <a:t>     </a:t>
            </a:r>
            <a:r>
              <a:rPr lang="en-US" altLang="en-US" b="1" i="1" dirty="0" err="1" smtClean="0"/>
              <a:t>Request</a:t>
            </a:r>
            <a:r>
              <a:rPr lang="en-US" altLang="en-US" b="1" i="1" baseline="-25000" dirty="0" err="1" smtClean="0"/>
              <a:t>i</a:t>
            </a:r>
            <a:r>
              <a:rPr lang="en-US" altLang="en-US" dirty="0" smtClean="0"/>
              <a:t> = request vector for process </a:t>
            </a:r>
            <a:r>
              <a:rPr lang="en-US" altLang="en-US" b="1" i="1" dirty="0" smtClean="0"/>
              <a:t>P</a:t>
            </a:r>
            <a:r>
              <a:rPr lang="en-US" altLang="en-US" b="1" i="1" baseline="-25000" dirty="0" smtClean="0"/>
              <a:t>i</a:t>
            </a:r>
            <a:r>
              <a:rPr lang="en-US" altLang="en-US" dirty="0" smtClean="0"/>
              <a:t>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If </a:t>
            </a:r>
            <a:r>
              <a:rPr lang="en-US" altLang="en-US" b="1" i="1" dirty="0" err="1" smtClean="0"/>
              <a:t>Request</a:t>
            </a:r>
            <a:r>
              <a:rPr lang="en-US" altLang="en-US" b="1" i="1" baseline="-25000" dirty="0" err="1" smtClean="0"/>
              <a:t>i</a:t>
            </a:r>
            <a:r>
              <a:rPr lang="en-US" altLang="en-US" b="1" baseline="-25000" dirty="0" smtClean="0"/>
              <a:t> </a:t>
            </a:r>
            <a:r>
              <a:rPr lang="en-US" altLang="en-US" b="1" dirty="0" smtClean="0"/>
              <a:t>[</a:t>
            </a:r>
            <a:r>
              <a:rPr lang="en-US" altLang="en-US" b="1" i="1" dirty="0" smtClean="0"/>
              <a:t>j</a:t>
            </a:r>
            <a:r>
              <a:rPr lang="en-US" altLang="en-US" b="1" dirty="0" smtClean="0"/>
              <a:t>] = </a:t>
            </a:r>
            <a:r>
              <a:rPr lang="en-US" altLang="en-US" b="1" i="1" dirty="0" smtClean="0"/>
              <a:t>k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then process </a:t>
            </a:r>
            <a:r>
              <a:rPr lang="en-US" altLang="en-US" b="1" i="1" dirty="0" smtClean="0"/>
              <a:t>P</a:t>
            </a:r>
            <a:r>
              <a:rPr lang="en-US" altLang="en-US" b="1" i="1" baseline="-25000" dirty="0" smtClean="0"/>
              <a:t>i</a:t>
            </a:r>
            <a:r>
              <a:rPr lang="en-US" altLang="en-US" dirty="0" smtClean="0"/>
              <a:t> wants </a:t>
            </a:r>
            <a:r>
              <a:rPr lang="en-US" altLang="en-US" b="1" i="1" dirty="0" smtClean="0"/>
              <a:t>k</a:t>
            </a:r>
            <a:r>
              <a:rPr lang="en-US" altLang="en-US" dirty="0" smtClean="0"/>
              <a:t> instances of resource type </a:t>
            </a:r>
            <a:r>
              <a:rPr lang="en-US" altLang="en-US" b="1" i="1" dirty="0" err="1" smtClean="0"/>
              <a:t>R</a:t>
            </a:r>
            <a:r>
              <a:rPr lang="en-US" altLang="en-US" b="1" i="1" baseline="-25000" dirty="0" err="1" smtClean="0"/>
              <a:t>j</a:t>
            </a:r>
            <a:endParaRPr lang="en-US" altLang="en-US" b="1" baseline="-25000" dirty="0" smtClean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If </a:t>
            </a:r>
            <a:r>
              <a:rPr lang="en-US" altLang="en-US" b="1" i="1" dirty="0" err="1" smtClean="0"/>
              <a:t>Request</a:t>
            </a:r>
            <a:r>
              <a:rPr lang="en-US" altLang="en-US" b="1" i="1" baseline="-25000" dirty="0" err="1" smtClean="0"/>
              <a:t>i</a:t>
            </a:r>
            <a:r>
              <a:rPr lang="en-US" altLang="en-US" b="1" i="1" dirty="0" smtClean="0"/>
              <a:t> </a:t>
            </a:r>
            <a:r>
              <a:rPr lang="en-US" altLang="en-US" b="1" dirty="0" smtClean="0">
                <a:sym typeface="Symbol" pitchFamily="18" charset="2"/>
              </a:rPr>
              <a:t> </a:t>
            </a:r>
            <a:r>
              <a:rPr lang="en-US" altLang="en-US" b="1" i="1" dirty="0" err="1" smtClean="0">
                <a:sym typeface="Symbol" pitchFamily="18" charset="2"/>
              </a:rPr>
              <a:t>Need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i="1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go to step 2.  Otherwise, </a:t>
            </a:r>
            <a:r>
              <a:rPr lang="en-US" altLang="en-US" b="1" dirty="0" smtClean="0">
                <a:solidFill>
                  <a:srgbClr val="0070C0"/>
                </a:solidFill>
                <a:sym typeface="Symbol" pitchFamily="18" charset="2"/>
              </a:rPr>
              <a:t>raise error </a:t>
            </a:r>
            <a:r>
              <a:rPr lang="en-US" altLang="en-US" dirty="0" smtClean="0">
                <a:sym typeface="Symbol" pitchFamily="18" charset="2"/>
              </a:rPr>
              <a:t>condition, since process has exceeded its maximum claim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>
                <a:sym typeface="Symbol" pitchFamily="18" charset="2"/>
              </a:rPr>
              <a:t>2.	If </a:t>
            </a:r>
            <a:r>
              <a:rPr lang="en-US" altLang="en-US" b="1" i="1" dirty="0" err="1" smtClean="0"/>
              <a:t>Request</a:t>
            </a:r>
            <a:r>
              <a:rPr lang="en-US" altLang="en-US" b="1" i="1" baseline="-25000" dirty="0" err="1" smtClean="0"/>
              <a:t>i</a:t>
            </a:r>
            <a:r>
              <a:rPr lang="en-US" altLang="en-US" b="1" dirty="0" smtClean="0"/>
              <a:t> </a:t>
            </a:r>
            <a:r>
              <a:rPr lang="en-US" altLang="en-US" b="1" dirty="0" smtClean="0">
                <a:sym typeface="Symbol" pitchFamily="18" charset="2"/>
              </a:rPr>
              <a:t> </a:t>
            </a:r>
            <a:r>
              <a:rPr lang="en-US" altLang="en-US" b="1" i="1" dirty="0" smtClean="0">
                <a:sym typeface="Symbol" pitchFamily="18" charset="2"/>
              </a:rPr>
              <a:t>Available</a:t>
            </a:r>
            <a:r>
              <a:rPr lang="en-US" altLang="en-US" dirty="0" smtClean="0">
                <a:sym typeface="Symbol" pitchFamily="18" charset="2"/>
              </a:rPr>
              <a:t>, go to step 3.  Otherwise </a:t>
            </a:r>
            <a:r>
              <a:rPr lang="en-US" altLang="en-US" b="1" i="1" dirty="0" smtClean="0">
                <a:solidFill>
                  <a:srgbClr val="0070C0"/>
                </a:solidFill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olidFill>
                  <a:srgbClr val="0070C0"/>
                </a:solidFill>
                <a:sym typeface="Symbol" pitchFamily="18" charset="2"/>
              </a:rPr>
              <a:t>i</a:t>
            </a:r>
            <a:r>
              <a:rPr lang="en-US" altLang="en-US" b="1" dirty="0" smtClean="0">
                <a:solidFill>
                  <a:srgbClr val="0070C0"/>
                </a:solidFill>
                <a:sym typeface="Symbol" pitchFamily="18" charset="2"/>
              </a:rPr>
              <a:t>  must wait</a:t>
            </a:r>
            <a:r>
              <a:rPr lang="en-US" altLang="en-US" dirty="0" smtClean="0">
                <a:sym typeface="Symbol" pitchFamily="18" charset="2"/>
              </a:rPr>
              <a:t>, since resources are not available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>
                <a:sym typeface="Symbol" pitchFamily="18" charset="2"/>
              </a:rPr>
              <a:t>3.	Pretend to allocate requested resources to </a:t>
            </a:r>
            <a:r>
              <a:rPr lang="en-US" altLang="en-US" b="1" i="1" dirty="0" smtClean="0"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by modifying the state as follows: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 smtClean="0">
                <a:sym typeface="Symbol" pitchFamily="18" charset="2"/>
              </a:rPr>
              <a:t>		</a:t>
            </a:r>
            <a:r>
              <a:rPr lang="en-US" altLang="en-US" b="1" i="1" dirty="0" smtClean="0">
                <a:sym typeface="Symbol" pitchFamily="18" charset="2"/>
              </a:rPr>
              <a:t>Available</a:t>
            </a:r>
            <a:r>
              <a:rPr lang="en-US" altLang="en-US" b="1" dirty="0" smtClean="0">
                <a:sym typeface="Symbol" pitchFamily="18" charset="2"/>
              </a:rPr>
              <a:t> = </a:t>
            </a:r>
            <a:r>
              <a:rPr lang="en-US" altLang="en-US" b="1" i="1" dirty="0" smtClean="0">
                <a:sym typeface="Symbol" pitchFamily="18" charset="2"/>
              </a:rPr>
              <a:t>Available  </a:t>
            </a:r>
            <a:r>
              <a:rPr lang="en-US" altLang="en-US" b="1" dirty="0" smtClean="0">
                <a:sym typeface="Symbol" pitchFamily="18" charset="2"/>
              </a:rPr>
              <a:t>–</a:t>
            </a:r>
            <a:r>
              <a:rPr lang="en-US" altLang="en-US" b="1" i="1" dirty="0" smtClean="0">
                <a:sym typeface="Symbol" pitchFamily="18" charset="2"/>
              </a:rPr>
              <a:t> </a:t>
            </a:r>
            <a:r>
              <a:rPr lang="en-US" altLang="en-US" b="1" i="1" dirty="0" err="1" smtClean="0">
                <a:sym typeface="Symbol" pitchFamily="18" charset="2"/>
              </a:rPr>
              <a:t>Request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i="1" dirty="0" smtClean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 dirty="0" smtClean="0">
                <a:sym typeface="Symbol" pitchFamily="18" charset="2"/>
              </a:rPr>
              <a:t>		</a:t>
            </a:r>
            <a:r>
              <a:rPr lang="en-US" altLang="en-US" b="1" i="1" dirty="0" err="1" smtClean="0">
                <a:sym typeface="Symbol" pitchFamily="18" charset="2"/>
              </a:rPr>
              <a:t>Allocation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baseline="-25000" dirty="0" smtClean="0">
                <a:sym typeface="Symbol" pitchFamily="18" charset="2"/>
              </a:rPr>
              <a:t> </a:t>
            </a:r>
            <a:r>
              <a:rPr lang="en-US" altLang="en-US" b="1" dirty="0" smtClean="0">
                <a:sym typeface="Symbol" pitchFamily="18" charset="2"/>
              </a:rPr>
              <a:t>= </a:t>
            </a:r>
            <a:r>
              <a:rPr lang="en-US" altLang="en-US" b="1" i="1" dirty="0" err="1" smtClean="0">
                <a:sym typeface="Symbol" pitchFamily="18" charset="2"/>
              </a:rPr>
              <a:t>Allocation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 + </a:t>
            </a:r>
            <a:r>
              <a:rPr lang="en-US" altLang="en-US" b="1" i="1" dirty="0" err="1" smtClean="0">
                <a:sym typeface="Symbol" pitchFamily="18" charset="2"/>
              </a:rPr>
              <a:t>Request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 dirty="0" smtClean="0">
                <a:sym typeface="Symbol" pitchFamily="18" charset="2"/>
              </a:rPr>
              <a:t>		</a:t>
            </a:r>
            <a:r>
              <a:rPr lang="en-US" altLang="en-US" b="1" i="1" dirty="0" err="1" smtClean="0">
                <a:sym typeface="Symbol" pitchFamily="18" charset="2"/>
              </a:rPr>
              <a:t>Need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i="1" dirty="0" smtClean="0">
                <a:sym typeface="Symbol" pitchFamily="18" charset="2"/>
              </a:rPr>
              <a:t> </a:t>
            </a:r>
            <a:r>
              <a:rPr lang="en-US" altLang="en-US" b="1" dirty="0" smtClean="0">
                <a:sym typeface="Symbol" pitchFamily="18" charset="2"/>
              </a:rPr>
              <a:t>=</a:t>
            </a:r>
            <a:r>
              <a:rPr lang="en-US" altLang="en-US" b="1" i="1" dirty="0" smtClean="0">
                <a:sym typeface="Symbol" pitchFamily="18" charset="2"/>
              </a:rPr>
              <a:t> </a:t>
            </a:r>
            <a:r>
              <a:rPr lang="en-US" altLang="en-US" b="1" i="1" dirty="0" err="1" smtClean="0">
                <a:sym typeface="Symbol" pitchFamily="18" charset="2"/>
              </a:rPr>
              <a:t>Need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 – </a:t>
            </a:r>
            <a:r>
              <a:rPr lang="en-US" altLang="en-US" b="1" i="1" dirty="0" err="1" smtClean="0">
                <a:sym typeface="Symbol" pitchFamily="18" charset="2"/>
              </a:rPr>
              <a:t>Request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i="1" dirty="0" smtClean="0">
                <a:sym typeface="Symbol" pitchFamily="18" charset="2"/>
              </a:rPr>
              <a:t>;</a:t>
            </a:r>
          </a:p>
          <a:p>
            <a:pPr lvl="1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b="1" dirty="0" smtClean="0">
                <a:solidFill>
                  <a:srgbClr val="0070C0"/>
                </a:solidFill>
                <a:sym typeface="Symbol" pitchFamily="18" charset="2"/>
              </a:rPr>
              <a:t>Apply Safety Algorithm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 smtClean="0">
                <a:sym typeface="Symbol" pitchFamily="18" charset="2"/>
              </a:rPr>
              <a:t>If safe  the resources are allocated to </a:t>
            </a:r>
            <a:r>
              <a:rPr lang="en-US" altLang="en-US" b="1" i="1" dirty="0" smtClean="0"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ym typeface="Symbol" pitchFamily="18" charset="2"/>
              </a:rPr>
              <a:t>i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 smtClean="0">
                <a:sym typeface="Symbol" pitchFamily="18" charset="2"/>
              </a:rPr>
              <a:t>If unsafe  </a:t>
            </a:r>
            <a:r>
              <a:rPr lang="en-US" altLang="en-US" b="1" i="1" dirty="0" smtClean="0"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must wait, and the old resource-allocation state is restored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6D53-7D4A-42C3-9F27-38EAF58476AD}" type="datetime1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55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1431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Example:  </a:t>
            </a:r>
            <a:r>
              <a:rPr lang="en-US" altLang="en-US" i="1" smtClean="0"/>
              <a:t>P</a:t>
            </a:r>
            <a:r>
              <a:rPr lang="en-US" altLang="en-US" baseline="-25000" smtClean="0"/>
              <a:t>1</a:t>
            </a:r>
            <a:r>
              <a:rPr lang="en-US" altLang="en-US" smtClean="0"/>
              <a:t> Request (1,0,2)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1103313"/>
            <a:ext cx="7766050" cy="5103812"/>
          </a:xfrm>
        </p:spPr>
        <p:txBody>
          <a:bodyPr>
            <a:noAutofit/>
          </a:bodyPr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Check that Request </a:t>
            </a:r>
            <a:r>
              <a:rPr lang="en-US" altLang="en-US" sz="2000" dirty="0" smtClean="0">
                <a:sym typeface="Symbol" pitchFamily="18" charset="2"/>
              </a:rPr>
              <a:t> Available (that is, (1,0,2)  (3,3,2)  true</a:t>
            </a:r>
            <a:endParaRPr lang="en-US" altLang="en-US" sz="2000" i="1" dirty="0" smtClean="0">
              <a:sym typeface="Symbol" pitchFamily="18" charset="2"/>
            </a:endParaRP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i="1" dirty="0" smtClean="0"/>
              <a:t>			</a:t>
            </a:r>
            <a:r>
              <a:rPr lang="en-US" altLang="en-US" sz="2000" i="1" u="sng" dirty="0" smtClean="0"/>
              <a:t>Allocation</a:t>
            </a:r>
            <a:r>
              <a:rPr lang="en-US" altLang="en-US" sz="2000" i="1" dirty="0" smtClean="0"/>
              <a:t>	</a:t>
            </a:r>
            <a:r>
              <a:rPr lang="en-US" altLang="en-US" sz="2000" i="1" u="sng" dirty="0" smtClean="0"/>
              <a:t>Need</a:t>
            </a:r>
            <a:r>
              <a:rPr lang="en-US" altLang="en-US" sz="2000" i="1" dirty="0" smtClean="0"/>
              <a:t>	   </a:t>
            </a:r>
            <a:r>
              <a:rPr lang="en-US" altLang="en-US" sz="2000" i="1" u="sng" dirty="0" smtClean="0"/>
              <a:t>Available</a:t>
            </a:r>
            <a:endParaRPr lang="en-US" altLang="en-US" sz="2000" i="1" dirty="0" smtClean="0"/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i="1" dirty="0" smtClean="0"/>
              <a:t>			A B C	A B C	 A B C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0</a:t>
            </a:r>
            <a:r>
              <a:rPr lang="en-US" altLang="en-US" sz="2000" dirty="0" smtClean="0"/>
              <a:t>	0 1 0 	7 4 3 	2 3 0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	      3 0 2             0 2 0 	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	3 0 2 	 6 0 0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3</a:t>
            </a:r>
            <a:r>
              <a:rPr lang="en-US" altLang="en-US" sz="2000" dirty="0" smtClean="0"/>
              <a:t>	2 1 1 	0 1 1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	0 0 2 	 4 3 1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400" dirty="0" smtClean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Executing safety algorithm shows that sequence &lt;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1</a:t>
            </a:r>
            <a:r>
              <a:rPr lang="en-US" altLang="en-US" sz="2000" b="1" dirty="0" smtClean="0"/>
              <a:t>,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3</a:t>
            </a:r>
            <a:r>
              <a:rPr lang="en-US" altLang="en-US" sz="2000" b="1" dirty="0" smtClean="0"/>
              <a:t>,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4</a:t>
            </a:r>
            <a:r>
              <a:rPr lang="en-US" altLang="en-US" sz="2000" b="1" dirty="0" smtClean="0"/>
              <a:t>,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0</a:t>
            </a:r>
            <a:r>
              <a:rPr lang="en-US" altLang="en-US" sz="2000" b="1" dirty="0" smtClean="0"/>
              <a:t>,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2</a:t>
            </a:r>
            <a:r>
              <a:rPr lang="en-US" altLang="en-US" sz="2000" dirty="0" smtClean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400" dirty="0" smtClean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Can request for (3,3,0) by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4</a:t>
            </a:r>
            <a:r>
              <a:rPr lang="en-US" altLang="en-US" sz="2000" dirty="0" smtClean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400" dirty="0" smtClean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Can request for (0,2,0) by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0</a:t>
            </a:r>
            <a:r>
              <a:rPr lang="en-US" altLang="en-US" sz="2000" dirty="0" smtClean="0"/>
              <a:t> be granted?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20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0613-B17E-400F-9DE4-4289109B73DD}" type="datetime1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2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345" y="381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What will happen if process P1 requests one additional instance of resource type A and two instances of resource type C</a:t>
            </a:r>
            <a:r>
              <a:rPr lang="en-US" sz="2400" dirty="0" smtClean="0"/>
              <a:t>?</a:t>
            </a:r>
          </a:p>
          <a:p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895600"/>
            <a:ext cx="8305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557" y="1381125"/>
            <a:ext cx="33051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0" y="1381125"/>
            <a:ext cx="161925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62650" y="2052638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467600" y="2232747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391400" y="5105400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57280" y="5338762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247717" y="2286000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62650" y="5338762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F55C-A081-413D-A478-4B7BA97435DA}" type="datetime1">
              <a:rPr lang="en-US" smtClean="0"/>
              <a:t>10/15/2020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43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dirty="0"/>
              <a:t>We must determine whether this new system state is safe. To do so, we again execute Safety </a:t>
            </a:r>
            <a:r>
              <a:rPr lang="en-US" sz="2400" dirty="0" smtClean="0"/>
              <a:t>algorithm again</a:t>
            </a:r>
            <a:endParaRPr lang="en-US" sz="24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32"/>
          <a:stretch/>
        </p:blipFill>
        <p:spPr bwMode="auto">
          <a:xfrm>
            <a:off x="152400" y="1295400"/>
            <a:ext cx="4038601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368800" y="1157288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800" dirty="0" smtClean="0"/>
              <a:t>1.	</a:t>
            </a:r>
            <a:r>
              <a:rPr lang="en-US" altLang="en-US" sz="1800" dirty="0" smtClean="0"/>
              <a:t>Let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18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and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be vectors of length</a:t>
            </a:r>
            <a:r>
              <a:rPr lang="en-US" altLang="en-US" sz="1800" i="1" dirty="0" smtClean="0"/>
              <a:t> m</a:t>
            </a:r>
            <a:r>
              <a:rPr lang="en-US" altLang="en-US" sz="1800" dirty="0" smtClean="0"/>
              <a:t> and</a:t>
            </a:r>
            <a:r>
              <a:rPr lang="en-US" altLang="en-US" sz="1800" i="1" dirty="0" smtClean="0"/>
              <a:t> n</a:t>
            </a:r>
            <a:r>
              <a:rPr lang="en-US" altLang="en-US" sz="18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2.	Find an </a:t>
            </a:r>
            <a:r>
              <a:rPr lang="en-US" altLang="en-US" sz="1800" b="1" i="1" dirty="0" err="1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(a) </a:t>
            </a:r>
            <a:r>
              <a:rPr lang="en-US" altLang="en-US" sz="1600" b="1" i="1" dirty="0" smtClean="0"/>
              <a:t>Finish</a:t>
            </a:r>
            <a:r>
              <a:rPr lang="en-US" altLang="en-US" sz="1600" b="1" dirty="0" smtClean="0"/>
              <a:t> [</a:t>
            </a:r>
            <a:r>
              <a:rPr lang="en-US" altLang="en-US" sz="1600" b="1" i="1" dirty="0" err="1" smtClean="0"/>
              <a:t>i</a:t>
            </a:r>
            <a:r>
              <a:rPr lang="en-US" altLang="en-US" sz="1600" b="1" dirty="0" smtClean="0"/>
              <a:t>] = </a:t>
            </a:r>
            <a:r>
              <a:rPr lang="en-US" altLang="en-US" sz="1600" b="1" i="1" dirty="0" smtClean="0"/>
              <a:t>false</a:t>
            </a:r>
            <a:endParaRPr lang="en-US" altLang="en-US" sz="16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(b) </a:t>
            </a:r>
            <a:r>
              <a:rPr lang="en-US" altLang="en-US" sz="1600" b="1" i="1" dirty="0" err="1" smtClean="0"/>
              <a:t>Need</a:t>
            </a:r>
            <a:r>
              <a:rPr lang="en-US" altLang="en-US" sz="1600" b="1" i="1" baseline="-25000" dirty="0" err="1" smtClean="0"/>
              <a:t>i</a:t>
            </a:r>
            <a:r>
              <a:rPr lang="en-US" altLang="en-US" sz="1600" b="1" dirty="0" smtClean="0"/>
              <a:t> </a:t>
            </a:r>
            <a:r>
              <a:rPr lang="en-US" altLang="en-US" sz="1600" b="1" dirty="0" smtClean="0">
                <a:sym typeface="Symbol" pitchFamily="18" charset="2"/>
              </a:rPr>
              <a:t> </a:t>
            </a:r>
            <a:r>
              <a:rPr lang="en-US" altLang="en-US" sz="16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ym typeface="Symbol" pitchFamily="18" charset="2"/>
              </a:rPr>
              <a:t>If no such</a:t>
            </a:r>
            <a:r>
              <a:rPr lang="en-US" altLang="en-US" sz="1600" b="1" dirty="0" smtClean="0">
                <a:sym typeface="Symbol" pitchFamily="18" charset="2"/>
              </a:rPr>
              <a:t> </a:t>
            </a:r>
            <a:r>
              <a:rPr lang="en-US" altLang="en-US" sz="1600" b="1" i="1" dirty="0" err="1" smtClean="0">
                <a:sym typeface="Symbol" pitchFamily="18" charset="2"/>
              </a:rPr>
              <a:t>i</a:t>
            </a:r>
            <a:r>
              <a:rPr lang="en-US" altLang="en-US" sz="1600" b="1" i="1" dirty="0" smtClean="0">
                <a:sym typeface="Symbol" pitchFamily="18" charset="2"/>
              </a:rPr>
              <a:t> </a:t>
            </a:r>
            <a:r>
              <a:rPr lang="en-US" altLang="en-US" sz="16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i="1" dirty="0" smtClean="0"/>
              <a:t>3.  </a:t>
            </a:r>
            <a:r>
              <a:rPr lang="en-US" altLang="en-US" sz="1800" b="1" i="1" dirty="0" smtClean="0"/>
              <a:t>Work</a:t>
            </a:r>
            <a:r>
              <a:rPr lang="en-US" altLang="en-US" sz="1800" b="1" dirty="0" smtClean="0"/>
              <a:t> = </a:t>
            </a:r>
            <a:r>
              <a:rPr lang="en-US" altLang="en-US" sz="1800" b="1" i="1" dirty="0" smtClean="0"/>
              <a:t>Work </a:t>
            </a:r>
            <a:r>
              <a:rPr lang="en-US" altLang="en-US" sz="1800" b="1" dirty="0" smtClean="0"/>
              <a:t>+ </a:t>
            </a:r>
            <a:r>
              <a:rPr lang="en-US" altLang="en-US" sz="1800" b="1" i="1" dirty="0" err="1" smtClean="0"/>
              <a:t>Allocation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</a:t>
            </a:r>
            <a:r>
              <a:rPr lang="en-US" altLang="en-US" sz="1800" b="1" i="1" dirty="0" smtClean="0"/>
              <a:t> true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4.	If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== </a:t>
            </a:r>
            <a:r>
              <a:rPr lang="en-US" altLang="en-US" sz="1800" b="1" i="1" dirty="0" smtClean="0"/>
              <a:t>true</a:t>
            </a:r>
            <a:r>
              <a:rPr lang="en-US" altLang="en-US" sz="1800" b="1" dirty="0" smtClean="0"/>
              <a:t> </a:t>
            </a:r>
            <a:r>
              <a:rPr lang="en-US" altLang="en-US" sz="1800" dirty="0" smtClean="0"/>
              <a:t>for all </a:t>
            </a:r>
            <a:r>
              <a:rPr lang="en-US" altLang="en-US" sz="1800" b="1" i="1" dirty="0" err="1" smtClean="0"/>
              <a:t>i</a:t>
            </a:r>
            <a:r>
              <a:rPr lang="en-US" altLang="en-US" sz="1800" dirty="0" smtClean="0"/>
              <a:t>, then the system is in a safe state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29"/>
          <a:stretch/>
        </p:blipFill>
        <p:spPr bwMode="auto">
          <a:xfrm>
            <a:off x="4191001" y="5181600"/>
            <a:ext cx="4089400" cy="156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99B4-BCC7-4FF4-B539-BBEC4D135DFC}" type="datetime1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06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dirty="0"/>
              <a:t>We must determine whether this new system state is safe. To do so, we again execute Safety </a:t>
            </a:r>
            <a:r>
              <a:rPr lang="en-US" sz="2400" dirty="0" smtClean="0"/>
              <a:t>algorithm again</a:t>
            </a:r>
            <a:endParaRPr lang="en-US" sz="24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7" r="33644"/>
          <a:stretch/>
        </p:blipFill>
        <p:spPr bwMode="auto">
          <a:xfrm>
            <a:off x="0" y="1219200"/>
            <a:ext cx="4227946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227946" y="1371600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800" dirty="0" smtClean="0"/>
              <a:t>1.	</a:t>
            </a:r>
            <a:r>
              <a:rPr lang="en-US" altLang="en-US" sz="1800" dirty="0" smtClean="0"/>
              <a:t>Let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18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and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be vectors of length</a:t>
            </a:r>
            <a:r>
              <a:rPr lang="en-US" altLang="en-US" sz="1800" i="1" dirty="0" smtClean="0"/>
              <a:t> m</a:t>
            </a:r>
            <a:r>
              <a:rPr lang="en-US" altLang="en-US" sz="1800" dirty="0" smtClean="0"/>
              <a:t> and</a:t>
            </a:r>
            <a:r>
              <a:rPr lang="en-US" altLang="en-US" sz="1800" i="1" dirty="0" smtClean="0"/>
              <a:t> n</a:t>
            </a:r>
            <a:r>
              <a:rPr lang="en-US" altLang="en-US" sz="18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2.	Find an </a:t>
            </a:r>
            <a:r>
              <a:rPr lang="en-US" altLang="en-US" sz="1800" b="1" i="1" dirty="0" err="1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(a) </a:t>
            </a:r>
            <a:r>
              <a:rPr lang="en-US" altLang="en-US" sz="1600" b="1" i="1" dirty="0" smtClean="0"/>
              <a:t>Finish</a:t>
            </a:r>
            <a:r>
              <a:rPr lang="en-US" altLang="en-US" sz="1600" b="1" dirty="0" smtClean="0"/>
              <a:t> [</a:t>
            </a:r>
            <a:r>
              <a:rPr lang="en-US" altLang="en-US" sz="1600" b="1" i="1" dirty="0" err="1" smtClean="0"/>
              <a:t>i</a:t>
            </a:r>
            <a:r>
              <a:rPr lang="en-US" altLang="en-US" sz="1600" b="1" dirty="0" smtClean="0"/>
              <a:t>] = </a:t>
            </a:r>
            <a:r>
              <a:rPr lang="en-US" altLang="en-US" sz="1600" b="1" i="1" dirty="0" smtClean="0"/>
              <a:t>false</a:t>
            </a:r>
            <a:endParaRPr lang="en-US" altLang="en-US" sz="16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(b) </a:t>
            </a:r>
            <a:r>
              <a:rPr lang="en-US" altLang="en-US" sz="1600" b="1" i="1" dirty="0" err="1" smtClean="0">
                <a:solidFill>
                  <a:srgbClr val="0070C0"/>
                </a:solidFill>
              </a:rPr>
              <a:t>Need</a:t>
            </a:r>
            <a:r>
              <a:rPr lang="en-US" altLang="en-US" sz="1600" b="1" i="1" baseline="-25000" dirty="0" err="1" smtClean="0">
                <a:solidFill>
                  <a:srgbClr val="0070C0"/>
                </a:solidFill>
              </a:rPr>
              <a:t>i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 smtClean="0">
                <a:solidFill>
                  <a:srgbClr val="0070C0"/>
                </a:solidFill>
                <a:sym typeface="Symbol" pitchFamily="18" charset="2"/>
              </a:rPr>
              <a:t> </a:t>
            </a:r>
            <a:r>
              <a:rPr lang="en-US" altLang="en-US" sz="1600" b="1" i="1" dirty="0" smtClean="0">
                <a:solidFill>
                  <a:srgbClr val="0070C0"/>
                </a:solidFill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ym typeface="Symbol" pitchFamily="18" charset="2"/>
              </a:rPr>
              <a:t>If no such</a:t>
            </a:r>
            <a:r>
              <a:rPr lang="en-US" altLang="en-US" sz="1600" b="1" dirty="0" smtClean="0">
                <a:sym typeface="Symbol" pitchFamily="18" charset="2"/>
              </a:rPr>
              <a:t> </a:t>
            </a:r>
            <a:r>
              <a:rPr lang="en-US" altLang="en-US" sz="1600" b="1" i="1" dirty="0" err="1" smtClean="0">
                <a:sym typeface="Symbol" pitchFamily="18" charset="2"/>
              </a:rPr>
              <a:t>i</a:t>
            </a:r>
            <a:r>
              <a:rPr lang="en-US" altLang="en-US" sz="1600" b="1" i="1" dirty="0" smtClean="0">
                <a:sym typeface="Symbol" pitchFamily="18" charset="2"/>
              </a:rPr>
              <a:t> </a:t>
            </a:r>
            <a:r>
              <a:rPr lang="en-US" altLang="en-US" sz="16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i="1" dirty="0" smtClean="0"/>
              <a:t>3.  </a:t>
            </a:r>
            <a:r>
              <a:rPr lang="en-US" altLang="en-US" sz="1800" b="1" i="1" dirty="0" smtClean="0"/>
              <a:t>Work</a:t>
            </a:r>
            <a:r>
              <a:rPr lang="en-US" altLang="en-US" sz="1800" b="1" dirty="0" smtClean="0"/>
              <a:t> = </a:t>
            </a:r>
            <a:r>
              <a:rPr lang="en-US" altLang="en-US" sz="1800" b="1" i="1" dirty="0" smtClean="0"/>
              <a:t>Work </a:t>
            </a:r>
            <a:r>
              <a:rPr lang="en-US" altLang="en-US" sz="1800" b="1" dirty="0" smtClean="0"/>
              <a:t>+ </a:t>
            </a:r>
            <a:r>
              <a:rPr lang="en-US" altLang="en-US" sz="1800" b="1" i="1" dirty="0" err="1" smtClean="0"/>
              <a:t>Allocation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</a:t>
            </a:r>
            <a:r>
              <a:rPr lang="en-US" altLang="en-US" sz="1800" b="1" i="1" dirty="0" smtClean="0"/>
              <a:t> true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4.	If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== </a:t>
            </a:r>
            <a:r>
              <a:rPr lang="en-US" altLang="en-US" sz="1800" b="1" i="1" dirty="0" smtClean="0"/>
              <a:t>true</a:t>
            </a:r>
            <a:r>
              <a:rPr lang="en-US" altLang="en-US" sz="1800" b="1" dirty="0" smtClean="0"/>
              <a:t> </a:t>
            </a:r>
            <a:r>
              <a:rPr lang="en-US" altLang="en-US" sz="1800" dirty="0" smtClean="0"/>
              <a:t>for all </a:t>
            </a:r>
            <a:r>
              <a:rPr lang="en-US" altLang="en-US" sz="1800" b="1" i="1" dirty="0" err="1" smtClean="0"/>
              <a:t>i</a:t>
            </a:r>
            <a:r>
              <a:rPr lang="en-US" altLang="en-US" sz="1800" dirty="0" smtClean="0"/>
              <a:t>, then the system is in a safe state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29"/>
          <a:stretch/>
        </p:blipFill>
        <p:spPr bwMode="auto">
          <a:xfrm>
            <a:off x="4191001" y="4953000"/>
            <a:ext cx="4089400" cy="156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6324600" y="3124200"/>
            <a:ext cx="2678546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710B4-90A4-4D1F-ADF4-7D1D19FBA7E2}" type="datetime1">
              <a:rPr lang="en-US" smtClean="0"/>
              <a:t>10/15/2020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5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152400"/>
            <a:ext cx="8229600" cy="563562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We must determine whether this new system state is safe. To do so, we again execute Safety </a:t>
            </a:r>
            <a:r>
              <a:rPr lang="en-US" sz="2400" dirty="0" smtClean="0"/>
              <a:t>algorithm again</a:t>
            </a:r>
            <a:endParaRPr lang="en-US" sz="24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65"/>
          <a:stretch/>
        </p:blipFill>
        <p:spPr bwMode="auto">
          <a:xfrm>
            <a:off x="304800" y="838200"/>
            <a:ext cx="40640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191000" y="1295400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800" dirty="0" smtClean="0"/>
              <a:t>1.	</a:t>
            </a:r>
            <a:r>
              <a:rPr lang="en-US" altLang="en-US" sz="1800" dirty="0" smtClean="0"/>
              <a:t>Let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18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and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be vectors of length</a:t>
            </a:r>
            <a:r>
              <a:rPr lang="en-US" altLang="en-US" sz="1800" i="1" dirty="0" smtClean="0"/>
              <a:t> m</a:t>
            </a:r>
            <a:r>
              <a:rPr lang="en-US" altLang="en-US" sz="1800" dirty="0" smtClean="0"/>
              <a:t> and</a:t>
            </a:r>
            <a:r>
              <a:rPr lang="en-US" altLang="en-US" sz="1800" i="1" dirty="0" smtClean="0"/>
              <a:t> n</a:t>
            </a:r>
            <a:r>
              <a:rPr lang="en-US" altLang="en-US" sz="18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2.	Find an </a:t>
            </a:r>
            <a:r>
              <a:rPr lang="en-US" altLang="en-US" sz="1800" b="1" i="1" dirty="0" err="1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(a) </a:t>
            </a:r>
            <a:r>
              <a:rPr lang="en-US" altLang="en-US" sz="1600" b="1" i="1" dirty="0" smtClean="0"/>
              <a:t>Finish</a:t>
            </a:r>
            <a:r>
              <a:rPr lang="en-US" altLang="en-US" sz="1600" b="1" dirty="0" smtClean="0"/>
              <a:t> [</a:t>
            </a:r>
            <a:r>
              <a:rPr lang="en-US" altLang="en-US" sz="1600" b="1" i="1" dirty="0" err="1" smtClean="0"/>
              <a:t>i</a:t>
            </a:r>
            <a:r>
              <a:rPr lang="en-US" altLang="en-US" sz="1600" b="1" dirty="0" smtClean="0"/>
              <a:t>] = </a:t>
            </a:r>
            <a:r>
              <a:rPr lang="en-US" altLang="en-US" sz="1600" b="1" i="1" dirty="0" smtClean="0"/>
              <a:t>false</a:t>
            </a:r>
            <a:endParaRPr lang="en-US" altLang="en-US" sz="16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(b) </a:t>
            </a:r>
            <a:r>
              <a:rPr lang="en-US" altLang="en-US" sz="1600" b="1" i="1" dirty="0" err="1" smtClean="0"/>
              <a:t>Need</a:t>
            </a:r>
            <a:r>
              <a:rPr lang="en-US" altLang="en-US" sz="1600" b="1" i="1" baseline="-25000" dirty="0" err="1" smtClean="0"/>
              <a:t>i</a:t>
            </a:r>
            <a:r>
              <a:rPr lang="en-US" altLang="en-US" sz="1600" b="1" dirty="0" smtClean="0"/>
              <a:t> </a:t>
            </a:r>
            <a:r>
              <a:rPr lang="en-US" altLang="en-US" sz="1600" b="1" dirty="0" smtClean="0">
                <a:sym typeface="Symbol" pitchFamily="18" charset="2"/>
              </a:rPr>
              <a:t> </a:t>
            </a:r>
            <a:r>
              <a:rPr lang="en-US" altLang="en-US" sz="16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ym typeface="Symbol" pitchFamily="18" charset="2"/>
              </a:rPr>
              <a:t>If no such</a:t>
            </a:r>
            <a:r>
              <a:rPr lang="en-US" altLang="en-US" sz="1600" b="1" dirty="0" smtClean="0">
                <a:sym typeface="Symbol" pitchFamily="18" charset="2"/>
              </a:rPr>
              <a:t> </a:t>
            </a:r>
            <a:r>
              <a:rPr lang="en-US" altLang="en-US" sz="1600" b="1" i="1" dirty="0" err="1" smtClean="0">
                <a:sym typeface="Symbol" pitchFamily="18" charset="2"/>
              </a:rPr>
              <a:t>i</a:t>
            </a:r>
            <a:r>
              <a:rPr lang="en-US" altLang="en-US" sz="1600" b="1" i="1" dirty="0" smtClean="0">
                <a:sym typeface="Symbol" pitchFamily="18" charset="2"/>
              </a:rPr>
              <a:t> </a:t>
            </a:r>
            <a:r>
              <a:rPr lang="en-US" altLang="en-US" sz="16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i="1" dirty="0" smtClean="0"/>
              <a:t>3.  </a:t>
            </a:r>
            <a:r>
              <a:rPr lang="en-US" altLang="en-US" sz="1800" b="1" i="1" dirty="0" smtClean="0"/>
              <a:t>Work</a:t>
            </a:r>
            <a:r>
              <a:rPr lang="en-US" altLang="en-US" sz="1800" b="1" dirty="0" smtClean="0"/>
              <a:t> = </a:t>
            </a:r>
            <a:r>
              <a:rPr lang="en-US" altLang="en-US" sz="1800" b="1" i="1" dirty="0" smtClean="0"/>
              <a:t>Work </a:t>
            </a:r>
            <a:r>
              <a:rPr lang="en-US" altLang="en-US" sz="1800" b="1" dirty="0" smtClean="0"/>
              <a:t>+ </a:t>
            </a:r>
            <a:r>
              <a:rPr lang="en-US" altLang="en-US" sz="1800" b="1" i="1" dirty="0" err="1" smtClean="0"/>
              <a:t>Allocation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</a:t>
            </a:r>
            <a:r>
              <a:rPr lang="en-US" altLang="en-US" sz="1800" b="1" i="1" dirty="0" smtClean="0"/>
              <a:t> true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4.	If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== </a:t>
            </a:r>
            <a:r>
              <a:rPr lang="en-US" altLang="en-US" sz="1800" b="1" i="1" dirty="0" smtClean="0"/>
              <a:t>true</a:t>
            </a:r>
            <a:r>
              <a:rPr lang="en-US" altLang="en-US" sz="1800" b="1" dirty="0" smtClean="0"/>
              <a:t> </a:t>
            </a:r>
            <a:r>
              <a:rPr lang="en-US" altLang="en-US" sz="1800" dirty="0" smtClean="0"/>
              <a:t>for all </a:t>
            </a:r>
            <a:r>
              <a:rPr lang="en-US" altLang="en-US" sz="1800" b="1" i="1" dirty="0" err="1" smtClean="0"/>
              <a:t>i</a:t>
            </a:r>
            <a:r>
              <a:rPr lang="en-US" altLang="en-US" sz="1800" dirty="0" smtClean="0"/>
              <a:t>, then the system is in a safe state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29"/>
          <a:stretch/>
        </p:blipFill>
        <p:spPr bwMode="auto">
          <a:xfrm>
            <a:off x="4368800" y="5181600"/>
            <a:ext cx="4089400" cy="156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80999" y="5934670"/>
            <a:ext cx="38100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Hence the new system state is safe, so we can immediately grant the request for process  P</a:t>
            </a:r>
            <a:r>
              <a:rPr lang="en-US" b="1" baseline="-25000" dirty="0">
                <a:solidFill>
                  <a:srgbClr val="00B0F0"/>
                </a:solidFill>
              </a:rPr>
              <a:t>1 .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F230-D5CA-455E-BB6C-036F9377B772}" type="datetime1">
              <a:rPr lang="en-US" smtClean="0"/>
              <a:t>10/15/2020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71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Banker’s algorithm is named so?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434-F0EB-46A1-BBA1-0AFBE2D630F6}" type="datetime1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51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Banker’s algorithm is named so?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 smtClean="0"/>
              <a:t>Banker’s </a:t>
            </a:r>
            <a:r>
              <a:rPr lang="en-US" sz="2400" dirty="0"/>
              <a:t>algorithm is named so because it is used in banking system to check </a:t>
            </a:r>
            <a:r>
              <a:rPr lang="en-US" sz="2400" b="1" dirty="0">
                <a:solidFill>
                  <a:srgbClr val="0070C0"/>
                </a:solidFill>
              </a:rPr>
              <a:t>whether loan can be sanctioned to a person or not</a:t>
            </a:r>
            <a:r>
              <a:rPr lang="en-US" sz="2400" b="1" dirty="0" smtClean="0">
                <a:solidFill>
                  <a:srgbClr val="0070C0"/>
                </a:solidFill>
              </a:rPr>
              <a:t>.</a:t>
            </a:r>
          </a:p>
          <a:p>
            <a:pPr fontAlgn="base"/>
            <a:r>
              <a:rPr lang="en-US" sz="2400" dirty="0" smtClean="0"/>
              <a:t>Suppose </a:t>
            </a:r>
            <a:r>
              <a:rPr lang="en-US" sz="2400" dirty="0"/>
              <a:t>there are </a:t>
            </a:r>
            <a:r>
              <a:rPr lang="en-US" sz="2400" u="sng" dirty="0"/>
              <a:t>n number of account holders in a bank and the total sum of their money is S. </a:t>
            </a:r>
            <a:endParaRPr lang="en-US" sz="2400" u="sng" dirty="0" smtClean="0"/>
          </a:p>
          <a:p>
            <a:pPr fontAlgn="base"/>
            <a:r>
              <a:rPr lang="en-US" sz="2400" dirty="0" smtClean="0"/>
              <a:t>If </a:t>
            </a:r>
            <a:r>
              <a:rPr lang="en-US" sz="2400" dirty="0"/>
              <a:t>a person applies for a loan then the bank </a:t>
            </a:r>
            <a:endParaRPr lang="en-US" sz="2400" dirty="0" smtClean="0"/>
          </a:p>
          <a:p>
            <a:pPr lvl="1" fontAlgn="base"/>
            <a:r>
              <a:rPr lang="en-US" sz="2000" u="sng" dirty="0" smtClean="0"/>
              <a:t>first </a:t>
            </a:r>
            <a:r>
              <a:rPr lang="en-US" sz="2000" u="sng" dirty="0"/>
              <a:t>subtracts the loan amount from the total money </a:t>
            </a:r>
            <a:r>
              <a:rPr lang="en-US" sz="2000" dirty="0"/>
              <a:t>that bank has and </a:t>
            </a:r>
            <a:endParaRPr lang="en-US" sz="2000" dirty="0" smtClean="0"/>
          </a:p>
          <a:p>
            <a:pPr lvl="1" fontAlgn="base"/>
            <a:r>
              <a:rPr lang="en-US" sz="2000" dirty="0" smtClean="0"/>
              <a:t>if </a:t>
            </a:r>
            <a:r>
              <a:rPr lang="en-US" sz="2000" dirty="0"/>
              <a:t>the </a:t>
            </a:r>
            <a:r>
              <a:rPr lang="en-US" sz="2000" u="sng" dirty="0"/>
              <a:t>remaining amount is greater than S then only the loan is sanctioned. </a:t>
            </a:r>
            <a:endParaRPr lang="en-US" sz="2000" u="sng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B9E3-FD8D-4D96-A1FB-E9D2DB47983C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86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Banker’s algorithm is named so?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 smtClean="0"/>
              <a:t>It </a:t>
            </a:r>
            <a:r>
              <a:rPr lang="en-US" sz="2400" dirty="0"/>
              <a:t>is done because if all the account holders comes to withdraw their money then the bank can easily do it.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Bank </a:t>
            </a:r>
            <a:r>
              <a:rPr lang="en-US" sz="2400" dirty="0"/>
              <a:t>would </a:t>
            </a:r>
            <a:r>
              <a:rPr lang="en-US" sz="2400" dirty="0">
                <a:solidFill>
                  <a:srgbClr val="0070C0"/>
                </a:solidFill>
              </a:rPr>
              <a:t>never allocate its money in such a way that it can no longer satisfy the needs of all its customers. </a:t>
            </a:r>
            <a:endParaRPr lang="en-US" sz="2400" dirty="0" smtClean="0">
              <a:solidFill>
                <a:srgbClr val="0070C0"/>
              </a:solidFill>
            </a:endParaRPr>
          </a:p>
          <a:p>
            <a:pPr fontAlgn="base"/>
            <a:endParaRPr lang="en-US" sz="2400" dirty="0">
              <a:solidFill>
                <a:srgbClr val="0070C0"/>
              </a:solidFill>
            </a:endParaRPr>
          </a:p>
          <a:p>
            <a:pPr fontAlgn="base"/>
            <a:r>
              <a:rPr lang="en-US" sz="2400" dirty="0" smtClean="0"/>
              <a:t>The </a:t>
            </a:r>
            <a:r>
              <a:rPr lang="en-US" sz="2400" dirty="0"/>
              <a:t>bank would try to be in </a:t>
            </a:r>
            <a:r>
              <a:rPr lang="en-US" sz="2400" dirty="0">
                <a:solidFill>
                  <a:srgbClr val="0070C0"/>
                </a:solidFill>
              </a:rPr>
              <a:t>safe state always.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11C2-820E-4DB3-BB1C-AA1C957C49CB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85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Microsoft Office PowerPoint</Application>
  <PresentationFormat>On-screen Show (4:3)</PresentationFormat>
  <Paragraphs>259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Banker’s Algorithm</vt:lpstr>
      <vt:lpstr>Banker’s Algorithm</vt:lpstr>
      <vt:lpstr>Data Structures for the Banker’s Algorithm </vt:lpstr>
      <vt:lpstr>Safety Algorithm</vt:lpstr>
      <vt:lpstr>Example of Banker’s Algorithm</vt:lpstr>
      <vt:lpstr>Example (Cont.)</vt:lpstr>
      <vt:lpstr>Applying the Safety algorithm on the given system,</vt:lpstr>
      <vt:lpstr>Applying the Safety algorithm on the given system,</vt:lpstr>
      <vt:lpstr>Applying the Safety algorithm on the given system,</vt:lpstr>
      <vt:lpstr>Applying the Safety algorithm on the given system,</vt:lpstr>
      <vt:lpstr>Resource-Request Algorithm for Process Pi</vt:lpstr>
      <vt:lpstr>Example:  P1 Request (1,0,2)</vt:lpstr>
      <vt:lpstr>PowerPoint Presentation</vt:lpstr>
      <vt:lpstr>We must determine whether this new system state is safe. To do so, we again execute Safety algorithm again</vt:lpstr>
      <vt:lpstr>We must determine whether this new system state is safe. To do so, we again execute Safety algorithm again</vt:lpstr>
      <vt:lpstr>We must determine whether this new system state is safe. To do so, we again execute Safety algorithm again</vt:lpstr>
      <vt:lpstr>Why Banker’s algorithm is named so?</vt:lpstr>
      <vt:lpstr>Why Banker’s algorithm is named so?</vt:lpstr>
      <vt:lpstr>Why Banker’s algorithm is named so?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Banker’s Algorithm</dc:title>
  <dc:creator>Admin</dc:creator>
  <cp:lastModifiedBy>Admin</cp:lastModifiedBy>
  <cp:revision>1</cp:revision>
  <dcterms:created xsi:type="dcterms:W3CDTF">2020-10-15T10:17:27Z</dcterms:created>
  <dcterms:modified xsi:type="dcterms:W3CDTF">2020-10-15T10:18:03Z</dcterms:modified>
</cp:coreProperties>
</file>
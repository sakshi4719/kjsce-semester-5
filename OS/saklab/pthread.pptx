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71" r:id="rId3"/>
    <p:sldId id="272" r:id="rId4"/>
    <p:sldId id="275" r:id="rId5"/>
    <p:sldId id="276" r:id="rId6"/>
    <p:sldId id="274" r:id="rId7"/>
    <p:sldId id="257" r:id="rId8"/>
    <p:sldId id="258" r:id="rId9"/>
    <p:sldId id="260" r:id="rId10"/>
    <p:sldId id="259" r:id="rId11"/>
    <p:sldId id="261" r:id="rId12"/>
    <p:sldId id="262" r:id="rId13"/>
    <p:sldId id="263" r:id="rId14"/>
    <p:sldId id="265" r:id="rId15"/>
    <p:sldId id="264" r:id="rId16"/>
    <p:sldId id="270" r:id="rId17"/>
    <p:sldId id="267" r:id="rId18"/>
    <p:sldId id="277" r:id="rId19"/>
    <p:sldId id="279" r:id="rId20"/>
    <p:sldId id="280" r:id="rId21"/>
    <p:sldId id="281" r:id="rId2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9" d="100"/>
          <a:sy n="69" d="100"/>
        </p:scale>
        <p:origin x="-1380" y="-9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2685E6-50B0-4032-989D-44AE8E4D7F50}" type="datetimeFigureOut">
              <a:rPr lang="en-US" smtClean="0"/>
              <a:t>9/27/2022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F194D8-5C55-4B72-965F-01EEC7453D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3928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2685E6-50B0-4032-989D-44AE8E4D7F50}" type="datetimeFigureOut">
              <a:rPr lang="en-US" smtClean="0"/>
              <a:t>9/27/2022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F194D8-5C55-4B72-965F-01EEC7453D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44308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2685E6-50B0-4032-989D-44AE8E4D7F50}" type="datetimeFigureOut">
              <a:rPr lang="en-US" smtClean="0"/>
              <a:t>9/27/2022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F194D8-5C55-4B72-965F-01EEC7453D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57940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2685E6-50B0-4032-989D-44AE8E4D7F50}" type="datetimeFigureOut">
              <a:rPr lang="en-US" smtClean="0"/>
              <a:t>9/27/2022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F194D8-5C55-4B72-965F-01EEC7453D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25024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2685E6-50B0-4032-989D-44AE8E4D7F50}" type="datetimeFigureOut">
              <a:rPr lang="en-US" smtClean="0"/>
              <a:t>9/27/2022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F194D8-5C55-4B72-965F-01EEC7453D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68236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2685E6-50B0-4032-989D-44AE8E4D7F50}" type="datetimeFigureOut">
              <a:rPr lang="en-US" smtClean="0"/>
              <a:t>9/27/2022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F194D8-5C55-4B72-965F-01EEC7453D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28125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2685E6-50B0-4032-989D-44AE8E4D7F50}" type="datetimeFigureOut">
              <a:rPr lang="en-US" smtClean="0"/>
              <a:t>9/27/2022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F194D8-5C55-4B72-965F-01EEC7453D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85276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2685E6-50B0-4032-989D-44AE8E4D7F50}" type="datetimeFigureOut">
              <a:rPr lang="en-US" smtClean="0"/>
              <a:t>9/27/2022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F194D8-5C55-4B72-965F-01EEC7453D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45837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2685E6-50B0-4032-989D-44AE8E4D7F50}" type="datetimeFigureOut">
              <a:rPr lang="en-US" smtClean="0"/>
              <a:t>9/27/2022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F194D8-5C55-4B72-965F-01EEC7453D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64419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2685E6-50B0-4032-989D-44AE8E4D7F50}" type="datetimeFigureOut">
              <a:rPr lang="en-US" smtClean="0"/>
              <a:t>9/27/2022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F194D8-5C55-4B72-965F-01EEC7453D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36121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2685E6-50B0-4032-989D-44AE8E4D7F50}" type="datetimeFigureOut">
              <a:rPr lang="en-US" smtClean="0"/>
              <a:t>9/27/2022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F194D8-5C55-4B72-965F-01EEC7453D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61656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F2685E6-50B0-4032-989D-44AE8E4D7F50}" type="datetimeFigureOut">
              <a:rPr lang="en-US" smtClean="0"/>
              <a:t>9/27/2022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8F194D8-5C55-4B72-965F-01EEC7453D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02510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man7.org/linux/man-pages/man3/errno.3.html" TargetMode="Externa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err="1" smtClean="0"/>
              <a:t>pthreads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78835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pthreads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POSIX </a:t>
            </a:r>
            <a:r>
              <a:rPr lang="en-US" sz="2400" dirty="0" smtClean="0"/>
              <a:t>Threads</a:t>
            </a:r>
          </a:p>
          <a:p>
            <a:r>
              <a:rPr lang="en-US" sz="2400" dirty="0" err="1" smtClean="0"/>
              <a:t>Pthreads</a:t>
            </a:r>
            <a:endParaRPr lang="en-US" sz="2400" dirty="0" smtClean="0"/>
          </a:p>
          <a:p>
            <a:r>
              <a:rPr lang="en-US" sz="2400" dirty="0" smtClean="0"/>
              <a:t>is </a:t>
            </a:r>
            <a:r>
              <a:rPr lang="en-US" sz="2400" dirty="0"/>
              <a:t>an execution model that exists independently from a language, as well as a parallel execution model. </a:t>
            </a:r>
            <a:endParaRPr lang="en-US" sz="2400" dirty="0" smtClean="0"/>
          </a:p>
          <a:p>
            <a:r>
              <a:rPr lang="en-US" sz="2400" dirty="0" smtClean="0"/>
              <a:t>It </a:t>
            </a:r>
            <a:r>
              <a:rPr lang="en-US" sz="2400" dirty="0"/>
              <a:t>allows a program to control </a:t>
            </a:r>
            <a:r>
              <a:rPr lang="en-US" sz="2400" b="1" dirty="0">
                <a:solidFill>
                  <a:srgbClr val="0070C0"/>
                </a:solidFill>
              </a:rPr>
              <a:t>multiple different flows of work that overlap in time. </a:t>
            </a:r>
            <a:endParaRPr lang="en-US" sz="2400" b="1" dirty="0" smtClean="0">
              <a:solidFill>
                <a:srgbClr val="0070C0"/>
              </a:solidFill>
            </a:endParaRPr>
          </a:p>
          <a:p>
            <a:r>
              <a:rPr lang="en-US" sz="2400" dirty="0" smtClean="0"/>
              <a:t>Each </a:t>
            </a:r>
            <a:r>
              <a:rPr lang="en-US" sz="2400" dirty="0"/>
              <a:t>flow of work is referred to as a thread, and creation and control over these flows is achieved by making calls to the POSIX Threads API.</a:t>
            </a:r>
          </a:p>
        </p:txBody>
      </p:sp>
    </p:spTree>
    <p:extLst>
      <p:ext uri="{BB962C8B-B14F-4D97-AF65-F5344CB8AC3E}">
        <p14:creationId xmlns:p14="http://schemas.microsoft.com/office/powerpoint/2010/main" val="28583701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pthreads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It is implemented with a </a:t>
            </a:r>
            <a:r>
              <a:rPr lang="en-US" sz="2400" b="1" dirty="0" err="1">
                <a:solidFill>
                  <a:srgbClr val="0070C0"/>
                </a:solidFill>
              </a:rPr>
              <a:t>pthread.h</a:t>
            </a:r>
            <a:r>
              <a:rPr lang="en-US" sz="2400" b="1" dirty="0">
                <a:solidFill>
                  <a:srgbClr val="0070C0"/>
                </a:solidFill>
              </a:rPr>
              <a:t> header </a:t>
            </a:r>
            <a:r>
              <a:rPr lang="en-US" sz="2400" dirty="0"/>
              <a:t>and a thread library.</a:t>
            </a:r>
          </a:p>
          <a:p>
            <a:r>
              <a:rPr lang="en-US" sz="2400" dirty="0"/>
              <a:t>There are around </a:t>
            </a:r>
            <a:r>
              <a:rPr lang="en-US" sz="2400" b="1" dirty="0">
                <a:solidFill>
                  <a:srgbClr val="0070C0"/>
                </a:solidFill>
              </a:rPr>
              <a:t>100 threads procedures</a:t>
            </a:r>
            <a:r>
              <a:rPr lang="en-US" sz="2400" dirty="0"/>
              <a:t>, all prefixed </a:t>
            </a:r>
            <a:r>
              <a:rPr lang="en-US" sz="2400" b="1" dirty="0" err="1">
                <a:solidFill>
                  <a:srgbClr val="0070C0"/>
                </a:solidFill>
              </a:rPr>
              <a:t>pthread</a:t>
            </a:r>
            <a:r>
              <a:rPr lang="en-US" sz="2400" b="1" dirty="0">
                <a:solidFill>
                  <a:srgbClr val="0070C0"/>
                </a:solidFill>
              </a:rPr>
              <a:t>_ </a:t>
            </a:r>
          </a:p>
        </p:txBody>
      </p:sp>
    </p:spTree>
    <p:extLst>
      <p:ext uri="{BB962C8B-B14F-4D97-AF65-F5344CB8AC3E}">
        <p14:creationId xmlns:p14="http://schemas.microsoft.com/office/powerpoint/2010/main" val="13403334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Working with threads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arenR"/>
            </a:pPr>
            <a:r>
              <a:rPr lang="en-US" dirty="0"/>
              <a:t>Define thread reference </a:t>
            </a:r>
            <a:r>
              <a:rPr lang="en-US" dirty="0" smtClean="0"/>
              <a:t>variables</a:t>
            </a:r>
          </a:p>
          <a:p>
            <a:pPr marL="514350" indent="-514350">
              <a:buFont typeface="+mj-lt"/>
              <a:buAutoNum type="arabicParenR"/>
            </a:pPr>
            <a:r>
              <a:rPr lang="en-US" dirty="0"/>
              <a:t>Create an entry point for the </a:t>
            </a:r>
            <a:r>
              <a:rPr lang="en-US" dirty="0" smtClean="0"/>
              <a:t>thread</a:t>
            </a:r>
          </a:p>
          <a:p>
            <a:pPr marL="514350" indent="-514350">
              <a:buFont typeface="+mj-lt"/>
              <a:buAutoNum type="arabicParenR"/>
            </a:pPr>
            <a:r>
              <a:rPr lang="en-US" dirty="0"/>
              <a:t>Create the </a:t>
            </a:r>
            <a:r>
              <a:rPr lang="en-US" dirty="0" smtClean="0"/>
              <a:t>thread</a:t>
            </a:r>
          </a:p>
          <a:p>
            <a:pPr marL="514350" indent="-514350">
              <a:buFont typeface="+mj-lt"/>
              <a:buAutoNum type="arabicParenR"/>
            </a:pPr>
            <a:r>
              <a:rPr lang="en-US" dirty="0"/>
              <a:t>Join everything back up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6019800"/>
            <a:ext cx="78486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http://timmurphy.org/2010/05/04/pthreads-in-c-a-minimal-working-example/</a:t>
            </a:r>
          </a:p>
        </p:txBody>
      </p:sp>
    </p:spTree>
    <p:extLst>
      <p:ext uri="{BB962C8B-B14F-4D97-AF65-F5344CB8AC3E}">
        <p14:creationId xmlns:p14="http://schemas.microsoft.com/office/powerpoint/2010/main" val="25718027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Working with threads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indent="-514350">
              <a:buFont typeface="+mj-lt"/>
              <a:buAutoNum type="arabicParenR"/>
            </a:pPr>
            <a:r>
              <a:rPr lang="en-US" dirty="0" smtClean="0"/>
              <a:t>Create </a:t>
            </a:r>
            <a:r>
              <a:rPr lang="en-US" dirty="0"/>
              <a:t>an entry point for the </a:t>
            </a:r>
            <a:r>
              <a:rPr lang="en-US" dirty="0" smtClean="0"/>
              <a:t>thread-</a:t>
            </a:r>
          </a:p>
          <a:p>
            <a:pPr marL="0" indent="0">
              <a:buNone/>
            </a:pPr>
            <a:r>
              <a:rPr lang="en-US" sz="2400" dirty="0" smtClean="0"/>
              <a:t>When </a:t>
            </a:r>
            <a:r>
              <a:rPr lang="en-US" sz="2400" dirty="0"/>
              <a:t>creating a thread using </a:t>
            </a:r>
            <a:r>
              <a:rPr lang="en-US" sz="2400" dirty="0" err="1"/>
              <a:t>pthreads</a:t>
            </a:r>
            <a:r>
              <a:rPr lang="en-US" sz="2400" dirty="0"/>
              <a:t>, you need to point it to a function for it to start execution. </a:t>
            </a:r>
            <a:endParaRPr lang="en-US" sz="2400" dirty="0" smtClean="0"/>
          </a:p>
          <a:p>
            <a:pPr marL="0" indent="0">
              <a:buNone/>
            </a:pPr>
            <a:r>
              <a:rPr lang="en-US" sz="2400" dirty="0" smtClean="0"/>
              <a:t>The </a:t>
            </a:r>
            <a:r>
              <a:rPr lang="en-US" sz="2400" dirty="0"/>
              <a:t>function must return void * and take a single void * argument. </a:t>
            </a:r>
            <a:endParaRPr lang="en-US" sz="2400" dirty="0" smtClean="0"/>
          </a:p>
          <a:p>
            <a:pPr marL="0" indent="0">
              <a:buNone/>
            </a:pPr>
            <a:r>
              <a:rPr lang="en-US" sz="2400" dirty="0" smtClean="0"/>
              <a:t>For </a:t>
            </a:r>
            <a:r>
              <a:rPr lang="en-US" sz="2400" dirty="0"/>
              <a:t>example, if you want the function to take an integer argument, you will need to </a:t>
            </a:r>
            <a:r>
              <a:rPr lang="en-US" sz="2400" b="1" dirty="0">
                <a:solidFill>
                  <a:srgbClr val="0070C0"/>
                </a:solidFill>
              </a:rPr>
              <a:t>pass the address of the integer and dereference it later. </a:t>
            </a:r>
            <a:endParaRPr lang="en-US" sz="2400" b="1" dirty="0" smtClean="0">
              <a:solidFill>
                <a:srgbClr val="0070C0"/>
              </a:solidFill>
            </a:endParaRPr>
          </a:p>
          <a:p>
            <a:pPr marL="0" indent="0">
              <a:buNone/>
            </a:pPr>
            <a:r>
              <a:rPr lang="en-US" sz="2400" dirty="0"/>
              <a:t>An example function signature would be void *</a:t>
            </a:r>
            <a:r>
              <a:rPr lang="en-US" sz="2400" dirty="0" err="1"/>
              <a:t>my_entry_function</a:t>
            </a:r>
            <a:r>
              <a:rPr lang="en-US" sz="2400" dirty="0"/>
              <a:t>(void *</a:t>
            </a:r>
            <a:r>
              <a:rPr lang="en-US" sz="2400" dirty="0" err="1"/>
              <a:t>param</a:t>
            </a:r>
            <a:r>
              <a:rPr lang="en-US" sz="2400" dirty="0" smtClean="0"/>
              <a:t>);</a:t>
            </a:r>
          </a:p>
        </p:txBody>
      </p:sp>
    </p:spTree>
    <p:extLst>
      <p:ext uri="{BB962C8B-B14F-4D97-AF65-F5344CB8AC3E}">
        <p14:creationId xmlns:p14="http://schemas.microsoft.com/office/powerpoint/2010/main" val="812252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Pthread_t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The variable type </a:t>
            </a:r>
            <a:r>
              <a:rPr lang="en-US" sz="2400" dirty="0" err="1"/>
              <a:t>pthread_t</a:t>
            </a:r>
            <a:r>
              <a:rPr lang="en-US" sz="2400" dirty="0"/>
              <a:t> is </a:t>
            </a:r>
            <a:r>
              <a:rPr lang="en-US" sz="2400" dirty="0" smtClean="0"/>
              <a:t>a </a:t>
            </a:r>
            <a:r>
              <a:rPr lang="en-US" sz="2400" dirty="0"/>
              <a:t>means of referencing </a:t>
            </a:r>
            <a:r>
              <a:rPr lang="en-US" sz="2400" dirty="0" smtClean="0"/>
              <a:t>threads </a:t>
            </a:r>
          </a:p>
          <a:p>
            <a:r>
              <a:rPr lang="en-US" sz="2400" dirty="0" smtClean="0"/>
              <a:t>There </a:t>
            </a:r>
            <a:r>
              <a:rPr lang="en-US" sz="2400" dirty="0"/>
              <a:t>needs to be a </a:t>
            </a:r>
            <a:r>
              <a:rPr lang="en-US" sz="2400" dirty="0" err="1"/>
              <a:t>pthread_t</a:t>
            </a:r>
            <a:r>
              <a:rPr lang="en-US" sz="2400" dirty="0"/>
              <a:t> variable in existence for every thread being </a:t>
            </a:r>
            <a:r>
              <a:rPr lang="en-US" sz="2400" dirty="0" smtClean="0"/>
              <a:t>created</a:t>
            </a:r>
          </a:p>
          <a:p>
            <a:r>
              <a:rPr lang="en-US" sz="2400" dirty="0"/>
              <a:t>Something like </a:t>
            </a:r>
            <a:r>
              <a:rPr lang="en-US" sz="2400" dirty="0" err="1"/>
              <a:t>pthread_t</a:t>
            </a:r>
            <a:r>
              <a:rPr lang="en-US" sz="2400" dirty="0"/>
              <a:t> thread0; will do the </a:t>
            </a:r>
            <a:r>
              <a:rPr lang="en-US" sz="2400" dirty="0" smtClean="0"/>
              <a:t>trick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6293104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152400"/>
            <a:ext cx="8229600" cy="609600"/>
          </a:xfrm>
        </p:spPr>
        <p:txBody>
          <a:bodyPr>
            <a:normAutofit fontScale="90000"/>
          </a:bodyPr>
          <a:lstStyle/>
          <a:p>
            <a:r>
              <a:rPr lang="en-US" dirty="0" err="1" smtClean="0"/>
              <a:t>sem_init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90600"/>
            <a:ext cx="8229600" cy="513556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400" b="1" dirty="0"/>
              <a:t>SYNOPSIS       </a:t>
            </a:r>
            <a:endParaRPr lang="en-US" sz="2400" b="1" dirty="0" smtClean="0"/>
          </a:p>
          <a:p>
            <a:r>
              <a:rPr lang="en-US" sz="2400" b="1" dirty="0" smtClean="0"/>
              <a:t>#</a:t>
            </a:r>
            <a:r>
              <a:rPr lang="en-US" sz="2400" b="1" dirty="0"/>
              <a:t>include &lt;</a:t>
            </a:r>
            <a:r>
              <a:rPr lang="en-US" sz="2400" b="1" dirty="0" err="1"/>
              <a:t>semaphore.h</a:t>
            </a:r>
            <a:r>
              <a:rPr lang="en-US" sz="2400" b="1" dirty="0"/>
              <a:t>&gt;</a:t>
            </a:r>
            <a:r>
              <a:rPr lang="en-US" sz="2400" dirty="0" smtClean="0"/>
              <a:t> </a:t>
            </a:r>
          </a:p>
          <a:p>
            <a:r>
              <a:rPr lang="en-US" sz="2400" b="1" dirty="0" err="1" smtClean="0"/>
              <a:t>int</a:t>
            </a:r>
            <a:r>
              <a:rPr lang="en-US" sz="2400" b="1" dirty="0" smtClean="0"/>
              <a:t> </a:t>
            </a:r>
            <a:r>
              <a:rPr lang="en-US" sz="2400" b="1" dirty="0" err="1"/>
              <a:t>sem_init</a:t>
            </a:r>
            <a:r>
              <a:rPr lang="en-US" sz="2400" b="1" dirty="0"/>
              <a:t>(</a:t>
            </a:r>
            <a:r>
              <a:rPr lang="en-US" sz="2400" b="1" dirty="0" err="1"/>
              <a:t>sem_t</a:t>
            </a:r>
            <a:r>
              <a:rPr lang="en-US" sz="2400" b="1" dirty="0"/>
              <a:t> *</a:t>
            </a:r>
            <a:r>
              <a:rPr lang="en-US" sz="2400" i="1" dirty="0" err="1"/>
              <a:t>sem</a:t>
            </a:r>
            <a:r>
              <a:rPr lang="en-US" sz="2400" b="1" dirty="0"/>
              <a:t>, </a:t>
            </a:r>
            <a:r>
              <a:rPr lang="en-US" sz="2400" b="1" dirty="0" err="1"/>
              <a:t>int</a:t>
            </a:r>
            <a:r>
              <a:rPr lang="en-US" sz="2400" b="1" dirty="0"/>
              <a:t> </a:t>
            </a:r>
            <a:r>
              <a:rPr lang="en-US" sz="2400" i="1" dirty="0" err="1"/>
              <a:t>pshared</a:t>
            </a:r>
            <a:r>
              <a:rPr lang="en-US" sz="2400" b="1" dirty="0"/>
              <a:t>, unsigned </a:t>
            </a:r>
            <a:r>
              <a:rPr lang="en-US" sz="2400" b="1" dirty="0" err="1"/>
              <a:t>int</a:t>
            </a:r>
            <a:r>
              <a:rPr lang="en-US" sz="2400" b="1" dirty="0"/>
              <a:t> </a:t>
            </a:r>
            <a:r>
              <a:rPr lang="en-US" sz="2400" i="1" dirty="0"/>
              <a:t>value</a:t>
            </a:r>
            <a:r>
              <a:rPr lang="en-US" sz="2400" b="1" dirty="0"/>
              <a:t>);</a:t>
            </a:r>
            <a:r>
              <a:rPr lang="en-US" sz="2400" dirty="0" smtClean="0"/>
              <a:t> </a:t>
            </a:r>
          </a:p>
          <a:p>
            <a:r>
              <a:rPr lang="en-US" sz="2400" dirty="0" smtClean="0"/>
              <a:t>Link with </a:t>
            </a:r>
            <a:r>
              <a:rPr lang="en-US" sz="2400" i="1" dirty="0"/>
              <a:t>-</a:t>
            </a:r>
            <a:r>
              <a:rPr lang="en-US" sz="2400" i="1" dirty="0" err="1"/>
              <a:t>pthread</a:t>
            </a:r>
            <a:r>
              <a:rPr lang="en-US" sz="2400" dirty="0" smtClean="0"/>
              <a:t>.</a:t>
            </a:r>
          </a:p>
          <a:p>
            <a:endParaRPr lang="en-US" sz="2400" dirty="0"/>
          </a:p>
          <a:p>
            <a:r>
              <a:rPr lang="en-US" sz="2400" b="1" dirty="0" err="1" smtClean="0"/>
              <a:t>sem_init</a:t>
            </a:r>
            <a:r>
              <a:rPr lang="en-US" sz="2400" dirty="0" smtClean="0"/>
              <a:t>() initializes the unnamed semaphore at the address pointed to by </a:t>
            </a:r>
            <a:r>
              <a:rPr lang="en-US" sz="2400" i="1" dirty="0" err="1" smtClean="0"/>
              <a:t>sem</a:t>
            </a:r>
            <a:r>
              <a:rPr lang="en-US" sz="2400" dirty="0" smtClean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13840478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152400"/>
            <a:ext cx="8229600" cy="609600"/>
          </a:xfrm>
        </p:spPr>
        <p:txBody>
          <a:bodyPr>
            <a:normAutofit fontScale="90000"/>
          </a:bodyPr>
          <a:lstStyle/>
          <a:p>
            <a:r>
              <a:rPr lang="en-US" dirty="0" err="1" smtClean="0"/>
              <a:t>sem_init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90600"/>
            <a:ext cx="8229600" cy="513556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000" b="1" dirty="0" err="1"/>
              <a:t>int</a:t>
            </a:r>
            <a:r>
              <a:rPr lang="en-US" sz="2000" b="1" dirty="0"/>
              <a:t> </a:t>
            </a:r>
            <a:r>
              <a:rPr lang="en-US" sz="2000" b="1" dirty="0" err="1"/>
              <a:t>sem_init</a:t>
            </a:r>
            <a:r>
              <a:rPr lang="en-US" sz="2000" b="1" dirty="0"/>
              <a:t>(</a:t>
            </a:r>
            <a:r>
              <a:rPr lang="en-US" sz="2000" b="1" dirty="0" err="1"/>
              <a:t>sem_t</a:t>
            </a:r>
            <a:r>
              <a:rPr lang="en-US" sz="2000" b="1" dirty="0"/>
              <a:t> *</a:t>
            </a:r>
            <a:r>
              <a:rPr lang="en-US" sz="2000" i="1" dirty="0" err="1"/>
              <a:t>sem</a:t>
            </a:r>
            <a:r>
              <a:rPr lang="en-US" sz="2000" b="1" dirty="0"/>
              <a:t>, </a:t>
            </a:r>
            <a:r>
              <a:rPr lang="en-US" sz="2000" b="1" dirty="0" err="1"/>
              <a:t>int</a:t>
            </a:r>
            <a:r>
              <a:rPr lang="en-US" sz="2000" b="1" dirty="0"/>
              <a:t> </a:t>
            </a:r>
            <a:r>
              <a:rPr lang="en-US" sz="2000" i="1" dirty="0" err="1">
                <a:solidFill>
                  <a:srgbClr val="00B050"/>
                </a:solidFill>
              </a:rPr>
              <a:t>pshared</a:t>
            </a:r>
            <a:r>
              <a:rPr lang="en-US" sz="2000" b="1" dirty="0"/>
              <a:t>, unsigned </a:t>
            </a:r>
            <a:r>
              <a:rPr lang="en-US" sz="2000" b="1" dirty="0" err="1"/>
              <a:t>int</a:t>
            </a:r>
            <a:r>
              <a:rPr lang="en-US" sz="2000" b="1" dirty="0"/>
              <a:t> </a:t>
            </a:r>
            <a:r>
              <a:rPr lang="en-US" sz="2000" i="1" dirty="0">
                <a:solidFill>
                  <a:srgbClr val="00B050"/>
                </a:solidFill>
              </a:rPr>
              <a:t>value</a:t>
            </a:r>
            <a:r>
              <a:rPr lang="en-US" sz="2000" b="1" dirty="0"/>
              <a:t>);</a:t>
            </a:r>
            <a:r>
              <a:rPr lang="en-US" sz="2000" dirty="0"/>
              <a:t> </a:t>
            </a:r>
          </a:p>
          <a:p>
            <a:pPr marL="0" indent="0">
              <a:buNone/>
            </a:pPr>
            <a:r>
              <a:rPr lang="en-US" sz="2000" b="1" dirty="0" smtClean="0"/>
              <a:t>DESCRIPTION </a:t>
            </a:r>
            <a:r>
              <a:rPr lang="en-US" sz="2000" b="1" dirty="0"/>
              <a:t>    </a:t>
            </a:r>
            <a:endParaRPr lang="en-US" sz="2000" b="1" dirty="0" smtClean="0"/>
          </a:p>
          <a:p>
            <a:r>
              <a:rPr lang="en-US" sz="2000" dirty="0" smtClean="0"/>
              <a:t>The </a:t>
            </a:r>
            <a:r>
              <a:rPr lang="en-US" sz="2000" b="1" i="1" dirty="0">
                <a:solidFill>
                  <a:srgbClr val="0070C0"/>
                </a:solidFill>
              </a:rPr>
              <a:t>value</a:t>
            </a:r>
            <a:r>
              <a:rPr lang="en-US" sz="2000" dirty="0" smtClean="0"/>
              <a:t> argument specifies the </a:t>
            </a:r>
            <a:r>
              <a:rPr lang="en-US" sz="2000" b="1" dirty="0" smtClean="0">
                <a:solidFill>
                  <a:srgbClr val="00B050"/>
                </a:solidFill>
              </a:rPr>
              <a:t>initial value for the semaphore</a:t>
            </a:r>
            <a:r>
              <a:rPr lang="en-US" sz="2000" dirty="0" smtClean="0"/>
              <a:t>. </a:t>
            </a:r>
          </a:p>
          <a:p>
            <a:r>
              <a:rPr lang="en-US" sz="2000" dirty="0" smtClean="0"/>
              <a:t>The </a:t>
            </a:r>
            <a:r>
              <a:rPr lang="en-US" sz="2000" b="1" i="1" dirty="0" err="1">
                <a:solidFill>
                  <a:srgbClr val="0070C0"/>
                </a:solidFill>
              </a:rPr>
              <a:t>pshared</a:t>
            </a:r>
            <a:r>
              <a:rPr lang="en-US" sz="2000" dirty="0" smtClean="0"/>
              <a:t> argument indicates whether this semaphore is to be shared between the threads of a process, or between processes. </a:t>
            </a:r>
          </a:p>
          <a:p>
            <a:pPr lvl="1"/>
            <a:r>
              <a:rPr lang="en-US" sz="2000" b="1" dirty="0" smtClean="0">
                <a:solidFill>
                  <a:srgbClr val="0070C0"/>
                </a:solidFill>
              </a:rPr>
              <a:t>If </a:t>
            </a:r>
            <a:r>
              <a:rPr lang="en-US" sz="2000" b="1" i="1" dirty="0" err="1">
                <a:solidFill>
                  <a:srgbClr val="0070C0"/>
                </a:solidFill>
              </a:rPr>
              <a:t>pshared</a:t>
            </a:r>
            <a:r>
              <a:rPr lang="en-US" sz="2000" b="1" dirty="0" smtClean="0">
                <a:solidFill>
                  <a:srgbClr val="0070C0"/>
                </a:solidFill>
              </a:rPr>
              <a:t> has the </a:t>
            </a:r>
            <a:r>
              <a:rPr lang="en-US" sz="2000" b="1" dirty="0" smtClean="0">
                <a:solidFill>
                  <a:srgbClr val="00B050"/>
                </a:solidFill>
              </a:rPr>
              <a:t>value 0, then the semaphore is shared between the threads of a process</a:t>
            </a:r>
            <a:r>
              <a:rPr lang="en-US" sz="2000" dirty="0" smtClean="0">
                <a:solidFill>
                  <a:srgbClr val="00B050"/>
                </a:solidFill>
              </a:rPr>
              <a:t>,</a:t>
            </a:r>
            <a:r>
              <a:rPr lang="en-US" sz="2000" dirty="0" smtClean="0"/>
              <a:t> and should be located at some address that is visible to all threads (e.g., a global variable, or a variable allocated dynamically on the heap). </a:t>
            </a:r>
          </a:p>
          <a:p>
            <a:pPr lvl="1"/>
            <a:r>
              <a:rPr lang="en-US" sz="2000" b="1" dirty="0" smtClean="0">
                <a:solidFill>
                  <a:srgbClr val="0070C0"/>
                </a:solidFill>
              </a:rPr>
              <a:t>If </a:t>
            </a:r>
            <a:r>
              <a:rPr lang="en-US" sz="2000" b="1" i="1" dirty="0" err="1">
                <a:solidFill>
                  <a:srgbClr val="0070C0"/>
                </a:solidFill>
              </a:rPr>
              <a:t>pshared</a:t>
            </a:r>
            <a:r>
              <a:rPr lang="en-US" sz="2000" b="1" dirty="0" smtClean="0">
                <a:solidFill>
                  <a:srgbClr val="0070C0"/>
                </a:solidFill>
              </a:rPr>
              <a:t> is nonzero, then the semaphore is shared between processes, </a:t>
            </a:r>
            <a:r>
              <a:rPr lang="en-US" sz="2000" dirty="0" smtClean="0"/>
              <a:t>and should be located in a region of shared memory </a:t>
            </a:r>
          </a:p>
          <a:p>
            <a:r>
              <a:rPr lang="en-US" sz="2000" b="1" dirty="0" smtClean="0"/>
              <a:t>RETURN </a:t>
            </a:r>
            <a:r>
              <a:rPr lang="en-US" sz="2000" b="1" dirty="0"/>
              <a:t>VALUE      </a:t>
            </a:r>
          </a:p>
          <a:p>
            <a:r>
              <a:rPr lang="en-US" sz="2000" b="1" dirty="0" err="1"/>
              <a:t>sem_init</a:t>
            </a:r>
            <a:r>
              <a:rPr lang="en-US" sz="2000" dirty="0" smtClean="0"/>
              <a:t>() returns </a:t>
            </a:r>
            <a:r>
              <a:rPr lang="en-US" sz="2000" b="1" dirty="0" smtClean="0">
                <a:solidFill>
                  <a:srgbClr val="0070C0"/>
                </a:solidFill>
              </a:rPr>
              <a:t>0 on success; on error, -1 </a:t>
            </a:r>
            <a:r>
              <a:rPr lang="en-US" sz="2000" dirty="0" smtClean="0"/>
              <a:t>is returned, and </a:t>
            </a:r>
            <a:r>
              <a:rPr lang="en-US" sz="2000" i="1" dirty="0" err="1">
                <a:hlinkClick r:id="rId2"/>
              </a:rPr>
              <a:t>errno</a:t>
            </a:r>
            <a:r>
              <a:rPr lang="en-US" sz="2000" dirty="0" smtClean="0"/>
              <a:t> is set to indicate the error.</a:t>
            </a:r>
          </a:p>
          <a:p>
            <a:pPr marL="0" indent="0">
              <a:buNone/>
            </a:pPr>
            <a:r>
              <a:rPr lang="en-US" sz="2800" b="1" dirty="0" err="1" smtClean="0">
                <a:solidFill>
                  <a:srgbClr val="00B050"/>
                </a:solidFill>
              </a:rPr>
              <a:t>sem_init</a:t>
            </a:r>
            <a:r>
              <a:rPr lang="en-US" sz="2800" b="1" dirty="0">
                <a:solidFill>
                  <a:srgbClr val="00B050"/>
                </a:solidFill>
              </a:rPr>
              <a:t>(&amp;chopstick[</a:t>
            </a:r>
            <a:r>
              <a:rPr lang="en-US" sz="2800" b="1" dirty="0" err="1">
                <a:solidFill>
                  <a:srgbClr val="00B050"/>
                </a:solidFill>
              </a:rPr>
              <a:t>i</a:t>
            </a:r>
            <a:r>
              <a:rPr lang="en-US" sz="2800" b="1" dirty="0">
                <a:solidFill>
                  <a:srgbClr val="00B050"/>
                </a:solidFill>
              </a:rPr>
              <a:t>], 0, 1);</a:t>
            </a:r>
          </a:p>
        </p:txBody>
      </p:sp>
      <p:sp>
        <p:nvSpPr>
          <p:cNvPr id="4" name="Rectangle 3"/>
          <p:cNvSpPr/>
          <p:nvPr/>
        </p:nvSpPr>
        <p:spPr>
          <a:xfrm>
            <a:off x="838200" y="6474813"/>
            <a:ext cx="70104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smtClean="0"/>
              <a:t>https://www.man7.org/linux/man-pages/man3/sem_init.3.html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361182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err="1" smtClean="0"/>
              <a:t>sem_wait</a:t>
            </a:r>
            <a:r>
              <a:rPr lang="en-US" dirty="0" smtClean="0"/>
              <a:t>()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b="1" dirty="0"/>
              <a:t>SYNOPSIS         </a:t>
            </a:r>
            <a:endParaRPr lang="en-US" sz="2400" b="1" dirty="0" smtClean="0"/>
          </a:p>
          <a:p>
            <a:r>
              <a:rPr lang="en-US" sz="2400" b="1" dirty="0" smtClean="0"/>
              <a:t>#</a:t>
            </a:r>
            <a:r>
              <a:rPr lang="en-US" sz="2400" b="1" dirty="0"/>
              <a:t>include &lt;</a:t>
            </a:r>
            <a:r>
              <a:rPr lang="en-US" sz="2400" b="1" dirty="0" err="1"/>
              <a:t>semaphore.h</a:t>
            </a:r>
            <a:r>
              <a:rPr lang="en-US" sz="2400" b="1" dirty="0"/>
              <a:t>&gt;</a:t>
            </a:r>
            <a:r>
              <a:rPr lang="en-US" sz="2400" dirty="0" smtClean="0"/>
              <a:t> </a:t>
            </a:r>
          </a:p>
          <a:p>
            <a:r>
              <a:rPr lang="en-US" sz="2400" b="1" dirty="0" err="1" smtClean="0"/>
              <a:t>int</a:t>
            </a:r>
            <a:r>
              <a:rPr lang="en-US" sz="2400" b="1" dirty="0" smtClean="0"/>
              <a:t> </a:t>
            </a:r>
            <a:r>
              <a:rPr lang="en-US" sz="2400" b="1" dirty="0" err="1"/>
              <a:t>sem_wait</a:t>
            </a:r>
            <a:r>
              <a:rPr lang="en-US" sz="2400" b="1" dirty="0"/>
              <a:t>(</a:t>
            </a:r>
            <a:r>
              <a:rPr lang="en-US" sz="2400" b="1" dirty="0" err="1"/>
              <a:t>sem_t</a:t>
            </a:r>
            <a:r>
              <a:rPr lang="en-US" sz="2400" b="1" dirty="0"/>
              <a:t> *</a:t>
            </a:r>
            <a:r>
              <a:rPr lang="en-US" sz="2400" i="1" dirty="0" err="1"/>
              <a:t>sem</a:t>
            </a:r>
            <a:r>
              <a:rPr lang="en-US" sz="2400" b="1" dirty="0"/>
              <a:t>);</a:t>
            </a:r>
            <a:r>
              <a:rPr lang="en-US" sz="2400" dirty="0" smtClean="0"/>
              <a:t> </a:t>
            </a:r>
            <a:endParaRPr lang="en-US" sz="2400" b="1" dirty="0"/>
          </a:p>
          <a:p>
            <a:r>
              <a:rPr lang="en-US" sz="2400" dirty="0" smtClean="0"/>
              <a:t>Link with </a:t>
            </a:r>
            <a:r>
              <a:rPr lang="en-US" sz="2400" i="1" dirty="0"/>
              <a:t>-</a:t>
            </a:r>
            <a:r>
              <a:rPr lang="en-US" sz="2400" i="1" dirty="0" err="1"/>
              <a:t>pthread</a:t>
            </a:r>
            <a:r>
              <a:rPr lang="en-US" sz="2400" dirty="0" smtClean="0"/>
              <a:t>.</a:t>
            </a:r>
          </a:p>
          <a:p>
            <a:r>
              <a:rPr lang="en-US" sz="2400" b="1" dirty="0" err="1" smtClean="0"/>
              <a:t>sem_wait</a:t>
            </a:r>
            <a:r>
              <a:rPr lang="en-US" sz="2400" dirty="0" smtClean="0"/>
              <a:t>() decrements (locks) the semaphore pointed to by </a:t>
            </a:r>
            <a:r>
              <a:rPr lang="en-US" sz="2400" i="1" dirty="0" smtClean="0"/>
              <a:t>sem</a:t>
            </a:r>
            <a:r>
              <a:rPr lang="en-US" sz="2400" dirty="0" smtClean="0"/>
              <a:t>. </a:t>
            </a:r>
          </a:p>
          <a:p>
            <a:pPr marL="0" indent="0">
              <a:buNone/>
            </a:pPr>
            <a:endParaRPr lang="en-US" sz="2400" dirty="0" smtClean="0">
              <a:solidFill>
                <a:srgbClr val="00B050"/>
              </a:solidFill>
            </a:endParaRPr>
          </a:p>
          <a:p>
            <a:pPr marL="0" indent="0">
              <a:buNone/>
            </a:pPr>
            <a:r>
              <a:rPr lang="en-US" sz="2400" b="1" dirty="0" err="1" smtClean="0">
                <a:solidFill>
                  <a:srgbClr val="00B050"/>
                </a:solidFill>
              </a:rPr>
              <a:t>sem_wait</a:t>
            </a:r>
            <a:r>
              <a:rPr lang="en-US" sz="2400" b="1" dirty="0">
                <a:solidFill>
                  <a:srgbClr val="00B050"/>
                </a:solidFill>
              </a:rPr>
              <a:t>(&amp;chopstick[</a:t>
            </a:r>
            <a:r>
              <a:rPr lang="en-US" sz="2400" b="1" dirty="0" err="1">
                <a:solidFill>
                  <a:srgbClr val="00B050"/>
                </a:solidFill>
              </a:rPr>
              <a:t>i</a:t>
            </a:r>
            <a:r>
              <a:rPr lang="en-US" sz="2400" b="1" dirty="0">
                <a:solidFill>
                  <a:srgbClr val="00B050"/>
                </a:solidFill>
              </a:rPr>
              <a:t>]);</a:t>
            </a:r>
          </a:p>
          <a:p>
            <a:pPr marL="0" indent="0">
              <a:buNone/>
            </a:pPr>
            <a:r>
              <a:rPr lang="en-US" sz="2400" b="1" dirty="0" err="1" smtClean="0">
                <a:solidFill>
                  <a:srgbClr val="00B050"/>
                </a:solidFill>
              </a:rPr>
              <a:t>sem_wait</a:t>
            </a:r>
            <a:r>
              <a:rPr lang="en-US" sz="2400" b="1" dirty="0">
                <a:solidFill>
                  <a:srgbClr val="00B050"/>
                </a:solidFill>
              </a:rPr>
              <a:t>(&amp;chopstick[(i+1)%5]);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0219529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err="1" smtClean="0"/>
              <a:t>sem_wait</a:t>
            </a:r>
            <a:r>
              <a:rPr lang="en-US" dirty="0" smtClean="0"/>
              <a:t>()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dirty="0" smtClean="0"/>
              <a:t>If the semaphore's value is greater than zero, </a:t>
            </a:r>
          </a:p>
          <a:p>
            <a:pPr lvl="1"/>
            <a:r>
              <a:rPr lang="en-US" sz="2000" dirty="0" smtClean="0"/>
              <a:t>then the decrement proceeds, and the function returns, immediately. </a:t>
            </a:r>
          </a:p>
          <a:p>
            <a:r>
              <a:rPr lang="en-US" sz="2000" dirty="0" smtClean="0"/>
              <a:t>If the semaphore currently has the value zero, then the call blocks until </a:t>
            </a:r>
          </a:p>
          <a:p>
            <a:pPr lvl="1"/>
            <a:r>
              <a:rPr lang="en-US" sz="2000" dirty="0" smtClean="0"/>
              <a:t>either it becomes possible to perform the decrement (i.e., the semaphore value rises above zero), </a:t>
            </a:r>
          </a:p>
          <a:p>
            <a:pPr lvl="1"/>
            <a:r>
              <a:rPr lang="en-US" sz="2000" dirty="0" smtClean="0"/>
              <a:t>or a signal handler interrupts the call.</a:t>
            </a:r>
          </a:p>
          <a:p>
            <a:pPr lvl="1"/>
            <a:endParaRPr lang="en-US" sz="2000" dirty="0"/>
          </a:p>
          <a:p>
            <a:r>
              <a:rPr lang="en-US" sz="2000" b="1" dirty="0"/>
              <a:t>RETURN VALUE         </a:t>
            </a:r>
            <a:endParaRPr lang="en-US" sz="2000" b="1" dirty="0" smtClean="0"/>
          </a:p>
          <a:p>
            <a:r>
              <a:rPr lang="en-US" sz="2000" dirty="0" smtClean="0"/>
              <a:t>All of these functions return 0 on success; </a:t>
            </a:r>
          </a:p>
          <a:p>
            <a:r>
              <a:rPr lang="en-US" sz="2000" dirty="0" smtClean="0"/>
              <a:t>on error, the value of the semaphore is left unchanged,</a:t>
            </a:r>
          </a:p>
          <a:p>
            <a:pPr lvl="1"/>
            <a:r>
              <a:rPr lang="en-US" sz="2000" dirty="0" smtClean="0"/>
              <a:t> -1 is returned, and </a:t>
            </a:r>
            <a:r>
              <a:rPr lang="en-US" sz="2000" i="1" dirty="0" err="1" smtClean="0"/>
              <a:t>errno</a:t>
            </a:r>
            <a:r>
              <a:rPr lang="en-US" sz="2000" dirty="0" smtClean="0"/>
              <a:t> is set to indicate the error.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414735540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sem_post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 err="1" smtClean="0"/>
              <a:t>sem_post</a:t>
            </a:r>
            <a:r>
              <a:rPr lang="en-US" sz="2400" dirty="0" smtClean="0"/>
              <a:t> - unlock a semaphore </a:t>
            </a:r>
          </a:p>
          <a:p>
            <a:r>
              <a:rPr lang="en-US" sz="2400" b="1" dirty="0" smtClean="0"/>
              <a:t>SYNOPSIS </a:t>
            </a:r>
            <a:r>
              <a:rPr lang="en-US" sz="2400" b="1" dirty="0"/>
              <a:t>        </a:t>
            </a:r>
            <a:endParaRPr lang="en-US" sz="2400" b="1" dirty="0" smtClean="0"/>
          </a:p>
          <a:p>
            <a:r>
              <a:rPr lang="en-US" sz="2400" b="1" dirty="0" smtClean="0"/>
              <a:t>#</a:t>
            </a:r>
            <a:r>
              <a:rPr lang="en-US" sz="2400" b="1" dirty="0"/>
              <a:t>include &lt;</a:t>
            </a:r>
            <a:r>
              <a:rPr lang="en-US" sz="2400" b="1" dirty="0" err="1"/>
              <a:t>semaphore.h</a:t>
            </a:r>
            <a:r>
              <a:rPr lang="en-US" sz="2400" b="1" dirty="0"/>
              <a:t>&gt;</a:t>
            </a:r>
            <a:r>
              <a:rPr lang="en-US" sz="2400" dirty="0" smtClean="0"/>
              <a:t> </a:t>
            </a:r>
          </a:p>
          <a:p>
            <a:r>
              <a:rPr lang="en-US" sz="2400" b="1" dirty="0" err="1" smtClean="0"/>
              <a:t>int</a:t>
            </a:r>
            <a:r>
              <a:rPr lang="en-US" sz="2400" b="1" dirty="0" smtClean="0"/>
              <a:t> </a:t>
            </a:r>
            <a:r>
              <a:rPr lang="en-US" sz="2400" b="1" dirty="0" err="1"/>
              <a:t>sem_post</a:t>
            </a:r>
            <a:r>
              <a:rPr lang="en-US" sz="2400" b="1" dirty="0"/>
              <a:t>(</a:t>
            </a:r>
            <a:r>
              <a:rPr lang="en-US" sz="2400" b="1" dirty="0" err="1"/>
              <a:t>sem_t</a:t>
            </a:r>
            <a:r>
              <a:rPr lang="en-US" sz="2400" b="1" dirty="0"/>
              <a:t> *</a:t>
            </a:r>
            <a:r>
              <a:rPr lang="en-US" sz="2400" i="1" dirty="0" err="1"/>
              <a:t>sem</a:t>
            </a:r>
            <a:r>
              <a:rPr lang="en-US" sz="2400" b="1" dirty="0"/>
              <a:t>);</a:t>
            </a:r>
            <a:r>
              <a:rPr lang="en-US" sz="2400" dirty="0" smtClean="0"/>
              <a:t> </a:t>
            </a:r>
          </a:p>
          <a:p>
            <a:r>
              <a:rPr lang="en-US" sz="2400" dirty="0" smtClean="0"/>
              <a:t>Link with </a:t>
            </a:r>
            <a:r>
              <a:rPr lang="en-US" sz="2400" i="1" dirty="0" smtClean="0"/>
              <a:t>–</a:t>
            </a:r>
            <a:r>
              <a:rPr lang="en-US" sz="2400" i="1" dirty="0" err="1" smtClean="0"/>
              <a:t>pthread</a:t>
            </a:r>
            <a:endParaRPr lang="en-US" sz="2400" dirty="0"/>
          </a:p>
          <a:p>
            <a:endParaRPr lang="en-US" sz="2400" dirty="0" smtClean="0"/>
          </a:p>
          <a:p>
            <a:pPr marL="0" indent="0">
              <a:buNone/>
            </a:pPr>
            <a:r>
              <a:rPr lang="en-US" sz="2400" b="1" dirty="0" err="1">
                <a:solidFill>
                  <a:srgbClr val="00B050"/>
                </a:solidFill>
              </a:rPr>
              <a:t>sem_post</a:t>
            </a:r>
            <a:r>
              <a:rPr lang="en-US" sz="2400" b="1" dirty="0">
                <a:solidFill>
                  <a:srgbClr val="00B050"/>
                </a:solidFill>
              </a:rPr>
              <a:t>(&amp;chopstick[(i+1)%5]);</a:t>
            </a:r>
          </a:p>
          <a:p>
            <a:pPr marL="0" indent="0">
              <a:buNone/>
            </a:pPr>
            <a:r>
              <a:rPr lang="en-US" sz="2400" b="1" dirty="0" err="1" smtClean="0">
                <a:solidFill>
                  <a:srgbClr val="00B050"/>
                </a:solidFill>
              </a:rPr>
              <a:t>sem_post</a:t>
            </a:r>
            <a:r>
              <a:rPr lang="en-US" sz="2400" b="1" dirty="0">
                <a:solidFill>
                  <a:srgbClr val="00B050"/>
                </a:solidFill>
              </a:rPr>
              <a:t>(&amp;chopstick[</a:t>
            </a:r>
            <a:r>
              <a:rPr lang="en-US" sz="2400" b="1" dirty="0" err="1">
                <a:solidFill>
                  <a:srgbClr val="00B050"/>
                </a:solidFill>
              </a:rPr>
              <a:t>i</a:t>
            </a:r>
            <a:r>
              <a:rPr lang="en-US" sz="2400" b="1" dirty="0">
                <a:solidFill>
                  <a:srgbClr val="00B050"/>
                </a:solidFill>
              </a:rPr>
              <a:t>]);</a:t>
            </a:r>
          </a:p>
          <a:p>
            <a:endParaRPr lang="en-US" sz="2400" dirty="0" smtClean="0"/>
          </a:p>
        </p:txBody>
      </p:sp>
    </p:spTree>
    <p:extLst>
      <p:ext uri="{BB962C8B-B14F-4D97-AF65-F5344CB8AC3E}">
        <p14:creationId xmlns:p14="http://schemas.microsoft.com/office/powerpoint/2010/main" val="347226895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sem_post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b="1" dirty="0" smtClean="0"/>
              <a:t>DESCRIPTION </a:t>
            </a:r>
            <a:r>
              <a:rPr lang="en-US" sz="2400" b="1" dirty="0"/>
              <a:t>       </a:t>
            </a:r>
            <a:r>
              <a:rPr lang="en-US" sz="2400" b="1" dirty="0" err="1" smtClean="0"/>
              <a:t>sem_post</a:t>
            </a:r>
            <a:r>
              <a:rPr lang="en-US" sz="2400" dirty="0" smtClean="0"/>
              <a:t>() increments (unlocks) the semaphore pointed to by </a:t>
            </a:r>
            <a:r>
              <a:rPr lang="en-US" sz="2400" i="1" dirty="0"/>
              <a:t>sem</a:t>
            </a:r>
            <a:r>
              <a:rPr lang="en-US" sz="2400" dirty="0" smtClean="0"/>
              <a:t>. </a:t>
            </a:r>
          </a:p>
          <a:p>
            <a:r>
              <a:rPr lang="en-US" sz="2400" dirty="0" smtClean="0"/>
              <a:t>If the semaphore's value consequently becomes greater than zero, </a:t>
            </a:r>
          </a:p>
          <a:p>
            <a:r>
              <a:rPr lang="en-US" sz="2400" dirty="0" smtClean="0"/>
              <a:t>then another process or thread blocked in a </a:t>
            </a:r>
            <a:r>
              <a:rPr lang="en-US" sz="2400" dirty="0" err="1" smtClean="0"/>
              <a:t>sem_wait</a:t>
            </a:r>
            <a:r>
              <a:rPr lang="en-US" sz="2400" dirty="0" smtClean="0"/>
              <a:t> call will be woken up and proceed to lock the semaphore.</a:t>
            </a:r>
          </a:p>
          <a:p>
            <a:r>
              <a:rPr lang="en-US" sz="2400" b="1" dirty="0"/>
              <a:t>RETURN VALUE         </a:t>
            </a:r>
            <a:endParaRPr lang="en-US" sz="2400" b="1" dirty="0" smtClean="0"/>
          </a:p>
          <a:p>
            <a:r>
              <a:rPr lang="en-US" sz="2400" b="1" dirty="0" err="1" smtClean="0"/>
              <a:t>sem_post</a:t>
            </a:r>
            <a:r>
              <a:rPr lang="en-US" sz="2400" dirty="0" smtClean="0"/>
              <a:t>() returns 0 on success; </a:t>
            </a:r>
          </a:p>
          <a:p>
            <a:pPr lvl="1"/>
            <a:r>
              <a:rPr lang="en-US" sz="2000" dirty="0" smtClean="0"/>
              <a:t>on error, the value of the semaphore is left unchanged, </a:t>
            </a:r>
          </a:p>
          <a:p>
            <a:pPr lvl="1"/>
            <a:r>
              <a:rPr lang="en-US" sz="2000" dirty="0" smtClean="0"/>
              <a:t>-1 is returned, and </a:t>
            </a:r>
            <a:r>
              <a:rPr lang="en-US" sz="2000" dirty="0" err="1" smtClean="0"/>
              <a:t>errnois</a:t>
            </a:r>
            <a:r>
              <a:rPr lang="en-US" sz="2000" dirty="0" smtClean="0"/>
              <a:t> set to indicate the error.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52236848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pthread_create</a:t>
            </a:r>
            <a:r>
              <a:rPr lang="en-US" dirty="0" smtClean="0"/>
              <a:t>()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 err="1" smtClean="0"/>
              <a:t>pthread_create</a:t>
            </a:r>
            <a:r>
              <a:rPr lang="en-US" sz="2400" dirty="0" smtClean="0"/>
              <a:t> - create a new thread </a:t>
            </a:r>
          </a:p>
          <a:p>
            <a:endParaRPr lang="en-US" sz="2400" b="1" dirty="0"/>
          </a:p>
          <a:p>
            <a:pPr marL="0" indent="0">
              <a:buNone/>
            </a:pPr>
            <a:r>
              <a:rPr lang="en-US" sz="2400" b="1" dirty="0" smtClean="0"/>
              <a:t>SYNOPSIS </a:t>
            </a:r>
            <a:r>
              <a:rPr lang="en-US" sz="2400" b="1" dirty="0"/>
              <a:t>        </a:t>
            </a:r>
            <a:endParaRPr lang="en-US" sz="2400" b="1" dirty="0" smtClean="0"/>
          </a:p>
          <a:p>
            <a:r>
              <a:rPr lang="en-US" sz="2400" b="1" dirty="0" smtClean="0"/>
              <a:t>#</a:t>
            </a:r>
            <a:r>
              <a:rPr lang="en-US" sz="2400" b="1" dirty="0"/>
              <a:t>include &lt;</a:t>
            </a:r>
            <a:r>
              <a:rPr lang="en-US" sz="2400" b="1" dirty="0" err="1"/>
              <a:t>pthread.h</a:t>
            </a:r>
            <a:r>
              <a:rPr lang="en-US" sz="2400" b="1" dirty="0"/>
              <a:t>&gt;</a:t>
            </a:r>
            <a:r>
              <a:rPr lang="en-US" sz="2400" dirty="0" smtClean="0"/>
              <a:t> </a:t>
            </a:r>
          </a:p>
          <a:p>
            <a:r>
              <a:rPr lang="en-US" sz="2400" b="1" dirty="0" err="1" smtClean="0"/>
              <a:t>int</a:t>
            </a:r>
            <a:r>
              <a:rPr lang="en-US" sz="2400" b="1" dirty="0" smtClean="0"/>
              <a:t> </a:t>
            </a:r>
            <a:r>
              <a:rPr lang="en-US" sz="2400" b="1" dirty="0" err="1"/>
              <a:t>pthread_create</a:t>
            </a:r>
            <a:r>
              <a:rPr lang="en-US" sz="2400" b="1" dirty="0"/>
              <a:t>(</a:t>
            </a:r>
            <a:r>
              <a:rPr lang="en-US" sz="2400" b="1" dirty="0" err="1"/>
              <a:t>pthread_t</a:t>
            </a:r>
            <a:r>
              <a:rPr lang="en-US" sz="2400" b="1" dirty="0"/>
              <a:t> *</a:t>
            </a:r>
            <a:r>
              <a:rPr lang="en-US" sz="2400" i="1" dirty="0"/>
              <a:t>thread</a:t>
            </a:r>
            <a:r>
              <a:rPr lang="en-US" sz="2400" b="1" dirty="0"/>
              <a:t>, </a:t>
            </a:r>
            <a:r>
              <a:rPr lang="en-US" sz="2400" b="1" dirty="0" err="1"/>
              <a:t>const</a:t>
            </a:r>
            <a:r>
              <a:rPr lang="en-US" sz="2400" b="1" dirty="0"/>
              <a:t> </a:t>
            </a:r>
            <a:r>
              <a:rPr lang="en-US" sz="2400" b="1" dirty="0" err="1"/>
              <a:t>pthread_attr_t</a:t>
            </a:r>
            <a:r>
              <a:rPr lang="en-US" sz="2400" b="1" dirty="0"/>
              <a:t> *</a:t>
            </a:r>
            <a:r>
              <a:rPr lang="en-US" sz="2400" i="1" dirty="0" err="1"/>
              <a:t>attr</a:t>
            </a:r>
            <a:r>
              <a:rPr lang="en-US" sz="2400" b="1" dirty="0"/>
              <a:t>,</a:t>
            </a:r>
            <a:r>
              <a:rPr lang="en-US" sz="2400" dirty="0" smtClean="0"/>
              <a:t> </a:t>
            </a:r>
            <a:r>
              <a:rPr lang="en-US" sz="2400" b="1" dirty="0"/>
              <a:t>void *(*</a:t>
            </a:r>
            <a:r>
              <a:rPr lang="en-US" sz="2400" i="1" dirty="0" err="1"/>
              <a:t>start_routine</a:t>
            </a:r>
            <a:r>
              <a:rPr lang="en-US" sz="2400" b="1" dirty="0"/>
              <a:t>) (void *), void *</a:t>
            </a:r>
            <a:r>
              <a:rPr lang="en-US" sz="2400" i="1" dirty="0" err="1"/>
              <a:t>arg</a:t>
            </a:r>
            <a:r>
              <a:rPr lang="en-US" sz="2400" b="1" dirty="0"/>
              <a:t>);</a:t>
            </a:r>
            <a:r>
              <a:rPr lang="en-US" sz="2400" dirty="0" smtClean="0"/>
              <a:t> </a:t>
            </a:r>
          </a:p>
          <a:p>
            <a:r>
              <a:rPr lang="en-US" sz="2400" dirty="0" smtClean="0"/>
              <a:t>Compile and link with </a:t>
            </a:r>
            <a:r>
              <a:rPr lang="en-US" sz="2400" i="1" dirty="0"/>
              <a:t>-</a:t>
            </a:r>
            <a:r>
              <a:rPr lang="en-US" sz="2400" i="1" dirty="0" err="1"/>
              <a:t>pthread</a:t>
            </a:r>
            <a:r>
              <a:rPr lang="en-US" sz="2400" dirty="0" smtClean="0"/>
              <a:t>. </a:t>
            </a:r>
            <a:endParaRPr lang="en-US" sz="2400" dirty="0"/>
          </a:p>
        </p:txBody>
      </p:sp>
      <p:sp>
        <p:nvSpPr>
          <p:cNvPr id="4" name="Rectangle 3"/>
          <p:cNvSpPr/>
          <p:nvPr/>
        </p:nvSpPr>
        <p:spPr>
          <a:xfrm>
            <a:off x="381000" y="6096000"/>
            <a:ext cx="76962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smtClean="0"/>
              <a:t>https://man7.org/linux/man-pages/man3/pthread_create.3.html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1212745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pthread_create</a:t>
            </a:r>
            <a:r>
              <a:rPr lang="en-US" dirty="0" smtClean="0"/>
              <a:t>()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 err="1"/>
              <a:t>int</a:t>
            </a:r>
            <a:r>
              <a:rPr lang="en-US" sz="2400" b="1" dirty="0"/>
              <a:t> </a:t>
            </a:r>
            <a:r>
              <a:rPr lang="en-US" sz="2400" b="1" dirty="0" err="1"/>
              <a:t>pthread_create</a:t>
            </a:r>
            <a:r>
              <a:rPr lang="en-US" sz="2400" b="1" dirty="0"/>
              <a:t>(</a:t>
            </a:r>
            <a:r>
              <a:rPr lang="en-US" sz="2400" b="1" dirty="0" err="1"/>
              <a:t>pthread_t</a:t>
            </a:r>
            <a:r>
              <a:rPr lang="en-US" sz="2400" b="1" dirty="0"/>
              <a:t> *</a:t>
            </a:r>
            <a:r>
              <a:rPr lang="en-US" sz="2400" i="1" dirty="0"/>
              <a:t>thread</a:t>
            </a:r>
            <a:r>
              <a:rPr lang="en-US" sz="2400" b="1" dirty="0"/>
              <a:t>, </a:t>
            </a:r>
            <a:r>
              <a:rPr lang="en-US" sz="2400" b="1" dirty="0" err="1"/>
              <a:t>const</a:t>
            </a:r>
            <a:r>
              <a:rPr lang="en-US" sz="2400" b="1" dirty="0"/>
              <a:t> </a:t>
            </a:r>
            <a:r>
              <a:rPr lang="en-US" sz="2400" b="1" dirty="0" err="1"/>
              <a:t>pthread_attr_t</a:t>
            </a:r>
            <a:r>
              <a:rPr lang="en-US" sz="2400" b="1" dirty="0"/>
              <a:t> *</a:t>
            </a:r>
            <a:r>
              <a:rPr lang="en-US" sz="2400" i="1" dirty="0" err="1"/>
              <a:t>attr</a:t>
            </a:r>
            <a:r>
              <a:rPr lang="en-US" sz="2400" b="1" dirty="0"/>
              <a:t>,</a:t>
            </a:r>
            <a:r>
              <a:rPr lang="en-US" sz="2400" dirty="0"/>
              <a:t> </a:t>
            </a:r>
            <a:r>
              <a:rPr lang="en-US" sz="2400" b="1" dirty="0">
                <a:solidFill>
                  <a:srgbClr val="00B050"/>
                </a:solidFill>
              </a:rPr>
              <a:t>void *(*</a:t>
            </a:r>
            <a:r>
              <a:rPr lang="en-US" sz="2400" i="1" dirty="0" err="1">
                <a:solidFill>
                  <a:srgbClr val="00B050"/>
                </a:solidFill>
              </a:rPr>
              <a:t>start_routine</a:t>
            </a:r>
            <a:r>
              <a:rPr lang="en-US" sz="2400" b="1" dirty="0">
                <a:solidFill>
                  <a:srgbClr val="00B050"/>
                </a:solidFill>
              </a:rPr>
              <a:t>) </a:t>
            </a:r>
            <a:r>
              <a:rPr lang="en-US" sz="2400" b="1" dirty="0"/>
              <a:t>(void *), void *</a:t>
            </a:r>
            <a:r>
              <a:rPr lang="en-US" sz="2400" i="1" dirty="0" err="1">
                <a:solidFill>
                  <a:srgbClr val="00B050"/>
                </a:solidFill>
              </a:rPr>
              <a:t>arg</a:t>
            </a:r>
            <a:r>
              <a:rPr lang="en-US" sz="2400" b="1" dirty="0"/>
              <a:t>);</a:t>
            </a:r>
            <a:r>
              <a:rPr lang="en-US" sz="2400" dirty="0"/>
              <a:t> </a:t>
            </a:r>
            <a:endParaRPr lang="en-US" sz="2400" dirty="0" smtClean="0"/>
          </a:p>
          <a:p>
            <a:endParaRPr lang="en-US" sz="2400" dirty="0"/>
          </a:p>
          <a:p>
            <a:pPr marL="0" indent="0">
              <a:buNone/>
            </a:pPr>
            <a:r>
              <a:rPr lang="en-US" sz="2400" b="1" dirty="0" smtClean="0"/>
              <a:t>DESCRIPTION </a:t>
            </a:r>
            <a:r>
              <a:rPr lang="en-US" sz="2400" b="1" dirty="0"/>
              <a:t>       </a:t>
            </a:r>
            <a:endParaRPr lang="en-US" sz="2400" b="1" dirty="0" smtClean="0"/>
          </a:p>
          <a:p>
            <a:r>
              <a:rPr lang="en-US" sz="2400" dirty="0" smtClean="0"/>
              <a:t>The </a:t>
            </a:r>
            <a:r>
              <a:rPr lang="en-US" sz="2400" b="1" dirty="0" err="1"/>
              <a:t>pthread_create</a:t>
            </a:r>
            <a:r>
              <a:rPr lang="en-US" sz="2400" dirty="0" smtClean="0"/>
              <a:t>() function starts a new thread in the calling process. </a:t>
            </a:r>
          </a:p>
          <a:p>
            <a:r>
              <a:rPr lang="en-US" sz="2400" b="1" dirty="0" smtClean="0">
                <a:solidFill>
                  <a:srgbClr val="00B050"/>
                </a:solidFill>
              </a:rPr>
              <a:t>The new thread starts execution by invoking </a:t>
            </a:r>
            <a:r>
              <a:rPr lang="en-US" sz="2400" b="1" i="1" dirty="0" err="1">
                <a:solidFill>
                  <a:srgbClr val="00B050"/>
                </a:solidFill>
              </a:rPr>
              <a:t>start_routine</a:t>
            </a:r>
            <a:r>
              <a:rPr lang="en-US" sz="2400" b="1" dirty="0" smtClean="0">
                <a:solidFill>
                  <a:srgbClr val="00B050"/>
                </a:solidFill>
              </a:rPr>
              <a:t>(); </a:t>
            </a:r>
          </a:p>
          <a:p>
            <a:r>
              <a:rPr lang="en-US" sz="2400" b="1" i="1" dirty="0" err="1" smtClean="0">
                <a:solidFill>
                  <a:srgbClr val="00B050"/>
                </a:solidFill>
              </a:rPr>
              <a:t>arg</a:t>
            </a:r>
            <a:r>
              <a:rPr lang="en-US" sz="2400" b="1" dirty="0" smtClean="0">
                <a:solidFill>
                  <a:srgbClr val="00B050"/>
                </a:solidFill>
              </a:rPr>
              <a:t> is passed as the sole argument of </a:t>
            </a:r>
            <a:r>
              <a:rPr lang="en-US" sz="2400" b="1" i="1" dirty="0" err="1">
                <a:solidFill>
                  <a:srgbClr val="00B050"/>
                </a:solidFill>
              </a:rPr>
              <a:t>start_routine</a:t>
            </a:r>
            <a:r>
              <a:rPr lang="en-US" sz="2400" b="1" dirty="0" smtClean="0">
                <a:solidFill>
                  <a:srgbClr val="00B050"/>
                </a:solidFill>
              </a:rPr>
              <a:t>(). </a:t>
            </a:r>
          </a:p>
          <a:p>
            <a:endParaRPr lang="en-US" sz="2400" b="1" dirty="0">
              <a:solidFill>
                <a:srgbClr val="00B050"/>
              </a:solidFill>
            </a:endParaRPr>
          </a:p>
          <a:p>
            <a:pPr marL="0" indent="0">
              <a:buNone/>
            </a:pPr>
            <a:r>
              <a:rPr lang="en-US" sz="2400" dirty="0" err="1">
                <a:solidFill>
                  <a:srgbClr val="0070C0"/>
                </a:solidFill>
              </a:rPr>
              <a:t>pthread_create</a:t>
            </a:r>
            <a:r>
              <a:rPr lang="en-US" sz="2400" dirty="0">
                <a:solidFill>
                  <a:srgbClr val="0070C0"/>
                </a:solidFill>
              </a:rPr>
              <a:t>(&amp;philosopher[</a:t>
            </a:r>
            <a:r>
              <a:rPr lang="en-US" sz="2400" dirty="0" err="1">
                <a:solidFill>
                  <a:srgbClr val="0070C0"/>
                </a:solidFill>
              </a:rPr>
              <a:t>i</a:t>
            </a:r>
            <a:r>
              <a:rPr lang="en-US" sz="2400" dirty="0">
                <a:solidFill>
                  <a:srgbClr val="0070C0"/>
                </a:solidFill>
              </a:rPr>
              <a:t>], NULL, </a:t>
            </a:r>
            <a:r>
              <a:rPr lang="en-US" sz="2400" b="1" dirty="0">
                <a:solidFill>
                  <a:srgbClr val="00B050"/>
                </a:solidFill>
              </a:rPr>
              <a:t>eat</a:t>
            </a:r>
            <a:r>
              <a:rPr lang="en-US" sz="2400" dirty="0">
                <a:solidFill>
                  <a:srgbClr val="0070C0"/>
                </a:solidFill>
              </a:rPr>
              <a:t>, (void*)</a:t>
            </a:r>
            <a:r>
              <a:rPr lang="en-US" sz="2400" dirty="0" err="1">
                <a:solidFill>
                  <a:srgbClr val="00B050"/>
                </a:solidFill>
              </a:rPr>
              <a:t>i</a:t>
            </a:r>
            <a:r>
              <a:rPr lang="en-US" sz="2400" dirty="0">
                <a:solidFill>
                  <a:srgbClr val="0070C0"/>
                </a:solidFill>
              </a:rPr>
              <a:t>);</a:t>
            </a:r>
          </a:p>
          <a:p>
            <a:endParaRPr lang="en-US" sz="2400" dirty="0" smtClean="0"/>
          </a:p>
        </p:txBody>
      </p:sp>
      <p:sp>
        <p:nvSpPr>
          <p:cNvPr id="4" name="Rectangle 3"/>
          <p:cNvSpPr/>
          <p:nvPr/>
        </p:nvSpPr>
        <p:spPr>
          <a:xfrm>
            <a:off x="381000" y="6096000"/>
            <a:ext cx="76962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smtClean="0"/>
              <a:t>https://man7.org/linux/man-pages/man3/pthread_create.3.html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914810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411162"/>
          </a:xfrm>
        </p:spPr>
        <p:txBody>
          <a:bodyPr>
            <a:normAutofit fontScale="90000"/>
          </a:bodyPr>
          <a:lstStyle/>
          <a:p>
            <a:r>
              <a:rPr lang="en-US" dirty="0" err="1" smtClean="0"/>
              <a:t>pthread_create</a:t>
            </a:r>
            <a:r>
              <a:rPr lang="en-US" dirty="0" smtClean="0"/>
              <a:t>()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43000"/>
            <a:ext cx="8229600" cy="452596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400" b="1" dirty="0" err="1"/>
              <a:t>int</a:t>
            </a:r>
            <a:r>
              <a:rPr lang="en-US" sz="2400" b="1" dirty="0"/>
              <a:t> </a:t>
            </a:r>
            <a:r>
              <a:rPr lang="en-US" sz="2400" b="1" dirty="0" err="1"/>
              <a:t>pthread_create</a:t>
            </a:r>
            <a:r>
              <a:rPr lang="en-US" sz="2400" b="1" dirty="0"/>
              <a:t>(</a:t>
            </a:r>
            <a:r>
              <a:rPr lang="en-US" sz="2400" b="1" dirty="0" err="1"/>
              <a:t>pthread_t</a:t>
            </a:r>
            <a:r>
              <a:rPr lang="en-US" sz="2400" b="1" dirty="0"/>
              <a:t> *</a:t>
            </a:r>
            <a:r>
              <a:rPr lang="en-US" sz="2400" i="1" dirty="0"/>
              <a:t>thread</a:t>
            </a:r>
            <a:r>
              <a:rPr lang="en-US" sz="2400" b="1" dirty="0"/>
              <a:t>, </a:t>
            </a:r>
            <a:r>
              <a:rPr lang="en-US" sz="2400" b="1" dirty="0" err="1"/>
              <a:t>const</a:t>
            </a:r>
            <a:r>
              <a:rPr lang="en-US" sz="2400" b="1" dirty="0"/>
              <a:t> </a:t>
            </a:r>
            <a:r>
              <a:rPr lang="en-US" sz="2400" b="1" dirty="0" err="1"/>
              <a:t>pthread_attr_t</a:t>
            </a:r>
            <a:r>
              <a:rPr lang="en-US" sz="2400" b="1" dirty="0"/>
              <a:t> *</a:t>
            </a:r>
            <a:r>
              <a:rPr lang="en-US" sz="2400" i="1" dirty="0" err="1"/>
              <a:t>attr</a:t>
            </a:r>
            <a:r>
              <a:rPr lang="en-US" sz="2400" b="1" dirty="0"/>
              <a:t>,</a:t>
            </a:r>
            <a:r>
              <a:rPr lang="en-US" sz="2400" dirty="0"/>
              <a:t> </a:t>
            </a:r>
            <a:r>
              <a:rPr lang="en-US" sz="2400" b="1" dirty="0"/>
              <a:t>void *(*</a:t>
            </a:r>
            <a:r>
              <a:rPr lang="en-US" sz="2400" i="1" dirty="0" err="1"/>
              <a:t>start_routine</a:t>
            </a:r>
            <a:r>
              <a:rPr lang="en-US" sz="2400" b="1" dirty="0"/>
              <a:t>) (void *), void *</a:t>
            </a:r>
            <a:r>
              <a:rPr lang="en-US" sz="2400" i="1" dirty="0" err="1"/>
              <a:t>arg</a:t>
            </a:r>
            <a:r>
              <a:rPr lang="en-US" sz="2400" b="1" dirty="0"/>
              <a:t>);</a:t>
            </a:r>
            <a:r>
              <a:rPr lang="en-US" sz="2400" dirty="0"/>
              <a:t> </a:t>
            </a:r>
          </a:p>
          <a:p>
            <a:pPr marL="0" indent="0">
              <a:buNone/>
            </a:pPr>
            <a:endParaRPr lang="en-US" sz="2400" dirty="0" smtClean="0">
              <a:solidFill>
                <a:srgbClr val="0070C0"/>
              </a:solidFill>
            </a:endParaRPr>
          </a:p>
          <a:p>
            <a:pPr marL="0" indent="0">
              <a:buNone/>
            </a:pPr>
            <a:r>
              <a:rPr lang="en-US" sz="2400" dirty="0" err="1" smtClean="0">
                <a:solidFill>
                  <a:srgbClr val="0070C0"/>
                </a:solidFill>
              </a:rPr>
              <a:t>pthread_create</a:t>
            </a:r>
            <a:r>
              <a:rPr lang="en-US" sz="2400" dirty="0">
                <a:solidFill>
                  <a:srgbClr val="0070C0"/>
                </a:solidFill>
              </a:rPr>
              <a:t>(&amp;philosopher[</a:t>
            </a:r>
            <a:r>
              <a:rPr lang="en-US" sz="2400" dirty="0" err="1">
                <a:solidFill>
                  <a:srgbClr val="0070C0"/>
                </a:solidFill>
              </a:rPr>
              <a:t>i</a:t>
            </a:r>
            <a:r>
              <a:rPr lang="en-US" sz="2400" dirty="0">
                <a:solidFill>
                  <a:srgbClr val="0070C0"/>
                </a:solidFill>
              </a:rPr>
              <a:t>], NULL, eat, (void*)</a:t>
            </a:r>
            <a:r>
              <a:rPr lang="en-US" sz="2400" dirty="0" err="1">
                <a:solidFill>
                  <a:srgbClr val="0070C0"/>
                </a:solidFill>
              </a:rPr>
              <a:t>i</a:t>
            </a:r>
            <a:r>
              <a:rPr lang="en-US" sz="2400" dirty="0" smtClean="0">
                <a:solidFill>
                  <a:srgbClr val="0070C0"/>
                </a:solidFill>
              </a:rPr>
              <a:t>);</a:t>
            </a:r>
          </a:p>
          <a:p>
            <a:endParaRPr lang="en-US" sz="2400" dirty="0"/>
          </a:p>
          <a:p>
            <a:r>
              <a:rPr lang="en-US" sz="2400" dirty="0" smtClean="0"/>
              <a:t>The </a:t>
            </a:r>
            <a:r>
              <a:rPr lang="en-US" sz="2400" i="1" dirty="0" err="1"/>
              <a:t>attr</a:t>
            </a:r>
            <a:r>
              <a:rPr lang="en-US" sz="2400" dirty="0" smtClean="0"/>
              <a:t> argument points to a </a:t>
            </a:r>
            <a:r>
              <a:rPr lang="en-US" sz="2400" i="1" dirty="0" err="1"/>
              <a:t>pthread_attr_t</a:t>
            </a:r>
            <a:r>
              <a:rPr lang="en-US" sz="2400" dirty="0" smtClean="0"/>
              <a:t> structure whose contents are used at thread creation time to determine attributes for the new thread; </a:t>
            </a:r>
          </a:p>
          <a:p>
            <a:r>
              <a:rPr lang="en-US" sz="2400" b="1" dirty="0" smtClean="0">
                <a:solidFill>
                  <a:srgbClr val="0070C0"/>
                </a:solidFill>
              </a:rPr>
              <a:t>If </a:t>
            </a:r>
            <a:r>
              <a:rPr lang="en-US" sz="2400" b="1" i="1" dirty="0" err="1">
                <a:solidFill>
                  <a:srgbClr val="0070C0"/>
                </a:solidFill>
              </a:rPr>
              <a:t>attr</a:t>
            </a:r>
            <a:r>
              <a:rPr lang="en-US" sz="2400" b="1" dirty="0" smtClean="0">
                <a:solidFill>
                  <a:srgbClr val="0070C0"/>
                </a:solidFill>
              </a:rPr>
              <a:t> is NULL, then the thread is created with default attributes</a:t>
            </a:r>
          </a:p>
          <a:p>
            <a:endParaRPr lang="en-US" sz="2400" b="1" dirty="0" smtClean="0"/>
          </a:p>
        </p:txBody>
      </p:sp>
    </p:spTree>
    <p:extLst>
      <p:ext uri="{BB962C8B-B14F-4D97-AF65-F5344CB8AC3E}">
        <p14:creationId xmlns:p14="http://schemas.microsoft.com/office/powerpoint/2010/main" val="415592711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411162"/>
          </a:xfrm>
        </p:spPr>
        <p:txBody>
          <a:bodyPr>
            <a:normAutofit fontScale="90000"/>
          </a:bodyPr>
          <a:lstStyle/>
          <a:p>
            <a:r>
              <a:rPr lang="en-US" dirty="0" err="1" smtClean="0"/>
              <a:t>pthread_create</a:t>
            </a:r>
            <a:r>
              <a:rPr lang="en-US" dirty="0" smtClean="0"/>
              <a:t>()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43000"/>
            <a:ext cx="8229600" cy="452596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400" b="1" dirty="0" err="1"/>
              <a:t>int</a:t>
            </a:r>
            <a:r>
              <a:rPr lang="en-US" sz="2400" b="1" dirty="0"/>
              <a:t> </a:t>
            </a:r>
            <a:r>
              <a:rPr lang="en-US" sz="2400" b="1" dirty="0" err="1"/>
              <a:t>pthread_create</a:t>
            </a:r>
            <a:r>
              <a:rPr lang="en-US" sz="2400" b="1" dirty="0"/>
              <a:t>(</a:t>
            </a:r>
            <a:r>
              <a:rPr lang="en-US" sz="2400" b="1" dirty="0" err="1"/>
              <a:t>pthread_t</a:t>
            </a:r>
            <a:r>
              <a:rPr lang="en-US" sz="2400" b="1" dirty="0"/>
              <a:t> *</a:t>
            </a:r>
            <a:r>
              <a:rPr lang="en-US" sz="2400" i="1" dirty="0"/>
              <a:t>thread</a:t>
            </a:r>
            <a:r>
              <a:rPr lang="en-US" sz="2400" b="1" dirty="0"/>
              <a:t>, </a:t>
            </a:r>
            <a:r>
              <a:rPr lang="en-US" sz="2400" b="1" dirty="0" err="1"/>
              <a:t>const</a:t>
            </a:r>
            <a:r>
              <a:rPr lang="en-US" sz="2400" b="1" dirty="0"/>
              <a:t> </a:t>
            </a:r>
            <a:r>
              <a:rPr lang="en-US" sz="2400" b="1" dirty="0" err="1"/>
              <a:t>pthread_attr_t</a:t>
            </a:r>
            <a:r>
              <a:rPr lang="en-US" sz="2400" b="1" dirty="0"/>
              <a:t> *</a:t>
            </a:r>
            <a:r>
              <a:rPr lang="en-US" sz="2400" i="1" dirty="0" err="1"/>
              <a:t>attr</a:t>
            </a:r>
            <a:r>
              <a:rPr lang="en-US" sz="2400" b="1" dirty="0"/>
              <a:t>,</a:t>
            </a:r>
            <a:r>
              <a:rPr lang="en-US" sz="2400" dirty="0"/>
              <a:t> </a:t>
            </a:r>
            <a:r>
              <a:rPr lang="en-US" sz="2400" b="1" dirty="0"/>
              <a:t>void *(*</a:t>
            </a:r>
            <a:r>
              <a:rPr lang="en-US" sz="2400" i="1" dirty="0" err="1"/>
              <a:t>start_routine</a:t>
            </a:r>
            <a:r>
              <a:rPr lang="en-US" sz="2400" b="1" dirty="0"/>
              <a:t>) (void *), void *</a:t>
            </a:r>
            <a:r>
              <a:rPr lang="en-US" sz="2400" i="1" dirty="0" err="1"/>
              <a:t>arg</a:t>
            </a:r>
            <a:r>
              <a:rPr lang="en-US" sz="2400" b="1" dirty="0"/>
              <a:t>);</a:t>
            </a:r>
            <a:r>
              <a:rPr lang="en-US" sz="2400" dirty="0"/>
              <a:t> </a:t>
            </a:r>
          </a:p>
          <a:p>
            <a:pPr marL="0" indent="0">
              <a:buNone/>
            </a:pPr>
            <a:endParaRPr lang="en-US" sz="2400" dirty="0" smtClean="0">
              <a:solidFill>
                <a:srgbClr val="0070C0"/>
              </a:solidFill>
            </a:endParaRPr>
          </a:p>
          <a:p>
            <a:pPr marL="0" indent="0">
              <a:buNone/>
            </a:pPr>
            <a:r>
              <a:rPr lang="en-US" sz="2400" dirty="0" err="1" smtClean="0">
                <a:solidFill>
                  <a:srgbClr val="0070C0"/>
                </a:solidFill>
              </a:rPr>
              <a:t>pthread_create</a:t>
            </a:r>
            <a:r>
              <a:rPr lang="en-US" sz="2400" dirty="0">
                <a:solidFill>
                  <a:srgbClr val="0070C0"/>
                </a:solidFill>
              </a:rPr>
              <a:t>(&amp;philosopher[</a:t>
            </a:r>
            <a:r>
              <a:rPr lang="en-US" sz="2400" dirty="0" err="1">
                <a:solidFill>
                  <a:srgbClr val="0070C0"/>
                </a:solidFill>
              </a:rPr>
              <a:t>i</a:t>
            </a:r>
            <a:r>
              <a:rPr lang="en-US" sz="2400" dirty="0">
                <a:solidFill>
                  <a:srgbClr val="0070C0"/>
                </a:solidFill>
              </a:rPr>
              <a:t>], NULL, eat, (void*)</a:t>
            </a:r>
            <a:r>
              <a:rPr lang="en-US" sz="2400" dirty="0" err="1">
                <a:solidFill>
                  <a:srgbClr val="0070C0"/>
                </a:solidFill>
              </a:rPr>
              <a:t>i</a:t>
            </a:r>
            <a:r>
              <a:rPr lang="en-US" sz="2400" dirty="0" smtClean="0">
                <a:solidFill>
                  <a:srgbClr val="0070C0"/>
                </a:solidFill>
              </a:rPr>
              <a:t>);</a:t>
            </a:r>
          </a:p>
          <a:p>
            <a:endParaRPr lang="en-US" sz="2400" dirty="0"/>
          </a:p>
          <a:p>
            <a:r>
              <a:rPr lang="en-US" sz="2400" b="1" dirty="0" smtClean="0"/>
              <a:t>RETURN </a:t>
            </a:r>
            <a:r>
              <a:rPr lang="en-US" sz="2400" b="1" dirty="0"/>
              <a:t>VALUE        </a:t>
            </a:r>
            <a:endParaRPr lang="en-US" sz="2400" b="1" dirty="0" smtClean="0"/>
          </a:p>
          <a:p>
            <a:r>
              <a:rPr lang="en-US" sz="2400" dirty="0" smtClean="0"/>
              <a:t>On success, </a:t>
            </a:r>
            <a:r>
              <a:rPr lang="en-US" sz="2400" b="1" dirty="0" err="1"/>
              <a:t>pthread_create</a:t>
            </a:r>
            <a:r>
              <a:rPr lang="en-US" sz="2400" dirty="0" smtClean="0"/>
              <a:t>() returns 0; </a:t>
            </a:r>
          </a:p>
          <a:p>
            <a:r>
              <a:rPr lang="en-US" sz="2400" dirty="0" smtClean="0"/>
              <a:t>On error, it returns an error number, and the contents of </a:t>
            </a:r>
            <a:r>
              <a:rPr lang="en-US" sz="2400" i="1" dirty="0"/>
              <a:t>*thread</a:t>
            </a:r>
            <a:r>
              <a:rPr lang="en-US" sz="2400" dirty="0" smtClean="0"/>
              <a:t> are undefined.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04346751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pthread_join</a:t>
            </a:r>
            <a:r>
              <a:rPr lang="en-US" dirty="0" smtClean="0"/>
              <a:t>()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US" dirty="0" err="1" smtClean="0"/>
              <a:t>pthread_join</a:t>
            </a:r>
            <a:r>
              <a:rPr lang="en-US" dirty="0" smtClean="0"/>
              <a:t> - join with a terminated thread </a:t>
            </a:r>
          </a:p>
          <a:p>
            <a:pPr marL="0" indent="0">
              <a:buNone/>
            </a:pPr>
            <a:r>
              <a:rPr lang="en-US" b="1" dirty="0" smtClean="0"/>
              <a:t>SYNOPSIS </a:t>
            </a:r>
            <a:r>
              <a:rPr lang="en-US" b="1" dirty="0"/>
              <a:t>        </a:t>
            </a:r>
            <a:endParaRPr lang="en-US" b="1" dirty="0" smtClean="0"/>
          </a:p>
          <a:p>
            <a:r>
              <a:rPr lang="en-US" b="1" dirty="0" smtClean="0"/>
              <a:t>#</a:t>
            </a:r>
            <a:r>
              <a:rPr lang="en-US" b="1" dirty="0"/>
              <a:t>include &lt;</a:t>
            </a:r>
            <a:r>
              <a:rPr lang="en-US" b="1" dirty="0" err="1"/>
              <a:t>pthread.h</a:t>
            </a:r>
            <a:r>
              <a:rPr lang="en-US" b="1" dirty="0"/>
              <a:t>&gt;</a:t>
            </a:r>
            <a:r>
              <a:rPr lang="en-US" dirty="0" smtClean="0"/>
              <a:t> </a:t>
            </a:r>
          </a:p>
          <a:p>
            <a:r>
              <a:rPr lang="en-US" b="1" dirty="0" err="1" smtClean="0"/>
              <a:t>int</a:t>
            </a:r>
            <a:r>
              <a:rPr lang="en-US" b="1" dirty="0" smtClean="0"/>
              <a:t> </a:t>
            </a:r>
            <a:r>
              <a:rPr lang="en-US" b="1" dirty="0" err="1"/>
              <a:t>pthread_join</a:t>
            </a:r>
            <a:r>
              <a:rPr lang="en-US" b="1" dirty="0"/>
              <a:t>(</a:t>
            </a:r>
            <a:r>
              <a:rPr lang="en-US" b="1" dirty="0" err="1"/>
              <a:t>pthread_t</a:t>
            </a:r>
            <a:r>
              <a:rPr lang="en-US" b="1" dirty="0"/>
              <a:t> </a:t>
            </a:r>
            <a:r>
              <a:rPr lang="en-US" i="1" dirty="0"/>
              <a:t>thread</a:t>
            </a:r>
            <a:r>
              <a:rPr lang="en-US" b="1" dirty="0"/>
              <a:t>, void **</a:t>
            </a:r>
            <a:r>
              <a:rPr lang="en-US" i="1" dirty="0" err="1"/>
              <a:t>retval</a:t>
            </a:r>
            <a:r>
              <a:rPr lang="en-US" b="1" dirty="0"/>
              <a:t>);</a:t>
            </a:r>
            <a:r>
              <a:rPr lang="en-US" dirty="0" smtClean="0"/>
              <a:t> </a:t>
            </a:r>
          </a:p>
          <a:p>
            <a:r>
              <a:rPr lang="en-US" dirty="0" smtClean="0"/>
              <a:t>Compile and link with </a:t>
            </a:r>
            <a:r>
              <a:rPr lang="en-US" i="1" dirty="0"/>
              <a:t>-</a:t>
            </a:r>
            <a:r>
              <a:rPr lang="en-US" i="1" dirty="0" err="1" smtClean="0"/>
              <a:t>pthread</a:t>
            </a:r>
            <a:r>
              <a:rPr lang="en-US" dirty="0" smtClean="0"/>
              <a:t>.</a:t>
            </a:r>
          </a:p>
          <a:p>
            <a:pPr marL="0" indent="0">
              <a:buNone/>
            </a:pPr>
            <a:r>
              <a:rPr lang="en-US" b="1" dirty="0" smtClean="0"/>
              <a:t>DESCRIPTION </a:t>
            </a:r>
            <a:r>
              <a:rPr lang="en-US" b="1" dirty="0"/>
              <a:t>       </a:t>
            </a:r>
            <a:endParaRPr lang="en-US" b="1" dirty="0" smtClean="0"/>
          </a:p>
          <a:p>
            <a:r>
              <a:rPr lang="en-US" dirty="0" smtClean="0"/>
              <a:t>The </a:t>
            </a:r>
            <a:r>
              <a:rPr lang="en-US" b="1" dirty="0" err="1"/>
              <a:t>pthread_join</a:t>
            </a:r>
            <a:r>
              <a:rPr lang="en-US" dirty="0" smtClean="0"/>
              <a:t>() function waits for the thread specified by </a:t>
            </a:r>
            <a:r>
              <a:rPr lang="en-US" i="1" dirty="0"/>
              <a:t>thread</a:t>
            </a:r>
            <a:r>
              <a:rPr lang="en-US" dirty="0" smtClean="0"/>
              <a:t> to terminate. </a:t>
            </a:r>
          </a:p>
          <a:p>
            <a:r>
              <a:rPr lang="en-US" dirty="0" smtClean="0"/>
              <a:t>If that thread has already terminated, then </a:t>
            </a:r>
            <a:r>
              <a:rPr lang="en-US" b="1" dirty="0" err="1"/>
              <a:t>pthread_join</a:t>
            </a:r>
            <a:r>
              <a:rPr lang="en-US" dirty="0" smtClean="0"/>
              <a:t>() returns immediately. </a:t>
            </a:r>
          </a:p>
          <a:p>
            <a:r>
              <a:rPr lang="en-US" dirty="0" smtClean="0"/>
              <a:t>The thread specified by </a:t>
            </a:r>
            <a:r>
              <a:rPr lang="en-US" i="1" dirty="0"/>
              <a:t>thread</a:t>
            </a:r>
            <a:r>
              <a:rPr lang="en-US" dirty="0" smtClean="0"/>
              <a:t> must be joinable. </a:t>
            </a:r>
          </a:p>
          <a:p>
            <a:pPr marL="0" indent="0">
              <a:buNone/>
            </a:pPr>
            <a:r>
              <a:rPr lang="en-US" b="1" dirty="0"/>
              <a:t>RETURN VALUE         </a:t>
            </a:r>
            <a:endParaRPr lang="en-US" b="1" dirty="0" smtClean="0"/>
          </a:p>
          <a:p>
            <a:r>
              <a:rPr lang="en-US" dirty="0" smtClean="0"/>
              <a:t>On success, </a:t>
            </a:r>
            <a:r>
              <a:rPr lang="en-US" b="1" dirty="0" err="1"/>
              <a:t>pthread_join</a:t>
            </a:r>
            <a:r>
              <a:rPr lang="en-US" dirty="0" smtClean="0"/>
              <a:t>() returns 0; on error, it returns an error number.</a:t>
            </a:r>
            <a:br>
              <a:rPr lang="en-US" dirty="0" smtClean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281123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0"/>
            <a:ext cx="4343400" cy="6705600"/>
          </a:xfrm>
        </p:spPr>
        <p:txBody>
          <a:bodyPr>
            <a:normAutofit fontScale="40000" lnSpcReduction="20000"/>
          </a:bodyPr>
          <a:lstStyle/>
          <a:p>
            <a:pPr marL="0" indent="0" fontAlgn="base">
              <a:buNone/>
            </a:pPr>
            <a:r>
              <a:rPr lang="en-US" sz="4000" dirty="0"/>
              <a:t>#include &lt;</a:t>
            </a:r>
            <a:r>
              <a:rPr lang="en-US" sz="4000" dirty="0" err="1"/>
              <a:t>stdio.h</a:t>
            </a:r>
            <a:r>
              <a:rPr lang="en-US" sz="4000" dirty="0"/>
              <a:t>&gt; </a:t>
            </a:r>
          </a:p>
          <a:p>
            <a:pPr marL="0" indent="0" fontAlgn="base">
              <a:buNone/>
            </a:pPr>
            <a:r>
              <a:rPr lang="en-US" sz="4000" dirty="0"/>
              <a:t>#include &lt;</a:t>
            </a:r>
            <a:r>
              <a:rPr lang="en-US" sz="4000" dirty="0" err="1"/>
              <a:t>stdlib.h</a:t>
            </a:r>
            <a:r>
              <a:rPr lang="en-US" sz="4000" dirty="0"/>
              <a:t>&gt; </a:t>
            </a:r>
          </a:p>
          <a:p>
            <a:pPr marL="0" indent="0" fontAlgn="base">
              <a:buNone/>
            </a:pPr>
            <a:r>
              <a:rPr lang="en-US" sz="4000" dirty="0"/>
              <a:t>#include &lt;</a:t>
            </a:r>
            <a:r>
              <a:rPr lang="en-US" sz="4000" dirty="0" err="1"/>
              <a:t>unistd.h</a:t>
            </a:r>
            <a:r>
              <a:rPr lang="en-US" sz="4000" dirty="0"/>
              <a:t>&gt;  //Header file for </a:t>
            </a:r>
            <a:r>
              <a:rPr lang="en-US" sz="4000" dirty="0" smtClean="0"/>
              <a:t>sleep()</a:t>
            </a:r>
            <a:endParaRPr lang="en-US" sz="4000" dirty="0"/>
          </a:p>
          <a:p>
            <a:pPr marL="0" indent="0" fontAlgn="base">
              <a:buNone/>
            </a:pPr>
            <a:r>
              <a:rPr lang="en-US" sz="4000" dirty="0"/>
              <a:t>#include &lt;</a:t>
            </a:r>
            <a:r>
              <a:rPr lang="en-US" sz="4000" dirty="0" err="1"/>
              <a:t>pthread.h</a:t>
            </a:r>
            <a:r>
              <a:rPr lang="en-US" sz="4000" dirty="0"/>
              <a:t>&gt; </a:t>
            </a:r>
          </a:p>
          <a:p>
            <a:pPr marL="0" indent="0" fontAlgn="base">
              <a:buNone/>
            </a:pPr>
            <a:r>
              <a:rPr lang="en-US" sz="4000" dirty="0"/>
              <a:t>  </a:t>
            </a:r>
          </a:p>
          <a:p>
            <a:pPr marL="0" indent="0" fontAlgn="base">
              <a:buNone/>
            </a:pPr>
            <a:r>
              <a:rPr lang="en-US" sz="4000" dirty="0"/>
              <a:t>// A normal C function that is executed as a thread  </a:t>
            </a:r>
          </a:p>
          <a:p>
            <a:pPr marL="0" indent="0" fontAlgn="base">
              <a:buNone/>
            </a:pPr>
            <a:r>
              <a:rPr lang="en-US" sz="4000" dirty="0"/>
              <a:t>// when its name is specified in </a:t>
            </a:r>
            <a:r>
              <a:rPr lang="en-US" sz="4000" dirty="0" err="1"/>
              <a:t>pthread_create</a:t>
            </a:r>
            <a:r>
              <a:rPr lang="en-US" sz="4000" dirty="0"/>
              <a:t>() </a:t>
            </a:r>
          </a:p>
          <a:p>
            <a:pPr marL="0" indent="0" fontAlgn="base">
              <a:buNone/>
            </a:pPr>
            <a:r>
              <a:rPr lang="en-US" sz="4000" dirty="0"/>
              <a:t>void *</a:t>
            </a:r>
            <a:r>
              <a:rPr lang="en-US" sz="4000" dirty="0" err="1"/>
              <a:t>myThreadFun</a:t>
            </a:r>
            <a:r>
              <a:rPr lang="en-US" sz="4000" dirty="0"/>
              <a:t>(void *</a:t>
            </a:r>
            <a:r>
              <a:rPr lang="en-US" sz="4000" dirty="0" err="1"/>
              <a:t>vargp</a:t>
            </a:r>
            <a:r>
              <a:rPr lang="en-US" sz="4000" dirty="0"/>
              <a:t>) </a:t>
            </a:r>
          </a:p>
          <a:p>
            <a:pPr marL="0" indent="0" fontAlgn="base">
              <a:buNone/>
            </a:pPr>
            <a:r>
              <a:rPr lang="en-US" sz="4000" dirty="0"/>
              <a:t>{ </a:t>
            </a:r>
          </a:p>
          <a:p>
            <a:pPr marL="0" indent="0" fontAlgn="base">
              <a:buNone/>
            </a:pPr>
            <a:r>
              <a:rPr lang="en-US" sz="4000" dirty="0"/>
              <a:t>    sleep(1); </a:t>
            </a:r>
          </a:p>
          <a:p>
            <a:pPr marL="0" indent="0" fontAlgn="base">
              <a:buNone/>
            </a:pPr>
            <a:r>
              <a:rPr lang="en-US" sz="4000" dirty="0"/>
              <a:t>    </a:t>
            </a:r>
            <a:r>
              <a:rPr lang="en-US" sz="4000" dirty="0" err="1"/>
              <a:t>printf</a:t>
            </a:r>
            <a:r>
              <a:rPr lang="en-US" sz="4000" dirty="0"/>
              <a:t>("Printing </a:t>
            </a:r>
            <a:r>
              <a:rPr lang="en-US" sz="4000" dirty="0" smtClean="0"/>
              <a:t>Hello </a:t>
            </a:r>
            <a:r>
              <a:rPr lang="en-US" sz="4000" dirty="0"/>
              <a:t>from Thread \n"); </a:t>
            </a:r>
          </a:p>
          <a:p>
            <a:pPr marL="0" indent="0" fontAlgn="base">
              <a:buNone/>
            </a:pPr>
            <a:r>
              <a:rPr lang="en-US" sz="4000" dirty="0"/>
              <a:t>    return NULL; </a:t>
            </a:r>
          </a:p>
          <a:p>
            <a:pPr marL="0" indent="0" fontAlgn="base">
              <a:buNone/>
            </a:pPr>
            <a:r>
              <a:rPr lang="en-US" sz="4000" dirty="0"/>
              <a:t>} </a:t>
            </a:r>
          </a:p>
          <a:p>
            <a:pPr marL="0" indent="0" fontAlgn="base">
              <a:buNone/>
            </a:pPr>
            <a:r>
              <a:rPr lang="en-US" sz="4000" dirty="0"/>
              <a:t>   </a:t>
            </a:r>
          </a:p>
          <a:p>
            <a:pPr marL="0" indent="0" fontAlgn="base">
              <a:buNone/>
            </a:pPr>
            <a:r>
              <a:rPr lang="en-US" sz="4000" dirty="0" err="1"/>
              <a:t>int</a:t>
            </a:r>
            <a:r>
              <a:rPr lang="en-US" sz="4000" dirty="0"/>
              <a:t> main() </a:t>
            </a:r>
          </a:p>
          <a:p>
            <a:pPr marL="0" indent="0" fontAlgn="base">
              <a:buNone/>
            </a:pPr>
            <a:r>
              <a:rPr lang="en-US" sz="4000" dirty="0"/>
              <a:t>{ </a:t>
            </a:r>
          </a:p>
          <a:p>
            <a:pPr marL="0" indent="0" fontAlgn="base">
              <a:buNone/>
            </a:pPr>
            <a:r>
              <a:rPr lang="en-US" sz="4000" dirty="0"/>
              <a:t>    </a:t>
            </a:r>
            <a:r>
              <a:rPr lang="en-US" sz="4000" dirty="0" err="1"/>
              <a:t>pthread_t</a:t>
            </a:r>
            <a:r>
              <a:rPr lang="en-US" sz="4000" dirty="0"/>
              <a:t> </a:t>
            </a:r>
            <a:r>
              <a:rPr lang="en-US" sz="4000" dirty="0" err="1"/>
              <a:t>thread_id</a:t>
            </a:r>
            <a:r>
              <a:rPr lang="en-US" sz="4000" dirty="0"/>
              <a:t>; </a:t>
            </a:r>
          </a:p>
          <a:p>
            <a:pPr marL="0" indent="0" fontAlgn="base">
              <a:buNone/>
            </a:pPr>
            <a:r>
              <a:rPr lang="en-US" sz="4000" dirty="0"/>
              <a:t>    </a:t>
            </a:r>
            <a:r>
              <a:rPr lang="en-US" sz="4000" dirty="0" err="1"/>
              <a:t>printf</a:t>
            </a:r>
            <a:r>
              <a:rPr lang="en-US" sz="4000" dirty="0"/>
              <a:t>("Before Thread\n"); </a:t>
            </a:r>
          </a:p>
          <a:p>
            <a:pPr marL="0" indent="0" fontAlgn="base">
              <a:buNone/>
            </a:pPr>
            <a:r>
              <a:rPr lang="en-US" sz="4000" dirty="0"/>
              <a:t>    </a:t>
            </a:r>
            <a:r>
              <a:rPr lang="en-US" sz="4000" dirty="0" err="1"/>
              <a:t>pthread_create</a:t>
            </a:r>
            <a:r>
              <a:rPr lang="en-US" sz="4000" dirty="0"/>
              <a:t>(&amp;</a:t>
            </a:r>
            <a:r>
              <a:rPr lang="en-US" sz="4000" dirty="0" err="1"/>
              <a:t>thread_id</a:t>
            </a:r>
            <a:r>
              <a:rPr lang="en-US" sz="4000" dirty="0"/>
              <a:t>, NULL, </a:t>
            </a:r>
            <a:r>
              <a:rPr lang="en-US" sz="4000" dirty="0" err="1"/>
              <a:t>myThreadFun</a:t>
            </a:r>
            <a:r>
              <a:rPr lang="en-US" sz="4000" dirty="0"/>
              <a:t>, NULL); </a:t>
            </a:r>
          </a:p>
          <a:p>
            <a:pPr marL="0" indent="0" fontAlgn="base">
              <a:buNone/>
            </a:pPr>
            <a:r>
              <a:rPr lang="en-US" sz="4000" dirty="0"/>
              <a:t>    </a:t>
            </a:r>
            <a:r>
              <a:rPr lang="en-US" sz="4000" dirty="0" err="1"/>
              <a:t>pthread_join</a:t>
            </a:r>
            <a:r>
              <a:rPr lang="en-US" sz="4000" dirty="0"/>
              <a:t>(</a:t>
            </a:r>
            <a:r>
              <a:rPr lang="en-US" sz="4000" dirty="0" err="1"/>
              <a:t>thread_id</a:t>
            </a:r>
            <a:r>
              <a:rPr lang="en-US" sz="4000" dirty="0"/>
              <a:t>, NULL); </a:t>
            </a:r>
          </a:p>
          <a:p>
            <a:pPr marL="0" indent="0" fontAlgn="base">
              <a:buNone/>
            </a:pPr>
            <a:r>
              <a:rPr lang="en-US" sz="4000" dirty="0"/>
              <a:t>    </a:t>
            </a:r>
            <a:r>
              <a:rPr lang="en-US" sz="4000" dirty="0" err="1"/>
              <a:t>printf</a:t>
            </a:r>
            <a:r>
              <a:rPr lang="en-US" sz="4000" dirty="0"/>
              <a:t>("After Thread\n"); </a:t>
            </a:r>
          </a:p>
          <a:p>
            <a:pPr marL="0" indent="0" fontAlgn="base">
              <a:buNone/>
            </a:pPr>
            <a:r>
              <a:rPr lang="en-US" sz="4000" dirty="0"/>
              <a:t>    exit(0); </a:t>
            </a:r>
          </a:p>
          <a:p>
            <a:pPr marL="0" indent="0" fontAlgn="base">
              <a:buNone/>
            </a:pPr>
            <a:r>
              <a:rPr lang="en-US" sz="4000" dirty="0"/>
              <a:t>}</a:t>
            </a:r>
          </a:p>
          <a:p>
            <a:endParaRPr lang="en-US" dirty="0"/>
          </a:p>
        </p:txBody>
      </p:sp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5029200" y="1183215"/>
            <a:ext cx="3733800" cy="1736345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88872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1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Consolas" pitchFamily="49" charset="0"/>
              <a:cs typeface="Consolas" pitchFamily="49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1600" dirty="0" smtClean="0">
                <a:latin typeface="Consolas" pitchFamily="49" charset="0"/>
                <a:cs typeface="Consolas" pitchFamily="49" charset="0"/>
              </a:rPr>
              <a:t>Output-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1600" dirty="0">
              <a:latin typeface="Consolas" pitchFamily="49" charset="0"/>
              <a:cs typeface="Consolas" pitchFamily="49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1600" dirty="0">
              <a:latin typeface="Consolas" pitchFamily="49" charset="0"/>
              <a:cs typeface="Consolas" pitchFamily="49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onsolas" pitchFamily="49" charset="0"/>
                <a:cs typeface="Consolas" pitchFamily="49" charset="0"/>
              </a:rPr>
              <a:t>Before Thread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onsolas" pitchFamily="49" charset="0"/>
                <a:cs typeface="Consolas" pitchFamily="49" charset="0"/>
              </a:rPr>
              <a:t>Printing Hello from Thread 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onsolas" pitchFamily="49" charset="0"/>
                <a:cs typeface="Consolas" pitchFamily="49" charset="0"/>
              </a:rPr>
              <a:t>After Thread</a:t>
            </a:r>
            <a:r>
              <a:rPr kumimoji="0" lang="en-US" altLang="en-US" sz="105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> </a:t>
            </a:r>
            <a:endParaRPr kumimoji="0" lang="en-US" altLang="en-US" sz="2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7237077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0"/>
            <a:ext cx="4800600" cy="6705600"/>
          </a:xfrm>
        </p:spPr>
        <p:txBody>
          <a:bodyPr>
            <a:normAutofit/>
          </a:bodyPr>
          <a:lstStyle/>
          <a:p>
            <a:pPr marL="0" indent="0" fontAlgn="base">
              <a:buNone/>
            </a:pPr>
            <a:r>
              <a:rPr lang="en-US" sz="1400" dirty="0"/>
              <a:t>#include &lt;</a:t>
            </a:r>
            <a:r>
              <a:rPr lang="en-US" sz="1400" dirty="0" err="1"/>
              <a:t>iostream</a:t>
            </a:r>
            <a:r>
              <a:rPr lang="en-US" sz="1400" dirty="0"/>
              <a:t>&gt;</a:t>
            </a:r>
          </a:p>
          <a:p>
            <a:pPr marL="0" indent="0" fontAlgn="base">
              <a:buNone/>
            </a:pPr>
            <a:r>
              <a:rPr lang="en-US" sz="1400" dirty="0"/>
              <a:t>#include &lt;</a:t>
            </a:r>
            <a:r>
              <a:rPr lang="en-US" sz="1400" dirty="0" err="1"/>
              <a:t>cstdlib</a:t>
            </a:r>
            <a:r>
              <a:rPr lang="en-US" sz="1400" dirty="0"/>
              <a:t>&gt;</a:t>
            </a:r>
          </a:p>
          <a:p>
            <a:pPr marL="0" indent="0" fontAlgn="base">
              <a:buNone/>
            </a:pPr>
            <a:r>
              <a:rPr lang="en-US" sz="1400" dirty="0"/>
              <a:t>#include &lt;</a:t>
            </a:r>
            <a:r>
              <a:rPr lang="en-US" sz="1400" dirty="0" err="1"/>
              <a:t>pthread.h</a:t>
            </a:r>
            <a:r>
              <a:rPr lang="en-US" sz="1400" dirty="0"/>
              <a:t>&gt;</a:t>
            </a:r>
          </a:p>
          <a:p>
            <a:pPr marL="0" indent="0" fontAlgn="base">
              <a:buNone/>
            </a:pPr>
            <a:r>
              <a:rPr lang="en-US" sz="1400" dirty="0"/>
              <a:t>using namespace </a:t>
            </a:r>
            <a:r>
              <a:rPr lang="en-US" sz="1400" dirty="0" err="1"/>
              <a:t>std</a:t>
            </a:r>
            <a:r>
              <a:rPr lang="en-US" sz="1400" dirty="0"/>
              <a:t>;</a:t>
            </a:r>
          </a:p>
          <a:p>
            <a:pPr marL="0" indent="0" fontAlgn="base">
              <a:buNone/>
            </a:pPr>
            <a:r>
              <a:rPr lang="en-US" sz="1400" dirty="0"/>
              <a:t>#define NUM_THREADS 5</a:t>
            </a:r>
          </a:p>
          <a:p>
            <a:pPr marL="0" indent="0" fontAlgn="base">
              <a:buNone/>
            </a:pPr>
            <a:r>
              <a:rPr lang="en-US" sz="1400" dirty="0"/>
              <a:t>void *</a:t>
            </a:r>
            <a:r>
              <a:rPr lang="en-US" sz="1400" dirty="0" err="1"/>
              <a:t>PrintHello</a:t>
            </a:r>
            <a:r>
              <a:rPr lang="en-US" sz="1400" dirty="0"/>
              <a:t>(void *</a:t>
            </a:r>
            <a:r>
              <a:rPr lang="en-US" sz="1400" dirty="0" err="1"/>
              <a:t>threadid</a:t>
            </a:r>
            <a:r>
              <a:rPr lang="en-US" sz="1400" dirty="0"/>
              <a:t>) {</a:t>
            </a:r>
          </a:p>
          <a:p>
            <a:pPr marL="0" indent="0" fontAlgn="base">
              <a:buNone/>
            </a:pPr>
            <a:r>
              <a:rPr lang="en-US" sz="1400" dirty="0"/>
              <a:t>   long </a:t>
            </a:r>
            <a:r>
              <a:rPr lang="en-US" sz="1400" dirty="0" err="1"/>
              <a:t>tid</a:t>
            </a:r>
            <a:r>
              <a:rPr lang="en-US" sz="1400" dirty="0"/>
              <a:t>;</a:t>
            </a:r>
          </a:p>
          <a:p>
            <a:pPr marL="0" indent="0" fontAlgn="base">
              <a:buNone/>
            </a:pPr>
            <a:r>
              <a:rPr lang="en-US" sz="1400" dirty="0"/>
              <a:t>   </a:t>
            </a:r>
            <a:r>
              <a:rPr lang="en-US" sz="1400" dirty="0" err="1"/>
              <a:t>tid</a:t>
            </a:r>
            <a:r>
              <a:rPr lang="en-US" sz="1400" dirty="0"/>
              <a:t> = (long)</a:t>
            </a:r>
            <a:r>
              <a:rPr lang="en-US" sz="1400" dirty="0" err="1"/>
              <a:t>threadid</a:t>
            </a:r>
            <a:r>
              <a:rPr lang="en-US" sz="1400" dirty="0"/>
              <a:t>;</a:t>
            </a:r>
          </a:p>
          <a:p>
            <a:pPr marL="0" indent="0" fontAlgn="base">
              <a:buNone/>
            </a:pPr>
            <a:r>
              <a:rPr lang="en-US" sz="1400" dirty="0"/>
              <a:t>   </a:t>
            </a:r>
            <a:r>
              <a:rPr lang="en-US" sz="1400" dirty="0" err="1"/>
              <a:t>printf</a:t>
            </a:r>
            <a:r>
              <a:rPr lang="en-US" sz="1400" dirty="0"/>
              <a:t>("Hello World! Thread ID, %d\n", </a:t>
            </a:r>
            <a:r>
              <a:rPr lang="en-US" sz="1400" dirty="0" err="1"/>
              <a:t>tid</a:t>
            </a:r>
            <a:r>
              <a:rPr lang="en-US" sz="1400" dirty="0"/>
              <a:t>);</a:t>
            </a:r>
          </a:p>
          <a:p>
            <a:pPr marL="0" indent="0" fontAlgn="base">
              <a:buNone/>
            </a:pPr>
            <a:r>
              <a:rPr lang="en-US" sz="1400" dirty="0"/>
              <a:t>   </a:t>
            </a:r>
            <a:r>
              <a:rPr lang="en-US" sz="1400" dirty="0" err="1"/>
              <a:t>pthread_exit</a:t>
            </a:r>
            <a:r>
              <a:rPr lang="en-US" sz="1400" dirty="0"/>
              <a:t>(NULL);</a:t>
            </a:r>
          </a:p>
          <a:p>
            <a:pPr marL="0" indent="0" fontAlgn="base">
              <a:buNone/>
            </a:pPr>
            <a:r>
              <a:rPr lang="en-US" sz="1400" dirty="0"/>
              <a:t>}</a:t>
            </a:r>
          </a:p>
          <a:p>
            <a:pPr marL="0" indent="0" fontAlgn="base">
              <a:buNone/>
            </a:pPr>
            <a:r>
              <a:rPr lang="en-US" sz="1400" dirty="0" err="1"/>
              <a:t>int</a:t>
            </a:r>
            <a:r>
              <a:rPr lang="en-US" sz="1400" dirty="0"/>
              <a:t> main () {</a:t>
            </a:r>
          </a:p>
          <a:p>
            <a:pPr marL="0" indent="0" fontAlgn="base">
              <a:buNone/>
            </a:pPr>
            <a:r>
              <a:rPr lang="en-US" sz="1400" dirty="0"/>
              <a:t>   </a:t>
            </a:r>
            <a:r>
              <a:rPr lang="en-US" sz="1400" dirty="0" err="1"/>
              <a:t>pthread_t</a:t>
            </a:r>
            <a:r>
              <a:rPr lang="en-US" sz="1400" dirty="0"/>
              <a:t> threads[NUM_THREADS];</a:t>
            </a:r>
          </a:p>
          <a:p>
            <a:pPr marL="0" indent="0" fontAlgn="base">
              <a:buNone/>
            </a:pPr>
            <a:r>
              <a:rPr lang="en-US" sz="1400" dirty="0"/>
              <a:t>   </a:t>
            </a:r>
            <a:r>
              <a:rPr lang="en-US" sz="1400" dirty="0" err="1"/>
              <a:t>int</a:t>
            </a:r>
            <a:r>
              <a:rPr lang="en-US" sz="1400" dirty="0"/>
              <a:t> </a:t>
            </a:r>
            <a:r>
              <a:rPr lang="en-US" sz="1400" dirty="0" err="1"/>
              <a:t>rc</a:t>
            </a:r>
            <a:r>
              <a:rPr lang="en-US" sz="1400" dirty="0"/>
              <a:t>;</a:t>
            </a:r>
          </a:p>
          <a:p>
            <a:pPr marL="0" indent="0" fontAlgn="base">
              <a:buNone/>
            </a:pPr>
            <a:r>
              <a:rPr lang="en-US" sz="1400" dirty="0"/>
              <a:t>   </a:t>
            </a:r>
            <a:r>
              <a:rPr lang="en-US" sz="1400" dirty="0" err="1"/>
              <a:t>int</a:t>
            </a:r>
            <a:r>
              <a:rPr lang="en-US" sz="1400" dirty="0"/>
              <a:t> </a:t>
            </a:r>
            <a:r>
              <a:rPr lang="en-US" sz="1400" dirty="0" err="1"/>
              <a:t>i</a:t>
            </a:r>
            <a:r>
              <a:rPr lang="en-US" sz="1400" dirty="0"/>
              <a:t>;</a:t>
            </a:r>
          </a:p>
          <a:p>
            <a:pPr marL="0" indent="0" fontAlgn="base">
              <a:buNone/>
            </a:pPr>
            <a:r>
              <a:rPr lang="en-US" sz="1400" dirty="0"/>
              <a:t>   for( </a:t>
            </a:r>
            <a:r>
              <a:rPr lang="en-US" sz="1400" dirty="0" err="1"/>
              <a:t>i</a:t>
            </a:r>
            <a:r>
              <a:rPr lang="en-US" sz="1400" dirty="0"/>
              <a:t> = 0; </a:t>
            </a:r>
            <a:r>
              <a:rPr lang="en-US" sz="1400" dirty="0" err="1"/>
              <a:t>i</a:t>
            </a:r>
            <a:r>
              <a:rPr lang="en-US" sz="1400" dirty="0"/>
              <a:t> &lt; NUM_THREADS; </a:t>
            </a:r>
            <a:r>
              <a:rPr lang="en-US" sz="1400" dirty="0" err="1"/>
              <a:t>i</a:t>
            </a:r>
            <a:r>
              <a:rPr lang="en-US" sz="1400" dirty="0"/>
              <a:t>++ ) {</a:t>
            </a:r>
          </a:p>
          <a:p>
            <a:pPr marL="0" indent="0" fontAlgn="base">
              <a:buNone/>
            </a:pPr>
            <a:r>
              <a:rPr lang="en-US" sz="1400" dirty="0"/>
              <a:t>      </a:t>
            </a:r>
            <a:r>
              <a:rPr lang="en-US" sz="1400" dirty="0" err="1"/>
              <a:t>cout</a:t>
            </a:r>
            <a:r>
              <a:rPr lang="en-US" sz="1400" dirty="0"/>
              <a:t> &lt;&lt; "main() : creating thread, " &lt;&lt; </a:t>
            </a:r>
            <a:r>
              <a:rPr lang="en-US" sz="1400" dirty="0" err="1"/>
              <a:t>i</a:t>
            </a:r>
            <a:r>
              <a:rPr lang="en-US" sz="1400" dirty="0"/>
              <a:t> &lt;&lt; </a:t>
            </a:r>
            <a:r>
              <a:rPr lang="en-US" sz="1400" dirty="0" err="1"/>
              <a:t>endl</a:t>
            </a:r>
            <a:r>
              <a:rPr lang="en-US" sz="1400" dirty="0"/>
              <a:t>;</a:t>
            </a:r>
          </a:p>
          <a:p>
            <a:pPr marL="0" indent="0" fontAlgn="base">
              <a:buNone/>
            </a:pPr>
            <a:r>
              <a:rPr lang="en-US" sz="1400" dirty="0"/>
              <a:t>      </a:t>
            </a:r>
            <a:r>
              <a:rPr lang="en-US" sz="1400" dirty="0" err="1"/>
              <a:t>rc</a:t>
            </a:r>
            <a:r>
              <a:rPr lang="en-US" sz="1400" dirty="0"/>
              <a:t> = </a:t>
            </a:r>
            <a:r>
              <a:rPr lang="en-US" sz="1400" dirty="0" err="1"/>
              <a:t>pthread_create</a:t>
            </a:r>
            <a:r>
              <a:rPr lang="en-US" sz="1400" dirty="0"/>
              <a:t>(&amp;threads[</a:t>
            </a:r>
            <a:r>
              <a:rPr lang="en-US" sz="1400" dirty="0" err="1"/>
              <a:t>i</a:t>
            </a:r>
            <a:r>
              <a:rPr lang="en-US" sz="1400" dirty="0"/>
              <a:t>], NULL, </a:t>
            </a:r>
            <a:r>
              <a:rPr lang="en-US" sz="1400" dirty="0" err="1"/>
              <a:t>PrintHello</a:t>
            </a:r>
            <a:r>
              <a:rPr lang="en-US" sz="1400" dirty="0"/>
              <a:t>, (void *)</a:t>
            </a:r>
            <a:r>
              <a:rPr lang="en-US" sz="1400" dirty="0" err="1"/>
              <a:t>i</a:t>
            </a:r>
            <a:r>
              <a:rPr lang="en-US" sz="1400" dirty="0"/>
              <a:t>);</a:t>
            </a:r>
          </a:p>
          <a:p>
            <a:pPr marL="0" indent="0" fontAlgn="base">
              <a:buNone/>
            </a:pPr>
            <a:r>
              <a:rPr lang="en-US" sz="1400" dirty="0"/>
              <a:t>      if (</a:t>
            </a:r>
            <a:r>
              <a:rPr lang="en-US" sz="1400" dirty="0" err="1"/>
              <a:t>rc</a:t>
            </a:r>
            <a:r>
              <a:rPr lang="en-US" sz="1400" dirty="0"/>
              <a:t>) {</a:t>
            </a:r>
          </a:p>
          <a:p>
            <a:pPr marL="0" indent="0" fontAlgn="base">
              <a:buNone/>
            </a:pPr>
            <a:r>
              <a:rPr lang="en-US" sz="1400" dirty="0"/>
              <a:t>         </a:t>
            </a:r>
            <a:r>
              <a:rPr lang="en-US" sz="1400" dirty="0" err="1"/>
              <a:t>printf</a:t>
            </a:r>
            <a:r>
              <a:rPr lang="en-US" sz="1400" dirty="0"/>
              <a:t>("</a:t>
            </a:r>
            <a:r>
              <a:rPr lang="en-US" sz="1400" dirty="0" err="1"/>
              <a:t>Error:unable</a:t>
            </a:r>
            <a:r>
              <a:rPr lang="en-US" sz="1400" dirty="0"/>
              <a:t> to create thread, %d\n", </a:t>
            </a:r>
            <a:r>
              <a:rPr lang="en-US" sz="1400" dirty="0" err="1"/>
              <a:t>rc</a:t>
            </a:r>
            <a:r>
              <a:rPr lang="en-US" sz="1400" dirty="0"/>
              <a:t>);</a:t>
            </a:r>
          </a:p>
          <a:p>
            <a:pPr marL="0" indent="0" fontAlgn="base">
              <a:buNone/>
            </a:pPr>
            <a:r>
              <a:rPr lang="en-US" sz="1400" dirty="0"/>
              <a:t>         exit(-1);</a:t>
            </a:r>
          </a:p>
          <a:p>
            <a:pPr marL="0" indent="0" fontAlgn="base">
              <a:buNone/>
            </a:pPr>
            <a:r>
              <a:rPr lang="en-US" sz="1400" dirty="0"/>
              <a:t>      }</a:t>
            </a:r>
          </a:p>
          <a:p>
            <a:pPr marL="0" indent="0" fontAlgn="base">
              <a:buNone/>
            </a:pPr>
            <a:r>
              <a:rPr lang="en-US" sz="1400" dirty="0"/>
              <a:t>   }</a:t>
            </a:r>
          </a:p>
          <a:p>
            <a:pPr marL="0" indent="0" fontAlgn="base">
              <a:buNone/>
            </a:pPr>
            <a:r>
              <a:rPr lang="en-US" sz="1400" dirty="0"/>
              <a:t>   </a:t>
            </a:r>
            <a:r>
              <a:rPr lang="en-US" sz="1400" dirty="0" err="1"/>
              <a:t>pthread_exit</a:t>
            </a:r>
            <a:r>
              <a:rPr lang="en-US" sz="1400" dirty="0"/>
              <a:t>(NULL);</a:t>
            </a:r>
          </a:p>
          <a:p>
            <a:pPr marL="0" indent="0" fontAlgn="base">
              <a:buNone/>
            </a:pPr>
            <a:r>
              <a:rPr lang="en-US" sz="1400" dirty="0"/>
              <a:t>}</a:t>
            </a:r>
            <a:endParaRPr lang="en-US" sz="1100" dirty="0"/>
          </a:p>
        </p:txBody>
      </p:sp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5022273" y="914400"/>
            <a:ext cx="3733800" cy="3459893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88872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1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Consolas" pitchFamily="49" charset="0"/>
              <a:cs typeface="Consolas" pitchFamily="49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1600" dirty="0" smtClean="0">
                <a:latin typeface="Consolas" pitchFamily="49" charset="0"/>
                <a:cs typeface="Consolas" pitchFamily="49" charset="0"/>
              </a:rPr>
              <a:t>Output-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1600" dirty="0">
              <a:latin typeface="Consolas" pitchFamily="49" charset="0"/>
              <a:cs typeface="Consolas" pitchFamily="49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1600" dirty="0">
              <a:latin typeface="Consolas" pitchFamily="49" charset="0"/>
              <a:cs typeface="Consolas" pitchFamily="49" charset="0"/>
            </a:endParaRPr>
          </a:p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lang="en-US" altLang="en-US" sz="1600" dirty="0">
                <a:latin typeface="Consolas" pitchFamily="49" charset="0"/>
                <a:cs typeface="Consolas" pitchFamily="49" charset="0"/>
              </a:rPr>
              <a:t>main() : creating thread, 0</a:t>
            </a:r>
          </a:p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lang="en-US" altLang="en-US" sz="1600" dirty="0">
                <a:latin typeface="Consolas" pitchFamily="49" charset="0"/>
                <a:cs typeface="Consolas" pitchFamily="49" charset="0"/>
              </a:rPr>
              <a:t>main() : creating thread, 1</a:t>
            </a:r>
          </a:p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lang="en-US" altLang="en-US" sz="1600" dirty="0">
                <a:latin typeface="Consolas" pitchFamily="49" charset="0"/>
                <a:cs typeface="Consolas" pitchFamily="49" charset="0"/>
              </a:rPr>
              <a:t>main() : creating thread, 2</a:t>
            </a:r>
          </a:p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lang="en-US" altLang="en-US" sz="1600" dirty="0">
                <a:latin typeface="Consolas" pitchFamily="49" charset="0"/>
                <a:cs typeface="Consolas" pitchFamily="49" charset="0"/>
              </a:rPr>
              <a:t>main() : creating thread, 3</a:t>
            </a:r>
          </a:p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lang="en-US" altLang="en-US" sz="1600" dirty="0">
                <a:latin typeface="Consolas" pitchFamily="49" charset="0"/>
                <a:cs typeface="Consolas" pitchFamily="49" charset="0"/>
              </a:rPr>
              <a:t>main() : creating thread, 4</a:t>
            </a:r>
          </a:p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lang="en-US" altLang="en-US" sz="1600" dirty="0">
                <a:latin typeface="Consolas" pitchFamily="49" charset="0"/>
                <a:cs typeface="Consolas" pitchFamily="49" charset="0"/>
              </a:rPr>
              <a:t>Hello World! Thread ID, 0</a:t>
            </a:r>
          </a:p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lang="en-US" altLang="en-US" sz="1600" dirty="0">
                <a:latin typeface="Consolas" pitchFamily="49" charset="0"/>
                <a:cs typeface="Consolas" pitchFamily="49" charset="0"/>
              </a:rPr>
              <a:t>Hello World! Thread ID, 1</a:t>
            </a:r>
          </a:p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lang="en-US" altLang="en-US" sz="1600" dirty="0">
                <a:latin typeface="Consolas" pitchFamily="49" charset="0"/>
                <a:cs typeface="Consolas" pitchFamily="49" charset="0"/>
              </a:rPr>
              <a:t>Hello World! Thread ID, 2</a:t>
            </a:r>
          </a:p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lang="en-US" altLang="en-US" sz="1600" dirty="0">
                <a:latin typeface="Consolas" pitchFamily="49" charset="0"/>
                <a:cs typeface="Consolas" pitchFamily="49" charset="0"/>
              </a:rPr>
              <a:t>Hello World! Thread ID, 3</a:t>
            </a:r>
          </a:p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lang="en-US" altLang="en-US" sz="1600" dirty="0">
                <a:latin typeface="Consolas" pitchFamily="49" charset="0"/>
                <a:cs typeface="Consolas" pitchFamily="49" charset="0"/>
              </a:rPr>
              <a:t>Hello World! Thread ID, 4</a:t>
            </a:r>
            <a:endParaRPr kumimoji="0" lang="en-US" altLang="en-US" sz="2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061347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0"/>
            <a:ext cx="2571750" cy="2105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95600" y="1579418"/>
            <a:ext cx="3200400" cy="2362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30" name="Picture 6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62600" y="3955473"/>
            <a:ext cx="3200400" cy="2333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39106468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9692942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391</TotalTime>
  <Words>643</Words>
  <Application>Microsoft Office PowerPoint</Application>
  <PresentationFormat>On-screen Show (4:3)</PresentationFormat>
  <Paragraphs>195</Paragraphs>
  <Slides>21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2" baseType="lpstr">
      <vt:lpstr>Office Theme</vt:lpstr>
      <vt:lpstr>pthreads</vt:lpstr>
      <vt:lpstr>pthreads</vt:lpstr>
      <vt:lpstr>pthreads</vt:lpstr>
      <vt:lpstr>Working with threads</vt:lpstr>
      <vt:lpstr>Working with threads</vt:lpstr>
      <vt:lpstr>Pthread_t</vt:lpstr>
      <vt:lpstr>sem_init</vt:lpstr>
      <vt:lpstr>sem_init</vt:lpstr>
      <vt:lpstr>sem_wait()</vt:lpstr>
      <vt:lpstr>sem_wait()</vt:lpstr>
      <vt:lpstr>sem_post</vt:lpstr>
      <vt:lpstr>sem_post</vt:lpstr>
      <vt:lpstr>pthread_create()</vt:lpstr>
      <vt:lpstr>pthread_create()</vt:lpstr>
      <vt:lpstr>pthread_create()</vt:lpstr>
      <vt:lpstr>pthread_create()</vt:lpstr>
      <vt:lpstr>pthread_join()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</dc:creator>
  <cp:lastModifiedBy>Admin</cp:lastModifiedBy>
  <cp:revision>28</cp:revision>
  <dcterms:created xsi:type="dcterms:W3CDTF">2020-10-09T11:05:54Z</dcterms:created>
  <dcterms:modified xsi:type="dcterms:W3CDTF">2022-09-27T06:34:35Z</dcterms:modified>
</cp:coreProperties>
</file>
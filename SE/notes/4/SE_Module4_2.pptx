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12192000"/>
  <p:notesSz cx="6858000" cy="9144000"/>
  <p:embeddedFontLst>
    <p:embeddedFont>
      <p:font typeface="Play"/>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54" roundtripDataSignature="AMtx7miA1776yUohNnJxuwpXz+AXT3ti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67D305-AB66-4675-80A6-48631E0E551A}">
  <a:tblStyle styleId="{8467D305-AB66-4675-80A6-48631E0E551A}" styleName="Table_0">
    <a:wholeTbl>
      <a:tcTxStyle b="off" i="off">
        <a:font>
          <a:latin typeface="Aptos"/>
          <a:ea typeface="Aptos"/>
          <a:cs typeface="Apto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Aptos"/>
          <a:ea typeface="Aptos"/>
          <a:cs typeface="Aptos"/>
        </a:font>
        <a:schemeClr val="lt1"/>
      </a:tcTxStyle>
      <a:tcStyle>
        <a:fill>
          <a:solidFill>
            <a:schemeClr val="accent1"/>
          </a:solidFill>
        </a:fill>
      </a:tcStyle>
    </a:lastCol>
    <a:firstCol>
      <a:tcTxStyle b="on" i="off">
        <a:font>
          <a:latin typeface="Aptos"/>
          <a:ea typeface="Aptos"/>
          <a:cs typeface="Aptos"/>
        </a:font>
        <a:schemeClr val="lt1"/>
      </a:tcTxStyle>
      <a:tcStyle>
        <a:fill>
          <a:solidFill>
            <a:schemeClr val="accent1"/>
          </a:solidFill>
        </a:fill>
      </a:tcStyle>
    </a:firstCol>
    <a:lastRow>
      <a:tcTxStyle b="on" i="off">
        <a:font>
          <a:latin typeface="Aptos"/>
          <a:ea typeface="Aptos"/>
          <a:cs typeface="Apto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ptos"/>
          <a:ea typeface="Aptos"/>
          <a:cs typeface="Apto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Play-bold.fntdata"/><Relationship Id="rId52" Type="http://schemas.openxmlformats.org/officeDocument/2006/relationships/font" Target="fonts/Play-regular.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Example: "The teacher explains the lesson to the students."</a:t>
            </a:r>
            <a:endParaRPr/>
          </a:p>
          <a:p>
            <a:pPr indent="0" lvl="0" marL="0" rtl="0" algn="l">
              <a:spcBef>
                <a:spcPts val="0"/>
              </a:spcBef>
              <a:spcAft>
                <a:spcPts val="0"/>
              </a:spcAft>
              <a:buNone/>
            </a:pPr>
            <a:r>
              <a:rPr b="1" lang="en-US"/>
              <a:t>Transformation 1 (Direct Marathi Translation):</a:t>
            </a:r>
            <a:endParaRPr/>
          </a:p>
          <a:p>
            <a:pPr indent="0" lvl="0" marL="0" rtl="0" algn="l">
              <a:spcBef>
                <a:spcPts val="0"/>
              </a:spcBef>
              <a:spcAft>
                <a:spcPts val="0"/>
              </a:spcAft>
              <a:buNone/>
            </a:pPr>
            <a:r>
              <a:rPr lang="en-US"/>
              <a:t>"शिक्षक विद्यार्थ्यांना धडा समजावून सांगतात."</a:t>
            </a:r>
            <a:endParaRPr/>
          </a:p>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1" name="Google Shape;41;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5"/>
          <p:cNvSpPr/>
          <p:nvPr>
            <p:ph idx="2" type="pic"/>
          </p:nvPr>
        </p:nvSpPr>
        <p:spPr>
          <a:xfrm>
            <a:off x="5183188" y="987425"/>
            <a:ext cx="6172200" cy="4873625"/>
          </a:xfrm>
          <a:prstGeom prst="rect">
            <a:avLst/>
          </a:prstGeom>
          <a:noFill/>
          <a:ln>
            <a:noFill/>
          </a:ln>
        </p:spPr>
      </p:sp>
      <p:sp>
        <p:nvSpPr>
          <p:cNvPr id="68" name="Google Shape;68;p5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1F1F1F"/>
              </a:buClr>
              <a:buSzPts val="6000"/>
              <a:buFont typeface="Arial"/>
              <a:buNone/>
            </a:pPr>
            <a:r>
              <a:rPr b="1" lang="en-US">
                <a:solidFill>
                  <a:srgbClr val="1F1F1F"/>
                </a:solidFill>
                <a:latin typeface="Arial"/>
                <a:ea typeface="Arial"/>
                <a:cs typeface="Arial"/>
                <a:sym typeface="Arial"/>
              </a:rPr>
              <a:t>Mapping Models to Code</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F1F1F"/>
              </a:buClr>
              <a:buSzPts val="3200"/>
              <a:buFont typeface="Arial"/>
              <a:buNone/>
            </a:pPr>
            <a:r>
              <a:rPr b="1" lang="en-US" sz="3200">
                <a:solidFill>
                  <a:srgbClr val="1F1F1F"/>
                </a:solidFill>
                <a:latin typeface="Arial"/>
                <a:ea typeface="Arial"/>
                <a:cs typeface="Arial"/>
                <a:sym typeface="Arial"/>
              </a:rPr>
              <a:t>What is Mapping Models to Code?</a:t>
            </a:r>
            <a:endParaRPr sz="6600"/>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87500"/>
              </a:lnSpc>
              <a:spcBef>
                <a:spcPts val="0"/>
              </a:spcBef>
              <a:spcAft>
                <a:spcPts val="0"/>
              </a:spcAft>
              <a:buClr>
                <a:srgbClr val="1F1F1F"/>
              </a:buClr>
              <a:buSzPts val="1000"/>
              <a:buFont typeface="Noto Sans Symbols"/>
              <a:buChar char="∙"/>
            </a:pPr>
            <a:r>
              <a:rPr b="1" lang="en-US" sz="2400">
                <a:solidFill>
                  <a:srgbClr val="1F1F1F"/>
                </a:solidFill>
                <a:latin typeface="Play"/>
                <a:ea typeface="Play"/>
                <a:cs typeface="Play"/>
                <a:sym typeface="Play"/>
              </a:rPr>
              <a:t>Definition:</a:t>
            </a:r>
            <a:r>
              <a:rPr lang="en-US" sz="2400">
                <a:solidFill>
                  <a:srgbClr val="1F1F1F"/>
                </a:solidFill>
                <a:latin typeface="Play"/>
                <a:ea typeface="Play"/>
                <a:cs typeface="Play"/>
                <a:sym typeface="Play"/>
              </a:rPr>
              <a:t> The process of converting conceptual models (e.g., UML diagrams) into executable code.</a:t>
            </a:r>
            <a:endParaRPr sz="2400">
              <a:solidFill>
                <a:srgbClr val="1F1F1F"/>
              </a:solidFill>
              <a:latin typeface="Play"/>
              <a:ea typeface="Play"/>
              <a:cs typeface="Play"/>
              <a:sym typeface="Play"/>
            </a:endParaRPr>
          </a:p>
          <a:p>
            <a:pPr indent="-342900" lvl="0" marL="342900" rtl="0" algn="l">
              <a:lnSpc>
                <a:spcPct val="87500"/>
              </a:lnSpc>
              <a:spcBef>
                <a:spcPts val="1800"/>
              </a:spcBef>
              <a:spcAft>
                <a:spcPts val="0"/>
              </a:spcAft>
              <a:buClr>
                <a:srgbClr val="1F1F1F"/>
              </a:buClr>
              <a:buSzPts val="1000"/>
              <a:buFont typeface="Noto Sans Symbols"/>
              <a:buChar char="∙"/>
            </a:pPr>
            <a:r>
              <a:rPr b="1" lang="en-US" sz="2400">
                <a:solidFill>
                  <a:srgbClr val="1F1F1F"/>
                </a:solidFill>
                <a:latin typeface="Play"/>
                <a:ea typeface="Play"/>
                <a:cs typeface="Play"/>
                <a:sym typeface="Play"/>
              </a:rPr>
              <a:t>Why is it required?</a:t>
            </a:r>
            <a:r>
              <a:rPr lang="en-US" sz="2400">
                <a:solidFill>
                  <a:srgbClr val="1F1F1F"/>
                </a:solidFill>
                <a:latin typeface="Play"/>
                <a:ea typeface="Play"/>
                <a:cs typeface="Play"/>
                <a:sym typeface="Play"/>
              </a:rPr>
              <a:t> </a:t>
            </a:r>
            <a:endParaRPr sz="2400">
              <a:solidFill>
                <a:srgbClr val="1F1F1F"/>
              </a:solidFill>
              <a:latin typeface="Play"/>
              <a:ea typeface="Play"/>
              <a:cs typeface="Play"/>
              <a:sym typeface="Play"/>
            </a:endParaRPr>
          </a:p>
          <a:p>
            <a:pPr indent="-285750" lvl="1" marL="742950" rtl="0" algn="l">
              <a:lnSpc>
                <a:spcPct val="87500"/>
              </a:lnSpc>
              <a:spcBef>
                <a:spcPts val="1300"/>
              </a:spcBef>
              <a:spcAft>
                <a:spcPts val="0"/>
              </a:spcAft>
              <a:buClr>
                <a:srgbClr val="1F1F1F"/>
              </a:buClr>
              <a:buSzPts val="1000"/>
              <a:buFont typeface="Courier New"/>
              <a:buChar char="o"/>
            </a:pPr>
            <a:r>
              <a:rPr lang="en-US">
                <a:solidFill>
                  <a:srgbClr val="1F1F1F"/>
                </a:solidFill>
                <a:latin typeface="Play"/>
                <a:ea typeface="Play"/>
                <a:cs typeface="Play"/>
                <a:sym typeface="Play"/>
              </a:rPr>
              <a:t>Bridges the gap between abstract design and concrete implementation.</a:t>
            </a:r>
            <a:endParaRPr>
              <a:solidFill>
                <a:srgbClr val="1F1F1F"/>
              </a:solidFill>
              <a:latin typeface="Play"/>
              <a:ea typeface="Play"/>
              <a:cs typeface="Play"/>
              <a:sym typeface="Play"/>
            </a:endParaRPr>
          </a:p>
          <a:p>
            <a:pPr indent="-285750" lvl="1" marL="742950" rtl="0" algn="l">
              <a:lnSpc>
                <a:spcPct val="87500"/>
              </a:lnSpc>
              <a:spcBef>
                <a:spcPts val="1300"/>
              </a:spcBef>
              <a:spcAft>
                <a:spcPts val="0"/>
              </a:spcAft>
              <a:buClr>
                <a:srgbClr val="1F1F1F"/>
              </a:buClr>
              <a:buSzPts val="1000"/>
              <a:buFont typeface="Courier New"/>
              <a:buChar char="o"/>
            </a:pPr>
            <a:r>
              <a:rPr lang="en-US">
                <a:solidFill>
                  <a:srgbClr val="1F1F1F"/>
                </a:solidFill>
                <a:latin typeface="Play"/>
                <a:ea typeface="Play"/>
                <a:cs typeface="Play"/>
                <a:sym typeface="Play"/>
              </a:rPr>
              <a:t>Ensures consistency between design intentions and the final software product.</a:t>
            </a:r>
            <a:endParaRPr>
              <a:solidFill>
                <a:srgbClr val="1F1F1F"/>
              </a:solidFill>
              <a:latin typeface="Play"/>
              <a:ea typeface="Play"/>
              <a:cs typeface="Play"/>
              <a:sym typeface="Play"/>
            </a:endParaRPr>
          </a:p>
          <a:p>
            <a:pPr indent="-285750" lvl="1" marL="742950" rtl="0" algn="l">
              <a:lnSpc>
                <a:spcPct val="87500"/>
              </a:lnSpc>
              <a:spcBef>
                <a:spcPts val="1300"/>
              </a:spcBef>
              <a:spcAft>
                <a:spcPts val="0"/>
              </a:spcAft>
              <a:buClr>
                <a:srgbClr val="1F1F1F"/>
              </a:buClr>
              <a:buSzPts val="1000"/>
              <a:buFont typeface="Courier New"/>
              <a:buChar char="o"/>
            </a:pPr>
            <a:r>
              <a:rPr lang="en-US">
                <a:solidFill>
                  <a:srgbClr val="1F1F1F"/>
                </a:solidFill>
                <a:latin typeface="Play"/>
                <a:ea typeface="Play"/>
                <a:cs typeface="Play"/>
                <a:sym typeface="Play"/>
              </a:rPr>
              <a:t>Facilitates communication between designers and developers.</a:t>
            </a:r>
            <a:endParaRPr>
              <a:solidFill>
                <a:srgbClr val="1F1F1F"/>
              </a:solidFill>
              <a:latin typeface="Play"/>
              <a:ea typeface="Play"/>
              <a:cs typeface="Play"/>
              <a:sym typeface="Play"/>
            </a:endParaRPr>
          </a:p>
          <a:p>
            <a:pPr indent="-228600" lvl="0" marL="228600" rtl="0" algn="l">
              <a:lnSpc>
                <a:spcPct val="90000"/>
              </a:lnSpc>
              <a:spcBef>
                <a:spcPts val="1800"/>
              </a:spcBef>
              <a:spcAft>
                <a:spcPts val="0"/>
              </a:spcAft>
              <a:buClr>
                <a:srgbClr val="1F1F1F"/>
              </a:buClr>
              <a:buSzPts val="2400"/>
              <a:buChar char="•"/>
            </a:pPr>
            <a:r>
              <a:rPr lang="en-US" sz="2400">
                <a:solidFill>
                  <a:srgbClr val="1F1F1F"/>
                </a:solidFill>
                <a:latin typeface="Play"/>
                <a:ea typeface="Play"/>
                <a:cs typeface="Play"/>
                <a:sym typeface="Play"/>
              </a:rPr>
              <a:t>Improves maintainability and adaptability of the software system.</a:t>
            </a:r>
            <a:endParaRPr sz="2400">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What is Transformation</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Definition: </a:t>
            </a:r>
            <a:endParaRPr b="1"/>
          </a:p>
          <a:p>
            <a:pPr indent="-228600" lvl="0" marL="228600" rtl="0" algn="l">
              <a:lnSpc>
                <a:spcPct val="90000"/>
              </a:lnSpc>
              <a:spcBef>
                <a:spcPts val="1000"/>
              </a:spcBef>
              <a:spcAft>
                <a:spcPts val="0"/>
              </a:spcAft>
              <a:buClr>
                <a:schemeClr val="dk1"/>
              </a:buClr>
              <a:buSzPct val="100000"/>
              <a:buChar char="•"/>
            </a:pPr>
            <a:r>
              <a:rPr lang="en-US"/>
              <a:t>The act of systematically converting one representation (model) into another (code) while preserving essential information.</a:t>
            </a:r>
            <a:endParaRPr/>
          </a:p>
          <a:p>
            <a:pPr indent="-228600" lvl="0" marL="228600" rtl="0" algn="l">
              <a:lnSpc>
                <a:spcPct val="90000"/>
              </a:lnSpc>
              <a:spcBef>
                <a:spcPts val="1000"/>
              </a:spcBef>
              <a:spcAft>
                <a:spcPts val="0"/>
              </a:spcAft>
              <a:buClr>
                <a:schemeClr val="dk1"/>
              </a:buClr>
              <a:buSzPct val="100000"/>
              <a:buChar char="•"/>
            </a:pPr>
            <a:r>
              <a:rPr lang="en-US"/>
              <a:t>In the context of software engineering, transformation is the systematic process of converting one representation or form of something into another. </a:t>
            </a:r>
            <a:endParaRPr/>
          </a:p>
          <a:p>
            <a:pPr indent="-228600" lvl="0" marL="228600" rtl="0" algn="l">
              <a:lnSpc>
                <a:spcPct val="90000"/>
              </a:lnSpc>
              <a:spcBef>
                <a:spcPts val="1000"/>
              </a:spcBef>
              <a:spcAft>
                <a:spcPts val="0"/>
              </a:spcAft>
              <a:buClr>
                <a:schemeClr val="dk1"/>
              </a:buClr>
              <a:buSzPct val="100000"/>
              <a:buChar char="•"/>
            </a:pPr>
            <a:r>
              <a:rPr lang="en-US"/>
              <a:t>Think of it like translating a book from one language to another - you're taking the essential meaning and ideas and expressing them in a different way. </a:t>
            </a:r>
            <a:endParaRPr/>
          </a:p>
          <a:p>
            <a:pPr indent="-228600" lvl="0" marL="228600" rtl="0" algn="l">
              <a:lnSpc>
                <a:spcPct val="90000"/>
              </a:lnSpc>
              <a:spcBef>
                <a:spcPts val="1000"/>
              </a:spcBef>
              <a:spcAft>
                <a:spcPts val="0"/>
              </a:spcAft>
              <a:buClr>
                <a:schemeClr val="dk1"/>
              </a:buClr>
              <a:buSzPct val="100000"/>
              <a:buChar char="•"/>
            </a:pPr>
            <a:r>
              <a:rPr lang="en-US"/>
              <a:t>In software, this often means turning abstract design models (like diagrams) into actual code that a computer can execute.</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Why is transformation needed?</a:t>
            </a:r>
            <a:endParaRPr/>
          </a:p>
        </p:txBody>
      </p:sp>
      <p:sp>
        <p:nvSpPr>
          <p:cNvPr id="108" name="Google Shape;10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	</a:t>
            </a:r>
            <a:r>
              <a:rPr b="1" lang="en-US"/>
              <a:t>Bridging the Gap</a:t>
            </a:r>
            <a:r>
              <a:rPr lang="en-US"/>
              <a:t>: Software design often starts with high-level concepts and models that are easy for humans to understand but can't be directly run by a computer. Transformation fills the gap, taking these models and making them executable.</a:t>
            </a:r>
            <a:endParaRPr/>
          </a:p>
          <a:p>
            <a:pPr indent="-228600" lvl="0" marL="228600" rtl="0" algn="l">
              <a:lnSpc>
                <a:spcPct val="90000"/>
              </a:lnSpc>
              <a:spcBef>
                <a:spcPts val="1000"/>
              </a:spcBef>
              <a:spcAft>
                <a:spcPts val="0"/>
              </a:spcAft>
              <a:buClr>
                <a:schemeClr val="dk1"/>
              </a:buClr>
              <a:buSzPct val="100000"/>
              <a:buChar char="•"/>
            </a:pPr>
            <a:r>
              <a:rPr lang="en-US"/>
              <a:t>•	</a:t>
            </a:r>
            <a:r>
              <a:rPr b="1" lang="en-US"/>
              <a:t>Automation and Efficiency</a:t>
            </a:r>
            <a:r>
              <a:rPr lang="en-US"/>
              <a:t>: Manually translating designs into code is time-consuming and error-prone. Transformation automates much of this process, speeding up development and reducing mistakes.</a:t>
            </a:r>
            <a:endParaRPr/>
          </a:p>
          <a:p>
            <a:pPr indent="-228600" lvl="0" marL="228600" rtl="0" algn="l">
              <a:lnSpc>
                <a:spcPct val="90000"/>
              </a:lnSpc>
              <a:spcBef>
                <a:spcPts val="1000"/>
              </a:spcBef>
              <a:spcAft>
                <a:spcPts val="0"/>
              </a:spcAft>
              <a:buClr>
                <a:schemeClr val="dk1"/>
              </a:buClr>
              <a:buSzPct val="100000"/>
              <a:buChar char="•"/>
            </a:pPr>
            <a:r>
              <a:rPr lang="en-US"/>
              <a:t>•	</a:t>
            </a:r>
            <a:r>
              <a:rPr b="1" lang="en-US"/>
              <a:t>Maintaining Consistency</a:t>
            </a:r>
            <a:r>
              <a:rPr lang="en-US"/>
              <a:t>: As designs evolve, it's crucial that the code stays in sync. Transformation helps ensure the implemented software reflects the latest design decisions.</a:t>
            </a:r>
            <a:endParaRPr/>
          </a:p>
          <a:p>
            <a:pPr indent="-228600" lvl="0" marL="228600" rtl="0" algn="l">
              <a:lnSpc>
                <a:spcPct val="90000"/>
              </a:lnSpc>
              <a:spcBef>
                <a:spcPts val="1000"/>
              </a:spcBef>
              <a:spcAft>
                <a:spcPts val="0"/>
              </a:spcAft>
              <a:buClr>
                <a:schemeClr val="dk1"/>
              </a:buClr>
              <a:buSzPct val="100000"/>
              <a:buChar char="•"/>
            </a:pPr>
            <a:r>
              <a:rPr lang="en-US"/>
              <a:t>•	</a:t>
            </a:r>
            <a:r>
              <a:rPr b="1" lang="en-US"/>
              <a:t>Enabling Change</a:t>
            </a:r>
            <a:r>
              <a:rPr lang="en-US"/>
              <a:t>: Software needs to adapt over time. Transformation makes it easier to update code when the underlying models change, supporting agile development practices.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Example:</a:t>
            </a:r>
            <a:endParaRPr/>
          </a:p>
          <a:p>
            <a:pPr indent="-228600" lvl="0" marL="228600" rtl="0" algn="l">
              <a:lnSpc>
                <a:spcPct val="90000"/>
              </a:lnSpc>
              <a:spcBef>
                <a:spcPts val="1000"/>
              </a:spcBef>
              <a:spcAft>
                <a:spcPts val="0"/>
              </a:spcAft>
              <a:buClr>
                <a:schemeClr val="dk1"/>
              </a:buClr>
              <a:buSzPct val="100000"/>
              <a:buChar char="•"/>
            </a:pPr>
            <a:r>
              <a:rPr lang="en-US"/>
              <a:t>Imagine you're designing a basic calculator app. You might start with a simple diagram showing buttons for numbers and operations, and how they connect to the underlying calculation logic. Transformation would take this diagram and generate the actual code that creates the buttons, handles user input, performs calculations, and displays results on the screen.</a:t>
            </a:r>
            <a:endParaRPr/>
          </a:p>
          <a:p>
            <a:pPr indent="-228600" lvl="0" marL="228600" rtl="0" algn="l">
              <a:lnSpc>
                <a:spcPct val="90000"/>
              </a:lnSpc>
              <a:spcBef>
                <a:spcPts val="1000"/>
              </a:spcBef>
              <a:spcAft>
                <a:spcPts val="0"/>
              </a:spcAft>
              <a:buClr>
                <a:schemeClr val="dk1"/>
              </a:buClr>
              <a:buSzPct val="100000"/>
              <a:buChar char="•"/>
            </a:pPr>
            <a:r>
              <a:rPr lang="en-US"/>
              <a:t>In essence: Transformation is like a bridge between the world of ideas and the world of working software, making it possible to turn designs into reality efficiently and accurately.</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14" name="Google Shape;114;p5"/>
          <p:cNvSpPr txBox="1"/>
          <p:nvPr/>
        </p:nvSpPr>
        <p:spPr>
          <a:xfrm>
            <a:off x="990600" y="5175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Play"/>
              <a:buNone/>
            </a:pPr>
            <a:r>
              <a:rPr b="0" i="0" lang="en-US" sz="4400" u="none" cap="none" strike="noStrike">
                <a:solidFill>
                  <a:schemeClr val="dk1"/>
                </a:solidFill>
                <a:latin typeface="Play"/>
                <a:ea typeface="Play"/>
                <a:cs typeface="Play"/>
                <a:sym typeface="Play"/>
              </a:rPr>
              <a:t>Transformation 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Transformation Activities</a:t>
            </a:r>
            <a:endParaRPr/>
          </a:p>
        </p:txBody>
      </p:sp>
      <p:sp>
        <p:nvSpPr>
          <p:cNvPr id="120" name="Google Shape;120;p6"/>
          <p:cNvSpPr txBox="1"/>
          <p:nvPr>
            <p:ph idx="1" type="body"/>
          </p:nvPr>
        </p:nvSpPr>
        <p:spPr>
          <a:xfrm>
            <a:off x="838200" y="1360714"/>
            <a:ext cx="10515600" cy="4816249"/>
          </a:xfrm>
          <a:prstGeom prst="rect">
            <a:avLst/>
          </a:prstGeom>
          <a:noFill/>
          <a:ln>
            <a:noFill/>
          </a:ln>
        </p:spPr>
        <p:txBody>
          <a:bodyPr anchorCtr="0" anchor="t" bIns="45700" lIns="91425" spcFirstLastPara="1" rIns="91425" wrap="square" tIns="45700">
            <a:noAutofit/>
          </a:bodyPr>
          <a:lstStyle/>
          <a:p>
            <a:pPr indent="-342900" lvl="0" marL="342900" rtl="0" algn="l">
              <a:lnSpc>
                <a:spcPct val="116666"/>
              </a:lnSpc>
              <a:spcBef>
                <a:spcPts val="0"/>
              </a:spcBef>
              <a:spcAft>
                <a:spcPts val="0"/>
              </a:spcAft>
              <a:buClr>
                <a:srgbClr val="1F1F1F"/>
              </a:buClr>
              <a:buSzPts val="1000"/>
              <a:buFont typeface="Noto Sans Symbols"/>
              <a:buChar char="∙"/>
            </a:pPr>
            <a:r>
              <a:rPr b="1" lang="en-US" sz="1800">
                <a:solidFill>
                  <a:srgbClr val="1F1F1F"/>
                </a:solidFill>
                <a:latin typeface="Calibri"/>
                <a:ea typeface="Calibri"/>
                <a:cs typeface="Calibri"/>
                <a:sym typeface="Calibri"/>
              </a:rPr>
              <a:t>Optimization:</a:t>
            </a:r>
            <a:r>
              <a:rPr lang="en-US" sz="1800">
                <a:solidFill>
                  <a:srgbClr val="1F1F1F"/>
                </a:solidFill>
                <a:latin typeface="Calibri"/>
                <a:ea typeface="Calibri"/>
                <a:cs typeface="Calibri"/>
                <a:sym typeface="Calibri"/>
              </a:rPr>
              <a:t> Improves the efficiency of generated code by eliminating redundancies or applying performance-enhancing techniques. </a:t>
            </a:r>
            <a:endParaRPr sz="1800">
              <a:solidFill>
                <a:srgbClr val="1F1F1F"/>
              </a:solidFill>
              <a:latin typeface="Calibri"/>
              <a:ea typeface="Calibri"/>
              <a:cs typeface="Calibri"/>
              <a:sym typeface="Calibri"/>
            </a:endParaRPr>
          </a:p>
          <a:p>
            <a:pPr indent="-285750" lvl="1" marL="742950" rtl="0" algn="l">
              <a:lnSpc>
                <a:spcPct val="116666"/>
              </a:lnSpc>
              <a:spcBef>
                <a:spcPts val="1300"/>
              </a:spcBef>
              <a:spcAft>
                <a:spcPts val="0"/>
              </a:spcAft>
              <a:buClr>
                <a:srgbClr val="1F1F1F"/>
              </a:buClr>
              <a:buSzPts val="1000"/>
              <a:buFont typeface="Courier New"/>
              <a:buChar char="o"/>
            </a:pPr>
            <a:r>
              <a:rPr i="1" lang="en-US" sz="1800">
                <a:solidFill>
                  <a:srgbClr val="1F1F1F"/>
                </a:solidFill>
                <a:latin typeface="Calibri"/>
                <a:ea typeface="Calibri"/>
                <a:cs typeface="Calibri"/>
                <a:sym typeface="Calibri"/>
              </a:rPr>
              <a:t>Example:</a:t>
            </a:r>
            <a:r>
              <a:rPr lang="en-US" sz="1800">
                <a:solidFill>
                  <a:srgbClr val="1F1F1F"/>
                </a:solidFill>
                <a:latin typeface="Calibri"/>
                <a:ea typeface="Calibri"/>
                <a:cs typeface="Calibri"/>
                <a:sym typeface="Calibri"/>
              </a:rPr>
              <a:t> Combining multiple database queries into a single optimized query.</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b="1" lang="en-US" sz="1800">
                <a:solidFill>
                  <a:srgbClr val="1F1F1F"/>
                </a:solidFill>
                <a:latin typeface="Calibri"/>
                <a:ea typeface="Calibri"/>
                <a:cs typeface="Calibri"/>
                <a:sym typeface="Calibri"/>
              </a:rPr>
              <a:t>Realizing associations:</a:t>
            </a:r>
            <a:r>
              <a:rPr lang="en-US" sz="1800">
                <a:solidFill>
                  <a:srgbClr val="1F1F1F"/>
                </a:solidFill>
                <a:latin typeface="Calibri"/>
                <a:ea typeface="Calibri"/>
                <a:cs typeface="Calibri"/>
                <a:sym typeface="Calibri"/>
              </a:rPr>
              <a:t> Implements relationships between classes (e.g., associations, aggregations, compositions) in code. </a:t>
            </a:r>
            <a:endParaRPr sz="1800">
              <a:solidFill>
                <a:srgbClr val="1F1F1F"/>
              </a:solidFill>
              <a:latin typeface="Calibri"/>
              <a:ea typeface="Calibri"/>
              <a:cs typeface="Calibri"/>
              <a:sym typeface="Calibri"/>
            </a:endParaRPr>
          </a:p>
          <a:p>
            <a:pPr indent="-285750" lvl="1" marL="742950" rtl="0" algn="l">
              <a:lnSpc>
                <a:spcPct val="116666"/>
              </a:lnSpc>
              <a:spcBef>
                <a:spcPts val="1300"/>
              </a:spcBef>
              <a:spcAft>
                <a:spcPts val="0"/>
              </a:spcAft>
              <a:buClr>
                <a:srgbClr val="1F1F1F"/>
              </a:buClr>
              <a:buSzPts val="1000"/>
              <a:buFont typeface="Courier New"/>
              <a:buChar char="o"/>
            </a:pPr>
            <a:r>
              <a:rPr i="1" lang="en-US" sz="1800">
                <a:solidFill>
                  <a:srgbClr val="1F1F1F"/>
                </a:solidFill>
                <a:latin typeface="Calibri"/>
                <a:ea typeface="Calibri"/>
                <a:cs typeface="Calibri"/>
                <a:sym typeface="Calibri"/>
              </a:rPr>
              <a:t>Example:</a:t>
            </a:r>
            <a:r>
              <a:rPr lang="en-US" sz="1800">
                <a:solidFill>
                  <a:srgbClr val="1F1F1F"/>
                </a:solidFill>
                <a:latin typeface="Calibri"/>
                <a:ea typeface="Calibri"/>
                <a:cs typeface="Calibri"/>
                <a:sym typeface="Calibri"/>
              </a:rPr>
              <a:t> Creating foreign key relationships in a database schema based on class associations.</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b="1" lang="en-US" sz="1800">
                <a:solidFill>
                  <a:srgbClr val="1F1F1F"/>
                </a:solidFill>
                <a:latin typeface="Calibri"/>
                <a:ea typeface="Calibri"/>
                <a:cs typeface="Calibri"/>
                <a:sym typeface="Calibri"/>
              </a:rPr>
              <a:t>Mapping contracts to exceptions:</a:t>
            </a:r>
            <a:r>
              <a:rPr lang="en-US" sz="1800">
                <a:solidFill>
                  <a:srgbClr val="1F1F1F"/>
                </a:solidFill>
                <a:latin typeface="Calibri"/>
                <a:ea typeface="Calibri"/>
                <a:cs typeface="Calibri"/>
                <a:sym typeface="Calibri"/>
              </a:rPr>
              <a:t> Translates preconditions and postconditions from models into exception handling mechanisms in code. </a:t>
            </a:r>
            <a:endParaRPr sz="1800">
              <a:solidFill>
                <a:srgbClr val="1F1F1F"/>
              </a:solidFill>
              <a:latin typeface="Calibri"/>
              <a:ea typeface="Calibri"/>
              <a:cs typeface="Calibri"/>
              <a:sym typeface="Calibri"/>
            </a:endParaRPr>
          </a:p>
          <a:p>
            <a:pPr indent="-285750" lvl="1" marL="742950" rtl="0" algn="l">
              <a:lnSpc>
                <a:spcPct val="116666"/>
              </a:lnSpc>
              <a:spcBef>
                <a:spcPts val="1300"/>
              </a:spcBef>
              <a:spcAft>
                <a:spcPts val="0"/>
              </a:spcAft>
              <a:buClr>
                <a:srgbClr val="1F1F1F"/>
              </a:buClr>
              <a:buSzPts val="1000"/>
              <a:buFont typeface="Courier New"/>
              <a:buChar char="o"/>
            </a:pPr>
            <a:r>
              <a:rPr i="1" lang="en-US" sz="1800">
                <a:solidFill>
                  <a:srgbClr val="1F1F1F"/>
                </a:solidFill>
                <a:latin typeface="Calibri"/>
                <a:ea typeface="Calibri"/>
                <a:cs typeface="Calibri"/>
                <a:sym typeface="Calibri"/>
              </a:rPr>
              <a:t>Example:</a:t>
            </a:r>
            <a:r>
              <a:rPr lang="en-US" sz="1800">
                <a:solidFill>
                  <a:srgbClr val="1F1F1F"/>
                </a:solidFill>
                <a:latin typeface="Calibri"/>
                <a:ea typeface="Calibri"/>
                <a:cs typeface="Calibri"/>
                <a:sym typeface="Calibri"/>
              </a:rPr>
              <a:t> Generating code that throws an exception if a method's input parameters violate a specified precondition.</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b="1" lang="en-US" sz="1800">
                <a:solidFill>
                  <a:srgbClr val="1F1F1F"/>
                </a:solidFill>
                <a:latin typeface="Calibri"/>
                <a:ea typeface="Calibri"/>
                <a:cs typeface="Calibri"/>
                <a:sym typeface="Calibri"/>
              </a:rPr>
              <a:t>Mapping class models to a storage schema:</a:t>
            </a:r>
            <a:r>
              <a:rPr lang="en-US" sz="1800">
                <a:solidFill>
                  <a:srgbClr val="1F1F1F"/>
                </a:solidFill>
                <a:latin typeface="Calibri"/>
                <a:ea typeface="Calibri"/>
                <a:cs typeface="Calibri"/>
                <a:sym typeface="Calibri"/>
              </a:rPr>
              <a:t> Converts class structures and attributes into database tables and columns. </a:t>
            </a:r>
            <a:endParaRPr sz="1800">
              <a:solidFill>
                <a:srgbClr val="1F1F1F"/>
              </a:solidFill>
              <a:latin typeface="Calibri"/>
              <a:ea typeface="Calibri"/>
              <a:cs typeface="Calibri"/>
              <a:sym typeface="Calibri"/>
            </a:endParaRPr>
          </a:p>
          <a:p>
            <a:pPr indent="-285750" lvl="1" marL="742950" rtl="0" algn="l">
              <a:lnSpc>
                <a:spcPct val="116666"/>
              </a:lnSpc>
              <a:spcBef>
                <a:spcPts val="1300"/>
              </a:spcBef>
              <a:spcAft>
                <a:spcPts val="0"/>
              </a:spcAft>
              <a:buClr>
                <a:srgbClr val="1F1F1F"/>
              </a:buClr>
              <a:buSzPts val="1000"/>
              <a:buFont typeface="Courier New"/>
              <a:buChar char="o"/>
            </a:pPr>
            <a:r>
              <a:rPr i="1" lang="en-US" sz="1800">
                <a:solidFill>
                  <a:srgbClr val="1F1F1F"/>
                </a:solidFill>
                <a:latin typeface="Calibri"/>
                <a:ea typeface="Calibri"/>
                <a:cs typeface="Calibri"/>
                <a:sym typeface="Calibri"/>
              </a:rPr>
              <a:t>Example:</a:t>
            </a:r>
            <a:r>
              <a:rPr lang="en-US" sz="1800">
                <a:solidFill>
                  <a:srgbClr val="1F1F1F"/>
                </a:solidFill>
                <a:latin typeface="Calibri"/>
                <a:ea typeface="Calibri"/>
                <a:cs typeface="Calibri"/>
                <a:sym typeface="Calibri"/>
              </a:rPr>
              <a:t> Mapping a </a:t>
            </a:r>
            <a:r>
              <a:rPr lang="en-US" sz="1800">
                <a:solidFill>
                  <a:srgbClr val="444746"/>
                </a:solidFill>
                <a:latin typeface="Calibri"/>
                <a:ea typeface="Calibri"/>
                <a:cs typeface="Calibri"/>
                <a:sym typeface="Calibri"/>
              </a:rPr>
              <a:t>Customer</a:t>
            </a:r>
            <a:r>
              <a:rPr lang="en-US" sz="1800">
                <a:solidFill>
                  <a:srgbClr val="1F1F1F"/>
                </a:solidFill>
                <a:latin typeface="Calibri"/>
                <a:ea typeface="Calibri"/>
                <a:cs typeface="Calibri"/>
                <a:sym typeface="Calibri"/>
              </a:rPr>
              <a:t> class with </a:t>
            </a:r>
            <a:r>
              <a:rPr lang="en-US" sz="1800">
                <a:solidFill>
                  <a:srgbClr val="444746"/>
                </a:solidFill>
                <a:latin typeface="Calibri"/>
                <a:ea typeface="Calibri"/>
                <a:cs typeface="Calibri"/>
                <a:sym typeface="Calibri"/>
              </a:rPr>
              <a:t>name</a:t>
            </a:r>
            <a:r>
              <a:rPr lang="en-US" sz="1800">
                <a:solidFill>
                  <a:srgbClr val="1F1F1F"/>
                </a:solidFill>
                <a:latin typeface="Calibri"/>
                <a:ea typeface="Calibri"/>
                <a:cs typeface="Calibri"/>
                <a:sym typeface="Calibri"/>
              </a:rPr>
              <a:t> and </a:t>
            </a:r>
            <a:r>
              <a:rPr lang="en-US" sz="1800">
                <a:solidFill>
                  <a:srgbClr val="444746"/>
                </a:solidFill>
                <a:latin typeface="Calibri"/>
                <a:ea typeface="Calibri"/>
                <a:cs typeface="Calibri"/>
                <a:sym typeface="Calibri"/>
              </a:rPr>
              <a:t>address</a:t>
            </a:r>
            <a:r>
              <a:rPr lang="en-US" sz="1800">
                <a:solidFill>
                  <a:srgbClr val="1F1F1F"/>
                </a:solidFill>
                <a:latin typeface="Calibri"/>
                <a:ea typeface="Calibri"/>
                <a:cs typeface="Calibri"/>
                <a:sym typeface="Calibri"/>
              </a:rPr>
              <a:t> attributes to a </a:t>
            </a:r>
            <a:r>
              <a:rPr lang="en-US" sz="1800">
                <a:solidFill>
                  <a:srgbClr val="444746"/>
                </a:solidFill>
                <a:latin typeface="Calibri"/>
                <a:ea typeface="Calibri"/>
                <a:cs typeface="Calibri"/>
                <a:sym typeface="Calibri"/>
              </a:rPr>
              <a:t>Customers</a:t>
            </a:r>
            <a:r>
              <a:rPr lang="en-US" sz="1800">
                <a:solidFill>
                  <a:srgbClr val="1F1F1F"/>
                </a:solidFill>
                <a:latin typeface="Calibri"/>
                <a:ea typeface="Calibri"/>
                <a:cs typeface="Calibri"/>
                <a:sym typeface="Calibri"/>
              </a:rPr>
              <a:t> table with corresponding columns.</a:t>
            </a:r>
            <a:endParaRPr sz="1800">
              <a:solidFill>
                <a:srgbClr val="1F1F1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 calcmode="lin" valueType="num">
                                      <p:cBhvr additive="base">
                                        <p:cTn dur="500"/>
                                        <p:tgtEl>
                                          <p:spTgt spid="12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 calcmode="lin" valueType="num">
                                      <p:cBhvr additive="base">
                                        <p:cTn dur="500"/>
                                        <p:tgtEl>
                                          <p:spTgt spid="12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 calcmode="lin" valueType="num">
                                      <p:cBhvr additive="base">
                                        <p:cTn dur="500"/>
                                        <p:tgtEl>
                                          <p:spTgt spid="12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 calcmode="lin" valueType="num">
                                      <p:cBhvr additive="base">
                                        <p:cTn dur="500"/>
                                        <p:tgtEl>
                                          <p:spTgt spid="12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 calcmode="lin" valueType="num">
                                      <p:cBhvr additive="base">
                                        <p:cTn dur="500"/>
                                        <p:tgtEl>
                                          <p:spTgt spid="12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 calcmode="lin" valueType="num">
                                      <p:cBhvr additive="base">
                                        <p:cTn dur="500"/>
                                        <p:tgtEl>
                                          <p:spTgt spid="12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 calcmode="lin" valueType="num">
                                      <p:cBhvr additive="base">
                                        <p:cTn dur="500"/>
                                        <p:tgtEl>
                                          <p:spTgt spid="12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0">
                                            <p:txEl>
                                              <p:pRg end="7" st="7"/>
                                            </p:txEl>
                                          </p:spTgt>
                                        </p:tgtEl>
                                        <p:attrNameLst>
                                          <p:attrName>style.visibility</p:attrName>
                                        </p:attrNameLst>
                                      </p:cBhvr>
                                      <p:to>
                                        <p:strVal val="visible"/>
                                      </p:to>
                                    </p:set>
                                    <p:anim calcmode="lin" valueType="num">
                                      <p:cBhvr additive="base">
                                        <p:cTn dur="500"/>
                                        <p:tgtEl>
                                          <p:spTgt spid="12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Types of Transformation: </a:t>
            </a:r>
            <a:endParaRPr/>
          </a:p>
        </p:txBody>
      </p:sp>
      <p:sp>
        <p:nvSpPr>
          <p:cNvPr id="126" name="Google Shape;126;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Transformation in software development encompasses a range of techniques that help us modify and adapt our software throughout its creation, maintenance, and evolution.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8"/>
          <p:cNvSpPr txBox="1"/>
          <p:nvPr>
            <p:ph type="title"/>
          </p:nvPr>
        </p:nvSpPr>
        <p:spPr>
          <a:xfrm>
            <a:off x="776614" y="365126"/>
            <a:ext cx="10577186" cy="9250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lang="en-US" sz="2800"/>
              <a:t>1. Model Transformations: Changing Perspectives</a:t>
            </a:r>
            <a:endParaRPr/>
          </a:p>
        </p:txBody>
      </p:sp>
      <p:graphicFrame>
        <p:nvGraphicFramePr>
          <p:cNvPr id="132" name="Google Shape;132;p8"/>
          <p:cNvGraphicFramePr/>
          <p:nvPr/>
        </p:nvGraphicFramePr>
        <p:xfrm>
          <a:off x="413359" y="1239182"/>
          <a:ext cx="3000000" cy="3000000"/>
        </p:xfrm>
        <a:graphic>
          <a:graphicData uri="http://schemas.openxmlformats.org/drawingml/2006/table">
            <a:tbl>
              <a:tblPr bandRow="1" firstRow="1">
                <a:noFill/>
                <a:tableStyleId>{8467D305-AB66-4675-80A6-48631E0E551A}</a:tableStyleId>
              </a:tblPr>
              <a:tblGrid>
                <a:gridCol w="5720225"/>
                <a:gridCol w="5257800"/>
              </a:tblGrid>
              <a:tr h="454750">
                <a:tc>
                  <a:txBody>
                    <a:bodyPr/>
                    <a:lstStyle/>
                    <a:p>
                      <a:pPr indent="0" lvl="0" marL="0" marR="0" rtl="0" algn="l">
                        <a:spcBef>
                          <a:spcPts val="0"/>
                        </a:spcBef>
                        <a:spcAft>
                          <a:spcPts val="0"/>
                        </a:spcAft>
                        <a:buNone/>
                      </a:pPr>
                      <a:r>
                        <a:rPr lang="en-US" sz="1800" u="none" cap="none" strike="noStrike"/>
                        <a:t>Explanation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t>Sample Java Code Scenario: Transforming a UML class diagram into Java code</a:t>
                      </a:r>
                      <a:endParaRPr sz="1800"/>
                    </a:p>
                  </a:txBody>
                  <a:tcPr marT="45725" marB="45725" marR="91450" marL="91450"/>
                </a:tc>
              </a:tr>
              <a:tr h="370850">
                <a:tc>
                  <a:txBody>
                    <a:bodyPr/>
                    <a:lstStyle/>
                    <a:p>
                      <a:pPr indent="0" lvl="0" marL="0" marR="0" rtl="0" algn="l">
                        <a:spcBef>
                          <a:spcPts val="0"/>
                        </a:spcBef>
                        <a:spcAft>
                          <a:spcPts val="0"/>
                        </a:spcAft>
                        <a:buNone/>
                      </a:pPr>
                      <a:r>
                        <a:rPr lang="en-US" sz="1800"/>
                        <a:t>Convert one type of model into another, often to suit different stages of development or target different platforms.</a:t>
                      </a:r>
                      <a:endParaRPr/>
                    </a:p>
                    <a:p>
                      <a:pPr indent="0" lvl="0" marL="0" marR="0" rtl="0" algn="l">
                        <a:spcBef>
                          <a:spcPts val="0"/>
                        </a:spcBef>
                        <a:spcAft>
                          <a:spcPts val="0"/>
                        </a:spcAft>
                        <a:buNone/>
                      </a:pPr>
                      <a:r>
                        <a:rPr lang="en-US" sz="1800"/>
                        <a:t>•	Example 1: You start with a high-level UML class diagram outlining the structure of your software. A model transformation could convert this into a more detailed Entity-Relationship diagram, ready for database design.</a:t>
                      </a:r>
                      <a:endParaRPr/>
                    </a:p>
                    <a:p>
                      <a:pPr indent="0" lvl="0" marL="0" marR="0" rtl="0" algn="l">
                        <a:spcBef>
                          <a:spcPts val="0"/>
                        </a:spcBef>
                        <a:spcAft>
                          <a:spcPts val="0"/>
                        </a:spcAft>
                        <a:buNone/>
                      </a:pPr>
                      <a:r>
                        <a:rPr lang="en-US" sz="1800"/>
                        <a:t>•	Example 2: You have a platform-independent model of your application. Model transformations help tailor this to specific platforms (like web or mobile) by generating platform-specific models or code snippets.</a:t>
                      </a:r>
                      <a:endParaRPr/>
                    </a:p>
                  </a:txBody>
                  <a:tcPr marT="45725" marB="45725" marR="91450" marL="91450"/>
                </a:tc>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Code Before Transformation (UML Diagram):</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Person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 name: String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 age: int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 getName(): String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 getAge(): int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
                      </a:r>
                      <a:endParaRPr/>
                    </a:p>
                    <a:p>
                      <a:pPr indent="0" lvl="0" marL="0" marR="0" rtl="0" algn="l">
                        <a:spcBef>
                          <a:spcPts val="0"/>
                        </a:spcBef>
                        <a:spcAft>
                          <a:spcPts val="0"/>
                        </a:spcAft>
                        <a:buNone/>
                      </a:pPr>
                      <a:r>
                        <a:rPr b="1" lang="en-US" sz="1200">
                          <a:solidFill>
                            <a:schemeClr val="dk1"/>
                          </a:solidFill>
                          <a:latin typeface="Arial"/>
                          <a:ea typeface="Arial"/>
                          <a:cs typeface="Arial"/>
                          <a:sym typeface="Arial"/>
                        </a:rPr>
                        <a:t>Code After Transformation (Java Code):</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Java</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public class Person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private String name;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private int age;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public String getName()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return name;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public int getAge()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return    age;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t>
                      </a:r>
                      <a:endParaRPr sz="12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DCD(Design Class Diagrams)</a:t>
            </a:r>
            <a:endParaRPr/>
          </a:p>
        </p:txBody>
      </p:sp>
      <p:sp>
        <p:nvSpPr>
          <p:cNvPr id="138" name="Google Shape;138;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Example: Basic class translation</a:t>
            </a:r>
            <a:endParaRPr/>
          </a:p>
        </p:txBody>
      </p:sp>
      <p:pic>
        <p:nvPicPr>
          <p:cNvPr id="139" name="Google Shape;139;p9"/>
          <p:cNvPicPr preferRelativeResize="0"/>
          <p:nvPr/>
        </p:nvPicPr>
        <p:blipFill rotWithShape="1">
          <a:blip r:embed="rId3">
            <a:alphaModFix/>
          </a:blip>
          <a:srcRect b="0" l="0" r="0" t="0"/>
          <a:stretch/>
        </p:blipFill>
        <p:spPr>
          <a:xfrm>
            <a:off x="722808" y="2148036"/>
            <a:ext cx="10845800" cy="430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type="title"/>
          </p:nvPr>
        </p:nvSpPr>
        <p:spPr>
          <a:xfrm>
            <a:off x="839244" y="365125"/>
            <a:ext cx="10514556" cy="37391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2800"/>
              <a:t>2. Refactoring: Improving Code's Inner Workings</a:t>
            </a:r>
            <a:endParaRPr sz="2800"/>
          </a:p>
        </p:txBody>
      </p:sp>
      <p:graphicFrame>
        <p:nvGraphicFramePr>
          <p:cNvPr id="145" name="Google Shape;145;p10"/>
          <p:cNvGraphicFramePr/>
          <p:nvPr/>
        </p:nvGraphicFramePr>
        <p:xfrm>
          <a:off x="438411" y="772856"/>
          <a:ext cx="3000000" cy="3000000"/>
        </p:xfrm>
        <a:graphic>
          <a:graphicData uri="http://schemas.openxmlformats.org/drawingml/2006/table">
            <a:tbl>
              <a:tblPr bandRow="1" firstRow="1">
                <a:noFill/>
                <a:tableStyleId>{8467D305-AB66-4675-80A6-48631E0E551A}</a:tableStyleId>
              </a:tblPr>
              <a:tblGrid>
                <a:gridCol w="5937325"/>
                <a:gridCol w="5636700"/>
              </a:tblGrid>
              <a:tr h="454750">
                <a:tc>
                  <a:txBody>
                    <a:bodyPr/>
                    <a:lstStyle/>
                    <a:p>
                      <a:pPr indent="0" lvl="0" marL="0" marR="0" rtl="0" algn="l">
                        <a:spcBef>
                          <a:spcPts val="0"/>
                        </a:spcBef>
                        <a:spcAft>
                          <a:spcPts val="0"/>
                        </a:spcAft>
                        <a:buNone/>
                      </a:pPr>
                      <a:r>
                        <a:rPr lang="en-US" sz="1800"/>
                        <a:t>Explanation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t>Sample Java Code Scenario: </a:t>
                      </a:r>
                      <a:r>
                        <a:rPr b="1" lang="en-US" sz="1800">
                          <a:solidFill>
                            <a:schemeClr val="lt1"/>
                          </a:solidFill>
                          <a:latin typeface="Arial"/>
                          <a:ea typeface="Arial"/>
                          <a:cs typeface="Arial"/>
                          <a:sym typeface="Arial"/>
                        </a:rPr>
                        <a:t>Extracting a method to improve code readability and reusability.</a:t>
                      </a:r>
                      <a:endParaRPr/>
                    </a:p>
                  </a:txBody>
                  <a:tcPr marT="45725" marB="45725" marR="91450" marL="91450"/>
                </a:tc>
              </a:tr>
              <a:tr h="5097725">
                <a:tc>
                  <a:txBody>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Restructure existing code to make it cleaner, more readable, and easier to maintain, without altering its external behavior. Think of it like reorganizing a messy room - everything is still there, just better arranged.</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Example 1:</a:t>
                      </a:r>
                      <a:r>
                        <a:rPr lang="en-US" sz="1800">
                          <a:solidFill>
                            <a:schemeClr val="dk1"/>
                          </a:solidFill>
                          <a:latin typeface="Arial"/>
                          <a:ea typeface="Arial"/>
                          <a:cs typeface="Arial"/>
                          <a:sym typeface="Arial"/>
                        </a:rPr>
                        <a:t> You have a long, complex method. Refactoring might involve extracting smaller, more focused methods from it, improving clarity and reusability.</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Example 2:</a:t>
                      </a:r>
                      <a:r>
                        <a:rPr lang="en-US" sz="1800">
                          <a:solidFill>
                            <a:schemeClr val="dk1"/>
                          </a:solidFill>
                          <a:latin typeface="Arial"/>
                          <a:ea typeface="Arial"/>
                          <a:cs typeface="Arial"/>
                          <a:sym typeface="Arial"/>
                        </a:rPr>
                        <a:t> You notice duplicate code in several places. Refactoring can help consolidate this into a single, shared function or class, reducing redundancy and making future changes easier.</a:t>
                      </a:r>
                      <a:endParaRPr/>
                    </a:p>
                  </a:txBody>
                  <a:tcPr marT="45725" marB="45725" marR="91450" marL="91450"/>
                </a:tc>
                <a:tc>
                  <a:txBody>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Code Before Transformation:</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Java</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public class Calculator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public int calculateArea(int length, int width)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 ... (complex calculations involving length and width)</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return area;</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a:t>
                      </a:r>
                      <a:endParaRPr/>
                    </a:p>
                    <a:p>
                      <a:pPr indent="0" lvl="0" marL="0" marR="0" rtl="0" algn="l">
                        <a:spcBef>
                          <a:spcPts val="0"/>
                        </a:spcBef>
                        <a:spcAft>
                          <a:spcPts val="0"/>
                        </a:spcAft>
                        <a:buNone/>
                      </a:pPr>
                      <a:r>
                        <a:rPr b="1" lang="en-US" sz="1400">
                          <a:solidFill>
                            <a:schemeClr val="dk1"/>
                          </a:solidFill>
                          <a:latin typeface="Arial"/>
                          <a:ea typeface="Arial"/>
                          <a:cs typeface="Arial"/>
                          <a:sym typeface="Arial"/>
                        </a:rPr>
                        <a:t>Code After Transformation:</a:t>
                      </a:r>
                      <a:endParaRPr sz="1400">
                        <a:solidFill>
                          <a:schemeClr val="dk1"/>
                        </a:solidFill>
                        <a:latin typeface="Arial"/>
                        <a:ea typeface="Arial"/>
                        <a:cs typeface="Arial"/>
                        <a:sym typeface="Arial"/>
                      </a:endParaRPr>
                    </a:p>
                    <a:p>
                      <a:pPr indent="0" lvl="0" marL="0" marR="0" rtl="0" algn="l">
                        <a:spcBef>
                          <a:spcPts val="0"/>
                        </a:spcBef>
                        <a:spcAft>
                          <a:spcPts val="0"/>
                        </a:spcAft>
                        <a:buNone/>
                      </a:pPr>
                      <a:r>
                        <a:rPr lang="en-US" sz="1400">
                          <a:solidFill>
                            <a:schemeClr val="dk1"/>
                          </a:solidFill>
                          <a:latin typeface="Arial"/>
                          <a:ea typeface="Arial"/>
                          <a:cs typeface="Arial"/>
                          <a:sym typeface="Arial"/>
                        </a:rPr>
                        <a:t>Java</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public class Calculator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public int calculateArea(int length, int width)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int area = performComplexCalculations(length, width);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return area;</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private int performComplexCalculations(int length, int width) {</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 ... (complex calculations)</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return area;</a:t>
                      </a:r>
                      <a:endParaRPr/>
                    </a:p>
                    <a:p>
                      <a:pPr indent="0" lvl="0" marL="0" marR="0" rtl="0" algn="l">
                        <a:spcBef>
                          <a:spcPts val="0"/>
                        </a:spcBef>
                        <a:spcAft>
                          <a:spcPts val="0"/>
                        </a:spcAft>
                        <a:buNone/>
                      </a:pPr>
                      <a:r>
                        <a:rPr lang="en-US" sz="1400">
                          <a:solidFill>
                            <a:schemeClr val="dk1"/>
                          </a:solidFill>
                          <a:latin typeface="Arial"/>
                          <a:ea typeface="Arial"/>
                          <a:cs typeface="Arial"/>
                          <a:sym typeface="Arial"/>
                        </a:rPr>
                        <a:t>    }}</a:t>
                      </a:r>
                      <a:endParaRPr sz="1400">
                        <a:solidFill>
                          <a:schemeClr val="dk1"/>
                        </a:solidFill>
                        <a:latin typeface="Arial"/>
                        <a:ea typeface="Arial"/>
                        <a:cs typeface="Arial"/>
                        <a:sym typeface="Arial"/>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814192" y="365126"/>
            <a:ext cx="10539608" cy="8123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lang="en-US" sz="2800"/>
              <a:t>3. Forward Engineering: From Design to Reality</a:t>
            </a:r>
            <a:endParaRPr sz="2800"/>
          </a:p>
        </p:txBody>
      </p:sp>
      <p:graphicFrame>
        <p:nvGraphicFramePr>
          <p:cNvPr id="151" name="Google Shape;151;p11"/>
          <p:cNvGraphicFramePr/>
          <p:nvPr/>
        </p:nvGraphicFramePr>
        <p:xfrm>
          <a:off x="350729" y="1063459"/>
          <a:ext cx="3000000" cy="3000000"/>
        </p:xfrm>
        <a:graphic>
          <a:graphicData uri="http://schemas.openxmlformats.org/drawingml/2006/table">
            <a:tbl>
              <a:tblPr bandRow="1" firstRow="1">
                <a:noFill/>
                <a:tableStyleId>{8467D305-AB66-4675-80A6-48631E0E551A}</a:tableStyleId>
              </a:tblPr>
              <a:tblGrid>
                <a:gridCol w="5682650"/>
                <a:gridCol w="5853825"/>
              </a:tblGrid>
              <a:tr h="454750">
                <a:tc>
                  <a:txBody>
                    <a:bodyPr/>
                    <a:lstStyle/>
                    <a:p>
                      <a:pPr indent="0" lvl="0" marL="0" marR="0" rtl="0" algn="l">
                        <a:spcBef>
                          <a:spcPts val="0"/>
                        </a:spcBef>
                        <a:spcAft>
                          <a:spcPts val="0"/>
                        </a:spcAft>
                        <a:buNone/>
                      </a:pPr>
                      <a:r>
                        <a:rPr lang="en-US" sz="1800"/>
                        <a:t>Explanation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t>Sample Java Code Scenario: </a:t>
                      </a:r>
                      <a:r>
                        <a:rPr b="1" lang="en-US" sz="1800">
                          <a:solidFill>
                            <a:schemeClr val="lt1"/>
                          </a:solidFill>
                          <a:latin typeface="Arial"/>
                          <a:ea typeface="Arial"/>
                          <a:cs typeface="Arial"/>
                          <a:sym typeface="Arial"/>
                        </a:rPr>
                        <a:t>Generating Java code from a database schema.</a:t>
                      </a:r>
                      <a:endParaRPr/>
                    </a:p>
                  </a:txBody>
                  <a:tcPr marT="45725" marB="45725" marR="91450" marL="91450"/>
                </a:tc>
              </a:tr>
              <a:tr h="370850">
                <a:tc>
                  <a:txBody>
                    <a:bodyPr/>
                    <a:lstStyle/>
                    <a:p>
                      <a:pPr indent="0" lvl="0" marL="0" marR="0" rtl="0" algn="l">
                        <a:spcBef>
                          <a:spcPts val="0"/>
                        </a:spcBef>
                        <a:spcAft>
                          <a:spcPts val="0"/>
                        </a:spcAft>
                        <a:buNone/>
                      </a:pPr>
                      <a:r>
                        <a:rPr lang="en-US" sz="1800"/>
                        <a:t>The classic transformation: generating code from models or designs. This is often the core activity in the initial development phase.</a:t>
                      </a:r>
                      <a:endParaRPr/>
                    </a:p>
                    <a:p>
                      <a:pPr indent="0" lvl="0" marL="0" marR="0" rtl="0" algn="l">
                        <a:spcBef>
                          <a:spcPts val="0"/>
                        </a:spcBef>
                        <a:spcAft>
                          <a:spcPts val="0"/>
                        </a:spcAft>
                        <a:buNone/>
                      </a:pPr>
                      <a:r>
                        <a:rPr lang="en-US" sz="1800"/>
                        <a:t>•	Example 1: You have a UML class diagram defining your classes and their relationships. Forward engineering tools can automatically generate the corresponding code structure in your chosen programming language (e.g., Java classes from the UML diagram).</a:t>
                      </a:r>
                      <a:endParaRPr/>
                    </a:p>
                    <a:p>
                      <a:pPr indent="0" lvl="0" marL="0" marR="0" rtl="0" algn="l">
                        <a:spcBef>
                          <a:spcPts val="0"/>
                        </a:spcBef>
                        <a:spcAft>
                          <a:spcPts val="0"/>
                        </a:spcAft>
                        <a:buNone/>
                      </a:pPr>
                      <a:r>
                        <a:rPr lang="en-US" sz="1800"/>
                        <a:t>•	Example 2: You've designed a user interface using a visual tool. Forward engineering can translate this design into the actual HTML, CSS, and JavaScript code that brings the interface to life in a web browser.</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Code Before Transformation (Database Schema):</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Table: Products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Columns: id (int, primary key), name (varchar), price (decimal)</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Code After Transformation (Java Code):</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Java</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public class Product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private int id;</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private String name;</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private BigDecimal price;</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 ... (getters and setters)</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a:t>
                      </a:r>
                      <a:endParaRPr/>
                    </a:p>
                    <a:p>
                      <a:pPr indent="0" lvl="0" marL="0" marR="0" rtl="0" algn="l">
                        <a:spcBef>
                          <a:spcPts val="0"/>
                        </a:spcBef>
                        <a:spcAft>
                          <a:spcPts val="0"/>
                        </a:spcAft>
                        <a:buNone/>
                      </a:pPr>
                      <a:r>
                        <a:t/>
                      </a:r>
                      <a:endParaRPr sz="12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txBox="1"/>
          <p:nvPr>
            <p:ph type="title"/>
          </p:nvPr>
        </p:nvSpPr>
        <p:spPr>
          <a:xfrm>
            <a:off x="839244" y="365125"/>
            <a:ext cx="10514556" cy="6620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Play"/>
              <a:buNone/>
            </a:pPr>
            <a:r>
              <a:rPr lang="en-US" sz="2800"/>
              <a:t>4. Reverse Engineering: Unveiling the Hidden</a:t>
            </a:r>
            <a:endParaRPr sz="2800"/>
          </a:p>
        </p:txBody>
      </p:sp>
      <p:graphicFrame>
        <p:nvGraphicFramePr>
          <p:cNvPr id="157" name="Google Shape;157;p12"/>
          <p:cNvGraphicFramePr/>
          <p:nvPr/>
        </p:nvGraphicFramePr>
        <p:xfrm>
          <a:off x="424841" y="976136"/>
          <a:ext cx="3000000" cy="3000000"/>
        </p:xfrm>
        <a:graphic>
          <a:graphicData uri="http://schemas.openxmlformats.org/drawingml/2006/table">
            <a:tbl>
              <a:tblPr bandRow="1" firstRow="1">
                <a:noFill/>
                <a:tableStyleId>{8467D305-AB66-4675-80A6-48631E0E551A}</a:tableStyleId>
              </a:tblPr>
              <a:tblGrid>
                <a:gridCol w="5888275"/>
                <a:gridCol w="5724400"/>
              </a:tblGrid>
              <a:tr h="454750">
                <a:tc>
                  <a:txBody>
                    <a:bodyPr/>
                    <a:lstStyle/>
                    <a:p>
                      <a:pPr indent="0" lvl="0" marL="0" marR="0" rtl="0" algn="l">
                        <a:spcBef>
                          <a:spcPts val="0"/>
                        </a:spcBef>
                        <a:spcAft>
                          <a:spcPts val="0"/>
                        </a:spcAft>
                        <a:buNone/>
                      </a:pPr>
                      <a:r>
                        <a:rPr lang="en-US" sz="1800"/>
                        <a:t>Explanation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Arial"/>
                        <a:buNone/>
                      </a:pPr>
                      <a:r>
                        <a:rPr lang="en-US" sz="1800"/>
                        <a:t>Sample Java Code Scenario: </a:t>
                      </a:r>
                      <a:r>
                        <a:rPr b="1" lang="en-US" sz="1800">
                          <a:solidFill>
                            <a:schemeClr val="lt1"/>
                          </a:solidFill>
                          <a:latin typeface="Arial"/>
                          <a:ea typeface="Arial"/>
                          <a:cs typeface="Arial"/>
                          <a:sym typeface="Arial"/>
                        </a:rPr>
                        <a:t>Generating a UML class diagram from existing Java code.</a:t>
                      </a:r>
                      <a:endParaRPr/>
                    </a:p>
                  </a:txBody>
                  <a:tcPr marT="45725" marB="45725" marR="91450" marL="91450"/>
                </a:tc>
              </a:tr>
              <a:tr h="370850">
                <a:tc>
                  <a:txBody>
                    <a:bodyPr/>
                    <a:lstStyle/>
                    <a:p>
                      <a:pPr indent="0" lvl="0" marL="0" marR="0" rtl="0" algn="l">
                        <a:spcBef>
                          <a:spcPts val="0"/>
                        </a:spcBef>
                        <a:spcAft>
                          <a:spcPts val="0"/>
                        </a:spcAft>
                        <a:buNone/>
                      </a:pPr>
                      <a:r>
                        <a:rPr lang="en-US" sz="1800"/>
                        <a:t>The opposite of forward engineering: extracting models or designs from existing code. This is invaluable when dealing with legacy systems or when documentation is lacking.</a:t>
                      </a:r>
                      <a:endParaRPr/>
                    </a:p>
                    <a:p>
                      <a:pPr indent="0" lvl="0" marL="0" marR="0" rtl="0" algn="l">
                        <a:spcBef>
                          <a:spcPts val="0"/>
                        </a:spcBef>
                        <a:spcAft>
                          <a:spcPts val="0"/>
                        </a:spcAft>
                        <a:buNone/>
                      </a:pPr>
                      <a:r>
                        <a:rPr lang="en-US" sz="1800"/>
                        <a:t>•	Example 1: You're working with a large, old codebase with minimal documentation. Reverse engineering tools can analyze the code and generate UML diagrams, helping you understand its structure and dependencies.</a:t>
                      </a:r>
                      <a:endParaRPr/>
                    </a:p>
                    <a:p>
                      <a:pPr indent="0" lvl="0" marL="0" marR="0" rtl="0" algn="l">
                        <a:spcBef>
                          <a:spcPts val="0"/>
                        </a:spcBef>
                        <a:spcAft>
                          <a:spcPts val="0"/>
                        </a:spcAft>
                        <a:buNone/>
                      </a:pPr>
                      <a:r>
                        <a:rPr lang="en-US" sz="1800"/>
                        <a:t>•	Example 2: You want to understand the sequence of operations in a complex piece of code. Reverse engineering can create a sequence diagram visualizing the interactions between different parts of the code, aiding in debugging or understanding the flow.</a:t>
                      </a:r>
                      <a:endParaRPr/>
                    </a:p>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Code Before Transformation (Java Code):</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Java</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public class Order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private int orderId;</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private Customer customer;</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private List&lt;Product&gt; products;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 (getters and setters)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a:p>
                    <a:p>
                      <a:pPr indent="0" lvl="0" marL="0" marR="0" rtl="0" algn="l">
                        <a:spcBef>
                          <a:spcPts val="0"/>
                        </a:spcBef>
                        <a:spcAft>
                          <a:spcPts val="0"/>
                        </a:spcAft>
                        <a:buNone/>
                      </a:pPr>
                      <a:r>
                        <a:rPr b="1" lang="en-US" sz="1600">
                          <a:solidFill>
                            <a:schemeClr val="dk1"/>
                          </a:solidFill>
                          <a:latin typeface="Arial"/>
                          <a:ea typeface="Arial"/>
                          <a:cs typeface="Arial"/>
                          <a:sym typeface="Arial"/>
                        </a:rPr>
                        <a:t>Code After Transformation (UML Diagram):</a:t>
                      </a: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Order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orderId: int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customer: Customer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products: Product[]|</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getOrderId(): int  |</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 // ... other getters &amp; setters</a:t>
                      </a:r>
                      <a:endParaRPr/>
                    </a:p>
                    <a:p>
                      <a:pPr indent="0" lvl="0" marL="0" marR="0" rtl="0" algn="l">
                        <a:spcBef>
                          <a:spcPts val="0"/>
                        </a:spcBef>
                        <a:spcAft>
                          <a:spcPts val="0"/>
                        </a:spcAft>
                        <a:buNone/>
                      </a:pPr>
                      <a:r>
                        <a:rPr lang="en-US" sz="1600">
                          <a:solidFill>
                            <a:schemeClr val="dk1"/>
                          </a:solidFill>
                          <a:latin typeface="Arial"/>
                          <a:ea typeface="Arial"/>
                          <a:cs typeface="Arial"/>
                          <a:sym typeface="Arial"/>
                        </a:rPr>
                        <a:t>------------------------</a:t>
                      </a:r>
                      <a:endParaRPr/>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3"/>
          <p:cNvSpPr txBox="1"/>
          <p:nvPr>
            <p:ph type="title"/>
          </p:nvPr>
        </p:nvSpPr>
        <p:spPr>
          <a:xfrm>
            <a:off x="864296" y="553016"/>
            <a:ext cx="10489504" cy="7997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Play"/>
              <a:buNone/>
            </a:pPr>
            <a:r>
              <a:rPr b="1" lang="en-US">
                <a:solidFill>
                  <a:srgbClr val="FF0000"/>
                </a:solidFill>
              </a:rPr>
              <a:t>Transformation Principles</a:t>
            </a:r>
            <a:endParaRPr/>
          </a:p>
        </p:txBody>
      </p:sp>
      <p:sp>
        <p:nvSpPr>
          <p:cNvPr id="163" name="Google Shape;16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lang="en-US"/>
              <a:t>A transformation aims at improving the design of the system with respect to some criterion.</a:t>
            </a:r>
            <a:endParaRPr/>
          </a:p>
          <a:p>
            <a:pPr indent="0" lvl="0" marL="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n-US"/>
              <a:t>To avoid introducing new errors, all transformations should follow certain principles: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Mapping Models to Code</a:t>
            </a:r>
            <a:endParaRPr/>
          </a:p>
        </p:txBody>
      </p:sp>
      <p:sp>
        <p:nvSpPr>
          <p:cNvPr id="169" name="Google Shape;169;p14"/>
          <p:cNvSpPr txBox="1"/>
          <p:nvPr>
            <p:ph idx="1" type="body"/>
          </p:nvPr>
        </p:nvSpPr>
        <p:spPr>
          <a:xfrm>
            <a:off x="609600" y="1600200"/>
            <a:ext cx="10972800" cy="5105400"/>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just">
              <a:lnSpc>
                <a:spcPct val="90000"/>
              </a:lnSpc>
              <a:spcBef>
                <a:spcPts val="0"/>
              </a:spcBef>
              <a:spcAft>
                <a:spcPts val="0"/>
              </a:spcAft>
              <a:buClr>
                <a:schemeClr val="dk1"/>
              </a:buClr>
              <a:buSzPct val="100000"/>
              <a:buAutoNum type="arabicPeriod"/>
            </a:pPr>
            <a:r>
              <a:rPr b="1" i="1" lang="en-US"/>
              <a:t>Each transformation must address a single criteria</a:t>
            </a:r>
            <a:r>
              <a:rPr i="1" lang="en-US"/>
              <a:t>.</a:t>
            </a:r>
            <a:endParaRPr/>
          </a:p>
          <a:p>
            <a:pPr indent="-228600" lvl="0" marL="228600" rtl="0" algn="just">
              <a:lnSpc>
                <a:spcPct val="90000"/>
              </a:lnSpc>
              <a:spcBef>
                <a:spcPts val="1000"/>
              </a:spcBef>
              <a:spcAft>
                <a:spcPts val="0"/>
              </a:spcAft>
              <a:buClr>
                <a:schemeClr val="dk1"/>
              </a:buClr>
              <a:buSzPct val="100000"/>
              <a:buChar char="•"/>
            </a:pPr>
            <a:r>
              <a:rPr lang="en-US"/>
              <a:t>Every transformation or change made to the system should address only one specific criterion or objective. </a:t>
            </a:r>
            <a:endParaRPr/>
          </a:p>
          <a:p>
            <a:pPr indent="-228600" lvl="0" marL="228600" rtl="0" algn="just">
              <a:lnSpc>
                <a:spcPct val="90000"/>
              </a:lnSpc>
              <a:spcBef>
                <a:spcPts val="1000"/>
              </a:spcBef>
              <a:spcAft>
                <a:spcPts val="0"/>
              </a:spcAft>
              <a:buClr>
                <a:schemeClr val="dk1"/>
              </a:buClr>
              <a:buSzPct val="100000"/>
              <a:buChar char="•"/>
            </a:pPr>
            <a:r>
              <a:rPr lang="en-US"/>
              <a:t>This keeps the change small and manageable, making it easier to understand, test, and validate.</a:t>
            </a:r>
            <a:endParaRPr/>
          </a:p>
          <a:p>
            <a:pPr indent="-228600" lvl="0" marL="228600" rtl="0" algn="just">
              <a:lnSpc>
                <a:spcPct val="90000"/>
              </a:lnSpc>
              <a:spcBef>
                <a:spcPts val="1000"/>
              </a:spcBef>
              <a:spcAft>
                <a:spcPts val="0"/>
              </a:spcAft>
              <a:buClr>
                <a:schemeClr val="dk1"/>
              </a:buClr>
              <a:buSzPct val="100000"/>
              <a:buChar char="•"/>
            </a:pPr>
            <a:r>
              <a:rPr b="1" lang="en-US"/>
              <a:t>Example: </a:t>
            </a:r>
            <a:endParaRPr/>
          </a:p>
          <a:p>
            <a:pPr indent="-228600" lvl="0" marL="228600" rtl="0" algn="just">
              <a:lnSpc>
                <a:spcPct val="90000"/>
              </a:lnSpc>
              <a:spcBef>
                <a:spcPts val="1000"/>
              </a:spcBef>
              <a:spcAft>
                <a:spcPts val="0"/>
              </a:spcAft>
              <a:buClr>
                <a:schemeClr val="dk1"/>
              </a:buClr>
              <a:buSzPct val="100000"/>
              <a:buChar char="•"/>
            </a:pPr>
            <a:r>
              <a:rPr lang="en-US"/>
              <a:t>Suppose you are adding a feature to allow users to reset their passwords in a web application. You would focus solely on adding the logic for sending a reset link to the user's email, without making unrelated changes to the authentication process or other parts of the system. This keeps the transformation focused on one criterion: password reset functionality.</a:t>
            </a:r>
            <a:endParaRPr i="1"/>
          </a:p>
          <a:p>
            <a:pPr indent="-349885" lvl="0" marL="514350" rtl="0" algn="just">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75" name="Google Shape;17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90000"/>
              </a:lnSpc>
              <a:spcBef>
                <a:spcPts val="0"/>
              </a:spcBef>
              <a:spcAft>
                <a:spcPts val="0"/>
              </a:spcAft>
              <a:buClr>
                <a:schemeClr val="dk1"/>
              </a:buClr>
              <a:buSzPct val="100000"/>
              <a:buNone/>
            </a:pPr>
            <a:r>
              <a:rPr b="1" i="1" lang="en-US"/>
              <a:t>2. Each transformation must be local</a:t>
            </a:r>
            <a:r>
              <a:rPr lang="en-US"/>
              <a:t>. </a:t>
            </a:r>
            <a:endParaRPr/>
          </a:p>
          <a:p>
            <a:pPr indent="-228600" lvl="0" marL="228600" rtl="0" algn="just">
              <a:lnSpc>
                <a:spcPct val="90000"/>
              </a:lnSpc>
              <a:spcBef>
                <a:spcPts val="1000"/>
              </a:spcBef>
              <a:spcAft>
                <a:spcPts val="0"/>
              </a:spcAft>
              <a:buClr>
                <a:schemeClr val="dk1"/>
              </a:buClr>
              <a:buSzPct val="100000"/>
              <a:buChar char="•"/>
            </a:pPr>
            <a:r>
              <a:rPr lang="en-US"/>
              <a:t>A transformation should change only a few methods or a few classes at once.</a:t>
            </a:r>
            <a:endParaRPr/>
          </a:p>
          <a:p>
            <a:pPr indent="-228600" lvl="0" marL="228600" rtl="0" algn="just">
              <a:lnSpc>
                <a:spcPct val="90000"/>
              </a:lnSpc>
              <a:spcBef>
                <a:spcPts val="1000"/>
              </a:spcBef>
              <a:spcAft>
                <a:spcPts val="0"/>
              </a:spcAft>
              <a:buClr>
                <a:schemeClr val="dk1"/>
              </a:buClr>
              <a:buSzPct val="100000"/>
              <a:buChar char="•"/>
            </a:pPr>
            <a:r>
              <a:rPr lang="en-US"/>
              <a:t>The change should be isolated to a specific part of the system, affecting only the module or component related to the transformation. </a:t>
            </a:r>
            <a:endParaRPr/>
          </a:p>
          <a:p>
            <a:pPr indent="-228600" lvl="0" marL="228600" rtl="0" algn="just">
              <a:lnSpc>
                <a:spcPct val="90000"/>
              </a:lnSpc>
              <a:spcBef>
                <a:spcPts val="1000"/>
              </a:spcBef>
              <a:spcAft>
                <a:spcPts val="0"/>
              </a:spcAft>
              <a:buClr>
                <a:schemeClr val="dk1"/>
              </a:buClr>
              <a:buSzPct val="100000"/>
              <a:buChar char="•"/>
            </a:pPr>
            <a:r>
              <a:rPr lang="en-US"/>
              <a:t>This minimizes the risk of introducing bugs in unrelated areas.</a:t>
            </a:r>
            <a:endParaRPr/>
          </a:p>
          <a:p>
            <a:pPr indent="-228600" lvl="0" marL="228600" rtl="0" algn="just">
              <a:lnSpc>
                <a:spcPct val="90000"/>
              </a:lnSpc>
              <a:spcBef>
                <a:spcPts val="1000"/>
              </a:spcBef>
              <a:spcAft>
                <a:spcPts val="0"/>
              </a:spcAft>
              <a:buClr>
                <a:schemeClr val="dk1"/>
              </a:buClr>
              <a:buSzPct val="100000"/>
              <a:buChar char="•"/>
            </a:pPr>
            <a:r>
              <a:rPr b="1" lang="en-US"/>
              <a:t>Example:</a:t>
            </a:r>
            <a:endParaRPr b="1"/>
          </a:p>
          <a:p>
            <a:pPr indent="0" lvl="0" marL="0" rtl="0" algn="just">
              <a:lnSpc>
                <a:spcPct val="90000"/>
              </a:lnSpc>
              <a:spcBef>
                <a:spcPts val="1000"/>
              </a:spcBef>
              <a:spcAft>
                <a:spcPts val="0"/>
              </a:spcAft>
              <a:buClr>
                <a:schemeClr val="dk1"/>
              </a:buClr>
              <a:buSzPct val="100000"/>
              <a:buNone/>
            </a:pPr>
            <a:r>
              <a:rPr lang="en-US"/>
              <a:t>If you are refactoring the database connection logic, you would limit your changes to the database access module and avoid modifying other parts of the code, such as the user interface or business logic. This ensures the transformation remains local, making it easier to debug if issues arise.</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81" name="Google Shape;18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just">
              <a:lnSpc>
                <a:spcPct val="90000"/>
              </a:lnSpc>
              <a:spcBef>
                <a:spcPts val="0"/>
              </a:spcBef>
              <a:spcAft>
                <a:spcPts val="0"/>
              </a:spcAft>
              <a:buClr>
                <a:schemeClr val="dk1"/>
              </a:buClr>
              <a:buSzPct val="100000"/>
              <a:buNone/>
            </a:pPr>
            <a:r>
              <a:rPr lang="en-US"/>
              <a:t>3. </a:t>
            </a:r>
            <a:r>
              <a:rPr b="1" i="1" lang="en-US"/>
              <a:t>Each transformation must be applied in isolation to other changes</a:t>
            </a:r>
            <a:r>
              <a:rPr b="1" lang="en-US"/>
              <a:t>.</a:t>
            </a:r>
            <a:endParaRPr/>
          </a:p>
          <a:p>
            <a:pPr indent="-228600" lvl="0" marL="228600" rtl="0" algn="l">
              <a:lnSpc>
                <a:spcPct val="90000"/>
              </a:lnSpc>
              <a:spcBef>
                <a:spcPts val="1000"/>
              </a:spcBef>
              <a:spcAft>
                <a:spcPts val="0"/>
              </a:spcAft>
              <a:buClr>
                <a:schemeClr val="dk1"/>
              </a:buClr>
              <a:buSzPct val="100000"/>
              <a:buChar char="•"/>
            </a:pPr>
            <a:r>
              <a:rPr lang="en-US"/>
              <a:t>Each transformation should be applied independently from other ongoing changes. </a:t>
            </a:r>
            <a:endParaRPr/>
          </a:p>
          <a:p>
            <a:pPr indent="-228600" lvl="0" marL="228600" rtl="0" algn="l">
              <a:lnSpc>
                <a:spcPct val="90000"/>
              </a:lnSpc>
              <a:spcBef>
                <a:spcPts val="1000"/>
              </a:spcBef>
              <a:spcAft>
                <a:spcPts val="0"/>
              </a:spcAft>
              <a:buClr>
                <a:schemeClr val="dk1"/>
              </a:buClr>
              <a:buSzPct val="100000"/>
              <a:buChar char="•"/>
            </a:pPr>
            <a:r>
              <a:rPr lang="en-US"/>
              <a:t>This allows developers to easily trace the impact of each transformation and ensures that unrelated changes do not interfere with each other.</a:t>
            </a:r>
            <a:endParaRPr/>
          </a:p>
          <a:p>
            <a:pPr indent="-228600" lvl="0" marL="228600" rtl="0" algn="l">
              <a:lnSpc>
                <a:spcPct val="90000"/>
              </a:lnSpc>
              <a:spcBef>
                <a:spcPts val="1000"/>
              </a:spcBef>
              <a:spcAft>
                <a:spcPts val="0"/>
              </a:spcAft>
              <a:buClr>
                <a:schemeClr val="dk1"/>
              </a:buClr>
              <a:buSzPct val="100000"/>
              <a:buChar char="•"/>
            </a:pPr>
            <a:r>
              <a:rPr b="1" lang="en-US"/>
              <a:t>Example:</a:t>
            </a:r>
            <a:br>
              <a:rPr lang="en-US"/>
            </a:br>
            <a:r>
              <a:rPr lang="en-US"/>
              <a:t>Let’s say you’re refactoring the code to improve performance, while another team member is fixing a bug in the same system. By applying your changes (performance improvement) separately from the bug fix, each transformation can be tested individually, and any issues that arise can be clearly attributed to the respective change.</a:t>
            </a:r>
            <a:endParaRPr/>
          </a:p>
          <a:p>
            <a:pPr indent="0" lvl="0" marL="0" rtl="0" algn="just">
              <a:lnSpc>
                <a:spcPct val="90000"/>
              </a:lnSpc>
              <a:spcBef>
                <a:spcPts val="1000"/>
              </a:spcBef>
              <a:spcAft>
                <a:spcPts val="0"/>
              </a:spcAft>
              <a:buClr>
                <a:schemeClr val="dk1"/>
              </a:buClr>
              <a:buSzPct val="100000"/>
              <a:buNone/>
            </a:pPr>
            <a:r>
              <a:t/>
            </a:r>
            <a:endParaRPr b="1"/>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87" name="Google Shape;18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1" i="1" lang="en-US"/>
              <a:t>4. Each transformation must be followed by a validation step</a:t>
            </a:r>
            <a:r>
              <a:rPr b="1" lang="en-US"/>
              <a:t>.</a:t>
            </a:r>
            <a:endParaRPr/>
          </a:p>
          <a:p>
            <a:pPr indent="-228600" lvl="0" marL="228600" rtl="0" algn="l">
              <a:lnSpc>
                <a:spcPct val="90000"/>
              </a:lnSpc>
              <a:spcBef>
                <a:spcPts val="1000"/>
              </a:spcBef>
              <a:spcAft>
                <a:spcPts val="0"/>
              </a:spcAft>
              <a:buClr>
                <a:schemeClr val="dk1"/>
              </a:buClr>
              <a:buSzPct val="100000"/>
              <a:buChar char="•"/>
            </a:pPr>
            <a:r>
              <a:rPr b="1" lang="en-US"/>
              <a:t>Principle:</a:t>
            </a:r>
            <a:r>
              <a:rPr lang="en-US"/>
              <a:t> </a:t>
            </a:r>
            <a:endParaRPr/>
          </a:p>
          <a:p>
            <a:pPr indent="-228600" lvl="0" marL="228600" rtl="0" algn="l">
              <a:lnSpc>
                <a:spcPct val="90000"/>
              </a:lnSpc>
              <a:spcBef>
                <a:spcPts val="1000"/>
              </a:spcBef>
              <a:spcAft>
                <a:spcPts val="0"/>
              </a:spcAft>
              <a:buClr>
                <a:schemeClr val="dk1"/>
              </a:buClr>
              <a:buSzPct val="100000"/>
              <a:buChar char="•"/>
            </a:pPr>
            <a:r>
              <a:rPr lang="en-US"/>
              <a:t>After making any change, the system must be validated to ensure the transformation was successful and the system remains functional. </a:t>
            </a:r>
            <a:endParaRPr/>
          </a:p>
          <a:p>
            <a:pPr indent="-228600" lvl="0" marL="228600" rtl="0" algn="l">
              <a:lnSpc>
                <a:spcPct val="90000"/>
              </a:lnSpc>
              <a:spcBef>
                <a:spcPts val="1000"/>
              </a:spcBef>
              <a:spcAft>
                <a:spcPts val="0"/>
              </a:spcAft>
              <a:buClr>
                <a:schemeClr val="dk1"/>
              </a:buClr>
              <a:buSzPct val="100000"/>
              <a:buChar char="•"/>
            </a:pPr>
            <a:r>
              <a:rPr lang="en-US"/>
              <a:t>This can involve unit testing, integration testing, or running automated tests.</a:t>
            </a:r>
            <a:endParaRPr/>
          </a:p>
          <a:p>
            <a:pPr indent="-228600" lvl="0" marL="228600" rtl="0" algn="l">
              <a:lnSpc>
                <a:spcPct val="90000"/>
              </a:lnSpc>
              <a:spcBef>
                <a:spcPts val="1000"/>
              </a:spcBef>
              <a:spcAft>
                <a:spcPts val="0"/>
              </a:spcAft>
              <a:buClr>
                <a:schemeClr val="dk1"/>
              </a:buClr>
              <a:buSzPct val="100000"/>
              <a:buChar char="•"/>
            </a:pPr>
            <a:r>
              <a:rPr b="1" lang="en-US"/>
              <a:t>Example:</a:t>
            </a:r>
            <a:br>
              <a:rPr lang="en-US"/>
            </a:br>
            <a:r>
              <a:rPr lang="en-US"/>
              <a:t>After adding the password reset functionality, you would write and run test cases to verify that the password reset email is sent, the link works correctly, and the user can successfully reset their password. This validation ensures the transformation meets its intended purpose without introducing defects.</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Important Takeaway</a:t>
            </a:r>
            <a:endParaRPr/>
          </a:p>
        </p:txBody>
      </p:sp>
      <p:sp>
        <p:nvSpPr>
          <p:cNvPr id="193" name="Google Shape;193;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Each type of transformation plays a vital role in the software lifecycle, allowing us to:</a:t>
            </a:r>
            <a:endParaRPr/>
          </a:p>
          <a:p>
            <a:pPr indent="-228600" lvl="0" marL="228600" rtl="0" algn="l">
              <a:lnSpc>
                <a:spcPct val="90000"/>
              </a:lnSpc>
              <a:spcBef>
                <a:spcPts val="1000"/>
              </a:spcBef>
              <a:spcAft>
                <a:spcPts val="0"/>
              </a:spcAft>
              <a:buClr>
                <a:schemeClr val="dk1"/>
              </a:buClr>
              <a:buSzPct val="100000"/>
              <a:buChar char="•"/>
            </a:pPr>
            <a:r>
              <a:rPr lang="en-US"/>
              <a:t>•	Bridge the gap between design and implementation</a:t>
            </a:r>
            <a:endParaRPr/>
          </a:p>
          <a:p>
            <a:pPr indent="-228600" lvl="0" marL="228600" rtl="0" algn="l">
              <a:lnSpc>
                <a:spcPct val="90000"/>
              </a:lnSpc>
              <a:spcBef>
                <a:spcPts val="1000"/>
              </a:spcBef>
              <a:spcAft>
                <a:spcPts val="0"/>
              </a:spcAft>
              <a:buClr>
                <a:schemeClr val="dk1"/>
              </a:buClr>
              <a:buSzPct val="100000"/>
              <a:buChar char="•"/>
            </a:pPr>
            <a:r>
              <a:rPr lang="en-US"/>
              <a:t>•	Improve code quality and maintainability</a:t>
            </a:r>
            <a:endParaRPr/>
          </a:p>
          <a:p>
            <a:pPr indent="-228600" lvl="0" marL="228600" rtl="0" algn="l">
              <a:lnSpc>
                <a:spcPct val="90000"/>
              </a:lnSpc>
              <a:spcBef>
                <a:spcPts val="1000"/>
              </a:spcBef>
              <a:spcAft>
                <a:spcPts val="0"/>
              </a:spcAft>
              <a:buClr>
                <a:schemeClr val="dk1"/>
              </a:buClr>
              <a:buSzPct val="100000"/>
              <a:buChar char="•"/>
            </a:pPr>
            <a:r>
              <a:rPr lang="en-US"/>
              <a:t>•	Adapt to changing requirements and platforms</a:t>
            </a:r>
            <a:endParaRPr/>
          </a:p>
          <a:p>
            <a:pPr indent="-228600" lvl="0" marL="228600" rtl="0" algn="l">
              <a:lnSpc>
                <a:spcPct val="90000"/>
              </a:lnSpc>
              <a:spcBef>
                <a:spcPts val="1000"/>
              </a:spcBef>
              <a:spcAft>
                <a:spcPts val="0"/>
              </a:spcAft>
              <a:buClr>
                <a:schemeClr val="dk1"/>
              </a:buClr>
              <a:buSzPct val="100000"/>
              <a:buChar char="•"/>
            </a:pPr>
            <a:r>
              <a:rPr lang="en-US"/>
              <a:t>•	Understand and evolve existing systems</a:t>
            </a:r>
            <a:endParaRPr/>
          </a:p>
          <a:p>
            <a:pPr indent="-228600" lvl="0" marL="228600" rtl="0" algn="l">
              <a:lnSpc>
                <a:spcPct val="90000"/>
              </a:lnSpc>
              <a:spcBef>
                <a:spcPts val="1000"/>
              </a:spcBef>
              <a:spcAft>
                <a:spcPts val="0"/>
              </a:spcAft>
              <a:buClr>
                <a:schemeClr val="dk1"/>
              </a:buClr>
              <a:buSzPct val="100000"/>
              <a:buChar char="•"/>
            </a:pPr>
            <a:r>
              <a:rPr lang="en-US"/>
              <a:t>By mastering these transformations, we empower ourselves to create and manage software that's not only functional but also elegant, adaptable, and sustainable.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Important Notes:</a:t>
            </a:r>
            <a:endParaRPr/>
          </a:p>
        </p:txBody>
      </p:sp>
      <p:sp>
        <p:nvSpPr>
          <p:cNvPr id="199" name="Google Shape;19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	These are simplified examples to illustrate the concepts. Real-world transformations can involve much more complex code and transformations.</a:t>
            </a:r>
            <a:endParaRPr/>
          </a:p>
          <a:p>
            <a:pPr indent="-228600" lvl="0" marL="228600" rtl="0" algn="l">
              <a:lnSpc>
                <a:spcPct val="90000"/>
              </a:lnSpc>
              <a:spcBef>
                <a:spcPts val="1000"/>
              </a:spcBef>
              <a:spcAft>
                <a:spcPts val="0"/>
              </a:spcAft>
              <a:buClr>
                <a:schemeClr val="dk1"/>
              </a:buClr>
              <a:buSzPct val="100000"/>
              <a:buChar char="•"/>
            </a:pPr>
            <a:r>
              <a:rPr lang="en-US"/>
              <a:t>•	Automated tools are often used to perform these transformations, especially for larger projects.</a:t>
            </a:r>
            <a:endParaRPr/>
          </a:p>
          <a:p>
            <a:pPr indent="-228600" lvl="0" marL="228600" rtl="0" algn="l">
              <a:lnSpc>
                <a:spcPct val="90000"/>
              </a:lnSpc>
              <a:spcBef>
                <a:spcPts val="1000"/>
              </a:spcBef>
              <a:spcAft>
                <a:spcPts val="0"/>
              </a:spcAft>
              <a:buClr>
                <a:schemeClr val="dk1"/>
              </a:buClr>
              <a:buSzPct val="100000"/>
              <a:buChar char="•"/>
            </a:pPr>
            <a:r>
              <a:rPr lang="en-US"/>
              <a:t>•	The specific code generated or extracted will depend on the tools and configurations used.</a:t>
            </a:r>
            <a:endParaRPr/>
          </a:p>
          <a:p>
            <a:pPr indent="-228600" lvl="0" marL="228600" rtl="0" algn="l">
              <a:lnSpc>
                <a:spcPct val="90000"/>
              </a:lnSpc>
              <a:spcBef>
                <a:spcPts val="1000"/>
              </a:spcBef>
              <a:spcAft>
                <a:spcPts val="0"/>
              </a:spcAft>
              <a:buClr>
                <a:schemeClr val="dk1"/>
              </a:buClr>
              <a:buSzPct val="100000"/>
              <a:buChar char="•"/>
            </a:pPr>
            <a:r>
              <a:rPr lang="en-US"/>
              <a:t>Remember, the goal of these transformations is to improve the software development process by automating tasks, enhancing code quality, and facilitating communication between different representations of the software system.</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Conclusion</a:t>
            </a:r>
            <a:endParaRPr/>
          </a:p>
        </p:txBody>
      </p:sp>
      <p:sp>
        <p:nvSpPr>
          <p:cNvPr id="205" name="Google Shape;205;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116666"/>
              </a:lnSpc>
              <a:spcBef>
                <a:spcPts val="0"/>
              </a:spcBef>
              <a:spcAft>
                <a:spcPts val="0"/>
              </a:spcAft>
              <a:buClr>
                <a:srgbClr val="1F1F1F"/>
              </a:buClr>
              <a:buSzPts val="1000"/>
              <a:buFont typeface="Noto Sans Symbols"/>
              <a:buChar char="∙"/>
            </a:pPr>
            <a:r>
              <a:rPr lang="en-US" sz="1800">
                <a:solidFill>
                  <a:srgbClr val="1F1F1F"/>
                </a:solidFill>
                <a:latin typeface="Arial"/>
                <a:ea typeface="Arial"/>
                <a:cs typeface="Arial"/>
                <a:sym typeface="Arial"/>
              </a:rPr>
              <a:t>Mapping models to code is a critical step in software development.</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lang="en-US" sz="1800">
                <a:solidFill>
                  <a:srgbClr val="1F1F1F"/>
                </a:solidFill>
                <a:latin typeface="Arial"/>
                <a:ea typeface="Arial"/>
                <a:cs typeface="Arial"/>
                <a:sym typeface="Arial"/>
              </a:rPr>
              <a:t>Transformation automates and streamlines the process, improving efficiency and quality.</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lang="en-US" sz="1800">
                <a:solidFill>
                  <a:srgbClr val="1F1F1F"/>
                </a:solidFill>
                <a:latin typeface="Arial"/>
                <a:ea typeface="Arial"/>
                <a:cs typeface="Arial"/>
                <a:sym typeface="Arial"/>
              </a:rPr>
              <a:t>Different types of transformation support various stages of the software lifecycle.</a:t>
            </a:r>
            <a:endParaRPr sz="1800">
              <a:solidFill>
                <a:srgbClr val="1F1F1F"/>
              </a:solidFill>
              <a:latin typeface="Calibri"/>
              <a:ea typeface="Calibri"/>
              <a:cs typeface="Calibri"/>
              <a:sym typeface="Calibri"/>
            </a:endParaRPr>
          </a:p>
          <a:p>
            <a:pPr indent="-342900" lvl="0" marL="342900" rtl="0" algn="l">
              <a:lnSpc>
                <a:spcPct val="116666"/>
              </a:lnSpc>
              <a:spcBef>
                <a:spcPts val="1800"/>
              </a:spcBef>
              <a:spcAft>
                <a:spcPts val="0"/>
              </a:spcAft>
              <a:buClr>
                <a:srgbClr val="1F1F1F"/>
              </a:buClr>
              <a:buSzPts val="1000"/>
              <a:buFont typeface="Noto Sans Symbols"/>
              <a:buChar char="∙"/>
            </a:pPr>
            <a:r>
              <a:rPr lang="en-US" sz="1800">
                <a:solidFill>
                  <a:srgbClr val="1F1F1F"/>
                </a:solidFill>
                <a:latin typeface="Arial"/>
                <a:ea typeface="Arial"/>
                <a:cs typeface="Arial"/>
                <a:sym typeface="Arial"/>
              </a:rPr>
              <a:t>By effectively bridging design and implementation, mapping models to code contributes to successful software projects.</a:t>
            </a:r>
            <a:endParaRPr sz="1800">
              <a:solidFill>
                <a:srgbClr val="1F1F1F"/>
              </a:solidFill>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11" name="Google Shape;211;p21"/>
          <p:cNvSpPr txBox="1"/>
          <p:nvPr>
            <p:ph idx="1" type="body"/>
          </p:nvPr>
        </p:nvSpPr>
        <p:spPr>
          <a:xfrm>
            <a:off x="609600" y="1600200"/>
            <a:ext cx="10972800" cy="51054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t>Providing a visual representation of a system’s structure by showcasing its various </a:t>
            </a:r>
            <a:r>
              <a:rPr b="1" lang="en-US"/>
              <a:t>components and their interactions</a:t>
            </a:r>
            <a:r>
              <a:rPr lang="en-US"/>
              <a:t>.</a:t>
            </a:r>
            <a:endParaRPr/>
          </a:p>
          <a:p>
            <a:pPr indent="-228600" lvl="0" marL="228600" rtl="0" algn="just">
              <a:lnSpc>
                <a:spcPct val="90000"/>
              </a:lnSpc>
              <a:spcBef>
                <a:spcPts val="1000"/>
              </a:spcBef>
              <a:spcAft>
                <a:spcPts val="0"/>
              </a:spcAft>
              <a:buClr>
                <a:schemeClr val="dk1"/>
              </a:buClr>
              <a:buSzPct val="100000"/>
              <a:buChar char="•"/>
            </a:pPr>
            <a:r>
              <a:rPr lang="en-US"/>
              <a:t>Component diagram </a:t>
            </a:r>
            <a:r>
              <a:rPr i="1" lang="en-US"/>
              <a:t>shows components</a:t>
            </a:r>
            <a:r>
              <a:rPr lang="en-US"/>
              <a:t>, provided and required interfaces, ports, and </a:t>
            </a:r>
            <a:r>
              <a:rPr b="1" lang="en-US"/>
              <a:t>relationships between them.</a:t>
            </a:r>
            <a:endParaRPr/>
          </a:p>
          <a:p>
            <a:pPr indent="-228600" lvl="0" marL="228600" rtl="0" algn="just">
              <a:lnSpc>
                <a:spcPct val="90000"/>
              </a:lnSpc>
              <a:spcBef>
                <a:spcPts val="1000"/>
              </a:spcBef>
              <a:spcAft>
                <a:spcPts val="0"/>
              </a:spcAft>
              <a:buClr>
                <a:schemeClr val="dk1"/>
              </a:buClr>
              <a:buSzPct val="100000"/>
              <a:buChar char="•"/>
            </a:pPr>
            <a:r>
              <a:rPr lang="en-US"/>
              <a:t>It does not describe the functionality of the system but it </a:t>
            </a:r>
            <a:r>
              <a:rPr b="1" lang="en-US"/>
              <a:t>describes the components used to make those functionalities.</a:t>
            </a:r>
            <a:endParaRPr/>
          </a:p>
          <a:p>
            <a:pPr indent="-228600" lvl="0" marL="228600" rtl="0" algn="just">
              <a:lnSpc>
                <a:spcPct val="90000"/>
              </a:lnSpc>
              <a:spcBef>
                <a:spcPts val="1000"/>
              </a:spcBef>
              <a:spcAft>
                <a:spcPts val="0"/>
              </a:spcAft>
              <a:buClr>
                <a:schemeClr val="dk1"/>
              </a:buClr>
              <a:buSzPct val="100000"/>
              <a:buChar char="•"/>
            </a:pPr>
            <a:r>
              <a:rPr lang="en-US"/>
              <a:t>Component diagrams can also be described as a static implementation view of a system. </a:t>
            </a:r>
            <a:endParaRPr/>
          </a:p>
          <a:p>
            <a:pPr indent="-228600" lvl="0" marL="228600" rtl="0" algn="just">
              <a:lnSpc>
                <a:spcPct val="90000"/>
              </a:lnSpc>
              <a:spcBef>
                <a:spcPts val="1000"/>
              </a:spcBef>
              <a:spcAft>
                <a:spcPts val="0"/>
              </a:spcAft>
              <a:buClr>
                <a:schemeClr val="dk1"/>
              </a:buClr>
              <a:buSzPct val="100000"/>
              <a:buChar char="•"/>
            </a:pPr>
            <a:r>
              <a:rPr lang="en-US"/>
              <a:t>It models the physical view of a system such as executables, files, libraries, etc. that resides within the node</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217" name="Google Shape;21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component is a single unit of the system, which is replaceable and executable. </a:t>
            </a:r>
            <a:endParaRPr/>
          </a:p>
          <a:p>
            <a:pPr indent="-228600" lvl="0" marL="228600" rtl="0" algn="l">
              <a:lnSpc>
                <a:spcPct val="90000"/>
              </a:lnSpc>
              <a:spcBef>
                <a:spcPts val="1000"/>
              </a:spcBef>
              <a:spcAft>
                <a:spcPts val="0"/>
              </a:spcAft>
              <a:buClr>
                <a:schemeClr val="dk1"/>
              </a:buClr>
              <a:buSzPts val="2800"/>
              <a:buChar char="•"/>
            </a:pPr>
            <a:r>
              <a:rPr lang="en-US"/>
              <a:t>The implementation details of a component are hidden</a:t>
            </a:r>
            <a:endParaRPr/>
          </a:p>
          <a:p>
            <a:pPr indent="-228600" lvl="0" marL="228600" rtl="0" algn="l">
              <a:lnSpc>
                <a:spcPct val="90000"/>
              </a:lnSpc>
              <a:spcBef>
                <a:spcPts val="1000"/>
              </a:spcBef>
              <a:spcAft>
                <a:spcPts val="0"/>
              </a:spcAft>
              <a:buClr>
                <a:schemeClr val="dk1"/>
              </a:buClr>
              <a:buSzPts val="2800"/>
              <a:buChar char="•"/>
            </a:pPr>
            <a:r>
              <a:rPr b="1" lang="en-US"/>
              <a:t>Notation of a Component Diagram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18" name="Google Shape;218;p22"/>
          <p:cNvPicPr preferRelativeResize="0"/>
          <p:nvPr/>
        </p:nvPicPr>
        <p:blipFill rotWithShape="1">
          <a:blip r:embed="rId3">
            <a:alphaModFix/>
          </a:blip>
          <a:srcRect b="0" l="0" r="0" t="0"/>
          <a:stretch/>
        </p:blipFill>
        <p:spPr>
          <a:xfrm>
            <a:off x="1165138" y="4282640"/>
            <a:ext cx="1638300" cy="1543050"/>
          </a:xfrm>
          <a:prstGeom prst="rect">
            <a:avLst/>
          </a:prstGeom>
          <a:noFill/>
          <a:ln>
            <a:noFill/>
          </a:ln>
        </p:spPr>
      </p:pic>
      <p:pic>
        <p:nvPicPr>
          <p:cNvPr descr="UML Component Diagram" id="219" name="Google Shape;219;p22"/>
          <p:cNvPicPr preferRelativeResize="0"/>
          <p:nvPr/>
        </p:nvPicPr>
        <p:blipFill rotWithShape="1">
          <a:blip r:embed="rId4">
            <a:alphaModFix/>
          </a:blip>
          <a:srcRect b="0" l="0" r="0" t="0"/>
          <a:stretch/>
        </p:blipFill>
        <p:spPr>
          <a:xfrm>
            <a:off x="4577263" y="4187389"/>
            <a:ext cx="1733550" cy="1733551"/>
          </a:xfrm>
          <a:prstGeom prst="rect">
            <a:avLst/>
          </a:prstGeom>
          <a:noFill/>
          <a:ln>
            <a:noFill/>
          </a:ln>
        </p:spPr>
      </p:pic>
      <p:sp>
        <p:nvSpPr>
          <p:cNvPr id="220" name="Google Shape;220;p22"/>
          <p:cNvSpPr txBox="1"/>
          <p:nvPr/>
        </p:nvSpPr>
        <p:spPr>
          <a:xfrm>
            <a:off x="1296645" y="6150280"/>
            <a:ext cx="1425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Component</a:t>
            </a:r>
            <a:endParaRPr sz="1800">
              <a:solidFill>
                <a:schemeClr val="dk1"/>
              </a:solidFill>
              <a:latin typeface="Arial"/>
              <a:ea typeface="Arial"/>
              <a:cs typeface="Arial"/>
              <a:sym typeface="Arial"/>
            </a:endParaRPr>
          </a:p>
        </p:txBody>
      </p:sp>
      <p:sp>
        <p:nvSpPr>
          <p:cNvPr id="221" name="Google Shape;221;p22"/>
          <p:cNvSpPr txBox="1"/>
          <p:nvPr/>
        </p:nvSpPr>
        <p:spPr>
          <a:xfrm>
            <a:off x="4885151" y="6187858"/>
            <a:ext cx="7360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Node</a:t>
            </a:r>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Basic Concepts of Component Diagram</a:t>
            </a:r>
            <a:endParaRPr/>
          </a:p>
        </p:txBody>
      </p:sp>
      <p:sp>
        <p:nvSpPr>
          <p:cNvPr id="228" name="Google Shape;228;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Different ways to represent component:</a:t>
            </a:r>
            <a:endParaRPr/>
          </a:p>
          <a:p>
            <a:pPr indent="-228600" lvl="0" marL="228600" rtl="0" algn="l">
              <a:lnSpc>
                <a:spcPct val="90000"/>
              </a:lnSpc>
              <a:spcBef>
                <a:spcPts val="1000"/>
              </a:spcBef>
              <a:spcAft>
                <a:spcPts val="0"/>
              </a:spcAft>
              <a:buClr>
                <a:schemeClr val="dk1"/>
              </a:buClr>
              <a:buSzPts val="2800"/>
              <a:buChar char="•"/>
            </a:pPr>
            <a:r>
              <a:rPr lang="en-US"/>
              <a:t>A rectangle with the component's name</a:t>
            </a:r>
            <a:endParaRPr/>
          </a:p>
          <a:p>
            <a:pPr indent="-228600" lvl="0" marL="228600" rtl="0" algn="l">
              <a:lnSpc>
                <a:spcPct val="90000"/>
              </a:lnSpc>
              <a:spcBef>
                <a:spcPts val="1000"/>
              </a:spcBef>
              <a:spcAft>
                <a:spcPts val="0"/>
              </a:spcAft>
              <a:buClr>
                <a:schemeClr val="dk1"/>
              </a:buClr>
              <a:buSzPts val="2800"/>
              <a:buChar char="•"/>
            </a:pPr>
            <a:r>
              <a:rPr lang="en-US"/>
              <a:t>A rectangle with the component icon</a:t>
            </a:r>
            <a:endParaRPr/>
          </a:p>
          <a:p>
            <a:pPr indent="-228600" lvl="0" marL="228600" rtl="0" algn="l">
              <a:lnSpc>
                <a:spcPct val="90000"/>
              </a:lnSpc>
              <a:spcBef>
                <a:spcPts val="1000"/>
              </a:spcBef>
              <a:spcAft>
                <a:spcPts val="0"/>
              </a:spcAft>
              <a:buClr>
                <a:schemeClr val="dk1"/>
              </a:buClr>
              <a:buSzPts val="2800"/>
              <a:buChar char="•"/>
            </a:pPr>
            <a:r>
              <a:rPr lang="en-US"/>
              <a:t>A rectangle with the stereotype text and/or icon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9" name="Google Shape;229;p23"/>
          <p:cNvPicPr preferRelativeResize="0"/>
          <p:nvPr/>
        </p:nvPicPr>
        <p:blipFill rotWithShape="1">
          <a:blip r:embed="rId3">
            <a:alphaModFix/>
          </a:blip>
          <a:srcRect b="0" l="0" r="0" t="0"/>
          <a:stretch/>
        </p:blipFill>
        <p:spPr>
          <a:xfrm>
            <a:off x="865470" y="4546164"/>
            <a:ext cx="9015806" cy="130349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576197" y="365125"/>
            <a:ext cx="10777603" cy="47411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Interface</a:t>
            </a:r>
            <a:endParaRPr/>
          </a:p>
        </p:txBody>
      </p:sp>
      <p:sp>
        <p:nvSpPr>
          <p:cNvPr id="235" name="Google Shape;235;p24"/>
          <p:cNvSpPr txBox="1"/>
          <p:nvPr>
            <p:ph idx="1" type="body"/>
          </p:nvPr>
        </p:nvSpPr>
        <p:spPr>
          <a:xfrm>
            <a:off x="438411" y="977030"/>
            <a:ext cx="10915389" cy="519993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In the example below shows two type of component interfaces:</a:t>
            </a:r>
            <a:endParaRPr/>
          </a:p>
          <a:p>
            <a:pPr indent="-228600" lvl="0" marL="228600" rtl="0" algn="l">
              <a:lnSpc>
                <a:spcPct val="90000"/>
              </a:lnSpc>
              <a:spcBef>
                <a:spcPts val="1000"/>
              </a:spcBef>
              <a:spcAft>
                <a:spcPts val="0"/>
              </a:spcAft>
              <a:buClr>
                <a:schemeClr val="dk1"/>
              </a:buClr>
              <a:buSzPts val="2400"/>
              <a:buChar char="•"/>
            </a:pPr>
            <a:r>
              <a:rPr b="1" lang="en-US" sz="2400"/>
              <a:t>Provided interface</a:t>
            </a:r>
            <a:r>
              <a:rPr lang="en-US" sz="2400"/>
              <a:t> symbols with a complete circle at their end represent an interface that the component provides - this "lollipop" symbol is shorthand for a realization relationship of an interface classifier.</a:t>
            </a:r>
            <a:endParaRPr/>
          </a:p>
          <a:p>
            <a:pPr indent="-228600" lvl="0" marL="228600" rtl="0" algn="l">
              <a:lnSpc>
                <a:spcPct val="90000"/>
              </a:lnSpc>
              <a:spcBef>
                <a:spcPts val="1000"/>
              </a:spcBef>
              <a:spcAft>
                <a:spcPts val="0"/>
              </a:spcAft>
              <a:buClr>
                <a:schemeClr val="dk1"/>
              </a:buClr>
              <a:buSzPts val="2400"/>
              <a:buChar char="•"/>
            </a:pPr>
            <a:r>
              <a:rPr b="1" lang="en-US" sz="2400"/>
              <a:t>Required Interface</a:t>
            </a:r>
            <a:r>
              <a:rPr lang="en-US" sz="2400"/>
              <a:t> symbols with only a half circle at their end (a.k.a. sockets) represent an interface that the component requires (in both cases, the interface's name is placed near the interface symbol itself).</a:t>
            </a:r>
            <a:endParaRPr/>
          </a:p>
          <a:p>
            <a:pPr indent="-76200" lvl="0" marL="228600" rtl="0" algn="l">
              <a:lnSpc>
                <a:spcPct val="90000"/>
              </a:lnSpc>
              <a:spcBef>
                <a:spcPts val="1000"/>
              </a:spcBef>
              <a:spcAft>
                <a:spcPts val="0"/>
              </a:spcAft>
              <a:buClr>
                <a:schemeClr val="dk1"/>
              </a:buClr>
              <a:buSzPts val="2400"/>
              <a:buNone/>
            </a:pPr>
            <a:r>
              <a:t/>
            </a:r>
            <a:endParaRPr sz="2400"/>
          </a:p>
        </p:txBody>
      </p:sp>
      <p:pic>
        <p:nvPicPr>
          <p:cNvPr descr="Required and provided interface" id="236" name="Google Shape;236;p24"/>
          <p:cNvPicPr preferRelativeResize="0"/>
          <p:nvPr/>
        </p:nvPicPr>
        <p:blipFill rotWithShape="1">
          <a:blip r:embed="rId3">
            <a:alphaModFix/>
          </a:blip>
          <a:srcRect b="0" l="0" r="0" t="0"/>
          <a:stretch/>
        </p:blipFill>
        <p:spPr>
          <a:xfrm>
            <a:off x="2610677" y="4884216"/>
            <a:ext cx="4000500" cy="13335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42" name="Google Shape;24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Example of simple order system</a:t>
            </a:r>
            <a:endParaRPr/>
          </a:p>
        </p:txBody>
      </p:sp>
      <p:pic>
        <p:nvPicPr>
          <p:cNvPr id="243" name="Google Shape;243;p25"/>
          <p:cNvPicPr preferRelativeResize="0"/>
          <p:nvPr/>
        </p:nvPicPr>
        <p:blipFill rotWithShape="1">
          <a:blip r:embed="rId3">
            <a:alphaModFix/>
          </a:blip>
          <a:srcRect b="0" l="0" r="0" t="0"/>
          <a:stretch/>
        </p:blipFill>
        <p:spPr>
          <a:xfrm>
            <a:off x="2372704" y="3053155"/>
            <a:ext cx="4791075" cy="1152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Dependancy</a:t>
            </a:r>
            <a:endParaRPr/>
          </a:p>
        </p:txBody>
      </p:sp>
      <p:sp>
        <p:nvSpPr>
          <p:cNvPr id="249" name="Google Shape;249;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250" name="Google Shape;250;p26"/>
          <p:cNvPicPr preferRelativeResize="0"/>
          <p:nvPr/>
        </p:nvPicPr>
        <p:blipFill rotWithShape="1">
          <a:blip r:embed="rId3">
            <a:alphaModFix/>
          </a:blip>
          <a:srcRect b="0" l="0" r="0" t="0"/>
          <a:stretch/>
        </p:blipFill>
        <p:spPr>
          <a:xfrm>
            <a:off x="473208" y="1578279"/>
            <a:ext cx="10872589" cy="43684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27"/>
          <p:cNvPicPr preferRelativeResize="0"/>
          <p:nvPr/>
        </p:nvPicPr>
        <p:blipFill rotWithShape="1">
          <a:blip r:embed="rId3">
            <a:alphaModFix/>
          </a:blip>
          <a:srcRect b="0" l="0" r="0" t="0"/>
          <a:stretch/>
        </p:blipFill>
        <p:spPr>
          <a:xfrm>
            <a:off x="3895399" y="2552505"/>
            <a:ext cx="2847975" cy="3381375"/>
          </a:xfrm>
          <a:prstGeom prst="rect">
            <a:avLst/>
          </a:prstGeom>
          <a:noFill/>
          <a:ln>
            <a:noFill/>
          </a:ln>
        </p:spPr>
      </p:pic>
      <p:sp>
        <p:nvSpPr>
          <p:cNvPr id="256" name="Google Shape;25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257" name="Google Shape;25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Additional compartment shows the interface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8"/>
          <p:cNvPicPr preferRelativeResize="0"/>
          <p:nvPr/>
        </p:nvPicPr>
        <p:blipFill rotWithShape="1">
          <a:blip r:embed="rId3">
            <a:alphaModFix/>
          </a:blip>
          <a:srcRect b="0" l="0" r="0" t="0"/>
          <a:stretch/>
        </p:blipFill>
        <p:spPr>
          <a:xfrm>
            <a:off x="0" y="6263"/>
            <a:ext cx="12192000"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68" name="Google Shape;26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The assembly connector bridges  component’s required interface (Component1) with the provided interface of another component (Component2); this allows one component to provide the services that another component requires.</a:t>
            </a:r>
            <a:endParaRPr/>
          </a:p>
        </p:txBody>
      </p:sp>
      <p:pic>
        <p:nvPicPr>
          <p:cNvPr id="269" name="Google Shape;269;p29"/>
          <p:cNvPicPr preferRelativeResize="0"/>
          <p:nvPr/>
        </p:nvPicPr>
        <p:blipFill rotWithShape="1">
          <a:blip r:embed="rId3">
            <a:alphaModFix/>
          </a:blip>
          <a:srcRect b="0" l="0" r="0" t="0"/>
          <a:stretch/>
        </p:blipFill>
        <p:spPr>
          <a:xfrm>
            <a:off x="3352800" y="4419600"/>
            <a:ext cx="6705600" cy="2057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0"/>
          <p:cNvPicPr preferRelativeResize="0"/>
          <p:nvPr/>
        </p:nvPicPr>
        <p:blipFill rotWithShape="1">
          <a:blip r:embed="rId3">
            <a:alphaModFix/>
          </a:blip>
          <a:srcRect b="0" l="0" r="0" t="0"/>
          <a:stretch/>
        </p:blipFill>
        <p:spPr>
          <a:xfrm>
            <a:off x="789140" y="401615"/>
            <a:ext cx="10475934" cy="589271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1"/>
          <p:cNvPicPr preferRelativeResize="0"/>
          <p:nvPr/>
        </p:nvPicPr>
        <p:blipFill rotWithShape="1">
          <a:blip r:embed="rId3">
            <a:alphaModFix/>
          </a:blip>
          <a:srcRect b="0" l="0" r="0" t="0"/>
          <a:stretch/>
        </p:blipFill>
        <p:spPr>
          <a:xfrm>
            <a:off x="1" y="0"/>
            <a:ext cx="12191999"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85" name="Google Shape;285;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Port</a:t>
            </a:r>
            <a:endParaRPr/>
          </a:p>
          <a:p>
            <a:pPr indent="-228600" lvl="0" marL="228600" rtl="0" algn="just">
              <a:lnSpc>
                <a:spcPct val="90000"/>
              </a:lnSpc>
              <a:spcBef>
                <a:spcPts val="1000"/>
              </a:spcBef>
              <a:spcAft>
                <a:spcPts val="0"/>
              </a:spcAft>
              <a:buClr>
                <a:schemeClr val="dk1"/>
              </a:buClr>
              <a:buSzPts val="2800"/>
              <a:buChar char="•"/>
            </a:pPr>
            <a:r>
              <a:rPr lang="en-US"/>
              <a:t>Ports are represented using a square along the edge of the system or a component. A port is often used to help expose required and provided interfaces of a component.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86" name="Google Shape;286;p32"/>
          <p:cNvPicPr preferRelativeResize="0"/>
          <p:nvPr/>
        </p:nvPicPr>
        <p:blipFill rotWithShape="1">
          <a:blip r:embed="rId3">
            <a:alphaModFix/>
          </a:blip>
          <a:srcRect b="0" l="0" r="0" t="0"/>
          <a:stretch/>
        </p:blipFill>
        <p:spPr>
          <a:xfrm>
            <a:off x="3402904" y="4343400"/>
            <a:ext cx="5486400" cy="22098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92" name="Google Shape;292;p33"/>
          <p:cNvSpPr txBox="1"/>
          <p:nvPr>
            <p:ph idx="1" type="body"/>
          </p:nvPr>
        </p:nvSpPr>
        <p:spPr>
          <a:xfrm>
            <a:off x="609600" y="1371601"/>
            <a:ext cx="10972800" cy="47545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This component's inner structure is composed of other components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93" name="Google Shape;293;p33"/>
          <p:cNvPicPr preferRelativeResize="0"/>
          <p:nvPr/>
        </p:nvPicPr>
        <p:blipFill rotWithShape="1">
          <a:blip r:embed="rId3">
            <a:alphaModFix/>
          </a:blip>
          <a:srcRect b="0" l="0" r="0" t="0"/>
          <a:stretch/>
        </p:blipFill>
        <p:spPr>
          <a:xfrm>
            <a:off x="406400" y="2286000"/>
            <a:ext cx="10769600" cy="4495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Component diagram</a:t>
            </a:r>
            <a:endParaRPr/>
          </a:p>
        </p:txBody>
      </p:sp>
      <p:sp>
        <p:nvSpPr>
          <p:cNvPr id="299" name="Google Shape;29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81940" lvl="0" marL="228600" rtl="0" algn="l">
              <a:lnSpc>
                <a:spcPct val="90000"/>
              </a:lnSpc>
              <a:spcBef>
                <a:spcPts val="0"/>
              </a:spcBef>
              <a:spcAft>
                <a:spcPts val="0"/>
              </a:spcAft>
              <a:buClr>
                <a:schemeClr val="dk1"/>
              </a:buClr>
              <a:buSzPct val="100000"/>
              <a:buChar char="•"/>
            </a:pPr>
            <a:r>
              <a:rPr b="1" lang="en-US" sz="4800"/>
              <a:t>Online Shopping </a:t>
            </a:r>
            <a:r>
              <a:rPr b="1" i="1" lang="en-US" sz="4800"/>
              <a:t>UML Component Diagram Example</a:t>
            </a:r>
            <a:endParaRPr/>
          </a:p>
          <a:p>
            <a:pPr indent="0" lvl="0" marL="228600" rtl="0" algn="l">
              <a:lnSpc>
                <a:spcPct val="90000"/>
              </a:lnSpc>
              <a:spcBef>
                <a:spcPts val="1000"/>
              </a:spcBef>
              <a:spcAft>
                <a:spcPts val="0"/>
              </a:spcAft>
              <a:buClr>
                <a:schemeClr val="dk1"/>
              </a:buClr>
              <a:buSzPct val="100000"/>
              <a:buNone/>
            </a:pPr>
            <a:r>
              <a:t/>
            </a:r>
            <a:endParaRPr b="1" i="1" sz="4800"/>
          </a:p>
          <a:p>
            <a:pPr indent="-281940" lvl="0" marL="228600" rtl="0" algn="just">
              <a:lnSpc>
                <a:spcPct val="90000"/>
              </a:lnSpc>
              <a:spcBef>
                <a:spcPts val="1000"/>
              </a:spcBef>
              <a:spcAft>
                <a:spcPts val="0"/>
              </a:spcAft>
              <a:buClr>
                <a:schemeClr val="dk1"/>
              </a:buClr>
              <a:buSzPct val="100000"/>
              <a:buChar char="•"/>
            </a:pPr>
            <a:r>
              <a:rPr lang="en-US" sz="4800"/>
              <a:t>Online shopping UML component diagram example with three related subsystems - </a:t>
            </a:r>
            <a:r>
              <a:rPr b="1" lang="en-US" sz="4800"/>
              <a:t>WebStore, Warehouses, and Accounting.</a:t>
            </a:r>
            <a:endParaRPr/>
          </a:p>
          <a:p>
            <a:pPr indent="-64135" lvl="0" marL="228600" rtl="0" algn="just">
              <a:lnSpc>
                <a:spcPct val="90000"/>
              </a:lnSpc>
              <a:spcBef>
                <a:spcPts val="1000"/>
              </a:spcBef>
              <a:spcAft>
                <a:spcPts val="0"/>
              </a:spcAft>
              <a:buClr>
                <a:schemeClr val="dk1"/>
              </a:buClr>
              <a:buSzPct val="100000"/>
              <a:buNone/>
            </a:pPr>
            <a:r>
              <a:t/>
            </a:r>
            <a:endParaRPr b="1"/>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Online shopping UML component diagram example with three related subsystems - WebStore, Warehouses, and Accounting." id="304" name="Google Shape;304;p35"/>
          <p:cNvPicPr preferRelativeResize="0"/>
          <p:nvPr/>
        </p:nvPicPr>
        <p:blipFill rotWithShape="1">
          <a:blip r:embed="rId3">
            <a:alphaModFix/>
          </a:blip>
          <a:srcRect b="0" l="0" r="0" t="0"/>
          <a:stretch/>
        </p:blipFill>
        <p:spPr>
          <a:xfrm>
            <a:off x="237993" y="155792"/>
            <a:ext cx="11603277" cy="652684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Deployment Diagram</a:t>
            </a:r>
            <a:endParaRPr/>
          </a:p>
        </p:txBody>
      </p:sp>
      <p:sp>
        <p:nvSpPr>
          <p:cNvPr id="310" name="Google Shape;310;p36"/>
          <p:cNvSpPr txBox="1"/>
          <p:nvPr>
            <p:ph idx="1" type="body"/>
          </p:nvPr>
        </p:nvSpPr>
        <p:spPr>
          <a:xfrm>
            <a:off x="609600" y="1600200"/>
            <a:ext cx="10972800" cy="5105400"/>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lang="en-US"/>
              <a:t>Deployment diagrams is a kind of structure diagram used in modeling the physical aspects of an object-oriented system.</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n-US"/>
              <a:t>A deployment diagram is used to show the allocation of artifacts to nodes in the physical design of a system.</a:t>
            </a:r>
            <a:endParaRPr/>
          </a:p>
          <a:p>
            <a:pPr indent="-50800" lvl="0" marL="22860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en-US"/>
              <a:t>Deployment Diagrams are made up of a graph of nodes connected by communication associations to show the physical configuration of the software and hardware.</a:t>
            </a:r>
            <a:endParaRPr/>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7"/>
          <p:cNvSpPr txBox="1"/>
          <p:nvPr>
            <p:ph type="title"/>
          </p:nvPr>
        </p:nvSpPr>
        <p:spPr>
          <a:xfrm>
            <a:off x="563671" y="365126"/>
            <a:ext cx="10790129" cy="81232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Play"/>
              <a:buNone/>
            </a:pPr>
            <a:r>
              <a:rPr b="1" lang="en-US" sz="3200"/>
              <a:t>Essential elements of deployment diagram</a:t>
            </a:r>
            <a:endParaRPr b="1" sz="3200"/>
          </a:p>
        </p:txBody>
      </p:sp>
      <p:sp>
        <p:nvSpPr>
          <p:cNvPr id="316" name="Google Shape;316;p37"/>
          <p:cNvSpPr txBox="1"/>
          <p:nvPr>
            <p:ph idx="1" type="body"/>
          </p:nvPr>
        </p:nvSpPr>
        <p:spPr>
          <a:xfrm>
            <a:off x="178148" y="1199367"/>
            <a:ext cx="11785600" cy="5105400"/>
          </a:xfrm>
          <a:prstGeom prst="rect">
            <a:avLst/>
          </a:prstGeom>
          <a:noFill/>
          <a:ln>
            <a:noFill/>
          </a:ln>
        </p:spPr>
        <p:txBody>
          <a:bodyPr anchorCtr="0" anchor="t" bIns="45700" lIns="91425" spcFirstLastPara="1" rIns="91425" wrap="square" tIns="45700">
            <a:normAutofit/>
          </a:bodyPr>
          <a:lstStyle/>
          <a:p>
            <a:pPr indent="-514350" lvl="0" marL="514350" rtl="0" algn="just">
              <a:lnSpc>
                <a:spcPct val="90000"/>
              </a:lnSpc>
              <a:spcBef>
                <a:spcPts val="0"/>
              </a:spcBef>
              <a:spcAft>
                <a:spcPts val="0"/>
              </a:spcAft>
              <a:buClr>
                <a:schemeClr val="dk1"/>
              </a:buClr>
              <a:buSzPts val="2800"/>
              <a:buAutoNum type="arabicPeriod"/>
            </a:pPr>
            <a:r>
              <a:rPr b="1" lang="en-US"/>
              <a:t>Artifacts</a:t>
            </a:r>
            <a:endParaRPr/>
          </a:p>
          <a:p>
            <a:pPr indent="-228600" lvl="0" marL="228600" rtl="0" algn="just">
              <a:lnSpc>
                <a:spcPct val="90000"/>
              </a:lnSpc>
              <a:spcBef>
                <a:spcPts val="1000"/>
              </a:spcBef>
              <a:spcAft>
                <a:spcPts val="0"/>
              </a:spcAft>
              <a:buClr>
                <a:schemeClr val="dk1"/>
              </a:buClr>
              <a:buSzPts val="2400"/>
              <a:buChar char="•"/>
            </a:pPr>
            <a:r>
              <a:rPr lang="en-US" sz="2400"/>
              <a:t>Artifact is a physical item that implements a portion of software design.</a:t>
            </a:r>
            <a:endParaRPr/>
          </a:p>
          <a:p>
            <a:pPr indent="-228600" lvl="0" marL="228600" rtl="0" algn="just">
              <a:lnSpc>
                <a:spcPct val="90000"/>
              </a:lnSpc>
              <a:spcBef>
                <a:spcPts val="1000"/>
              </a:spcBef>
              <a:spcAft>
                <a:spcPts val="0"/>
              </a:spcAft>
              <a:buClr>
                <a:schemeClr val="dk1"/>
              </a:buClr>
              <a:buSzPts val="2400"/>
              <a:buChar char="•"/>
            </a:pPr>
            <a:r>
              <a:rPr lang="en-US" sz="2400"/>
              <a:t>It can be an source file , document, databases etc related to code.</a:t>
            </a:r>
            <a:endParaRPr/>
          </a:p>
          <a:p>
            <a:pPr indent="-228600" lvl="0" marL="228600" rtl="0" algn="just">
              <a:lnSpc>
                <a:spcPct val="90000"/>
              </a:lnSpc>
              <a:spcBef>
                <a:spcPts val="1000"/>
              </a:spcBef>
              <a:spcAft>
                <a:spcPts val="0"/>
              </a:spcAft>
              <a:buClr>
                <a:schemeClr val="dk1"/>
              </a:buClr>
              <a:buSzPts val="2400"/>
              <a:buChar char="•"/>
            </a:pPr>
            <a:r>
              <a:rPr lang="en-US" sz="2400"/>
              <a:t>Notation of artifact consists of class rectangle name of artifact and label </a:t>
            </a:r>
            <a:r>
              <a:rPr b="1" lang="en-US" sz="2400"/>
              <a:t>&lt;&lt;artifact&gt;&gt;</a:t>
            </a:r>
            <a:endParaRPr/>
          </a:p>
          <a:p>
            <a:pPr indent="-228600" lvl="0" marL="228600" rtl="0" algn="just">
              <a:lnSpc>
                <a:spcPct val="90000"/>
              </a:lnSpc>
              <a:spcBef>
                <a:spcPts val="1000"/>
              </a:spcBef>
              <a:spcAft>
                <a:spcPts val="0"/>
              </a:spcAft>
              <a:buClr>
                <a:schemeClr val="dk1"/>
              </a:buClr>
              <a:buSzPts val="2400"/>
              <a:buChar char="•"/>
            </a:pPr>
            <a:r>
              <a:rPr lang="en-US" sz="2400"/>
              <a:t>Physical files deployed onto nodes, embodying the actual implementation of software components, such as executables, scripts, databases, etc.</a:t>
            </a:r>
            <a:endParaRPr b="1" sz="2400"/>
          </a:p>
          <a:p>
            <a:pPr indent="0" lvl="0" marL="0" rtl="0" algn="just">
              <a:lnSpc>
                <a:spcPct val="90000"/>
              </a:lnSpc>
              <a:spcBef>
                <a:spcPts val="1000"/>
              </a:spcBef>
              <a:spcAft>
                <a:spcPts val="0"/>
              </a:spcAft>
              <a:buClr>
                <a:schemeClr val="dk1"/>
              </a:buClr>
              <a:buSzPts val="2800"/>
              <a:buNone/>
            </a:pPr>
            <a:r>
              <a:t/>
            </a:r>
            <a:endParaRPr/>
          </a:p>
        </p:txBody>
      </p:sp>
      <p:pic>
        <p:nvPicPr>
          <p:cNvPr id="317" name="Google Shape;317;p37"/>
          <p:cNvPicPr preferRelativeResize="0"/>
          <p:nvPr/>
        </p:nvPicPr>
        <p:blipFill rotWithShape="1">
          <a:blip r:embed="rId3">
            <a:alphaModFix/>
          </a:blip>
          <a:srcRect b="0" l="0" r="0" t="0"/>
          <a:stretch/>
        </p:blipFill>
        <p:spPr>
          <a:xfrm>
            <a:off x="5066517" y="4876799"/>
            <a:ext cx="1257300" cy="1752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Deployment Diagram</a:t>
            </a:r>
            <a:endParaRPr/>
          </a:p>
        </p:txBody>
      </p:sp>
      <p:sp>
        <p:nvSpPr>
          <p:cNvPr id="323" name="Google Shape;323;p38"/>
          <p:cNvSpPr txBox="1"/>
          <p:nvPr>
            <p:ph idx="1" type="body"/>
          </p:nvPr>
        </p:nvSpPr>
        <p:spPr>
          <a:xfrm>
            <a:off x="609600" y="1600200"/>
            <a:ext cx="10972800" cy="51054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rPr b="1" lang="en-US"/>
              <a:t>2. Nodes</a:t>
            </a:r>
            <a:endParaRPr/>
          </a:p>
          <a:p>
            <a:pPr indent="-228600" lvl="0" marL="228600" rtl="0" algn="just">
              <a:lnSpc>
                <a:spcPct val="90000"/>
              </a:lnSpc>
              <a:spcBef>
                <a:spcPts val="1000"/>
              </a:spcBef>
              <a:spcAft>
                <a:spcPts val="0"/>
              </a:spcAft>
              <a:buClr>
                <a:schemeClr val="dk1"/>
              </a:buClr>
              <a:buSzPts val="2800"/>
              <a:buChar char="•"/>
            </a:pPr>
            <a:r>
              <a:rPr lang="en-US"/>
              <a:t>A node is computational resource containing memory and processing on which artifacts are deployed for execution.</a:t>
            </a:r>
            <a:endParaRPr/>
          </a:p>
          <a:p>
            <a:pPr indent="-228600" lvl="0" marL="228600" rtl="0" algn="just">
              <a:lnSpc>
                <a:spcPct val="90000"/>
              </a:lnSpc>
              <a:spcBef>
                <a:spcPts val="1000"/>
              </a:spcBef>
              <a:spcAft>
                <a:spcPts val="0"/>
              </a:spcAft>
              <a:buClr>
                <a:schemeClr val="dk1"/>
              </a:buClr>
              <a:buSzPts val="2800"/>
              <a:buChar char="•"/>
            </a:pPr>
            <a:r>
              <a:rPr lang="en-US"/>
              <a:t>Notation of node three dimensional cube.</a:t>
            </a:r>
            <a:endParaRPr/>
          </a:p>
          <a:p>
            <a:pPr indent="-228600" lvl="0" marL="228600" rtl="0" algn="just">
              <a:lnSpc>
                <a:spcPct val="90000"/>
              </a:lnSpc>
              <a:spcBef>
                <a:spcPts val="1000"/>
              </a:spcBef>
              <a:spcAft>
                <a:spcPts val="0"/>
              </a:spcAft>
              <a:buClr>
                <a:schemeClr val="dk1"/>
              </a:buClr>
              <a:buSzPts val="2800"/>
              <a:buChar char="•"/>
            </a:pPr>
            <a:r>
              <a:rPr lang="en-US"/>
              <a:t>Nodes denote hardware, not software entities.</a:t>
            </a:r>
            <a:endParaRPr/>
          </a:p>
          <a:p>
            <a:pPr indent="-228600" lvl="0" marL="228600" rtl="0" algn="just">
              <a:lnSpc>
                <a:spcPct val="90000"/>
              </a:lnSpc>
              <a:spcBef>
                <a:spcPts val="1000"/>
              </a:spcBef>
              <a:spcAft>
                <a:spcPts val="0"/>
              </a:spcAft>
              <a:buClr>
                <a:schemeClr val="dk1"/>
              </a:buClr>
              <a:buSzPts val="2800"/>
              <a:buChar char="•"/>
            </a:pPr>
            <a:r>
              <a:rPr lang="en-US"/>
              <a:t>These represent the physical hardware entities where software components are deployed, such as servers, workstations, routers, etc.</a:t>
            </a:r>
            <a:endParaRPr/>
          </a:p>
        </p:txBody>
      </p:sp>
      <p:pic>
        <p:nvPicPr>
          <p:cNvPr id="324" name="Google Shape;324;p38"/>
          <p:cNvPicPr preferRelativeResize="0"/>
          <p:nvPr/>
        </p:nvPicPr>
        <p:blipFill rotWithShape="1">
          <a:blip r:embed="rId3">
            <a:alphaModFix/>
          </a:blip>
          <a:srcRect b="0" l="0" r="0" t="0"/>
          <a:stretch/>
        </p:blipFill>
        <p:spPr>
          <a:xfrm>
            <a:off x="8978879" y="433127"/>
            <a:ext cx="1323975" cy="14573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Deployment Diagram</a:t>
            </a:r>
            <a:endParaRPr/>
          </a:p>
        </p:txBody>
      </p:sp>
      <p:sp>
        <p:nvSpPr>
          <p:cNvPr id="330" name="Google Shape;330;p39"/>
          <p:cNvSpPr txBox="1"/>
          <p:nvPr>
            <p:ph idx="1" type="body"/>
          </p:nvPr>
        </p:nvSpPr>
        <p:spPr>
          <a:xfrm>
            <a:off x="463463" y="1490598"/>
            <a:ext cx="7089731" cy="4784942"/>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b="1" lang="en-US"/>
              <a:t>3. Connections/ dependencies</a:t>
            </a:r>
            <a:endParaRPr/>
          </a:p>
          <a:p>
            <a:pPr indent="-228600" lvl="0" marL="228600" rtl="0" algn="l">
              <a:lnSpc>
                <a:spcPct val="90000"/>
              </a:lnSpc>
              <a:spcBef>
                <a:spcPts val="1000"/>
              </a:spcBef>
              <a:spcAft>
                <a:spcPts val="0"/>
              </a:spcAft>
              <a:buClr>
                <a:schemeClr val="dk1"/>
              </a:buClr>
              <a:buSzPct val="100000"/>
              <a:buChar char="•"/>
            </a:pPr>
            <a:r>
              <a:rPr lang="en-US"/>
              <a:t>Reflect relationships or connections between nodes and components</a:t>
            </a:r>
            <a:endParaRPr/>
          </a:p>
          <a:p>
            <a:pPr indent="-228600" lvl="0" marL="228600" rtl="0" algn="l">
              <a:lnSpc>
                <a:spcPct val="90000"/>
              </a:lnSpc>
              <a:spcBef>
                <a:spcPts val="1000"/>
              </a:spcBef>
              <a:spcAft>
                <a:spcPts val="0"/>
              </a:spcAft>
              <a:buClr>
                <a:schemeClr val="dk1"/>
              </a:buClr>
              <a:buSzPct val="100000"/>
              <a:buChar char="•"/>
            </a:pPr>
            <a:r>
              <a:rPr lang="en-US"/>
              <a:t>Nodes communicate via messages and signals , through communication path indicated by solid line.</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Communication paths are usually considered to be bidirectional, for unidirectional, an arrow may be added to show the direction</a:t>
            </a:r>
            <a:endParaRPr/>
          </a:p>
          <a:p>
            <a:pPr indent="-11747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Each communication path may include an optional keyword label, such as «http» or «TCP/IP», that provides information about the connection.</a:t>
            </a:r>
            <a:endParaRPr/>
          </a:p>
          <a:p>
            <a:pPr indent="-117475" lvl="0" marL="228600" rtl="0" algn="just">
              <a:lnSpc>
                <a:spcPct val="90000"/>
              </a:lnSpc>
              <a:spcBef>
                <a:spcPts val="1000"/>
              </a:spcBef>
              <a:spcAft>
                <a:spcPts val="0"/>
              </a:spcAft>
              <a:buClr>
                <a:schemeClr val="dk1"/>
              </a:buClr>
              <a:buSzPct val="100000"/>
              <a:buNone/>
            </a:pPr>
            <a:r>
              <a:t/>
            </a:r>
            <a:endParaRPr/>
          </a:p>
          <a:p>
            <a:pPr indent="-228600" lvl="0" marL="228600" rtl="0" algn="just">
              <a:lnSpc>
                <a:spcPct val="90000"/>
              </a:lnSpc>
              <a:spcBef>
                <a:spcPts val="1000"/>
              </a:spcBef>
              <a:spcAft>
                <a:spcPts val="0"/>
              </a:spcAft>
              <a:buClr>
                <a:schemeClr val="dk1"/>
              </a:buClr>
              <a:buSzPct val="100000"/>
              <a:buChar char="•"/>
            </a:pPr>
            <a:r>
              <a:rPr lang="en-US"/>
              <a:t>multiplicity for each of the nodes connected via a communication path.</a:t>
            </a:r>
            <a:endParaRPr/>
          </a:p>
          <a:p>
            <a:pPr indent="0" lvl="0" marL="0" rtl="0" algn="l">
              <a:lnSpc>
                <a:spcPct val="90000"/>
              </a:lnSpc>
              <a:spcBef>
                <a:spcPts val="1000"/>
              </a:spcBef>
              <a:spcAft>
                <a:spcPts val="0"/>
              </a:spcAft>
              <a:buClr>
                <a:schemeClr val="dk1"/>
              </a:buClr>
              <a:buSzPct val="100000"/>
              <a:buNone/>
            </a:pPr>
            <a:r>
              <a:t/>
            </a:r>
            <a:endParaRPr b="1"/>
          </a:p>
          <a:p>
            <a:pPr indent="-117475" lvl="0" marL="228600" rtl="0" algn="l">
              <a:lnSpc>
                <a:spcPct val="90000"/>
              </a:lnSpc>
              <a:spcBef>
                <a:spcPts val="1000"/>
              </a:spcBef>
              <a:spcAft>
                <a:spcPts val="0"/>
              </a:spcAft>
              <a:buClr>
                <a:schemeClr val="dk1"/>
              </a:buClr>
              <a:buSzPct val="100000"/>
              <a:buNone/>
            </a:pPr>
            <a:r>
              <a:t/>
            </a:r>
            <a:endParaRPr/>
          </a:p>
        </p:txBody>
      </p:sp>
      <p:pic>
        <p:nvPicPr>
          <p:cNvPr id="331" name="Google Shape;331;p39"/>
          <p:cNvPicPr preferRelativeResize="0"/>
          <p:nvPr/>
        </p:nvPicPr>
        <p:blipFill rotWithShape="1">
          <a:blip r:embed="rId3">
            <a:alphaModFix/>
          </a:blip>
          <a:srcRect b="0" l="0" r="0" t="0"/>
          <a:stretch/>
        </p:blipFill>
        <p:spPr>
          <a:xfrm>
            <a:off x="8049016" y="2628444"/>
            <a:ext cx="3810000" cy="23526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txBox="1"/>
          <p:nvPr>
            <p:ph idx="1" type="body"/>
          </p:nvPr>
        </p:nvSpPr>
        <p:spPr>
          <a:xfrm>
            <a:off x="712939" y="660704"/>
            <a:ext cx="10811005" cy="5639887"/>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b="1" lang="en-US"/>
              <a:t>4. Interface </a:t>
            </a:r>
            <a:endParaRPr/>
          </a:p>
          <a:p>
            <a:pPr indent="-228600" lvl="0" marL="228600" rtl="0" algn="l">
              <a:lnSpc>
                <a:spcPct val="90000"/>
              </a:lnSpc>
              <a:spcBef>
                <a:spcPts val="1000"/>
              </a:spcBef>
              <a:spcAft>
                <a:spcPts val="0"/>
              </a:spcAft>
              <a:buClr>
                <a:schemeClr val="dk1"/>
              </a:buClr>
              <a:buSzPct val="100000"/>
              <a:buChar char="•"/>
            </a:pPr>
            <a:r>
              <a:rPr lang="en-US"/>
              <a:t>An interface defines a contract specifying the methods or operations that a component must implement. </a:t>
            </a:r>
            <a:endParaRPr/>
          </a:p>
          <a:p>
            <a:pPr indent="-228600" lvl="0" marL="228600" rtl="0" algn="l">
              <a:lnSpc>
                <a:spcPct val="90000"/>
              </a:lnSpc>
              <a:spcBef>
                <a:spcPts val="1000"/>
              </a:spcBef>
              <a:spcAft>
                <a:spcPts val="0"/>
              </a:spcAft>
              <a:buClr>
                <a:schemeClr val="dk1"/>
              </a:buClr>
              <a:buSzPct val="100000"/>
              <a:buChar char="•"/>
            </a:pPr>
            <a:r>
              <a:rPr lang="en-US"/>
              <a:t>It represents a point of interaction between different components or subsystems.</a:t>
            </a:r>
            <a:endParaRPr/>
          </a:p>
          <a:p>
            <a:pPr indent="-228600" lvl="0" marL="228600" rtl="0" algn="l">
              <a:lnSpc>
                <a:spcPct val="90000"/>
              </a:lnSpc>
              <a:spcBef>
                <a:spcPts val="1000"/>
              </a:spcBef>
              <a:spcAft>
                <a:spcPts val="0"/>
              </a:spcAft>
              <a:buClr>
                <a:schemeClr val="dk1"/>
              </a:buClr>
              <a:buSzPct val="100000"/>
              <a:buChar char="•"/>
            </a:pPr>
            <a:r>
              <a:rPr i="1" lang="en-US"/>
              <a:t>Represented as a </a:t>
            </a:r>
            <a:r>
              <a:rPr b="1" i="1" lang="en-US"/>
              <a:t>circle or ellipse </a:t>
            </a:r>
            <a:r>
              <a:rPr i="1" lang="en-US"/>
              <a:t>labeled with the interface’s name. Interfaces can also include provided and required interfaces, denoted by “+” and “-” symbols, respectively.</a:t>
            </a:r>
            <a:endParaRPr/>
          </a:p>
          <a:p>
            <a:pPr indent="-64135" lvl="0" marL="228600" rtl="0" algn="l">
              <a:lnSpc>
                <a:spcPct val="90000"/>
              </a:lnSpc>
              <a:spcBef>
                <a:spcPts val="1000"/>
              </a:spcBef>
              <a:spcAft>
                <a:spcPts val="0"/>
              </a:spcAft>
              <a:buClr>
                <a:schemeClr val="dk1"/>
              </a:buClr>
              <a:buSzPct val="100000"/>
              <a:buNone/>
            </a:pPr>
            <a:r>
              <a:t/>
            </a:r>
            <a:endParaRPr i="1"/>
          </a:p>
          <a:p>
            <a:pPr indent="-64135" lvl="0" marL="228600" rtl="0" algn="l">
              <a:lnSpc>
                <a:spcPct val="90000"/>
              </a:lnSpc>
              <a:spcBef>
                <a:spcPts val="1000"/>
              </a:spcBef>
              <a:spcAft>
                <a:spcPts val="0"/>
              </a:spcAft>
              <a:buClr>
                <a:schemeClr val="dk1"/>
              </a:buClr>
              <a:buSzPct val="100000"/>
              <a:buNone/>
            </a:pPr>
            <a:r>
              <a:t/>
            </a:r>
            <a:endParaRPr i="1"/>
          </a:p>
          <a:p>
            <a:pPr indent="-64135" lvl="0" marL="228600" rtl="0" algn="l">
              <a:lnSpc>
                <a:spcPct val="90000"/>
              </a:lnSpc>
              <a:spcBef>
                <a:spcPts val="1000"/>
              </a:spcBef>
              <a:spcAft>
                <a:spcPts val="0"/>
              </a:spcAft>
              <a:buClr>
                <a:schemeClr val="dk1"/>
              </a:buClr>
              <a:buSzPct val="100000"/>
              <a:buNone/>
            </a:pPr>
            <a:r>
              <a:t/>
            </a:r>
            <a:endParaRPr i="1"/>
          </a:p>
          <a:p>
            <a:pPr indent="0" lvl="0" marL="0" rtl="0" algn="l">
              <a:lnSpc>
                <a:spcPct val="90000"/>
              </a:lnSpc>
              <a:spcBef>
                <a:spcPts val="1000"/>
              </a:spcBef>
              <a:spcAft>
                <a:spcPts val="0"/>
              </a:spcAft>
              <a:buClr>
                <a:schemeClr val="dk1"/>
              </a:buClr>
              <a:buSzPct val="100000"/>
              <a:buNone/>
            </a:pPr>
            <a:r>
              <a:t/>
            </a:r>
            <a:endParaRPr b="1" i="1"/>
          </a:p>
          <a:p>
            <a:pPr indent="0" lvl="0" marL="0" rtl="0" algn="l">
              <a:lnSpc>
                <a:spcPct val="90000"/>
              </a:lnSpc>
              <a:spcBef>
                <a:spcPts val="1000"/>
              </a:spcBef>
              <a:spcAft>
                <a:spcPts val="0"/>
              </a:spcAft>
              <a:buClr>
                <a:schemeClr val="dk1"/>
              </a:buClr>
              <a:buSzPct val="100000"/>
              <a:buNone/>
            </a:pPr>
            <a:r>
              <a:rPr b="1" i="1" lang="en-US"/>
              <a:t>5.Component</a:t>
            </a:r>
            <a:endParaRPr b="1"/>
          </a:p>
        </p:txBody>
      </p:sp>
      <p:pic>
        <p:nvPicPr>
          <p:cNvPr id="337" name="Google Shape;337;p40"/>
          <p:cNvPicPr preferRelativeResize="0"/>
          <p:nvPr/>
        </p:nvPicPr>
        <p:blipFill rotWithShape="1">
          <a:blip r:embed="rId3">
            <a:alphaModFix/>
          </a:blip>
          <a:srcRect b="0" l="0" r="0" t="0"/>
          <a:stretch/>
        </p:blipFill>
        <p:spPr>
          <a:xfrm>
            <a:off x="4381630" y="4106971"/>
            <a:ext cx="1476375" cy="17145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41"/>
          <p:cNvPicPr preferRelativeResize="0"/>
          <p:nvPr/>
        </p:nvPicPr>
        <p:blipFill rotWithShape="1">
          <a:blip r:embed="rId3">
            <a:alphaModFix/>
          </a:blip>
          <a:srcRect b="0" l="0" r="0" t="0"/>
          <a:stretch/>
        </p:blipFill>
        <p:spPr>
          <a:xfrm>
            <a:off x="812801" y="152400"/>
            <a:ext cx="10667999" cy="6553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348" name="Google Shape;348;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49" name="Google Shape;349;p42"/>
          <p:cNvPicPr preferRelativeResize="0"/>
          <p:nvPr/>
        </p:nvPicPr>
        <p:blipFill rotWithShape="1">
          <a:blip r:embed="rId3">
            <a:alphaModFix/>
          </a:blip>
          <a:srcRect b="0" l="0" r="0" t="0"/>
          <a:stretch/>
        </p:blipFill>
        <p:spPr>
          <a:xfrm>
            <a:off x="609600" y="304800"/>
            <a:ext cx="10972800" cy="5791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3"/>
          <p:cNvSpPr txBox="1"/>
          <p:nvPr>
            <p:ph type="title"/>
          </p:nvPr>
        </p:nvSpPr>
        <p:spPr>
          <a:xfrm>
            <a:off x="751562" y="365126"/>
            <a:ext cx="10602238" cy="90000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Play"/>
              <a:buNone/>
            </a:pPr>
            <a:r>
              <a:rPr b="1" lang="en-US" sz="3200"/>
              <a:t>Use Cases of Deployment Diagrams</a:t>
            </a:r>
            <a:endParaRPr sz="3200"/>
          </a:p>
        </p:txBody>
      </p:sp>
      <p:sp>
        <p:nvSpPr>
          <p:cNvPr id="355" name="Google Shape;355;p43"/>
          <p:cNvSpPr txBox="1"/>
          <p:nvPr>
            <p:ph idx="1" type="body"/>
          </p:nvPr>
        </p:nvSpPr>
        <p:spPr>
          <a:xfrm>
            <a:off x="663879" y="1352811"/>
            <a:ext cx="10689921" cy="4824152"/>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lang="en-US"/>
              <a:t>System Planning: </a:t>
            </a:r>
            <a:r>
              <a:rPr lang="en-US"/>
              <a:t>Deployment diagrams help plan how software systems will be set up on different devices. They show where each part of the system will go.</a:t>
            </a:r>
            <a:endParaRPr/>
          </a:p>
          <a:p>
            <a:pPr indent="-228600" lvl="0" marL="228600" rtl="0" algn="l">
              <a:lnSpc>
                <a:spcPct val="90000"/>
              </a:lnSpc>
              <a:spcBef>
                <a:spcPts val="1000"/>
              </a:spcBef>
              <a:spcAft>
                <a:spcPts val="0"/>
              </a:spcAft>
              <a:buClr>
                <a:schemeClr val="dk1"/>
              </a:buClr>
              <a:buSzPct val="100000"/>
              <a:buChar char="•"/>
            </a:pPr>
            <a:r>
              <a:rPr b="1" lang="en-US"/>
              <a:t>Infrastructure Design:</a:t>
            </a:r>
            <a:r>
              <a:rPr lang="en-US"/>
              <a:t> They help design the hardware needed to support the software. By showing which software parts go where, they help decide what devices and networks are needed.</a:t>
            </a:r>
            <a:endParaRPr/>
          </a:p>
          <a:p>
            <a:pPr indent="-228600" lvl="0" marL="228600" rtl="0" algn="l">
              <a:lnSpc>
                <a:spcPct val="90000"/>
              </a:lnSpc>
              <a:spcBef>
                <a:spcPts val="1000"/>
              </a:spcBef>
              <a:spcAft>
                <a:spcPts val="0"/>
              </a:spcAft>
              <a:buClr>
                <a:schemeClr val="dk1"/>
              </a:buClr>
              <a:buSzPct val="100000"/>
              <a:buChar char="•"/>
            </a:pPr>
            <a:r>
              <a:rPr b="1" lang="en-US"/>
              <a:t>Resource Allocation:</a:t>
            </a:r>
            <a:r>
              <a:rPr lang="en-US"/>
              <a:t> Deployment diagrams make sure each part of the software has enough resources, like memory or processing power, to run well.</a:t>
            </a:r>
            <a:endParaRPr/>
          </a:p>
          <a:p>
            <a:pPr indent="-228600" lvl="0" marL="228600" rtl="0" algn="l">
              <a:lnSpc>
                <a:spcPct val="90000"/>
              </a:lnSpc>
              <a:spcBef>
                <a:spcPts val="1000"/>
              </a:spcBef>
              <a:spcAft>
                <a:spcPts val="0"/>
              </a:spcAft>
              <a:buClr>
                <a:schemeClr val="dk1"/>
              </a:buClr>
              <a:buSzPct val="100000"/>
              <a:buChar char="•"/>
            </a:pPr>
            <a:r>
              <a:rPr b="1" lang="en-US"/>
              <a:t>Dependency Analysis: </a:t>
            </a:r>
            <a:r>
              <a:rPr lang="en-US"/>
              <a:t>They show how different parts of the software depend on each other and on the hardware. This helps understand how changes might affect the whole system.</a:t>
            </a:r>
            <a:endParaRPr/>
          </a:p>
          <a:p>
            <a:pPr indent="-228600" lvl="0" marL="228600" rtl="0" algn="l">
              <a:lnSpc>
                <a:spcPct val="90000"/>
              </a:lnSpc>
              <a:spcBef>
                <a:spcPts val="1000"/>
              </a:spcBef>
              <a:spcAft>
                <a:spcPts val="0"/>
              </a:spcAft>
              <a:buClr>
                <a:schemeClr val="dk1"/>
              </a:buClr>
              <a:buSzPct val="100000"/>
              <a:buChar char="•"/>
            </a:pPr>
            <a:r>
              <a:rPr b="1" lang="en-US"/>
              <a:t>Performance Optimization:</a:t>
            </a:r>
            <a:r>
              <a:rPr lang="en-US"/>
              <a:t> By seeing how everything is set up, teams can find ways to make the software run faster and smoother.</a:t>
            </a:r>
            <a:endParaRPr/>
          </a:p>
          <a:p>
            <a:pPr indent="-228600" lvl="0" marL="228600" rtl="0" algn="l">
              <a:lnSpc>
                <a:spcPct val="90000"/>
              </a:lnSpc>
              <a:spcBef>
                <a:spcPts val="1000"/>
              </a:spcBef>
              <a:spcAft>
                <a:spcPts val="0"/>
              </a:spcAft>
              <a:buClr>
                <a:schemeClr val="dk1"/>
              </a:buClr>
              <a:buSzPct val="100000"/>
              <a:buChar char="•"/>
            </a:pPr>
            <a:r>
              <a:rPr b="1" lang="en-US"/>
              <a:t>Security Planning:</a:t>
            </a:r>
            <a:r>
              <a:rPr lang="en-US"/>
              <a:t> Deployment diagrams help plan how to keep the system safe from hackers or other threats by showing where security measures are needed.</a:t>
            </a:r>
            <a:endParaRPr/>
          </a:p>
          <a:p>
            <a:pPr indent="-228600" lvl="0" marL="228600" rtl="0" algn="l">
              <a:lnSpc>
                <a:spcPct val="90000"/>
              </a:lnSpc>
              <a:spcBef>
                <a:spcPts val="1000"/>
              </a:spcBef>
              <a:spcAft>
                <a:spcPts val="0"/>
              </a:spcAft>
              <a:buClr>
                <a:schemeClr val="dk1"/>
              </a:buClr>
              <a:buSzPct val="100000"/>
              <a:buChar char="•"/>
            </a:pPr>
            <a:r>
              <a:rPr b="1" lang="en-US"/>
              <a:t>Documentation:</a:t>
            </a:r>
            <a:r>
              <a:rPr lang="en-US"/>
              <a:t> They provide a visual guide to how the system is set up, making it easier to understand and manage.</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Example </a:t>
            </a:r>
            <a:endParaRPr/>
          </a:p>
        </p:txBody>
      </p:sp>
      <p:sp>
        <p:nvSpPr>
          <p:cNvPr id="361" name="Google Shape;36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62" name="Google Shape;362;p44"/>
          <p:cNvPicPr preferRelativeResize="0"/>
          <p:nvPr/>
        </p:nvPicPr>
        <p:blipFill rotWithShape="1">
          <a:blip r:embed="rId3">
            <a:alphaModFix/>
          </a:blip>
          <a:srcRect b="0" l="0" r="0" t="0"/>
          <a:stretch/>
        </p:blipFill>
        <p:spPr>
          <a:xfrm>
            <a:off x="885139" y="1947993"/>
            <a:ext cx="7883015" cy="396429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45"/>
          <p:cNvPicPr preferRelativeResize="0"/>
          <p:nvPr/>
        </p:nvPicPr>
        <p:blipFill rotWithShape="1">
          <a:blip r:embed="rId3">
            <a:alphaModFix/>
          </a:blip>
          <a:srcRect b="0" l="0" r="0" t="0"/>
          <a:stretch/>
        </p:blipFill>
        <p:spPr>
          <a:xfrm>
            <a:off x="1117601" y="304800"/>
            <a:ext cx="9223828" cy="6248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2024-09-16T02:31:12Z</dcterms:created>
  <dc:creator>Avinash Badgujar</dc:creator>
</cp:coreProperties>
</file>
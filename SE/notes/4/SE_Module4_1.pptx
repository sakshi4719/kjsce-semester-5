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0" roundtripDataSignature="AMtx7mjsvL9VuteFnfE/I+7It8u/Iy1s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4"/>
          <p:cNvSpPr/>
          <p:nvPr>
            <p:ph idx="2" type="pic"/>
          </p:nvPr>
        </p:nvSpPr>
        <p:spPr>
          <a:xfrm>
            <a:off x="1792288" y="612775"/>
            <a:ext cx="5486400" cy="4114800"/>
          </a:xfrm>
          <a:prstGeom prst="rect">
            <a:avLst/>
          </a:prstGeom>
          <a:noFill/>
          <a:ln>
            <a:noFill/>
          </a:ln>
        </p:spPr>
      </p:sp>
      <p:sp>
        <p:nvSpPr>
          <p:cNvPr id="68" name="Google Shape;68;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lms-kjsce.somaiya.edu/course/view.php?id=1209#section-4" TargetMode="External"/><Relationship Id="rId4" Type="http://schemas.openxmlformats.org/officeDocument/2006/relationships/hyperlink" Target="https://lms-kjsce.somaiya.edu/course/view.php?id=1209#section-4" TargetMode="External"/><Relationship Id="rId5" Type="http://schemas.openxmlformats.org/officeDocument/2006/relationships/hyperlink" Target="https://lms-kjsce.somaiya.edu/course/view.php?id=1209#section-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Software Engineering </a:t>
            </a:r>
            <a:br>
              <a:rPr lang="en-US"/>
            </a:br>
            <a:r>
              <a:rPr lang="en-US"/>
              <a:t>2UCCE501</a:t>
            </a:r>
            <a:endParaRPr/>
          </a:p>
        </p:txBody>
      </p:sp>
      <p:sp>
        <p:nvSpPr>
          <p:cNvPr id="89" name="Google Shape;89;p1"/>
          <p:cNvSpPr txBox="1"/>
          <p:nvPr>
            <p:ph idx="1" type="subTitle"/>
          </p:nvPr>
        </p:nvSpPr>
        <p:spPr>
          <a:xfrm>
            <a:off x="1143000" y="4736387"/>
            <a:ext cx="6858000" cy="52141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888888"/>
              </a:buClr>
              <a:buSzPct val="100000"/>
              <a:buNone/>
            </a:pPr>
            <a:r>
              <a:rPr lang="en-US"/>
              <a:t>Module 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191193" y="547962"/>
            <a:ext cx="8529897" cy="85275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n-US" sz="3200"/>
              <a:t>Module 4 </a:t>
            </a:r>
            <a:br>
              <a:rPr b="1" lang="en-US" sz="3200"/>
            </a:br>
            <a:r>
              <a:rPr lang="en-US" sz="2800" u="sng">
                <a:solidFill>
                  <a:schemeClr val="hlink"/>
                </a:solidFill>
                <a:hlinkClick r:id="rId3"/>
              </a:rPr>
              <a:t>System Implementation, Configuration Management </a:t>
            </a:r>
            <a:br>
              <a:rPr lang="en-US" sz="2800" u="sng">
                <a:solidFill>
                  <a:schemeClr val="hlink"/>
                </a:solidFill>
                <a:hlinkClick r:id="rId4"/>
              </a:rPr>
            </a:br>
            <a:r>
              <a:rPr lang="en-US" sz="2800" u="sng">
                <a:solidFill>
                  <a:schemeClr val="hlink"/>
                </a:solidFill>
                <a:hlinkClick r:id="rId5"/>
              </a:rPr>
              <a:t>&amp; Risk Management</a:t>
            </a:r>
            <a:br>
              <a:rPr b="1" lang="en-US" sz="3200"/>
            </a:br>
            <a:endParaRPr b="1" sz="3200"/>
          </a:p>
        </p:txBody>
      </p:sp>
      <p:sp>
        <p:nvSpPr>
          <p:cNvPr id="95" name="Google Shape;95;p2"/>
          <p:cNvSpPr txBox="1"/>
          <p:nvPr>
            <p:ph idx="1" type="body"/>
          </p:nvPr>
        </p:nvSpPr>
        <p:spPr>
          <a:xfrm>
            <a:off x="617220" y="1647121"/>
            <a:ext cx="8103870" cy="4891791"/>
          </a:xfrm>
          <a:prstGeom prst="rect">
            <a:avLst/>
          </a:prstGeom>
          <a:noFill/>
          <a:ln>
            <a:noFill/>
          </a:ln>
        </p:spPr>
        <p:txBody>
          <a:bodyPr anchorCtr="0" anchor="t" bIns="45700" lIns="91425" spcFirstLastPara="1" rIns="91425" wrap="square" tIns="45700">
            <a:normAutofit fontScale="85000" lnSpcReduction="20000"/>
          </a:bodyPr>
          <a:lstStyle/>
          <a:p>
            <a:pPr indent="-582613" lvl="0" marL="582613" rtl="0" algn="l">
              <a:spcBef>
                <a:spcPts val="0"/>
              </a:spcBef>
              <a:spcAft>
                <a:spcPts val="0"/>
              </a:spcAft>
              <a:buClr>
                <a:schemeClr val="dk1"/>
              </a:buClr>
              <a:buSzPct val="100000"/>
              <a:buNone/>
            </a:pPr>
            <a:r>
              <a:rPr lang="en-US"/>
              <a:t>4.1 Packages &amp; Interfaces: Distinguishing between classes versus interfaces. Exposing class &amp; package interfaces.</a:t>
            </a:r>
            <a:endParaRPr/>
          </a:p>
          <a:p>
            <a:pPr indent="-582613" lvl="0" marL="582613" rtl="0" algn="l">
              <a:spcBef>
                <a:spcPts val="544"/>
              </a:spcBef>
              <a:spcAft>
                <a:spcPts val="0"/>
              </a:spcAft>
              <a:buClr>
                <a:srgbClr val="D8D8D8"/>
              </a:buClr>
              <a:buSzPct val="100000"/>
              <a:buNone/>
            </a:pPr>
            <a:r>
              <a:rPr lang="en-US">
                <a:solidFill>
                  <a:srgbClr val="D8D8D8"/>
                </a:solidFill>
              </a:rPr>
              <a:t>4.2 Mapping Model to code, Mapping object models to Database schema.</a:t>
            </a:r>
            <a:endParaRPr/>
          </a:p>
          <a:p>
            <a:pPr indent="0" lvl="0" marL="0" rtl="0" algn="l">
              <a:spcBef>
                <a:spcPts val="544"/>
              </a:spcBef>
              <a:spcAft>
                <a:spcPts val="0"/>
              </a:spcAft>
              <a:buClr>
                <a:srgbClr val="D8D8D8"/>
              </a:buClr>
              <a:buSzPct val="100000"/>
              <a:buNone/>
            </a:pPr>
            <a:r>
              <a:rPr lang="en-US">
                <a:solidFill>
                  <a:srgbClr val="D8D8D8"/>
                </a:solidFill>
              </a:rPr>
              <a:t>4.3 Component &amp; Deployment Diagrams: Describing dependencies.</a:t>
            </a:r>
            <a:endParaRPr/>
          </a:p>
          <a:p>
            <a:pPr indent="0" lvl="0" marL="0" rtl="0" algn="l">
              <a:spcBef>
                <a:spcPts val="544"/>
              </a:spcBef>
              <a:spcAft>
                <a:spcPts val="0"/>
              </a:spcAft>
              <a:buClr>
                <a:srgbClr val="D8D8D8"/>
              </a:buClr>
              <a:buSzPct val="100000"/>
              <a:buNone/>
            </a:pPr>
            <a:r>
              <a:rPr lang="en-US">
                <a:solidFill>
                  <a:srgbClr val="D8D8D8"/>
                </a:solidFill>
              </a:rPr>
              <a:t>4.4 Managing &amp; Controlling Changes: Managing &amp; Controlling versions.</a:t>
            </a:r>
            <a:endParaRPr/>
          </a:p>
          <a:p>
            <a:pPr indent="-582613" lvl="0" marL="582613" rtl="0" algn="l">
              <a:spcBef>
                <a:spcPts val="544"/>
              </a:spcBef>
              <a:spcAft>
                <a:spcPts val="0"/>
              </a:spcAft>
              <a:buClr>
                <a:srgbClr val="D8D8D8"/>
              </a:buClr>
              <a:buSzPct val="100000"/>
              <a:buNone/>
            </a:pPr>
            <a:r>
              <a:rPr lang="en-US">
                <a:solidFill>
                  <a:srgbClr val="D8D8D8"/>
                </a:solidFill>
              </a:rPr>
              <a:t>4.5 Categories of Risks. Nature of risks, Types of risks, Risk identification, Risk assessment, Risk Planning and control, Risk Management, Evaluating risk to schedule, PERT technique.</a:t>
            </a:r>
            <a:endParaRPr/>
          </a:p>
        </p:txBody>
      </p:sp>
      <p:sp>
        <p:nvSpPr>
          <p:cNvPr id="96" name="Google Shape;96;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Module 4.5  Risk Management</a:t>
            </a:r>
            <a:endParaRPr/>
          </a:p>
        </p:txBody>
      </p:sp>
      <p:sp>
        <p:nvSpPr>
          <p:cNvPr id="97" name="Google Shape;97;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Packages &amp; Interfaces</a:t>
            </a:r>
            <a:endParaRPr/>
          </a:p>
        </p:txBody>
      </p:sp>
      <p:sp>
        <p:nvSpPr>
          <p:cNvPr id="103" name="Google Shape;103;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Packages</a:t>
            </a:r>
            <a:r>
              <a:rPr lang="en-US"/>
              <a:t>:</a:t>
            </a:r>
            <a:endParaRPr/>
          </a:p>
          <a:p>
            <a:pPr indent="-342900" lvl="0" marL="342900" rtl="0" algn="l">
              <a:spcBef>
                <a:spcPts val="640"/>
              </a:spcBef>
              <a:spcAft>
                <a:spcPts val="0"/>
              </a:spcAft>
              <a:buClr>
                <a:schemeClr val="dk1"/>
              </a:buClr>
              <a:buSzPts val="3200"/>
              <a:buChar char="•"/>
            </a:pPr>
            <a:r>
              <a:rPr lang="en-US"/>
              <a:t>Organize related classes and interfaces into a single unit.</a:t>
            </a:r>
            <a:endParaRPr/>
          </a:p>
          <a:p>
            <a:pPr indent="-342900" lvl="0" marL="342900" rtl="0" algn="l">
              <a:spcBef>
                <a:spcPts val="640"/>
              </a:spcBef>
              <a:spcAft>
                <a:spcPts val="0"/>
              </a:spcAft>
              <a:buClr>
                <a:schemeClr val="dk1"/>
              </a:buClr>
              <a:buSzPts val="3200"/>
              <a:buChar char="•"/>
            </a:pPr>
            <a:r>
              <a:rPr lang="en-US"/>
              <a:t>Declared using package keyword</a:t>
            </a:r>
            <a:endParaRPr/>
          </a:p>
          <a:p>
            <a:pPr indent="-342900" lvl="0" marL="342900" rtl="0" algn="l">
              <a:spcBef>
                <a:spcPts val="640"/>
              </a:spcBef>
              <a:spcAft>
                <a:spcPts val="0"/>
              </a:spcAft>
              <a:buClr>
                <a:schemeClr val="dk1"/>
              </a:buClr>
              <a:buSzPts val="3200"/>
              <a:buChar char="•"/>
            </a:pPr>
            <a:r>
              <a:rPr lang="en-US"/>
              <a:t>Does not support multiple inheritance.</a:t>
            </a:r>
            <a:endParaRPr/>
          </a:p>
          <a:p>
            <a:pPr indent="-342900" lvl="0" marL="342900" rtl="0" algn="l">
              <a:spcBef>
                <a:spcPts val="640"/>
              </a:spcBef>
              <a:spcAft>
                <a:spcPts val="0"/>
              </a:spcAft>
              <a:buClr>
                <a:schemeClr val="dk1"/>
              </a:buClr>
              <a:buSzPts val="3200"/>
              <a:buChar char="•"/>
            </a:pPr>
            <a:r>
              <a:rPr lang="en-US"/>
              <a:t>Group classes and interfaces based on functionality</a:t>
            </a:r>
            <a:endParaRPr/>
          </a:p>
          <a:p>
            <a:pPr indent="-342900" lvl="0" marL="342900" rtl="0" algn="l">
              <a:spcBef>
                <a:spcPts val="640"/>
              </a:spcBef>
              <a:spcAft>
                <a:spcPts val="0"/>
              </a:spcAft>
              <a:buClr>
                <a:schemeClr val="dk1"/>
              </a:buClr>
              <a:buSzPts val="3200"/>
              <a:buChar char="•"/>
            </a:pPr>
            <a:r>
              <a:rPr lang="en-US"/>
              <a:t>Syntax: package com.software.mypackage;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09" name="Google Shape;109;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Interfaces:</a:t>
            </a:r>
            <a:endParaRPr/>
          </a:p>
          <a:p>
            <a:pPr indent="-342900" lvl="0" marL="342900" rtl="0" algn="l">
              <a:spcBef>
                <a:spcPts val="592"/>
              </a:spcBef>
              <a:spcAft>
                <a:spcPts val="0"/>
              </a:spcAft>
              <a:buClr>
                <a:schemeClr val="dk1"/>
              </a:buClr>
              <a:buSzPct val="100000"/>
              <a:buChar char="•"/>
            </a:pPr>
            <a:r>
              <a:rPr lang="en-US"/>
              <a:t>Define a contract for classes to implement</a:t>
            </a:r>
            <a:endParaRPr/>
          </a:p>
          <a:p>
            <a:pPr indent="-342900" lvl="0" marL="342900" rtl="0" algn="l">
              <a:spcBef>
                <a:spcPts val="592"/>
              </a:spcBef>
              <a:spcAft>
                <a:spcPts val="0"/>
              </a:spcAft>
              <a:buClr>
                <a:schemeClr val="dk1"/>
              </a:buClr>
              <a:buSzPct val="100000"/>
              <a:buChar char="•"/>
            </a:pPr>
            <a:r>
              <a:rPr lang="en-US"/>
              <a:t>Declared using interface keyword.</a:t>
            </a:r>
            <a:endParaRPr/>
          </a:p>
          <a:p>
            <a:pPr indent="-342900" lvl="0" marL="342900" rtl="0" algn="l">
              <a:spcBef>
                <a:spcPts val="592"/>
              </a:spcBef>
              <a:spcAft>
                <a:spcPts val="0"/>
              </a:spcAft>
              <a:buClr>
                <a:schemeClr val="dk1"/>
              </a:buClr>
              <a:buSzPct val="100000"/>
              <a:buChar char="•"/>
            </a:pPr>
            <a:r>
              <a:rPr lang="en-US"/>
              <a:t>Define method signatures that classes implementing the interface must provide implementations.</a:t>
            </a:r>
            <a:endParaRPr/>
          </a:p>
          <a:p>
            <a:pPr indent="-342900" lvl="0" marL="342900" rtl="0" algn="l">
              <a:spcBef>
                <a:spcPts val="592"/>
              </a:spcBef>
              <a:spcAft>
                <a:spcPts val="0"/>
              </a:spcAft>
              <a:buClr>
                <a:schemeClr val="dk1"/>
              </a:buClr>
              <a:buSzPct val="100000"/>
              <a:buChar char="•"/>
            </a:pPr>
            <a:r>
              <a:rPr lang="en-US"/>
              <a:t>Interface methods are implicitly public and abstract.</a:t>
            </a:r>
            <a:endParaRPr/>
          </a:p>
          <a:p>
            <a:pPr indent="-342900" lvl="0" marL="342900" rtl="0" algn="l">
              <a:spcBef>
                <a:spcPts val="592"/>
              </a:spcBef>
              <a:spcAft>
                <a:spcPts val="0"/>
              </a:spcAft>
              <a:buClr>
                <a:schemeClr val="dk1"/>
              </a:buClr>
              <a:buSzPct val="100000"/>
              <a:buChar char="•"/>
            </a:pPr>
            <a:r>
              <a:rPr lang="en-US"/>
              <a:t>Supports multiple inheritance as a class can implement multiple interfaces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Version Control</a:t>
            </a:r>
            <a:endParaRPr/>
          </a:p>
        </p:txBody>
      </p:sp>
      <p:sp>
        <p:nvSpPr>
          <p:cNvPr id="115" name="Google Shape;115;p5"/>
          <p:cNvSpPr txBox="1"/>
          <p:nvPr>
            <p:ph idx="1" type="body"/>
          </p:nvPr>
        </p:nvSpPr>
        <p:spPr>
          <a:xfrm>
            <a:off x="457200" y="1600200"/>
            <a:ext cx="8229600" cy="50292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lang="en-US"/>
              <a:t>Challenges in distributed work environment:</a:t>
            </a:r>
            <a:endParaRPr/>
          </a:p>
          <a:p>
            <a:pPr indent="-285750" lvl="1" marL="742950" rtl="0" algn="just">
              <a:spcBef>
                <a:spcPts val="518"/>
              </a:spcBef>
              <a:spcAft>
                <a:spcPts val="0"/>
              </a:spcAft>
              <a:buClr>
                <a:schemeClr val="dk1"/>
              </a:buClr>
              <a:buSzPct val="100000"/>
              <a:buChar char="–"/>
            </a:pPr>
            <a:r>
              <a:rPr lang="en-US"/>
              <a:t>Collaboration</a:t>
            </a:r>
            <a:endParaRPr/>
          </a:p>
          <a:p>
            <a:pPr indent="-285750" lvl="1" marL="742950" rtl="0" algn="just">
              <a:spcBef>
                <a:spcPts val="518"/>
              </a:spcBef>
              <a:spcAft>
                <a:spcPts val="0"/>
              </a:spcAft>
              <a:buClr>
                <a:schemeClr val="dk1"/>
              </a:buClr>
              <a:buSzPct val="100000"/>
              <a:buChar char="–"/>
            </a:pPr>
            <a:r>
              <a:rPr lang="en-US"/>
              <a:t>Restoring previous version</a:t>
            </a:r>
            <a:endParaRPr/>
          </a:p>
          <a:p>
            <a:pPr indent="-285750" lvl="1" marL="742950" rtl="0" algn="just">
              <a:spcBef>
                <a:spcPts val="518"/>
              </a:spcBef>
              <a:spcAft>
                <a:spcPts val="0"/>
              </a:spcAft>
              <a:buClr>
                <a:schemeClr val="dk1"/>
              </a:buClr>
              <a:buSzPct val="100000"/>
              <a:buChar char="–"/>
            </a:pPr>
            <a:r>
              <a:rPr lang="en-US"/>
              <a:t>What and where change happen</a:t>
            </a:r>
            <a:endParaRPr/>
          </a:p>
          <a:p>
            <a:pPr indent="-285750" lvl="1" marL="742950" rtl="0" algn="just">
              <a:spcBef>
                <a:spcPts val="518"/>
              </a:spcBef>
              <a:spcAft>
                <a:spcPts val="0"/>
              </a:spcAft>
              <a:buClr>
                <a:schemeClr val="dk1"/>
              </a:buClr>
              <a:buSzPct val="100000"/>
              <a:buChar char="–"/>
            </a:pPr>
            <a:r>
              <a:rPr lang="en-US"/>
              <a:t>Backup</a:t>
            </a:r>
            <a:endParaRPr/>
          </a:p>
          <a:p>
            <a:pPr indent="-342900" lvl="0" marL="342900" rtl="0" algn="just">
              <a:spcBef>
                <a:spcPts val="592"/>
              </a:spcBef>
              <a:spcAft>
                <a:spcPts val="0"/>
              </a:spcAft>
              <a:buClr>
                <a:schemeClr val="dk1"/>
              </a:buClr>
              <a:buSzPct val="100000"/>
              <a:buChar char="•"/>
            </a:pPr>
            <a:r>
              <a:rPr lang="en-US"/>
              <a:t>A version control system is a kind of software that helps the developer team to efficiently communicate and manage(track) all the changes that have been made to the source code along with the information like who made and what changes have been made.</a:t>
            </a:r>
            <a:endParaRPr/>
          </a:p>
          <a:p>
            <a:pPr indent="-154940" lvl="0" marL="342900" rtl="0" algn="just">
              <a:spcBef>
                <a:spcPts val="592"/>
              </a:spcBef>
              <a:spcAft>
                <a:spcPts val="0"/>
              </a:spcAft>
              <a:buClr>
                <a:schemeClr val="dk1"/>
              </a:buClr>
              <a:buSzPct val="100000"/>
              <a:buNone/>
            </a:pPr>
            <a:r>
              <a:t/>
            </a:r>
            <a:endParaRPr/>
          </a:p>
          <a:p>
            <a:pPr indent="-154940" lvl="0" marL="342900" rtl="0" algn="just">
              <a:spcBef>
                <a:spcPts val="592"/>
              </a:spcBef>
              <a:spcAft>
                <a:spcPts val="0"/>
              </a:spcAft>
              <a:buClr>
                <a:schemeClr val="dk1"/>
              </a:buClr>
              <a:buSzPct val="100000"/>
              <a:buNone/>
            </a:pPr>
            <a:r>
              <a:t/>
            </a:r>
            <a:endParaRPr/>
          </a:p>
          <a:p>
            <a:pPr indent="-154940" lvl="0" marL="342900" rtl="0" algn="just">
              <a:spcBef>
                <a:spcPts val="592"/>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anim calcmode="lin" valueType="num">
                                      <p:cBhvr additive="base">
                                        <p:cTn dur="500"/>
                                        <p:tgtEl>
                                          <p:spTgt spid="11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anim calcmode="lin" valueType="num">
                                      <p:cBhvr additive="base">
                                        <p:cTn dur="500"/>
                                        <p:tgtEl>
                                          <p:spTgt spid="11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anim calcmode="lin" valueType="num">
                                      <p:cBhvr additive="base">
                                        <p:cTn dur="500"/>
                                        <p:tgtEl>
                                          <p:spTgt spid="11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xEl>
                                              <p:pRg end="3" st="3"/>
                                            </p:txEl>
                                          </p:spTgt>
                                        </p:tgtEl>
                                        <p:attrNameLst>
                                          <p:attrName>style.visibility</p:attrName>
                                        </p:attrNameLst>
                                      </p:cBhvr>
                                      <p:to>
                                        <p:strVal val="visible"/>
                                      </p:to>
                                    </p:set>
                                    <p:anim calcmode="lin" valueType="num">
                                      <p:cBhvr additive="base">
                                        <p:cTn dur="500"/>
                                        <p:tgtEl>
                                          <p:spTgt spid="11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xEl>
                                              <p:pRg end="4" st="4"/>
                                            </p:txEl>
                                          </p:spTgt>
                                        </p:tgtEl>
                                        <p:attrNameLst>
                                          <p:attrName>style.visibility</p:attrName>
                                        </p:attrNameLst>
                                      </p:cBhvr>
                                      <p:to>
                                        <p:strVal val="visible"/>
                                      </p:to>
                                    </p:set>
                                    <p:anim calcmode="lin" valueType="num">
                                      <p:cBhvr additive="base">
                                        <p:cTn dur="500"/>
                                        <p:tgtEl>
                                          <p:spTgt spid="11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xEl>
                                              <p:pRg end="5" st="5"/>
                                            </p:txEl>
                                          </p:spTgt>
                                        </p:tgtEl>
                                        <p:attrNameLst>
                                          <p:attrName>style.visibility</p:attrName>
                                        </p:attrNameLst>
                                      </p:cBhvr>
                                      <p:to>
                                        <p:strVal val="visible"/>
                                      </p:to>
                                    </p:set>
                                    <p:anim calcmode="lin" valueType="num">
                                      <p:cBhvr additive="base">
                                        <p:cTn dur="500"/>
                                        <p:tgtEl>
                                          <p:spTgt spid="11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xEl>
                                              <p:pRg end="6" st="6"/>
                                            </p:txEl>
                                          </p:spTgt>
                                        </p:tgtEl>
                                        <p:attrNameLst>
                                          <p:attrName>style.visibility</p:attrName>
                                        </p:attrNameLst>
                                      </p:cBhvr>
                                      <p:to>
                                        <p:strVal val="visible"/>
                                      </p:to>
                                    </p:set>
                                    <p:anim calcmode="lin" valueType="num">
                                      <p:cBhvr additive="base">
                                        <p:cTn dur="500"/>
                                        <p:tgtEl>
                                          <p:spTgt spid="11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xEl>
                                              <p:pRg end="7" st="7"/>
                                            </p:txEl>
                                          </p:spTgt>
                                        </p:tgtEl>
                                        <p:attrNameLst>
                                          <p:attrName>style.visibility</p:attrName>
                                        </p:attrNameLst>
                                      </p:cBhvr>
                                      <p:to>
                                        <p:strVal val="visible"/>
                                      </p:to>
                                    </p:set>
                                    <p:anim calcmode="lin" valueType="num">
                                      <p:cBhvr additive="base">
                                        <p:cTn dur="500"/>
                                        <p:tgtEl>
                                          <p:spTgt spid="11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xEl>
                                              <p:pRg end="8" st="8"/>
                                            </p:txEl>
                                          </p:spTgt>
                                        </p:tgtEl>
                                        <p:attrNameLst>
                                          <p:attrName>style.visibility</p:attrName>
                                        </p:attrNameLst>
                                      </p:cBhvr>
                                      <p:to>
                                        <p:strVal val="visible"/>
                                      </p:to>
                                    </p:set>
                                    <p:anim calcmode="lin" valueType="num">
                                      <p:cBhvr additive="base">
                                        <p:cTn dur="500"/>
                                        <p:tgtEl>
                                          <p:spTgt spid="11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21" name="Google Shape;121;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122" name="Google Shape;122;p6"/>
          <p:cNvPicPr preferRelativeResize="0"/>
          <p:nvPr/>
        </p:nvPicPr>
        <p:blipFill rotWithShape="1">
          <a:blip r:embed="rId3">
            <a:alphaModFix/>
          </a:blip>
          <a:srcRect b="0" l="0" r="0" t="0"/>
          <a:stretch/>
        </p:blipFill>
        <p:spPr>
          <a:xfrm>
            <a:off x="1043608" y="445127"/>
            <a:ext cx="6907469" cy="3363441"/>
          </a:xfrm>
          <a:prstGeom prst="rect">
            <a:avLst/>
          </a:prstGeom>
          <a:noFill/>
          <a:ln>
            <a:noFill/>
          </a:ln>
        </p:spPr>
      </p:pic>
      <p:pic>
        <p:nvPicPr>
          <p:cNvPr id="123" name="Google Shape;123;p6"/>
          <p:cNvPicPr preferRelativeResize="0"/>
          <p:nvPr/>
        </p:nvPicPr>
        <p:blipFill rotWithShape="1">
          <a:blip r:embed="rId4">
            <a:alphaModFix/>
          </a:blip>
          <a:srcRect b="0" l="0" r="0" t="0"/>
          <a:stretch/>
        </p:blipFill>
        <p:spPr>
          <a:xfrm>
            <a:off x="1892254" y="4077072"/>
            <a:ext cx="5210175" cy="1981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txBox="1"/>
          <p:nvPr>
            <p:ph type="title"/>
          </p:nvPr>
        </p:nvSpPr>
        <p:spPr>
          <a:xfrm>
            <a:off x="467544" y="274638"/>
            <a:ext cx="8219256"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Version Control</a:t>
            </a:r>
            <a:endParaRPr/>
          </a:p>
        </p:txBody>
      </p:sp>
      <p:sp>
        <p:nvSpPr>
          <p:cNvPr id="129" name="Google Shape;129;p7"/>
          <p:cNvSpPr txBox="1"/>
          <p:nvPr>
            <p:ph idx="1" type="body"/>
          </p:nvPr>
        </p:nvSpPr>
        <p:spPr>
          <a:xfrm>
            <a:off x="467544" y="1124744"/>
            <a:ext cx="8219256" cy="5504656"/>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spcBef>
                <a:spcPts val="0"/>
              </a:spcBef>
              <a:spcAft>
                <a:spcPts val="0"/>
              </a:spcAft>
              <a:buClr>
                <a:schemeClr val="dk1"/>
              </a:buClr>
              <a:buSzPct val="100000"/>
              <a:buChar char="•"/>
            </a:pPr>
            <a:r>
              <a:rPr lang="en-US"/>
              <a:t>Version control </a:t>
            </a:r>
            <a:r>
              <a:rPr b="1" lang="en-US"/>
              <a:t>combines procedures and tools to manage different versions of configuration objects </a:t>
            </a:r>
            <a:r>
              <a:rPr lang="en-US"/>
              <a:t>that are created during the software process. </a:t>
            </a:r>
            <a:endParaRPr/>
          </a:p>
          <a:p>
            <a:pPr indent="-200660" lvl="0" marL="342900" rtl="0" algn="just">
              <a:spcBef>
                <a:spcPts val="448"/>
              </a:spcBef>
              <a:spcAft>
                <a:spcPts val="0"/>
              </a:spcAft>
              <a:buClr>
                <a:schemeClr val="dk1"/>
              </a:buClr>
              <a:buSzPct val="100000"/>
              <a:buNone/>
            </a:pPr>
            <a:r>
              <a:t/>
            </a:r>
            <a:endParaRPr/>
          </a:p>
          <a:p>
            <a:pPr indent="-342900" lvl="0" marL="342900" rtl="0" algn="just">
              <a:spcBef>
                <a:spcPts val="448"/>
              </a:spcBef>
              <a:spcAft>
                <a:spcPts val="0"/>
              </a:spcAft>
              <a:buClr>
                <a:schemeClr val="dk1"/>
              </a:buClr>
              <a:buSzPct val="100000"/>
              <a:buChar char="•"/>
            </a:pPr>
            <a:r>
              <a:rPr lang="en-US"/>
              <a:t>A version control system implements four major capabilities:</a:t>
            </a:r>
            <a:endParaRPr/>
          </a:p>
          <a:p>
            <a:pPr indent="-342900" lvl="0" marL="342900" rtl="0" algn="just">
              <a:spcBef>
                <a:spcPts val="448"/>
              </a:spcBef>
              <a:spcAft>
                <a:spcPts val="0"/>
              </a:spcAft>
              <a:buClr>
                <a:schemeClr val="dk1"/>
              </a:buClr>
              <a:buSzPct val="100000"/>
              <a:buNone/>
            </a:pPr>
            <a:r>
              <a:t/>
            </a:r>
            <a:endParaRPr/>
          </a:p>
          <a:p>
            <a:pPr indent="-342900" lvl="0" marL="342900" rtl="0" algn="just">
              <a:spcBef>
                <a:spcPts val="448"/>
              </a:spcBef>
              <a:spcAft>
                <a:spcPts val="0"/>
              </a:spcAft>
              <a:buClr>
                <a:schemeClr val="dk1"/>
              </a:buClr>
              <a:buSzPct val="100000"/>
              <a:buNone/>
            </a:pPr>
            <a:r>
              <a:rPr lang="en-US"/>
              <a:t>(1) a </a:t>
            </a:r>
            <a:r>
              <a:rPr b="1" lang="en-US"/>
              <a:t>project database </a:t>
            </a:r>
            <a:r>
              <a:rPr lang="en-US"/>
              <a:t>that stores all relevant configuration objects </a:t>
            </a:r>
            <a:endParaRPr/>
          </a:p>
          <a:p>
            <a:pPr indent="-200660" lvl="0" marL="342900" rtl="0" algn="just">
              <a:spcBef>
                <a:spcPts val="448"/>
              </a:spcBef>
              <a:spcAft>
                <a:spcPts val="0"/>
              </a:spcAft>
              <a:buClr>
                <a:schemeClr val="dk1"/>
              </a:buClr>
              <a:buSzPct val="100000"/>
              <a:buNone/>
            </a:pPr>
            <a:r>
              <a:t/>
            </a:r>
            <a:endParaRPr/>
          </a:p>
          <a:p>
            <a:pPr indent="-342900" lvl="0" marL="342900" rtl="0" algn="just">
              <a:spcBef>
                <a:spcPts val="448"/>
              </a:spcBef>
              <a:spcAft>
                <a:spcPts val="0"/>
              </a:spcAft>
              <a:buClr>
                <a:schemeClr val="dk1"/>
              </a:buClr>
              <a:buSzPct val="100000"/>
              <a:buNone/>
            </a:pPr>
            <a:r>
              <a:t/>
            </a:r>
            <a:endParaRPr/>
          </a:p>
          <a:p>
            <a:pPr indent="-342900" lvl="0" marL="342900" rtl="0" algn="just">
              <a:spcBef>
                <a:spcPts val="448"/>
              </a:spcBef>
              <a:spcAft>
                <a:spcPts val="0"/>
              </a:spcAft>
              <a:buClr>
                <a:schemeClr val="dk1"/>
              </a:buClr>
              <a:buSzPct val="100000"/>
              <a:buNone/>
            </a:pPr>
            <a:r>
              <a:rPr lang="en-US"/>
              <a:t>(2) a </a:t>
            </a:r>
            <a:r>
              <a:rPr b="1" lang="en-US"/>
              <a:t>version management capability </a:t>
            </a:r>
            <a:r>
              <a:rPr lang="en-US"/>
              <a:t>that </a:t>
            </a:r>
            <a:r>
              <a:rPr b="1" lang="en-US"/>
              <a:t>stores all versions</a:t>
            </a:r>
            <a:r>
              <a:rPr lang="en-US"/>
              <a:t> of a configuration object.</a:t>
            </a:r>
            <a:endParaRPr/>
          </a:p>
          <a:p>
            <a:pPr indent="-342900" lvl="0" marL="342900" rtl="0" algn="just">
              <a:spcBef>
                <a:spcPts val="448"/>
              </a:spcBef>
              <a:spcAft>
                <a:spcPts val="0"/>
              </a:spcAft>
              <a:buClr>
                <a:schemeClr val="dk1"/>
              </a:buClr>
              <a:buSzPct val="100000"/>
              <a:buNone/>
            </a:pPr>
            <a:r>
              <a:t/>
            </a:r>
            <a:endParaRPr/>
          </a:p>
          <a:p>
            <a:pPr indent="-342900" lvl="0" marL="342900" rtl="0" algn="just">
              <a:spcBef>
                <a:spcPts val="448"/>
              </a:spcBef>
              <a:spcAft>
                <a:spcPts val="0"/>
              </a:spcAft>
              <a:buClr>
                <a:schemeClr val="dk1"/>
              </a:buClr>
              <a:buSzPct val="100000"/>
              <a:buNone/>
            </a:pPr>
            <a:r>
              <a:rPr lang="en-US"/>
              <a:t>(3) a make facility that enables </a:t>
            </a:r>
            <a:r>
              <a:rPr b="1" lang="en-US"/>
              <a:t>construct a specific version of the software.  </a:t>
            </a:r>
            <a:endParaRPr/>
          </a:p>
          <a:p>
            <a:pPr indent="-342900" lvl="0" marL="342900" rtl="0" algn="just">
              <a:spcBef>
                <a:spcPts val="448"/>
              </a:spcBef>
              <a:spcAft>
                <a:spcPts val="0"/>
              </a:spcAft>
              <a:buClr>
                <a:schemeClr val="dk1"/>
              </a:buClr>
              <a:buSzPct val="100000"/>
              <a:buNone/>
            </a:pPr>
            <a:r>
              <a:t/>
            </a:r>
            <a:endParaRPr b="1"/>
          </a:p>
          <a:p>
            <a:pPr indent="-342900" lvl="0" marL="342900" rtl="0" algn="just">
              <a:spcBef>
                <a:spcPts val="448"/>
              </a:spcBef>
              <a:spcAft>
                <a:spcPts val="0"/>
              </a:spcAft>
              <a:buClr>
                <a:schemeClr val="dk1"/>
              </a:buClr>
              <a:buSzPct val="100000"/>
              <a:buNone/>
            </a:pPr>
            <a:r>
              <a:rPr lang="en-US"/>
              <a:t>(4) version control and change control systems often implement an </a:t>
            </a:r>
            <a:r>
              <a:rPr b="1" lang="en-US"/>
              <a:t>issues tracking (also called bug tracking) </a:t>
            </a:r>
            <a:r>
              <a:rPr lang="en-US"/>
              <a:t>capability</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Version Control</a:t>
            </a:r>
            <a:endParaRPr/>
          </a:p>
        </p:txBody>
      </p:sp>
      <p:sp>
        <p:nvSpPr>
          <p:cNvPr id="135" name="Google Shape;135;p8"/>
          <p:cNvSpPr txBox="1"/>
          <p:nvPr>
            <p:ph idx="1" type="body"/>
          </p:nvPr>
        </p:nvSpPr>
        <p:spPr>
          <a:xfrm>
            <a:off x="152400" y="1371600"/>
            <a:ext cx="8763000" cy="533400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Char char="•"/>
            </a:pPr>
            <a:r>
              <a:rPr lang="en-US"/>
              <a:t>A number of version control systems </a:t>
            </a:r>
            <a:r>
              <a:rPr b="1" lang="en-US"/>
              <a:t>establish a change set</a:t>
            </a:r>
            <a:r>
              <a:rPr lang="en-US"/>
              <a:t>—a collection of all changes that are required to create a specific version of the software.</a:t>
            </a:r>
            <a:endParaRPr/>
          </a:p>
          <a:p>
            <a:pPr indent="-139700" lvl="0" marL="342900" rtl="0" algn="just">
              <a:spcBef>
                <a:spcPts val="640"/>
              </a:spcBef>
              <a:spcAft>
                <a:spcPts val="0"/>
              </a:spcAft>
              <a:buClr>
                <a:schemeClr val="dk1"/>
              </a:buClr>
              <a:buSzPts val="3200"/>
              <a:buNone/>
            </a:pPr>
            <a:r>
              <a:t/>
            </a:r>
            <a:endParaRPr/>
          </a:p>
          <a:p>
            <a:pPr indent="-342900" lvl="0" marL="342900" rtl="0" algn="just">
              <a:spcBef>
                <a:spcPts val="640"/>
              </a:spcBef>
              <a:spcAft>
                <a:spcPts val="0"/>
              </a:spcAft>
              <a:buClr>
                <a:schemeClr val="dk1"/>
              </a:buClr>
              <a:buSzPts val="3200"/>
              <a:buChar char="•"/>
            </a:pPr>
            <a:r>
              <a:rPr b="1" lang="en-US"/>
              <a:t>named change sets can be identified </a:t>
            </a:r>
            <a:r>
              <a:rPr lang="en-US"/>
              <a:t>for an application or system.</a:t>
            </a:r>
            <a:endParaRPr/>
          </a:p>
          <a:p>
            <a:pPr indent="-139700" lvl="0" marL="342900" rtl="0" algn="just">
              <a:spcBef>
                <a:spcPts val="640"/>
              </a:spcBef>
              <a:spcAft>
                <a:spcPts val="0"/>
              </a:spcAft>
              <a:buClr>
                <a:schemeClr val="dk1"/>
              </a:buClr>
              <a:buSzPts val="3200"/>
              <a:buNone/>
            </a:pPr>
            <a:r>
              <a:t/>
            </a:r>
            <a:endParaRPr/>
          </a:p>
          <a:p>
            <a:pPr indent="-342900" lvl="0" marL="342900" rtl="0" algn="just">
              <a:spcBef>
                <a:spcPts val="640"/>
              </a:spcBef>
              <a:spcAft>
                <a:spcPts val="0"/>
              </a:spcAft>
              <a:buClr>
                <a:schemeClr val="dk1"/>
              </a:buClr>
              <a:buSzPts val="3200"/>
              <a:buChar char="•"/>
            </a:pPr>
            <a:r>
              <a:rPr lang="en-US"/>
              <a:t>construct a version of the software by specifying the change sets </a:t>
            </a:r>
            <a:r>
              <a:rPr b="1" lang="en-US"/>
              <a:t>(by name) </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Version Control</a:t>
            </a:r>
            <a:endParaRPr/>
          </a:p>
        </p:txBody>
      </p:sp>
      <p:sp>
        <p:nvSpPr>
          <p:cNvPr id="141" name="Google Shape;141;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Modeling approach for building new versions contains:</a:t>
            </a:r>
            <a:endParaRPr/>
          </a:p>
          <a:p>
            <a:pPr indent="-514350" lvl="0" marL="514350" rtl="0" algn="l">
              <a:spcBef>
                <a:spcPts val="640"/>
              </a:spcBef>
              <a:spcAft>
                <a:spcPts val="0"/>
              </a:spcAft>
              <a:buClr>
                <a:schemeClr val="dk1"/>
              </a:buClr>
              <a:buSzPts val="3200"/>
              <a:buAutoNum type="arabicPeriod"/>
            </a:pPr>
            <a:r>
              <a:rPr lang="en-US"/>
              <a:t>Template for building version</a:t>
            </a:r>
            <a:endParaRPr/>
          </a:p>
          <a:p>
            <a:pPr indent="-514350" lvl="0" marL="514350" rtl="0" algn="l">
              <a:spcBef>
                <a:spcPts val="640"/>
              </a:spcBef>
              <a:spcAft>
                <a:spcPts val="0"/>
              </a:spcAft>
              <a:buClr>
                <a:schemeClr val="dk1"/>
              </a:buClr>
              <a:buSzPts val="3200"/>
              <a:buAutoNum type="arabicPeriod"/>
            </a:pPr>
            <a:r>
              <a:rPr lang="en-US"/>
              <a:t>Construction rules</a:t>
            </a:r>
            <a:endParaRPr/>
          </a:p>
          <a:p>
            <a:pPr indent="-514350" lvl="0" marL="514350" rtl="0" algn="l">
              <a:spcBef>
                <a:spcPts val="640"/>
              </a:spcBef>
              <a:spcAft>
                <a:spcPts val="0"/>
              </a:spcAft>
              <a:buClr>
                <a:schemeClr val="dk1"/>
              </a:buClr>
              <a:buSzPts val="3200"/>
              <a:buAutoNum type="arabicPeriod"/>
            </a:pPr>
            <a:r>
              <a:rPr lang="en-US"/>
              <a:t>Verification rules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Change Control</a:t>
            </a:r>
            <a:endParaRPr/>
          </a:p>
        </p:txBody>
      </p:sp>
      <p:sp>
        <p:nvSpPr>
          <p:cNvPr id="147" name="Google Shape;14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spcBef>
                <a:spcPts val="0"/>
              </a:spcBef>
              <a:spcAft>
                <a:spcPts val="0"/>
              </a:spcAft>
              <a:buClr>
                <a:schemeClr val="dk1"/>
              </a:buClr>
              <a:buSzPct val="100000"/>
              <a:buChar char="•"/>
            </a:pPr>
            <a:r>
              <a:rPr lang="en-US"/>
              <a:t>It is a systematic approach to manage all changes made to the product. </a:t>
            </a:r>
            <a:endParaRPr/>
          </a:p>
          <a:p>
            <a:pPr indent="-170180" lvl="0" marL="342900" rtl="0" algn="just">
              <a:spcBef>
                <a:spcPts val="544"/>
              </a:spcBef>
              <a:spcAft>
                <a:spcPts val="0"/>
              </a:spcAft>
              <a:buClr>
                <a:schemeClr val="dk1"/>
              </a:buClr>
              <a:buSzPct val="100000"/>
              <a:buNone/>
            </a:pPr>
            <a:r>
              <a:t/>
            </a:r>
            <a:endParaRPr/>
          </a:p>
          <a:p>
            <a:pPr indent="-342900" lvl="0" marL="342900" rtl="0" algn="just">
              <a:spcBef>
                <a:spcPts val="544"/>
              </a:spcBef>
              <a:spcAft>
                <a:spcPts val="0"/>
              </a:spcAft>
              <a:buClr>
                <a:schemeClr val="dk1"/>
              </a:buClr>
              <a:buSzPct val="100000"/>
              <a:buChar char="•"/>
            </a:pPr>
            <a:r>
              <a:rPr lang="en-US"/>
              <a:t>Too much change control and we create problems. </a:t>
            </a:r>
            <a:endParaRPr/>
          </a:p>
          <a:p>
            <a:pPr indent="-170180" lvl="0" marL="342900" rtl="0" algn="just">
              <a:spcBef>
                <a:spcPts val="544"/>
              </a:spcBef>
              <a:spcAft>
                <a:spcPts val="0"/>
              </a:spcAft>
              <a:buClr>
                <a:schemeClr val="dk1"/>
              </a:buClr>
              <a:buSzPct val="100000"/>
              <a:buNone/>
            </a:pPr>
            <a:r>
              <a:t/>
            </a:r>
            <a:endParaRPr/>
          </a:p>
          <a:p>
            <a:pPr indent="-342900" lvl="0" marL="342900" rtl="0" algn="just">
              <a:spcBef>
                <a:spcPts val="544"/>
              </a:spcBef>
              <a:spcAft>
                <a:spcPts val="0"/>
              </a:spcAft>
              <a:buClr>
                <a:schemeClr val="dk1"/>
              </a:buClr>
              <a:buSzPct val="100000"/>
              <a:buChar char="•"/>
            </a:pPr>
            <a:r>
              <a:rPr lang="en-US"/>
              <a:t>large software project, uncontrolled change rapidly leads to chaos(confusion).</a:t>
            </a:r>
            <a:endParaRPr/>
          </a:p>
          <a:p>
            <a:pPr indent="-170180" lvl="0" marL="342900" rtl="0" algn="just">
              <a:spcBef>
                <a:spcPts val="544"/>
              </a:spcBef>
              <a:spcAft>
                <a:spcPts val="0"/>
              </a:spcAft>
              <a:buClr>
                <a:schemeClr val="dk1"/>
              </a:buClr>
              <a:buSzPct val="100000"/>
              <a:buNone/>
            </a:pPr>
            <a:r>
              <a:t/>
            </a:r>
            <a:endParaRPr/>
          </a:p>
          <a:p>
            <a:pPr indent="-342900" lvl="0" marL="342900" rtl="0" algn="just">
              <a:spcBef>
                <a:spcPts val="544"/>
              </a:spcBef>
              <a:spcAft>
                <a:spcPts val="0"/>
              </a:spcAft>
              <a:buClr>
                <a:schemeClr val="dk1"/>
              </a:buClr>
              <a:buSzPct val="100000"/>
              <a:buChar char="•"/>
            </a:pPr>
            <a:r>
              <a:rPr lang="en-US"/>
              <a:t>For </a:t>
            </a:r>
            <a:r>
              <a:rPr b="1" lang="en-US"/>
              <a:t>large projects </a:t>
            </a:r>
            <a:r>
              <a:rPr lang="en-US"/>
              <a:t>change control combines </a:t>
            </a:r>
            <a:r>
              <a:rPr b="1" lang="en-US"/>
              <a:t>human procedures and automated tools </a:t>
            </a:r>
            <a:r>
              <a:rPr lang="en-US"/>
              <a:t>to provide a mechanism for the control of change.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Change Control</a:t>
            </a:r>
            <a:endParaRPr/>
          </a:p>
        </p:txBody>
      </p:sp>
      <p:sp>
        <p:nvSpPr>
          <p:cNvPr id="153" name="Google Shape;153;p11"/>
          <p:cNvSpPr txBox="1"/>
          <p:nvPr>
            <p:ph idx="1" type="body"/>
          </p:nvPr>
        </p:nvSpPr>
        <p:spPr>
          <a:xfrm>
            <a:off x="457200" y="1600200"/>
            <a:ext cx="8229600" cy="50292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engineering change order (ECO).</a:t>
            </a:r>
            <a:endParaRPr/>
          </a:p>
          <a:p>
            <a:pPr indent="-139700" lvl="0" marL="342900" rtl="0" algn="just">
              <a:spcBef>
                <a:spcPts val="640"/>
              </a:spcBef>
              <a:spcAft>
                <a:spcPts val="0"/>
              </a:spcAft>
              <a:buClr>
                <a:schemeClr val="dk1"/>
              </a:buClr>
              <a:buSzPts val="3200"/>
              <a:buNone/>
            </a:pPr>
            <a:r>
              <a:t/>
            </a:r>
            <a:endParaRPr/>
          </a:p>
          <a:p>
            <a:pPr indent="-342900" lvl="0" marL="342900" rtl="0" algn="just">
              <a:spcBef>
                <a:spcPts val="640"/>
              </a:spcBef>
              <a:spcAft>
                <a:spcPts val="0"/>
              </a:spcAft>
              <a:buClr>
                <a:schemeClr val="dk1"/>
              </a:buClr>
              <a:buSzPts val="3200"/>
              <a:buChar char="•"/>
            </a:pPr>
            <a:r>
              <a:rPr b="1" lang="en-US"/>
              <a:t>elements of change management:</a:t>
            </a:r>
            <a:endParaRPr/>
          </a:p>
          <a:p>
            <a:pPr indent="-139700" lvl="0" marL="342900" rtl="0" algn="just">
              <a:spcBef>
                <a:spcPts val="640"/>
              </a:spcBef>
              <a:spcAft>
                <a:spcPts val="0"/>
              </a:spcAft>
              <a:buClr>
                <a:schemeClr val="dk1"/>
              </a:buClr>
              <a:buSzPts val="3200"/>
              <a:buNone/>
            </a:pPr>
            <a:r>
              <a:t/>
            </a:r>
            <a:endParaRPr b="1"/>
          </a:p>
          <a:p>
            <a:pPr indent="-514350" lvl="0" marL="514350" rtl="0" algn="just">
              <a:spcBef>
                <a:spcPts val="640"/>
              </a:spcBef>
              <a:spcAft>
                <a:spcPts val="0"/>
              </a:spcAft>
              <a:buClr>
                <a:schemeClr val="dk1"/>
              </a:buClr>
              <a:buSzPts val="3200"/>
              <a:buFont typeface="Calibri"/>
              <a:buAutoNum type="arabicPeriod"/>
            </a:pPr>
            <a:r>
              <a:rPr b="1" lang="en-US"/>
              <a:t>Access Control </a:t>
            </a:r>
            <a:endParaRPr/>
          </a:p>
          <a:p>
            <a:pPr indent="-514350" lvl="0" marL="514350" rtl="0" algn="just">
              <a:spcBef>
                <a:spcPts val="640"/>
              </a:spcBef>
              <a:spcAft>
                <a:spcPts val="0"/>
              </a:spcAft>
              <a:buClr>
                <a:schemeClr val="dk1"/>
              </a:buClr>
              <a:buSzPts val="3200"/>
              <a:buChar char="•"/>
            </a:pPr>
            <a:r>
              <a:rPr lang="en-US"/>
              <a:t>Access control governs which software engineers have the authority to access and modify a particular configuration object.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Change Control</a:t>
            </a:r>
            <a:endParaRPr/>
          </a:p>
        </p:txBody>
      </p:sp>
      <p:sp>
        <p:nvSpPr>
          <p:cNvPr id="159" name="Google Shape;159;p12"/>
          <p:cNvSpPr txBox="1"/>
          <p:nvPr>
            <p:ph idx="1" type="body"/>
          </p:nvPr>
        </p:nvSpPr>
        <p:spPr>
          <a:xfrm>
            <a:off x="457200" y="1600200"/>
            <a:ext cx="8229600" cy="5029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None/>
            </a:pPr>
            <a:r>
              <a:rPr b="1" lang="en-US"/>
              <a:t>2. Synchronization Control.</a:t>
            </a:r>
            <a:endParaRPr/>
          </a:p>
          <a:p>
            <a:pPr indent="-342900" lvl="0" marL="342900" rtl="0" algn="just">
              <a:spcBef>
                <a:spcPts val="640"/>
              </a:spcBef>
              <a:spcAft>
                <a:spcPts val="0"/>
              </a:spcAft>
              <a:buClr>
                <a:schemeClr val="dk1"/>
              </a:buClr>
              <a:buSzPts val="3200"/>
              <a:buChar char="•"/>
            </a:pPr>
            <a:r>
              <a:rPr lang="en-US"/>
              <a:t>Synchronization control helps to ensure that parallel changes, performed by two different people, don’t overwrite one another.</a:t>
            </a:r>
            <a:endParaRPr/>
          </a:p>
          <a:p>
            <a:pPr indent="-139700" lvl="0" marL="342900" rtl="0" algn="just">
              <a:spcBef>
                <a:spcPts val="640"/>
              </a:spcBef>
              <a:spcAft>
                <a:spcPts val="0"/>
              </a:spcAft>
              <a:buClr>
                <a:schemeClr val="dk1"/>
              </a:buClr>
              <a:buSzPts val="3200"/>
              <a:buNone/>
            </a:pPr>
            <a:r>
              <a:t/>
            </a:r>
            <a:endParaRPr/>
          </a:p>
          <a:p>
            <a:pPr indent="-342900" lvl="0" marL="342900" rtl="0" algn="just">
              <a:spcBef>
                <a:spcPts val="640"/>
              </a:spcBef>
              <a:spcAft>
                <a:spcPts val="0"/>
              </a:spcAft>
              <a:buClr>
                <a:srgbClr val="FF0000"/>
              </a:buClr>
              <a:buSzPts val="3200"/>
              <a:buChar char="•"/>
            </a:pPr>
            <a:r>
              <a:rPr b="1" lang="en-US">
                <a:solidFill>
                  <a:srgbClr val="FF0000"/>
                </a:solidFill>
              </a:rPr>
              <a:t>Informal Change Control</a:t>
            </a:r>
            <a:endParaRPr/>
          </a:p>
          <a:p>
            <a:pPr indent="-342900" lvl="0" marL="342900" rtl="0" algn="l">
              <a:spcBef>
                <a:spcPts val="640"/>
              </a:spcBef>
              <a:spcAft>
                <a:spcPts val="0"/>
              </a:spcAft>
              <a:buClr>
                <a:schemeClr val="dk1"/>
              </a:buClr>
              <a:buSzPts val="3200"/>
              <a:buChar char="•"/>
            </a:pPr>
            <a:r>
              <a:rPr lang="en-US"/>
              <a:t>Developer makes changes in project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Change Control</a:t>
            </a:r>
            <a:endParaRPr/>
          </a:p>
        </p:txBody>
      </p:sp>
      <p:sp>
        <p:nvSpPr>
          <p:cNvPr id="165" name="Google Shape;165;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FF0000"/>
              </a:buClr>
              <a:buSzPts val="3200"/>
              <a:buChar char="•"/>
            </a:pPr>
            <a:r>
              <a:rPr b="1" lang="en-US">
                <a:solidFill>
                  <a:srgbClr val="FF0000"/>
                </a:solidFill>
              </a:rPr>
              <a:t>project level change control</a:t>
            </a:r>
            <a:endParaRPr/>
          </a:p>
          <a:p>
            <a:pPr indent="-342900" lvl="0" marL="342900" rtl="0" algn="l">
              <a:spcBef>
                <a:spcPts val="640"/>
              </a:spcBef>
              <a:spcAft>
                <a:spcPts val="0"/>
              </a:spcAft>
              <a:buClr>
                <a:schemeClr val="dk1"/>
              </a:buClr>
              <a:buSzPts val="3200"/>
              <a:buChar char="•"/>
            </a:pPr>
            <a:r>
              <a:rPr lang="en-US"/>
              <a:t>developer must gain approval from the project manager to makes changes.</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rgbClr val="FF0000"/>
              </a:buClr>
              <a:buSzPts val="3200"/>
              <a:buChar char="•"/>
            </a:pPr>
            <a:r>
              <a:rPr b="1" lang="en-US">
                <a:solidFill>
                  <a:srgbClr val="FF0000"/>
                </a:solidFill>
              </a:rPr>
              <a:t>formal change control </a:t>
            </a:r>
            <a:endParaRPr/>
          </a:p>
          <a:p>
            <a:pPr indent="-342900" lvl="0" marL="342900" rtl="0" algn="just">
              <a:spcBef>
                <a:spcPts val="640"/>
              </a:spcBef>
              <a:spcAft>
                <a:spcPts val="0"/>
              </a:spcAft>
              <a:buClr>
                <a:schemeClr val="dk1"/>
              </a:buClr>
              <a:buSzPts val="3200"/>
              <a:buChar char="•"/>
            </a:pPr>
            <a:r>
              <a:rPr lang="en-US"/>
              <a:t>is instituted when the software product is released to customers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14"/>
          <p:cNvPicPr preferRelativeResize="0"/>
          <p:nvPr/>
        </p:nvPicPr>
        <p:blipFill rotWithShape="1">
          <a:blip r:embed="rId3">
            <a:alphaModFix/>
          </a:blip>
          <a:srcRect b="0" l="0" r="0" t="0"/>
          <a:stretch/>
        </p:blipFill>
        <p:spPr>
          <a:xfrm>
            <a:off x="685800" y="1"/>
            <a:ext cx="79248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2024-09-11T05:43:08Z</dcterms:created>
  <dc:creator>kjscecomp</dc:creator>
</cp:coreProperties>
</file>
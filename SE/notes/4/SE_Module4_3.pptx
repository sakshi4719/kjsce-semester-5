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1" roundtripDataSignature="AMtx7mgs4TwI3b/nU8iHqNZHk6PUk2u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908712-9C08-41E9-B8D7-394546BC224E}">
  <a:tblStyle styleId="{B5908712-9C08-41E9-B8D7-394546BC224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9FE2A0A-BAFB-48BB-9A3B-418421E6885A}"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a:tcStyle>
        <a:fill>
          <a:solidFill>
            <a:srgbClr val="CDD8FB"/>
          </a:solidFill>
        </a:fill>
      </a:tcStyle>
    </a:band1H>
    <a:band2H>
      <a:tcTxStyle/>
    </a:band2H>
    <a:band1V>
      <a:tcTxStyle/>
      <a:tcStyle>
        <a:fill>
          <a:solidFill>
            <a:srgbClr val="CDD8FB"/>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7"/>
          <p:cNvSpPr txBox="1"/>
          <p:nvPr>
            <p:ph idx="10" type="dt"/>
          </p:nvPr>
        </p:nvSpPr>
        <p:spPr>
          <a:xfrm>
            <a:off x="628650" y="4767263"/>
            <a:ext cx="2057400" cy="273844"/>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7" name="Google Shape;17;p37"/>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8" name="Google Shape;1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 name="Google Shape;22;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9" name="Google Shape;49;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3" name="Google Shape;53;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lms-kjsce.somaiya.edu/course/view.php?id=1209#section-4" TargetMode="External"/><Relationship Id="rId4" Type="http://schemas.openxmlformats.org/officeDocument/2006/relationships/hyperlink" Target="https://lms-kjsce.somaiya.edu/course/view.php?id=1209#section-4" TargetMode="External"/><Relationship Id="rId5" Type="http://schemas.openxmlformats.org/officeDocument/2006/relationships/hyperlink" Target="https://lms-kjsce.somaiya.edu/course/view.php?id=1209#section-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US"/>
              <a:t>Software Engineering </a:t>
            </a:r>
            <a:br>
              <a:rPr lang="en-US"/>
            </a:br>
            <a:r>
              <a:rPr lang="en-US"/>
              <a:t>2UCCE501</a:t>
            </a:r>
            <a:endParaRPr/>
          </a:p>
        </p:txBody>
      </p:sp>
      <p:sp>
        <p:nvSpPr>
          <p:cNvPr id="61" name="Google Shape;61;p1"/>
          <p:cNvSpPr txBox="1"/>
          <p:nvPr>
            <p:ph idx="1" type="subTitle"/>
          </p:nvPr>
        </p:nvSpPr>
        <p:spPr>
          <a:xfrm>
            <a:off x="1143000" y="3552290"/>
            <a:ext cx="6858000" cy="39106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rPr lang="en-US"/>
              <a:t>Module 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191193" y="410971"/>
            <a:ext cx="8529897" cy="639566"/>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US"/>
              <a:t>Module 4 </a:t>
            </a:r>
            <a:br>
              <a:rPr b="1" lang="en-US"/>
            </a:br>
            <a:r>
              <a:rPr lang="en-US" sz="3000" u="sng">
                <a:solidFill>
                  <a:schemeClr val="hlink"/>
                </a:solidFill>
                <a:hlinkClick r:id="rId3"/>
              </a:rPr>
              <a:t>System Implementation, Configuration Management </a:t>
            </a:r>
            <a:br>
              <a:rPr lang="en-US" sz="3000" u="sng">
                <a:solidFill>
                  <a:schemeClr val="hlink"/>
                </a:solidFill>
                <a:hlinkClick r:id="rId4"/>
              </a:rPr>
            </a:br>
            <a:r>
              <a:rPr lang="en-US" sz="3000" u="sng">
                <a:solidFill>
                  <a:schemeClr val="hlink"/>
                </a:solidFill>
                <a:hlinkClick r:id="rId5"/>
              </a:rPr>
              <a:t>&amp; Risk Management</a:t>
            </a:r>
            <a:br>
              <a:rPr b="1" lang="en-US"/>
            </a:br>
            <a:endParaRPr b="1"/>
          </a:p>
        </p:txBody>
      </p:sp>
      <p:sp>
        <p:nvSpPr>
          <p:cNvPr id="67" name="Google Shape;67;p2"/>
          <p:cNvSpPr txBox="1"/>
          <p:nvPr>
            <p:ph idx="1" type="body"/>
          </p:nvPr>
        </p:nvSpPr>
        <p:spPr>
          <a:xfrm>
            <a:off x="617220" y="1235341"/>
            <a:ext cx="8103870" cy="3668843"/>
          </a:xfrm>
          <a:prstGeom prst="rect">
            <a:avLst/>
          </a:prstGeom>
          <a:noFill/>
          <a:ln>
            <a:noFill/>
          </a:ln>
        </p:spPr>
        <p:txBody>
          <a:bodyPr anchorCtr="0" anchor="t" bIns="91425" lIns="91425" spcFirstLastPara="1" rIns="91425" wrap="square" tIns="91425">
            <a:normAutofit/>
          </a:bodyPr>
          <a:lstStyle/>
          <a:p>
            <a:pPr indent="-436960" lvl="0" marL="436960" rtl="0" algn="l">
              <a:lnSpc>
                <a:spcPct val="115000"/>
              </a:lnSpc>
              <a:spcBef>
                <a:spcPts val="0"/>
              </a:spcBef>
              <a:spcAft>
                <a:spcPts val="0"/>
              </a:spcAft>
              <a:buSzPts val="1800"/>
              <a:buNone/>
            </a:pPr>
            <a:r>
              <a:rPr lang="en-US">
                <a:solidFill>
                  <a:srgbClr val="D8D8D8"/>
                </a:solidFill>
              </a:rPr>
              <a:t>4.1 Packages &amp; Interfaces: Distinguishing between classes versus interfaces. Exposing class &amp; package interfaces.</a:t>
            </a:r>
            <a:endParaRPr/>
          </a:p>
          <a:p>
            <a:pPr indent="-436960" lvl="0" marL="436960" rtl="0" algn="l">
              <a:lnSpc>
                <a:spcPct val="115000"/>
              </a:lnSpc>
              <a:spcBef>
                <a:spcPts val="0"/>
              </a:spcBef>
              <a:spcAft>
                <a:spcPts val="0"/>
              </a:spcAft>
              <a:buSzPts val="1800"/>
              <a:buNone/>
            </a:pPr>
            <a:r>
              <a:rPr lang="en-US">
                <a:solidFill>
                  <a:srgbClr val="D8D8D8"/>
                </a:solidFill>
              </a:rPr>
              <a:t>4.2 Mapping Model to code, Mapping object models to Database schema.</a:t>
            </a:r>
            <a:endParaRPr/>
          </a:p>
          <a:p>
            <a:pPr indent="0" lvl="0" marL="0" rtl="0" algn="l">
              <a:lnSpc>
                <a:spcPct val="115000"/>
              </a:lnSpc>
              <a:spcBef>
                <a:spcPts val="0"/>
              </a:spcBef>
              <a:spcAft>
                <a:spcPts val="0"/>
              </a:spcAft>
              <a:buSzPts val="1800"/>
              <a:buNone/>
            </a:pPr>
            <a:r>
              <a:rPr lang="en-US">
                <a:solidFill>
                  <a:srgbClr val="D8D8D8"/>
                </a:solidFill>
              </a:rPr>
              <a:t>4.3 Component &amp; Deployment Diagrams: Describing dependencies.</a:t>
            </a:r>
            <a:endParaRPr/>
          </a:p>
          <a:p>
            <a:pPr indent="0" lvl="0" marL="0" rtl="0" algn="l">
              <a:lnSpc>
                <a:spcPct val="115000"/>
              </a:lnSpc>
              <a:spcBef>
                <a:spcPts val="0"/>
              </a:spcBef>
              <a:spcAft>
                <a:spcPts val="0"/>
              </a:spcAft>
              <a:buSzPts val="1800"/>
              <a:buNone/>
            </a:pPr>
            <a:r>
              <a:rPr lang="en-US">
                <a:solidFill>
                  <a:srgbClr val="D8D8D8"/>
                </a:solidFill>
              </a:rPr>
              <a:t>4.4 Managing &amp; Controlling Changes: Managing &amp; Controlling versions.</a:t>
            </a:r>
            <a:endParaRPr/>
          </a:p>
          <a:p>
            <a:pPr indent="-436960" lvl="0" marL="436960" rtl="0" algn="l">
              <a:lnSpc>
                <a:spcPct val="115000"/>
              </a:lnSpc>
              <a:spcBef>
                <a:spcPts val="0"/>
              </a:spcBef>
              <a:spcAft>
                <a:spcPts val="0"/>
              </a:spcAft>
              <a:buSzPts val="1800"/>
              <a:buNone/>
            </a:pPr>
            <a:r>
              <a:rPr lang="en-US"/>
              <a:t>4.5 Categories of Risks. Nature of risks, Types of risks, Risk identification, Risk assessment, Risk Planning and control, Risk Management, Evaluating risk to schedule, PERT technique.</a:t>
            </a:r>
            <a:endParaRPr/>
          </a:p>
        </p:txBody>
      </p:sp>
      <p:sp>
        <p:nvSpPr>
          <p:cNvPr id="68" name="Google Shape;68;p2"/>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69" name="Google Shape;69;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title"/>
          </p:nvPr>
        </p:nvSpPr>
        <p:spPr>
          <a:xfrm>
            <a:off x="628650" y="1"/>
            <a:ext cx="7886700" cy="639566"/>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US"/>
              <a:t>Risk Management </a:t>
            </a:r>
            <a:endParaRPr/>
          </a:p>
        </p:txBody>
      </p:sp>
      <p:sp>
        <p:nvSpPr>
          <p:cNvPr id="75" name="Google Shape;75;p3"/>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76" name="Google Shape;7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77" name="Google Shape;77;p3"/>
          <p:cNvSpPr txBox="1"/>
          <p:nvPr/>
        </p:nvSpPr>
        <p:spPr>
          <a:xfrm>
            <a:off x="731776" y="796768"/>
            <a:ext cx="7989314" cy="3394472"/>
          </a:xfrm>
          <a:prstGeom prst="rect">
            <a:avLst/>
          </a:prstGeom>
          <a:noFill/>
          <a:ln>
            <a:noFill/>
          </a:ln>
        </p:spPr>
        <p:txBody>
          <a:bodyPr anchorCtr="0" anchor="t" bIns="34275" lIns="68575" spcFirstLastPara="1" rIns="68575" wrap="square" tIns="34275">
            <a:normAutofit/>
          </a:bodyPr>
          <a:lstStyle/>
          <a:p>
            <a:pPr indent="-228600" lvl="0" marL="228600" marR="0" rtl="0" algn="l">
              <a:lnSpc>
                <a:spcPct val="90000"/>
              </a:lnSpc>
              <a:spcBef>
                <a:spcPts val="0"/>
              </a:spcBef>
              <a:spcAft>
                <a:spcPts val="0"/>
              </a:spcAft>
              <a:buClr>
                <a:srgbClr val="000000"/>
              </a:buClr>
              <a:buSzPts val="1500"/>
              <a:buFont typeface="Arial"/>
              <a:buNone/>
            </a:pPr>
            <a:r>
              <a:rPr b="0" i="0" lang="en-US" sz="1500" u="none" cap="none" strike="noStrike">
                <a:solidFill>
                  <a:schemeClr val="dk1"/>
                </a:solidFill>
                <a:latin typeface="Times New Roman"/>
                <a:ea typeface="Times New Roman"/>
                <a:cs typeface="Times New Roman"/>
                <a:sym typeface="Times New Roman"/>
              </a:rPr>
              <a:t>Risk Definition:</a:t>
            </a:r>
            <a:endParaRPr/>
          </a:p>
          <a:p>
            <a:pPr indent="-228600" lvl="0" marL="228600" marR="0" rtl="0" algn="l">
              <a:lnSpc>
                <a:spcPct val="90000"/>
              </a:lnSpc>
              <a:spcBef>
                <a:spcPts val="1000"/>
              </a:spcBef>
              <a:spcAft>
                <a:spcPts val="0"/>
              </a:spcAft>
              <a:buClr>
                <a:srgbClr val="000000"/>
              </a:buClr>
              <a:buSzPts val="1500"/>
              <a:buFont typeface="Arial"/>
              <a:buNone/>
            </a:pPr>
            <a:r>
              <a:rPr b="0" i="0" lang="en-US" sz="1500" u="none" cap="none" strike="noStrike">
                <a:solidFill>
                  <a:schemeClr val="dk1"/>
                </a:solidFill>
                <a:latin typeface="Times New Roman"/>
                <a:ea typeface="Times New Roman"/>
                <a:cs typeface="Times New Roman"/>
                <a:sym typeface="Times New Roman"/>
              </a:rPr>
              <a:t>"Tomorrow problems are today's risk."</a:t>
            </a:r>
            <a:endParaRPr b="0" i="0" sz="1500" u="none" cap="none" strike="noStrike">
              <a:solidFill>
                <a:schemeClr val="dk1"/>
              </a:solidFill>
              <a:latin typeface="Times New Roman"/>
              <a:ea typeface="Times New Roman"/>
              <a:cs typeface="Times New Roman"/>
              <a:sym typeface="Times New Roman"/>
            </a:endParaRPr>
          </a:p>
          <a:p>
            <a:pPr indent="-228600" lvl="0" marL="228600" marR="0" rtl="0" algn="l">
              <a:lnSpc>
                <a:spcPct val="90000"/>
              </a:lnSpc>
              <a:spcBef>
                <a:spcPts val="1000"/>
              </a:spcBef>
              <a:spcAft>
                <a:spcPts val="0"/>
              </a:spcAft>
              <a:buClr>
                <a:srgbClr val="000000"/>
              </a:buClr>
              <a:buSzPts val="1500"/>
              <a:buFont typeface="Arial"/>
              <a:buNone/>
            </a:pPr>
            <a:r>
              <a:rPr b="0" i="0" lang="en-US" sz="1500" u="none" cap="none" strike="noStrike">
                <a:solidFill>
                  <a:schemeClr val="dk1"/>
                </a:solidFill>
                <a:latin typeface="Times New Roman"/>
                <a:ea typeface="Times New Roman"/>
                <a:cs typeface="Times New Roman"/>
                <a:sym typeface="Times New Roman"/>
              </a:rPr>
              <a:t>‘the chance of exposure to the adverse consequences of future events’ </a:t>
            </a:r>
            <a:endParaRPr/>
          </a:p>
          <a:p>
            <a:pPr indent="-228600" lvl="0" marL="228600" marR="0" rtl="0" algn="l">
              <a:lnSpc>
                <a:spcPct val="90000"/>
              </a:lnSpc>
              <a:spcBef>
                <a:spcPts val="1000"/>
              </a:spcBef>
              <a:spcAft>
                <a:spcPts val="0"/>
              </a:spcAft>
              <a:buClr>
                <a:srgbClr val="000000"/>
              </a:buClr>
              <a:buSzPts val="1500"/>
              <a:buFont typeface="Arial"/>
              <a:buNone/>
            </a:pPr>
            <a:r>
              <a:rPr b="0" i="0" lang="en-US" sz="1500" u="none" cap="none" strike="noStrike">
                <a:solidFill>
                  <a:schemeClr val="dk1"/>
                </a:solidFill>
                <a:latin typeface="Times New Roman"/>
                <a:ea typeface="Times New Roman"/>
                <a:cs typeface="Times New Roman"/>
                <a:sym typeface="Times New Roman"/>
              </a:rPr>
              <a:t>‘an uncertain event or condition that, if it occurs, has a positive or negative effect on a project’s objectives’ </a:t>
            </a:r>
            <a:endParaRPr/>
          </a:p>
          <a:p>
            <a:pPr indent="-228600" lvl="0" marL="228600" marR="0" rtl="0" algn="l">
              <a:lnSpc>
                <a:spcPct val="90000"/>
              </a:lnSpc>
              <a:spcBef>
                <a:spcPts val="1000"/>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a:p>
            <a:pPr indent="-228600" lvl="0" marL="228600" marR="0" rtl="0" algn="l">
              <a:lnSpc>
                <a:spcPct val="90000"/>
              </a:lnSpc>
              <a:spcBef>
                <a:spcPts val="1000"/>
              </a:spcBef>
              <a:spcAft>
                <a:spcPts val="0"/>
              </a:spcAft>
              <a:buClr>
                <a:srgbClr val="000000"/>
              </a:buClr>
              <a:buSzPts val="1500"/>
              <a:buFont typeface="Arial"/>
              <a:buChar char="•"/>
            </a:pPr>
            <a:r>
              <a:rPr b="0" i="0" lang="en-US" sz="1500" u="none" cap="none" strike="noStrike">
                <a:solidFill>
                  <a:schemeClr val="dk1"/>
                </a:solidFill>
                <a:latin typeface="Times New Roman"/>
                <a:ea typeface="Times New Roman"/>
                <a:cs typeface="Times New Roman"/>
                <a:sym typeface="Times New Roman"/>
              </a:rPr>
              <a:t>Risks relate to possible future problems, not current ones</a:t>
            </a:r>
            <a:endParaRPr/>
          </a:p>
          <a:p>
            <a:pPr indent="-228600" lvl="0" marL="228600" marR="0" rtl="0" algn="l">
              <a:lnSpc>
                <a:spcPct val="90000"/>
              </a:lnSpc>
              <a:spcBef>
                <a:spcPts val="1000"/>
              </a:spcBef>
              <a:spcAft>
                <a:spcPts val="0"/>
              </a:spcAft>
              <a:buClr>
                <a:srgbClr val="000000"/>
              </a:buClr>
              <a:buSzPts val="1500"/>
              <a:buFont typeface="Arial"/>
              <a:buChar char="•"/>
            </a:pPr>
            <a:r>
              <a:rPr b="0" i="0" lang="en-US" sz="1500" u="none" cap="none" strike="noStrike">
                <a:solidFill>
                  <a:schemeClr val="dk1"/>
                </a:solidFill>
                <a:latin typeface="Times New Roman"/>
                <a:ea typeface="Times New Roman"/>
                <a:cs typeface="Times New Roman"/>
                <a:sym typeface="Times New Roman"/>
              </a:rPr>
              <a:t>They involve a possible cause and its effect(s) </a:t>
            </a:r>
            <a:endParaRPr/>
          </a:p>
          <a:p>
            <a:pPr indent="-228600" lvl="1" marL="685800" marR="0" rtl="0" algn="l">
              <a:lnSpc>
                <a:spcPct val="90000"/>
              </a:lnSpc>
              <a:spcBef>
                <a:spcPts val="500"/>
              </a:spcBef>
              <a:spcAft>
                <a:spcPts val="0"/>
              </a:spcAft>
              <a:buClr>
                <a:srgbClr val="000000"/>
              </a:buClr>
              <a:buSzPts val="1500"/>
              <a:buFont typeface="Arial"/>
              <a:buChar char="•"/>
            </a:pPr>
            <a:r>
              <a:rPr b="0" i="0" lang="en-US" sz="1500" u="none" cap="none" strike="noStrike">
                <a:solidFill>
                  <a:schemeClr val="dk1"/>
                </a:solidFill>
                <a:latin typeface="Times New Roman"/>
                <a:ea typeface="Times New Roman"/>
                <a:cs typeface="Times New Roman"/>
                <a:sym typeface="Times New Roman"/>
              </a:rPr>
              <a:t>e.g. </a:t>
            </a:r>
            <a:endParaRPr/>
          </a:p>
          <a:p>
            <a:pPr indent="-228600" lvl="2" marL="1143000" marR="0" rtl="0" algn="l">
              <a:lnSpc>
                <a:spcPct val="90000"/>
              </a:lnSpc>
              <a:spcBef>
                <a:spcPts val="500"/>
              </a:spcBef>
              <a:spcAft>
                <a:spcPts val="0"/>
              </a:spcAft>
              <a:buClr>
                <a:srgbClr val="000000"/>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developer leaves -&gt; task delayed</a:t>
            </a:r>
            <a:endParaRPr/>
          </a:p>
          <a:p>
            <a:pPr indent="-228600" lvl="2" marL="1143000" marR="0" rtl="0" algn="l">
              <a:lnSpc>
                <a:spcPct val="90000"/>
              </a:lnSpc>
              <a:spcBef>
                <a:spcPts val="500"/>
              </a:spcBef>
              <a:spcAft>
                <a:spcPts val="0"/>
              </a:spcAft>
              <a:buClr>
                <a:srgbClr val="000000"/>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Misinterpretation of scope -&gt; failure of acceptance test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4"/>
          <p:cNvSpPr txBox="1"/>
          <p:nvPr>
            <p:ph type="title"/>
          </p:nvPr>
        </p:nvSpPr>
        <p:spPr>
          <a:xfrm>
            <a:off x="531253" y="273845"/>
            <a:ext cx="7984097" cy="469911"/>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Categories of Risk</a:t>
            </a:r>
            <a:endParaRPr/>
          </a:p>
        </p:txBody>
      </p:sp>
      <p:sp>
        <p:nvSpPr>
          <p:cNvPr id="83" name="Google Shape;83;p4"/>
          <p:cNvSpPr txBox="1"/>
          <p:nvPr>
            <p:ph idx="1" type="body"/>
          </p:nvPr>
        </p:nvSpPr>
        <p:spPr>
          <a:xfrm>
            <a:off x="531253" y="917619"/>
            <a:ext cx="7984097" cy="3715103"/>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b="1" lang="en-US"/>
              <a:t>Project Risks:</a:t>
            </a:r>
            <a:r>
              <a:rPr lang="en-US"/>
              <a:t> These risks affect the project schedule, budget, and team performance. They may lead to project delays, increased costs, or failure to meet deadlines.</a:t>
            </a:r>
            <a:endParaRPr/>
          </a:p>
          <a:p>
            <a:pPr indent="-342900" lvl="0" marL="457200" rtl="0" algn="l">
              <a:lnSpc>
                <a:spcPct val="115000"/>
              </a:lnSpc>
              <a:spcBef>
                <a:spcPts val="0"/>
              </a:spcBef>
              <a:spcAft>
                <a:spcPts val="0"/>
              </a:spcAft>
              <a:buSzPct val="108108"/>
              <a:buChar char="●"/>
            </a:pPr>
            <a:r>
              <a:rPr lang="en-US"/>
              <a:t>Examples:</a:t>
            </a:r>
            <a:endParaRPr/>
          </a:p>
          <a:p>
            <a:pPr indent="-317500" lvl="1" marL="914400" rtl="0" algn="l">
              <a:lnSpc>
                <a:spcPct val="115000"/>
              </a:lnSpc>
              <a:spcBef>
                <a:spcPts val="0"/>
              </a:spcBef>
              <a:spcAft>
                <a:spcPts val="0"/>
              </a:spcAft>
              <a:buSzPct val="108108"/>
              <a:buChar char="○"/>
            </a:pPr>
            <a:r>
              <a:rPr lang="en-US"/>
              <a:t>Inadequate resources or skills.</a:t>
            </a:r>
            <a:endParaRPr/>
          </a:p>
          <a:p>
            <a:pPr indent="-317500" lvl="1" marL="914400" rtl="0" algn="l">
              <a:lnSpc>
                <a:spcPct val="115000"/>
              </a:lnSpc>
              <a:spcBef>
                <a:spcPts val="0"/>
              </a:spcBef>
              <a:spcAft>
                <a:spcPts val="0"/>
              </a:spcAft>
              <a:buSzPct val="108108"/>
              <a:buChar char="○"/>
            </a:pPr>
            <a:r>
              <a:rPr lang="en-US"/>
              <a:t>Unrealistic timelines.</a:t>
            </a:r>
            <a:endParaRPr/>
          </a:p>
          <a:p>
            <a:pPr indent="-317500" lvl="1" marL="914400" rtl="0" algn="l">
              <a:lnSpc>
                <a:spcPct val="115000"/>
              </a:lnSpc>
              <a:spcBef>
                <a:spcPts val="0"/>
              </a:spcBef>
              <a:spcAft>
                <a:spcPts val="0"/>
              </a:spcAft>
              <a:buSzPct val="108108"/>
              <a:buChar char="○"/>
            </a:pPr>
            <a:r>
              <a:rPr lang="en-US"/>
              <a:t>Poorly defined project requirements.</a:t>
            </a:r>
            <a:endParaRPr/>
          </a:p>
          <a:p>
            <a:pPr indent="-228600" lvl="0" marL="457200" rtl="0" algn="l">
              <a:lnSpc>
                <a:spcPct val="115000"/>
              </a:lnSpc>
              <a:spcBef>
                <a:spcPts val="0"/>
              </a:spcBef>
              <a:spcAft>
                <a:spcPts val="0"/>
              </a:spcAft>
              <a:buSzPct val="108108"/>
              <a:buNone/>
            </a:pPr>
            <a:r>
              <a:t/>
            </a:r>
            <a:endParaRPr b="1"/>
          </a:p>
          <a:p>
            <a:pPr indent="0" lvl="0" marL="0" rtl="0" algn="l">
              <a:lnSpc>
                <a:spcPct val="115000"/>
              </a:lnSpc>
              <a:spcBef>
                <a:spcPts val="0"/>
              </a:spcBef>
              <a:spcAft>
                <a:spcPts val="0"/>
              </a:spcAft>
              <a:buSzPct val="108108"/>
              <a:buNone/>
            </a:pPr>
            <a:r>
              <a:rPr b="1" lang="en-US"/>
              <a:t>Technical Risks:</a:t>
            </a:r>
            <a:r>
              <a:rPr lang="en-US"/>
              <a:t> Technical risks relate to the technologies, tools, or architecture used in the project. They could result in performance issues, integration problems, or difficulties in system implementation.</a:t>
            </a:r>
            <a:endParaRPr/>
          </a:p>
          <a:p>
            <a:pPr indent="-342900" lvl="0" marL="457200" rtl="0" algn="l">
              <a:lnSpc>
                <a:spcPct val="115000"/>
              </a:lnSpc>
              <a:spcBef>
                <a:spcPts val="0"/>
              </a:spcBef>
              <a:spcAft>
                <a:spcPts val="0"/>
              </a:spcAft>
              <a:buSzPct val="108108"/>
              <a:buChar char="●"/>
            </a:pPr>
            <a:r>
              <a:rPr lang="en-US"/>
              <a:t>Examples:</a:t>
            </a:r>
            <a:endParaRPr/>
          </a:p>
          <a:p>
            <a:pPr indent="-317500" lvl="1" marL="914400" rtl="0" algn="l">
              <a:lnSpc>
                <a:spcPct val="115000"/>
              </a:lnSpc>
              <a:spcBef>
                <a:spcPts val="0"/>
              </a:spcBef>
              <a:spcAft>
                <a:spcPts val="0"/>
              </a:spcAft>
              <a:buSzPct val="108108"/>
              <a:buChar char="○"/>
            </a:pPr>
            <a:r>
              <a:rPr lang="en-US"/>
              <a:t>Adoption of new or unproven technologies.</a:t>
            </a:r>
            <a:endParaRPr/>
          </a:p>
          <a:p>
            <a:pPr indent="-317500" lvl="1" marL="914400" rtl="0" algn="l">
              <a:lnSpc>
                <a:spcPct val="115000"/>
              </a:lnSpc>
              <a:spcBef>
                <a:spcPts val="0"/>
              </a:spcBef>
              <a:spcAft>
                <a:spcPts val="0"/>
              </a:spcAft>
              <a:buSzPct val="108108"/>
              <a:buChar char="○"/>
            </a:pPr>
            <a:r>
              <a:rPr lang="en-US"/>
              <a:t>Challenges in software integration.</a:t>
            </a:r>
            <a:endParaRPr/>
          </a:p>
          <a:p>
            <a:pPr indent="-317500" lvl="1" marL="914400" rtl="0" algn="l">
              <a:lnSpc>
                <a:spcPct val="115000"/>
              </a:lnSpc>
              <a:spcBef>
                <a:spcPts val="0"/>
              </a:spcBef>
              <a:spcAft>
                <a:spcPts val="0"/>
              </a:spcAft>
              <a:buSzPct val="108108"/>
              <a:buChar char="○"/>
            </a:pPr>
            <a:r>
              <a:rPr lang="en-US"/>
              <a:t>Inadequate system performance.</a:t>
            </a:r>
            <a:endParaRPr/>
          </a:p>
          <a:p>
            <a:pPr indent="-228600" lvl="0" marL="457200" rtl="0" algn="l">
              <a:lnSpc>
                <a:spcPct val="115000"/>
              </a:lnSpc>
              <a:spcBef>
                <a:spcPts val="0"/>
              </a:spcBef>
              <a:spcAft>
                <a:spcPts val="0"/>
              </a:spcAft>
              <a:buSzPct val="108108"/>
              <a:buNone/>
            </a:pPr>
            <a:r>
              <a:t/>
            </a:r>
            <a:endParaRPr/>
          </a:p>
        </p:txBody>
      </p:sp>
      <p:sp>
        <p:nvSpPr>
          <p:cNvPr id="84" name="Google Shape;84;p4"/>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85" name="Google Shape;8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0" st="0"/>
                                            </p:txEl>
                                          </p:spTgt>
                                        </p:tgtEl>
                                        <p:attrNameLst>
                                          <p:attrName>style.visibility</p:attrName>
                                        </p:attrNameLst>
                                      </p:cBhvr>
                                      <p:to>
                                        <p:strVal val="visible"/>
                                      </p:to>
                                    </p:set>
                                    <p:anim calcmode="lin" valueType="num">
                                      <p:cBhvr additive="base">
                                        <p:cTn dur="500"/>
                                        <p:tgtEl>
                                          <p:spTgt spid="8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1" st="1"/>
                                            </p:txEl>
                                          </p:spTgt>
                                        </p:tgtEl>
                                        <p:attrNameLst>
                                          <p:attrName>style.visibility</p:attrName>
                                        </p:attrNameLst>
                                      </p:cBhvr>
                                      <p:to>
                                        <p:strVal val="visible"/>
                                      </p:to>
                                    </p:set>
                                    <p:anim calcmode="lin" valueType="num">
                                      <p:cBhvr additive="base">
                                        <p:cTn dur="500"/>
                                        <p:tgtEl>
                                          <p:spTgt spid="8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2" st="2"/>
                                            </p:txEl>
                                          </p:spTgt>
                                        </p:tgtEl>
                                        <p:attrNameLst>
                                          <p:attrName>style.visibility</p:attrName>
                                        </p:attrNameLst>
                                      </p:cBhvr>
                                      <p:to>
                                        <p:strVal val="visible"/>
                                      </p:to>
                                    </p:set>
                                    <p:anim calcmode="lin" valueType="num">
                                      <p:cBhvr additive="base">
                                        <p:cTn dur="500"/>
                                        <p:tgtEl>
                                          <p:spTgt spid="8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3" st="3"/>
                                            </p:txEl>
                                          </p:spTgt>
                                        </p:tgtEl>
                                        <p:attrNameLst>
                                          <p:attrName>style.visibility</p:attrName>
                                        </p:attrNameLst>
                                      </p:cBhvr>
                                      <p:to>
                                        <p:strVal val="visible"/>
                                      </p:to>
                                    </p:set>
                                    <p:anim calcmode="lin" valueType="num">
                                      <p:cBhvr additive="base">
                                        <p:cTn dur="500"/>
                                        <p:tgtEl>
                                          <p:spTgt spid="8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4" st="4"/>
                                            </p:txEl>
                                          </p:spTgt>
                                        </p:tgtEl>
                                        <p:attrNameLst>
                                          <p:attrName>style.visibility</p:attrName>
                                        </p:attrNameLst>
                                      </p:cBhvr>
                                      <p:to>
                                        <p:strVal val="visible"/>
                                      </p:to>
                                    </p:set>
                                    <p:anim calcmode="lin" valueType="num">
                                      <p:cBhvr additive="base">
                                        <p:cTn dur="500"/>
                                        <p:tgtEl>
                                          <p:spTgt spid="8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5" st="5"/>
                                            </p:txEl>
                                          </p:spTgt>
                                        </p:tgtEl>
                                        <p:attrNameLst>
                                          <p:attrName>style.visibility</p:attrName>
                                        </p:attrNameLst>
                                      </p:cBhvr>
                                      <p:to>
                                        <p:strVal val="visible"/>
                                      </p:to>
                                    </p:set>
                                    <p:anim calcmode="lin" valueType="num">
                                      <p:cBhvr additive="base">
                                        <p:cTn dur="500"/>
                                        <p:tgtEl>
                                          <p:spTgt spid="8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6" st="6"/>
                                            </p:txEl>
                                          </p:spTgt>
                                        </p:tgtEl>
                                        <p:attrNameLst>
                                          <p:attrName>style.visibility</p:attrName>
                                        </p:attrNameLst>
                                      </p:cBhvr>
                                      <p:to>
                                        <p:strVal val="visible"/>
                                      </p:to>
                                    </p:set>
                                    <p:anim calcmode="lin" valueType="num">
                                      <p:cBhvr additive="base">
                                        <p:cTn dur="500"/>
                                        <p:tgtEl>
                                          <p:spTgt spid="8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7" st="7"/>
                                            </p:txEl>
                                          </p:spTgt>
                                        </p:tgtEl>
                                        <p:attrNameLst>
                                          <p:attrName>style.visibility</p:attrName>
                                        </p:attrNameLst>
                                      </p:cBhvr>
                                      <p:to>
                                        <p:strVal val="visible"/>
                                      </p:to>
                                    </p:set>
                                    <p:anim calcmode="lin" valueType="num">
                                      <p:cBhvr additive="base">
                                        <p:cTn dur="500"/>
                                        <p:tgtEl>
                                          <p:spTgt spid="8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8" st="8"/>
                                            </p:txEl>
                                          </p:spTgt>
                                        </p:tgtEl>
                                        <p:attrNameLst>
                                          <p:attrName>style.visibility</p:attrName>
                                        </p:attrNameLst>
                                      </p:cBhvr>
                                      <p:to>
                                        <p:strVal val="visible"/>
                                      </p:to>
                                    </p:set>
                                    <p:anim calcmode="lin" valueType="num">
                                      <p:cBhvr additive="base">
                                        <p:cTn dur="500"/>
                                        <p:tgtEl>
                                          <p:spTgt spid="83">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9" st="9"/>
                                            </p:txEl>
                                          </p:spTgt>
                                        </p:tgtEl>
                                        <p:attrNameLst>
                                          <p:attrName>style.visibility</p:attrName>
                                        </p:attrNameLst>
                                      </p:cBhvr>
                                      <p:to>
                                        <p:strVal val="visible"/>
                                      </p:to>
                                    </p:set>
                                    <p:anim calcmode="lin" valueType="num">
                                      <p:cBhvr additive="base">
                                        <p:cTn dur="500"/>
                                        <p:tgtEl>
                                          <p:spTgt spid="83">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10" st="10"/>
                                            </p:txEl>
                                          </p:spTgt>
                                        </p:tgtEl>
                                        <p:attrNameLst>
                                          <p:attrName>style.visibility</p:attrName>
                                        </p:attrNameLst>
                                      </p:cBhvr>
                                      <p:to>
                                        <p:strVal val="visible"/>
                                      </p:to>
                                    </p:set>
                                    <p:anim calcmode="lin" valueType="num">
                                      <p:cBhvr additive="base">
                                        <p:cTn dur="500"/>
                                        <p:tgtEl>
                                          <p:spTgt spid="83">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11" st="11"/>
                                            </p:txEl>
                                          </p:spTgt>
                                        </p:tgtEl>
                                        <p:attrNameLst>
                                          <p:attrName>style.visibility</p:attrName>
                                        </p:attrNameLst>
                                      </p:cBhvr>
                                      <p:to>
                                        <p:strVal val="visible"/>
                                      </p:to>
                                    </p:set>
                                    <p:anim calcmode="lin" valueType="num">
                                      <p:cBhvr additive="base">
                                        <p:cTn dur="500"/>
                                        <p:tgtEl>
                                          <p:spTgt spid="83">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idx="1" type="body"/>
          </p:nvPr>
        </p:nvSpPr>
        <p:spPr>
          <a:xfrm>
            <a:off x="531253" y="338071"/>
            <a:ext cx="7984097" cy="4294652"/>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0"/>
              </a:spcAft>
              <a:buSzPct val="142857"/>
              <a:buNone/>
            </a:pPr>
            <a:r>
              <a:rPr b="1" lang="en-US"/>
              <a:t>Business Risks:</a:t>
            </a:r>
            <a:r>
              <a:rPr lang="en-US"/>
              <a:t> Business risks affect the organization's ability to achieve its objectives or benefit from the project. These risks may arise from changes in market conditions or organizational goals.</a:t>
            </a:r>
            <a:endParaRPr/>
          </a:p>
          <a:p>
            <a:pPr indent="-342900" lvl="0" marL="457200" rtl="0" algn="l">
              <a:lnSpc>
                <a:spcPct val="115000"/>
              </a:lnSpc>
              <a:spcBef>
                <a:spcPts val="0"/>
              </a:spcBef>
              <a:spcAft>
                <a:spcPts val="0"/>
              </a:spcAft>
              <a:buSzPct val="142857"/>
              <a:buChar char="●"/>
            </a:pPr>
            <a:r>
              <a:rPr lang="en-US"/>
              <a:t>Examples:</a:t>
            </a:r>
            <a:endParaRPr/>
          </a:p>
          <a:p>
            <a:pPr indent="-317500" lvl="1" marL="914400" rtl="0" algn="l">
              <a:lnSpc>
                <a:spcPct val="115000"/>
              </a:lnSpc>
              <a:spcBef>
                <a:spcPts val="0"/>
              </a:spcBef>
              <a:spcAft>
                <a:spcPts val="0"/>
              </a:spcAft>
              <a:buSzPct val="142857"/>
              <a:buChar char="○"/>
            </a:pPr>
            <a:r>
              <a:rPr lang="en-US"/>
              <a:t>Shifting business priorities.</a:t>
            </a:r>
            <a:endParaRPr/>
          </a:p>
          <a:p>
            <a:pPr indent="-317500" lvl="1" marL="914400" rtl="0" algn="l">
              <a:lnSpc>
                <a:spcPct val="115000"/>
              </a:lnSpc>
              <a:spcBef>
                <a:spcPts val="0"/>
              </a:spcBef>
              <a:spcAft>
                <a:spcPts val="0"/>
              </a:spcAft>
              <a:buSzPct val="142857"/>
              <a:buChar char="○"/>
            </a:pPr>
            <a:r>
              <a:rPr lang="en-US"/>
              <a:t>Project misalignment with market needs.</a:t>
            </a:r>
            <a:endParaRPr/>
          </a:p>
          <a:p>
            <a:pPr indent="-317500" lvl="1" marL="914400" rtl="0" algn="l">
              <a:lnSpc>
                <a:spcPct val="115000"/>
              </a:lnSpc>
              <a:spcBef>
                <a:spcPts val="0"/>
              </a:spcBef>
              <a:spcAft>
                <a:spcPts val="0"/>
              </a:spcAft>
              <a:buSzPct val="142857"/>
              <a:buChar char="○"/>
            </a:pPr>
            <a:r>
              <a:rPr lang="en-US"/>
              <a:t>Financial constraints.</a:t>
            </a:r>
            <a:endParaRPr/>
          </a:p>
          <a:p>
            <a:pPr indent="0" lvl="0" marL="0" rtl="0" algn="l">
              <a:lnSpc>
                <a:spcPct val="115000"/>
              </a:lnSpc>
              <a:spcBef>
                <a:spcPts val="0"/>
              </a:spcBef>
              <a:spcAft>
                <a:spcPts val="0"/>
              </a:spcAft>
              <a:buSzPct val="142857"/>
              <a:buNone/>
            </a:pPr>
            <a:r>
              <a:t/>
            </a:r>
            <a:endParaRPr b="1"/>
          </a:p>
          <a:p>
            <a:pPr indent="0" lvl="0" marL="0" rtl="0" algn="l">
              <a:lnSpc>
                <a:spcPct val="115000"/>
              </a:lnSpc>
              <a:spcBef>
                <a:spcPts val="0"/>
              </a:spcBef>
              <a:spcAft>
                <a:spcPts val="0"/>
              </a:spcAft>
              <a:buSzPct val="142857"/>
              <a:buNone/>
            </a:pPr>
            <a:r>
              <a:rPr b="1" lang="en-US"/>
              <a:t>Operational Risks:</a:t>
            </a:r>
            <a:r>
              <a:rPr lang="en-US"/>
              <a:t> Operational risks involve challenges in daily business operations due to the project. These risks can impact the functionality or usability of the software.</a:t>
            </a:r>
            <a:endParaRPr/>
          </a:p>
          <a:p>
            <a:pPr indent="-342900" lvl="0" marL="457200" rtl="0" algn="l">
              <a:lnSpc>
                <a:spcPct val="115000"/>
              </a:lnSpc>
              <a:spcBef>
                <a:spcPts val="0"/>
              </a:spcBef>
              <a:spcAft>
                <a:spcPts val="0"/>
              </a:spcAft>
              <a:buSzPct val="142857"/>
              <a:buChar char="●"/>
            </a:pPr>
            <a:r>
              <a:rPr lang="en-US"/>
              <a:t>Examples:</a:t>
            </a:r>
            <a:endParaRPr/>
          </a:p>
          <a:p>
            <a:pPr indent="-317500" lvl="1" marL="914400" rtl="0" algn="l">
              <a:lnSpc>
                <a:spcPct val="115000"/>
              </a:lnSpc>
              <a:spcBef>
                <a:spcPts val="0"/>
              </a:spcBef>
              <a:spcAft>
                <a:spcPts val="0"/>
              </a:spcAft>
              <a:buSzPct val="142857"/>
              <a:buChar char="○"/>
            </a:pPr>
            <a:r>
              <a:rPr lang="en-US"/>
              <a:t>Difficulty in transitioning to the new system.</a:t>
            </a:r>
            <a:endParaRPr/>
          </a:p>
          <a:p>
            <a:pPr indent="-317500" lvl="1" marL="914400" rtl="0" algn="l">
              <a:lnSpc>
                <a:spcPct val="115000"/>
              </a:lnSpc>
              <a:spcBef>
                <a:spcPts val="0"/>
              </a:spcBef>
              <a:spcAft>
                <a:spcPts val="0"/>
              </a:spcAft>
              <a:buSzPct val="142857"/>
              <a:buChar char="○"/>
            </a:pPr>
            <a:r>
              <a:rPr lang="en-US"/>
              <a:t>Software not meeting user requirements.</a:t>
            </a:r>
            <a:endParaRPr/>
          </a:p>
          <a:p>
            <a:pPr indent="-317500" lvl="1" marL="914400" rtl="0" algn="l">
              <a:lnSpc>
                <a:spcPct val="115000"/>
              </a:lnSpc>
              <a:spcBef>
                <a:spcPts val="0"/>
              </a:spcBef>
              <a:spcAft>
                <a:spcPts val="0"/>
              </a:spcAft>
              <a:buSzPct val="142857"/>
              <a:buChar char="○"/>
            </a:pPr>
            <a:r>
              <a:rPr lang="en-US"/>
              <a:t>Disruptions in ongoing operations.</a:t>
            </a:r>
            <a:endParaRPr/>
          </a:p>
          <a:p>
            <a:pPr indent="0" lvl="0" marL="0" rtl="0" algn="l">
              <a:lnSpc>
                <a:spcPct val="115000"/>
              </a:lnSpc>
              <a:spcBef>
                <a:spcPts val="0"/>
              </a:spcBef>
              <a:spcAft>
                <a:spcPts val="0"/>
              </a:spcAft>
              <a:buSzPct val="142857"/>
              <a:buNone/>
            </a:pPr>
            <a:r>
              <a:t/>
            </a:r>
            <a:endParaRPr b="1"/>
          </a:p>
          <a:p>
            <a:pPr indent="0" lvl="0" marL="0" rtl="0" algn="l">
              <a:lnSpc>
                <a:spcPct val="115000"/>
              </a:lnSpc>
              <a:spcBef>
                <a:spcPts val="0"/>
              </a:spcBef>
              <a:spcAft>
                <a:spcPts val="0"/>
              </a:spcAft>
              <a:buSzPct val="142857"/>
              <a:buNone/>
            </a:pPr>
            <a:r>
              <a:rPr b="1" lang="en-US"/>
              <a:t>Security Risks:</a:t>
            </a:r>
            <a:r>
              <a:rPr lang="en-US"/>
              <a:t> These risks pertain to vulnerabilities in the software that may lead to breaches, data loss, or unauthorized access.</a:t>
            </a:r>
            <a:endParaRPr/>
          </a:p>
          <a:p>
            <a:pPr indent="-342900" lvl="0" marL="457200" rtl="0" algn="l">
              <a:lnSpc>
                <a:spcPct val="115000"/>
              </a:lnSpc>
              <a:spcBef>
                <a:spcPts val="0"/>
              </a:spcBef>
              <a:spcAft>
                <a:spcPts val="0"/>
              </a:spcAft>
              <a:buSzPct val="142857"/>
              <a:buChar char="●"/>
            </a:pPr>
            <a:r>
              <a:rPr lang="en-US"/>
              <a:t>Examples:</a:t>
            </a:r>
            <a:endParaRPr/>
          </a:p>
          <a:p>
            <a:pPr indent="-317500" lvl="1" marL="914400" rtl="0" algn="l">
              <a:lnSpc>
                <a:spcPct val="115000"/>
              </a:lnSpc>
              <a:spcBef>
                <a:spcPts val="0"/>
              </a:spcBef>
              <a:spcAft>
                <a:spcPts val="0"/>
              </a:spcAft>
              <a:buSzPct val="142857"/>
              <a:buChar char="○"/>
            </a:pPr>
            <a:r>
              <a:rPr lang="en-US"/>
              <a:t>Weak data encryption or protection.</a:t>
            </a:r>
            <a:endParaRPr/>
          </a:p>
          <a:p>
            <a:pPr indent="-317500" lvl="1" marL="914400" rtl="0" algn="l">
              <a:lnSpc>
                <a:spcPct val="115000"/>
              </a:lnSpc>
              <a:spcBef>
                <a:spcPts val="0"/>
              </a:spcBef>
              <a:spcAft>
                <a:spcPts val="0"/>
              </a:spcAft>
              <a:buSzPct val="142857"/>
              <a:buChar char="○"/>
            </a:pPr>
            <a:r>
              <a:rPr lang="en-US"/>
              <a:t>Cyberattacks and hacking threats.</a:t>
            </a:r>
            <a:endParaRPr/>
          </a:p>
          <a:p>
            <a:pPr indent="-317500" lvl="1" marL="914400" rtl="0" algn="l">
              <a:lnSpc>
                <a:spcPct val="115000"/>
              </a:lnSpc>
              <a:spcBef>
                <a:spcPts val="0"/>
              </a:spcBef>
              <a:spcAft>
                <a:spcPts val="0"/>
              </a:spcAft>
              <a:buSzPct val="142857"/>
              <a:buChar char="○"/>
            </a:pPr>
            <a:r>
              <a:rPr lang="en-US"/>
              <a:t>Non-compliance with security standards.</a:t>
            </a:r>
            <a:endParaRPr/>
          </a:p>
        </p:txBody>
      </p:sp>
      <p:sp>
        <p:nvSpPr>
          <p:cNvPr id="91" name="Google Shape;91;p5"/>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92" name="Google Shape;92;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anim calcmode="lin" valueType="num">
                                      <p:cBhvr additive="base">
                                        <p:cTn dur="500"/>
                                        <p:tgtEl>
                                          <p:spTgt spid="9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anim calcmode="lin" valueType="num">
                                      <p:cBhvr additive="base">
                                        <p:cTn dur="500"/>
                                        <p:tgtEl>
                                          <p:spTgt spid="9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anim calcmode="lin" valueType="num">
                                      <p:cBhvr additive="base">
                                        <p:cTn dur="500"/>
                                        <p:tgtEl>
                                          <p:spTgt spid="9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anim calcmode="lin" valueType="num">
                                      <p:cBhvr additive="base">
                                        <p:cTn dur="500"/>
                                        <p:tgtEl>
                                          <p:spTgt spid="9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4" st="4"/>
                                            </p:txEl>
                                          </p:spTgt>
                                        </p:tgtEl>
                                        <p:attrNameLst>
                                          <p:attrName>style.visibility</p:attrName>
                                        </p:attrNameLst>
                                      </p:cBhvr>
                                      <p:to>
                                        <p:strVal val="visible"/>
                                      </p:to>
                                    </p:set>
                                    <p:anim calcmode="lin" valueType="num">
                                      <p:cBhvr additive="base">
                                        <p:cTn dur="500"/>
                                        <p:tgtEl>
                                          <p:spTgt spid="9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5" st="5"/>
                                            </p:txEl>
                                          </p:spTgt>
                                        </p:tgtEl>
                                        <p:attrNameLst>
                                          <p:attrName>style.visibility</p:attrName>
                                        </p:attrNameLst>
                                      </p:cBhvr>
                                      <p:to>
                                        <p:strVal val="visible"/>
                                      </p:to>
                                    </p:set>
                                    <p:anim calcmode="lin" valueType="num">
                                      <p:cBhvr additive="base">
                                        <p:cTn dur="500"/>
                                        <p:tgtEl>
                                          <p:spTgt spid="9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6" st="6"/>
                                            </p:txEl>
                                          </p:spTgt>
                                        </p:tgtEl>
                                        <p:attrNameLst>
                                          <p:attrName>style.visibility</p:attrName>
                                        </p:attrNameLst>
                                      </p:cBhvr>
                                      <p:to>
                                        <p:strVal val="visible"/>
                                      </p:to>
                                    </p:set>
                                    <p:anim calcmode="lin" valueType="num">
                                      <p:cBhvr additive="base">
                                        <p:cTn dur="500"/>
                                        <p:tgtEl>
                                          <p:spTgt spid="9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7" st="7"/>
                                            </p:txEl>
                                          </p:spTgt>
                                        </p:tgtEl>
                                        <p:attrNameLst>
                                          <p:attrName>style.visibility</p:attrName>
                                        </p:attrNameLst>
                                      </p:cBhvr>
                                      <p:to>
                                        <p:strVal val="visible"/>
                                      </p:to>
                                    </p:set>
                                    <p:anim calcmode="lin" valueType="num">
                                      <p:cBhvr additive="base">
                                        <p:cTn dur="500"/>
                                        <p:tgtEl>
                                          <p:spTgt spid="9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8" st="8"/>
                                            </p:txEl>
                                          </p:spTgt>
                                        </p:tgtEl>
                                        <p:attrNameLst>
                                          <p:attrName>style.visibility</p:attrName>
                                        </p:attrNameLst>
                                      </p:cBhvr>
                                      <p:to>
                                        <p:strVal val="visible"/>
                                      </p:to>
                                    </p:set>
                                    <p:anim calcmode="lin" valueType="num">
                                      <p:cBhvr additive="base">
                                        <p:cTn dur="500"/>
                                        <p:tgtEl>
                                          <p:spTgt spid="9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9" st="9"/>
                                            </p:txEl>
                                          </p:spTgt>
                                        </p:tgtEl>
                                        <p:attrNameLst>
                                          <p:attrName>style.visibility</p:attrName>
                                        </p:attrNameLst>
                                      </p:cBhvr>
                                      <p:to>
                                        <p:strVal val="visible"/>
                                      </p:to>
                                    </p:set>
                                    <p:anim calcmode="lin" valueType="num">
                                      <p:cBhvr additive="base">
                                        <p:cTn dur="500"/>
                                        <p:tgtEl>
                                          <p:spTgt spid="90">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10" st="10"/>
                                            </p:txEl>
                                          </p:spTgt>
                                        </p:tgtEl>
                                        <p:attrNameLst>
                                          <p:attrName>style.visibility</p:attrName>
                                        </p:attrNameLst>
                                      </p:cBhvr>
                                      <p:to>
                                        <p:strVal val="visible"/>
                                      </p:to>
                                    </p:set>
                                    <p:anim calcmode="lin" valueType="num">
                                      <p:cBhvr additive="base">
                                        <p:cTn dur="500"/>
                                        <p:tgtEl>
                                          <p:spTgt spid="90">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11" st="11"/>
                                            </p:txEl>
                                          </p:spTgt>
                                        </p:tgtEl>
                                        <p:attrNameLst>
                                          <p:attrName>style.visibility</p:attrName>
                                        </p:attrNameLst>
                                      </p:cBhvr>
                                      <p:to>
                                        <p:strVal val="visible"/>
                                      </p:to>
                                    </p:set>
                                    <p:anim calcmode="lin" valueType="num">
                                      <p:cBhvr additive="base">
                                        <p:cTn dur="500"/>
                                        <p:tgtEl>
                                          <p:spTgt spid="90">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12" st="12"/>
                                            </p:txEl>
                                          </p:spTgt>
                                        </p:tgtEl>
                                        <p:attrNameLst>
                                          <p:attrName>style.visibility</p:attrName>
                                        </p:attrNameLst>
                                      </p:cBhvr>
                                      <p:to>
                                        <p:strVal val="visible"/>
                                      </p:to>
                                    </p:set>
                                    <p:anim calcmode="lin" valueType="num">
                                      <p:cBhvr additive="base">
                                        <p:cTn dur="500"/>
                                        <p:tgtEl>
                                          <p:spTgt spid="90">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13" st="13"/>
                                            </p:txEl>
                                          </p:spTgt>
                                        </p:tgtEl>
                                        <p:attrNameLst>
                                          <p:attrName>style.visibility</p:attrName>
                                        </p:attrNameLst>
                                      </p:cBhvr>
                                      <p:to>
                                        <p:strVal val="visible"/>
                                      </p:to>
                                    </p:set>
                                    <p:anim calcmode="lin" valueType="num">
                                      <p:cBhvr additive="base">
                                        <p:cTn dur="500"/>
                                        <p:tgtEl>
                                          <p:spTgt spid="90">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14" st="14"/>
                                            </p:txEl>
                                          </p:spTgt>
                                        </p:tgtEl>
                                        <p:attrNameLst>
                                          <p:attrName>style.visibility</p:attrName>
                                        </p:attrNameLst>
                                      </p:cBhvr>
                                      <p:to>
                                        <p:strVal val="visible"/>
                                      </p:to>
                                    </p:set>
                                    <p:anim calcmode="lin" valueType="num">
                                      <p:cBhvr additive="base">
                                        <p:cTn dur="500"/>
                                        <p:tgtEl>
                                          <p:spTgt spid="90">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15" st="15"/>
                                            </p:txEl>
                                          </p:spTgt>
                                        </p:tgtEl>
                                        <p:attrNameLst>
                                          <p:attrName>style.visibility</p:attrName>
                                        </p:attrNameLst>
                                      </p:cBhvr>
                                      <p:to>
                                        <p:strVal val="visible"/>
                                      </p:to>
                                    </p:set>
                                    <p:anim calcmode="lin" valueType="num">
                                      <p:cBhvr additive="base">
                                        <p:cTn dur="500"/>
                                        <p:tgtEl>
                                          <p:spTgt spid="90">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16" st="16"/>
                                            </p:txEl>
                                          </p:spTgt>
                                        </p:tgtEl>
                                        <p:attrNameLst>
                                          <p:attrName>style.visibility</p:attrName>
                                        </p:attrNameLst>
                                      </p:cBhvr>
                                      <p:to>
                                        <p:strVal val="visible"/>
                                      </p:to>
                                    </p:set>
                                    <p:anim calcmode="lin" valueType="num">
                                      <p:cBhvr additive="base">
                                        <p:cTn dur="500"/>
                                        <p:tgtEl>
                                          <p:spTgt spid="90">
                                            <p:txEl>
                                              <p:pRg end="16" st="1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ph type="title"/>
          </p:nvPr>
        </p:nvSpPr>
        <p:spPr>
          <a:xfrm>
            <a:off x="628650" y="1"/>
            <a:ext cx="7886700" cy="639566"/>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US"/>
              <a:t>Sources of Risks </a:t>
            </a:r>
            <a:endParaRPr/>
          </a:p>
        </p:txBody>
      </p:sp>
      <p:sp>
        <p:nvSpPr>
          <p:cNvPr id="98" name="Google Shape;98;p6"/>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99" name="Google Shape;99;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00" name="Google Shape;100;p6"/>
          <p:cNvSpPr txBox="1"/>
          <p:nvPr>
            <p:ph idx="1" type="body"/>
          </p:nvPr>
        </p:nvSpPr>
        <p:spPr>
          <a:xfrm>
            <a:off x="560232" y="639567"/>
            <a:ext cx="7955119" cy="4046733"/>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0"/>
              </a:spcAft>
              <a:buSzPct val="107142"/>
              <a:buNone/>
            </a:pPr>
            <a:r>
              <a:rPr b="1" lang="en-US" sz="2400">
                <a:solidFill>
                  <a:srgbClr val="0070C0"/>
                </a:solidFill>
                <a:latin typeface="Times New Roman"/>
                <a:ea typeface="Times New Roman"/>
                <a:cs typeface="Times New Roman"/>
                <a:sym typeface="Times New Roman"/>
              </a:rPr>
              <a:t>Natures of risks </a:t>
            </a:r>
            <a:endParaRPr/>
          </a:p>
          <a:p>
            <a:pPr indent="-342900" lvl="0" marL="457200" rtl="0" algn="l">
              <a:lnSpc>
                <a:spcPct val="115000"/>
              </a:lnSpc>
              <a:spcBef>
                <a:spcPts val="0"/>
              </a:spcBef>
              <a:spcAft>
                <a:spcPts val="0"/>
              </a:spcAft>
              <a:buSzPct val="107142"/>
              <a:buChar char="●"/>
            </a:pPr>
            <a:r>
              <a:rPr lang="en-US" sz="2400">
                <a:latin typeface="Times New Roman"/>
                <a:ea typeface="Times New Roman"/>
                <a:cs typeface="Times New Roman"/>
                <a:sym typeface="Times New Roman"/>
              </a:rPr>
              <a:t>People (Human factor)</a:t>
            </a:r>
            <a:endParaRPr sz="2400">
              <a:latin typeface="Times New Roman"/>
              <a:ea typeface="Times New Roman"/>
              <a:cs typeface="Times New Roman"/>
              <a:sym typeface="Times New Roman"/>
            </a:endParaRPr>
          </a:p>
          <a:p>
            <a:pPr indent="-317500" lvl="1" marL="914400" rtl="0" algn="l">
              <a:lnSpc>
                <a:spcPct val="115000"/>
              </a:lnSpc>
              <a:spcBef>
                <a:spcPts val="0"/>
              </a:spcBef>
              <a:spcAft>
                <a:spcPts val="0"/>
              </a:spcAft>
              <a:buSzPct val="95238"/>
              <a:buChar char="○"/>
            </a:pPr>
            <a:r>
              <a:rPr lang="en-US" sz="2100">
                <a:latin typeface="Times New Roman"/>
                <a:ea typeface="Times New Roman"/>
                <a:cs typeface="Times New Roman"/>
                <a:sym typeface="Times New Roman"/>
              </a:rPr>
              <a:t>Type of resources mismatch,(people with different skill set allocated)</a:t>
            </a:r>
            <a:endParaRPr/>
          </a:p>
          <a:p>
            <a:pPr indent="-317500" lvl="1" marL="914400" rtl="0" algn="l">
              <a:lnSpc>
                <a:spcPct val="115000"/>
              </a:lnSpc>
              <a:spcBef>
                <a:spcPts val="0"/>
              </a:spcBef>
              <a:spcAft>
                <a:spcPts val="0"/>
              </a:spcAft>
              <a:buSzPct val="95238"/>
              <a:buChar char="○"/>
            </a:pPr>
            <a:r>
              <a:rPr lang="en-US" sz="2100">
                <a:latin typeface="Times New Roman"/>
                <a:ea typeface="Times New Roman"/>
                <a:cs typeface="Times New Roman"/>
                <a:sym typeface="Times New Roman"/>
              </a:rPr>
              <a:t>Less Number of people, skill gap etc</a:t>
            </a:r>
            <a:endParaRPr sz="2100">
              <a:latin typeface="Times New Roman"/>
              <a:ea typeface="Times New Roman"/>
              <a:cs typeface="Times New Roman"/>
              <a:sym typeface="Times New Roman"/>
            </a:endParaRPr>
          </a:p>
          <a:p>
            <a:pPr indent="-342900" lvl="0" marL="457200" rtl="0" algn="l">
              <a:lnSpc>
                <a:spcPct val="115000"/>
              </a:lnSpc>
              <a:spcBef>
                <a:spcPts val="0"/>
              </a:spcBef>
              <a:spcAft>
                <a:spcPts val="0"/>
              </a:spcAft>
              <a:buSzPct val="107142"/>
              <a:buChar char="●"/>
            </a:pPr>
            <a:r>
              <a:rPr lang="en-US" sz="2400">
                <a:latin typeface="Times New Roman"/>
                <a:ea typeface="Times New Roman"/>
                <a:cs typeface="Times New Roman"/>
                <a:sym typeface="Times New Roman"/>
              </a:rPr>
              <a:t>Technology</a:t>
            </a:r>
            <a:endParaRPr/>
          </a:p>
          <a:p>
            <a:pPr indent="0" lvl="1" marL="342900" rtl="0" algn="l">
              <a:lnSpc>
                <a:spcPct val="115000"/>
              </a:lnSpc>
              <a:spcBef>
                <a:spcPts val="0"/>
              </a:spcBef>
              <a:spcAft>
                <a:spcPts val="0"/>
              </a:spcAft>
              <a:buSzPct val="95238"/>
              <a:buNone/>
            </a:pPr>
            <a:r>
              <a:rPr lang="en-US" sz="2100">
                <a:latin typeface="Times New Roman"/>
                <a:ea typeface="Times New Roman"/>
                <a:cs typeface="Times New Roman"/>
                <a:sym typeface="Times New Roman"/>
              </a:rPr>
              <a:t>New technology used for implementation </a:t>
            </a:r>
            <a:endParaRPr/>
          </a:p>
          <a:p>
            <a:pPr indent="-342900" lvl="0" marL="457200" rtl="0" algn="l">
              <a:lnSpc>
                <a:spcPct val="115000"/>
              </a:lnSpc>
              <a:spcBef>
                <a:spcPts val="0"/>
              </a:spcBef>
              <a:spcAft>
                <a:spcPts val="0"/>
              </a:spcAft>
              <a:buSzPct val="107142"/>
              <a:buChar char="●"/>
            </a:pPr>
            <a:r>
              <a:rPr lang="en-US" sz="2400">
                <a:latin typeface="Times New Roman"/>
                <a:ea typeface="Times New Roman"/>
                <a:cs typeface="Times New Roman"/>
                <a:sym typeface="Times New Roman"/>
              </a:rPr>
              <a:t>Structure</a:t>
            </a:r>
            <a:endParaRPr/>
          </a:p>
          <a:p>
            <a:pPr indent="0" lvl="1" marL="342900" rtl="0" algn="l">
              <a:lnSpc>
                <a:spcPct val="115000"/>
              </a:lnSpc>
              <a:spcBef>
                <a:spcPts val="0"/>
              </a:spcBef>
              <a:spcAft>
                <a:spcPts val="0"/>
              </a:spcAft>
              <a:buSzPct val="95238"/>
              <a:buNone/>
            </a:pPr>
            <a:r>
              <a:rPr lang="en-US" sz="2100">
                <a:latin typeface="Times New Roman"/>
                <a:ea typeface="Times New Roman"/>
                <a:cs typeface="Times New Roman"/>
                <a:sym typeface="Times New Roman"/>
              </a:rPr>
              <a:t>Organization structure : Projectized / Strong Matrix / Weak matrix/ Open</a:t>
            </a:r>
            <a:endParaRPr/>
          </a:p>
          <a:p>
            <a:pPr indent="-342900" lvl="0" marL="457200" rtl="0" algn="l">
              <a:lnSpc>
                <a:spcPct val="115000"/>
              </a:lnSpc>
              <a:spcBef>
                <a:spcPts val="0"/>
              </a:spcBef>
              <a:spcAft>
                <a:spcPts val="0"/>
              </a:spcAft>
              <a:buSzPct val="107142"/>
              <a:buChar char="●"/>
            </a:pPr>
            <a:r>
              <a:rPr lang="en-US" sz="2400">
                <a:latin typeface="Times New Roman"/>
                <a:ea typeface="Times New Roman"/>
                <a:cs typeface="Times New Roman"/>
                <a:sym typeface="Times New Roman"/>
              </a:rPr>
              <a:t>Task</a:t>
            </a:r>
            <a:endParaRPr/>
          </a:p>
          <a:p>
            <a:pPr indent="0" lvl="1" marL="0" rtl="0" algn="l">
              <a:lnSpc>
                <a:spcPct val="115000"/>
              </a:lnSpc>
              <a:spcBef>
                <a:spcPts val="750"/>
              </a:spcBef>
              <a:spcAft>
                <a:spcPts val="0"/>
              </a:spcAft>
              <a:buSzPct val="95238"/>
              <a:buNone/>
            </a:pPr>
            <a:r>
              <a:rPr lang="en-US" sz="2100">
                <a:latin typeface="Times New Roman"/>
                <a:ea typeface="Times New Roman"/>
                <a:cs typeface="Times New Roman"/>
                <a:sym typeface="Times New Roman"/>
              </a:rPr>
              <a:t>       Activities are carried out for the first time  </a:t>
            </a:r>
            <a:endParaRPr/>
          </a:p>
          <a:p>
            <a:pPr indent="-228600" lvl="0" marL="457200" rtl="0" algn="l">
              <a:lnSpc>
                <a:spcPct val="115000"/>
              </a:lnSpc>
              <a:spcBef>
                <a:spcPts val="0"/>
              </a:spcBef>
              <a:spcAft>
                <a:spcPts val="0"/>
              </a:spcAft>
              <a:buSzPct val="107142"/>
              <a:buNone/>
            </a:pPr>
            <a:r>
              <a:t/>
            </a:r>
            <a:endParaRPr sz="2400">
              <a:latin typeface="Times New Roman"/>
              <a:ea typeface="Times New Roman"/>
              <a:cs typeface="Times New Roman"/>
              <a:sym typeface="Times New Roman"/>
            </a:endParaRPr>
          </a:p>
          <a:p>
            <a:pPr indent="-342900" lvl="0" marL="457200" rtl="0" algn="l">
              <a:lnSpc>
                <a:spcPct val="115000"/>
              </a:lnSpc>
              <a:spcBef>
                <a:spcPts val="0"/>
              </a:spcBef>
              <a:spcAft>
                <a:spcPts val="0"/>
              </a:spcAft>
              <a:buSzPct val="107142"/>
              <a:buChar char="●"/>
            </a:pPr>
            <a:r>
              <a:rPr lang="en-US" sz="2400">
                <a:latin typeface="Times New Roman"/>
                <a:ea typeface="Times New Roman"/>
                <a:cs typeface="Times New Roman"/>
                <a:sym typeface="Times New Roman"/>
              </a:rPr>
              <a:t>Complexity: </a:t>
            </a:r>
            <a:endParaRPr sz="2400">
              <a:latin typeface="Times New Roman"/>
              <a:ea typeface="Times New Roman"/>
              <a:cs typeface="Times New Roman"/>
              <a:sym typeface="Times New Roman"/>
            </a:endParaRPr>
          </a:p>
          <a:p>
            <a:pPr indent="0" lvl="0" marL="0" rtl="0" algn="l">
              <a:lnSpc>
                <a:spcPct val="115000"/>
              </a:lnSpc>
              <a:spcBef>
                <a:spcPts val="0"/>
              </a:spcBef>
              <a:spcAft>
                <a:spcPts val="0"/>
              </a:spcAft>
              <a:buSzPct val="107142"/>
              <a:buNone/>
            </a:pPr>
            <a:r>
              <a:rPr lang="en-US" sz="2400">
                <a:latin typeface="Times New Roman"/>
                <a:ea typeface="Times New Roman"/>
                <a:cs typeface="Times New Roman"/>
                <a:sym typeface="Times New Roman"/>
              </a:rPr>
              <a:t>	As software grows more complex, the likelihood of risks such as miscommunication, errors, and delays increases.</a:t>
            </a:r>
            <a:endParaRPr/>
          </a:p>
          <a:p>
            <a:pPr indent="-228600" lvl="0" marL="457200" rtl="0" algn="l">
              <a:lnSpc>
                <a:spcPct val="115000"/>
              </a:lnSpc>
              <a:spcBef>
                <a:spcPts val="0"/>
              </a:spcBef>
              <a:spcAft>
                <a:spcPts val="0"/>
              </a:spcAft>
              <a:buSzPct val="107142"/>
              <a:buNone/>
            </a:pPr>
            <a:r>
              <a:t/>
            </a:r>
            <a:endParaRPr sz="2400">
              <a:latin typeface="Times New Roman"/>
              <a:ea typeface="Times New Roman"/>
              <a:cs typeface="Times New Roman"/>
              <a:sym typeface="Times New Roman"/>
            </a:endParaRPr>
          </a:p>
          <a:p>
            <a:pPr indent="-342900" lvl="0" marL="457200" rtl="0" algn="l">
              <a:lnSpc>
                <a:spcPct val="115000"/>
              </a:lnSpc>
              <a:spcBef>
                <a:spcPts val="0"/>
              </a:spcBef>
              <a:spcAft>
                <a:spcPts val="0"/>
              </a:spcAft>
              <a:buSzPct val="107142"/>
              <a:buChar char="●"/>
            </a:pPr>
            <a:r>
              <a:rPr lang="en-US" sz="2400">
                <a:latin typeface="Times New Roman"/>
                <a:ea typeface="Times New Roman"/>
                <a:cs typeface="Times New Roman"/>
                <a:sym typeface="Times New Roman"/>
              </a:rPr>
              <a:t>External Factors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US">
                <a:solidFill>
                  <a:srgbClr val="0070C0"/>
                </a:solidFill>
                <a:latin typeface="Times New Roman"/>
                <a:ea typeface="Times New Roman"/>
                <a:cs typeface="Times New Roman"/>
                <a:sym typeface="Times New Roman"/>
              </a:rPr>
              <a:t>Approaches to resolve risks</a:t>
            </a:r>
            <a:endParaRPr/>
          </a:p>
        </p:txBody>
      </p:sp>
      <p:sp>
        <p:nvSpPr>
          <p:cNvPr id="106" name="Google Shape;106;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US"/>
              <a:t>Proactive approaches &amp; reactive approach</a:t>
            </a:r>
            <a:endParaRPr/>
          </a:p>
          <a:p>
            <a:pPr indent="-342900" lvl="0" marL="457200" rtl="0" algn="l">
              <a:lnSpc>
                <a:spcPct val="115000"/>
              </a:lnSpc>
              <a:spcBef>
                <a:spcPts val="0"/>
              </a:spcBef>
              <a:spcAft>
                <a:spcPts val="0"/>
              </a:spcAft>
              <a:buSzPts val="1800"/>
              <a:buChar char="●"/>
            </a:pPr>
            <a:r>
              <a:rPr b="1" lang="en-US">
                <a:solidFill>
                  <a:srgbClr val="0070C0"/>
                </a:solidFill>
                <a:latin typeface="Times New Roman"/>
                <a:ea typeface="Times New Roman"/>
                <a:cs typeface="Times New Roman"/>
                <a:sym typeface="Times New Roman"/>
              </a:rPr>
              <a:t>Proactive:</a:t>
            </a:r>
            <a:endParaRPr/>
          </a:p>
          <a:p>
            <a:pPr indent="-342900" lvl="0" marL="457200" rtl="0" algn="l">
              <a:lnSpc>
                <a:spcPct val="115000"/>
              </a:lnSpc>
              <a:spcBef>
                <a:spcPts val="0"/>
              </a:spcBef>
              <a:spcAft>
                <a:spcPts val="0"/>
              </a:spcAft>
              <a:buSzPts val="1800"/>
              <a:buChar char="●"/>
            </a:pPr>
            <a:r>
              <a:rPr lang="en-US"/>
              <a:t>Proactive approaches aim to </a:t>
            </a:r>
            <a:r>
              <a:rPr b="1" lang="en-US"/>
              <a:t>anticipate and prevent risks</a:t>
            </a:r>
            <a:r>
              <a:rPr lang="en-US"/>
              <a:t> before they occur.</a:t>
            </a:r>
            <a:endParaRPr/>
          </a:p>
          <a:p>
            <a:pPr indent="-342900" lvl="0" marL="457200" rtl="0" algn="l">
              <a:lnSpc>
                <a:spcPct val="115000"/>
              </a:lnSpc>
              <a:spcBef>
                <a:spcPts val="0"/>
              </a:spcBef>
              <a:spcAft>
                <a:spcPts val="0"/>
              </a:spcAft>
              <a:buSzPts val="1800"/>
              <a:buChar char="●"/>
            </a:pPr>
            <a:r>
              <a:rPr lang="en-US"/>
              <a:t>The goal is to identify potential risks early in the project and take steps to either avoid them or reduce their likelihood and impact.</a:t>
            </a:r>
            <a:endParaRPr/>
          </a:p>
          <a:p>
            <a:pPr indent="-228600" lvl="0" marL="457200" rtl="0" algn="l">
              <a:lnSpc>
                <a:spcPct val="115000"/>
              </a:lnSpc>
              <a:spcBef>
                <a:spcPts val="0"/>
              </a:spcBef>
              <a:spcAft>
                <a:spcPts val="0"/>
              </a:spcAft>
              <a:buSzPts val="1800"/>
              <a:buNone/>
            </a:pPr>
            <a:r>
              <a:t/>
            </a:r>
            <a:endParaRPr i="1"/>
          </a:p>
          <a:p>
            <a:pPr indent="-317500" lvl="1" marL="914400" rtl="0" algn="l">
              <a:lnSpc>
                <a:spcPct val="115000"/>
              </a:lnSpc>
              <a:spcBef>
                <a:spcPts val="0"/>
              </a:spcBef>
              <a:spcAft>
                <a:spcPts val="0"/>
              </a:spcAft>
              <a:buSzPts val="1400"/>
              <a:buChar char="○"/>
            </a:pPr>
            <a:r>
              <a:rPr i="1" lang="en-US"/>
              <a:t>Example:</a:t>
            </a:r>
            <a:r>
              <a:rPr lang="en-US"/>
              <a:t> In a project, if you're using a new, untested technology, you identify the risk that the team may face difficulties due to a lack of expertise. </a:t>
            </a:r>
            <a:endParaRPr/>
          </a:p>
          <a:p>
            <a:pPr indent="-317500" lvl="1" marL="914400" rtl="0" algn="l">
              <a:lnSpc>
                <a:spcPct val="115000"/>
              </a:lnSpc>
              <a:spcBef>
                <a:spcPts val="0"/>
              </a:spcBef>
              <a:spcAft>
                <a:spcPts val="0"/>
              </a:spcAft>
              <a:buSzPts val="1400"/>
              <a:buChar char="○"/>
            </a:pPr>
            <a:r>
              <a:rPr lang="en-US"/>
              <a:t>You arrange for training in advance, ensuring the team can handle it.</a:t>
            </a:r>
            <a:endParaRPr/>
          </a:p>
        </p:txBody>
      </p:sp>
      <p:sp>
        <p:nvSpPr>
          <p:cNvPr id="107" name="Google Shape;107;p7"/>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08" name="Google Shape;10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anim calcmode="lin" valueType="num">
                                      <p:cBhvr additive="base">
                                        <p:cTn dur="500"/>
                                        <p:tgtEl>
                                          <p:spTgt spid="10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anim calcmode="lin" valueType="num">
                                      <p:cBhvr additive="base">
                                        <p:cTn dur="500"/>
                                        <p:tgtEl>
                                          <p:spTgt spid="10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anim calcmode="lin" valueType="num">
                                      <p:cBhvr additive="base">
                                        <p:cTn dur="500"/>
                                        <p:tgtEl>
                                          <p:spTgt spid="10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anim calcmode="lin" valueType="num">
                                      <p:cBhvr additive="base">
                                        <p:cTn dur="500"/>
                                        <p:tgtEl>
                                          <p:spTgt spid="10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anim calcmode="lin" valueType="num">
                                      <p:cBhvr additive="base">
                                        <p:cTn dur="500"/>
                                        <p:tgtEl>
                                          <p:spTgt spid="10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5" st="5"/>
                                            </p:txEl>
                                          </p:spTgt>
                                        </p:tgtEl>
                                        <p:attrNameLst>
                                          <p:attrName>style.visibility</p:attrName>
                                        </p:attrNameLst>
                                      </p:cBhvr>
                                      <p:to>
                                        <p:strVal val="visible"/>
                                      </p:to>
                                    </p:set>
                                    <p:anim calcmode="lin" valueType="num">
                                      <p:cBhvr additive="base">
                                        <p:cTn dur="500"/>
                                        <p:tgtEl>
                                          <p:spTgt spid="10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6" st="6"/>
                                            </p:txEl>
                                          </p:spTgt>
                                        </p:tgtEl>
                                        <p:attrNameLst>
                                          <p:attrName>style.visibility</p:attrName>
                                        </p:attrNameLst>
                                      </p:cBhvr>
                                      <p:to>
                                        <p:strVal val="visible"/>
                                      </p:to>
                                    </p:set>
                                    <p:anim calcmode="lin" valueType="num">
                                      <p:cBhvr additive="base">
                                        <p:cTn dur="500"/>
                                        <p:tgtEl>
                                          <p:spTgt spid="10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txBox="1"/>
          <p:nvPr>
            <p:ph type="title"/>
          </p:nvPr>
        </p:nvSpPr>
        <p:spPr>
          <a:xfrm>
            <a:off x="628650" y="1"/>
            <a:ext cx="7886700" cy="639566"/>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US"/>
              <a:t>Risk Management </a:t>
            </a:r>
            <a:endParaRPr/>
          </a:p>
        </p:txBody>
      </p:sp>
      <p:sp>
        <p:nvSpPr>
          <p:cNvPr id="114" name="Google Shape;114;p8"/>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15" name="Google Shape;115;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16" name="Google Shape;116;p8"/>
          <p:cNvSpPr txBox="1"/>
          <p:nvPr/>
        </p:nvSpPr>
        <p:spPr>
          <a:xfrm>
            <a:off x="628650" y="744347"/>
            <a:ext cx="7795260" cy="3884803"/>
          </a:xfrm>
          <a:prstGeom prst="rect">
            <a:avLst/>
          </a:prstGeom>
          <a:noFill/>
          <a:ln>
            <a:noFill/>
          </a:ln>
        </p:spPr>
        <p:txBody>
          <a:bodyPr anchorCtr="0" anchor="t" bIns="34275" lIns="68575" spcFirstLastPara="1" rIns="68575" wrap="square" tIns="34275">
            <a:normAutofit fontScale="85000" lnSpcReduction="20000"/>
          </a:bodyPr>
          <a:lstStyle/>
          <a:p>
            <a:pPr indent="-228600" lvl="0" marL="228600" marR="0" rtl="0" algn="l">
              <a:lnSpc>
                <a:spcPct val="90000"/>
              </a:lnSpc>
              <a:spcBef>
                <a:spcPts val="0"/>
              </a:spcBef>
              <a:spcAft>
                <a:spcPts val="0"/>
              </a:spcAft>
              <a:buClr>
                <a:srgbClr val="000000"/>
              </a:buClr>
              <a:buSzPct val="100000"/>
              <a:buFont typeface="Arial"/>
              <a:buNone/>
            </a:pPr>
            <a:r>
              <a:rPr b="1" i="0" lang="en-US" sz="2400" u="none" cap="none" strike="noStrike">
                <a:solidFill>
                  <a:srgbClr val="0070C0"/>
                </a:solidFill>
                <a:latin typeface="Times New Roman"/>
                <a:ea typeface="Times New Roman"/>
                <a:cs typeface="Times New Roman"/>
                <a:sym typeface="Times New Roman"/>
              </a:rPr>
              <a:t>Reactive:</a:t>
            </a:r>
            <a:endParaRPr/>
          </a:p>
          <a:p>
            <a:pPr indent="-201930" lvl="0" marL="228600" marR="0" rtl="0" algn="just">
              <a:lnSpc>
                <a:spcPct val="90000"/>
              </a:lnSpc>
              <a:spcBef>
                <a:spcPts val="1000"/>
              </a:spcBef>
              <a:spcAft>
                <a:spcPts val="0"/>
              </a:spcAft>
              <a:buClr>
                <a:srgbClr val="000000"/>
              </a:buClr>
              <a:buSzPct val="100000"/>
              <a:buFont typeface="Arial"/>
              <a:buChar char="•"/>
            </a:pPr>
            <a:r>
              <a:rPr b="0" i="0" lang="en-US" sz="2800" u="none" cap="none" strike="noStrike">
                <a:solidFill>
                  <a:schemeClr val="dk1"/>
                </a:solidFill>
                <a:latin typeface="Times New Roman"/>
                <a:ea typeface="Times New Roman"/>
                <a:cs typeface="Times New Roman"/>
                <a:sym typeface="Times New Roman"/>
              </a:rPr>
              <a:t>Reactive approaches focus on responding to risks after they have occurred. </a:t>
            </a:r>
            <a:endParaRPr b="0" i="0" sz="2800" u="none" cap="none" strike="noStrike">
              <a:solidFill>
                <a:schemeClr val="dk1"/>
              </a:solidFill>
              <a:latin typeface="Times New Roman"/>
              <a:ea typeface="Times New Roman"/>
              <a:cs typeface="Times New Roman"/>
              <a:sym typeface="Times New Roman"/>
            </a:endParaRPr>
          </a:p>
          <a:p>
            <a:pPr indent="-201930" lvl="0" marL="228600" marR="0" rtl="0" algn="just">
              <a:lnSpc>
                <a:spcPct val="90000"/>
              </a:lnSpc>
              <a:spcBef>
                <a:spcPts val="1000"/>
              </a:spcBef>
              <a:spcAft>
                <a:spcPts val="0"/>
              </a:spcAft>
              <a:buClr>
                <a:srgbClr val="000000"/>
              </a:buClr>
              <a:buSzPct val="100000"/>
              <a:buFont typeface="Arial"/>
              <a:buChar char="•"/>
            </a:pPr>
            <a:r>
              <a:rPr b="0" i="0" lang="en-US" sz="2800" u="none" cap="none" strike="noStrike">
                <a:solidFill>
                  <a:schemeClr val="dk1"/>
                </a:solidFill>
                <a:latin typeface="Times New Roman"/>
                <a:ea typeface="Times New Roman"/>
                <a:cs typeface="Times New Roman"/>
                <a:sym typeface="Times New Roman"/>
              </a:rPr>
              <a:t>This means dealing with risks once they manifest and taking steps to minimize their impact or resolve them after the fact.</a:t>
            </a:r>
            <a:endParaRPr/>
          </a:p>
          <a:p>
            <a:pPr indent="-201930" lvl="0" marL="228600" marR="0" rtl="0" algn="just">
              <a:lnSpc>
                <a:spcPct val="90000"/>
              </a:lnSpc>
              <a:spcBef>
                <a:spcPts val="1000"/>
              </a:spcBef>
              <a:spcAft>
                <a:spcPts val="0"/>
              </a:spcAft>
              <a:buClr>
                <a:srgbClr val="000000"/>
              </a:buClr>
              <a:buSzPct val="100000"/>
              <a:buFont typeface="Arial"/>
              <a:buChar char="•"/>
            </a:pPr>
            <a:r>
              <a:rPr b="0" i="0" lang="en-US" sz="2800" u="none" cap="none" strike="noStrike">
                <a:solidFill>
                  <a:schemeClr val="dk1"/>
                </a:solidFill>
                <a:latin typeface="Times New Roman"/>
                <a:ea typeface="Times New Roman"/>
                <a:cs typeface="Times New Roman"/>
                <a:sym typeface="Times New Roman"/>
              </a:rPr>
              <a:t>Risk Acceptance: Some risks cannot be avoided or mitigated cost-effectively, so they are accepted and dealt with when they occur.</a:t>
            </a:r>
            <a:endParaRPr/>
          </a:p>
          <a:p>
            <a:pPr indent="-205740" lvl="1" marL="685800" marR="0" rtl="0" algn="just">
              <a:lnSpc>
                <a:spcPct val="90000"/>
              </a:lnSpc>
              <a:spcBef>
                <a:spcPts val="500"/>
              </a:spcBef>
              <a:spcAft>
                <a:spcPts val="0"/>
              </a:spcAft>
              <a:buClr>
                <a:srgbClr val="000000"/>
              </a:buClr>
              <a:buSzPct val="100000"/>
              <a:buFont typeface="Arial"/>
              <a:buChar char="•"/>
            </a:pPr>
            <a:r>
              <a:rPr b="0" i="0" lang="en-US" sz="2400" u="none" cap="none" strike="noStrike">
                <a:solidFill>
                  <a:schemeClr val="dk1"/>
                </a:solidFill>
                <a:latin typeface="Times New Roman"/>
                <a:ea typeface="Times New Roman"/>
                <a:cs typeface="Times New Roman"/>
                <a:sym typeface="Times New Roman"/>
              </a:rPr>
              <a:t>Example: If a project experiences minor delays due to a supplier not delivering materials on time, </a:t>
            </a:r>
            <a:endParaRPr b="0" i="0" sz="2400" u="none" cap="none" strike="noStrike">
              <a:solidFill>
                <a:schemeClr val="dk1"/>
              </a:solidFill>
              <a:latin typeface="Times New Roman"/>
              <a:ea typeface="Times New Roman"/>
              <a:cs typeface="Times New Roman"/>
              <a:sym typeface="Times New Roman"/>
            </a:endParaRPr>
          </a:p>
          <a:p>
            <a:pPr indent="-205740" lvl="1" marL="685800" marR="0" rtl="0" algn="just">
              <a:lnSpc>
                <a:spcPct val="90000"/>
              </a:lnSpc>
              <a:spcBef>
                <a:spcPts val="500"/>
              </a:spcBef>
              <a:spcAft>
                <a:spcPts val="0"/>
              </a:spcAft>
              <a:buClr>
                <a:srgbClr val="000000"/>
              </a:buClr>
              <a:buSzPct val="100000"/>
              <a:buFont typeface="Arial"/>
              <a:buChar char="•"/>
            </a:pPr>
            <a:r>
              <a:rPr b="0" i="0" lang="en-US" sz="2400" u="none" cap="none" strike="noStrike">
                <a:solidFill>
                  <a:schemeClr val="dk1"/>
                </a:solidFill>
                <a:latin typeface="Times New Roman"/>
                <a:ea typeface="Times New Roman"/>
                <a:cs typeface="Times New Roman"/>
                <a:sym typeface="Times New Roman"/>
              </a:rPr>
              <a:t>but the delay does not significantly affect the project, </a:t>
            </a:r>
            <a:endParaRPr b="0" i="0" sz="2400" u="none" cap="none" strike="noStrike">
              <a:solidFill>
                <a:schemeClr val="dk1"/>
              </a:solidFill>
              <a:latin typeface="Times New Roman"/>
              <a:ea typeface="Times New Roman"/>
              <a:cs typeface="Times New Roman"/>
              <a:sym typeface="Times New Roman"/>
            </a:endParaRPr>
          </a:p>
          <a:p>
            <a:pPr indent="-205740" lvl="1" marL="685800" marR="0" rtl="0" algn="just">
              <a:lnSpc>
                <a:spcPct val="90000"/>
              </a:lnSpc>
              <a:spcBef>
                <a:spcPts val="500"/>
              </a:spcBef>
              <a:spcAft>
                <a:spcPts val="0"/>
              </a:spcAft>
              <a:buClr>
                <a:srgbClr val="000000"/>
              </a:buClr>
              <a:buSzPct val="100000"/>
              <a:buFont typeface="Arial"/>
              <a:buChar char="•"/>
            </a:pPr>
            <a:r>
              <a:rPr b="0" i="0" lang="en-US" sz="2400" u="none" cap="none" strike="noStrike">
                <a:solidFill>
                  <a:schemeClr val="dk1"/>
                </a:solidFill>
                <a:latin typeface="Times New Roman"/>
                <a:ea typeface="Times New Roman"/>
                <a:cs typeface="Times New Roman"/>
                <a:sym typeface="Times New Roman"/>
              </a:rPr>
              <a:t>the team accepts the risk and adjusts the schedule to accommodate it.</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9"/>
          <p:cNvSpPr txBox="1"/>
          <p:nvPr>
            <p:ph type="title"/>
          </p:nvPr>
        </p:nvSpPr>
        <p:spPr>
          <a:xfrm>
            <a:off x="628650" y="1"/>
            <a:ext cx="7886700" cy="639566"/>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US"/>
              <a:t>Boehm’s risk engineering task breakdown</a:t>
            </a:r>
            <a:endParaRPr/>
          </a:p>
        </p:txBody>
      </p:sp>
      <p:sp>
        <p:nvSpPr>
          <p:cNvPr id="122" name="Google Shape;122;p9"/>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23" name="Google Shape;12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24" name="Google Shape;124;p9"/>
          <p:cNvPicPr preferRelativeResize="0"/>
          <p:nvPr/>
        </p:nvPicPr>
        <p:blipFill rotWithShape="1">
          <a:blip r:embed="rId3">
            <a:alphaModFix/>
          </a:blip>
          <a:srcRect b="30155" l="20863" r="21651" t="27321"/>
          <a:stretch/>
        </p:blipFill>
        <p:spPr>
          <a:xfrm>
            <a:off x="575104" y="639566"/>
            <a:ext cx="8557466" cy="395730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0"/>
          <p:cNvSpPr txBox="1"/>
          <p:nvPr>
            <p:ph type="title"/>
          </p:nvPr>
        </p:nvSpPr>
        <p:spPr>
          <a:xfrm>
            <a:off x="628650" y="141890"/>
            <a:ext cx="8066033" cy="63956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US" sz="2700"/>
              <a:t>Boehm’s top  development risks &amp; reduction strategies</a:t>
            </a:r>
            <a:endParaRPr b="1" sz="2700"/>
          </a:p>
        </p:txBody>
      </p:sp>
      <p:sp>
        <p:nvSpPr>
          <p:cNvPr id="130" name="Google Shape;130;p10"/>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31" name="Google Shape;13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graphicFrame>
        <p:nvGraphicFramePr>
          <p:cNvPr id="132" name="Google Shape;132;p10"/>
          <p:cNvGraphicFramePr/>
          <p:nvPr/>
        </p:nvGraphicFramePr>
        <p:xfrm>
          <a:off x="274320" y="1069141"/>
          <a:ext cx="3000000" cy="3000000"/>
        </p:xfrm>
        <a:graphic>
          <a:graphicData uri="http://schemas.openxmlformats.org/drawingml/2006/table">
            <a:tbl>
              <a:tblPr>
                <a:noFill/>
                <a:tableStyleId>{B5908712-9C08-41E9-B8D7-394546BC224E}</a:tableStyleId>
              </a:tblPr>
              <a:tblGrid>
                <a:gridCol w="2918500"/>
                <a:gridCol w="5814000"/>
              </a:tblGrid>
              <a:tr h="458350">
                <a:tc>
                  <a:txBody>
                    <a:bodyPr/>
                    <a:lstStyle/>
                    <a:p>
                      <a:pPr indent="-342900" lvl="0" marL="342900" marR="0" rtl="0" algn="ctr">
                        <a:lnSpc>
                          <a:spcPct val="100000"/>
                        </a:lnSpc>
                        <a:spcBef>
                          <a:spcPts val="0"/>
                        </a:spcBef>
                        <a:spcAft>
                          <a:spcPts val="0"/>
                        </a:spcAft>
                        <a:buClr>
                          <a:schemeClr val="accent2"/>
                        </a:buClr>
                        <a:buSzPts val="1260"/>
                        <a:buFont typeface="Arial"/>
                        <a:buNone/>
                      </a:pPr>
                      <a:r>
                        <a:rPr b="1" i="1" lang="en-US" sz="2100" u="none" cap="none" strike="noStrike">
                          <a:solidFill>
                            <a:srgbClr val="0070C0"/>
                          </a:solidFill>
                          <a:latin typeface="Times"/>
                          <a:ea typeface="Times"/>
                          <a:cs typeface="Times"/>
                          <a:sym typeface="Times"/>
                        </a:rPr>
                        <a:t>Risk</a:t>
                      </a:r>
                      <a:endParaRPr b="1" i="0" sz="2100" u="none" cap="none" strike="noStrike">
                        <a:solidFill>
                          <a:srgbClr val="0070C0"/>
                        </a:solidFill>
                        <a:latin typeface="Arial"/>
                        <a:ea typeface="Arial"/>
                        <a:cs typeface="Arial"/>
                        <a:sym typeface="Arial"/>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accent2"/>
                        </a:buClr>
                        <a:buSzPts val="1260"/>
                        <a:buFont typeface="Arial"/>
                        <a:buNone/>
                      </a:pPr>
                      <a:r>
                        <a:rPr b="1" i="1" lang="en-US" sz="2100" u="none" cap="none" strike="noStrike">
                          <a:solidFill>
                            <a:srgbClr val="0070C0"/>
                          </a:solidFill>
                          <a:latin typeface="Times"/>
                          <a:ea typeface="Times"/>
                          <a:cs typeface="Times"/>
                          <a:sym typeface="Times"/>
                        </a:rPr>
                        <a:t>Risk reduction techniques</a:t>
                      </a:r>
                      <a:endParaRPr b="1" i="0" sz="2100" u="none" cap="none" strike="noStrike">
                        <a:solidFill>
                          <a:srgbClr val="0070C0"/>
                        </a:solidFill>
                        <a:latin typeface="Arial"/>
                        <a:ea typeface="Arial"/>
                        <a:cs typeface="Arial"/>
                        <a:sym typeface="Arial"/>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50025">
                <a:tc>
                  <a:txBody>
                    <a:bodyPr/>
                    <a:lstStyle/>
                    <a:p>
                      <a:pPr indent="-342900" lvl="0" marL="34290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a:ea typeface="Times"/>
                          <a:cs typeface="Times"/>
                          <a:sym typeface="Times"/>
                        </a:rPr>
                        <a:t>Personnel shortfalls</a:t>
                      </a:r>
                      <a:endParaRPr b="0" i="0" sz="1800" u="none" cap="none" strike="noStrike">
                        <a:solidFill>
                          <a:schemeClr val="dk1"/>
                        </a:solidFill>
                        <a:latin typeface="Arial"/>
                        <a:ea typeface="Arial"/>
                        <a:cs typeface="Arial"/>
                        <a:sym typeface="Arial"/>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44450" lvl="0" marL="4445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a:ea typeface="Times"/>
                          <a:cs typeface="Times"/>
                          <a:sym typeface="Times"/>
                        </a:rPr>
                        <a:t>Staffing with top talent; job matching; teambuilding; training and career development; early scheduling of key personnel</a:t>
                      </a:r>
                      <a:endParaRPr b="0" i="0" sz="1800" u="none" cap="none" strike="noStrike">
                        <a:solidFill>
                          <a:schemeClr val="dk1"/>
                        </a:solidFill>
                        <a:latin typeface="Arial"/>
                        <a:ea typeface="Arial"/>
                        <a:cs typeface="Arial"/>
                        <a:sym typeface="Arial"/>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91525">
                <a:tc>
                  <a:txBody>
                    <a:bodyPr/>
                    <a:lstStyle/>
                    <a:p>
                      <a:pPr indent="-44450" lvl="0" marL="4445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a:ea typeface="Times"/>
                          <a:cs typeface="Times"/>
                          <a:sym typeface="Times"/>
                        </a:rPr>
                        <a:t>Unrealistic time and cost estimates</a:t>
                      </a:r>
                      <a:endParaRPr b="0" i="0" sz="1800" u="none" cap="none" strike="noStrike">
                        <a:solidFill>
                          <a:schemeClr val="dk1"/>
                        </a:solidFill>
                        <a:latin typeface="Arial"/>
                        <a:ea typeface="Arial"/>
                        <a:cs typeface="Arial"/>
                        <a:sym typeface="Arial"/>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44450" lvl="0" marL="4445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a:ea typeface="Times"/>
                          <a:cs typeface="Times"/>
                          <a:sym typeface="Times"/>
                        </a:rPr>
                        <a:t>Multiple estimation techniques; design to cost; incremental development; recording and analysis of past projects; standardization of methods</a:t>
                      </a:r>
                      <a:endParaRPr b="0" i="0" sz="1800" u="none" cap="none" strike="noStrike">
                        <a:solidFill>
                          <a:schemeClr val="dk1"/>
                        </a:solidFill>
                        <a:latin typeface="Arial"/>
                        <a:ea typeface="Arial"/>
                        <a:cs typeface="Arial"/>
                        <a:sym typeface="Arial"/>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54375">
                <a:tc>
                  <a:txBody>
                    <a:bodyPr/>
                    <a:lstStyle/>
                    <a:p>
                      <a:pPr indent="-44450" lvl="0" marL="4445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a:ea typeface="Times"/>
                          <a:cs typeface="Times"/>
                          <a:sym typeface="Times"/>
                        </a:rPr>
                        <a:t>Developing the wrong software functions</a:t>
                      </a:r>
                      <a:endParaRPr b="0" i="0" sz="1800" u="none" cap="none" strike="noStrike">
                        <a:solidFill>
                          <a:schemeClr val="dk1"/>
                        </a:solidFill>
                        <a:latin typeface="Arial"/>
                        <a:ea typeface="Arial"/>
                        <a:cs typeface="Arial"/>
                        <a:sym typeface="Arial"/>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44450" lvl="0" marL="4445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a:ea typeface="Times"/>
                          <a:cs typeface="Times"/>
                          <a:sym typeface="Times"/>
                        </a:rPr>
                        <a:t>Improved software evaluation; formal specification methods; user surveys; prototyping; early user manuals</a:t>
                      </a:r>
                      <a:endParaRPr b="0" i="0" sz="1800" u="none" cap="none" strike="noStrike">
                        <a:solidFill>
                          <a:schemeClr val="dk1"/>
                        </a:solidFill>
                        <a:latin typeface="Arial"/>
                        <a:ea typeface="Arial"/>
                        <a:cs typeface="Arial"/>
                        <a:sym typeface="Arial"/>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17225">
                <a:tc>
                  <a:txBody>
                    <a:bodyPr/>
                    <a:lstStyle/>
                    <a:p>
                      <a:pPr indent="-44450" lvl="0" marL="4445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a:ea typeface="Times"/>
                          <a:cs typeface="Times"/>
                          <a:sym typeface="Times"/>
                        </a:rPr>
                        <a:t>Developing the wrong user interface</a:t>
                      </a:r>
                      <a:endParaRPr b="0" i="0" sz="1800" u="none" cap="none" strike="noStrike">
                        <a:solidFill>
                          <a:schemeClr val="dk1"/>
                        </a:solidFill>
                        <a:latin typeface="Arial"/>
                        <a:ea typeface="Arial"/>
                        <a:cs typeface="Arial"/>
                        <a:sym typeface="Arial"/>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44450" lvl="0" marL="4445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a:ea typeface="Times"/>
                          <a:cs typeface="Times"/>
                          <a:sym typeface="Times"/>
                        </a:rPr>
                        <a:t>Prototyping; task analysis; user involvement</a:t>
                      </a:r>
                      <a:endParaRPr b="0" i="0" sz="1800" u="none" cap="none" strike="noStrike">
                        <a:solidFill>
                          <a:schemeClr val="dk1"/>
                        </a:solidFill>
                        <a:latin typeface="Arial"/>
                        <a:ea typeface="Arial"/>
                        <a:cs typeface="Arial"/>
                        <a:sym typeface="Arial"/>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1"/>
          <p:cNvSpPr txBox="1"/>
          <p:nvPr>
            <p:ph type="title"/>
          </p:nvPr>
        </p:nvSpPr>
        <p:spPr>
          <a:xfrm>
            <a:off x="628650" y="-96009"/>
            <a:ext cx="8066033" cy="63956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US" sz="2700"/>
              <a:t>Boehm’s top development risks &amp; reduction strategies</a:t>
            </a:r>
            <a:endParaRPr b="1" sz="2700"/>
          </a:p>
        </p:txBody>
      </p:sp>
      <p:sp>
        <p:nvSpPr>
          <p:cNvPr id="138" name="Google Shape;138;p11"/>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39" name="Google Shape;13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graphicFrame>
        <p:nvGraphicFramePr>
          <p:cNvPr id="140" name="Google Shape;140;p11"/>
          <p:cNvGraphicFramePr/>
          <p:nvPr/>
        </p:nvGraphicFramePr>
        <p:xfrm>
          <a:off x="388226" y="543557"/>
          <a:ext cx="3000000" cy="3000000"/>
        </p:xfrm>
        <a:graphic>
          <a:graphicData uri="http://schemas.openxmlformats.org/drawingml/2006/table">
            <a:tbl>
              <a:tblPr>
                <a:noFill/>
                <a:tableStyleId>{B5908712-9C08-41E9-B8D7-394546BC224E}</a:tableStyleId>
              </a:tblPr>
              <a:tblGrid>
                <a:gridCol w="2724725"/>
                <a:gridCol w="5822150"/>
              </a:tblGrid>
              <a:tr h="458350">
                <a:tc>
                  <a:txBody>
                    <a:bodyPr/>
                    <a:lstStyle/>
                    <a:p>
                      <a:pPr indent="-342900" lvl="0" marL="342900" marR="0" rtl="0" algn="ctr">
                        <a:lnSpc>
                          <a:spcPct val="100000"/>
                        </a:lnSpc>
                        <a:spcBef>
                          <a:spcPts val="0"/>
                        </a:spcBef>
                        <a:spcAft>
                          <a:spcPts val="0"/>
                        </a:spcAft>
                        <a:buClr>
                          <a:schemeClr val="accent2"/>
                        </a:buClr>
                        <a:buSzPts val="1260"/>
                        <a:buFont typeface="Arial"/>
                        <a:buNone/>
                      </a:pPr>
                      <a:r>
                        <a:rPr b="0" i="0" lang="en-US" sz="2100" u="none" cap="none" strike="noStrike">
                          <a:solidFill>
                            <a:srgbClr val="0070C0"/>
                          </a:solidFill>
                          <a:latin typeface="Times New Roman"/>
                          <a:ea typeface="Times New Roman"/>
                          <a:cs typeface="Times New Roman"/>
                          <a:sym typeface="Times New Roman"/>
                        </a:rPr>
                        <a:t>Risk</a:t>
                      </a:r>
                      <a:endParaRPr b="0" i="0" sz="2100" u="none" cap="none" strike="noStrike">
                        <a:solidFill>
                          <a:srgbClr val="0070C0"/>
                        </a:solidFill>
                        <a:latin typeface="Times New Roman"/>
                        <a:ea typeface="Times New Roman"/>
                        <a:cs typeface="Times New Roman"/>
                        <a:sym typeface="Times New Roman"/>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accent2"/>
                        </a:buClr>
                        <a:buSzPts val="1260"/>
                        <a:buFont typeface="Arial"/>
                        <a:buNone/>
                      </a:pPr>
                      <a:r>
                        <a:rPr b="0" i="0" lang="en-US" sz="2100" u="none" cap="none" strike="noStrike">
                          <a:solidFill>
                            <a:srgbClr val="0070C0"/>
                          </a:solidFill>
                          <a:latin typeface="Times New Roman"/>
                          <a:ea typeface="Times New Roman"/>
                          <a:cs typeface="Times New Roman"/>
                          <a:sym typeface="Times New Roman"/>
                        </a:rPr>
                        <a:t>Risk reduction techniques</a:t>
                      </a:r>
                      <a:endParaRPr b="0" i="0" sz="2100" u="none" cap="none" strike="noStrike">
                        <a:solidFill>
                          <a:srgbClr val="0070C0"/>
                        </a:solidFill>
                        <a:latin typeface="Times New Roman"/>
                        <a:ea typeface="Times New Roman"/>
                        <a:cs typeface="Times New Roman"/>
                        <a:sym typeface="Times New Roman"/>
                      </a:endParaRPr>
                    </a:p>
                  </a:txBody>
                  <a:tcPr marT="34275" marB="3427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11225">
                <a:tc>
                  <a:txBody>
                    <a:bodyPr/>
                    <a:lstStyle/>
                    <a:p>
                      <a:pPr indent="0" lvl="0" marL="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New Roman"/>
                          <a:ea typeface="Times New Roman"/>
                          <a:cs typeface="Times New Roman"/>
                          <a:sym typeface="Times New Roman"/>
                        </a:rPr>
                        <a:t>Gold plating</a:t>
                      </a:r>
                      <a:endParaRPr/>
                    </a:p>
                  </a:txBody>
                  <a:tcPr marT="34300" marB="3430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New Roman"/>
                          <a:ea typeface="Times New Roman"/>
                          <a:cs typeface="Times New Roman"/>
                          <a:sym typeface="Times New Roman"/>
                        </a:rPr>
                        <a:t>Requirements scrubbing, prototyping,</a:t>
                      </a:r>
                      <a:endParaRPr/>
                    </a:p>
                    <a:p>
                      <a:pPr indent="0" lvl="0" marL="0" marR="0" rtl="0" algn="l">
                        <a:lnSpc>
                          <a:spcPct val="100000"/>
                        </a:lnSpc>
                        <a:spcBef>
                          <a:spcPts val="360"/>
                        </a:spcBef>
                        <a:spcAft>
                          <a:spcPts val="0"/>
                        </a:spcAft>
                        <a:buClr>
                          <a:schemeClr val="accent2"/>
                        </a:buClr>
                        <a:buSzPts val="1080"/>
                        <a:buFont typeface="Arial"/>
                        <a:buNone/>
                      </a:pPr>
                      <a:r>
                        <a:rPr b="0" i="0" lang="en-US" sz="1800" u="none" cap="none" strike="noStrike">
                          <a:solidFill>
                            <a:schemeClr val="dk1"/>
                          </a:solidFill>
                          <a:latin typeface="Times New Roman"/>
                          <a:ea typeface="Times New Roman"/>
                          <a:cs typeface="Times New Roman"/>
                          <a:sym typeface="Times New Roman"/>
                        </a:rPr>
                        <a:t>design to cost</a:t>
                      </a:r>
                      <a:endParaRPr/>
                    </a:p>
                  </a:txBody>
                  <a:tcPr marT="34300" marB="3430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17225">
                <a:tc>
                  <a:txBody>
                    <a:bodyPr/>
                    <a:lstStyle/>
                    <a:p>
                      <a:pPr indent="0" lvl="0" marL="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New Roman"/>
                          <a:ea typeface="Times New Roman"/>
                          <a:cs typeface="Times New Roman"/>
                          <a:sym typeface="Times New Roman"/>
                        </a:rPr>
                        <a:t>Late changes to requirements</a:t>
                      </a:r>
                      <a:endParaRPr/>
                    </a:p>
                  </a:txBody>
                  <a:tcPr marT="34300" marB="3430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New Roman"/>
                          <a:ea typeface="Times New Roman"/>
                          <a:cs typeface="Times New Roman"/>
                          <a:sym typeface="Times New Roman"/>
                        </a:rPr>
                        <a:t>Change control, incremental development </a:t>
                      </a:r>
                      <a:endParaRPr/>
                    </a:p>
                  </a:txBody>
                  <a:tcPr marT="34300" marB="3430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54375">
                <a:tc>
                  <a:txBody>
                    <a:bodyPr/>
                    <a:lstStyle/>
                    <a:p>
                      <a:pPr indent="0" lvl="0" marL="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New Roman"/>
                          <a:ea typeface="Times New Roman"/>
                          <a:cs typeface="Times New Roman"/>
                          <a:sym typeface="Times New Roman"/>
                        </a:rPr>
                        <a:t>Shortfalls in externally supplied components</a:t>
                      </a:r>
                      <a:endParaRPr/>
                    </a:p>
                  </a:txBody>
                  <a:tcPr marT="34300" marB="3430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New Roman"/>
                          <a:ea typeface="Times New Roman"/>
                          <a:cs typeface="Times New Roman"/>
                          <a:sym typeface="Times New Roman"/>
                        </a:rPr>
                        <a:t>Inspections, formal specifications, contractual agreements, quality controls</a:t>
                      </a:r>
                      <a:endParaRPr/>
                    </a:p>
                  </a:txBody>
                  <a:tcPr marT="34300" marB="3430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17225">
                <a:tc>
                  <a:txBody>
                    <a:bodyPr/>
                    <a:lstStyle/>
                    <a:p>
                      <a:pPr indent="0" lvl="0" marL="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New Roman"/>
                          <a:ea typeface="Times New Roman"/>
                          <a:cs typeface="Times New Roman"/>
                          <a:sym typeface="Times New Roman"/>
                        </a:rPr>
                        <a:t>Shortfalls in externally performed tasks</a:t>
                      </a:r>
                      <a:endParaRPr/>
                    </a:p>
                  </a:txBody>
                  <a:tcPr marT="34300" marB="3430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080"/>
                        <a:buFont typeface="Arial"/>
                        <a:buNone/>
                      </a:pPr>
                      <a:r>
                        <a:rPr b="0" i="0" lang="en-US" sz="1800" u="none" cap="none" strike="noStrike">
                          <a:solidFill>
                            <a:schemeClr val="dk1"/>
                          </a:solidFill>
                          <a:latin typeface="Times New Roman"/>
                          <a:ea typeface="Times New Roman"/>
                          <a:cs typeface="Times New Roman"/>
                          <a:sym typeface="Times New Roman"/>
                        </a:rPr>
                        <a:t>Quality assurance procedures, competitive design etc</a:t>
                      </a:r>
                      <a:endParaRPr/>
                    </a:p>
                  </a:txBody>
                  <a:tcPr marT="34300" marB="3430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25775">
                <a:tc>
                  <a:txBody>
                    <a:bodyPr/>
                    <a:lstStyle/>
                    <a:p>
                      <a:pPr indent="0" lvl="0" marL="0" marR="0" rtl="0" algn="l">
                        <a:lnSpc>
                          <a:spcPct val="100000"/>
                        </a:lnSpc>
                        <a:spcBef>
                          <a:spcPts val="0"/>
                        </a:spcBef>
                        <a:spcAft>
                          <a:spcPts val="0"/>
                        </a:spcAft>
                        <a:buClr>
                          <a:schemeClr val="accent2"/>
                        </a:buClr>
                        <a:buSzPts val="1080"/>
                        <a:buFont typeface="Arial"/>
                        <a:buNone/>
                      </a:pPr>
                      <a:r>
                        <a:t/>
                      </a:r>
                      <a:endParaRPr b="0" i="0" sz="1800" u="none" cap="none" strike="noStrike">
                        <a:solidFill>
                          <a:schemeClr val="dk1"/>
                        </a:solidFill>
                        <a:latin typeface="Times New Roman"/>
                        <a:ea typeface="Times New Roman"/>
                        <a:cs typeface="Times New Roman"/>
                        <a:sym typeface="Times New Roman"/>
                      </a:endParaRPr>
                    </a:p>
                  </a:txBody>
                  <a:tcPr marT="34300" marB="3430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080"/>
                        <a:buFont typeface="Arial"/>
                        <a:buNone/>
                      </a:pPr>
                      <a:r>
                        <a:t/>
                      </a:r>
                      <a:endParaRPr b="0" i="0" sz="1800" u="none" cap="none" strike="noStrike">
                        <a:solidFill>
                          <a:schemeClr val="dk1"/>
                        </a:solidFill>
                        <a:latin typeface="Times New Roman"/>
                        <a:ea typeface="Times New Roman"/>
                        <a:cs typeface="Times New Roman"/>
                        <a:sym typeface="Times New Roman"/>
                      </a:endParaRPr>
                    </a:p>
                  </a:txBody>
                  <a:tcPr marT="34300" marB="3430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2"/>
          <p:cNvSpPr txBox="1"/>
          <p:nvPr>
            <p:ph type="title"/>
          </p:nvPr>
        </p:nvSpPr>
        <p:spPr>
          <a:xfrm>
            <a:off x="628650" y="1"/>
            <a:ext cx="7886700" cy="639566"/>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US"/>
              <a:t>Risk management process</a:t>
            </a:r>
            <a:endParaRPr b="1"/>
          </a:p>
        </p:txBody>
      </p:sp>
      <p:sp>
        <p:nvSpPr>
          <p:cNvPr id="146" name="Google Shape;146;p12"/>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47" name="Google Shape;1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48" name="Google Shape;148;p12"/>
          <p:cNvSpPr txBox="1"/>
          <p:nvPr/>
        </p:nvSpPr>
        <p:spPr>
          <a:xfrm>
            <a:off x="628650" y="780770"/>
            <a:ext cx="8012430" cy="3314700"/>
          </a:xfrm>
          <a:prstGeom prst="rect">
            <a:avLst/>
          </a:prstGeom>
          <a:noFill/>
          <a:ln>
            <a:noFill/>
          </a:ln>
        </p:spPr>
        <p:txBody>
          <a:bodyPr anchorCtr="0" anchor="t" bIns="34275" lIns="68575" spcFirstLastPara="1" rIns="68575" wrap="square" tIns="34275">
            <a:normAutofit/>
          </a:bodyPr>
          <a:lstStyle/>
          <a:p>
            <a:pPr indent="-228600" lvl="0" marL="228600" marR="0" rtl="0" algn="l">
              <a:lnSpc>
                <a:spcPct val="90000"/>
              </a:lnSpc>
              <a:spcBef>
                <a:spcPts val="0"/>
              </a:spcBef>
              <a:spcAft>
                <a:spcPts val="0"/>
              </a:spcAft>
              <a:buClr>
                <a:srgbClr val="000000"/>
              </a:buClr>
              <a:buSzPts val="2700"/>
              <a:buFont typeface="Arial"/>
              <a:buNone/>
            </a:pPr>
            <a:r>
              <a:rPr b="0" i="0" lang="en-US" sz="2700" u="none" cap="none" strike="noStrike">
                <a:solidFill>
                  <a:schemeClr val="dk1"/>
                </a:solidFill>
                <a:latin typeface="Times New Roman"/>
                <a:ea typeface="Times New Roman"/>
                <a:cs typeface="Times New Roman"/>
                <a:sym typeface="Times New Roman"/>
              </a:rPr>
              <a:t>The planning for risk includes these steps:</a:t>
            </a:r>
            <a:endParaRPr/>
          </a:p>
          <a:p>
            <a:pPr indent="-228600" lvl="0" marL="228600" marR="0" rtl="0" algn="l">
              <a:lnSpc>
                <a:spcPct val="90000"/>
              </a:lnSpc>
              <a:spcBef>
                <a:spcPts val="1000"/>
              </a:spcBef>
              <a:spcAft>
                <a:spcPts val="0"/>
              </a:spcAft>
              <a:buClr>
                <a:srgbClr val="000000"/>
              </a:buClr>
              <a:buSzPts val="2700"/>
              <a:buFont typeface="Arial"/>
              <a:buChar char="•"/>
            </a:pPr>
            <a:r>
              <a:rPr b="0" i="0" lang="en-US" sz="2700" u="none" cap="none" strike="noStrike">
                <a:solidFill>
                  <a:srgbClr val="0070C0"/>
                </a:solidFill>
                <a:latin typeface="Times New Roman"/>
                <a:ea typeface="Times New Roman"/>
                <a:cs typeface="Times New Roman"/>
                <a:sym typeface="Times New Roman"/>
              </a:rPr>
              <a:t>Risk identification </a:t>
            </a:r>
            <a:r>
              <a:rPr b="0" i="0" lang="en-US" sz="2700" u="none" cap="none" strike="noStrike">
                <a:solidFill>
                  <a:schemeClr val="dk1"/>
                </a:solidFill>
                <a:latin typeface="Times New Roman"/>
                <a:ea typeface="Times New Roman"/>
                <a:cs typeface="Times New Roman"/>
                <a:sym typeface="Times New Roman"/>
              </a:rPr>
              <a:t>– what risks might there be?</a:t>
            </a:r>
            <a:endParaRPr/>
          </a:p>
          <a:p>
            <a:pPr indent="-228600" lvl="0" marL="228600" marR="0" rtl="0" algn="l">
              <a:lnSpc>
                <a:spcPct val="90000"/>
              </a:lnSpc>
              <a:spcBef>
                <a:spcPts val="1000"/>
              </a:spcBef>
              <a:spcAft>
                <a:spcPts val="0"/>
              </a:spcAft>
              <a:buClr>
                <a:srgbClr val="000000"/>
              </a:buClr>
              <a:buSzPts val="2700"/>
              <a:buFont typeface="Arial"/>
              <a:buChar char="•"/>
            </a:pPr>
            <a:r>
              <a:rPr b="0" i="0" lang="en-US" sz="2700" u="none" cap="none" strike="noStrike">
                <a:solidFill>
                  <a:srgbClr val="0070C0"/>
                </a:solidFill>
                <a:latin typeface="Times New Roman"/>
                <a:ea typeface="Times New Roman"/>
                <a:cs typeface="Times New Roman"/>
                <a:sym typeface="Times New Roman"/>
              </a:rPr>
              <a:t>Risk Assessment </a:t>
            </a:r>
            <a:r>
              <a:rPr b="0" i="0" lang="en-US" sz="2700" u="none" cap="none" strike="noStrike">
                <a:solidFill>
                  <a:schemeClr val="dk1"/>
                </a:solidFill>
                <a:latin typeface="Times New Roman"/>
                <a:ea typeface="Times New Roman"/>
                <a:cs typeface="Times New Roman"/>
                <a:sym typeface="Times New Roman"/>
              </a:rPr>
              <a:t>– which are the most serious risks?</a:t>
            </a:r>
            <a:endParaRPr/>
          </a:p>
          <a:p>
            <a:pPr indent="-228600" lvl="0" marL="228600" marR="0" rtl="0" algn="l">
              <a:lnSpc>
                <a:spcPct val="90000"/>
              </a:lnSpc>
              <a:spcBef>
                <a:spcPts val="1000"/>
              </a:spcBef>
              <a:spcAft>
                <a:spcPts val="0"/>
              </a:spcAft>
              <a:buClr>
                <a:srgbClr val="000000"/>
              </a:buClr>
              <a:buSzPts val="2700"/>
              <a:buFont typeface="Arial"/>
              <a:buChar char="•"/>
            </a:pPr>
            <a:r>
              <a:rPr b="0" i="0" lang="en-US" sz="2700" u="none" cap="none" strike="noStrike">
                <a:solidFill>
                  <a:srgbClr val="0070C0"/>
                </a:solidFill>
                <a:latin typeface="Times New Roman"/>
                <a:ea typeface="Times New Roman"/>
                <a:cs typeface="Times New Roman"/>
                <a:sym typeface="Times New Roman"/>
              </a:rPr>
              <a:t>Risk planning </a:t>
            </a:r>
            <a:r>
              <a:rPr b="0" i="0" lang="en-US" sz="2700" u="none" cap="none" strike="noStrike">
                <a:solidFill>
                  <a:schemeClr val="dk1"/>
                </a:solidFill>
                <a:latin typeface="Times New Roman"/>
                <a:ea typeface="Times New Roman"/>
                <a:cs typeface="Times New Roman"/>
                <a:sym typeface="Times New Roman"/>
              </a:rPr>
              <a:t>– what are we going to do about them?</a:t>
            </a:r>
            <a:endParaRPr/>
          </a:p>
          <a:p>
            <a:pPr indent="-228600" lvl="0" marL="228600" marR="0" rtl="0" algn="l">
              <a:lnSpc>
                <a:spcPct val="90000"/>
              </a:lnSpc>
              <a:spcBef>
                <a:spcPts val="1000"/>
              </a:spcBef>
              <a:spcAft>
                <a:spcPts val="0"/>
              </a:spcAft>
              <a:buClr>
                <a:srgbClr val="000000"/>
              </a:buClr>
              <a:buSzPts val="2700"/>
              <a:buFont typeface="Arial"/>
              <a:buChar char="•"/>
            </a:pPr>
            <a:r>
              <a:rPr b="0" i="0" lang="en-US" sz="2700" u="none" cap="none" strike="noStrike">
                <a:solidFill>
                  <a:srgbClr val="0070C0"/>
                </a:solidFill>
                <a:latin typeface="Times New Roman"/>
                <a:ea typeface="Times New Roman"/>
                <a:cs typeface="Times New Roman"/>
                <a:sym typeface="Times New Roman"/>
              </a:rPr>
              <a:t>Risk monitoring </a:t>
            </a:r>
            <a:r>
              <a:rPr b="0" i="0" lang="en-US" sz="2700" u="none" cap="none" strike="noStrike">
                <a:solidFill>
                  <a:schemeClr val="dk1"/>
                </a:solidFill>
                <a:latin typeface="Times New Roman"/>
                <a:ea typeface="Times New Roman"/>
                <a:cs typeface="Times New Roman"/>
                <a:sym typeface="Times New Roman"/>
              </a:rPr>
              <a:t>– what is the current state of the risk?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solidFill>
                  <a:srgbClr val="0070C0"/>
                </a:solidFill>
                <a:latin typeface="Times New Roman"/>
                <a:ea typeface="Times New Roman"/>
                <a:cs typeface="Times New Roman"/>
                <a:sym typeface="Times New Roman"/>
              </a:rPr>
              <a:t>Risk identification</a:t>
            </a:r>
            <a:endParaRPr/>
          </a:p>
        </p:txBody>
      </p:sp>
      <p:sp>
        <p:nvSpPr>
          <p:cNvPr id="154" name="Google Shape;15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b="1" lang="en-US"/>
              <a:t>Objective</a:t>
            </a:r>
            <a:r>
              <a:rPr lang="en-US"/>
              <a:t>: To recognize and document potential risks that could affect the project’s success.</a:t>
            </a:r>
            <a:endParaRPr/>
          </a:p>
          <a:p>
            <a:pPr indent="-342900" lvl="0" marL="457200" rtl="0" algn="l">
              <a:lnSpc>
                <a:spcPct val="115000"/>
              </a:lnSpc>
              <a:spcBef>
                <a:spcPts val="0"/>
              </a:spcBef>
              <a:spcAft>
                <a:spcPts val="0"/>
              </a:spcAft>
              <a:buSzPts val="1800"/>
              <a:buChar char="●"/>
            </a:pPr>
            <a:r>
              <a:rPr lang="en-US"/>
              <a:t>Risk identification involves brainstorming activities. </a:t>
            </a:r>
            <a:endParaRPr/>
          </a:p>
          <a:p>
            <a:pPr indent="-342900" lvl="0" marL="457200" rtl="0" algn="l">
              <a:lnSpc>
                <a:spcPct val="115000"/>
              </a:lnSpc>
              <a:spcBef>
                <a:spcPts val="0"/>
              </a:spcBef>
              <a:spcAft>
                <a:spcPts val="0"/>
              </a:spcAft>
              <a:buSzPts val="1800"/>
              <a:buChar char="●"/>
            </a:pPr>
            <a:r>
              <a:rPr lang="en-US"/>
              <a:t>It also involves the preparation of a risk list. </a:t>
            </a:r>
            <a:endParaRPr/>
          </a:p>
          <a:p>
            <a:pPr indent="-342900" lvl="0" marL="457200" rtl="0" algn="l">
              <a:lnSpc>
                <a:spcPct val="115000"/>
              </a:lnSpc>
              <a:spcBef>
                <a:spcPts val="0"/>
              </a:spcBef>
              <a:spcAft>
                <a:spcPts val="0"/>
              </a:spcAft>
              <a:buSzPts val="1800"/>
              <a:buChar char="●"/>
            </a:pPr>
            <a:r>
              <a:rPr lang="en-US"/>
              <a:t>Brainstorming is a group discussion technique where all the stakeholders meet together. </a:t>
            </a:r>
            <a:endParaRPr/>
          </a:p>
          <a:p>
            <a:pPr indent="-342900" lvl="0" marL="457200" rtl="0" algn="l">
              <a:lnSpc>
                <a:spcPct val="115000"/>
              </a:lnSpc>
              <a:spcBef>
                <a:spcPts val="0"/>
              </a:spcBef>
              <a:spcAft>
                <a:spcPts val="0"/>
              </a:spcAft>
              <a:buSzPts val="1800"/>
              <a:buChar char="●"/>
            </a:pPr>
            <a:r>
              <a:rPr lang="en-US"/>
              <a:t>This technique produces new ideas and promotes creative thinking. </a:t>
            </a:r>
            <a:br>
              <a:rPr lang="en-US"/>
            </a:br>
            <a:endParaRPr/>
          </a:p>
          <a:p>
            <a:pPr indent="-342900" lvl="0" marL="457200" rtl="0" algn="l">
              <a:lnSpc>
                <a:spcPct val="115000"/>
              </a:lnSpc>
              <a:spcBef>
                <a:spcPts val="0"/>
              </a:spcBef>
              <a:spcAft>
                <a:spcPts val="0"/>
              </a:spcAft>
              <a:buSzPts val="1800"/>
              <a:buChar char="●"/>
            </a:pPr>
            <a:r>
              <a:rPr lang="en-US"/>
              <a:t>Preparation of a risk list involves the identification of risks that are occurring continuously in previous software projects. </a:t>
            </a:r>
            <a:endParaRPr/>
          </a:p>
        </p:txBody>
      </p:sp>
      <p:sp>
        <p:nvSpPr>
          <p:cNvPr id="155" name="Google Shape;155;p13"/>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56" name="Google Shape;156;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t/>
            </a:r>
            <a:endParaRPr/>
          </a:p>
        </p:txBody>
      </p:sp>
      <p:sp>
        <p:nvSpPr>
          <p:cNvPr id="162" name="Google Shape;162;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US"/>
              <a:t>What Happens</a:t>
            </a:r>
            <a:r>
              <a:rPr lang="en-US"/>
              <a:t>: </a:t>
            </a:r>
            <a:endParaRPr/>
          </a:p>
          <a:p>
            <a:pPr indent="-342900" lvl="0" marL="457200" rtl="0" algn="l">
              <a:lnSpc>
                <a:spcPct val="115000"/>
              </a:lnSpc>
              <a:spcBef>
                <a:spcPts val="0"/>
              </a:spcBef>
              <a:spcAft>
                <a:spcPts val="0"/>
              </a:spcAft>
              <a:buSzPts val="1800"/>
              <a:buChar char="●"/>
            </a:pPr>
            <a:r>
              <a:rPr lang="en-US"/>
              <a:t>In this step, you brainstorm and list all possible risks, including internal and external risks. </a:t>
            </a:r>
            <a:endParaRPr/>
          </a:p>
          <a:p>
            <a:pPr indent="-342900" lvl="0" marL="457200" rtl="0" algn="l">
              <a:lnSpc>
                <a:spcPct val="115000"/>
              </a:lnSpc>
              <a:spcBef>
                <a:spcPts val="0"/>
              </a:spcBef>
              <a:spcAft>
                <a:spcPts val="0"/>
              </a:spcAft>
              <a:buSzPts val="1800"/>
              <a:buChar char="●"/>
            </a:pPr>
            <a:r>
              <a:rPr lang="en-US"/>
              <a:t>This may involve workshops, interviews, checklists, or analysis of past projects.</a:t>
            </a:r>
            <a:endParaRPr/>
          </a:p>
          <a:p>
            <a:pPr indent="-342900" lvl="0" marL="457200" rtl="0" algn="l">
              <a:lnSpc>
                <a:spcPct val="115000"/>
              </a:lnSpc>
              <a:spcBef>
                <a:spcPts val="0"/>
              </a:spcBef>
              <a:spcAft>
                <a:spcPts val="0"/>
              </a:spcAft>
              <a:buSzPts val="1800"/>
              <a:buChar char="●"/>
            </a:pPr>
            <a:r>
              <a:rPr b="1" lang="en-US"/>
              <a:t>Example</a:t>
            </a:r>
            <a:r>
              <a:rPr lang="en-US"/>
              <a:t>: Identifying risks such as budget overruns, technology failures, or supply chain disruptions in a project.</a:t>
            </a:r>
            <a:endParaRPr/>
          </a:p>
          <a:p>
            <a:pPr indent="-228600" lvl="0" marL="457200" rtl="0" algn="l">
              <a:lnSpc>
                <a:spcPct val="115000"/>
              </a:lnSpc>
              <a:spcBef>
                <a:spcPts val="0"/>
              </a:spcBef>
              <a:spcAft>
                <a:spcPts val="0"/>
              </a:spcAft>
              <a:buSzPts val="1800"/>
              <a:buNone/>
            </a:pPr>
            <a:r>
              <a:t/>
            </a:r>
            <a:endParaRPr/>
          </a:p>
        </p:txBody>
      </p:sp>
      <p:sp>
        <p:nvSpPr>
          <p:cNvPr id="163" name="Google Shape;163;p14"/>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64" name="Google Shape;164;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5"/>
          <p:cNvSpPr txBox="1"/>
          <p:nvPr>
            <p:ph type="title"/>
          </p:nvPr>
        </p:nvSpPr>
        <p:spPr>
          <a:xfrm>
            <a:off x="628650" y="1"/>
            <a:ext cx="7886700" cy="639566"/>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US">
                <a:solidFill>
                  <a:srgbClr val="0070C0"/>
                </a:solidFill>
              </a:rPr>
              <a:t>Risk assessment</a:t>
            </a:r>
            <a:endParaRPr/>
          </a:p>
        </p:txBody>
      </p:sp>
      <p:sp>
        <p:nvSpPr>
          <p:cNvPr id="170" name="Google Shape;170;p15"/>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71" name="Google Shape;17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72" name="Google Shape;172;p15"/>
          <p:cNvSpPr txBox="1"/>
          <p:nvPr/>
        </p:nvSpPr>
        <p:spPr>
          <a:xfrm>
            <a:off x="720474" y="887875"/>
            <a:ext cx="7366438" cy="1815539"/>
          </a:xfrm>
          <a:prstGeom prst="rect">
            <a:avLst/>
          </a:prstGeom>
          <a:noFill/>
          <a:ln>
            <a:noFill/>
          </a:ln>
        </p:spPr>
        <p:txBody>
          <a:bodyPr anchorCtr="0" anchor="t" bIns="34275" lIns="68575" spcFirstLastPara="1" rIns="68575" wrap="square" tIns="34275">
            <a:normAutofit/>
          </a:bodyPr>
          <a:lstStyle/>
          <a:p>
            <a:pPr indent="-228600" lvl="0" marL="228600" marR="0" rtl="0" algn="l">
              <a:lnSpc>
                <a:spcPct val="90000"/>
              </a:lnSpc>
              <a:spcBef>
                <a:spcPts val="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Risk exposure (RE)</a:t>
            </a:r>
            <a:endParaRPr/>
          </a:p>
          <a:p>
            <a:pPr indent="-228600" lvl="0" marL="228600" marR="0" rtl="0" algn="l">
              <a:lnSpc>
                <a:spcPct val="90000"/>
              </a:lnSpc>
              <a:spcBef>
                <a:spcPts val="100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 = (potential damage) x (probability of occurrence)</a:t>
            </a:r>
            <a:endParaRPr/>
          </a:p>
          <a:p>
            <a:pPr indent="-228600" lvl="0" marL="228600" marR="0" rtl="0" algn="l">
              <a:lnSpc>
                <a:spcPct val="90000"/>
              </a:lnSpc>
              <a:spcBef>
                <a:spcPts val="1000"/>
              </a:spcBef>
              <a:spcAft>
                <a:spcPts val="0"/>
              </a:spcAft>
              <a:buClr>
                <a:srgbClr val="000000"/>
              </a:buClr>
              <a:buSzPts val="1500"/>
              <a:buFont typeface="Arial"/>
              <a:buNone/>
            </a:pPr>
            <a:r>
              <a:rPr b="0" i="1" lang="en-US" sz="1500" u="none" cap="none" strike="noStrike">
                <a:solidFill>
                  <a:schemeClr val="dk1"/>
                </a:solidFill>
                <a:latin typeface="Arial"/>
                <a:ea typeface="Arial"/>
                <a:cs typeface="Arial"/>
                <a:sym typeface="Arial"/>
              </a:rPr>
              <a:t>Ideally</a:t>
            </a:r>
            <a:endParaRPr/>
          </a:p>
          <a:p>
            <a:pPr indent="-228600" lvl="0" marL="228600" marR="0" rtl="0" algn="l">
              <a:lnSpc>
                <a:spcPct val="90000"/>
              </a:lnSpc>
              <a:spcBef>
                <a:spcPts val="100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Potential damage</a:t>
            </a:r>
            <a:r>
              <a:rPr b="0" i="0" lang="en-US" sz="1500" u="none" cap="none" strike="noStrike">
                <a:solidFill>
                  <a:schemeClr val="dk1"/>
                </a:solidFill>
                <a:latin typeface="Arial"/>
                <a:ea typeface="Arial"/>
                <a:cs typeface="Arial"/>
                <a:sym typeface="Arial"/>
              </a:rPr>
              <a:t>: (PD) a money value  </a:t>
            </a:r>
            <a:endParaRPr/>
          </a:p>
          <a:p>
            <a:pPr indent="-228600" lvl="0" marL="228600" marR="0" rtl="0" algn="l">
              <a:lnSpc>
                <a:spcPct val="90000"/>
              </a:lnSpc>
              <a:spcBef>
                <a:spcPts val="100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Probability</a:t>
            </a:r>
            <a:r>
              <a:rPr b="0" i="0" lang="en-US" sz="1500" u="none" cap="none" strike="noStrike">
                <a:solidFill>
                  <a:schemeClr val="dk1"/>
                </a:solidFill>
                <a:latin typeface="Arial"/>
                <a:ea typeface="Arial"/>
                <a:cs typeface="Arial"/>
                <a:sym typeface="Arial"/>
              </a:rPr>
              <a:t> (P) 0.00 (absolutely no chance) to 1.00 (absolutely certain) </a:t>
            </a:r>
            <a:endParaRPr/>
          </a:p>
          <a:p>
            <a:pPr indent="-228600" lvl="0" marL="228600" marR="0" rtl="0" algn="l">
              <a:lnSpc>
                <a:spcPct val="90000"/>
              </a:lnSpc>
              <a:spcBef>
                <a:spcPts val="100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	RE = PoD x P </a:t>
            </a:r>
            <a:endParaRPr/>
          </a:p>
          <a:p>
            <a:pPr indent="-228600" lvl="0" marL="228600" marR="0" rtl="0" algn="l">
              <a:lnSpc>
                <a:spcPct val="90000"/>
              </a:lnSpc>
              <a:spcBef>
                <a:spcPts val="100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1500"/>
              <a:buFont typeface="Arial"/>
              <a:buNone/>
            </a:pPr>
            <a:r>
              <a:t/>
            </a:r>
            <a:endParaRPr b="0" i="1" sz="15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ph idx="1" type="body"/>
          </p:nvPr>
        </p:nvSpPr>
        <p:spPr>
          <a:xfrm>
            <a:off x="511935" y="347729"/>
            <a:ext cx="8003415" cy="4284993"/>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US"/>
              <a:t>Objective</a:t>
            </a:r>
            <a:r>
              <a:rPr lang="en-US"/>
              <a:t>: To analyze and prioritize risks based on their likelihood and potential impact.</a:t>
            </a:r>
            <a:endParaRPr/>
          </a:p>
          <a:p>
            <a:pPr indent="-342900" lvl="0" marL="457200" rtl="0" algn="l">
              <a:lnSpc>
                <a:spcPct val="115000"/>
              </a:lnSpc>
              <a:spcBef>
                <a:spcPts val="0"/>
              </a:spcBef>
              <a:spcAft>
                <a:spcPts val="0"/>
              </a:spcAft>
              <a:buSzPts val="1800"/>
              <a:buChar char="●"/>
            </a:pPr>
            <a:r>
              <a:rPr b="1" lang="en-US"/>
              <a:t>What Happens</a:t>
            </a:r>
            <a:r>
              <a:rPr lang="en-US"/>
              <a:t>: Each identified risk is evaluated to determine:</a:t>
            </a:r>
            <a:endParaRPr/>
          </a:p>
          <a:p>
            <a:pPr indent="-317500" lvl="1" marL="914400" rtl="0" algn="l">
              <a:lnSpc>
                <a:spcPct val="115000"/>
              </a:lnSpc>
              <a:spcBef>
                <a:spcPts val="0"/>
              </a:spcBef>
              <a:spcAft>
                <a:spcPts val="0"/>
              </a:spcAft>
              <a:buSzPts val="1400"/>
              <a:buChar char="○"/>
            </a:pPr>
            <a:r>
              <a:rPr b="1" lang="en-US"/>
              <a:t>Likelihood</a:t>
            </a:r>
            <a:r>
              <a:rPr lang="en-US"/>
              <a:t>: How probable it is that the risk will occur.</a:t>
            </a:r>
            <a:endParaRPr/>
          </a:p>
          <a:p>
            <a:pPr indent="-317500" lvl="1" marL="914400" rtl="0" algn="l">
              <a:lnSpc>
                <a:spcPct val="115000"/>
              </a:lnSpc>
              <a:spcBef>
                <a:spcPts val="0"/>
              </a:spcBef>
              <a:spcAft>
                <a:spcPts val="0"/>
              </a:spcAft>
              <a:buSzPts val="1400"/>
              <a:buChar char="○"/>
            </a:pPr>
            <a:r>
              <a:rPr b="1" lang="en-US"/>
              <a:t>Impact</a:t>
            </a:r>
            <a:r>
              <a:rPr lang="en-US"/>
              <a:t>: How severe the consequences will be if the risk occurs.</a:t>
            </a:r>
            <a:endParaRPr/>
          </a:p>
          <a:p>
            <a:pPr indent="-342900" lvl="0" marL="457200" rtl="0" algn="l">
              <a:lnSpc>
                <a:spcPct val="115000"/>
              </a:lnSpc>
              <a:spcBef>
                <a:spcPts val="0"/>
              </a:spcBef>
              <a:spcAft>
                <a:spcPts val="0"/>
              </a:spcAft>
              <a:buSzPts val="1800"/>
              <a:buChar char="●"/>
            </a:pPr>
            <a:r>
              <a:rPr lang="en-US"/>
              <a:t>The risks are then ranked, often using a risk matrix, so the most critical risks are addressed first.</a:t>
            </a:r>
            <a:endParaRPr/>
          </a:p>
          <a:p>
            <a:pPr indent="-342900" lvl="0" marL="457200" rtl="0" algn="l">
              <a:lnSpc>
                <a:spcPct val="115000"/>
              </a:lnSpc>
              <a:spcBef>
                <a:spcPts val="0"/>
              </a:spcBef>
              <a:spcAft>
                <a:spcPts val="0"/>
              </a:spcAft>
              <a:buSzPts val="1800"/>
              <a:buChar char="●"/>
            </a:pPr>
            <a:r>
              <a:rPr b="1" lang="en-US"/>
              <a:t>Example</a:t>
            </a:r>
            <a:r>
              <a:rPr lang="en-US"/>
              <a:t>: Determining that a certain technology failure has a high probability and would cause significant delays in the project timeline.</a:t>
            </a:r>
            <a:endParaRPr/>
          </a:p>
        </p:txBody>
      </p:sp>
      <p:sp>
        <p:nvSpPr>
          <p:cNvPr id="178" name="Google Shape;178;p16"/>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79" name="Google Shape;17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7"/>
          <p:cNvSpPr txBox="1"/>
          <p:nvPr>
            <p:ph type="title"/>
          </p:nvPr>
        </p:nvSpPr>
        <p:spPr>
          <a:xfrm>
            <a:off x="628650" y="1"/>
            <a:ext cx="7886700" cy="639566"/>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US"/>
              <a:t>Risk Analysis &amp; Prioritization </a:t>
            </a:r>
            <a:endParaRPr/>
          </a:p>
        </p:txBody>
      </p:sp>
      <p:sp>
        <p:nvSpPr>
          <p:cNvPr id="185" name="Google Shape;185;p17"/>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86" name="Google Shape;18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87" name="Google Shape;187;p17"/>
          <p:cNvSpPr txBox="1"/>
          <p:nvPr/>
        </p:nvSpPr>
        <p:spPr>
          <a:xfrm>
            <a:off x="342899" y="724437"/>
            <a:ext cx="8514546" cy="4042826"/>
          </a:xfrm>
          <a:prstGeom prst="rect">
            <a:avLst/>
          </a:prstGeom>
          <a:noFill/>
          <a:ln>
            <a:noFill/>
          </a:ln>
        </p:spPr>
        <p:txBody>
          <a:bodyPr anchorCtr="0" anchor="t" bIns="34275" lIns="68575" spcFirstLastPara="1" rIns="68575" wrap="square" tIns="34275">
            <a:normAutofit fontScale="77500" lnSpcReduction="20000"/>
          </a:bodyPr>
          <a:lstStyle/>
          <a:p>
            <a:pPr indent="-214344" lvl="0" marL="228600" marR="0" rtl="0" algn="l">
              <a:lnSpc>
                <a:spcPct val="90000"/>
              </a:lnSpc>
              <a:spcBef>
                <a:spcPts val="0"/>
              </a:spcBef>
              <a:spcAft>
                <a:spcPts val="0"/>
              </a:spcAft>
              <a:buClr>
                <a:srgbClr val="000000"/>
              </a:buClr>
              <a:buSzPct val="100000"/>
              <a:buFont typeface="Arial"/>
              <a:buChar char="•"/>
            </a:pPr>
            <a:r>
              <a:rPr b="0" i="0" lang="en-US" sz="1500" u="none" cap="none" strike="noStrike">
                <a:solidFill>
                  <a:schemeClr val="dk1"/>
                </a:solidFill>
                <a:latin typeface="Arial"/>
                <a:ea typeface="Arial"/>
                <a:cs typeface="Arial"/>
                <a:sym typeface="Arial"/>
              </a:rPr>
              <a:t>Drawing up contingency plans to deal with the risk should it occur</a:t>
            </a:r>
            <a:endParaRPr/>
          </a:p>
          <a:p>
            <a:pPr indent="-214344" lvl="0" marL="228600" marR="0" rtl="0" algn="l">
              <a:lnSpc>
                <a:spcPct val="90000"/>
              </a:lnSpc>
              <a:spcBef>
                <a:spcPts val="1000"/>
              </a:spcBef>
              <a:spcAft>
                <a:spcPts val="0"/>
              </a:spcAft>
              <a:buClr>
                <a:srgbClr val="000000"/>
              </a:buClr>
              <a:buSzPct val="100000"/>
              <a:buFont typeface="Arial"/>
              <a:buChar char="•"/>
            </a:pPr>
            <a:r>
              <a:rPr b="0" i="0" lang="en-US" sz="1500" u="none" cap="none" strike="noStrike">
                <a:solidFill>
                  <a:schemeClr val="dk1"/>
                </a:solidFill>
                <a:latin typeface="Arial"/>
                <a:ea typeface="Arial"/>
                <a:cs typeface="Arial"/>
                <a:sym typeface="Arial"/>
              </a:rPr>
              <a:t>Identifying the problems causing risk in projects</a:t>
            </a:r>
            <a:endParaRPr/>
          </a:p>
          <a:p>
            <a:pPr indent="-214344" lvl="0" marL="228600" marR="0" rtl="0" algn="l">
              <a:lnSpc>
                <a:spcPct val="90000"/>
              </a:lnSpc>
              <a:spcBef>
                <a:spcPts val="1000"/>
              </a:spcBef>
              <a:spcAft>
                <a:spcPts val="0"/>
              </a:spcAft>
              <a:buClr>
                <a:srgbClr val="000000"/>
              </a:buClr>
              <a:buSzPct val="100000"/>
              <a:buFont typeface="Arial"/>
              <a:buChar char="•"/>
            </a:pPr>
            <a:r>
              <a:rPr b="0" i="0" lang="en-US" sz="1500" u="none" cap="none" strike="noStrike">
                <a:solidFill>
                  <a:schemeClr val="dk1"/>
                </a:solidFill>
                <a:latin typeface="Arial"/>
                <a:ea typeface="Arial"/>
                <a:cs typeface="Arial"/>
                <a:sym typeface="Arial"/>
              </a:rPr>
              <a:t>Identifying the probability of occurrence of the problem</a:t>
            </a:r>
            <a:endParaRPr/>
          </a:p>
          <a:p>
            <a:pPr indent="-214344" lvl="0" marL="228600" marR="0" rtl="0" algn="l">
              <a:lnSpc>
                <a:spcPct val="90000"/>
              </a:lnSpc>
              <a:spcBef>
                <a:spcPts val="1000"/>
              </a:spcBef>
              <a:spcAft>
                <a:spcPts val="0"/>
              </a:spcAft>
              <a:buClr>
                <a:srgbClr val="000000"/>
              </a:buClr>
              <a:buSzPct val="100000"/>
              <a:buFont typeface="Arial"/>
              <a:buChar char="•"/>
            </a:pPr>
            <a:r>
              <a:rPr b="0" i="0" lang="en-US" sz="1500" u="none" cap="none" strike="noStrike">
                <a:solidFill>
                  <a:schemeClr val="dk1"/>
                </a:solidFill>
                <a:latin typeface="Arial"/>
                <a:ea typeface="Arial"/>
                <a:cs typeface="Arial"/>
                <a:sym typeface="Arial"/>
              </a:rPr>
              <a:t>Identifying the impact of the problem</a:t>
            </a:r>
            <a:endParaRPr/>
          </a:p>
          <a:p>
            <a:pPr indent="-214344" lvl="0" marL="228600" marR="0" rtl="0" algn="l">
              <a:lnSpc>
                <a:spcPct val="90000"/>
              </a:lnSpc>
              <a:spcBef>
                <a:spcPts val="1000"/>
              </a:spcBef>
              <a:spcAft>
                <a:spcPts val="0"/>
              </a:spcAft>
              <a:buClr>
                <a:srgbClr val="000000"/>
              </a:buClr>
              <a:buSzPct val="100000"/>
              <a:buFont typeface="Arial"/>
              <a:buChar char="•"/>
            </a:pPr>
            <a:r>
              <a:rPr b="0" i="0" lang="en-US" sz="1500" u="none" cap="none" strike="noStrike">
                <a:solidFill>
                  <a:schemeClr val="dk1"/>
                </a:solidFill>
                <a:latin typeface="Arial"/>
                <a:ea typeface="Arial"/>
                <a:cs typeface="Arial"/>
                <a:sym typeface="Arial"/>
              </a:rPr>
              <a:t>Reduce the risk exposure by reducing the likelihood or impact</a:t>
            </a:r>
            <a:endParaRPr/>
          </a:p>
          <a:p>
            <a:pPr indent="-214344" lvl="0" marL="228600" marR="0" rtl="0" algn="l">
              <a:lnSpc>
                <a:spcPct val="90000"/>
              </a:lnSpc>
              <a:spcBef>
                <a:spcPts val="1000"/>
              </a:spcBef>
              <a:spcAft>
                <a:spcPts val="0"/>
              </a:spcAft>
              <a:buClr>
                <a:srgbClr val="000000"/>
              </a:buClr>
              <a:buSzPct val="100000"/>
              <a:buFont typeface="Arial"/>
              <a:buChar char="•"/>
            </a:pPr>
            <a:r>
              <a:rPr b="1" i="0" lang="en-US" sz="1500" u="none" cap="none" strike="noStrike">
                <a:solidFill>
                  <a:schemeClr val="dk1"/>
                </a:solidFill>
                <a:latin typeface="Arial"/>
                <a:ea typeface="Arial"/>
                <a:cs typeface="Arial"/>
                <a:sym typeface="Arial"/>
              </a:rPr>
              <a:t>Risk Reduction Leverage (RRL)</a:t>
            </a:r>
            <a:r>
              <a:rPr b="0" i="0" lang="en-US" sz="1500" u="none" cap="none" strike="noStrike">
                <a:solidFill>
                  <a:schemeClr val="dk1"/>
                </a:solidFill>
                <a:latin typeface="Arial"/>
                <a:ea typeface="Arial"/>
                <a:cs typeface="Arial"/>
                <a:sym typeface="Arial"/>
              </a:rPr>
              <a:t> is a metric used to evaluate the effectiveness of risk mitigation strategies.</a:t>
            </a:r>
            <a:endParaRPr/>
          </a:p>
          <a:p>
            <a:pPr indent="-214344" lvl="0" marL="228600" marR="0" rtl="0" algn="l">
              <a:lnSpc>
                <a:spcPct val="90000"/>
              </a:lnSpc>
              <a:spcBef>
                <a:spcPts val="1000"/>
              </a:spcBef>
              <a:spcAft>
                <a:spcPts val="0"/>
              </a:spcAft>
              <a:buClr>
                <a:srgbClr val="000000"/>
              </a:buClr>
              <a:buSzPct val="100000"/>
              <a:buFont typeface="Arial"/>
              <a:buChar char="•"/>
            </a:pPr>
            <a:r>
              <a:rPr b="0" i="0" lang="en-US" sz="1500" u="none" cap="none" strike="noStrike">
                <a:solidFill>
                  <a:schemeClr val="dk1"/>
                </a:solidFill>
                <a:latin typeface="Arial"/>
                <a:ea typeface="Arial"/>
                <a:cs typeface="Arial"/>
                <a:sym typeface="Arial"/>
              </a:rPr>
              <a:t>It helps in assessing how much the risk exposure has been reduced compared to the cost of implementing the risk reduction measures. </a:t>
            </a:r>
            <a:endParaRPr b="0" i="0" sz="1500" u="none" cap="none" strike="noStrike">
              <a:solidFill>
                <a:schemeClr val="dk1"/>
              </a:solidFill>
              <a:latin typeface="Arial"/>
              <a:ea typeface="Arial"/>
              <a:cs typeface="Arial"/>
              <a:sym typeface="Arial"/>
            </a:endParaRPr>
          </a:p>
          <a:p>
            <a:pPr indent="-214344" lvl="0" marL="228600" marR="0" rtl="0" algn="l">
              <a:lnSpc>
                <a:spcPct val="90000"/>
              </a:lnSpc>
              <a:spcBef>
                <a:spcPts val="1000"/>
              </a:spcBef>
              <a:spcAft>
                <a:spcPts val="0"/>
              </a:spcAft>
              <a:buClr>
                <a:srgbClr val="000000"/>
              </a:buClr>
              <a:buSzPct val="100000"/>
              <a:buFont typeface="Arial"/>
              <a:buChar char="•"/>
            </a:pPr>
            <a:r>
              <a:rPr b="0" i="0" lang="en-US" sz="1500" u="none" cap="none" strike="noStrike">
                <a:solidFill>
                  <a:schemeClr val="dk1"/>
                </a:solidFill>
                <a:latin typeface="Arial"/>
                <a:ea typeface="Arial"/>
                <a:cs typeface="Arial"/>
                <a:sym typeface="Arial"/>
              </a:rPr>
              <a:t>Risk Reduction Leverage (RRL)= (RE</a:t>
            </a:r>
            <a:r>
              <a:rPr b="0" baseline="-25000" i="0" lang="en-US" sz="1500" u="none" cap="none" strike="noStrike">
                <a:solidFill>
                  <a:schemeClr val="dk1"/>
                </a:solidFill>
                <a:latin typeface="Arial"/>
                <a:ea typeface="Arial"/>
                <a:cs typeface="Arial"/>
                <a:sym typeface="Arial"/>
              </a:rPr>
              <a:t>before</a:t>
            </a:r>
            <a:r>
              <a:rPr b="0" i="0" lang="en-US" sz="1500" u="none" cap="none" strike="noStrike">
                <a:solidFill>
                  <a:schemeClr val="dk1"/>
                </a:solidFill>
                <a:latin typeface="Arial"/>
                <a:ea typeface="Arial"/>
                <a:cs typeface="Arial"/>
                <a:sym typeface="Arial"/>
              </a:rPr>
              <a:t>- RE</a:t>
            </a:r>
            <a:r>
              <a:rPr b="0" baseline="-25000" i="0" lang="en-US" sz="1500" u="none" cap="none" strike="noStrike">
                <a:solidFill>
                  <a:schemeClr val="dk1"/>
                </a:solidFill>
                <a:latin typeface="Arial"/>
                <a:ea typeface="Arial"/>
                <a:cs typeface="Arial"/>
                <a:sym typeface="Arial"/>
              </a:rPr>
              <a:t>afte</a:t>
            </a:r>
            <a:r>
              <a:rPr b="0" i="0" lang="en-US" sz="1500" u="none" cap="none" strike="noStrike">
                <a:solidFill>
                  <a:schemeClr val="dk1"/>
                </a:solidFill>
                <a:latin typeface="Arial"/>
                <a:ea typeface="Arial"/>
                <a:cs typeface="Arial"/>
                <a:sym typeface="Arial"/>
              </a:rPr>
              <a:t>r)/ risk reduction cost</a:t>
            </a:r>
            <a:endParaRPr/>
          </a:p>
          <a:p>
            <a:pPr indent="-217170" lvl="0" marL="228600" marR="0" rtl="0" algn="l">
              <a:lnSpc>
                <a:spcPct val="90000"/>
              </a:lnSpc>
              <a:spcBef>
                <a:spcPts val="1000"/>
              </a:spcBef>
              <a:spcAft>
                <a:spcPts val="0"/>
              </a:spcAft>
              <a:buClr>
                <a:srgbClr val="000000"/>
              </a:buClr>
              <a:buSzPct val="100000"/>
              <a:buFont typeface="Arial"/>
              <a:buChar char="•"/>
            </a:pPr>
            <a:r>
              <a:rPr b="0" i="0" lang="en-US" sz="1200" u="none" cap="none" strike="noStrike">
                <a:solidFill>
                  <a:schemeClr val="dk1"/>
                </a:solidFill>
                <a:latin typeface="Arial"/>
                <a:ea typeface="Arial"/>
                <a:cs typeface="Arial"/>
                <a:sym typeface="Arial"/>
              </a:rPr>
              <a:t>Where:</a:t>
            </a:r>
            <a:endParaRPr/>
          </a:p>
          <a:p>
            <a:pPr indent="-217170" lvl="1" marL="685800" marR="0" rtl="0" algn="l">
              <a:lnSpc>
                <a:spcPct val="90000"/>
              </a:lnSpc>
              <a:spcBef>
                <a:spcPts val="500"/>
              </a:spcBef>
              <a:spcAft>
                <a:spcPts val="0"/>
              </a:spcAft>
              <a:buClr>
                <a:srgbClr val="000000"/>
              </a:buClr>
              <a:buSzPct val="100000"/>
              <a:buFont typeface="Arial"/>
              <a:buChar char="•"/>
            </a:pPr>
            <a:r>
              <a:rPr b="0" i="0" lang="en-US" sz="1200" u="none" cap="none" strike="noStrike">
                <a:solidFill>
                  <a:schemeClr val="dk1"/>
                </a:solidFill>
                <a:latin typeface="Arial"/>
                <a:ea typeface="Arial"/>
                <a:cs typeface="Arial"/>
                <a:sym typeface="Arial"/>
              </a:rPr>
              <a:t>REbefore = Risk Exposure before implementing the risk reduction measures.</a:t>
            </a:r>
            <a:endParaRPr/>
          </a:p>
          <a:p>
            <a:pPr indent="-217170" lvl="1" marL="685800" marR="0" rtl="0" algn="l">
              <a:lnSpc>
                <a:spcPct val="90000"/>
              </a:lnSpc>
              <a:spcBef>
                <a:spcPts val="500"/>
              </a:spcBef>
              <a:spcAft>
                <a:spcPts val="0"/>
              </a:spcAft>
              <a:buClr>
                <a:srgbClr val="000000"/>
              </a:buClr>
              <a:buSzPct val="100000"/>
              <a:buFont typeface="Arial"/>
              <a:buChar char="•"/>
            </a:pPr>
            <a:r>
              <a:rPr b="0" i="0" lang="en-US" sz="1200" u="none" cap="none" strike="noStrike">
                <a:solidFill>
                  <a:schemeClr val="dk1"/>
                </a:solidFill>
                <a:latin typeface="Arial"/>
                <a:ea typeface="Arial"/>
                <a:cs typeface="Arial"/>
                <a:sym typeface="Arial"/>
              </a:rPr>
              <a:t>REafter = Risk Exposure after implementing the risk reduction measures.</a:t>
            </a:r>
            <a:endParaRPr/>
          </a:p>
          <a:p>
            <a:pPr indent="-217170" lvl="1" marL="685800" marR="0" rtl="0" algn="l">
              <a:lnSpc>
                <a:spcPct val="90000"/>
              </a:lnSpc>
              <a:spcBef>
                <a:spcPts val="500"/>
              </a:spcBef>
              <a:spcAft>
                <a:spcPts val="0"/>
              </a:spcAft>
              <a:buClr>
                <a:srgbClr val="000000"/>
              </a:buClr>
              <a:buSzPct val="100000"/>
              <a:buFont typeface="Arial"/>
              <a:buChar char="•"/>
            </a:pPr>
            <a:r>
              <a:rPr b="0" i="0" lang="en-US" sz="1200" u="none" cap="none" strike="noStrike">
                <a:solidFill>
                  <a:schemeClr val="dk1"/>
                </a:solidFill>
                <a:latin typeface="Arial"/>
                <a:ea typeface="Arial"/>
                <a:cs typeface="Arial"/>
                <a:sym typeface="Arial"/>
              </a:rPr>
              <a:t>Risk Reduction Cost = The cost incurred to implement the risk mitigation strategy. (The total cost spent on implementing risk reduction activities, such as developing backup plans, buying insurance, or investing in preventive technologies.)</a:t>
            </a:r>
            <a:endParaRPr/>
          </a:p>
          <a:p>
            <a:pPr indent="-214344" lvl="0" marL="228600" marR="0" rtl="0" algn="l">
              <a:lnSpc>
                <a:spcPct val="90000"/>
              </a:lnSpc>
              <a:spcBef>
                <a:spcPts val="1000"/>
              </a:spcBef>
              <a:spcAft>
                <a:spcPts val="0"/>
              </a:spcAft>
              <a:buClr>
                <a:srgbClr val="000000"/>
              </a:buClr>
              <a:buSzPct val="100000"/>
              <a:buFont typeface="Arial"/>
              <a:buChar char="•"/>
            </a:pPr>
            <a:r>
              <a:rPr b="0" i="0" lang="en-US" sz="1500" u="none" cap="none" strike="noStrike">
                <a:solidFill>
                  <a:schemeClr val="dk1"/>
                </a:solidFill>
                <a:latin typeface="Arial"/>
                <a:ea typeface="Arial"/>
                <a:cs typeface="Arial"/>
                <a:sym typeface="Arial"/>
              </a:rPr>
              <a:t>If RRL &gt; 1. it means the risk mitigation strategy is highly effective</a:t>
            </a:r>
            <a:endParaRPr b="0" i="0" sz="1500" u="none" cap="none" strike="noStrike">
              <a:solidFill>
                <a:schemeClr val="dk1"/>
              </a:solidFill>
              <a:latin typeface="Arial"/>
              <a:ea typeface="Arial"/>
              <a:cs typeface="Arial"/>
              <a:sym typeface="Arial"/>
            </a:endParaRPr>
          </a:p>
          <a:p>
            <a:pPr indent="-140525" lvl="0" marL="228600" marR="0" rtl="0" algn="l">
              <a:lnSpc>
                <a:spcPct val="90000"/>
              </a:lnSpc>
              <a:spcBef>
                <a:spcPts val="1000"/>
              </a:spcBef>
              <a:spcAft>
                <a:spcPts val="0"/>
              </a:spcAft>
              <a:buClr>
                <a:srgbClr val="000000"/>
              </a:buClr>
              <a:buSzPct val="100000"/>
              <a:buFont typeface="Arial"/>
              <a:buNone/>
            </a:pPr>
            <a:r>
              <a:t/>
            </a:r>
            <a:endParaRPr b="0" i="0" sz="1500" u="none" cap="none" strike="noStrike">
              <a:solidFill>
                <a:schemeClr val="dk1"/>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ct val="100000"/>
              <a:buFont typeface="Arial"/>
              <a:buNone/>
            </a:pPr>
            <a:r>
              <a:t/>
            </a:r>
            <a:endParaRPr b="0" i="0" sz="1500" u="none" cap="none" strike="noStrike">
              <a:solidFill>
                <a:schemeClr val="dk1"/>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ct val="100000"/>
              <a:buFont typeface="Arial"/>
              <a:buNone/>
            </a:pPr>
            <a:r>
              <a:t/>
            </a:r>
            <a:endParaRPr b="0" i="1" sz="15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Example:</a:t>
            </a:r>
            <a:endParaRPr/>
          </a:p>
        </p:txBody>
      </p:sp>
      <p:sp>
        <p:nvSpPr>
          <p:cNvPr id="193" name="Google Shape;193;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228600" lvl="0" marL="457200" rtl="0" algn="l">
              <a:lnSpc>
                <a:spcPct val="115000"/>
              </a:lnSpc>
              <a:spcBef>
                <a:spcPts val="0"/>
              </a:spcBef>
              <a:spcAft>
                <a:spcPts val="0"/>
              </a:spcAft>
              <a:buSzPts val="1800"/>
              <a:buNone/>
            </a:pPr>
            <a:r>
              <a:t/>
            </a:r>
            <a:endParaRPr/>
          </a:p>
          <a:p>
            <a:pPr indent="-228600" lvl="0" marL="457200" rtl="0" algn="l">
              <a:lnSpc>
                <a:spcPct val="115000"/>
              </a:lnSpc>
              <a:spcBef>
                <a:spcPts val="0"/>
              </a:spcBef>
              <a:spcAft>
                <a:spcPts val="0"/>
              </a:spcAft>
              <a:buSzPts val="1800"/>
              <a:buNone/>
            </a:pPr>
            <a:r>
              <a:t/>
            </a:r>
            <a:endParaRPr/>
          </a:p>
          <a:p>
            <a:pPr indent="-228600" lvl="0" marL="457200" rtl="0" algn="l">
              <a:lnSpc>
                <a:spcPct val="115000"/>
              </a:lnSpc>
              <a:spcBef>
                <a:spcPts val="0"/>
              </a:spcBef>
              <a:spcAft>
                <a:spcPts val="0"/>
              </a:spcAft>
              <a:buSzPts val="1800"/>
              <a:buNone/>
            </a:pPr>
            <a:r>
              <a:t/>
            </a:r>
            <a:endParaRPr/>
          </a:p>
          <a:p>
            <a:pPr indent="-228600" lvl="0" marL="457200" rtl="0" algn="l">
              <a:lnSpc>
                <a:spcPct val="115000"/>
              </a:lnSpc>
              <a:spcBef>
                <a:spcPts val="0"/>
              </a:spcBef>
              <a:spcAft>
                <a:spcPts val="0"/>
              </a:spcAft>
              <a:buSzPts val="1800"/>
              <a:buNone/>
            </a:pPr>
            <a:r>
              <a:t/>
            </a:r>
            <a:endParaRPr/>
          </a:p>
          <a:p>
            <a:pPr indent="-228600" lvl="0" marL="45720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US"/>
              <a:t>This means that for every $1 spent on risk reduction, the project reduces its risk exposure by $6. An RRL of 6 indicates a very effective risk reduction strategy.</a:t>
            </a:r>
            <a:endParaRPr/>
          </a:p>
        </p:txBody>
      </p:sp>
      <p:sp>
        <p:nvSpPr>
          <p:cNvPr id="194" name="Google Shape;194;p18"/>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195" name="Google Shape;195;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196" name="Google Shape;196;p18"/>
          <p:cNvPicPr preferRelativeResize="0"/>
          <p:nvPr/>
        </p:nvPicPr>
        <p:blipFill rotWithShape="1">
          <a:blip r:embed="rId3">
            <a:alphaModFix/>
          </a:blip>
          <a:srcRect b="0" l="0" r="0" t="0"/>
          <a:stretch/>
        </p:blipFill>
        <p:spPr>
          <a:xfrm>
            <a:off x="792956" y="1187222"/>
            <a:ext cx="5833224" cy="193396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US">
                <a:solidFill>
                  <a:srgbClr val="0070C0"/>
                </a:solidFill>
              </a:rPr>
              <a:t>Risk Avoidance and Mitigation/Risk planning</a:t>
            </a:r>
            <a:endParaRPr>
              <a:solidFill>
                <a:srgbClr val="0070C0"/>
              </a:solidFill>
            </a:endParaRPr>
          </a:p>
        </p:txBody>
      </p:sp>
      <p:sp>
        <p:nvSpPr>
          <p:cNvPr id="202" name="Google Shape;202;p19"/>
          <p:cNvSpPr txBox="1"/>
          <p:nvPr>
            <p:ph idx="1" type="body"/>
          </p:nvPr>
        </p:nvSpPr>
        <p:spPr>
          <a:xfrm>
            <a:off x="560232" y="1062508"/>
            <a:ext cx="7955119" cy="3570215"/>
          </a:xfrm>
          <a:prstGeom prst="rect">
            <a:avLst/>
          </a:prstGeom>
          <a:noFill/>
          <a:ln>
            <a:noFill/>
          </a:ln>
        </p:spPr>
        <p:txBody>
          <a:bodyPr anchorCtr="0" anchor="t" bIns="91425" lIns="91425" spcFirstLastPara="1" rIns="91425" wrap="square" tIns="91425">
            <a:normAutofit fontScale="92500" lnSpcReduction="10000"/>
          </a:bodyPr>
          <a:lstStyle/>
          <a:p>
            <a:pPr indent="-342900" lvl="0" marL="457200" rtl="0" algn="l">
              <a:lnSpc>
                <a:spcPct val="115000"/>
              </a:lnSpc>
              <a:spcBef>
                <a:spcPts val="0"/>
              </a:spcBef>
              <a:spcAft>
                <a:spcPts val="0"/>
              </a:spcAft>
              <a:buSzPct val="108108"/>
              <a:buChar char="●"/>
            </a:pPr>
            <a:r>
              <a:rPr b="1" lang="en-US"/>
              <a:t>Objective</a:t>
            </a:r>
            <a:r>
              <a:rPr lang="en-US"/>
              <a:t>: To develop strategies to handle or mitigate identified risks.</a:t>
            </a:r>
            <a:endParaRPr/>
          </a:p>
          <a:p>
            <a:pPr indent="-342900" lvl="0" marL="457200" rtl="0" algn="l">
              <a:lnSpc>
                <a:spcPct val="115000"/>
              </a:lnSpc>
              <a:spcBef>
                <a:spcPts val="0"/>
              </a:spcBef>
              <a:spcAft>
                <a:spcPts val="0"/>
              </a:spcAft>
              <a:buSzPct val="108108"/>
              <a:buChar char="●"/>
            </a:pPr>
            <a:r>
              <a:rPr b="1" lang="en-US"/>
              <a:t>What Happens</a:t>
            </a:r>
            <a:r>
              <a:rPr lang="en-US"/>
              <a:t>: Once risks are prioritized, the next step is to plan how to respond to them. </a:t>
            </a:r>
            <a:endParaRPr/>
          </a:p>
          <a:p>
            <a:pPr indent="-342900" lvl="0" marL="457200" rtl="0" algn="l">
              <a:lnSpc>
                <a:spcPct val="115000"/>
              </a:lnSpc>
              <a:spcBef>
                <a:spcPts val="0"/>
              </a:spcBef>
              <a:spcAft>
                <a:spcPts val="0"/>
              </a:spcAft>
              <a:buSzPct val="108108"/>
              <a:buChar char="●"/>
            </a:pPr>
            <a:r>
              <a:rPr lang="en-US"/>
              <a:t>Responses may include:</a:t>
            </a:r>
            <a:endParaRPr/>
          </a:p>
          <a:p>
            <a:pPr indent="-317500" lvl="1" marL="914400" rtl="0" algn="l">
              <a:lnSpc>
                <a:spcPct val="115000"/>
              </a:lnSpc>
              <a:spcBef>
                <a:spcPts val="0"/>
              </a:spcBef>
              <a:spcAft>
                <a:spcPts val="0"/>
              </a:spcAft>
              <a:buSzPct val="108108"/>
              <a:buChar char="○"/>
            </a:pPr>
            <a:r>
              <a:rPr b="1" lang="en-US"/>
              <a:t>Avoiding</a:t>
            </a:r>
            <a:r>
              <a:rPr lang="en-US"/>
              <a:t>: Changing the plan to eliminate the risk.</a:t>
            </a:r>
            <a:endParaRPr/>
          </a:p>
          <a:p>
            <a:pPr indent="-317500" lvl="1" marL="914400" rtl="0" algn="l">
              <a:lnSpc>
                <a:spcPct val="115000"/>
              </a:lnSpc>
              <a:spcBef>
                <a:spcPts val="0"/>
              </a:spcBef>
              <a:spcAft>
                <a:spcPts val="0"/>
              </a:spcAft>
              <a:buSzPct val="108108"/>
              <a:buChar char="○"/>
            </a:pPr>
            <a:r>
              <a:rPr b="1" lang="en-US"/>
              <a:t>Mitigating</a:t>
            </a:r>
            <a:r>
              <a:rPr lang="en-US"/>
              <a:t>: Reducing the likelihood or impact of the risk.</a:t>
            </a:r>
            <a:endParaRPr/>
          </a:p>
          <a:p>
            <a:pPr indent="-317500" lvl="1" marL="914400" rtl="0" algn="l">
              <a:lnSpc>
                <a:spcPct val="115000"/>
              </a:lnSpc>
              <a:spcBef>
                <a:spcPts val="0"/>
              </a:spcBef>
              <a:spcAft>
                <a:spcPts val="0"/>
              </a:spcAft>
              <a:buSzPct val="108108"/>
              <a:buChar char="○"/>
            </a:pPr>
            <a:r>
              <a:rPr b="1" lang="en-US"/>
              <a:t>Transferring</a:t>
            </a:r>
            <a:r>
              <a:rPr lang="en-US"/>
              <a:t>: Shifting the risk to another party (e.g., through insurance).</a:t>
            </a:r>
            <a:endParaRPr/>
          </a:p>
          <a:p>
            <a:pPr indent="-317500" lvl="1" marL="914400" rtl="0" algn="l">
              <a:lnSpc>
                <a:spcPct val="115000"/>
              </a:lnSpc>
              <a:spcBef>
                <a:spcPts val="0"/>
              </a:spcBef>
              <a:spcAft>
                <a:spcPts val="0"/>
              </a:spcAft>
              <a:buSzPct val="108108"/>
              <a:buChar char="○"/>
            </a:pPr>
            <a:r>
              <a:rPr b="1" lang="en-US"/>
              <a:t>Accepting</a:t>
            </a:r>
            <a:r>
              <a:rPr lang="en-US"/>
              <a:t>: Acknowledging the risk and preparing to deal with it if it happens.</a:t>
            </a:r>
            <a:endParaRPr/>
          </a:p>
          <a:p>
            <a:pPr indent="-342900" lvl="0" marL="457200" rtl="0" algn="l">
              <a:lnSpc>
                <a:spcPct val="115000"/>
              </a:lnSpc>
              <a:spcBef>
                <a:spcPts val="0"/>
              </a:spcBef>
              <a:spcAft>
                <a:spcPts val="0"/>
              </a:spcAft>
              <a:buSzPct val="108108"/>
              <a:buChar char="●"/>
            </a:pPr>
            <a:r>
              <a:rPr b="1" lang="en-US"/>
              <a:t>Example</a:t>
            </a:r>
            <a:r>
              <a:rPr lang="en-US"/>
              <a:t>: Developing a backup plan for critical suppliers in case of supply chain delays.</a:t>
            </a:r>
            <a:endParaRPr/>
          </a:p>
          <a:p>
            <a:pPr indent="-342900" lvl="0" marL="457200" rtl="0" algn="l">
              <a:lnSpc>
                <a:spcPct val="115000"/>
              </a:lnSpc>
              <a:spcBef>
                <a:spcPts val="0"/>
              </a:spcBef>
              <a:spcAft>
                <a:spcPts val="0"/>
              </a:spcAft>
              <a:buSzPct val="108108"/>
              <a:buChar char="●"/>
            </a:pPr>
            <a:r>
              <a:rPr lang="en-US"/>
              <a:t>Ex. Rain or storms could lead to lower attendance or cancellation of the event.</a:t>
            </a:r>
            <a:endParaRPr/>
          </a:p>
        </p:txBody>
      </p:sp>
      <p:sp>
        <p:nvSpPr>
          <p:cNvPr id="203" name="Google Shape;203;p19"/>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204" name="Google Shape;20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solidFill>
                  <a:srgbClr val="0070C0"/>
                </a:solidFill>
              </a:rPr>
              <a:t>Risk Monitoring and Control</a:t>
            </a:r>
            <a:endParaRPr/>
          </a:p>
        </p:txBody>
      </p:sp>
      <p:sp>
        <p:nvSpPr>
          <p:cNvPr id="210" name="Google Shape;210;p20"/>
          <p:cNvSpPr txBox="1"/>
          <p:nvPr>
            <p:ph idx="1" type="body"/>
          </p:nvPr>
        </p:nvSpPr>
        <p:spPr>
          <a:xfrm>
            <a:off x="560232" y="1052848"/>
            <a:ext cx="7955119" cy="3579875"/>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US"/>
              <a:t>Objective</a:t>
            </a:r>
            <a:r>
              <a:rPr lang="en-US"/>
              <a:t>: To track identified risks, monitor new risks, and ensure that mitigation plans are working effectively.</a:t>
            </a:r>
            <a:endParaRPr/>
          </a:p>
          <a:p>
            <a:pPr indent="-342900" lvl="0" marL="457200" rtl="0" algn="l">
              <a:lnSpc>
                <a:spcPct val="115000"/>
              </a:lnSpc>
              <a:spcBef>
                <a:spcPts val="0"/>
              </a:spcBef>
              <a:spcAft>
                <a:spcPts val="0"/>
              </a:spcAft>
              <a:buSzPts val="1800"/>
              <a:buChar char="●"/>
            </a:pPr>
            <a:r>
              <a:rPr b="1" lang="en-US"/>
              <a:t>What Happens</a:t>
            </a:r>
            <a:r>
              <a:rPr lang="en-US"/>
              <a:t>: </a:t>
            </a:r>
            <a:endParaRPr/>
          </a:p>
          <a:p>
            <a:pPr indent="-342900" lvl="0" marL="457200" rtl="0" algn="l">
              <a:lnSpc>
                <a:spcPct val="115000"/>
              </a:lnSpc>
              <a:spcBef>
                <a:spcPts val="0"/>
              </a:spcBef>
              <a:spcAft>
                <a:spcPts val="0"/>
              </a:spcAft>
              <a:buSzPts val="1800"/>
              <a:buChar char="●"/>
            </a:pPr>
            <a:r>
              <a:rPr lang="en-US"/>
              <a:t>This is an ongoing process where risks are continuously monitored, and responses are updated as needed. New risks may emerge, and old ones may change in severity or likelihood.</a:t>
            </a:r>
            <a:endParaRPr/>
          </a:p>
          <a:p>
            <a:pPr indent="-342900" lvl="0" marL="457200" rtl="0" algn="l">
              <a:lnSpc>
                <a:spcPct val="115000"/>
              </a:lnSpc>
              <a:spcBef>
                <a:spcPts val="0"/>
              </a:spcBef>
              <a:spcAft>
                <a:spcPts val="0"/>
              </a:spcAft>
              <a:buSzPts val="1800"/>
              <a:buChar char="●"/>
            </a:pPr>
            <a:r>
              <a:rPr b="1" lang="en-US"/>
              <a:t>Example</a:t>
            </a:r>
            <a:r>
              <a:rPr lang="en-US"/>
              <a:t>: Regularly reviewing the risk register and monitoring key indicators to ensure that potential supply chain disruptions are being mitigated.</a:t>
            </a:r>
            <a:endParaRPr/>
          </a:p>
        </p:txBody>
      </p:sp>
      <p:sp>
        <p:nvSpPr>
          <p:cNvPr id="211" name="Google Shape;211;p20"/>
          <p:cNvSpPr txBox="1"/>
          <p:nvPr>
            <p:ph idx="11" type="ftr"/>
          </p:nvPr>
        </p:nvSpPr>
        <p:spPr>
          <a:xfrm>
            <a:off x="3028950" y="4767263"/>
            <a:ext cx="3086100" cy="27384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US"/>
              <a:t>Module 4.5  Risk Management</a:t>
            </a:r>
            <a:endParaRPr/>
          </a:p>
        </p:txBody>
      </p:sp>
      <p:sp>
        <p:nvSpPr>
          <p:cNvPr id="212" name="Google Shape;212;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US"/>
              <a:t>Project Evaluation and Review Technique (PERT)</a:t>
            </a:r>
            <a:endParaRPr/>
          </a:p>
        </p:txBody>
      </p:sp>
      <p:sp>
        <p:nvSpPr>
          <p:cNvPr id="218" name="Google Shape;218;p2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24" name="Google Shape;224;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PERT is a procedure through which activities of a project are represented in its appropriate sequence and timing. It is a scheduling technique used to schedule, organize and integrate tasks within a project. </a:t>
            </a:r>
            <a:endParaRPr/>
          </a:p>
          <a:p>
            <a:pPr indent="-342900" lvl="0" marL="457200" rtl="0" algn="l">
              <a:lnSpc>
                <a:spcPct val="115000"/>
              </a:lnSpc>
              <a:spcBef>
                <a:spcPts val="0"/>
              </a:spcBef>
              <a:spcAft>
                <a:spcPts val="0"/>
              </a:spcAft>
              <a:buSzPts val="1800"/>
              <a:buChar char="●"/>
            </a:pPr>
            <a:r>
              <a:rPr lang="en-US"/>
              <a:t>PERT is basically a mechanism for management planning and control which provides blueprint for a particular project.</a:t>
            </a:r>
            <a:endParaRPr/>
          </a:p>
        </p:txBody>
      </p:sp>
      <p:pic>
        <p:nvPicPr>
          <p:cNvPr id="225" name="Google Shape;225;p22"/>
          <p:cNvPicPr preferRelativeResize="0"/>
          <p:nvPr/>
        </p:nvPicPr>
        <p:blipFill rotWithShape="1">
          <a:blip r:embed="rId3">
            <a:alphaModFix/>
          </a:blip>
          <a:srcRect b="0" l="0" r="0" t="0"/>
          <a:stretch/>
        </p:blipFill>
        <p:spPr>
          <a:xfrm>
            <a:off x="1285874" y="3167674"/>
            <a:ext cx="7026175" cy="17543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20000"/>
              </a:lnSpc>
              <a:spcBef>
                <a:spcPts val="0"/>
              </a:spcBef>
              <a:spcAft>
                <a:spcPts val="0"/>
              </a:spcAft>
              <a:buClr>
                <a:schemeClr val="dk1"/>
              </a:buClr>
              <a:buSzPct val="48887"/>
              <a:buFont typeface="Arial"/>
              <a:buNone/>
            </a:pPr>
            <a:r>
              <a:rPr lang="en-US" sz="2250">
                <a:solidFill>
                  <a:srgbClr val="222222"/>
                </a:solidFill>
                <a:highlight>
                  <a:srgbClr val="FFFFFF"/>
                </a:highlight>
              </a:rPr>
              <a:t>PERT Method Implementation Steps</a:t>
            </a:r>
            <a:endParaRPr sz="2250">
              <a:solidFill>
                <a:srgbClr val="222222"/>
              </a:solidFill>
              <a:highlight>
                <a:srgbClr val="FFFFFF"/>
              </a:highlight>
            </a:endParaRPr>
          </a:p>
          <a:p>
            <a:pPr indent="0" lvl="0" marL="0" rtl="0" algn="l">
              <a:lnSpc>
                <a:spcPct val="115000"/>
              </a:lnSpc>
              <a:spcBef>
                <a:spcPts val="1500"/>
              </a:spcBef>
              <a:spcAft>
                <a:spcPts val="0"/>
              </a:spcAft>
              <a:buClr>
                <a:schemeClr val="dk1"/>
              </a:buClr>
              <a:buSzPct val="84615"/>
              <a:buFont typeface="Arial"/>
              <a:buNone/>
            </a:pPr>
            <a:r>
              <a:rPr lang="en-US" sz="1300">
                <a:solidFill>
                  <a:srgbClr val="222222"/>
                </a:solidFill>
                <a:highlight>
                  <a:srgbClr val="FFFFFF"/>
                </a:highlight>
              </a:rPr>
              <a:t>Track the following steps while creating a PERT Chart;</a:t>
            </a:r>
            <a:endParaRPr sz="1300">
              <a:solidFill>
                <a:srgbClr val="222222"/>
              </a:solidFill>
              <a:highlight>
                <a:srgbClr val="FFFFFF"/>
              </a:highlight>
            </a:endParaRPr>
          </a:p>
          <a:p>
            <a:pPr indent="0" lvl="0" marL="0" rtl="0" algn="l">
              <a:lnSpc>
                <a:spcPct val="115000"/>
              </a:lnSpc>
              <a:spcBef>
                <a:spcPts val="1900"/>
              </a:spcBef>
              <a:spcAft>
                <a:spcPts val="0"/>
              </a:spcAft>
              <a:buClr>
                <a:schemeClr val="dk1"/>
              </a:buClr>
              <a:buSzPct val="84615"/>
              <a:buFont typeface="Arial"/>
              <a:buNone/>
            </a:pPr>
            <a:r>
              <a:rPr lang="en-US" sz="1300">
                <a:solidFill>
                  <a:srgbClr val="222222"/>
                </a:solidFill>
                <a:highlight>
                  <a:srgbClr val="FFFFFF"/>
                </a:highlight>
              </a:rPr>
              <a:t>1. List the activities and milestones</a:t>
            </a:r>
            <a:endParaRPr sz="1300">
              <a:solidFill>
                <a:srgbClr val="222222"/>
              </a:solidFill>
              <a:highlight>
                <a:srgbClr val="FFFFFF"/>
              </a:highlight>
            </a:endParaRPr>
          </a:p>
          <a:p>
            <a:pPr indent="0" lvl="0" marL="0" rtl="0" algn="l">
              <a:lnSpc>
                <a:spcPct val="115000"/>
              </a:lnSpc>
              <a:spcBef>
                <a:spcPts val="1900"/>
              </a:spcBef>
              <a:spcAft>
                <a:spcPts val="0"/>
              </a:spcAft>
              <a:buClr>
                <a:schemeClr val="dk1"/>
              </a:buClr>
              <a:buSzPct val="84615"/>
              <a:buFont typeface="Arial"/>
              <a:buNone/>
            </a:pPr>
            <a:r>
              <a:rPr lang="en-US" sz="1300">
                <a:solidFill>
                  <a:srgbClr val="222222"/>
                </a:solidFill>
                <a:highlight>
                  <a:srgbClr val="FFFFFF"/>
                </a:highlight>
              </a:rPr>
              <a:t>The first step is to determine the tasks required to complete the project.</a:t>
            </a:r>
            <a:endParaRPr sz="1300">
              <a:solidFill>
                <a:srgbClr val="222222"/>
              </a:solidFill>
              <a:highlight>
                <a:srgbClr val="FFFFFF"/>
              </a:highlight>
            </a:endParaRPr>
          </a:p>
          <a:p>
            <a:pPr indent="0" lvl="0" marL="0" rtl="0" algn="l">
              <a:lnSpc>
                <a:spcPct val="115000"/>
              </a:lnSpc>
              <a:spcBef>
                <a:spcPts val="1900"/>
              </a:spcBef>
              <a:spcAft>
                <a:spcPts val="0"/>
              </a:spcAft>
              <a:buClr>
                <a:schemeClr val="dk1"/>
              </a:buClr>
              <a:buSzPct val="84615"/>
              <a:buFont typeface="Arial"/>
              <a:buNone/>
            </a:pPr>
            <a:r>
              <a:rPr lang="en-US" sz="1300">
                <a:solidFill>
                  <a:srgbClr val="222222"/>
                </a:solidFill>
                <a:highlight>
                  <a:srgbClr val="FFFFFF"/>
                </a:highlight>
              </a:rPr>
              <a:t>2. Determine the sequence of activities</a:t>
            </a:r>
            <a:endParaRPr sz="1300">
              <a:solidFill>
                <a:srgbClr val="222222"/>
              </a:solidFill>
              <a:highlight>
                <a:srgbClr val="FFFFFF"/>
              </a:highlight>
            </a:endParaRPr>
          </a:p>
          <a:p>
            <a:pPr indent="0" lvl="0" marL="0" rtl="0" algn="l">
              <a:lnSpc>
                <a:spcPct val="115000"/>
              </a:lnSpc>
              <a:spcBef>
                <a:spcPts val="1900"/>
              </a:spcBef>
              <a:spcAft>
                <a:spcPts val="0"/>
              </a:spcAft>
              <a:buClr>
                <a:schemeClr val="dk1"/>
              </a:buClr>
              <a:buSzPct val="84615"/>
              <a:buFont typeface="Arial"/>
              <a:buNone/>
            </a:pPr>
            <a:r>
              <a:rPr lang="en-US" sz="1300">
                <a:solidFill>
                  <a:srgbClr val="222222"/>
                </a:solidFill>
                <a:highlight>
                  <a:srgbClr val="FFFFFF"/>
                </a:highlight>
              </a:rPr>
              <a:t>The second step is to determine the order of the activities. Which activity is the predecessor which one is the successor? It is easy to determine the sequence of some activities however the sequence of some tasks may require deep analysis.</a:t>
            </a:r>
            <a:endParaRPr sz="1300">
              <a:solidFill>
                <a:srgbClr val="222222"/>
              </a:solidFill>
              <a:highlight>
                <a:srgbClr val="FFFFFF"/>
              </a:highlight>
            </a:endParaRPr>
          </a:p>
          <a:p>
            <a:pPr indent="0" lvl="0" marL="0" rtl="0" algn="l">
              <a:lnSpc>
                <a:spcPct val="115000"/>
              </a:lnSpc>
              <a:spcBef>
                <a:spcPts val="1900"/>
              </a:spcBef>
              <a:spcAft>
                <a:spcPts val="0"/>
              </a:spcAft>
              <a:buClr>
                <a:schemeClr val="dk1"/>
              </a:buClr>
              <a:buSzPct val="84615"/>
              <a:buFont typeface="Arial"/>
              <a:buNone/>
            </a:pPr>
            <a:r>
              <a:rPr lang="en-US" sz="1300">
                <a:solidFill>
                  <a:srgbClr val="222222"/>
                </a:solidFill>
                <a:highlight>
                  <a:srgbClr val="FFFFFF"/>
                </a:highlight>
              </a:rPr>
              <a:t>3. Build a network diagram</a:t>
            </a:r>
            <a:endParaRPr sz="1300">
              <a:solidFill>
                <a:srgbClr val="222222"/>
              </a:solidFill>
              <a:highlight>
                <a:srgbClr val="FFFFFF"/>
              </a:highlight>
            </a:endParaRPr>
          </a:p>
          <a:p>
            <a:pPr indent="0" lvl="0" marL="0" rtl="0" algn="l">
              <a:lnSpc>
                <a:spcPct val="115000"/>
              </a:lnSpc>
              <a:spcBef>
                <a:spcPts val="1900"/>
              </a:spcBef>
              <a:spcAft>
                <a:spcPts val="0"/>
              </a:spcAft>
              <a:buClr>
                <a:schemeClr val="dk1"/>
              </a:buClr>
              <a:buSzPct val="84615"/>
              <a:buFont typeface="Arial"/>
              <a:buNone/>
            </a:pPr>
            <a:r>
              <a:rPr lang="en-US" sz="1300">
                <a:solidFill>
                  <a:srgbClr val="222222"/>
                </a:solidFill>
                <a:highlight>
                  <a:srgbClr val="FFFFFF"/>
                </a:highlight>
              </a:rPr>
              <a:t>The third step is to create the network diagram with the help of software or by hand and place the activities on the diagram.</a:t>
            </a:r>
            <a:endParaRPr sz="1300">
              <a:solidFill>
                <a:srgbClr val="222222"/>
              </a:solidFill>
              <a:highlight>
                <a:srgbClr val="FFFFFF"/>
              </a:highlight>
            </a:endParaRPr>
          </a:p>
          <a:p>
            <a:pPr indent="0" lvl="0" marL="0" rtl="0" algn="l">
              <a:lnSpc>
                <a:spcPct val="115000"/>
              </a:lnSpc>
              <a:spcBef>
                <a:spcPts val="1900"/>
              </a:spcBef>
              <a:spcAft>
                <a:spcPts val="0"/>
              </a:spcAft>
              <a:buClr>
                <a:schemeClr val="dk1"/>
              </a:buClr>
              <a:buSzPct val="84615"/>
              <a:buFont typeface="Arial"/>
              <a:buNone/>
            </a:pPr>
            <a:r>
              <a:rPr lang="en-US" sz="1300">
                <a:solidFill>
                  <a:srgbClr val="222222"/>
                </a:solidFill>
                <a:highlight>
                  <a:srgbClr val="FFFFFF"/>
                </a:highlight>
              </a:rPr>
              <a:t>.</a:t>
            </a:r>
            <a:endParaRPr sz="1300">
              <a:solidFill>
                <a:srgbClr val="222222"/>
              </a:solidFill>
              <a:highlight>
                <a:srgbClr val="FFFFFF"/>
              </a:highlight>
            </a:endParaRPr>
          </a:p>
          <a:p>
            <a:pPr indent="0" lvl="0" marL="0" rtl="0" algn="l">
              <a:lnSpc>
                <a:spcPct val="100000"/>
              </a:lnSpc>
              <a:spcBef>
                <a:spcPts val="1900"/>
              </a:spcBef>
              <a:spcAft>
                <a:spcPts val="0"/>
              </a:spcAft>
              <a:buSzPct val="111111"/>
              <a:buNone/>
            </a:pPr>
            <a:r>
              <a:t/>
            </a:r>
            <a:endParaRPr/>
          </a:p>
        </p:txBody>
      </p:sp>
      <p:sp>
        <p:nvSpPr>
          <p:cNvPr id="231" name="Google Shape;23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37" name="Google Shape;237;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Clr>
                <a:schemeClr val="dk1"/>
              </a:buClr>
              <a:buSzPct val="91476"/>
              <a:buFont typeface="Arial"/>
              <a:buNone/>
            </a:pPr>
            <a:r>
              <a:rPr lang="en-US" sz="1300">
                <a:solidFill>
                  <a:srgbClr val="222222"/>
                </a:solidFill>
                <a:highlight>
                  <a:srgbClr val="FFFFFF"/>
                </a:highlight>
              </a:rPr>
              <a:t>4. Estimate the activity durations</a:t>
            </a:r>
            <a:endParaRPr sz="1300">
              <a:solidFill>
                <a:srgbClr val="222222"/>
              </a:solidFill>
              <a:highlight>
                <a:srgbClr val="FFFFFF"/>
              </a:highlight>
            </a:endParaRPr>
          </a:p>
          <a:p>
            <a:pPr indent="0" lvl="0" marL="0" rtl="0" algn="l">
              <a:lnSpc>
                <a:spcPct val="115000"/>
              </a:lnSpc>
              <a:spcBef>
                <a:spcPts val="1900"/>
              </a:spcBef>
              <a:spcAft>
                <a:spcPts val="0"/>
              </a:spcAft>
              <a:buClr>
                <a:schemeClr val="dk1"/>
              </a:buClr>
              <a:buSzPct val="91476"/>
              <a:buFont typeface="Arial"/>
              <a:buNone/>
            </a:pPr>
            <a:r>
              <a:rPr lang="en-US" sz="1300">
                <a:solidFill>
                  <a:srgbClr val="222222"/>
                </a:solidFill>
                <a:highlight>
                  <a:srgbClr val="FFFFFF"/>
                </a:highlight>
              </a:rPr>
              <a:t>The PERT Method uses three duration estimates for activities which are;</a:t>
            </a:r>
            <a:endParaRPr sz="1300">
              <a:solidFill>
                <a:srgbClr val="222222"/>
              </a:solidFill>
              <a:highlight>
                <a:srgbClr val="FFFFFF"/>
              </a:highlight>
            </a:endParaRPr>
          </a:p>
          <a:p>
            <a:pPr indent="-311150" lvl="0" marL="876300" rtl="0" algn="l">
              <a:lnSpc>
                <a:spcPct val="115000"/>
              </a:lnSpc>
              <a:spcBef>
                <a:spcPts val="1900"/>
              </a:spcBef>
              <a:spcAft>
                <a:spcPts val="0"/>
              </a:spcAft>
              <a:buClr>
                <a:srgbClr val="222222"/>
              </a:buClr>
              <a:buSzPct val="108108"/>
              <a:buChar char="●"/>
            </a:pPr>
            <a:r>
              <a:rPr lang="en-US" sz="1300">
                <a:solidFill>
                  <a:srgbClr val="222222"/>
                </a:solidFill>
                <a:highlight>
                  <a:srgbClr val="FFFFFF"/>
                </a:highlight>
              </a:rPr>
              <a:t>Optimistic Estimate</a:t>
            </a:r>
            <a:endParaRPr sz="1300">
              <a:solidFill>
                <a:srgbClr val="222222"/>
              </a:solidFill>
              <a:highlight>
                <a:srgbClr val="FFFFFF"/>
              </a:highlight>
            </a:endParaRPr>
          </a:p>
          <a:p>
            <a:pPr indent="-311150" lvl="0" marL="876300" rtl="0" algn="l">
              <a:lnSpc>
                <a:spcPct val="115000"/>
              </a:lnSpc>
              <a:spcBef>
                <a:spcPts val="0"/>
              </a:spcBef>
              <a:spcAft>
                <a:spcPts val="0"/>
              </a:spcAft>
              <a:buClr>
                <a:srgbClr val="222222"/>
              </a:buClr>
              <a:buSzPct val="108108"/>
              <a:buChar char="●"/>
            </a:pPr>
            <a:r>
              <a:rPr lang="en-US" sz="1300">
                <a:solidFill>
                  <a:srgbClr val="222222"/>
                </a:solidFill>
                <a:highlight>
                  <a:srgbClr val="FFFFFF"/>
                </a:highlight>
              </a:rPr>
              <a:t>Pessimistic Estimate</a:t>
            </a:r>
            <a:endParaRPr sz="1300">
              <a:solidFill>
                <a:srgbClr val="222222"/>
              </a:solidFill>
              <a:highlight>
                <a:srgbClr val="FFFFFF"/>
              </a:highlight>
            </a:endParaRPr>
          </a:p>
          <a:p>
            <a:pPr indent="-311150" lvl="0" marL="876300" rtl="0" algn="l">
              <a:lnSpc>
                <a:spcPct val="115000"/>
              </a:lnSpc>
              <a:spcBef>
                <a:spcPts val="0"/>
              </a:spcBef>
              <a:spcAft>
                <a:spcPts val="0"/>
              </a:spcAft>
              <a:buClr>
                <a:srgbClr val="222222"/>
              </a:buClr>
              <a:buSzPct val="108108"/>
              <a:buChar char="●"/>
            </a:pPr>
            <a:r>
              <a:rPr lang="en-US" sz="1300">
                <a:solidFill>
                  <a:srgbClr val="222222"/>
                </a:solidFill>
                <a:highlight>
                  <a:srgbClr val="FFFFFF"/>
                </a:highlight>
              </a:rPr>
              <a:t>Most Likely Estimate</a:t>
            </a:r>
            <a:endParaRPr sz="1300">
              <a:solidFill>
                <a:srgbClr val="222222"/>
              </a:solidFill>
              <a:highlight>
                <a:srgbClr val="FFFFFF"/>
              </a:highlight>
            </a:endParaRPr>
          </a:p>
          <a:p>
            <a:pPr indent="0" lvl="0" marL="0" rtl="0" algn="l">
              <a:lnSpc>
                <a:spcPct val="115000"/>
              </a:lnSpc>
              <a:spcBef>
                <a:spcPts val="1900"/>
              </a:spcBef>
              <a:spcAft>
                <a:spcPts val="0"/>
              </a:spcAft>
              <a:buClr>
                <a:schemeClr val="dk1"/>
              </a:buClr>
              <a:buSzPct val="91476"/>
              <a:buFont typeface="Arial"/>
              <a:buNone/>
            </a:pPr>
            <a:r>
              <a:rPr lang="en-US" sz="1300">
                <a:solidFill>
                  <a:srgbClr val="222222"/>
                </a:solidFill>
                <a:highlight>
                  <a:srgbClr val="FFFFFF"/>
                </a:highlight>
              </a:rPr>
              <a:t>With the help of three estimates, expected duration is calculated.</a:t>
            </a:r>
            <a:endParaRPr sz="1300">
              <a:solidFill>
                <a:srgbClr val="222222"/>
              </a:solidFill>
              <a:highlight>
                <a:srgbClr val="FFFFFF"/>
              </a:highlight>
            </a:endParaRPr>
          </a:p>
          <a:p>
            <a:pPr indent="0" lvl="0" marL="0" rtl="0" algn="l">
              <a:lnSpc>
                <a:spcPct val="115000"/>
              </a:lnSpc>
              <a:spcBef>
                <a:spcPts val="1900"/>
              </a:spcBef>
              <a:spcAft>
                <a:spcPts val="0"/>
              </a:spcAft>
              <a:buClr>
                <a:schemeClr val="dk1"/>
              </a:buClr>
              <a:buSzPct val="91476"/>
              <a:buFont typeface="Arial"/>
              <a:buNone/>
            </a:pPr>
            <a:r>
              <a:rPr lang="en-US" sz="1300">
                <a:solidFill>
                  <a:srgbClr val="222222"/>
                </a:solidFill>
                <a:highlight>
                  <a:srgbClr val="FFFFFF"/>
                </a:highlight>
              </a:rPr>
              <a:t>5. Determine the critical path</a:t>
            </a:r>
            <a:endParaRPr sz="1300">
              <a:solidFill>
                <a:srgbClr val="222222"/>
              </a:solidFill>
              <a:highlight>
                <a:srgbClr val="FFFFFF"/>
              </a:highlight>
            </a:endParaRPr>
          </a:p>
          <a:p>
            <a:pPr indent="0" lvl="0" marL="0" rtl="0" algn="l">
              <a:lnSpc>
                <a:spcPct val="115000"/>
              </a:lnSpc>
              <a:spcBef>
                <a:spcPts val="1900"/>
              </a:spcBef>
              <a:spcAft>
                <a:spcPts val="1900"/>
              </a:spcAft>
              <a:buClr>
                <a:schemeClr val="dk1"/>
              </a:buClr>
              <a:buSzPct val="91476"/>
              <a:buFont typeface="Arial"/>
              <a:buNone/>
            </a:pPr>
            <a:r>
              <a:rPr lang="en-US" sz="1300">
                <a:solidFill>
                  <a:srgbClr val="222222"/>
                </a:solidFill>
                <a:highlight>
                  <a:srgbClr val="FFFFFF"/>
                </a:highlight>
              </a:rPr>
              <a:t>The critical path is the longest path of the network diagram. Forward and backward pass calculations is used to determine the critical path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5"/>
          <p:cNvSpPr txBox="1"/>
          <p:nvPr>
            <p:ph type="title"/>
          </p:nvPr>
        </p:nvSpPr>
        <p:spPr>
          <a:xfrm>
            <a:off x="257325" y="753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Example of PERT in Action:</a:t>
            </a:r>
            <a:endParaRPr/>
          </a:p>
        </p:txBody>
      </p:sp>
      <p:sp>
        <p:nvSpPr>
          <p:cNvPr id="243" name="Google Shape;243;p25"/>
          <p:cNvSpPr txBox="1"/>
          <p:nvPr>
            <p:ph idx="1" type="body"/>
          </p:nvPr>
        </p:nvSpPr>
        <p:spPr>
          <a:xfrm>
            <a:off x="257400" y="693600"/>
            <a:ext cx="8759400" cy="42585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b="1" lang="en-US" sz="1200"/>
              <a:t>Design Approval (Activity A):</a:t>
            </a:r>
            <a:endParaRPr b="1" sz="1200"/>
          </a:p>
          <a:p>
            <a:pPr indent="-304800" lvl="0" marL="457200" rtl="0" algn="l">
              <a:lnSpc>
                <a:spcPct val="95000"/>
              </a:lnSpc>
              <a:spcBef>
                <a:spcPts val="1200"/>
              </a:spcBef>
              <a:spcAft>
                <a:spcPts val="0"/>
              </a:spcAft>
              <a:buSzPts val="1200"/>
              <a:buChar char="●"/>
            </a:pPr>
            <a:r>
              <a:rPr lang="en-US" sz="1200"/>
              <a:t>Optimistic Time (O): 5 days</a:t>
            </a:r>
            <a:endParaRPr sz="1200"/>
          </a:p>
          <a:p>
            <a:pPr indent="-304800" lvl="0" marL="457200" rtl="0" algn="l">
              <a:lnSpc>
                <a:spcPct val="95000"/>
              </a:lnSpc>
              <a:spcBef>
                <a:spcPts val="0"/>
              </a:spcBef>
              <a:spcAft>
                <a:spcPts val="0"/>
              </a:spcAft>
              <a:buSzPts val="1200"/>
              <a:buChar char="●"/>
            </a:pPr>
            <a:r>
              <a:rPr lang="en-US" sz="1200"/>
              <a:t>Most Likely Time (M): 8 days</a:t>
            </a:r>
            <a:endParaRPr sz="1200"/>
          </a:p>
          <a:p>
            <a:pPr indent="-304800" lvl="0" marL="457200" rtl="0" algn="l">
              <a:lnSpc>
                <a:spcPct val="95000"/>
              </a:lnSpc>
              <a:spcBef>
                <a:spcPts val="0"/>
              </a:spcBef>
              <a:spcAft>
                <a:spcPts val="0"/>
              </a:spcAft>
              <a:buSzPts val="1200"/>
              <a:buChar char="●"/>
            </a:pPr>
            <a:r>
              <a:rPr lang="en-US" sz="1200"/>
              <a:t>Pessimistic Time (P): 12 days</a:t>
            </a:r>
            <a:endParaRPr sz="1200"/>
          </a:p>
          <a:p>
            <a:pPr indent="-304800" lvl="0" marL="457200" rtl="0" algn="l">
              <a:lnSpc>
                <a:spcPct val="95000"/>
              </a:lnSpc>
              <a:spcBef>
                <a:spcPts val="0"/>
              </a:spcBef>
              <a:spcAft>
                <a:spcPts val="0"/>
              </a:spcAft>
              <a:buSzPts val="1200"/>
              <a:buChar char="●"/>
            </a:pPr>
            <a:r>
              <a:rPr lang="en-US" sz="1200"/>
              <a:t>Expected Time (TE) = (5+4(8)+12)/6= 8.5days</a:t>
            </a:r>
            <a:endParaRPr sz="1200"/>
          </a:p>
          <a:p>
            <a:pPr indent="0" lvl="0" marL="0" rtl="0" algn="l">
              <a:lnSpc>
                <a:spcPct val="115000"/>
              </a:lnSpc>
              <a:spcBef>
                <a:spcPts val="1200"/>
              </a:spcBef>
              <a:spcAft>
                <a:spcPts val="0"/>
              </a:spcAft>
              <a:buSzPts val="1100"/>
              <a:buNone/>
            </a:pPr>
            <a:r>
              <a:rPr b="1" lang="en-US" sz="1200"/>
              <a:t>Foundation Laying (Activity B):</a:t>
            </a:r>
            <a:endParaRPr b="1" sz="1200"/>
          </a:p>
          <a:p>
            <a:pPr indent="-298450" lvl="0" marL="457200" rtl="0" algn="l">
              <a:lnSpc>
                <a:spcPct val="115000"/>
              </a:lnSpc>
              <a:spcBef>
                <a:spcPts val="1200"/>
              </a:spcBef>
              <a:spcAft>
                <a:spcPts val="0"/>
              </a:spcAft>
              <a:buClr>
                <a:schemeClr val="dk1"/>
              </a:buClr>
              <a:buSzPts val="1100"/>
              <a:buChar char="●"/>
            </a:pPr>
            <a:r>
              <a:rPr lang="en-US" sz="1200"/>
              <a:t>Optimistic Time (O): 7 days</a:t>
            </a:r>
            <a:endParaRPr sz="1200"/>
          </a:p>
          <a:p>
            <a:pPr indent="-298450" lvl="0" marL="457200" rtl="0" algn="l">
              <a:lnSpc>
                <a:spcPct val="115000"/>
              </a:lnSpc>
              <a:spcBef>
                <a:spcPts val="0"/>
              </a:spcBef>
              <a:spcAft>
                <a:spcPts val="0"/>
              </a:spcAft>
              <a:buClr>
                <a:schemeClr val="dk1"/>
              </a:buClr>
              <a:buSzPts val="1100"/>
              <a:buChar char="●"/>
            </a:pPr>
            <a:r>
              <a:rPr lang="en-US" sz="1200"/>
              <a:t>Most Likely Time (M): 10 days</a:t>
            </a:r>
            <a:endParaRPr sz="1200"/>
          </a:p>
          <a:p>
            <a:pPr indent="-298450" lvl="0" marL="457200" rtl="0" algn="l">
              <a:lnSpc>
                <a:spcPct val="115000"/>
              </a:lnSpc>
              <a:spcBef>
                <a:spcPts val="0"/>
              </a:spcBef>
              <a:spcAft>
                <a:spcPts val="0"/>
              </a:spcAft>
              <a:buClr>
                <a:schemeClr val="dk1"/>
              </a:buClr>
              <a:buSzPts val="1100"/>
              <a:buChar char="●"/>
            </a:pPr>
            <a:r>
              <a:rPr lang="en-US" sz="1200"/>
              <a:t>Pessimistic Time (P): 14 days</a:t>
            </a:r>
            <a:endParaRPr sz="1200"/>
          </a:p>
          <a:p>
            <a:pPr indent="-298450" lvl="0" marL="457200" rtl="0" algn="l">
              <a:lnSpc>
                <a:spcPct val="115000"/>
              </a:lnSpc>
              <a:spcBef>
                <a:spcPts val="0"/>
              </a:spcBef>
              <a:spcAft>
                <a:spcPts val="0"/>
              </a:spcAft>
              <a:buClr>
                <a:schemeClr val="dk1"/>
              </a:buClr>
              <a:buSzPts val="1100"/>
              <a:buChar char="●"/>
            </a:pPr>
            <a:r>
              <a:rPr lang="en-US" sz="1200"/>
              <a:t>Expected Time (TE) = (7+4(10)+14)/6=10.5days</a:t>
            </a:r>
            <a:endParaRPr sz="1200"/>
          </a:p>
          <a:p>
            <a:pPr indent="0" lvl="0" marL="0" rtl="0" algn="l">
              <a:lnSpc>
                <a:spcPct val="115000"/>
              </a:lnSpc>
              <a:spcBef>
                <a:spcPts val="1200"/>
              </a:spcBef>
              <a:spcAft>
                <a:spcPts val="0"/>
              </a:spcAft>
              <a:buSzPts val="1800"/>
              <a:buNone/>
            </a:pPr>
            <a:r>
              <a:rPr b="1" lang="en-US" sz="1200"/>
              <a:t>Framing the Structure (Activity C):</a:t>
            </a:r>
            <a:endParaRPr b="1" sz="1200"/>
          </a:p>
          <a:p>
            <a:pPr indent="-298450" lvl="0" marL="457200" rtl="0" algn="l">
              <a:lnSpc>
                <a:spcPct val="115000"/>
              </a:lnSpc>
              <a:spcBef>
                <a:spcPts val="1200"/>
              </a:spcBef>
              <a:spcAft>
                <a:spcPts val="0"/>
              </a:spcAft>
              <a:buClr>
                <a:schemeClr val="dk1"/>
              </a:buClr>
              <a:buSzPts val="1100"/>
              <a:buChar char="●"/>
            </a:pPr>
            <a:r>
              <a:rPr lang="en-US" sz="1200"/>
              <a:t>Optimistic Time (O): 10 days</a:t>
            </a:r>
            <a:endParaRPr sz="1200"/>
          </a:p>
          <a:p>
            <a:pPr indent="-298450" lvl="0" marL="457200" rtl="0" algn="l">
              <a:lnSpc>
                <a:spcPct val="115000"/>
              </a:lnSpc>
              <a:spcBef>
                <a:spcPts val="0"/>
              </a:spcBef>
              <a:spcAft>
                <a:spcPts val="0"/>
              </a:spcAft>
              <a:buClr>
                <a:schemeClr val="dk1"/>
              </a:buClr>
              <a:buSzPts val="1100"/>
              <a:buChar char="●"/>
            </a:pPr>
            <a:r>
              <a:rPr lang="en-US" sz="1200"/>
              <a:t>Most Likely Time (M): 15 days</a:t>
            </a:r>
            <a:endParaRPr sz="1200"/>
          </a:p>
          <a:p>
            <a:pPr indent="-298450" lvl="0" marL="457200" rtl="0" algn="l">
              <a:lnSpc>
                <a:spcPct val="115000"/>
              </a:lnSpc>
              <a:spcBef>
                <a:spcPts val="0"/>
              </a:spcBef>
              <a:spcAft>
                <a:spcPts val="0"/>
              </a:spcAft>
              <a:buClr>
                <a:schemeClr val="dk1"/>
              </a:buClr>
              <a:buSzPts val="1100"/>
              <a:buChar char="●"/>
            </a:pPr>
            <a:r>
              <a:rPr lang="en-US" sz="1200"/>
              <a:t>Pessimistic Time (P): 25 days</a:t>
            </a:r>
            <a:endParaRPr sz="1200"/>
          </a:p>
          <a:p>
            <a:pPr indent="-298450" lvl="0" marL="457200" rtl="0" algn="l">
              <a:lnSpc>
                <a:spcPct val="115000"/>
              </a:lnSpc>
              <a:spcBef>
                <a:spcPts val="0"/>
              </a:spcBef>
              <a:spcAft>
                <a:spcPts val="0"/>
              </a:spcAft>
              <a:buClr>
                <a:schemeClr val="dk1"/>
              </a:buClr>
              <a:buSzPts val="1100"/>
              <a:buChar char="●"/>
            </a:pPr>
            <a:r>
              <a:rPr lang="en-US" sz="1200"/>
              <a:t>Expected Time (TE) = (10+4(15)+25)/6=16.7 days</a:t>
            </a:r>
            <a:endParaRPr sz="1200"/>
          </a:p>
          <a:p>
            <a:pPr indent="0" lvl="0" marL="0" rtl="0" algn="l">
              <a:lnSpc>
                <a:spcPct val="95000"/>
              </a:lnSpc>
              <a:spcBef>
                <a:spcPts val="1200"/>
              </a:spcBef>
              <a:spcAft>
                <a:spcPts val="1200"/>
              </a:spcAft>
              <a:buSzPts val="275"/>
              <a:buNone/>
            </a:pPr>
            <a:r>
              <a:t/>
            </a: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49" name="Google Shape;249;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Now, let’s look at the dependency of these activities: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Activity A (Design Approval) must be completed before Activity B (Foundation Laying) starts.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Activity B (Foundation Laying) must be completed before Activity C (Framing the Structure) starts.</a:t>
            </a:r>
            <a:endParaRPr sz="1100">
              <a:solidFill>
                <a:schemeClr val="dk1"/>
              </a:solidFill>
            </a:endParaRPr>
          </a:p>
          <a:p>
            <a:pPr indent="0" lvl="0" marL="0" rtl="0" algn="l">
              <a:lnSpc>
                <a:spcPct val="115000"/>
              </a:lnSpc>
              <a:spcBef>
                <a:spcPts val="1200"/>
              </a:spcBef>
              <a:spcAft>
                <a:spcPts val="0"/>
              </a:spcAft>
              <a:buSzPts val="1800"/>
              <a:buNone/>
            </a:pPr>
            <a:r>
              <a:rPr lang="en-US" sz="1100">
                <a:solidFill>
                  <a:schemeClr val="dk1"/>
                </a:solidFill>
              </a:rPr>
              <a:t>Based on these dependencies, a </a:t>
            </a:r>
            <a:r>
              <a:rPr b="1" lang="en-US" sz="1100">
                <a:solidFill>
                  <a:schemeClr val="dk1"/>
                </a:solidFill>
              </a:rPr>
              <a:t>network diagram</a:t>
            </a:r>
            <a:r>
              <a:rPr lang="en-US" sz="1100">
                <a:solidFill>
                  <a:schemeClr val="dk1"/>
                </a:solidFill>
              </a:rPr>
              <a:t> can be created showing the flow of activities.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55" name="Google Shape;255;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56" name="Google Shape;256;p27"/>
          <p:cNvPicPr preferRelativeResize="0"/>
          <p:nvPr/>
        </p:nvPicPr>
        <p:blipFill rotWithShape="1">
          <a:blip r:embed="rId3">
            <a:alphaModFix/>
          </a:blip>
          <a:srcRect b="0" l="0" r="0" t="0"/>
          <a:stretch/>
        </p:blipFill>
        <p:spPr>
          <a:xfrm>
            <a:off x="0" y="95994"/>
            <a:ext cx="9144003" cy="495151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62" name="Google Shape;26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63" name="Google Shape;263;p28"/>
          <p:cNvPicPr preferRelativeResize="0"/>
          <p:nvPr/>
        </p:nvPicPr>
        <p:blipFill rotWithShape="1">
          <a:blip r:embed="rId3">
            <a:alphaModFix/>
          </a:blip>
          <a:srcRect b="0" l="0" r="0" t="0"/>
          <a:stretch/>
        </p:blipFill>
        <p:spPr>
          <a:xfrm>
            <a:off x="887601" y="104900"/>
            <a:ext cx="6111326" cy="2759175"/>
          </a:xfrm>
          <a:prstGeom prst="rect">
            <a:avLst/>
          </a:prstGeom>
          <a:noFill/>
          <a:ln>
            <a:noFill/>
          </a:ln>
        </p:spPr>
      </p:pic>
      <p:pic>
        <p:nvPicPr>
          <p:cNvPr id="264" name="Google Shape;264;p28"/>
          <p:cNvPicPr preferRelativeResize="0"/>
          <p:nvPr/>
        </p:nvPicPr>
        <p:blipFill rotWithShape="1">
          <a:blip r:embed="rId4">
            <a:alphaModFix/>
          </a:blip>
          <a:srcRect b="0" l="0" r="0" t="0"/>
          <a:stretch/>
        </p:blipFill>
        <p:spPr>
          <a:xfrm>
            <a:off x="963800" y="2843450"/>
            <a:ext cx="6302999" cy="2223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Example :</a:t>
            </a:r>
            <a:endParaRPr/>
          </a:p>
        </p:txBody>
      </p:sp>
      <p:sp>
        <p:nvSpPr>
          <p:cNvPr id="270" name="Google Shape;270;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71" name="Google Shape;271;p29"/>
          <p:cNvPicPr preferRelativeResize="0"/>
          <p:nvPr/>
        </p:nvPicPr>
        <p:blipFill rotWithShape="1">
          <a:blip r:embed="rId3">
            <a:alphaModFix/>
          </a:blip>
          <a:srcRect b="0" l="0" r="0" t="0"/>
          <a:stretch/>
        </p:blipFill>
        <p:spPr>
          <a:xfrm>
            <a:off x="513550" y="1276625"/>
            <a:ext cx="7825751" cy="35744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77" name="Google Shape;277;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78" name="Google Shape;278;p30"/>
          <p:cNvPicPr preferRelativeResize="0"/>
          <p:nvPr/>
        </p:nvPicPr>
        <p:blipFill rotWithShape="1">
          <a:blip r:embed="rId3">
            <a:alphaModFix/>
          </a:blip>
          <a:srcRect b="0" l="0" r="0" t="0"/>
          <a:stretch/>
        </p:blipFill>
        <p:spPr>
          <a:xfrm>
            <a:off x="390525" y="1108625"/>
            <a:ext cx="8362950" cy="36004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84" name="Google Shape;284;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85" name="Google Shape;285;p31"/>
          <p:cNvPicPr preferRelativeResize="0"/>
          <p:nvPr/>
        </p:nvPicPr>
        <p:blipFill rotWithShape="1">
          <a:blip r:embed="rId3">
            <a:alphaModFix/>
          </a:blip>
          <a:srcRect b="0" l="0" r="0" t="0"/>
          <a:stretch/>
        </p:blipFill>
        <p:spPr>
          <a:xfrm>
            <a:off x="135963" y="543150"/>
            <a:ext cx="8696325" cy="39052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91" name="Google Shape;291;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92" name="Google Shape;292;p32"/>
          <p:cNvPicPr preferRelativeResize="0"/>
          <p:nvPr/>
        </p:nvPicPr>
        <p:blipFill rotWithShape="1">
          <a:blip r:embed="rId3">
            <a:alphaModFix/>
          </a:blip>
          <a:srcRect b="0" l="0" r="0" t="0"/>
          <a:stretch/>
        </p:blipFill>
        <p:spPr>
          <a:xfrm>
            <a:off x="138100" y="438150"/>
            <a:ext cx="8867775" cy="4267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98" name="Google Shape;298;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99" name="Google Shape;299;p33"/>
          <p:cNvPicPr preferRelativeResize="0"/>
          <p:nvPr/>
        </p:nvPicPr>
        <p:blipFill rotWithShape="1">
          <a:blip r:embed="rId3">
            <a:alphaModFix/>
          </a:blip>
          <a:srcRect b="0" l="0" r="0" t="0"/>
          <a:stretch/>
        </p:blipFill>
        <p:spPr>
          <a:xfrm>
            <a:off x="366050" y="445024"/>
            <a:ext cx="8118526" cy="1094550"/>
          </a:xfrm>
          <a:prstGeom prst="rect">
            <a:avLst/>
          </a:prstGeom>
          <a:noFill/>
          <a:ln>
            <a:noFill/>
          </a:ln>
        </p:spPr>
      </p:pic>
      <p:pic>
        <p:nvPicPr>
          <p:cNvPr id="300" name="Google Shape;300;p33"/>
          <p:cNvPicPr preferRelativeResize="0"/>
          <p:nvPr/>
        </p:nvPicPr>
        <p:blipFill rotWithShape="1">
          <a:blip r:embed="rId4">
            <a:alphaModFix/>
          </a:blip>
          <a:srcRect b="0" l="0" r="0" t="0"/>
          <a:stretch/>
        </p:blipFill>
        <p:spPr>
          <a:xfrm>
            <a:off x="366050" y="1786525"/>
            <a:ext cx="7759150" cy="29097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306" name="Google Shape;306;p34"/>
          <p:cNvSpPr txBox="1"/>
          <p:nvPr>
            <p:ph idx="1" type="body"/>
          </p:nvPr>
        </p:nvSpPr>
        <p:spPr>
          <a:xfrm>
            <a:off x="415609" y="331593"/>
            <a:ext cx="8520600" cy="3416400"/>
          </a:xfrm>
          <a:prstGeom prst="rect">
            <a:avLst/>
          </a:prstGeom>
          <a:noFill/>
          <a:ln>
            <a:noFill/>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SzPts val="1800"/>
              <a:buNone/>
            </a:pPr>
            <a:r>
              <a:rPr b="1" lang="en-US"/>
              <a:t>Calculate:</a:t>
            </a:r>
            <a:endParaRPr/>
          </a:p>
          <a:p>
            <a:pPr indent="-342900" lvl="0" marL="457200" rtl="0" algn="l">
              <a:lnSpc>
                <a:spcPct val="115000"/>
              </a:lnSpc>
              <a:spcBef>
                <a:spcPts val="0"/>
              </a:spcBef>
              <a:spcAft>
                <a:spcPts val="0"/>
              </a:spcAft>
              <a:buSzPts val="1800"/>
              <a:buChar char="●"/>
            </a:pPr>
            <a:r>
              <a:rPr lang="en-US" sz="1600"/>
              <a:t>Variance</a:t>
            </a:r>
            <a:endParaRPr/>
          </a:p>
          <a:p>
            <a:pPr indent="-342900" lvl="0" marL="457200" rtl="0" algn="l">
              <a:lnSpc>
                <a:spcPct val="115000"/>
              </a:lnSpc>
              <a:spcBef>
                <a:spcPts val="0"/>
              </a:spcBef>
              <a:spcAft>
                <a:spcPts val="0"/>
              </a:spcAft>
              <a:buSzPts val="1800"/>
              <a:buChar char="●"/>
            </a:pPr>
            <a:r>
              <a:rPr lang="en-US" sz="1600"/>
              <a:t>Standard deviation</a:t>
            </a:r>
            <a:endParaRPr/>
          </a:p>
          <a:p>
            <a:pPr indent="-342900" lvl="0" marL="457200" rtl="0" algn="l">
              <a:lnSpc>
                <a:spcPct val="115000"/>
              </a:lnSpc>
              <a:spcBef>
                <a:spcPts val="0"/>
              </a:spcBef>
              <a:spcAft>
                <a:spcPts val="0"/>
              </a:spcAft>
              <a:buSzPts val="1800"/>
              <a:buChar char="●"/>
            </a:pPr>
            <a:r>
              <a:rPr lang="en-US" sz="1600"/>
              <a:t>Expected project duration along the critical path</a:t>
            </a:r>
            <a:endParaRPr/>
          </a:p>
          <a:p>
            <a:pPr indent="-342900" lvl="0" marL="457200" rtl="0" algn="l">
              <a:lnSpc>
                <a:spcPct val="115000"/>
              </a:lnSpc>
              <a:spcBef>
                <a:spcPts val="0"/>
              </a:spcBef>
              <a:spcAft>
                <a:spcPts val="0"/>
              </a:spcAft>
              <a:buSzPts val="1800"/>
              <a:buChar char="●"/>
            </a:pPr>
            <a:r>
              <a:rPr lang="en-US" sz="1600"/>
              <a:t>Expected variance of the critical path</a:t>
            </a:r>
            <a:endParaRPr/>
          </a:p>
          <a:p>
            <a:pPr indent="-342900" lvl="0" marL="457200" rtl="0" algn="l">
              <a:lnSpc>
                <a:spcPct val="115000"/>
              </a:lnSpc>
              <a:spcBef>
                <a:spcPts val="0"/>
              </a:spcBef>
              <a:spcAft>
                <a:spcPts val="0"/>
              </a:spcAft>
              <a:buSzPts val="1800"/>
              <a:buChar char="●"/>
            </a:pPr>
            <a:r>
              <a:rPr lang="en-US" sz="1600"/>
              <a:t>Expected standard deviation of critical </a:t>
            </a:r>
            <a:endParaRPr/>
          </a:p>
          <a:p>
            <a:pPr indent="0" lvl="0" marL="114300" rtl="0" algn="l">
              <a:lnSpc>
                <a:spcPct val="115000"/>
              </a:lnSpc>
              <a:spcBef>
                <a:spcPts val="0"/>
              </a:spcBef>
              <a:spcAft>
                <a:spcPts val="0"/>
              </a:spcAft>
              <a:buSzPts val="1800"/>
              <a:buNone/>
            </a:pPr>
            <a:r>
              <a:rPr lang="en-US" sz="1600"/>
              <a:t>path</a:t>
            </a:r>
            <a:endParaRPr/>
          </a:p>
          <a:p>
            <a:pPr indent="-228600" lvl="0" marL="457200" rtl="0" algn="l">
              <a:lnSpc>
                <a:spcPct val="115000"/>
              </a:lnSpc>
              <a:spcBef>
                <a:spcPts val="0"/>
              </a:spcBef>
              <a:spcAft>
                <a:spcPts val="0"/>
              </a:spcAft>
              <a:buSzPts val="1800"/>
              <a:buNone/>
            </a:pPr>
            <a:r>
              <a:t/>
            </a:r>
            <a:endParaRPr/>
          </a:p>
          <a:p>
            <a:pPr indent="-228600" lvl="0" marL="457200" rtl="0" algn="l">
              <a:lnSpc>
                <a:spcPct val="115000"/>
              </a:lnSpc>
              <a:spcBef>
                <a:spcPts val="0"/>
              </a:spcBef>
              <a:spcAft>
                <a:spcPts val="0"/>
              </a:spcAft>
              <a:buSzPts val="1800"/>
              <a:buNone/>
            </a:pPr>
            <a:r>
              <a:t/>
            </a:r>
            <a:endParaRPr/>
          </a:p>
        </p:txBody>
      </p:sp>
      <p:graphicFrame>
        <p:nvGraphicFramePr>
          <p:cNvPr id="307" name="Google Shape;307;p34"/>
          <p:cNvGraphicFramePr/>
          <p:nvPr/>
        </p:nvGraphicFramePr>
        <p:xfrm>
          <a:off x="4582391" y="1735281"/>
          <a:ext cx="3000000" cy="3000000"/>
        </p:xfrm>
        <a:graphic>
          <a:graphicData uri="http://schemas.openxmlformats.org/drawingml/2006/table">
            <a:tbl>
              <a:tblPr>
                <a:noFill/>
                <a:tableStyleId>{19FE2A0A-BAFB-48BB-9A3B-418421E6885A}</a:tableStyleId>
              </a:tblPr>
              <a:tblGrid>
                <a:gridCol w="1166700"/>
                <a:gridCol w="1000025"/>
                <a:gridCol w="1000025"/>
                <a:gridCol w="1000025"/>
              </a:tblGrid>
              <a:tr h="308600">
                <a:tc>
                  <a:txBody>
                    <a:bodyPr/>
                    <a:lstStyle/>
                    <a:p>
                      <a:pPr indent="0" lvl="0" marL="0" marR="0" rtl="0" algn="ctr">
                        <a:lnSpc>
                          <a:spcPct val="100000"/>
                        </a:lnSpc>
                        <a:spcBef>
                          <a:spcPts val="0"/>
                        </a:spcBef>
                        <a:spcAft>
                          <a:spcPts val="0"/>
                        </a:spcAft>
                        <a:buNone/>
                      </a:pPr>
                      <a:r>
                        <a:rPr b="1" lang="en-US" sz="1100" u="none" cap="none" strike="noStrike"/>
                        <a:t>Activity</a:t>
                      </a:r>
                      <a:endParaRPr b="1"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b="1" lang="en-US" sz="1100" u="none" cap="none" strike="noStrike"/>
                        <a:t>To</a:t>
                      </a:r>
                      <a:endParaRPr b="1"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b="1" lang="en-US" sz="1100" u="none" cap="none" strike="noStrike"/>
                        <a:t>Tm</a:t>
                      </a:r>
                      <a:endParaRPr b="1"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b="1" lang="en-US" sz="1100" u="none" cap="none" strike="noStrike"/>
                        <a:t>Tp</a:t>
                      </a:r>
                      <a:endParaRPr b="1" i="0" sz="1100" u="none" cap="none" strike="noStrike">
                        <a:solidFill>
                          <a:srgbClr val="000000"/>
                        </a:solidFill>
                        <a:latin typeface="Calibri"/>
                        <a:ea typeface="Calibri"/>
                        <a:cs typeface="Calibri"/>
                        <a:sym typeface="Calibri"/>
                      </a:endParaRPr>
                    </a:p>
                  </a:txBody>
                  <a:tcPr marT="9525" marB="0" marR="9525" marL="9525" anchor="b"/>
                </a:tc>
              </a:tr>
              <a:tr h="308600">
                <a:tc>
                  <a:txBody>
                    <a:bodyPr/>
                    <a:lstStyle/>
                    <a:p>
                      <a:pPr indent="0" lvl="0" marL="0" marR="0" rtl="0" algn="ctr">
                        <a:lnSpc>
                          <a:spcPct val="100000"/>
                        </a:lnSpc>
                        <a:spcBef>
                          <a:spcPts val="0"/>
                        </a:spcBef>
                        <a:spcAft>
                          <a:spcPts val="0"/>
                        </a:spcAft>
                        <a:buNone/>
                      </a:pPr>
                      <a:r>
                        <a:rPr lang="en-US" sz="1100" u="none" cap="none" strike="noStrike"/>
                        <a:t>1-6</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1</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7</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13</a:t>
                      </a:r>
                      <a:endParaRPr b="0" i="0" sz="1100" u="none" cap="none" strike="noStrike">
                        <a:solidFill>
                          <a:srgbClr val="000000"/>
                        </a:solidFill>
                        <a:latin typeface="Calibri"/>
                        <a:ea typeface="Calibri"/>
                        <a:cs typeface="Calibri"/>
                        <a:sym typeface="Calibri"/>
                      </a:endParaRPr>
                    </a:p>
                  </a:txBody>
                  <a:tcPr marT="9525" marB="0" marR="9525" marL="9525" anchor="b"/>
                </a:tc>
              </a:tr>
              <a:tr h="308600">
                <a:tc>
                  <a:txBody>
                    <a:bodyPr/>
                    <a:lstStyle/>
                    <a:p>
                      <a:pPr indent="0" lvl="0" marL="0" marR="0" rtl="0" algn="ctr">
                        <a:lnSpc>
                          <a:spcPct val="100000"/>
                        </a:lnSpc>
                        <a:spcBef>
                          <a:spcPts val="0"/>
                        </a:spcBef>
                        <a:spcAft>
                          <a:spcPts val="0"/>
                        </a:spcAft>
                        <a:buNone/>
                      </a:pPr>
                      <a:r>
                        <a:rPr b="0" i="0" lang="en-US" sz="1100" u="none" cap="none" strike="noStrike">
                          <a:solidFill>
                            <a:schemeClr val="dk1"/>
                          </a:solidFill>
                          <a:latin typeface="Arial"/>
                          <a:ea typeface="Arial"/>
                          <a:cs typeface="Arial"/>
                          <a:sym typeface="Arial"/>
                        </a:rPr>
                        <a:t>1-2</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2</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5</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14</a:t>
                      </a:r>
                      <a:endParaRPr b="0" i="0" sz="1100" u="none" cap="none" strike="noStrike">
                        <a:solidFill>
                          <a:srgbClr val="000000"/>
                        </a:solidFill>
                        <a:latin typeface="Calibri"/>
                        <a:ea typeface="Calibri"/>
                        <a:cs typeface="Calibri"/>
                        <a:sym typeface="Calibri"/>
                      </a:endParaRPr>
                    </a:p>
                  </a:txBody>
                  <a:tcPr marT="9525" marB="0" marR="9525" marL="9525" anchor="b"/>
                </a:tc>
              </a:tr>
              <a:tr h="308600">
                <a:tc>
                  <a:txBody>
                    <a:bodyPr/>
                    <a:lstStyle/>
                    <a:p>
                      <a:pPr indent="0" lvl="0" marL="0" marR="0" rtl="0" algn="ctr">
                        <a:lnSpc>
                          <a:spcPct val="100000"/>
                        </a:lnSpc>
                        <a:spcBef>
                          <a:spcPts val="0"/>
                        </a:spcBef>
                        <a:spcAft>
                          <a:spcPts val="0"/>
                        </a:spcAft>
                        <a:buNone/>
                      </a:pPr>
                      <a:r>
                        <a:rPr lang="en-US" sz="1100" u="none" cap="none" strike="noStrike"/>
                        <a:t>2-3</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2</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14</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26</a:t>
                      </a:r>
                      <a:endParaRPr b="0" i="0" sz="1100" u="none" cap="none" strike="noStrike">
                        <a:solidFill>
                          <a:srgbClr val="000000"/>
                        </a:solidFill>
                        <a:latin typeface="Calibri"/>
                        <a:ea typeface="Calibri"/>
                        <a:cs typeface="Calibri"/>
                        <a:sym typeface="Calibri"/>
                      </a:endParaRPr>
                    </a:p>
                  </a:txBody>
                  <a:tcPr marT="9525" marB="0" marR="9525" marL="9525" anchor="b"/>
                </a:tc>
              </a:tr>
              <a:tr h="308600">
                <a:tc>
                  <a:txBody>
                    <a:bodyPr/>
                    <a:lstStyle/>
                    <a:p>
                      <a:pPr indent="0" lvl="0" marL="0" marR="0" rtl="0" algn="ctr">
                        <a:lnSpc>
                          <a:spcPct val="100000"/>
                        </a:lnSpc>
                        <a:spcBef>
                          <a:spcPts val="0"/>
                        </a:spcBef>
                        <a:spcAft>
                          <a:spcPts val="0"/>
                        </a:spcAft>
                        <a:buNone/>
                      </a:pPr>
                      <a:r>
                        <a:rPr lang="en-US" sz="1100" u="none" cap="none" strike="noStrike"/>
                        <a:t>2-4</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2</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5</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8</a:t>
                      </a:r>
                      <a:endParaRPr b="0" i="0" sz="1100" u="none" cap="none" strike="noStrike">
                        <a:solidFill>
                          <a:srgbClr val="000000"/>
                        </a:solidFill>
                        <a:latin typeface="Calibri"/>
                        <a:ea typeface="Calibri"/>
                        <a:cs typeface="Calibri"/>
                        <a:sym typeface="Calibri"/>
                      </a:endParaRPr>
                    </a:p>
                  </a:txBody>
                  <a:tcPr marT="9525" marB="0" marR="9525" marL="9525" anchor="b"/>
                </a:tc>
              </a:tr>
              <a:tr h="308600">
                <a:tc>
                  <a:txBody>
                    <a:bodyPr/>
                    <a:lstStyle/>
                    <a:p>
                      <a:pPr indent="0" lvl="0" marL="0" marR="0" rtl="0" algn="ctr">
                        <a:lnSpc>
                          <a:spcPct val="100000"/>
                        </a:lnSpc>
                        <a:spcBef>
                          <a:spcPts val="0"/>
                        </a:spcBef>
                        <a:spcAft>
                          <a:spcPts val="0"/>
                        </a:spcAft>
                        <a:buNone/>
                      </a:pPr>
                      <a:r>
                        <a:rPr lang="en-US" sz="1100" u="none" cap="none" strike="noStrike"/>
                        <a:t>3-5</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7</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10</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19</a:t>
                      </a:r>
                      <a:endParaRPr b="0" i="0" sz="1100" u="none" cap="none" strike="noStrike">
                        <a:solidFill>
                          <a:srgbClr val="000000"/>
                        </a:solidFill>
                        <a:latin typeface="Calibri"/>
                        <a:ea typeface="Calibri"/>
                        <a:cs typeface="Calibri"/>
                        <a:sym typeface="Calibri"/>
                      </a:endParaRPr>
                    </a:p>
                  </a:txBody>
                  <a:tcPr marT="9525" marB="0" marR="9525" marL="9525" anchor="b"/>
                </a:tc>
              </a:tr>
              <a:tr h="308600">
                <a:tc>
                  <a:txBody>
                    <a:bodyPr/>
                    <a:lstStyle/>
                    <a:p>
                      <a:pPr indent="0" lvl="0" marL="0" marR="0" rtl="0" algn="ctr">
                        <a:lnSpc>
                          <a:spcPct val="100000"/>
                        </a:lnSpc>
                        <a:spcBef>
                          <a:spcPts val="0"/>
                        </a:spcBef>
                        <a:spcAft>
                          <a:spcPts val="0"/>
                        </a:spcAft>
                        <a:buNone/>
                      </a:pPr>
                      <a:r>
                        <a:rPr lang="en-US" sz="1100" u="none" cap="none" strike="noStrike"/>
                        <a:t>4-5</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5</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5</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17</a:t>
                      </a:r>
                      <a:endParaRPr b="0" i="0" sz="1100" u="none" cap="none" strike="noStrike">
                        <a:solidFill>
                          <a:srgbClr val="000000"/>
                        </a:solidFill>
                        <a:latin typeface="Calibri"/>
                        <a:ea typeface="Calibri"/>
                        <a:cs typeface="Calibri"/>
                        <a:sym typeface="Calibri"/>
                      </a:endParaRPr>
                    </a:p>
                  </a:txBody>
                  <a:tcPr marT="9525" marB="0" marR="9525" marL="9525" anchor="b"/>
                </a:tc>
              </a:tr>
              <a:tr h="308600">
                <a:tc>
                  <a:txBody>
                    <a:bodyPr/>
                    <a:lstStyle/>
                    <a:p>
                      <a:pPr indent="0" lvl="0" marL="0" marR="0" rtl="0" algn="ctr">
                        <a:lnSpc>
                          <a:spcPct val="100000"/>
                        </a:lnSpc>
                        <a:spcBef>
                          <a:spcPts val="0"/>
                        </a:spcBef>
                        <a:spcAft>
                          <a:spcPts val="0"/>
                        </a:spcAft>
                        <a:buNone/>
                      </a:pPr>
                      <a:r>
                        <a:rPr lang="en-US" sz="1100" u="none" cap="none" strike="noStrike"/>
                        <a:t>6-7</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5</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8</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29</a:t>
                      </a:r>
                      <a:endParaRPr b="0" i="0" sz="1100" u="none" cap="none" strike="noStrike">
                        <a:solidFill>
                          <a:srgbClr val="000000"/>
                        </a:solidFill>
                        <a:latin typeface="Calibri"/>
                        <a:ea typeface="Calibri"/>
                        <a:cs typeface="Calibri"/>
                        <a:sym typeface="Calibri"/>
                      </a:endParaRPr>
                    </a:p>
                  </a:txBody>
                  <a:tcPr marT="9525" marB="0" marR="9525" marL="9525" anchor="b"/>
                </a:tc>
              </a:tr>
              <a:tr h="308600">
                <a:tc>
                  <a:txBody>
                    <a:bodyPr/>
                    <a:lstStyle/>
                    <a:p>
                      <a:pPr indent="0" lvl="0" marL="0" marR="0" rtl="0" algn="ctr">
                        <a:lnSpc>
                          <a:spcPct val="100000"/>
                        </a:lnSpc>
                        <a:spcBef>
                          <a:spcPts val="0"/>
                        </a:spcBef>
                        <a:spcAft>
                          <a:spcPts val="0"/>
                        </a:spcAft>
                        <a:buNone/>
                      </a:pPr>
                      <a:r>
                        <a:rPr lang="en-US" sz="1100" u="none" cap="none" strike="noStrike"/>
                        <a:t>5-8</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3</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3</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9</a:t>
                      </a:r>
                      <a:endParaRPr b="0" i="0" sz="1100" u="none" cap="none" strike="noStrike">
                        <a:solidFill>
                          <a:srgbClr val="000000"/>
                        </a:solidFill>
                        <a:latin typeface="Calibri"/>
                        <a:ea typeface="Calibri"/>
                        <a:cs typeface="Calibri"/>
                        <a:sym typeface="Calibri"/>
                      </a:endParaRPr>
                    </a:p>
                  </a:txBody>
                  <a:tcPr marT="9525" marB="0" marR="9525" marL="9525" anchor="b"/>
                </a:tc>
              </a:tr>
              <a:tr h="308600">
                <a:tc>
                  <a:txBody>
                    <a:bodyPr/>
                    <a:lstStyle/>
                    <a:p>
                      <a:pPr indent="0" lvl="0" marL="0" marR="0" rtl="0" algn="ctr">
                        <a:lnSpc>
                          <a:spcPct val="100000"/>
                        </a:lnSpc>
                        <a:spcBef>
                          <a:spcPts val="0"/>
                        </a:spcBef>
                        <a:spcAft>
                          <a:spcPts val="0"/>
                        </a:spcAft>
                        <a:buNone/>
                      </a:pPr>
                      <a:r>
                        <a:rPr lang="en-US" sz="1100" u="none" cap="none" strike="noStrike"/>
                        <a:t>7-8</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8</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17</a:t>
                      </a:r>
                      <a:endParaRPr b="0" i="0" sz="11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lnSpc>
                          <a:spcPct val="100000"/>
                        </a:lnSpc>
                        <a:spcBef>
                          <a:spcPts val="0"/>
                        </a:spcBef>
                        <a:spcAft>
                          <a:spcPts val="0"/>
                        </a:spcAft>
                        <a:buNone/>
                      </a:pPr>
                      <a:r>
                        <a:rPr lang="en-US" sz="1100" u="none" cap="none" strike="noStrike"/>
                        <a:t>32</a:t>
                      </a:r>
                      <a:endParaRPr b="0" i="0" sz="1100" u="none" cap="none" strike="noStrike">
                        <a:solidFill>
                          <a:srgbClr val="000000"/>
                        </a:solidFill>
                        <a:latin typeface="Calibri"/>
                        <a:ea typeface="Calibri"/>
                        <a:cs typeface="Calibri"/>
                        <a:sym typeface="Calibri"/>
                      </a:endParaRPr>
                    </a:p>
                  </a:txBody>
                  <a:tcPr marT="9525" marB="0" marR="9525" marL="9525" anchor="b"/>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
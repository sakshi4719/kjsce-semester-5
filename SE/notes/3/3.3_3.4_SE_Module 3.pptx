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6" r:id="rId50"/>
    <p:sldId id="319" r:id="rId51"/>
    <p:sldId id="320" r:id="rId52"/>
    <p:sldId id="321" r:id="rId53"/>
    <p:sldId id="322" r:id="rId54"/>
    <p:sldId id="323" r:id="rId55"/>
    <p:sldId id="325" r:id="rId56"/>
    <p:sldId id="324" r:id="rId57"/>
    <p:sldId id="305" r:id="rId58"/>
    <p:sldId id="307" r:id="rId59"/>
    <p:sldId id="308" r:id="rId60"/>
    <p:sldId id="309" r:id="rId61"/>
    <p:sldId id="310" r:id="rId62"/>
    <p:sldId id="311" r:id="rId63"/>
    <p:sldId id="312" r:id="rId64"/>
    <p:sldId id="329" r:id="rId65"/>
    <p:sldId id="330" r:id="rId66"/>
    <p:sldId id="313" r:id="rId67"/>
    <p:sldId id="314" r:id="rId68"/>
    <p:sldId id="315" r:id="rId69"/>
    <p:sldId id="326" r:id="rId70"/>
    <p:sldId id="316" r:id="rId71"/>
    <p:sldId id="317" r:id="rId72"/>
    <p:sldId id="327" r:id="rId73"/>
    <p:sldId id="328" r:id="rId74"/>
    <p:sldId id="318"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216E3A-78FA-484F-A1EA-C674770D8FE9}" type="datetimeFigureOut">
              <a:rPr lang="en-IN" smtClean="0"/>
              <a:t>09-09-2024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8E9CF0-99B9-4330-BD5A-8BE6C427AF58}" type="slidenum">
              <a:rPr lang="en-IN" smtClean="0"/>
              <a:t>‹#›</a:t>
            </a:fld>
            <a:endParaRPr lang="en-IN"/>
          </a:p>
        </p:txBody>
      </p:sp>
    </p:spTree>
    <p:extLst>
      <p:ext uri="{BB962C8B-B14F-4D97-AF65-F5344CB8AC3E}">
        <p14:creationId xmlns:p14="http://schemas.microsoft.com/office/powerpoint/2010/main" val="446821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f93db55943_0_4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gf93db55943_0_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f93db55943_0_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gf93db55943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f93db55943_0_7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gf93db55943_0_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f93db55943_0_5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gf93db55943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f93db55943_0_8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gf93db55943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f93db55943_0_9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gf93db55943_0_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f93db55943_0_9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gf93db55943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f93db55943_0_10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gf93db55943_0_10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f93db55943_0_1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gf93db55943_0_1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f93db55943_0_1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gf93db55943_0_1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f93db55943_0_14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gf93db55943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f93db55943_0_16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gf93db55943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f93db55943_0_1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gf93db55943_0_1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f93db55943_0_1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gf93db55943_0_1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f93db55943_0_19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6" name="Google Shape;546;gf93db55943_0_1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f93db55943_0_20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gf93db55943_0_20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f93db55943_0_2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2" name="Google Shape;562;gf93db55943_0_2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f93db55943_0_23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gf93db55943_0_2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f4eb4a870e_0_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6" name="Google Shape;586;gf4eb4a870e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f4eb4a870e_0_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 name="Google Shape;594;gf4eb4a870e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f4eb4a870e_0_1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2" name="Google Shape;602;gf4eb4a870e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f4eb4a870e_0_2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0" name="Google Shape;610;gf4eb4a870e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f4eb4a870e_0_3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gf4eb4a870e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f93db55943_0_24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gf93db55943_0_2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f9477926d8_1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gf9477926d8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f9477926d8_1_1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gf9477926d8_1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f9477926d8_1_2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7" name="Google Shape;667;gf9477926d8_1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f9477926d8_1_3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5" name="Google Shape;675;gf9477926d8_1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f9477926d8_1_4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3" name="Google Shape;683;gf9477926d8_1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f9477926d8_1_5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9" name="Google Shape;699;gf9477926d8_1_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f9477926d8_1_4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1" name="Google Shape;691;gf9477926d8_1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f9477926d8_1_6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7" name="Google Shape;707;gf9477926d8_1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f9477926d8_1_7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5" name="Google Shape;715;gf9477926d8_1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f9477926d8_1_8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3" name="Google Shape;723;gf9477926d8_1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f9477926d8_1_8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1" name="Google Shape;731;gf9477926d8_1_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f9477926d8_1_9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9" name="Google Shape;739;gf9477926d8_1_9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f9477926d8_1_10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7" name="Google Shape;747;gf9477926d8_1_10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f9477926d8_1_1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5" name="Google Shape;755;gf9477926d8_1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f9477926d8_1_13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4" name="Google Shape;764;gf9477926d8_1_1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f9477926d8_1_12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2" name="Google Shape;772;gf9477926d8_1_1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f9477926d8_1_13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0" name="Google Shape;780;gf9477926d8_1_1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f9477926d8_1_15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8" name="Google Shape;788;gf9477926d8_1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7F76CA5-6F05-4CA6-BA5C-8ACD764BFB32}"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1452508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F76CA5-6F05-4CA6-BA5C-8ACD764BFB32}"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427898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F76CA5-6F05-4CA6-BA5C-8ACD764BFB32}"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290270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7F76CA5-6F05-4CA6-BA5C-8ACD764BFB32}"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37228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7F76CA5-6F05-4CA6-BA5C-8ACD764BFB32}" type="datetimeFigureOut">
              <a:rPr lang="en-IN" smtClean="0"/>
              <a:t>09-09-2024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2711591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7F76CA5-6F05-4CA6-BA5C-8ACD764BFB32}"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989871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76CA5-6F05-4CA6-BA5C-8ACD764BFB32}" type="datetimeFigureOut">
              <a:rPr lang="en-IN" smtClean="0"/>
              <a:t>09-09-2024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4102684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F76CA5-6F05-4CA6-BA5C-8ACD764BFB32}"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325924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F76CA5-6F05-4CA6-BA5C-8ACD764BFB32}"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263940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F76CA5-6F05-4CA6-BA5C-8ACD764BFB32}"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363329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F76CA5-6F05-4CA6-BA5C-8ACD764BFB32}"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43BB58-08E8-4ABD-B25C-B357D0DD13FB}" type="slidenum">
              <a:rPr lang="en-IN" smtClean="0"/>
              <a:t>‹#›</a:t>
            </a:fld>
            <a:endParaRPr lang="en-IN"/>
          </a:p>
        </p:txBody>
      </p:sp>
    </p:spTree>
    <p:extLst>
      <p:ext uri="{BB962C8B-B14F-4D97-AF65-F5344CB8AC3E}">
        <p14:creationId xmlns:p14="http://schemas.microsoft.com/office/powerpoint/2010/main" val="1200365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86541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76CA5-6F05-4CA6-BA5C-8ACD764BFB32}" type="datetimeFigureOut">
              <a:rPr lang="en-IN" smtClean="0"/>
              <a:t>09-09-2024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3BB58-08E8-4ABD-B25C-B357D0DD13FB}" type="slidenum">
              <a:rPr lang="en-IN" smtClean="0"/>
              <a:t>‹#›</a:t>
            </a:fld>
            <a:endParaRPr lang="en-IN"/>
          </a:p>
        </p:txBody>
      </p:sp>
    </p:spTree>
    <p:extLst>
      <p:ext uri="{BB962C8B-B14F-4D97-AF65-F5344CB8AC3E}">
        <p14:creationId xmlns:p14="http://schemas.microsoft.com/office/powerpoint/2010/main" val="2856018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8"/>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Module 3</a:t>
            </a:r>
            <a:endParaRPr b="1"/>
          </a:p>
        </p:txBody>
      </p:sp>
      <p:sp>
        <p:nvSpPr>
          <p:cNvPr id="415" name="Google Shape;415;p58"/>
          <p:cNvSpPr txBox="1">
            <a:spLocks noGrp="1"/>
          </p:cNvSpPr>
          <p:nvPr>
            <p:ph type="body" idx="1"/>
          </p:nvPr>
        </p:nvSpPr>
        <p:spPr>
          <a:xfrm>
            <a:off x="0" y="793767"/>
            <a:ext cx="8583300" cy="3300400"/>
          </a:xfrm>
          <a:prstGeom prst="rect">
            <a:avLst/>
          </a:prstGeom>
          <a:noFill/>
          <a:ln>
            <a:noFill/>
          </a:ln>
        </p:spPr>
        <p:txBody>
          <a:bodyPr spcFirstLastPara="1" wrap="square" lIns="68575" tIns="34275" rIns="68575" bIns="34275" anchor="t" anchorCtr="0">
            <a:noAutofit/>
          </a:bodyPr>
          <a:lstStyle/>
          <a:p>
            <a:pPr marL="533400" lvl="0" indent="0" algn="l" rtl="0">
              <a:spcBef>
                <a:spcPts val="1000"/>
              </a:spcBef>
              <a:spcAft>
                <a:spcPts val="0"/>
              </a:spcAft>
              <a:buNone/>
            </a:pPr>
            <a:r>
              <a:rPr lang="en-GB" sz="2200">
                <a:solidFill>
                  <a:srgbClr val="A6A6A6"/>
                </a:solidFill>
                <a:latin typeface="Calibri"/>
                <a:ea typeface="Calibri"/>
                <a:cs typeface="Calibri"/>
                <a:sym typeface="Calibri"/>
              </a:rPr>
              <a:t>3.1 Design Quality, Classification of Design activities. Design concepts: Modularity &amp; Layering. Introduction to Pattern-based software design.</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marL="533400" lvl="0" indent="0" algn="l" rtl="0">
              <a:spcBef>
                <a:spcPts val="1000"/>
              </a:spcBef>
              <a:spcAft>
                <a:spcPts val="0"/>
              </a:spcAft>
              <a:buNone/>
            </a:pPr>
            <a:r>
              <a:rPr lang="en-GB" sz="2200">
                <a:solidFill>
                  <a:schemeClr val="dk1"/>
                </a:solidFill>
                <a:latin typeface="Calibri"/>
                <a:ea typeface="Calibri"/>
                <a:cs typeface="Calibri"/>
                <a:sym typeface="Calibri"/>
              </a:rPr>
              <a:t>3.2  Software Architecture, Data design, Object -Oriented versus Function - oriented Design, Design of software object, methods, Cohesion &amp; Coupling between objects.</a:t>
            </a:r>
            <a:endParaRPr sz="2200">
              <a:solidFill>
                <a:schemeClr val="dk1"/>
              </a:solidFill>
              <a:latin typeface="Calibri"/>
              <a:ea typeface="Calibri"/>
              <a:cs typeface="Calibri"/>
              <a:sym typeface="Calibri"/>
            </a:endParaRPr>
          </a:p>
          <a:p>
            <a:pPr marL="533400" lvl="0" indent="0" algn="l" rtl="0">
              <a:spcBef>
                <a:spcPts val="1000"/>
              </a:spcBef>
              <a:spcAft>
                <a:spcPts val="0"/>
              </a:spcAft>
              <a:buNone/>
            </a:pPr>
            <a:r>
              <a:rPr lang="en-GB" sz="2200">
                <a:solidFill>
                  <a:srgbClr val="BFBFBF"/>
                </a:solidFill>
                <a:latin typeface="Calibri"/>
                <a:ea typeface="Calibri"/>
                <a:cs typeface="Calibri"/>
                <a:sym typeface="Calibri"/>
              </a:rPr>
              <a:t>3.3 User Interface design: Rules, User Interface Analysis Steps in Interface design, Design Evaluation </a:t>
            </a:r>
            <a:endParaRPr sz="2200">
              <a:solidFill>
                <a:srgbClr val="BFBFBF"/>
              </a:solidFill>
              <a:latin typeface="Calibri"/>
              <a:ea typeface="Calibri"/>
              <a:cs typeface="Calibri"/>
              <a:sym typeface="Calibri"/>
            </a:endParaRPr>
          </a:p>
          <a:p>
            <a:pPr marL="533400" lvl="0" indent="0" algn="l" rtl="0">
              <a:spcBef>
                <a:spcPts val="1000"/>
              </a:spcBef>
              <a:spcAft>
                <a:spcPts val="0"/>
              </a:spcAft>
              <a:buNone/>
            </a:pPr>
            <a:r>
              <a:rPr lang="en-GB" sz="2200">
                <a:solidFill>
                  <a:srgbClr val="BFBFBF"/>
                </a:solidFill>
                <a:latin typeface="Calibri"/>
                <a:ea typeface="Calibri"/>
                <a:cs typeface="Calibri"/>
                <a:sym typeface="Calibri"/>
              </a:rPr>
              <a:t>3.4  Software Reuse, Component-based software design</a:t>
            </a:r>
            <a:endParaRPr sz="2200">
              <a:solidFill>
                <a:srgbClr val="BFBFBF"/>
              </a:solidFill>
              <a:latin typeface="Calibri"/>
              <a:ea typeface="Calibri"/>
              <a:cs typeface="Calibri"/>
              <a:sym typeface="Calibri"/>
            </a:endParaRPr>
          </a:p>
          <a:p>
            <a:pPr marL="457200" lvl="0" indent="0" algn="just" rtl="0">
              <a:spcBef>
                <a:spcPts val="500"/>
              </a:spcBef>
              <a:spcAft>
                <a:spcPts val="0"/>
              </a:spcAft>
              <a:buNone/>
            </a:pPr>
            <a:endParaRPr sz="2100" b="1">
              <a:solidFill>
                <a:srgbClr val="0070C0"/>
              </a:solidFill>
              <a:latin typeface="Calibri"/>
              <a:ea typeface="Calibri"/>
              <a:cs typeface="Calibri"/>
              <a:sym typeface="Calibri"/>
            </a:endParaRPr>
          </a:p>
          <a:p>
            <a:pPr marL="0" lvl="0" indent="0" algn="just" rtl="0">
              <a:spcBef>
                <a:spcPts val="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416" name="Google Shape;416;p58"/>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17" name="Google Shape;417;p58"/>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a:t>
            </a:fld>
            <a:endParaRPr/>
          </a:p>
        </p:txBody>
      </p:sp>
    </p:spTree>
    <p:extLst>
      <p:ext uri="{BB962C8B-B14F-4D97-AF65-F5344CB8AC3E}">
        <p14:creationId xmlns:p14="http://schemas.microsoft.com/office/powerpoint/2010/main" val="31571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9"/>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dirty="0"/>
              <a:t>Software Architecture</a:t>
            </a:r>
            <a:endParaRPr b="1" dirty="0"/>
          </a:p>
        </p:txBody>
      </p:sp>
      <p:sp>
        <p:nvSpPr>
          <p:cNvPr id="423" name="Google Shape;423;p59"/>
          <p:cNvSpPr txBox="1">
            <a:spLocks noGrp="1"/>
          </p:cNvSpPr>
          <p:nvPr>
            <p:ph type="body" idx="1"/>
          </p:nvPr>
        </p:nvSpPr>
        <p:spPr>
          <a:xfrm>
            <a:off x="719925" y="793767"/>
            <a:ext cx="7455300" cy="33004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r>
              <a:rPr lang="en-GB" sz="2800" dirty="0">
                <a:solidFill>
                  <a:schemeClr val="dk1"/>
                </a:solidFill>
              </a:rPr>
              <a:t>•</a:t>
            </a:r>
            <a:r>
              <a:rPr lang="en-GB" sz="2200" b="1" dirty="0">
                <a:solidFill>
                  <a:schemeClr val="dk1"/>
                </a:solidFill>
                <a:latin typeface="Calibri"/>
                <a:ea typeface="Calibri"/>
                <a:cs typeface="Calibri"/>
                <a:sym typeface="Calibri"/>
              </a:rPr>
              <a:t>Why Architecture?</a:t>
            </a:r>
            <a:endParaRPr sz="2200" b="1" dirty="0">
              <a:solidFill>
                <a:schemeClr val="dk1"/>
              </a:solidFill>
              <a:latin typeface="Calibri"/>
              <a:ea typeface="Calibri"/>
              <a:cs typeface="Calibri"/>
              <a:sym typeface="Calibri"/>
            </a:endParaRPr>
          </a:p>
          <a:p>
            <a:pPr marL="0" lvl="0" indent="0" algn="l" rtl="0">
              <a:spcBef>
                <a:spcPts val="0"/>
              </a:spcBef>
              <a:spcAft>
                <a:spcPts val="0"/>
              </a:spcAft>
              <a:buNone/>
            </a:pPr>
            <a:r>
              <a:rPr lang="en-GB" sz="2200" dirty="0">
                <a:solidFill>
                  <a:schemeClr val="dk1"/>
                </a:solidFill>
                <a:latin typeface="Calibri"/>
                <a:ea typeface="Calibri"/>
                <a:cs typeface="Calibri"/>
                <a:sym typeface="Calibri"/>
              </a:rPr>
              <a:t>The architecture </a:t>
            </a:r>
            <a:r>
              <a:rPr lang="en-GB" sz="2200" b="1" dirty="0">
                <a:solidFill>
                  <a:schemeClr val="dk1"/>
                </a:solidFill>
                <a:latin typeface="Calibri"/>
                <a:ea typeface="Calibri"/>
                <a:cs typeface="Calibri"/>
                <a:sym typeface="Calibri"/>
              </a:rPr>
              <a:t>is not the operational software</a:t>
            </a:r>
            <a:r>
              <a:rPr lang="en-GB" sz="2200" dirty="0">
                <a:solidFill>
                  <a:schemeClr val="dk1"/>
                </a:solidFill>
                <a:latin typeface="Calibri"/>
                <a:ea typeface="Calibri"/>
                <a:cs typeface="Calibri"/>
                <a:sym typeface="Calibri"/>
              </a:rPr>
              <a:t>.</a:t>
            </a:r>
            <a:endParaRPr sz="2200" dirty="0">
              <a:solidFill>
                <a:schemeClr val="dk1"/>
              </a:solidFill>
              <a:latin typeface="Calibri"/>
              <a:ea typeface="Calibri"/>
              <a:cs typeface="Calibri"/>
              <a:sym typeface="Calibri"/>
            </a:endParaRPr>
          </a:p>
          <a:p>
            <a:pPr marL="0" lvl="0" indent="0" algn="l" rtl="0">
              <a:spcBef>
                <a:spcPts val="0"/>
              </a:spcBef>
              <a:spcAft>
                <a:spcPts val="0"/>
              </a:spcAft>
              <a:buNone/>
            </a:pPr>
            <a:endParaRPr sz="2200" dirty="0">
              <a:solidFill>
                <a:schemeClr val="dk1"/>
              </a:solidFill>
              <a:latin typeface="Calibri"/>
              <a:ea typeface="Calibri"/>
              <a:cs typeface="Calibri"/>
              <a:sym typeface="Calibri"/>
            </a:endParaRPr>
          </a:p>
          <a:p>
            <a:pPr marL="0" lvl="0" indent="0" algn="l" rtl="0">
              <a:spcBef>
                <a:spcPts val="0"/>
              </a:spcBef>
              <a:spcAft>
                <a:spcPts val="0"/>
              </a:spcAft>
              <a:buNone/>
            </a:pPr>
            <a:r>
              <a:rPr lang="en-GB" sz="2200" dirty="0">
                <a:solidFill>
                  <a:schemeClr val="dk1"/>
                </a:solidFill>
                <a:latin typeface="Calibri"/>
                <a:ea typeface="Calibri"/>
                <a:cs typeface="Calibri"/>
                <a:sym typeface="Calibri"/>
              </a:rPr>
              <a:t>A representation that </a:t>
            </a:r>
            <a:r>
              <a:rPr lang="en-GB" sz="2200" u="sng" dirty="0">
                <a:solidFill>
                  <a:schemeClr val="dk1"/>
                </a:solidFill>
                <a:latin typeface="Calibri"/>
                <a:ea typeface="Calibri"/>
                <a:cs typeface="Calibri"/>
                <a:sym typeface="Calibri"/>
              </a:rPr>
              <a:t>enables</a:t>
            </a:r>
            <a:r>
              <a:rPr lang="en-GB" sz="2200" dirty="0">
                <a:solidFill>
                  <a:schemeClr val="dk1"/>
                </a:solidFill>
                <a:latin typeface="Calibri"/>
                <a:ea typeface="Calibri"/>
                <a:cs typeface="Calibri"/>
                <a:sym typeface="Calibri"/>
              </a:rPr>
              <a:t> a software engineer to:</a:t>
            </a:r>
            <a:endParaRPr sz="2200"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b="1" u="sng" dirty="0" err="1">
                <a:solidFill>
                  <a:schemeClr val="dk1"/>
                </a:solidFill>
                <a:latin typeface="Calibri"/>
                <a:ea typeface="Calibri"/>
                <a:cs typeface="Calibri"/>
                <a:sym typeface="Calibri"/>
              </a:rPr>
              <a:t>analyze</a:t>
            </a:r>
            <a:r>
              <a:rPr lang="en-GB" sz="2000" b="1" u="sng" dirty="0">
                <a:solidFill>
                  <a:schemeClr val="dk1"/>
                </a:solidFill>
                <a:latin typeface="Calibri"/>
                <a:ea typeface="Calibri"/>
                <a:cs typeface="Calibri"/>
                <a:sym typeface="Calibri"/>
              </a:rPr>
              <a:t> the effectiveness of the design</a:t>
            </a:r>
            <a:r>
              <a:rPr lang="en-GB" sz="2000" b="1" dirty="0">
                <a:solidFill>
                  <a:schemeClr val="dk1"/>
                </a:solidFill>
                <a:latin typeface="Calibri"/>
                <a:ea typeface="Calibri"/>
                <a:cs typeface="Calibri"/>
                <a:sym typeface="Calibri"/>
              </a:rPr>
              <a:t> </a:t>
            </a:r>
            <a:r>
              <a:rPr lang="en-GB" sz="2000" dirty="0">
                <a:solidFill>
                  <a:schemeClr val="dk1"/>
                </a:solidFill>
                <a:latin typeface="Calibri"/>
                <a:ea typeface="Calibri"/>
                <a:cs typeface="Calibri"/>
                <a:sym typeface="Calibri"/>
              </a:rPr>
              <a:t>in meeting its stated requirements; </a:t>
            </a:r>
            <a:r>
              <a:rPr lang="en-GB" sz="2000" b="1" dirty="0">
                <a:solidFill>
                  <a:schemeClr val="dk1"/>
                </a:solidFill>
                <a:latin typeface="Calibri"/>
                <a:ea typeface="Calibri"/>
                <a:cs typeface="Calibri"/>
                <a:sym typeface="Calibri"/>
              </a:rPr>
              <a:t>Representations of software architecture are an enabler for communication</a:t>
            </a:r>
            <a:r>
              <a:rPr lang="en-GB" sz="2000" dirty="0">
                <a:solidFill>
                  <a:schemeClr val="dk1"/>
                </a:solidFill>
                <a:latin typeface="Calibri"/>
                <a:ea typeface="Calibri"/>
                <a:cs typeface="Calibri"/>
                <a:sym typeface="Calibri"/>
              </a:rPr>
              <a:t> between all parties (stakeholders) interested in the development of a computer-based system.</a:t>
            </a:r>
            <a:endParaRPr sz="2000" dirty="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b="1" u="sng" dirty="0">
                <a:solidFill>
                  <a:schemeClr val="dk1"/>
                </a:solidFill>
                <a:latin typeface="Calibri"/>
                <a:ea typeface="Calibri"/>
                <a:cs typeface="Calibri"/>
                <a:sym typeface="Calibri"/>
              </a:rPr>
              <a:t>consider architectural alternatives </a:t>
            </a:r>
            <a:r>
              <a:rPr lang="en-GB" sz="2000" dirty="0">
                <a:solidFill>
                  <a:schemeClr val="dk1"/>
                </a:solidFill>
                <a:latin typeface="Calibri"/>
                <a:ea typeface="Calibri"/>
                <a:cs typeface="Calibri"/>
                <a:sym typeface="Calibri"/>
              </a:rPr>
              <a:t>at a stage when making design changes is still relatively easy, </a:t>
            </a:r>
            <a:endParaRPr sz="2000" dirty="0">
              <a:solidFill>
                <a:schemeClr val="dk1"/>
              </a:solidFill>
              <a:latin typeface="Calibri"/>
              <a:ea typeface="Calibri"/>
              <a:cs typeface="Calibri"/>
              <a:sym typeface="Calibri"/>
            </a:endParaRPr>
          </a:p>
        </p:txBody>
      </p:sp>
      <p:sp>
        <p:nvSpPr>
          <p:cNvPr id="424" name="Google Shape;424;p59"/>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25" name="Google Shape;425;p59"/>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a:t>
            </a:fld>
            <a:endParaRPr/>
          </a:p>
        </p:txBody>
      </p:sp>
    </p:spTree>
    <p:extLst>
      <p:ext uri="{BB962C8B-B14F-4D97-AF65-F5344CB8AC3E}">
        <p14:creationId xmlns:p14="http://schemas.microsoft.com/office/powerpoint/2010/main" val="2084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0"/>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Software Architecture</a:t>
            </a:r>
            <a:endParaRPr b="1"/>
          </a:p>
        </p:txBody>
      </p:sp>
      <p:sp>
        <p:nvSpPr>
          <p:cNvPr id="431" name="Google Shape;431;p60"/>
          <p:cNvSpPr txBox="1">
            <a:spLocks noGrp="1"/>
          </p:cNvSpPr>
          <p:nvPr>
            <p:ph type="body" idx="1"/>
          </p:nvPr>
        </p:nvSpPr>
        <p:spPr>
          <a:xfrm>
            <a:off x="719925" y="793767"/>
            <a:ext cx="7455300" cy="3300400"/>
          </a:xfrm>
          <a:prstGeom prst="rect">
            <a:avLst/>
          </a:prstGeom>
          <a:noFill/>
          <a:ln>
            <a:noFill/>
          </a:ln>
        </p:spPr>
        <p:txBody>
          <a:bodyPr spcFirstLastPara="1" wrap="square" lIns="68575" tIns="34275" rIns="68575" bIns="34275" anchor="t" anchorCtr="0">
            <a:noAutofit/>
          </a:bodyPr>
          <a:lstStyle/>
          <a:p>
            <a:pPr marL="0" lvl="0" indent="0" algn="l" rtl="0">
              <a:spcBef>
                <a:spcPts val="1000"/>
              </a:spcBef>
              <a:spcAft>
                <a:spcPts val="0"/>
              </a:spcAft>
              <a:buNone/>
            </a:pPr>
            <a:endParaRPr sz="2200" dirty="0">
              <a:solidFill>
                <a:schemeClr val="dk1"/>
              </a:solidFill>
              <a:latin typeface="Calibri"/>
              <a:ea typeface="Calibri"/>
              <a:cs typeface="Calibri"/>
              <a:sym typeface="Calibri"/>
            </a:endParaRPr>
          </a:p>
          <a:p>
            <a:pPr marL="0" lvl="0" indent="0" algn="l" rtl="0">
              <a:spcBef>
                <a:spcPts val="0"/>
              </a:spcBef>
              <a:spcAft>
                <a:spcPts val="0"/>
              </a:spcAft>
              <a:buNone/>
            </a:pPr>
            <a:endParaRPr sz="2200" dirty="0">
              <a:solidFill>
                <a:schemeClr val="dk1"/>
              </a:solidFill>
              <a:latin typeface="Calibri"/>
              <a:ea typeface="Calibri"/>
              <a:cs typeface="Calibri"/>
              <a:sym typeface="Calibri"/>
            </a:endParaRPr>
          </a:p>
          <a:p>
            <a:pPr marL="0" lvl="0" indent="0" algn="just" rtl="0">
              <a:spcBef>
                <a:spcPts val="0"/>
              </a:spcBef>
              <a:spcAft>
                <a:spcPts val="0"/>
              </a:spcAft>
              <a:buNone/>
            </a:pPr>
            <a:endParaRPr sz="2000" dirty="0">
              <a:solidFill>
                <a:schemeClr val="dk1"/>
              </a:solidFill>
              <a:latin typeface="Calibri"/>
              <a:ea typeface="Calibri"/>
              <a:cs typeface="Calibri"/>
              <a:sym typeface="Calibri"/>
            </a:endParaRPr>
          </a:p>
          <a:p>
            <a:pPr indent="-355600" algn="just">
              <a:spcBef>
                <a:spcPts val="0"/>
              </a:spcBef>
              <a:buSzPts val="2000"/>
              <a:buFont typeface="Calibri"/>
              <a:buChar char="●"/>
            </a:pPr>
            <a:r>
              <a:rPr lang="en-US" sz="2000" b="1" dirty="0" smtClean="0">
                <a:solidFill>
                  <a:schemeClr val="dk1"/>
                </a:solidFill>
                <a:latin typeface="Calibri"/>
                <a:ea typeface="Calibri"/>
                <a:cs typeface="Calibri"/>
                <a:sym typeface="Calibri"/>
              </a:rPr>
              <a:t>The </a:t>
            </a:r>
            <a:r>
              <a:rPr lang="en-US" sz="2000" b="1" dirty="0">
                <a:solidFill>
                  <a:schemeClr val="dk1"/>
                </a:solidFill>
                <a:latin typeface="Calibri"/>
                <a:ea typeface="Calibri"/>
                <a:cs typeface="Calibri"/>
                <a:sym typeface="Calibri"/>
              </a:rPr>
              <a:t>architecture highlights early design decisions </a:t>
            </a:r>
            <a:r>
              <a:rPr lang="en-US" sz="2000" dirty="0">
                <a:solidFill>
                  <a:schemeClr val="dk1"/>
                </a:solidFill>
                <a:latin typeface="Calibri"/>
                <a:ea typeface="Calibri"/>
                <a:cs typeface="Calibri"/>
                <a:sym typeface="Calibri"/>
              </a:rPr>
              <a:t>that will have a profound impact on all software engineering work that follows and, as important, on the ultimate success of the system as an operational entity.</a:t>
            </a:r>
          </a:p>
          <a:p>
            <a:pPr marL="457200" lvl="0" indent="-355600" algn="just" rtl="0">
              <a:spcBef>
                <a:spcPts val="0"/>
              </a:spcBef>
              <a:spcAft>
                <a:spcPts val="0"/>
              </a:spcAft>
              <a:buClr>
                <a:schemeClr val="dk1"/>
              </a:buClr>
              <a:buSzPts val="2000"/>
              <a:buFont typeface="Calibri"/>
              <a:buChar char="●"/>
            </a:pPr>
            <a:endParaRPr lang="en-GB" sz="2000" b="1" u="sng" dirty="0" smtClean="0">
              <a:solidFill>
                <a:schemeClr val="dk1"/>
              </a:solidFill>
              <a:latin typeface="Calibri"/>
              <a:ea typeface="Calibri"/>
              <a:cs typeface="Calibri"/>
              <a:sym typeface="Calibri"/>
            </a:endParaRPr>
          </a:p>
          <a:p>
            <a:pPr marL="457200" lvl="0" indent="-355600" algn="just" rtl="0">
              <a:spcBef>
                <a:spcPts val="0"/>
              </a:spcBef>
              <a:spcAft>
                <a:spcPts val="0"/>
              </a:spcAft>
              <a:buClr>
                <a:schemeClr val="dk1"/>
              </a:buClr>
              <a:buSzPts val="2000"/>
              <a:buFont typeface="Calibri"/>
              <a:buChar char="●"/>
            </a:pPr>
            <a:r>
              <a:rPr lang="en-GB" sz="2000" b="1" u="sng" dirty="0" smtClean="0">
                <a:solidFill>
                  <a:schemeClr val="dk1"/>
                </a:solidFill>
                <a:latin typeface="Calibri"/>
                <a:ea typeface="Calibri"/>
                <a:cs typeface="Calibri"/>
                <a:sym typeface="Calibri"/>
              </a:rPr>
              <a:t>reduce </a:t>
            </a:r>
            <a:r>
              <a:rPr lang="en-GB" sz="2000" b="1" u="sng" dirty="0">
                <a:solidFill>
                  <a:schemeClr val="dk1"/>
                </a:solidFill>
                <a:latin typeface="Calibri"/>
                <a:ea typeface="Calibri"/>
                <a:cs typeface="Calibri"/>
                <a:sym typeface="Calibri"/>
              </a:rPr>
              <a:t>the risks </a:t>
            </a:r>
            <a:r>
              <a:rPr lang="en-GB" sz="2000" dirty="0">
                <a:solidFill>
                  <a:schemeClr val="dk1"/>
                </a:solidFill>
                <a:latin typeface="Calibri"/>
                <a:ea typeface="Calibri"/>
                <a:cs typeface="Calibri"/>
                <a:sym typeface="Calibri"/>
              </a:rPr>
              <a:t>associated with the construction of the software.</a:t>
            </a:r>
            <a:endParaRPr sz="2000" dirty="0">
              <a:solidFill>
                <a:schemeClr val="dk1"/>
              </a:solidFill>
              <a:latin typeface="Calibri"/>
              <a:ea typeface="Calibri"/>
              <a:cs typeface="Calibri"/>
              <a:sym typeface="Calibri"/>
            </a:endParaRPr>
          </a:p>
          <a:p>
            <a:pPr marL="457200" lvl="0" indent="0" algn="just" rtl="0">
              <a:spcBef>
                <a:spcPts val="1000"/>
              </a:spcBef>
              <a:spcAft>
                <a:spcPts val="0"/>
              </a:spcAft>
              <a:buNone/>
            </a:pPr>
            <a:r>
              <a:rPr lang="en-GB" sz="2000" b="1" dirty="0">
                <a:solidFill>
                  <a:schemeClr val="dk1"/>
                </a:solidFill>
                <a:latin typeface="Calibri"/>
                <a:ea typeface="Calibri"/>
                <a:cs typeface="Calibri"/>
                <a:sym typeface="Calibri"/>
              </a:rPr>
              <a:t>Architecture “constitutes a relatively small, intellectually graspable model</a:t>
            </a:r>
            <a:r>
              <a:rPr lang="en-GB" sz="2000" dirty="0">
                <a:solidFill>
                  <a:schemeClr val="dk1"/>
                </a:solidFill>
                <a:latin typeface="Calibri"/>
                <a:ea typeface="Calibri"/>
                <a:cs typeface="Calibri"/>
                <a:sym typeface="Calibri"/>
              </a:rPr>
              <a:t> of how the system is structured and how its components work together”.</a:t>
            </a:r>
            <a:endParaRPr sz="20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0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0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000" dirty="0">
              <a:solidFill>
                <a:schemeClr val="dk1"/>
              </a:solidFill>
              <a:latin typeface="Calibri"/>
              <a:ea typeface="Calibri"/>
              <a:cs typeface="Calibri"/>
              <a:sym typeface="Calibri"/>
            </a:endParaRPr>
          </a:p>
        </p:txBody>
      </p:sp>
      <p:sp>
        <p:nvSpPr>
          <p:cNvPr id="432" name="Google Shape;432;p60"/>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33" name="Google Shape;433;p60"/>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a:t>
            </a:fld>
            <a:endParaRPr/>
          </a:p>
        </p:txBody>
      </p:sp>
    </p:spTree>
    <p:extLst>
      <p:ext uri="{BB962C8B-B14F-4D97-AF65-F5344CB8AC3E}">
        <p14:creationId xmlns:p14="http://schemas.microsoft.com/office/powerpoint/2010/main" val="409727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1"/>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39" name="Google Shape;439;p61"/>
          <p:cNvSpPr txBox="1">
            <a:spLocks noGrp="1"/>
          </p:cNvSpPr>
          <p:nvPr>
            <p:ph type="body" idx="1"/>
          </p:nvPr>
        </p:nvSpPr>
        <p:spPr>
          <a:xfrm>
            <a:off x="719925" y="793767"/>
            <a:ext cx="7927200" cy="3300400"/>
          </a:xfrm>
          <a:prstGeom prst="rect">
            <a:avLst/>
          </a:prstGeom>
          <a:noFill/>
          <a:ln>
            <a:noFill/>
          </a:ln>
        </p:spPr>
        <p:txBody>
          <a:bodyPr spcFirstLastPara="1" wrap="square" lIns="68575" tIns="34275" rIns="68575" bIns="34275" anchor="t" anchorCtr="0">
            <a:noAutofit/>
          </a:bodyPr>
          <a:lstStyle/>
          <a:p>
            <a:pPr marL="457200" lvl="0" indent="-361950" algn="just" rtl="0">
              <a:spcBef>
                <a:spcPts val="1000"/>
              </a:spcBef>
              <a:spcAft>
                <a:spcPts val="0"/>
              </a:spcAft>
              <a:buSzPts val="2100"/>
              <a:buFont typeface="Calibri"/>
              <a:buChar char="●"/>
            </a:pPr>
            <a:r>
              <a:rPr lang="en-GB" sz="2100" b="1" dirty="0">
                <a:solidFill>
                  <a:srgbClr val="0070C0"/>
                </a:solidFill>
                <a:latin typeface="Calibri"/>
                <a:ea typeface="Calibri"/>
                <a:cs typeface="Calibri"/>
                <a:sym typeface="Calibri"/>
              </a:rPr>
              <a:t>Each style describes a system category that encompasses:</a:t>
            </a: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100" b="1" dirty="0">
              <a:solidFill>
                <a:srgbClr val="0070C0"/>
              </a:solidFill>
              <a:latin typeface="Calibri"/>
              <a:ea typeface="Calibri"/>
              <a:cs typeface="Calibri"/>
              <a:sym typeface="Calibri"/>
            </a:endParaRPr>
          </a:p>
          <a:p>
            <a:pPr marL="540000" lvl="0" indent="-228600"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a set of components </a:t>
            </a:r>
            <a:r>
              <a:rPr lang="en-GB" sz="2100" dirty="0">
                <a:solidFill>
                  <a:schemeClr val="dk1"/>
                </a:solidFill>
                <a:latin typeface="Calibri"/>
                <a:ea typeface="Calibri"/>
                <a:cs typeface="Calibri"/>
                <a:sym typeface="Calibri"/>
              </a:rPr>
              <a:t>(e.g., a database, computational </a:t>
            </a:r>
            <a:r>
              <a:rPr lang="en-GB" sz="2100" dirty="0" smtClean="0">
                <a:solidFill>
                  <a:schemeClr val="dk1"/>
                </a:solidFill>
                <a:latin typeface="Calibri"/>
                <a:ea typeface="Calibri"/>
                <a:cs typeface="Calibri"/>
                <a:sym typeface="Calibri"/>
              </a:rPr>
              <a:t>modules, frameworks) </a:t>
            </a:r>
            <a:r>
              <a:rPr lang="en-GB" sz="2100" dirty="0">
                <a:solidFill>
                  <a:schemeClr val="dk1"/>
                </a:solidFill>
                <a:latin typeface="Calibri"/>
                <a:ea typeface="Calibri"/>
                <a:cs typeface="Calibri"/>
                <a:sym typeface="Calibri"/>
              </a:rPr>
              <a:t>that perform a function required by a system</a:t>
            </a:r>
            <a:endParaRPr sz="2100" dirty="0">
              <a:solidFill>
                <a:schemeClr val="dk1"/>
              </a:solidFill>
              <a:latin typeface="Calibri"/>
              <a:ea typeface="Calibri"/>
              <a:cs typeface="Calibri"/>
              <a:sym typeface="Calibri"/>
            </a:endParaRPr>
          </a:p>
          <a:p>
            <a:pPr marL="540000" lvl="0" indent="-228600"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a set of connectors </a:t>
            </a:r>
            <a:r>
              <a:rPr lang="en-GB" sz="2100" dirty="0">
                <a:solidFill>
                  <a:schemeClr val="dk1"/>
                </a:solidFill>
                <a:latin typeface="Calibri"/>
                <a:ea typeface="Calibri"/>
                <a:cs typeface="Calibri"/>
                <a:sym typeface="Calibri"/>
              </a:rPr>
              <a:t>that enable “communication, coordination and cooperation” among components</a:t>
            </a:r>
            <a:endParaRPr sz="2100" dirty="0">
              <a:solidFill>
                <a:schemeClr val="dk1"/>
              </a:solidFill>
              <a:latin typeface="Calibri"/>
              <a:ea typeface="Calibri"/>
              <a:cs typeface="Calibri"/>
              <a:sym typeface="Calibri"/>
            </a:endParaRPr>
          </a:p>
          <a:p>
            <a:pPr marL="540000" lvl="0" indent="-228600"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constraints</a:t>
            </a:r>
            <a:r>
              <a:rPr lang="en-GB" sz="2100" dirty="0">
                <a:solidFill>
                  <a:schemeClr val="dk1"/>
                </a:solidFill>
                <a:latin typeface="Calibri"/>
                <a:ea typeface="Calibri"/>
                <a:cs typeface="Calibri"/>
                <a:sym typeface="Calibri"/>
              </a:rPr>
              <a:t> that define how components can be integrated to form the </a:t>
            </a:r>
            <a:r>
              <a:rPr lang="en-GB" sz="2100" dirty="0" smtClean="0">
                <a:solidFill>
                  <a:schemeClr val="dk1"/>
                </a:solidFill>
                <a:latin typeface="Calibri"/>
                <a:ea typeface="Calibri"/>
                <a:cs typeface="Calibri"/>
                <a:sym typeface="Calibri"/>
              </a:rPr>
              <a:t>system.</a:t>
            </a:r>
            <a:endParaRPr sz="2100" dirty="0">
              <a:solidFill>
                <a:schemeClr val="dk1"/>
              </a:solidFill>
              <a:latin typeface="Calibri"/>
              <a:ea typeface="Calibri"/>
              <a:cs typeface="Calibri"/>
              <a:sym typeface="Calibri"/>
            </a:endParaRPr>
          </a:p>
          <a:p>
            <a:pPr marL="540000" lvl="0" indent="-228600" algn="just" rtl="0">
              <a:spcBef>
                <a:spcPts val="0"/>
              </a:spcBef>
              <a:spcAft>
                <a:spcPts val="0"/>
              </a:spcAft>
              <a:buSzPts val="2100"/>
              <a:buFont typeface="Calibri"/>
              <a:buAutoNum type="arabicPeriod"/>
            </a:pPr>
            <a:r>
              <a:rPr lang="en-GB" sz="2100" b="1" dirty="0">
                <a:solidFill>
                  <a:srgbClr val="0070C0"/>
                </a:solidFill>
                <a:latin typeface="Calibri"/>
                <a:ea typeface="Calibri"/>
                <a:cs typeface="Calibri"/>
                <a:sym typeface="Calibri"/>
              </a:rPr>
              <a:t>semantic models </a:t>
            </a:r>
            <a:r>
              <a:rPr lang="en-GB" sz="2100" dirty="0">
                <a:solidFill>
                  <a:schemeClr val="dk1"/>
                </a:solidFill>
                <a:latin typeface="Calibri"/>
                <a:ea typeface="Calibri"/>
                <a:cs typeface="Calibri"/>
                <a:sym typeface="Calibri"/>
              </a:rPr>
              <a:t>that enable a designer to </a:t>
            </a:r>
            <a:r>
              <a:rPr lang="en-GB" sz="2100" b="1" dirty="0">
                <a:solidFill>
                  <a:srgbClr val="0070C0"/>
                </a:solidFill>
                <a:latin typeface="Calibri"/>
                <a:ea typeface="Calibri"/>
                <a:cs typeface="Calibri"/>
                <a:sym typeface="Calibri"/>
              </a:rPr>
              <a:t>understand the overall properties of a system</a:t>
            </a:r>
            <a:r>
              <a:rPr lang="en-GB" sz="2100" dirty="0">
                <a:solidFill>
                  <a:srgbClr val="0070C0"/>
                </a:solidFill>
                <a:latin typeface="Calibri"/>
                <a:ea typeface="Calibri"/>
                <a:cs typeface="Calibri"/>
                <a:sym typeface="Calibri"/>
              </a:rPr>
              <a:t> </a:t>
            </a:r>
            <a:r>
              <a:rPr lang="en-GB" sz="2100" dirty="0">
                <a:solidFill>
                  <a:schemeClr val="dk1"/>
                </a:solidFill>
                <a:latin typeface="Calibri"/>
                <a:ea typeface="Calibri"/>
                <a:cs typeface="Calibri"/>
                <a:sym typeface="Calibri"/>
              </a:rPr>
              <a:t>by </a:t>
            </a:r>
            <a:r>
              <a:rPr lang="en-GB" sz="2100" dirty="0" smtClean="0">
                <a:solidFill>
                  <a:schemeClr val="dk1"/>
                </a:solidFill>
                <a:latin typeface="Calibri"/>
                <a:ea typeface="Calibri"/>
                <a:cs typeface="Calibri"/>
                <a:sym typeface="Calibri"/>
              </a:rPr>
              <a:t>analysing </a:t>
            </a:r>
            <a:r>
              <a:rPr lang="en-GB" sz="2100" dirty="0">
                <a:solidFill>
                  <a:schemeClr val="dk1"/>
                </a:solidFill>
                <a:latin typeface="Calibri"/>
                <a:ea typeface="Calibri"/>
                <a:cs typeface="Calibri"/>
                <a:sym typeface="Calibri"/>
              </a:rPr>
              <a:t>the known properties of its constituent parts. </a:t>
            </a:r>
            <a:r>
              <a:rPr lang="en-GB" sz="2100" dirty="0" smtClean="0">
                <a:solidFill>
                  <a:schemeClr val="dk1"/>
                </a:solidFill>
                <a:latin typeface="Calibri"/>
                <a:ea typeface="Calibri"/>
                <a:cs typeface="Calibri"/>
                <a:sym typeface="Calibri"/>
              </a:rPr>
              <a:t>(UML diagrams)</a:t>
            </a: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40" name="Google Shape;440;p61"/>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41" name="Google Shape;441;p61"/>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a:t>
            </a:fld>
            <a:endParaRPr/>
          </a:p>
        </p:txBody>
      </p:sp>
    </p:spTree>
    <p:extLst>
      <p:ext uri="{BB962C8B-B14F-4D97-AF65-F5344CB8AC3E}">
        <p14:creationId xmlns:p14="http://schemas.microsoft.com/office/powerpoint/2010/main" val="2823501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Importance of Software Architecture</a:t>
            </a:r>
            <a:endParaRPr lang="en-IN" dirty="0"/>
          </a:p>
        </p:txBody>
      </p:sp>
      <p:sp>
        <p:nvSpPr>
          <p:cNvPr id="3" name="Text Placeholder 2"/>
          <p:cNvSpPr>
            <a:spLocks noGrp="1"/>
          </p:cNvSpPr>
          <p:nvPr>
            <p:ph type="body"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810" y="1879471"/>
            <a:ext cx="7022482" cy="40050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7581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Architectural styles</a:t>
            </a:r>
            <a:endParaRPr lang="en-IN" dirty="0"/>
          </a:p>
        </p:txBody>
      </p:sp>
      <p:sp>
        <p:nvSpPr>
          <p:cNvPr id="3" name="Text Placeholder 2"/>
          <p:cNvSpPr>
            <a:spLocks noGrp="1"/>
          </p:cNvSpPr>
          <p:nvPr>
            <p:ph type="body" idx="1"/>
          </p:nvPr>
        </p:nvSpPr>
        <p:spPr/>
        <p:txBody>
          <a:bodyPr>
            <a:normAutofit/>
          </a:bodyPr>
          <a:lstStyle/>
          <a:p>
            <a:r>
              <a:rPr lang="en-GB" sz="2400" b="1" dirty="0">
                <a:solidFill>
                  <a:srgbClr val="0070C0"/>
                </a:solidFill>
                <a:latin typeface="Calibri"/>
                <a:ea typeface="Calibri"/>
                <a:cs typeface="Calibri"/>
                <a:sym typeface="Calibri"/>
              </a:rPr>
              <a:t>Data - Centred </a:t>
            </a:r>
            <a:r>
              <a:rPr lang="en-GB" sz="2400" b="1" dirty="0" smtClean="0">
                <a:solidFill>
                  <a:srgbClr val="0070C0"/>
                </a:solidFill>
                <a:latin typeface="Calibri"/>
                <a:ea typeface="Calibri"/>
                <a:cs typeface="Calibri"/>
                <a:sym typeface="Calibri"/>
              </a:rPr>
              <a:t>architecture</a:t>
            </a:r>
          </a:p>
          <a:p>
            <a:endParaRPr lang="en-GB" sz="2400" b="1" dirty="0" smtClean="0">
              <a:solidFill>
                <a:srgbClr val="0070C0"/>
              </a:solidFill>
              <a:latin typeface="Calibri"/>
              <a:ea typeface="Calibri"/>
              <a:cs typeface="Calibri"/>
              <a:sym typeface="Calibri"/>
            </a:endParaRPr>
          </a:p>
          <a:p>
            <a:r>
              <a:rPr lang="en-GB" sz="2400" b="1" dirty="0" smtClean="0">
                <a:solidFill>
                  <a:srgbClr val="0070C0"/>
                </a:solidFill>
                <a:latin typeface="Calibri"/>
                <a:ea typeface="Calibri"/>
                <a:cs typeface="Calibri"/>
                <a:sym typeface="Calibri"/>
              </a:rPr>
              <a:t>Data </a:t>
            </a:r>
            <a:r>
              <a:rPr lang="en-GB" sz="2400" b="1" dirty="0">
                <a:solidFill>
                  <a:srgbClr val="0070C0"/>
                </a:solidFill>
                <a:latin typeface="Calibri"/>
                <a:ea typeface="Calibri"/>
                <a:cs typeface="Calibri"/>
                <a:sym typeface="Calibri"/>
              </a:rPr>
              <a:t>flow </a:t>
            </a:r>
            <a:r>
              <a:rPr lang="en-GB" sz="2400" b="1" dirty="0" smtClean="0">
                <a:solidFill>
                  <a:srgbClr val="0070C0"/>
                </a:solidFill>
                <a:latin typeface="Calibri"/>
                <a:ea typeface="Calibri"/>
                <a:cs typeface="Calibri"/>
                <a:sym typeface="Calibri"/>
              </a:rPr>
              <a:t>architecture</a:t>
            </a:r>
          </a:p>
          <a:p>
            <a:endParaRPr lang="en-GB" sz="2400" b="1" dirty="0" smtClean="0">
              <a:solidFill>
                <a:srgbClr val="0070C0"/>
              </a:solidFill>
              <a:latin typeface="Calibri"/>
              <a:ea typeface="Calibri"/>
              <a:cs typeface="Calibri"/>
              <a:sym typeface="Calibri"/>
            </a:endParaRPr>
          </a:p>
          <a:p>
            <a:r>
              <a:rPr lang="en-GB" sz="2400" b="1" dirty="0" smtClean="0">
                <a:solidFill>
                  <a:srgbClr val="0070C0"/>
                </a:solidFill>
                <a:latin typeface="Calibri"/>
                <a:ea typeface="Calibri"/>
                <a:cs typeface="Calibri"/>
                <a:sym typeface="Calibri"/>
              </a:rPr>
              <a:t>Call </a:t>
            </a:r>
            <a:r>
              <a:rPr lang="en-GB" sz="2400" b="1" dirty="0">
                <a:solidFill>
                  <a:srgbClr val="0070C0"/>
                </a:solidFill>
                <a:latin typeface="Calibri"/>
                <a:ea typeface="Calibri"/>
                <a:cs typeface="Calibri"/>
                <a:sym typeface="Calibri"/>
              </a:rPr>
              <a:t>and return  </a:t>
            </a:r>
            <a:r>
              <a:rPr lang="en-GB" sz="2400" b="1" dirty="0" smtClean="0">
                <a:solidFill>
                  <a:srgbClr val="0070C0"/>
                </a:solidFill>
                <a:latin typeface="Calibri"/>
                <a:ea typeface="Calibri"/>
                <a:cs typeface="Calibri"/>
                <a:sym typeface="Calibri"/>
              </a:rPr>
              <a:t>architecture</a:t>
            </a:r>
          </a:p>
          <a:p>
            <a:endParaRPr lang="en-GB" sz="2400" b="1" dirty="0" smtClean="0">
              <a:solidFill>
                <a:srgbClr val="0070C0"/>
              </a:solidFill>
              <a:latin typeface="Calibri"/>
              <a:ea typeface="Calibri"/>
              <a:cs typeface="Calibri"/>
              <a:sym typeface="Calibri"/>
            </a:endParaRPr>
          </a:p>
          <a:p>
            <a:r>
              <a:rPr lang="en-GB" sz="2400" b="1" dirty="0" smtClean="0">
                <a:solidFill>
                  <a:srgbClr val="0070C0"/>
                </a:solidFill>
                <a:latin typeface="Calibri"/>
                <a:ea typeface="Calibri"/>
                <a:cs typeface="Calibri"/>
                <a:sym typeface="Calibri"/>
              </a:rPr>
              <a:t>Layered architecture</a:t>
            </a:r>
            <a:endParaRPr lang="en-IN" sz="2400" dirty="0"/>
          </a:p>
        </p:txBody>
      </p:sp>
    </p:spTree>
    <p:extLst>
      <p:ext uri="{BB962C8B-B14F-4D97-AF65-F5344CB8AC3E}">
        <p14:creationId xmlns:p14="http://schemas.microsoft.com/office/powerpoint/2010/main" val="4082292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2"/>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47" name="Google Shape;447;p62"/>
          <p:cNvSpPr txBox="1">
            <a:spLocks noGrp="1"/>
          </p:cNvSpPr>
          <p:nvPr>
            <p:ph type="body" idx="1"/>
          </p:nvPr>
        </p:nvSpPr>
        <p:spPr>
          <a:xfrm>
            <a:off x="719925" y="793767"/>
            <a:ext cx="7927200" cy="3504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1 Data - </a:t>
            </a:r>
            <a:r>
              <a:rPr lang="en-GB" sz="2100" b="1" dirty="0" smtClean="0">
                <a:solidFill>
                  <a:srgbClr val="0070C0"/>
                </a:solidFill>
                <a:latin typeface="Calibri"/>
                <a:ea typeface="Calibri"/>
                <a:cs typeface="Calibri"/>
                <a:sym typeface="Calibri"/>
              </a:rPr>
              <a:t>Centred </a:t>
            </a:r>
            <a:r>
              <a:rPr lang="en-GB" sz="2100" b="1" dirty="0">
                <a:solidFill>
                  <a:srgbClr val="0070C0"/>
                </a:solidFill>
                <a:latin typeface="Calibri"/>
                <a:ea typeface="Calibri"/>
                <a:cs typeface="Calibri"/>
                <a:sym typeface="Calibri"/>
              </a:rPr>
              <a:t>architecture:</a:t>
            </a:r>
            <a:endParaRPr sz="2100" b="1" dirty="0">
              <a:solidFill>
                <a:srgbClr val="0070C0"/>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dirty="0">
                <a:solidFill>
                  <a:schemeClr val="dk1"/>
                </a:solidFill>
                <a:latin typeface="Calibri"/>
                <a:ea typeface="Calibri"/>
                <a:cs typeface="Calibri"/>
                <a:sym typeface="Calibri"/>
              </a:rPr>
              <a:t>A </a:t>
            </a:r>
            <a:r>
              <a:rPr lang="en-GB" sz="2100" b="1" dirty="0">
                <a:solidFill>
                  <a:srgbClr val="0070C0"/>
                </a:solidFill>
                <a:latin typeface="Calibri"/>
                <a:ea typeface="Calibri"/>
                <a:cs typeface="Calibri"/>
                <a:sym typeface="Calibri"/>
              </a:rPr>
              <a:t>data store </a:t>
            </a:r>
            <a:r>
              <a:rPr lang="en-GB" sz="2100" dirty="0">
                <a:solidFill>
                  <a:schemeClr val="dk1"/>
                </a:solidFill>
                <a:latin typeface="Calibri"/>
                <a:ea typeface="Calibri"/>
                <a:cs typeface="Calibri"/>
                <a:sym typeface="Calibri"/>
              </a:rPr>
              <a:t>(e.g., a file or database) </a:t>
            </a:r>
            <a:r>
              <a:rPr lang="en-GB" sz="2100" b="1" dirty="0">
                <a:solidFill>
                  <a:srgbClr val="0070C0"/>
                </a:solidFill>
                <a:latin typeface="Calibri"/>
                <a:ea typeface="Calibri"/>
                <a:cs typeface="Calibri"/>
                <a:sym typeface="Calibri"/>
              </a:rPr>
              <a:t>resides at the </a:t>
            </a:r>
            <a:r>
              <a:rPr lang="en-GB" sz="2100" b="1" dirty="0" smtClean="0">
                <a:solidFill>
                  <a:srgbClr val="0070C0"/>
                </a:solidFill>
                <a:latin typeface="Calibri"/>
                <a:ea typeface="Calibri"/>
                <a:cs typeface="Calibri"/>
                <a:sym typeface="Calibri"/>
              </a:rPr>
              <a:t>centre</a:t>
            </a:r>
            <a:r>
              <a:rPr lang="en-GB" sz="2100" dirty="0" smtClean="0">
                <a:solidFill>
                  <a:srgbClr val="0070C0"/>
                </a:solidFill>
                <a:latin typeface="Calibri"/>
                <a:ea typeface="Calibri"/>
                <a:cs typeface="Calibri"/>
                <a:sym typeface="Calibri"/>
              </a:rPr>
              <a:t> </a:t>
            </a:r>
            <a:r>
              <a:rPr lang="en-GB" sz="2100" dirty="0">
                <a:solidFill>
                  <a:schemeClr val="dk1"/>
                </a:solidFill>
                <a:latin typeface="Calibri"/>
                <a:ea typeface="Calibri"/>
                <a:cs typeface="Calibri"/>
                <a:sym typeface="Calibri"/>
              </a:rPr>
              <a:t>of this architecture and is accessed frequently by other components.</a:t>
            </a:r>
            <a:endParaRPr sz="2100"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b="1" dirty="0">
                <a:solidFill>
                  <a:srgbClr val="0070C0"/>
                </a:solidFill>
                <a:latin typeface="Calibri"/>
                <a:ea typeface="Calibri"/>
                <a:cs typeface="Calibri"/>
                <a:sym typeface="Calibri"/>
              </a:rPr>
              <a:t>Client software </a:t>
            </a:r>
            <a:r>
              <a:rPr lang="en-GB" sz="2100" u="sng" dirty="0">
                <a:solidFill>
                  <a:schemeClr val="dk1"/>
                </a:solidFill>
                <a:latin typeface="Calibri"/>
                <a:ea typeface="Calibri"/>
                <a:cs typeface="Calibri"/>
                <a:sym typeface="Calibri"/>
              </a:rPr>
              <a:t>accesses</a:t>
            </a:r>
            <a:r>
              <a:rPr lang="en-GB" sz="2100" dirty="0">
                <a:solidFill>
                  <a:schemeClr val="dk1"/>
                </a:solidFill>
                <a:latin typeface="Calibri"/>
                <a:ea typeface="Calibri"/>
                <a:cs typeface="Calibri"/>
                <a:sym typeface="Calibri"/>
              </a:rPr>
              <a:t> a </a:t>
            </a:r>
            <a:r>
              <a:rPr lang="en-GB" sz="2100" b="1" dirty="0">
                <a:solidFill>
                  <a:srgbClr val="0070C0"/>
                </a:solidFill>
                <a:latin typeface="Calibri"/>
                <a:ea typeface="Calibri"/>
                <a:cs typeface="Calibri"/>
                <a:sym typeface="Calibri"/>
              </a:rPr>
              <a:t>central repository</a:t>
            </a:r>
            <a:r>
              <a:rPr lang="en-GB" sz="2100" b="1" dirty="0">
                <a:solidFill>
                  <a:schemeClr val="dk1"/>
                </a:solidFill>
                <a:latin typeface="Calibri"/>
                <a:ea typeface="Calibri"/>
                <a:cs typeface="Calibri"/>
                <a:sym typeface="Calibri"/>
              </a:rPr>
              <a:t>.</a:t>
            </a:r>
            <a:endParaRPr sz="2100" b="1"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dirty="0" smtClean="0">
                <a:solidFill>
                  <a:schemeClr val="dk1"/>
                </a:solidFill>
                <a:latin typeface="Calibri"/>
                <a:ea typeface="Calibri"/>
                <a:cs typeface="Calibri"/>
                <a:sym typeface="Calibri"/>
              </a:rPr>
              <a:t>Data-centred </a:t>
            </a:r>
            <a:r>
              <a:rPr lang="en-GB" sz="2100" dirty="0">
                <a:solidFill>
                  <a:schemeClr val="dk1"/>
                </a:solidFill>
                <a:latin typeface="Calibri"/>
                <a:ea typeface="Calibri"/>
                <a:cs typeface="Calibri"/>
                <a:sym typeface="Calibri"/>
              </a:rPr>
              <a:t>architectures promote </a:t>
            </a:r>
            <a:r>
              <a:rPr lang="en-GB" sz="2100" b="1" dirty="0">
                <a:solidFill>
                  <a:srgbClr val="0070C0"/>
                </a:solidFill>
                <a:latin typeface="Calibri"/>
                <a:ea typeface="Calibri"/>
                <a:cs typeface="Calibri"/>
                <a:sym typeface="Calibri"/>
              </a:rPr>
              <a:t>integration-ability</a:t>
            </a:r>
            <a:r>
              <a:rPr lang="en-GB" sz="2100" b="1" dirty="0">
                <a:solidFill>
                  <a:schemeClr val="dk1"/>
                </a:solidFill>
                <a:latin typeface="Calibri"/>
                <a:ea typeface="Calibri"/>
                <a:cs typeface="Calibri"/>
                <a:sym typeface="Calibri"/>
              </a:rPr>
              <a:t>.</a:t>
            </a:r>
            <a:endParaRPr sz="2100" b="1" dirty="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New client components can be added easily.</a:t>
            </a:r>
            <a:endParaRPr sz="2100" dirty="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Client components independently execute processes</a:t>
            </a:r>
            <a:r>
              <a:rPr lang="en-GB" sz="2100" dirty="0" smtClean="0">
                <a:solidFill>
                  <a:schemeClr val="dk1"/>
                </a:solidFill>
                <a:latin typeface="Calibri"/>
                <a:ea typeface="Calibri"/>
                <a:cs typeface="Calibri"/>
                <a:sym typeface="Calibri"/>
              </a:rPr>
              <a:t>.</a:t>
            </a:r>
          </a:p>
          <a:p>
            <a:pPr marL="457200" lvl="0" indent="-361950" algn="just" rtl="0">
              <a:spcBef>
                <a:spcPts val="0"/>
              </a:spcBef>
              <a:spcAft>
                <a:spcPts val="0"/>
              </a:spcAft>
              <a:buClr>
                <a:schemeClr val="dk1"/>
              </a:buClr>
              <a:buSzPts val="2100"/>
              <a:buFont typeface="Calibri"/>
              <a:buChar char="●"/>
            </a:pPr>
            <a:r>
              <a:rPr lang="en-GB" sz="2100" dirty="0" smtClean="0">
                <a:solidFill>
                  <a:schemeClr val="dk1"/>
                </a:solidFill>
                <a:latin typeface="Calibri"/>
                <a:ea typeface="Calibri"/>
                <a:cs typeface="Calibri"/>
                <a:sym typeface="Calibri"/>
              </a:rPr>
              <a:t>It is widely used in DBMS. </a:t>
            </a:r>
          </a:p>
          <a:p>
            <a:pPr lvl="1" indent="-361950" algn="just">
              <a:spcBef>
                <a:spcPts val="0"/>
              </a:spcBef>
              <a:buSzPts val="2100"/>
              <a:buFont typeface="Calibri"/>
              <a:buChar char="●"/>
            </a:pPr>
            <a:r>
              <a:rPr lang="en-GB" sz="1700" dirty="0" err="1" smtClean="0">
                <a:solidFill>
                  <a:schemeClr val="dk1"/>
                </a:solidFill>
                <a:latin typeface="Calibri"/>
                <a:ea typeface="Calibri"/>
                <a:cs typeface="Calibri"/>
                <a:sym typeface="Calibri"/>
              </a:rPr>
              <a:t>Eg</a:t>
            </a:r>
            <a:r>
              <a:rPr lang="en-GB" sz="1700" dirty="0" smtClean="0">
                <a:solidFill>
                  <a:schemeClr val="dk1"/>
                </a:solidFill>
                <a:latin typeface="Calibri"/>
                <a:ea typeface="Calibri"/>
                <a:cs typeface="Calibri"/>
                <a:sym typeface="Calibri"/>
              </a:rPr>
              <a:t>. library management system etc.</a:t>
            </a:r>
            <a:endParaRPr sz="17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48" name="Google Shape;448;p62"/>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49" name="Google Shape;449;p62"/>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7</a:t>
            </a:fld>
            <a:endParaRPr/>
          </a:p>
        </p:txBody>
      </p:sp>
      <p:pic>
        <p:nvPicPr>
          <p:cNvPr id="4098" name="Picture 2" descr="Architecture styles. Introduction: | by Bhakti Karangale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3971" y="3632719"/>
            <a:ext cx="3291381" cy="2655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07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504" y="1960983"/>
            <a:ext cx="4649233" cy="2990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6605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56" name="Google Shape;456;p63"/>
          <p:cNvSpPr txBox="1">
            <a:spLocks noGrp="1"/>
          </p:cNvSpPr>
          <p:nvPr>
            <p:ph type="body" idx="1"/>
          </p:nvPr>
        </p:nvSpPr>
        <p:spPr>
          <a:xfrm>
            <a:off x="719925" y="793767"/>
            <a:ext cx="7927200" cy="3504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2 Data flow architecture:</a:t>
            </a:r>
            <a:endParaRPr sz="2100" b="1" dirty="0">
              <a:solidFill>
                <a:srgbClr val="0070C0"/>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dirty="0">
                <a:solidFill>
                  <a:schemeClr val="dk1"/>
                </a:solidFill>
                <a:latin typeface="Calibri"/>
                <a:ea typeface="Calibri"/>
                <a:cs typeface="Calibri"/>
                <a:sym typeface="Calibri"/>
              </a:rPr>
              <a:t>This architecture is applied when </a:t>
            </a:r>
            <a:r>
              <a:rPr lang="en-GB" sz="2100" b="1" dirty="0">
                <a:solidFill>
                  <a:srgbClr val="0070C0"/>
                </a:solidFill>
                <a:latin typeface="Calibri"/>
                <a:ea typeface="Calibri"/>
                <a:cs typeface="Calibri"/>
                <a:sym typeface="Calibri"/>
              </a:rPr>
              <a:t>input data </a:t>
            </a:r>
            <a:r>
              <a:rPr lang="en-GB" sz="2100" dirty="0">
                <a:solidFill>
                  <a:schemeClr val="dk1"/>
                </a:solidFill>
                <a:latin typeface="Calibri"/>
                <a:ea typeface="Calibri"/>
                <a:cs typeface="Calibri"/>
                <a:sym typeface="Calibri"/>
              </a:rPr>
              <a:t>are to be </a:t>
            </a:r>
            <a:r>
              <a:rPr lang="en-GB" sz="2100" b="1" dirty="0">
                <a:solidFill>
                  <a:srgbClr val="0070C0"/>
                </a:solidFill>
                <a:latin typeface="Calibri"/>
                <a:ea typeface="Calibri"/>
                <a:cs typeface="Calibri"/>
                <a:sym typeface="Calibri"/>
              </a:rPr>
              <a:t>transformed through </a:t>
            </a:r>
            <a:r>
              <a:rPr lang="en-GB" sz="2100" dirty="0">
                <a:solidFill>
                  <a:srgbClr val="0070C0"/>
                </a:solidFill>
                <a:latin typeface="Calibri"/>
                <a:ea typeface="Calibri"/>
                <a:cs typeface="Calibri"/>
                <a:sym typeface="Calibri"/>
              </a:rPr>
              <a:t>a </a:t>
            </a:r>
            <a:r>
              <a:rPr lang="en-GB" sz="2100" b="1" dirty="0">
                <a:solidFill>
                  <a:srgbClr val="0070C0"/>
                </a:solidFill>
                <a:latin typeface="Calibri"/>
                <a:ea typeface="Calibri"/>
                <a:cs typeface="Calibri"/>
                <a:sym typeface="Calibri"/>
              </a:rPr>
              <a:t>series</a:t>
            </a:r>
            <a:r>
              <a:rPr lang="en-GB" sz="2100" dirty="0">
                <a:solidFill>
                  <a:srgbClr val="0070C0"/>
                </a:solidFill>
                <a:latin typeface="Calibri"/>
                <a:ea typeface="Calibri"/>
                <a:cs typeface="Calibri"/>
                <a:sym typeface="Calibri"/>
              </a:rPr>
              <a:t> </a:t>
            </a:r>
            <a:r>
              <a:rPr lang="en-GB" sz="2100" dirty="0">
                <a:solidFill>
                  <a:schemeClr val="dk1"/>
                </a:solidFill>
                <a:latin typeface="Calibri"/>
                <a:ea typeface="Calibri"/>
                <a:cs typeface="Calibri"/>
                <a:sym typeface="Calibri"/>
              </a:rPr>
              <a:t>of computational or manipulative </a:t>
            </a:r>
            <a:r>
              <a:rPr lang="en-GB" sz="2100" b="1" dirty="0">
                <a:solidFill>
                  <a:srgbClr val="0070C0"/>
                </a:solidFill>
                <a:latin typeface="Calibri"/>
                <a:ea typeface="Calibri"/>
                <a:cs typeface="Calibri"/>
                <a:sym typeface="Calibri"/>
              </a:rPr>
              <a:t>components into output data.</a:t>
            </a:r>
            <a:endParaRPr sz="2100" b="1" dirty="0">
              <a:solidFill>
                <a:srgbClr val="0070C0"/>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Pipe and filter pattern</a:t>
            </a:r>
            <a:r>
              <a:rPr lang="en-GB" sz="2100" dirty="0" smtClean="0">
                <a:solidFill>
                  <a:schemeClr val="dk1"/>
                </a:solidFill>
                <a:latin typeface="Calibri"/>
                <a:ea typeface="Calibri"/>
                <a:cs typeface="Calibri"/>
                <a:sym typeface="Calibri"/>
              </a:rPr>
              <a:t>.</a:t>
            </a:r>
          </a:p>
          <a:p>
            <a:pPr lvl="1" indent="-361950" algn="just">
              <a:spcBef>
                <a:spcPts val="0"/>
              </a:spcBef>
              <a:buSzPts val="2100"/>
              <a:buFont typeface="Calibri"/>
              <a:buChar char="●"/>
            </a:pPr>
            <a:r>
              <a:rPr lang="en-GB" sz="1700" b="1" dirty="0" smtClean="0">
                <a:solidFill>
                  <a:schemeClr val="dk1"/>
                </a:solidFill>
                <a:latin typeface="Calibri"/>
                <a:ea typeface="Calibri"/>
                <a:cs typeface="Calibri"/>
                <a:sym typeface="Calibri"/>
              </a:rPr>
              <a:t>Pipe</a:t>
            </a:r>
            <a:r>
              <a:rPr lang="en-GB" sz="1700" dirty="0" smtClean="0">
                <a:solidFill>
                  <a:schemeClr val="dk1"/>
                </a:solidFill>
                <a:latin typeface="Calibri"/>
                <a:ea typeface="Calibri"/>
                <a:cs typeface="Calibri"/>
                <a:sym typeface="Calibri"/>
              </a:rPr>
              <a:t> is a connector which passes the data directionally from one filter to another.</a:t>
            </a:r>
          </a:p>
          <a:p>
            <a:pPr lvl="1" indent="-361950" algn="just">
              <a:spcBef>
                <a:spcPts val="0"/>
              </a:spcBef>
              <a:buSzPts val="2100"/>
              <a:buFont typeface="Calibri"/>
              <a:buChar char="●"/>
            </a:pPr>
            <a:r>
              <a:rPr lang="en-GB" sz="1700" b="1" dirty="0" smtClean="0">
                <a:solidFill>
                  <a:schemeClr val="dk1"/>
                </a:solidFill>
                <a:latin typeface="Calibri"/>
                <a:ea typeface="Calibri"/>
                <a:cs typeface="Calibri"/>
                <a:sym typeface="Calibri"/>
              </a:rPr>
              <a:t>Filter</a:t>
            </a:r>
            <a:r>
              <a:rPr lang="en-GB" sz="1700" dirty="0" smtClean="0">
                <a:solidFill>
                  <a:schemeClr val="dk1"/>
                </a:solidFill>
                <a:latin typeface="Calibri"/>
                <a:ea typeface="Calibri"/>
                <a:cs typeface="Calibri"/>
                <a:sym typeface="Calibri"/>
              </a:rPr>
              <a:t> is a component which reads data from input pipes and perform functions.</a:t>
            </a:r>
            <a:endParaRPr sz="1700" dirty="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Each filter works independently.</a:t>
            </a:r>
            <a:endParaRPr sz="2100"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dirty="0">
                <a:solidFill>
                  <a:schemeClr val="dk1"/>
                </a:solidFill>
                <a:latin typeface="Calibri"/>
                <a:ea typeface="Calibri"/>
                <a:cs typeface="Calibri"/>
                <a:sym typeface="Calibri"/>
              </a:rPr>
              <a:t>If the data </a:t>
            </a:r>
            <a:r>
              <a:rPr lang="en-GB" sz="2100" b="1" dirty="0">
                <a:solidFill>
                  <a:srgbClr val="0070C0"/>
                </a:solidFill>
                <a:latin typeface="Calibri"/>
                <a:ea typeface="Calibri"/>
                <a:cs typeface="Calibri"/>
                <a:sym typeface="Calibri"/>
              </a:rPr>
              <a:t>flow degenerates into a single line</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of transforms, it is termed </a:t>
            </a:r>
            <a:r>
              <a:rPr lang="en-GB" sz="2100" b="1" dirty="0">
                <a:solidFill>
                  <a:srgbClr val="0070C0"/>
                </a:solidFill>
                <a:latin typeface="Calibri"/>
                <a:ea typeface="Calibri"/>
                <a:cs typeface="Calibri"/>
                <a:sym typeface="Calibri"/>
              </a:rPr>
              <a:t>batch sequential</a:t>
            </a:r>
            <a:r>
              <a:rPr lang="en-GB" sz="2100" b="1" dirty="0" smtClean="0">
                <a:solidFill>
                  <a:srgbClr val="0070C0"/>
                </a:solidFill>
                <a:latin typeface="Calibri"/>
                <a:ea typeface="Calibri"/>
                <a:cs typeface="Calibri"/>
                <a:sym typeface="Calibri"/>
              </a:rPr>
              <a:t>.</a:t>
            </a:r>
          </a:p>
          <a:p>
            <a:pPr marL="457200" lvl="0" indent="-361950" algn="just" rtl="0">
              <a:spcBef>
                <a:spcPts val="0"/>
              </a:spcBef>
              <a:spcAft>
                <a:spcPts val="0"/>
              </a:spcAft>
              <a:buSzPts val="2100"/>
              <a:buFont typeface="Calibri"/>
              <a:buChar char="●"/>
            </a:pPr>
            <a:r>
              <a:rPr lang="en-GB" sz="2100" b="1" dirty="0" err="1" smtClean="0">
                <a:solidFill>
                  <a:srgbClr val="0070C0"/>
                </a:solidFill>
                <a:latin typeface="Calibri"/>
                <a:ea typeface="Calibri"/>
                <a:cs typeface="Calibri"/>
                <a:sym typeface="Calibri"/>
              </a:rPr>
              <a:t>E.g</a:t>
            </a:r>
            <a:r>
              <a:rPr lang="en-GB" sz="2100" b="1" dirty="0" smtClean="0">
                <a:solidFill>
                  <a:srgbClr val="0070C0"/>
                </a:solidFill>
                <a:latin typeface="Calibri"/>
                <a:ea typeface="Calibri"/>
                <a:cs typeface="Calibri"/>
                <a:sym typeface="Calibri"/>
              </a:rPr>
              <a:t> </a:t>
            </a:r>
            <a:r>
              <a:rPr lang="en-GB" sz="2100" dirty="0" smtClean="0">
                <a:solidFill>
                  <a:schemeClr val="tx1"/>
                </a:solidFill>
                <a:latin typeface="Calibri"/>
                <a:ea typeface="Calibri"/>
                <a:cs typeface="Calibri"/>
                <a:sym typeface="Calibri"/>
              </a:rPr>
              <a:t>google search engine</a:t>
            </a:r>
            <a:endParaRPr sz="2100" dirty="0" smtClean="0">
              <a:solidFill>
                <a:schemeClr val="tx1"/>
              </a:solidFill>
              <a:latin typeface="Calibri"/>
              <a:ea typeface="Calibri"/>
              <a:cs typeface="Calibri"/>
              <a:sym typeface="Calibri"/>
            </a:endParaRPr>
          </a:p>
          <a:p>
            <a:pPr marL="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57" name="Google Shape;457;p63"/>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58" name="Google Shape;458;p6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9</a:t>
            </a:fld>
            <a:endParaRPr/>
          </a:p>
        </p:txBody>
      </p:sp>
    </p:spTree>
    <p:extLst>
      <p:ext uri="{BB962C8B-B14F-4D97-AF65-F5344CB8AC3E}">
        <p14:creationId xmlns:p14="http://schemas.microsoft.com/office/powerpoint/2010/main" val="311336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4"/>
          <p:cNvSpPr txBox="1">
            <a:spLocks noGrp="1"/>
          </p:cNvSpPr>
          <p:nvPr>
            <p:ph type="title"/>
          </p:nvPr>
        </p:nvSpPr>
        <p:spPr>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64" name="Google Shape;464;p64"/>
          <p:cNvSpPr txBox="1">
            <a:spLocks noGrp="1"/>
          </p:cNvSpPr>
          <p:nvPr>
            <p:ph type="body" idx="1"/>
          </p:nvPr>
        </p:nvSpPr>
        <p:spPr>
          <a:xfrm>
            <a:off x="307910" y="1331169"/>
            <a:ext cx="4003690" cy="4760665"/>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2 Data flow architecture:</a:t>
            </a:r>
            <a:endParaRPr sz="2100" b="1" dirty="0">
              <a:solidFill>
                <a:srgbClr val="0070C0"/>
              </a:solidFill>
              <a:latin typeface="Calibri"/>
              <a:ea typeface="Calibri"/>
              <a:cs typeface="Calibri"/>
              <a:sym typeface="Calibri"/>
            </a:endParaRPr>
          </a:p>
          <a:p>
            <a:pPr marL="457200" lvl="0" indent="0" algn="just" rtl="0">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2" name="Text Placeholder 1"/>
          <p:cNvSpPr>
            <a:spLocks noGrp="1"/>
          </p:cNvSpPr>
          <p:nvPr>
            <p:ph type="body" idx="2"/>
          </p:nvPr>
        </p:nvSpPr>
        <p:spPr>
          <a:xfrm>
            <a:off x="5458408" y="1654629"/>
            <a:ext cx="3373892" cy="4437204"/>
          </a:xfrm>
        </p:spPr>
        <p:txBody>
          <a:bodyPr/>
          <a:lstStyle/>
          <a:p>
            <a:r>
              <a:rPr lang="en-US" dirty="0" smtClean="0"/>
              <a:t>Advantage:</a:t>
            </a:r>
          </a:p>
          <a:p>
            <a:r>
              <a:rPr lang="en-US" dirty="0" smtClean="0"/>
              <a:t>Supports concurrent execution</a:t>
            </a:r>
          </a:p>
          <a:p>
            <a:endParaRPr lang="en-US" dirty="0"/>
          </a:p>
          <a:p>
            <a:r>
              <a:rPr lang="en-US" dirty="0" smtClean="0"/>
              <a:t>Disadvantage:</a:t>
            </a:r>
          </a:p>
          <a:p>
            <a:r>
              <a:rPr lang="en-US" dirty="0" smtClean="0"/>
              <a:t>Don’t allow greater user engagement.</a:t>
            </a:r>
          </a:p>
          <a:p>
            <a:r>
              <a:rPr lang="en-US" dirty="0" smtClean="0"/>
              <a:t>E.g. Result site</a:t>
            </a:r>
            <a:endParaRPr lang="en-IN" dirty="0"/>
          </a:p>
        </p:txBody>
      </p:sp>
      <p:sp>
        <p:nvSpPr>
          <p:cNvPr id="466" name="Google Shape;466;p64"/>
          <p:cNvSpPr txBox="1">
            <a:spLocks noGrp="1"/>
          </p:cNvSpPr>
          <p:nvPr>
            <p:ph type="sldNum" idx="12"/>
          </p:nvPr>
        </p:nvSpPr>
        <p:spPr>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10</a:t>
            </a:fld>
            <a:endParaRPr/>
          </a:p>
        </p:txBody>
      </p:sp>
      <p:sp>
        <p:nvSpPr>
          <p:cNvPr id="465" name="Google Shape;465;p64"/>
          <p:cNvSpPr txBox="1">
            <a:spLocks noGrp="1"/>
          </p:cNvSpPr>
          <p:nvPr>
            <p:ph type="ftr" idx="4294967295"/>
          </p:nvPr>
        </p:nvSpPr>
        <p:spPr>
          <a:xfrm>
            <a:off x="0" y="6356351"/>
            <a:ext cx="3086100" cy="366183"/>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pic>
        <p:nvPicPr>
          <p:cNvPr id="467" name="Google Shape;467;p64"/>
          <p:cNvPicPr preferRelativeResize="0"/>
          <p:nvPr/>
        </p:nvPicPr>
        <p:blipFill>
          <a:blip r:embed="rId3">
            <a:alphaModFix/>
          </a:blip>
          <a:stretch>
            <a:fillRect/>
          </a:stretch>
        </p:blipFill>
        <p:spPr>
          <a:xfrm>
            <a:off x="373224" y="2189585"/>
            <a:ext cx="4351332" cy="4005052"/>
          </a:xfrm>
          <a:prstGeom prst="rect">
            <a:avLst/>
          </a:prstGeom>
          <a:noFill/>
          <a:ln>
            <a:noFill/>
          </a:ln>
        </p:spPr>
      </p:pic>
    </p:spTree>
    <p:extLst>
      <p:ext uri="{BB962C8B-B14F-4D97-AF65-F5344CB8AC3E}">
        <p14:creationId xmlns:p14="http://schemas.microsoft.com/office/powerpoint/2010/main" val="62013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4">
                                            <p:txEl>
                                              <p:pRg st="0" end="0"/>
                                            </p:txEl>
                                          </p:spTgt>
                                        </p:tgtEl>
                                        <p:attrNameLst>
                                          <p:attrName>style.visibility</p:attrName>
                                        </p:attrNameLst>
                                      </p:cBhvr>
                                      <p:to>
                                        <p:strVal val="visible"/>
                                      </p:to>
                                    </p:set>
                                    <p:anim calcmode="lin" valueType="num">
                                      <p:cBhvr additive="base">
                                        <p:cTn id="7" dur="500" fill="hold"/>
                                        <p:tgtEl>
                                          <p:spTgt spid="4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 grpId="0" build="p"/>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5"/>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73" name="Google Shape;473;p65"/>
          <p:cNvSpPr txBox="1">
            <a:spLocks noGrp="1"/>
          </p:cNvSpPr>
          <p:nvPr>
            <p:ph type="body" idx="1"/>
          </p:nvPr>
        </p:nvSpPr>
        <p:spPr>
          <a:xfrm>
            <a:off x="719925" y="692167"/>
            <a:ext cx="7927200" cy="3504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3. Call and return  architecture:</a:t>
            </a:r>
            <a:endParaRPr sz="2100" b="1" dirty="0">
              <a:solidFill>
                <a:srgbClr val="0070C0"/>
              </a:solidFill>
              <a:latin typeface="Calibri"/>
              <a:ea typeface="Calibri"/>
              <a:cs typeface="Calibri"/>
              <a:sym typeface="Calibri"/>
            </a:endParaRPr>
          </a:p>
          <a:p>
            <a:pPr marL="0" lvl="0" indent="0" algn="just" rtl="0">
              <a:spcBef>
                <a:spcPts val="0"/>
              </a:spcBef>
              <a:spcAft>
                <a:spcPts val="0"/>
              </a:spcAft>
              <a:buNone/>
            </a:pPr>
            <a:endParaRPr sz="2100"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dirty="0">
                <a:solidFill>
                  <a:schemeClr val="dk1"/>
                </a:solidFill>
                <a:latin typeface="Calibri"/>
                <a:ea typeface="Calibri"/>
                <a:cs typeface="Calibri"/>
                <a:sym typeface="Calibri"/>
              </a:rPr>
              <a:t>This architectural style enables you to achieve </a:t>
            </a:r>
            <a:r>
              <a:rPr lang="en-GB" sz="2100" dirty="0">
                <a:solidFill>
                  <a:srgbClr val="0070C0"/>
                </a:solidFill>
                <a:latin typeface="Calibri"/>
                <a:ea typeface="Calibri"/>
                <a:cs typeface="Calibri"/>
                <a:sym typeface="Calibri"/>
              </a:rPr>
              <a:t>a </a:t>
            </a:r>
            <a:r>
              <a:rPr lang="en-GB" sz="2100" b="1" dirty="0">
                <a:solidFill>
                  <a:srgbClr val="0070C0"/>
                </a:solidFill>
                <a:latin typeface="Calibri"/>
                <a:ea typeface="Calibri"/>
                <a:cs typeface="Calibri"/>
                <a:sym typeface="Calibri"/>
              </a:rPr>
              <a:t>program structure that is relatively easy to modify and scale.</a:t>
            </a:r>
            <a:endParaRPr sz="2100" b="1" dirty="0">
              <a:solidFill>
                <a:srgbClr val="0070C0"/>
              </a:solidFill>
              <a:latin typeface="Calibri"/>
              <a:ea typeface="Calibri"/>
              <a:cs typeface="Calibri"/>
              <a:sym typeface="Calibri"/>
            </a:endParaRPr>
          </a:p>
          <a:p>
            <a:pPr marL="0" lvl="0" indent="0" algn="just" rtl="0">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b="1" dirty="0">
                <a:solidFill>
                  <a:srgbClr val="0070C0"/>
                </a:solidFill>
                <a:latin typeface="Calibri"/>
                <a:ea typeface="Calibri"/>
                <a:cs typeface="Calibri"/>
                <a:sym typeface="Calibri"/>
              </a:rPr>
              <a:t>Sub styles of call and return architecture:</a:t>
            </a:r>
            <a:endParaRPr sz="2100" b="1" dirty="0">
              <a:solidFill>
                <a:srgbClr val="0070C0"/>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b="1" dirty="0">
                <a:solidFill>
                  <a:srgbClr val="0070C0"/>
                </a:solidFill>
                <a:latin typeface="Calibri"/>
                <a:ea typeface="Calibri"/>
                <a:cs typeface="Calibri"/>
                <a:sym typeface="Calibri"/>
              </a:rPr>
              <a:t>Main program/subprogram architectures: main program invokes a number of program components</a:t>
            </a:r>
            <a:r>
              <a:rPr lang="en-GB" sz="2100" dirty="0">
                <a:solidFill>
                  <a:srgbClr val="0070C0"/>
                </a:solidFill>
                <a:latin typeface="Calibri"/>
                <a:ea typeface="Calibri"/>
                <a:cs typeface="Calibri"/>
                <a:sym typeface="Calibri"/>
              </a:rPr>
              <a:t> </a:t>
            </a:r>
            <a:r>
              <a:rPr lang="en-GB" sz="2100" dirty="0">
                <a:solidFill>
                  <a:schemeClr val="dk1"/>
                </a:solidFill>
                <a:latin typeface="Calibri"/>
                <a:ea typeface="Calibri"/>
                <a:cs typeface="Calibri"/>
                <a:sym typeface="Calibri"/>
              </a:rPr>
              <a:t>that in turn may invoke still other components.</a:t>
            </a:r>
            <a:endParaRPr sz="2100" dirty="0">
              <a:solidFill>
                <a:schemeClr val="dk1"/>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b="1" dirty="0">
                <a:solidFill>
                  <a:srgbClr val="0070C0"/>
                </a:solidFill>
                <a:latin typeface="Calibri"/>
                <a:ea typeface="Calibri"/>
                <a:cs typeface="Calibri"/>
                <a:sym typeface="Calibri"/>
              </a:rPr>
              <a:t>Remote procedure call architectures: </a:t>
            </a:r>
            <a:r>
              <a:rPr lang="en-GB" sz="2100" dirty="0">
                <a:solidFill>
                  <a:schemeClr val="dk1"/>
                </a:solidFill>
                <a:latin typeface="Calibri"/>
                <a:ea typeface="Calibri"/>
                <a:cs typeface="Calibri"/>
                <a:sym typeface="Calibri"/>
              </a:rPr>
              <a:t>The </a:t>
            </a:r>
            <a:r>
              <a:rPr lang="en-GB" sz="2100" b="1" dirty="0">
                <a:solidFill>
                  <a:srgbClr val="0070C0"/>
                </a:solidFill>
                <a:latin typeface="Calibri"/>
                <a:ea typeface="Calibri"/>
                <a:cs typeface="Calibri"/>
                <a:sym typeface="Calibri"/>
              </a:rPr>
              <a:t>components of a main program/subprogram</a:t>
            </a:r>
            <a:r>
              <a:rPr lang="en-GB" sz="2100" dirty="0">
                <a:solidFill>
                  <a:schemeClr val="dk1"/>
                </a:solidFill>
                <a:latin typeface="Calibri"/>
                <a:ea typeface="Calibri"/>
                <a:cs typeface="Calibri"/>
                <a:sym typeface="Calibri"/>
              </a:rPr>
              <a:t> architecture are </a:t>
            </a:r>
            <a:r>
              <a:rPr lang="en-GB" sz="2100" b="1" dirty="0">
                <a:solidFill>
                  <a:srgbClr val="0070C0"/>
                </a:solidFill>
                <a:latin typeface="Calibri"/>
                <a:ea typeface="Calibri"/>
                <a:cs typeface="Calibri"/>
                <a:sym typeface="Calibri"/>
              </a:rPr>
              <a:t>distributed across multiple computers on a network.</a:t>
            </a:r>
            <a:endParaRPr sz="2100" b="1" dirty="0">
              <a:solidFill>
                <a:srgbClr val="0070C0"/>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74" name="Google Shape;474;p65"/>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75" name="Google Shape;475;p65"/>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11</a:t>
            </a:fld>
            <a:endParaRPr/>
          </a:p>
        </p:txBody>
      </p:sp>
    </p:spTree>
    <p:extLst>
      <p:ext uri="{BB962C8B-B14F-4D97-AF65-F5344CB8AC3E}">
        <p14:creationId xmlns:p14="http://schemas.microsoft.com/office/powerpoint/2010/main" val="4496992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66"/>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81" name="Google Shape;481;p66"/>
          <p:cNvSpPr txBox="1">
            <a:spLocks noGrp="1"/>
          </p:cNvSpPr>
          <p:nvPr>
            <p:ph type="body" idx="1"/>
          </p:nvPr>
        </p:nvSpPr>
        <p:spPr>
          <a:xfrm>
            <a:off x="719925" y="692167"/>
            <a:ext cx="7927200" cy="3504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3. Call and return  architecture:</a:t>
            </a:r>
            <a:endParaRPr sz="2100" b="1" dirty="0">
              <a:solidFill>
                <a:srgbClr val="0070C0"/>
              </a:solidFill>
              <a:latin typeface="Calibri"/>
              <a:ea typeface="Calibri"/>
              <a:cs typeface="Calibri"/>
              <a:sym typeface="Calibri"/>
            </a:endParaRPr>
          </a:p>
          <a:p>
            <a:pPr marL="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82" name="Google Shape;482;p66"/>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83" name="Google Shape;483;p66"/>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12</a:t>
            </a:fld>
            <a:endParaRPr/>
          </a:p>
        </p:txBody>
      </p:sp>
      <p:pic>
        <p:nvPicPr>
          <p:cNvPr id="484" name="Google Shape;484;p66"/>
          <p:cNvPicPr preferRelativeResize="0"/>
          <p:nvPr/>
        </p:nvPicPr>
        <p:blipFill>
          <a:blip r:embed="rId3">
            <a:alphaModFix/>
          </a:blip>
          <a:stretch>
            <a:fillRect/>
          </a:stretch>
        </p:blipFill>
        <p:spPr>
          <a:xfrm>
            <a:off x="1381975" y="1442018"/>
            <a:ext cx="5829300" cy="4660900"/>
          </a:xfrm>
          <a:prstGeom prst="rect">
            <a:avLst/>
          </a:prstGeom>
          <a:noFill/>
          <a:ln>
            <a:noFill/>
          </a:ln>
        </p:spPr>
      </p:pic>
    </p:spTree>
    <p:extLst>
      <p:ext uri="{BB962C8B-B14F-4D97-AF65-F5344CB8AC3E}">
        <p14:creationId xmlns:p14="http://schemas.microsoft.com/office/powerpoint/2010/main" val="284924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7"/>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Styles</a:t>
            </a:r>
            <a:endParaRPr b="1"/>
          </a:p>
        </p:txBody>
      </p:sp>
      <p:sp>
        <p:nvSpPr>
          <p:cNvPr id="490" name="Google Shape;490;p67"/>
          <p:cNvSpPr txBox="1">
            <a:spLocks noGrp="1"/>
          </p:cNvSpPr>
          <p:nvPr>
            <p:ph type="body" idx="1"/>
          </p:nvPr>
        </p:nvSpPr>
        <p:spPr>
          <a:xfrm>
            <a:off x="719925" y="692167"/>
            <a:ext cx="7927200" cy="3504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None/>
            </a:pPr>
            <a:r>
              <a:rPr lang="en-GB" sz="2100" b="1" dirty="0">
                <a:solidFill>
                  <a:srgbClr val="0070C0"/>
                </a:solidFill>
                <a:latin typeface="Calibri"/>
                <a:ea typeface="Calibri"/>
                <a:cs typeface="Calibri"/>
                <a:sym typeface="Calibri"/>
              </a:rPr>
              <a:t>4. Layered architecture:</a:t>
            </a:r>
            <a:endParaRPr sz="2100" b="1" dirty="0">
              <a:solidFill>
                <a:srgbClr val="0070C0"/>
              </a:solidFill>
              <a:latin typeface="Calibri"/>
              <a:ea typeface="Calibri"/>
              <a:cs typeface="Calibri"/>
              <a:sym typeface="Calibri"/>
            </a:endParaRPr>
          </a:p>
          <a:p>
            <a:pPr marL="0" lvl="0" indent="0" algn="l" rtl="0">
              <a:spcBef>
                <a:spcPts val="1000"/>
              </a:spcBef>
              <a:spcAft>
                <a:spcPts val="0"/>
              </a:spcAft>
              <a:buNone/>
            </a:pPr>
            <a:r>
              <a:rPr lang="en-GB" sz="2100" dirty="0">
                <a:solidFill>
                  <a:schemeClr val="dk1"/>
                </a:solidFill>
                <a:latin typeface="Calibri"/>
                <a:ea typeface="Calibri"/>
                <a:cs typeface="Calibri"/>
                <a:sym typeface="Calibri"/>
              </a:rPr>
              <a:t>Layered architecture focuses on the </a:t>
            </a:r>
            <a:r>
              <a:rPr lang="en-GB" sz="2100" b="1" dirty="0">
                <a:solidFill>
                  <a:srgbClr val="0070C0"/>
                </a:solidFill>
                <a:latin typeface="Calibri"/>
                <a:ea typeface="Calibri"/>
                <a:cs typeface="Calibri"/>
                <a:sym typeface="Calibri"/>
              </a:rPr>
              <a:t>grouping of related functionality within an application</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into distinct layers that are stacked vertically on top of each other.</a:t>
            </a: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491" name="Google Shape;491;p67"/>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492" name="Google Shape;492;p67"/>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13</a:t>
            </a:fld>
            <a:endParaRPr/>
          </a:p>
        </p:txBody>
      </p:sp>
      <p:pic>
        <p:nvPicPr>
          <p:cNvPr id="8194" name="Picture 2" descr="Architectural styles for Software Desi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665" y="2925293"/>
            <a:ext cx="2657540" cy="3099172"/>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6020" y="3263712"/>
            <a:ext cx="3234466" cy="15757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185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barn(inVertical)">
                                      <p:cBhvr>
                                        <p:cTn id="1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normAutofit fontScale="92500" lnSpcReduction="10000"/>
          </a:bodyPr>
          <a:lstStyle/>
          <a:p>
            <a:r>
              <a:rPr lang="en-US" b="1" dirty="0" smtClean="0"/>
              <a:t>Output layer:</a:t>
            </a:r>
          </a:p>
          <a:p>
            <a:r>
              <a:rPr lang="en-US" dirty="0" smtClean="0"/>
              <a:t>Component manage the User Interface Operations</a:t>
            </a:r>
          </a:p>
          <a:p>
            <a:r>
              <a:rPr lang="en-US" b="1" dirty="0" smtClean="0"/>
              <a:t>Inner layer(core layer):</a:t>
            </a:r>
          </a:p>
          <a:p>
            <a:r>
              <a:rPr lang="en-US" dirty="0"/>
              <a:t>Component manage the </a:t>
            </a:r>
            <a:r>
              <a:rPr lang="en-US" dirty="0" smtClean="0"/>
              <a:t>Operating System interfacing. (database)</a:t>
            </a:r>
          </a:p>
          <a:p>
            <a:r>
              <a:rPr lang="en-US" b="1" dirty="0" smtClean="0"/>
              <a:t>Intermediate Layer:</a:t>
            </a:r>
          </a:p>
          <a:p>
            <a:r>
              <a:rPr lang="en-US" dirty="0" smtClean="0"/>
              <a:t>Provide utility services and application software functions.</a:t>
            </a:r>
            <a:endParaRPr lang="en-US" dirty="0"/>
          </a:p>
          <a:p>
            <a:endParaRPr lang="en-IN" dirty="0"/>
          </a:p>
        </p:txBody>
      </p:sp>
    </p:spTree>
    <p:extLst>
      <p:ext uri="{BB962C8B-B14F-4D97-AF65-F5344CB8AC3E}">
        <p14:creationId xmlns:p14="http://schemas.microsoft.com/office/powerpoint/2010/main" val="17325042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70"/>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Design</a:t>
            </a:r>
            <a:endParaRPr b="1"/>
          </a:p>
        </p:txBody>
      </p:sp>
      <p:sp>
        <p:nvSpPr>
          <p:cNvPr id="515" name="Google Shape;515;p70"/>
          <p:cNvSpPr txBox="1">
            <a:spLocks noGrp="1"/>
          </p:cNvSpPr>
          <p:nvPr>
            <p:ph type="body" idx="1"/>
          </p:nvPr>
        </p:nvSpPr>
        <p:spPr>
          <a:xfrm>
            <a:off x="719925" y="895367"/>
            <a:ext cx="8004197" cy="4976699"/>
          </a:xfrm>
          <a:prstGeom prst="rect">
            <a:avLst/>
          </a:prstGeom>
          <a:noFill/>
          <a:ln>
            <a:noFill/>
          </a:ln>
        </p:spPr>
        <p:txBody>
          <a:bodyPr spcFirstLastPara="1" wrap="square" lIns="68575" tIns="34275" rIns="68575" bIns="34275" anchor="t" anchorCtr="0">
            <a:noAutofit/>
          </a:bodyPr>
          <a:lstStyle/>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The software must be placed into </a:t>
            </a:r>
            <a:r>
              <a:rPr lang="en-GB" sz="2100" dirty="0" smtClean="0">
                <a:solidFill>
                  <a:schemeClr val="dk1"/>
                </a:solidFill>
                <a:latin typeface="Calibri"/>
                <a:ea typeface="Calibri"/>
                <a:cs typeface="Calibri"/>
                <a:sym typeface="Calibri"/>
              </a:rPr>
              <a:t>context</a:t>
            </a:r>
            <a:endParaRPr lang="en-GB" sz="2100" dirty="0">
              <a:solidFill>
                <a:schemeClr val="dk1"/>
              </a:solidFill>
              <a:latin typeface="Calibri"/>
              <a:ea typeface="Calibri"/>
              <a:cs typeface="Calibri"/>
              <a:sym typeface="Calibri"/>
            </a:endParaRPr>
          </a:p>
          <a:p>
            <a:pPr lvl="1" indent="-361950" algn="just">
              <a:spcBef>
                <a:spcPts val="0"/>
              </a:spcBef>
              <a:buSzPts val="2100"/>
              <a:buFont typeface="Calibri"/>
              <a:buChar char="●"/>
            </a:pPr>
            <a:r>
              <a:rPr lang="en-GB" sz="1700" dirty="0" smtClean="0">
                <a:solidFill>
                  <a:schemeClr val="dk1"/>
                </a:solidFill>
                <a:latin typeface="Calibri"/>
                <a:ea typeface="Calibri"/>
                <a:cs typeface="Calibri"/>
                <a:sym typeface="Calibri"/>
              </a:rPr>
              <a:t>The </a:t>
            </a:r>
            <a:r>
              <a:rPr lang="en-GB" sz="1700" b="1" dirty="0">
                <a:solidFill>
                  <a:schemeClr val="dk1"/>
                </a:solidFill>
                <a:latin typeface="Calibri"/>
                <a:ea typeface="Calibri"/>
                <a:cs typeface="Calibri"/>
                <a:sym typeface="Calibri"/>
              </a:rPr>
              <a:t>design</a:t>
            </a:r>
            <a:r>
              <a:rPr lang="en-GB" sz="1700" dirty="0">
                <a:solidFill>
                  <a:schemeClr val="dk1"/>
                </a:solidFill>
                <a:latin typeface="Calibri"/>
                <a:ea typeface="Calibri"/>
                <a:cs typeface="Calibri"/>
                <a:sym typeface="Calibri"/>
              </a:rPr>
              <a:t> should </a:t>
            </a:r>
            <a:r>
              <a:rPr lang="en-GB" sz="1700" b="1" dirty="0">
                <a:solidFill>
                  <a:schemeClr val="dk1"/>
                </a:solidFill>
                <a:latin typeface="Calibri"/>
                <a:ea typeface="Calibri"/>
                <a:cs typeface="Calibri"/>
                <a:sym typeface="Calibri"/>
              </a:rPr>
              <a:t>define</a:t>
            </a:r>
            <a:r>
              <a:rPr lang="en-GB" sz="1700" dirty="0">
                <a:solidFill>
                  <a:schemeClr val="dk1"/>
                </a:solidFill>
                <a:latin typeface="Calibri"/>
                <a:ea typeface="Calibri"/>
                <a:cs typeface="Calibri"/>
                <a:sym typeface="Calibri"/>
              </a:rPr>
              <a:t> the </a:t>
            </a:r>
            <a:r>
              <a:rPr lang="en-GB" sz="1700" b="1" dirty="0">
                <a:solidFill>
                  <a:schemeClr val="dk1"/>
                </a:solidFill>
                <a:latin typeface="Calibri"/>
                <a:ea typeface="Calibri"/>
                <a:cs typeface="Calibri"/>
                <a:sym typeface="Calibri"/>
              </a:rPr>
              <a:t>external entities </a:t>
            </a:r>
            <a:r>
              <a:rPr lang="en-GB" sz="1700" dirty="0">
                <a:solidFill>
                  <a:schemeClr val="dk1"/>
                </a:solidFill>
                <a:latin typeface="Calibri"/>
                <a:ea typeface="Calibri"/>
                <a:cs typeface="Calibri"/>
                <a:sym typeface="Calibri"/>
              </a:rPr>
              <a:t>(other systems, devices, people) that the </a:t>
            </a:r>
            <a:r>
              <a:rPr lang="en-GB" sz="1700" b="1" dirty="0">
                <a:solidFill>
                  <a:schemeClr val="dk1"/>
                </a:solidFill>
                <a:latin typeface="Calibri"/>
                <a:ea typeface="Calibri"/>
                <a:cs typeface="Calibri"/>
                <a:sym typeface="Calibri"/>
              </a:rPr>
              <a:t>software interacts </a:t>
            </a:r>
            <a:r>
              <a:rPr lang="en-GB" sz="1700" dirty="0">
                <a:solidFill>
                  <a:schemeClr val="dk1"/>
                </a:solidFill>
                <a:latin typeface="Calibri"/>
                <a:ea typeface="Calibri"/>
                <a:cs typeface="Calibri"/>
                <a:sym typeface="Calibri"/>
              </a:rPr>
              <a:t>with and the </a:t>
            </a:r>
            <a:r>
              <a:rPr lang="en-GB" sz="1700" b="1" dirty="0">
                <a:solidFill>
                  <a:schemeClr val="dk1"/>
                </a:solidFill>
                <a:latin typeface="Calibri"/>
                <a:ea typeface="Calibri"/>
                <a:cs typeface="Calibri"/>
                <a:sym typeface="Calibri"/>
              </a:rPr>
              <a:t>nature of the </a:t>
            </a:r>
            <a:r>
              <a:rPr lang="en-GB" sz="1700" b="1" dirty="0" smtClean="0">
                <a:solidFill>
                  <a:schemeClr val="dk1"/>
                </a:solidFill>
                <a:latin typeface="Calibri"/>
                <a:ea typeface="Calibri"/>
                <a:cs typeface="Calibri"/>
                <a:sym typeface="Calibri"/>
              </a:rPr>
              <a:t>interaction</a:t>
            </a:r>
          </a:p>
          <a:p>
            <a:pPr lvl="1" indent="-361950" algn="just">
              <a:spcBef>
                <a:spcPts val="0"/>
              </a:spcBef>
              <a:buSzPts val="2100"/>
              <a:buFont typeface="Calibri"/>
              <a:buChar char="●"/>
            </a:pPr>
            <a:endParaRPr lang="en-GB" sz="1700" dirty="0" smtClean="0">
              <a:solidFill>
                <a:schemeClr val="dk1"/>
              </a:solidFill>
              <a:latin typeface="Calibri"/>
              <a:ea typeface="Calibri"/>
              <a:cs typeface="Calibri"/>
              <a:sym typeface="Calibri"/>
            </a:endParaRPr>
          </a:p>
          <a:p>
            <a:pPr lvl="1" indent="-361950" algn="just">
              <a:spcBef>
                <a:spcPts val="0"/>
              </a:spcBef>
              <a:buSzPts val="2100"/>
              <a:buFont typeface="Calibri"/>
              <a:buChar char="●"/>
            </a:pPr>
            <a:r>
              <a:rPr lang="en-GB" sz="1700" dirty="0" smtClean="0">
                <a:solidFill>
                  <a:schemeClr val="dk1"/>
                </a:solidFill>
                <a:latin typeface="Calibri"/>
                <a:ea typeface="Calibri"/>
                <a:cs typeface="Calibri"/>
                <a:sym typeface="Calibri"/>
              </a:rPr>
              <a:t>The </a:t>
            </a:r>
            <a:r>
              <a:rPr lang="en-GB" sz="1700" b="1" dirty="0">
                <a:solidFill>
                  <a:schemeClr val="dk1"/>
                </a:solidFill>
                <a:latin typeface="Calibri"/>
                <a:ea typeface="Calibri"/>
                <a:cs typeface="Calibri"/>
                <a:sym typeface="Calibri"/>
              </a:rPr>
              <a:t>designer specifies the structure </a:t>
            </a:r>
            <a:r>
              <a:rPr lang="en-GB" sz="1700" dirty="0">
                <a:solidFill>
                  <a:schemeClr val="dk1"/>
                </a:solidFill>
                <a:latin typeface="Calibri"/>
                <a:ea typeface="Calibri"/>
                <a:cs typeface="Calibri"/>
                <a:sym typeface="Calibri"/>
              </a:rPr>
              <a:t>of the system by </a:t>
            </a:r>
            <a:r>
              <a:rPr lang="en-GB" sz="1700" b="1" dirty="0">
                <a:solidFill>
                  <a:schemeClr val="dk1"/>
                </a:solidFill>
                <a:latin typeface="Calibri"/>
                <a:ea typeface="Calibri"/>
                <a:cs typeface="Calibri"/>
                <a:sym typeface="Calibri"/>
              </a:rPr>
              <a:t>defining and refining software components</a:t>
            </a:r>
            <a:r>
              <a:rPr lang="en-GB" sz="1700" dirty="0">
                <a:solidFill>
                  <a:schemeClr val="dk1"/>
                </a:solidFill>
                <a:latin typeface="Calibri"/>
                <a:ea typeface="Calibri"/>
                <a:cs typeface="Calibri"/>
                <a:sym typeface="Calibri"/>
              </a:rPr>
              <a:t> that implement each </a:t>
            </a:r>
            <a:r>
              <a:rPr lang="en-GB" sz="1700" dirty="0" smtClean="0">
                <a:solidFill>
                  <a:schemeClr val="dk1"/>
                </a:solidFill>
                <a:latin typeface="Calibri"/>
                <a:ea typeface="Calibri"/>
                <a:cs typeface="Calibri"/>
                <a:sym typeface="Calibri"/>
              </a:rPr>
              <a:t>archetype.</a:t>
            </a:r>
          </a:p>
          <a:p>
            <a:pPr lvl="0" indent="-361950" algn="just">
              <a:spcBef>
                <a:spcPts val="0"/>
              </a:spcBef>
              <a:buSzPts val="2100"/>
              <a:buFont typeface="Calibri"/>
              <a:buChar char="●"/>
            </a:pPr>
            <a:endParaRPr lang="en-GB" sz="2100" dirty="0">
              <a:solidFill>
                <a:schemeClr val="dk1"/>
              </a:solidFill>
              <a:latin typeface="Calibri"/>
              <a:ea typeface="Calibri"/>
              <a:cs typeface="Calibri"/>
              <a:sym typeface="Calibri"/>
            </a:endParaRPr>
          </a:p>
          <a:p>
            <a:pPr lvl="0" indent="-361950" algn="just">
              <a:spcBef>
                <a:spcPts val="0"/>
              </a:spcBef>
              <a:buSzPts val="2100"/>
              <a:buFont typeface="Calibri"/>
              <a:buChar char="●"/>
            </a:pPr>
            <a:endParaRPr lang="en-US" sz="2100" dirty="0" smtClean="0">
              <a:solidFill>
                <a:schemeClr val="dk1"/>
              </a:solidFill>
              <a:latin typeface="Calibri"/>
              <a:ea typeface="Calibri"/>
              <a:cs typeface="Calibri"/>
              <a:sym typeface="Calibri"/>
            </a:endParaRPr>
          </a:p>
          <a:p>
            <a:pPr lvl="0" indent="-361950" algn="just">
              <a:spcBef>
                <a:spcPts val="0"/>
              </a:spcBef>
              <a:buSzPts val="2100"/>
              <a:buFont typeface="Calibri"/>
              <a:buChar char="●"/>
            </a:pPr>
            <a:endParaRPr lang="en-US" sz="2100" dirty="0">
              <a:solidFill>
                <a:schemeClr val="dk1"/>
              </a:solidFill>
              <a:latin typeface="Calibri"/>
              <a:ea typeface="Calibri"/>
              <a:cs typeface="Calibri"/>
              <a:sym typeface="Calibri"/>
            </a:endParaRPr>
          </a:p>
          <a:p>
            <a:pPr lvl="0" indent="-361950" algn="just">
              <a:spcBef>
                <a:spcPts val="0"/>
              </a:spcBef>
              <a:buSzPts val="2100"/>
              <a:buFont typeface="Calibri"/>
              <a:buChar char="●"/>
            </a:pPr>
            <a:r>
              <a:rPr lang="en-US" sz="2100" dirty="0" smtClean="0">
                <a:solidFill>
                  <a:schemeClr val="dk1"/>
                </a:solidFill>
                <a:latin typeface="Calibri"/>
                <a:ea typeface="Calibri"/>
                <a:cs typeface="Calibri"/>
                <a:sym typeface="Calibri"/>
              </a:rPr>
              <a:t>Representing </a:t>
            </a:r>
            <a:r>
              <a:rPr lang="en-US" sz="2100" dirty="0">
                <a:solidFill>
                  <a:schemeClr val="dk1"/>
                </a:solidFill>
                <a:latin typeface="Calibri"/>
                <a:ea typeface="Calibri"/>
                <a:cs typeface="Calibri"/>
                <a:sym typeface="Calibri"/>
              </a:rPr>
              <a:t>the System in Context </a:t>
            </a:r>
          </a:p>
          <a:p>
            <a:pPr lvl="0" indent="-361950" algn="just">
              <a:spcBef>
                <a:spcPts val="0"/>
              </a:spcBef>
              <a:buSzPts val="2100"/>
              <a:buFont typeface="Calibri"/>
              <a:buChar char="●"/>
            </a:pPr>
            <a:endParaRPr lang="en-US" sz="2100" dirty="0">
              <a:solidFill>
                <a:schemeClr val="dk1"/>
              </a:solidFill>
              <a:latin typeface="Calibri"/>
              <a:ea typeface="Calibri"/>
              <a:cs typeface="Calibri"/>
              <a:sym typeface="Calibri"/>
            </a:endParaRPr>
          </a:p>
          <a:p>
            <a:pPr lvl="1" indent="-361950" algn="just">
              <a:spcBef>
                <a:spcPts val="0"/>
              </a:spcBef>
              <a:buSzPts val="2100"/>
              <a:buFont typeface="Calibri"/>
              <a:buChar char="●"/>
            </a:pPr>
            <a:r>
              <a:rPr lang="en-US" sz="1700" dirty="0">
                <a:solidFill>
                  <a:schemeClr val="dk1"/>
                </a:solidFill>
                <a:latin typeface="Calibri"/>
                <a:ea typeface="Calibri"/>
                <a:cs typeface="Calibri"/>
                <a:sym typeface="Calibri"/>
              </a:rPr>
              <a:t>At the architectural design level, a software architect uses an </a:t>
            </a:r>
            <a:r>
              <a:rPr lang="en-US" sz="1700" b="1" dirty="0">
                <a:solidFill>
                  <a:schemeClr val="dk1"/>
                </a:solidFill>
                <a:latin typeface="Calibri"/>
                <a:ea typeface="Calibri"/>
                <a:cs typeface="Calibri"/>
                <a:sym typeface="Calibri"/>
              </a:rPr>
              <a:t>architectural context diagram(ACD) </a:t>
            </a:r>
            <a:r>
              <a:rPr lang="en-US" sz="1700" dirty="0">
                <a:solidFill>
                  <a:schemeClr val="dk1"/>
                </a:solidFill>
                <a:latin typeface="Calibri"/>
                <a:ea typeface="Calibri"/>
                <a:cs typeface="Calibri"/>
                <a:sym typeface="Calibri"/>
              </a:rPr>
              <a:t>to model the manner in which software interacts with entities external to its boundaries. </a:t>
            </a:r>
          </a:p>
          <a:p>
            <a:pPr lvl="0" indent="-361950" algn="just">
              <a:spcBef>
                <a:spcPts val="0"/>
              </a:spcBef>
              <a:buSzPts val="2100"/>
              <a:buFont typeface="Calibri"/>
              <a:buChar char="●"/>
            </a:pPr>
            <a:endParaRPr lang="en-US" sz="2100" dirty="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endParaRPr lang="en-GB" sz="2100" b="1" dirty="0" smtClean="0">
              <a:solidFill>
                <a:schemeClr val="dk1"/>
              </a:solidFill>
              <a:latin typeface="Calibri"/>
              <a:ea typeface="Calibri"/>
              <a:cs typeface="Calibri"/>
              <a:sym typeface="Calibri"/>
            </a:endParaRPr>
          </a:p>
          <a:p>
            <a:pPr marL="552450" lvl="1" indent="0" algn="just" rtl="0">
              <a:spcBef>
                <a:spcPts val="0"/>
              </a:spcBef>
              <a:spcAft>
                <a:spcPts val="0"/>
              </a:spcAft>
              <a:buClr>
                <a:schemeClr val="dk1"/>
              </a:buClr>
              <a:buSzPts val="2100"/>
              <a:buNone/>
            </a:pPr>
            <a:endParaRPr lang="en-GB" sz="2100" b="1" dirty="0" smtClean="0">
              <a:solidFill>
                <a:schemeClr val="dk1"/>
              </a:solidFill>
              <a:latin typeface="Calibri"/>
              <a:cs typeface="Calibri"/>
              <a:sym typeface="Calibri"/>
            </a:endParaRPr>
          </a:p>
          <a:p>
            <a:pPr marL="914400" lvl="1" indent="-361950" algn="just" rtl="0">
              <a:spcBef>
                <a:spcPts val="0"/>
              </a:spcBef>
              <a:spcAft>
                <a:spcPts val="0"/>
              </a:spcAft>
              <a:buClr>
                <a:schemeClr val="dk1"/>
              </a:buClr>
              <a:buSzPts val="2100"/>
              <a:buFont typeface="Calibri"/>
              <a:buChar char="○"/>
            </a:pPr>
            <a:endParaRPr lang="en-GB" sz="2100" b="1" dirty="0">
              <a:solidFill>
                <a:schemeClr val="dk1"/>
              </a:solidFill>
              <a:latin typeface="Calibri"/>
              <a:cs typeface="Calibri"/>
              <a:sym typeface="Calibri"/>
            </a:endParaRPr>
          </a:p>
          <a:p>
            <a:pPr marL="914400" lvl="1" indent="-361950" algn="just" rtl="0">
              <a:spcBef>
                <a:spcPts val="0"/>
              </a:spcBef>
              <a:spcAft>
                <a:spcPts val="0"/>
              </a:spcAft>
              <a:buClr>
                <a:schemeClr val="dk1"/>
              </a:buClr>
              <a:buSzPts val="2100"/>
              <a:buFont typeface="Calibri"/>
              <a:buChar char="○"/>
            </a:pPr>
            <a:endParaRPr lang="en-GB" sz="2100" b="1" dirty="0" smtClean="0">
              <a:solidFill>
                <a:schemeClr val="dk1"/>
              </a:solidFill>
              <a:latin typeface="Calibri"/>
              <a:cs typeface="Calibri"/>
              <a:sym typeface="Calibri"/>
            </a:endParaRPr>
          </a:p>
          <a:p>
            <a:pPr marL="914400" lvl="1" indent="-361950" algn="just" rtl="0">
              <a:spcBef>
                <a:spcPts val="0"/>
              </a:spcBef>
              <a:spcAft>
                <a:spcPts val="0"/>
              </a:spcAft>
              <a:buClr>
                <a:schemeClr val="dk1"/>
              </a:buClr>
              <a:buSzPts val="2100"/>
              <a:buFont typeface="Calibri"/>
              <a:buChar char="○"/>
            </a:pPr>
            <a:endParaRPr lang="en-GB" sz="2100" b="1" dirty="0">
              <a:solidFill>
                <a:schemeClr val="dk1"/>
              </a:solidFill>
              <a:latin typeface="Calibri"/>
              <a:cs typeface="Calibri"/>
              <a:sym typeface="Calibri"/>
            </a:endParaRPr>
          </a:p>
          <a:p>
            <a:pPr marL="914400" lvl="1" indent="-361950" algn="just" rtl="0">
              <a:spcBef>
                <a:spcPts val="0"/>
              </a:spcBef>
              <a:spcAft>
                <a:spcPts val="0"/>
              </a:spcAft>
              <a:buClr>
                <a:schemeClr val="dk1"/>
              </a:buClr>
              <a:buSzPts val="2100"/>
              <a:buFont typeface="Calibri"/>
              <a:buChar char="○"/>
            </a:pPr>
            <a:endParaRPr lang="en-GB" sz="2100" b="1" dirty="0" smtClean="0">
              <a:solidFill>
                <a:schemeClr val="dk1"/>
              </a:solidFill>
              <a:latin typeface="Calibri"/>
              <a:cs typeface="Calibri"/>
              <a:sym typeface="Calibri"/>
            </a:endParaRPr>
          </a:p>
          <a:p>
            <a:pPr marL="914400" lvl="1" indent="-361950" algn="just" rtl="0">
              <a:spcBef>
                <a:spcPts val="0"/>
              </a:spcBef>
              <a:spcAft>
                <a:spcPts val="0"/>
              </a:spcAft>
              <a:buClr>
                <a:schemeClr val="dk1"/>
              </a:buClr>
              <a:buSzPts val="2100"/>
              <a:buFont typeface="Calibri"/>
              <a:buChar char="○"/>
            </a:pPr>
            <a:endParaRPr lang="en-GB" sz="2100" b="1" dirty="0">
              <a:solidFill>
                <a:schemeClr val="dk1"/>
              </a:solidFill>
              <a:latin typeface="Calibri"/>
              <a:cs typeface="Calibri"/>
              <a:sym typeface="Calibri"/>
            </a:endParaRPr>
          </a:p>
          <a:p>
            <a:pPr lvl="1" indent="-361950" algn="just">
              <a:spcBef>
                <a:spcPts val="0"/>
              </a:spcBef>
              <a:buSzPts val="2100"/>
              <a:buFont typeface="Calibri"/>
              <a:buChar char="○"/>
            </a:pPr>
            <a:r>
              <a:rPr lang="en-US" dirty="0">
                <a:solidFill>
                  <a:schemeClr val="dk1"/>
                </a:solidFill>
                <a:latin typeface="Calibri"/>
                <a:ea typeface="Calibri"/>
                <a:cs typeface="Calibri"/>
                <a:sym typeface="Calibri"/>
              </a:rPr>
              <a:t>The generic structure of the architectural context diagram</a:t>
            </a:r>
            <a:endParaRPr dirty="0">
              <a:solidFill>
                <a:schemeClr val="dk1"/>
              </a:solidFill>
            </a:endParaRPr>
          </a:p>
          <a:p>
            <a:pPr marL="457200" lvl="0" indent="0" algn="just" rtl="0">
              <a:spcBef>
                <a:spcPts val="0"/>
              </a:spcBef>
              <a:spcAft>
                <a:spcPts val="0"/>
              </a:spcAft>
              <a:buNone/>
            </a:pPr>
            <a:endParaRPr sz="2100" b="1" dirty="0">
              <a:solidFill>
                <a:srgbClr val="0070C0"/>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516" name="Google Shape;516;p70"/>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17" name="Google Shape;517;p70"/>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15</a:t>
            </a:fld>
            <a:endParaRPr/>
          </a:p>
        </p:txBody>
      </p:sp>
    </p:spTree>
    <p:extLst>
      <p:ext uri="{BB962C8B-B14F-4D97-AF65-F5344CB8AC3E}">
        <p14:creationId xmlns:p14="http://schemas.microsoft.com/office/powerpoint/2010/main" val="31684651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lvl="0"/>
            <a:r>
              <a:rPr lang="en-US" dirty="0">
                <a:solidFill>
                  <a:schemeClr val="dk1"/>
                </a:solidFill>
                <a:latin typeface="Calibri"/>
                <a:ea typeface="Calibri"/>
                <a:cs typeface="Calibri"/>
                <a:sym typeface="Calibri"/>
              </a:rPr>
              <a:t>Referring to the fig., systems that interoperate with the target system (the system for which an architectural design is to be developed) are represented as :</a:t>
            </a:r>
          </a:p>
          <a:p>
            <a:endParaRPr lang="en-IN" dirty="0"/>
          </a:p>
        </p:txBody>
      </p:sp>
      <p:pic>
        <p:nvPicPr>
          <p:cNvPr id="4" name="Google Shape;518;p70"/>
          <p:cNvPicPr preferRelativeResize="0"/>
          <p:nvPr/>
        </p:nvPicPr>
        <p:blipFill>
          <a:blip r:embed="rId2">
            <a:alphaModFix/>
          </a:blip>
          <a:stretch>
            <a:fillRect/>
          </a:stretch>
        </p:blipFill>
        <p:spPr>
          <a:xfrm>
            <a:off x="2123728" y="3645024"/>
            <a:ext cx="4615318" cy="2952328"/>
          </a:xfrm>
          <a:prstGeom prst="rect">
            <a:avLst/>
          </a:prstGeom>
          <a:noFill/>
          <a:ln>
            <a:noFill/>
          </a:ln>
        </p:spPr>
      </p:pic>
    </p:spTree>
    <p:extLst>
      <p:ext uri="{BB962C8B-B14F-4D97-AF65-F5344CB8AC3E}">
        <p14:creationId xmlns:p14="http://schemas.microsoft.com/office/powerpoint/2010/main" val="39267728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normAutofit fontScale="77500" lnSpcReduction="20000"/>
          </a:bodyPr>
          <a:lstStyle/>
          <a:p>
            <a:pPr lvl="0" indent="-361950" algn="just">
              <a:spcBef>
                <a:spcPts val="0"/>
              </a:spcBef>
              <a:buSzPts val="2100"/>
              <a:buFont typeface="Calibri"/>
              <a:buChar char="●"/>
            </a:pPr>
            <a:r>
              <a:rPr lang="en-US" b="1" dirty="0" smtClean="0">
                <a:solidFill>
                  <a:schemeClr val="dk1"/>
                </a:solidFill>
                <a:latin typeface="Calibri"/>
                <a:ea typeface="Calibri"/>
                <a:cs typeface="Calibri"/>
                <a:sym typeface="Calibri"/>
              </a:rPr>
              <a:t>Superordinate </a:t>
            </a:r>
            <a:r>
              <a:rPr lang="en-US" b="1" dirty="0">
                <a:solidFill>
                  <a:schemeClr val="dk1"/>
                </a:solidFill>
                <a:latin typeface="Calibri"/>
                <a:ea typeface="Calibri"/>
                <a:cs typeface="Calibri"/>
                <a:sym typeface="Calibri"/>
              </a:rPr>
              <a:t>systems</a:t>
            </a:r>
            <a:r>
              <a:rPr lang="en-US" dirty="0">
                <a:solidFill>
                  <a:schemeClr val="dk1"/>
                </a:solidFill>
                <a:latin typeface="Calibri"/>
                <a:ea typeface="Calibri"/>
                <a:cs typeface="Calibri"/>
                <a:sym typeface="Calibri"/>
              </a:rPr>
              <a:t>—those systems that use the </a:t>
            </a:r>
            <a:r>
              <a:rPr lang="en-US" dirty="0" smtClean="0">
                <a:solidFill>
                  <a:schemeClr val="dk1"/>
                </a:solidFill>
                <a:latin typeface="Calibri"/>
                <a:ea typeface="Calibri"/>
                <a:cs typeface="Calibri"/>
                <a:sym typeface="Calibri"/>
              </a:rPr>
              <a:t>target </a:t>
            </a:r>
            <a:r>
              <a:rPr lang="en-US" dirty="0">
                <a:solidFill>
                  <a:schemeClr val="dk1"/>
                </a:solidFill>
                <a:latin typeface="Calibri"/>
                <a:ea typeface="Calibri"/>
                <a:cs typeface="Calibri"/>
                <a:sym typeface="Calibri"/>
              </a:rPr>
              <a:t>system as part of some higher-level processing </a:t>
            </a:r>
            <a:r>
              <a:rPr lang="en-US" dirty="0" smtClean="0">
                <a:solidFill>
                  <a:schemeClr val="dk1"/>
                </a:solidFill>
                <a:latin typeface="Calibri"/>
                <a:ea typeface="Calibri"/>
                <a:cs typeface="Calibri"/>
                <a:sym typeface="Calibri"/>
              </a:rPr>
              <a:t>scheme</a:t>
            </a:r>
            <a:r>
              <a:rPr lang="en-US" dirty="0">
                <a:solidFill>
                  <a:schemeClr val="dk1"/>
                </a:solidFill>
                <a:latin typeface="Calibri"/>
                <a:ea typeface="Calibri"/>
                <a:cs typeface="Calibri"/>
                <a:sym typeface="Calibri"/>
              </a:rPr>
              <a:t>. </a:t>
            </a:r>
          </a:p>
          <a:p>
            <a:pPr lvl="0" indent="-361950" algn="just">
              <a:spcBef>
                <a:spcPts val="0"/>
              </a:spcBef>
              <a:buSzPts val="2100"/>
              <a:buFont typeface="Calibri"/>
              <a:buChar char="●"/>
            </a:pPr>
            <a:endParaRPr lang="en-US" b="1" dirty="0" smtClean="0">
              <a:solidFill>
                <a:schemeClr val="dk1"/>
              </a:solidFill>
              <a:latin typeface="Calibri"/>
              <a:ea typeface="Calibri"/>
              <a:cs typeface="Calibri"/>
              <a:sym typeface="Calibri"/>
            </a:endParaRPr>
          </a:p>
          <a:p>
            <a:pPr lvl="0" indent="-361950" algn="just">
              <a:spcBef>
                <a:spcPts val="0"/>
              </a:spcBef>
              <a:buSzPts val="2100"/>
              <a:buFont typeface="Calibri"/>
              <a:buChar char="●"/>
            </a:pPr>
            <a:r>
              <a:rPr lang="en-US" b="1" dirty="0" smtClean="0">
                <a:solidFill>
                  <a:schemeClr val="dk1"/>
                </a:solidFill>
                <a:latin typeface="Calibri"/>
                <a:ea typeface="Calibri"/>
                <a:cs typeface="Calibri"/>
                <a:sym typeface="Calibri"/>
              </a:rPr>
              <a:t>Subordinate systems</a:t>
            </a:r>
            <a:r>
              <a:rPr lang="en-US" dirty="0" smtClean="0">
                <a:solidFill>
                  <a:schemeClr val="dk1"/>
                </a:solidFill>
                <a:latin typeface="Calibri"/>
                <a:ea typeface="Calibri"/>
                <a:cs typeface="Calibri"/>
                <a:sym typeface="Calibri"/>
              </a:rPr>
              <a:t>—those </a:t>
            </a:r>
            <a:r>
              <a:rPr lang="en-US" dirty="0">
                <a:solidFill>
                  <a:schemeClr val="dk1"/>
                </a:solidFill>
                <a:latin typeface="Calibri"/>
                <a:ea typeface="Calibri"/>
                <a:cs typeface="Calibri"/>
                <a:sym typeface="Calibri"/>
              </a:rPr>
              <a:t>systems that are used by the </a:t>
            </a:r>
            <a:r>
              <a:rPr lang="en-US" dirty="0" smtClean="0">
                <a:solidFill>
                  <a:schemeClr val="dk1"/>
                </a:solidFill>
                <a:latin typeface="Calibri"/>
                <a:ea typeface="Calibri"/>
                <a:cs typeface="Calibri"/>
                <a:sym typeface="Calibri"/>
              </a:rPr>
              <a:t>target </a:t>
            </a:r>
            <a:r>
              <a:rPr lang="en-US" dirty="0">
                <a:solidFill>
                  <a:schemeClr val="dk1"/>
                </a:solidFill>
                <a:latin typeface="Calibri"/>
                <a:ea typeface="Calibri"/>
                <a:cs typeface="Calibri"/>
                <a:sym typeface="Calibri"/>
              </a:rPr>
              <a:t>system and provide data or processing that are </a:t>
            </a:r>
            <a:r>
              <a:rPr lang="en-US" dirty="0" smtClean="0">
                <a:solidFill>
                  <a:schemeClr val="dk1"/>
                </a:solidFill>
                <a:latin typeface="Calibri"/>
                <a:ea typeface="Calibri"/>
                <a:cs typeface="Calibri"/>
                <a:sym typeface="Calibri"/>
              </a:rPr>
              <a:t>necessary </a:t>
            </a:r>
            <a:r>
              <a:rPr lang="en-US" dirty="0">
                <a:solidFill>
                  <a:schemeClr val="dk1"/>
                </a:solidFill>
                <a:latin typeface="Calibri"/>
                <a:ea typeface="Calibri"/>
                <a:cs typeface="Calibri"/>
                <a:sym typeface="Calibri"/>
              </a:rPr>
              <a:t>to complete target system functionality. </a:t>
            </a:r>
          </a:p>
          <a:p>
            <a:pPr lvl="0" indent="-361950" algn="just">
              <a:spcBef>
                <a:spcPts val="0"/>
              </a:spcBef>
              <a:buSzPts val="2100"/>
              <a:buFont typeface="Calibri"/>
              <a:buChar char="●"/>
            </a:pPr>
            <a:endParaRPr lang="en-US" b="1" dirty="0" smtClean="0">
              <a:solidFill>
                <a:schemeClr val="dk1"/>
              </a:solidFill>
              <a:latin typeface="Calibri"/>
              <a:ea typeface="Calibri"/>
              <a:cs typeface="Calibri"/>
              <a:sym typeface="Calibri"/>
            </a:endParaRPr>
          </a:p>
          <a:p>
            <a:pPr lvl="0" indent="-361950" algn="just">
              <a:spcBef>
                <a:spcPts val="0"/>
              </a:spcBef>
              <a:buSzPts val="2100"/>
              <a:buFont typeface="Calibri"/>
              <a:buChar char="●"/>
            </a:pPr>
            <a:r>
              <a:rPr lang="en-US" b="1" dirty="0" smtClean="0">
                <a:solidFill>
                  <a:schemeClr val="dk1"/>
                </a:solidFill>
                <a:latin typeface="Calibri"/>
                <a:ea typeface="Calibri"/>
                <a:cs typeface="Calibri"/>
                <a:sym typeface="Calibri"/>
              </a:rPr>
              <a:t>Peer-level </a:t>
            </a:r>
            <a:r>
              <a:rPr lang="en-US" b="1" dirty="0">
                <a:solidFill>
                  <a:schemeClr val="dk1"/>
                </a:solidFill>
                <a:latin typeface="Calibri"/>
                <a:ea typeface="Calibri"/>
                <a:cs typeface="Calibri"/>
                <a:sym typeface="Calibri"/>
              </a:rPr>
              <a:t>systems</a:t>
            </a:r>
            <a:r>
              <a:rPr lang="en-US" dirty="0">
                <a:solidFill>
                  <a:schemeClr val="dk1"/>
                </a:solidFill>
                <a:latin typeface="Calibri"/>
                <a:ea typeface="Calibri"/>
                <a:cs typeface="Calibri"/>
                <a:sym typeface="Calibri"/>
              </a:rPr>
              <a:t>—those systems that interact on a </a:t>
            </a:r>
            <a:r>
              <a:rPr lang="en-US" dirty="0" smtClean="0">
                <a:solidFill>
                  <a:schemeClr val="dk1"/>
                </a:solidFill>
                <a:latin typeface="Calibri"/>
                <a:ea typeface="Calibri"/>
                <a:cs typeface="Calibri"/>
                <a:sym typeface="Calibri"/>
              </a:rPr>
              <a:t>peer-to peer </a:t>
            </a:r>
            <a:r>
              <a:rPr lang="en-US" dirty="0">
                <a:solidFill>
                  <a:schemeClr val="dk1"/>
                </a:solidFill>
                <a:latin typeface="Calibri"/>
                <a:ea typeface="Calibri"/>
                <a:cs typeface="Calibri"/>
                <a:sym typeface="Calibri"/>
              </a:rPr>
              <a:t>basis (i.e., information is either produced or consumed by </a:t>
            </a:r>
            <a:r>
              <a:rPr lang="en-US" dirty="0" smtClean="0">
                <a:solidFill>
                  <a:schemeClr val="dk1"/>
                </a:solidFill>
                <a:latin typeface="Calibri"/>
                <a:ea typeface="Calibri"/>
                <a:cs typeface="Calibri"/>
                <a:sym typeface="Calibri"/>
              </a:rPr>
              <a:t>the </a:t>
            </a:r>
            <a:r>
              <a:rPr lang="en-US" dirty="0">
                <a:solidFill>
                  <a:schemeClr val="dk1"/>
                </a:solidFill>
                <a:latin typeface="Calibri"/>
                <a:ea typeface="Calibri"/>
                <a:cs typeface="Calibri"/>
                <a:sym typeface="Calibri"/>
              </a:rPr>
              <a:t>peers and the target system. </a:t>
            </a:r>
            <a:endParaRPr lang="en-US" dirty="0" smtClean="0">
              <a:solidFill>
                <a:schemeClr val="dk1"/>
              </a:solidFill>
              <a:latin typeface="Calibri"/>
              <a:ea typeface="Calibri"/>
              <a:cs typeface="Calibri"/>
              <a:sym typeface="Calibri"/>
            </a:endParaRPr>
          </a:p>
          <a:p>
            <a:pPr lvl="0" indent="-361950" algn="just">
              <a:spcBef>
                <a:spcPts val="0"/>
              </a:spcBef>
              <a:buSzPts val="2100"/>
              <a:buFont typeface="Calibri"/>
              <a:buChar char="●"/>
            </a:pPr>
            <a:endParaRPr lang="en-US" b="1" dirty="0" smtClean="0">
              <a:solidFill>
                <a:schemeClr val="dk1"/>
              </a:solidFill>
              <a:latin typeface="Calibri"/>
              <a:ea typeface="Calibri"/>
              <a:cs typeface="Calibri"/>
              <a:sym typeface="Calibri"/>
            </a:endParaRPr>
          </a:p>
          <a:p>
            <a:pPr lvl="0" indent="-361950" algn="just">
              <a:spcBef>
                <a:spcPts val="0"/>
              </a:spcBef>
              <a:buSzPts val="2100"/>
              <a:buFont typeface="Calibri"/>
              <a:buChar char="●"/>
            </a:pPr>
            <a:r>
              <a:rPr lang="en-US" b="1" dirty="0" smtClean="0">
                <a:solidFill>
                  <a:schemeClr val="dk1"/>
                </a:solidFill>
                <a:latin typeface="Calibri"/>
                <a:ea typeface="Calibri"/>
                <a:cs typeface="Calibri"/>
                <a:sym typeface="Calibri"/>
              </a:rPr>
              <a:t>Actors</a:t>
            </a:r>
            <a:r>
              <a:rPr lang="en-US" dirty="0" smtClean="0">
                <a:solidFill>
                  <a:schemeClr val="dk1"/>
                </a:solidFill>
                <a:latin typeface="Calibri"/>
                <a:ea typeface="Calibri"/>
                <a:cs typeface="Calibri"/>
                <a:sym typeface="Calibri"/>
              </a:rPr>
              <a:t>—entities </a:t>
            </a:r>
            <a:r>
              <a:rPr lang="en-US" dirty="0">
                <a:solidFill>
                  <a:schemeClr val="dk1"/>
                </a:solidFill>
                <a:latin typeface="Calibri"/>
                <a:ea typeface="Calibri"/>
                <a:cs typeface="Calibri"/>
                <a:sym typeface="Calibri"/>
              </a:rPr>
              <a:t>(people, devices) that interact with the target </a:t>
            </a:r>
          </a:p>
        </p:txBody>
      </p:sp>
    </p:spTree>
    <p:extLst>
      <p:ext uri="{BB962C8B-B14F-4D97-AF65-F5344CB8AC3E}">
        <p14:creationId xmlns:p14="http://schemas.microsoft.com/office/powerpoint/2010/main" val="16532054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71"/>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dirty="0" smtClean="0"/>
              <a:t>Define Archetype</a:t>
            </a:r>
            <a:endParaRPr b="1" dirty="0"/>
          </a:p>
        </p:txBody>
      </p:sp>
      <p:sp>
        <p:nvSpPr>
          <p:cNvPr id="524" name="Google Shape;524;p71"/>
          <p:cNvSpPr txBox="1">
            <a:spLocks noGrp="1"/>
          </p:cNvSpPr>
          <p:nvPr>
            <p:ph type="body" idx="1"/>
          </p:nvPr>
        </p:nvSpPr>
        <p:spPr>
          <a:xfrm>
            <a:off x="475861" y="1131744"/>
            <a:ext cx="5206482" cy="2152633"/>
          </a:xfrm>
          <a:prstGeom prst="rect">
            <a:avLst/>
          </a:prstGeom>
          <a:noFill/>
          <a:ln>
            <a:noFill/>
          </a:ln>
        </p:spPr>
        <p:txBody>
          <a:bodyPr spcFirstLastPara="1" wrap="square" lIns="68575" tIns="34275" rIns="68575" bIns="34275" anchor="t" anchorCtr="0">
            <a:noAutofit/>
          </a:bodyPr>
          <a:lstStyle/>
          <a:p>
            <a:pPr lvl="0" indent="-361950" algn="just">
              <a:spcBef>
                <a:spcPts val="0"/>
              </a:spcBef>
              <a:buSzPts val="2100"/>
              <a:buFont typeface="Calibri"/>
              <a:buChar char="●"/>
            </a:pPr>
            <a:r>
              <a:rPr lang="en-US" dirty="0">
                <a:solidFill>
                  <a:schemeClr val="dk1"/>
                </a:solidFill>
                <a:latin typeface="Calibri"/>
                <a:ea typeface="Calibri"/>
                <a:cs typeface="Calibri"/>
                <a:sym typeface="Calibri"/>
              </a:rPr>
              <a:t>An archetype is a class or pattern that represents a core </a:t>
            </a:r>
            <a:r>
              <a:rPr lang="en-US" dirty="0" smtClean="0">
                <a:solidFill>
                  <a:schemeClr val="dk1"/>
                </a:solidFill>
                <a:latin typeface="Calibri"/>
                <a:ea typeface="Calibri"/>
                <a:cs typeface="Calibri"/>
                <a:sym typeface="Calibri"/>
              </a:rPr>
              <a:t>abstraction </a:t>
            </a:r>
            <a:r>
              <a:rPr lang="en-US" dirty="0">
                <a:solidFill>
                  <a:schemeClr val="dk1"/>
                </a:solidFill>
                <a:latin typeface="Calibri"/>
                <a:ea typeface="Calibri"/>
                <a:cs typeface="Calibri"/>
                <a:sym typeface="Calibri"/>
              </a:rPr>
              <a:t>that is critical to the design of an architecture for the </a:t>
            </a:r>
            <a:r>
              <a:rPr lang="en-US" dirty="0" smtClean="0">
                <a:solidFill>
                  <a:schemeClr val="dk1"/>
                </a:solidFill>
                <a:latin typeface="Calibri"/>
                <a:ea typeface="Calibri"/>
                <a:cs typeface="Calibri"/>
                <a:sym typeface="Calibri"/>
              </a:rPr>
              <a:t>target </a:t>
            </a:r>
            <a:r>
              <a:rPr lang="en-US" dirty="0">
                <a:solidFill>
                  <a:schemeClr val="dk1"/>
                </a:solidFill>
                <a:latin typeface="Calibri"/>
                <a:ea typeface="Calibri"/>
                <a:cs typeface="Calibri"/>
                <a:sym typeface="Calibri"/>
              </a:rPr>
              <a:t>system</a:t>
            </a:r>
          </a:p>
          <a:p>
            <a:pPr lvl="0" indent="-361950" algn="just">
              <a:spcBef>
                <a:spcPts val="0"/>
              </a:spcBef>
              <a:buSzPts val="2100"/>
              <a:buFont typeface="Calibri"/>
              <a:buChar char="●"/>
            </a:pPr>
            <a:r>
              <a:rPr lang="en-US" dirty="0" smtClean="0">
                <a:solidFill>
                  <a:schemeClr val="dk1"/>
                </a:solidFill>
                <a:latin typeface="Calibri"/>
                <a:ea typeface="Calibri"/>
                <a:cs typeface="Calibri"/>
                <a:sym typeface="Calibri"/>
              </a:rPr>
              <a:t>In </a:t>
            </a:r>
            <a:r>
              <a:rPr lang="en-US" dirty="0">
                <a:solidFill>
                  <a:schemeClr val="dk1"/>
                </a:solidFill>
                <a:latin typeface="Calibri"/>
                <a:ea typeface="Calibri"/>
                <a:cs typeface="Calibri"/>
                <a:sym typeface="Calibri"/>
              </a:rPr>
              <a:t>general, a relatively small set of archetypes </a:t>
            </a:r>
            <a:r>
              <a:rPr lang="en-US" dirty="0" smtClean="0">
                <a:solidFill>
                  <a:schemeClr val="dk1"/>
                </a:solidFill>
                <a:latin typeface="Calibri"/>
                <a:ea typeface="Calibri"/>
                <a:cs typeface="Calibri"/>
                <a:sym typeface="Calibri"/>
              </a:rPr>
              <a:t>is required </a:t>
            </a:r>
            <a:r>
              <a:rPr lang="en-US" dirty="0">
                <a:solidFill>
                  <a:schemeClr val="dk1"/>
                </a:solidFill>
                <a:latin typeface="Calibri"/>
                <a:ea typeface="Calibri"/>
                <a:cs typeface="Calibri"/>
                <a:sym typeface="Calibri"/>
              </a:rPr>
              <a:t>to design even relatively complex </a:t>
            </a:r>
            <a:r>
              <a:rPr lang="en-US" dirty="0" smtClean="0">
                <a:solidFill>
                  <a:schemeClr val="dk1"/>
                </a:solidFill>
                <a:latin typeface="Calibri"/>
                <a:ea typeface="Calibri"/>
                <a:cs typeface="Calibri"/>
                <a:sym typeface="Calibri"/>
              </a:rPr>
              <a:t>systems</a:t>
            </a:r>
            <a:r>
              <a:rPr lang="en-GB" dirty="0" smtClean="0">
                <a:solidFill>
                  <a:schemeClr val="dk1"/>
                </a:solidFill>
                <a:latin typeface="Calibri"/>
                <a:ea typeface="Calibri"/>
                <a:cs typeface="Calibri"/>
                <a:sym typeface="Calibri"/>
              </a:rPr>
              <a:t>.</a:t>
            </a:r>
          </a:p>
          <a:p>
            <a:pPr marL="139700" indent="0">
              <a:buNone/>
            </a:pPr>
            <a:endParaRPr lang="en-US" b="1" dirty="0" smtClean="0"/>
          </a:p>
          <a:p>
            <a:pPr marL="139700" indent="0">
              <a:buNone/>
            </a:pPr>
            <a:r>
              <a:rPr lang="en-US" b="1" dirty="0" smtClean="0"/>
              <a:t>Controller</a:t>
            </a:r>
            <a:r>
              <a:rPr lang="en-US" dirty="0"/>
              <a:t>. </a:t>
            </a:r>
          </a:p>
          <a:p>
            <a:r>
              <a:rPr lang="en-US" dirty="0"/>
              <a:t>component responsible for managing and controlling the behavior of other components or nodes</a:t>
            </a:r>
          </a:p>
          <a:p>
            <a:r>
              <a:rPr lang="en-US" dirty="0" smtClean="0"/>
              <a:t>An </a:t>
            </a:r>
            <a:r>
              <a:rPr lang="en-US" dirty="0"/>
              <a:t>abstraction that depicts the mechanism that allows the </a:t>
            </a:r>
            <a:r>
              <a:rPr lang="en-US" dirty="0" smtClean="0"/>
              <a:t>arming </a:t>
            </a:r>
            <a:r>
              <a:rPr lang="en-US" dirty="0"/>
              <a:t>(</a:t>
            </a:r>
            <a:r>
              <a:rPr lang="en-IN" dirty="0"/>
              <a:t>enable/activate)</a:t>
            </a:r>
            <a:r>
              <a:rPr lang="en-US" dirty="0" smtClean="0"/>
              <a:t> </a:t>
            </a:r>
            <a:r>
              <a:rPr lang="en-US" dirty="0"/>
              <a:t>or disarming of a node</a:t>
            </a:r>
            <a:r>
              <a:rPr lang="en-US" dirty="0" smtClean="0"/>
              <a:t>. </a:t>
            </a:r>
            <a:endParaRPr lang="en-IN" dirty="0"/>
          </a:p>
          <a:p>
            <a:pPr lvl="0" indent="-361950" algn="just">
              <a:spcBef>
                <a:spcPts val="0"/>
              </a:spcBef>
              <a:buSzPts val="2100"/>
              <a:buFont typeface="Calibri"/>
              <a:buChar char="●"/>
            </a:pPr>
            <a:endParaRPr lang="en-GB" dirty="0" smtClean="0">
              <a:solidFill>
                <a:schemeClr val="dk1"/>
              </a:solidFill>
              <a:latin typeface="Calibri"/>
              <a:ea typeface="Calibri"/>
              <a:cs typeface="Calibri"/>
              <a:sym typeface="Calibri"/>
            </a:endParaRPr>
          </a:p>
          <a:p>
            <a:pPr marL="0" lvl="0" indent="0" algn="just" rtl="0">
              <a:spcBef>
                <a:spcPts val="1000"/>
              </a:spcBef>
              <a:spcAft>
                <a:spcPts val="0"/>
              </a:spcAft>
              <a:buNone/>
            </a:pPr>
            <a:endParaRPr b="1" dirty="0">
              <a:solidFill>
                <a:srgbClr val="0070C0"/>
              </a:solidFill>
              <a:latin typeface="Calibri"/>
              <a:ea typeface="Calibri"/>
              <a:cs typeface="Calibri"/>
              <a:sym typeface="Calibri"/>
            </a:endParaRPr>
          </a:p>
          <a:p>
            <a:pPr marL="457200" lvl="0" indent="0" algn="just" rtl="0">
              <a:spcBef>
                <a:spcPts val="0"/>
              </a:spcBef>
              <a:spcAft>
                <a:spcPts val="0"/>
              </a:spcAft>
              <a:buNone/>
            </a:pPr>
            <a:endParaRPr b="1" dirty="0">
              <a:solidFill>
                <a:srgbClr val="0070C0"/>
              </a:solidFill>
              <a:latin typeface="Calibri"/>
              <a:ea typeface="Calibri"/>
              <a:cs typeface="Calibri"/>
              <a:sym typeface="Calibri"/>
            </a:endParaRPr>
          </a:p>
          <a:p>
            <a:pPr marL="457200" lvl="0" indent="0" algn="just" rtl="0">
              <a:spcBef>
                <a:spcPts val="0"/>
              </a:spcBef>
              <a:spcAft>
                <a:spcPts val="0"/>
              </a:spcAft>
              <a:buNone/>
            </a:pPr>
            <a:endParaRPr dirty="0">
              <a:solidFill>
                <a:schemeClr val="dk1"/>
              </a:solidFill>
            </a:endParaRPr>
          </a:p>
          <a:p>
            <a:pPr marL="457200" lvl="0" indent="0" algn="just" rtl="0">
              <a:spcBef>
                <a:spcPts val="0"/>
              </a:spcBef>
              <a:spcAft>
                <a:spcPts val="0"/>
              </a:spcAft>
              <a:buNone/>
            </a:pPr>
            <a:endParaRPr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b="1" dirty="0">
              <a:solidFill>
                <a:srgbClr val="0070C0"/>
              </a:solidFill>
              <a:latin typeface="Calibri"/>
              <a:ea typeface="Calibri"/>
              <a:cs typeface="Calibri"/>
              <a:sym typeface="Calibri"/>
            </a:endParaRPr>
          </a:p>
          <a:p>
            <a:pPr marL="0" lvl="0" indent="0" algn="just" rtl="0">
              <a:spcBef>
                <a:spcPts val="1000"/>
              </a:spcBef>
              <a:spcAft>
                <a:spcPts val="0"/>
              </a:spcAft>
              <a:buNone/>
            </a:pPr>
            <a:endParaRPr dirty="0">
              <a:solidFill>
                <a:schemeClr val="dk1"/>
              </a:solidFill>
              <a:latin typeface="Calibri"/>
              <a:ea typeface="Calibri"/>
              <a:cs typeface="Calibri"/>
              <a:sym typeface="Calibri"/>
            </a:endParaRPr>
          </a:p>
        </p:txBody>
      </p:sp>
      <p:sp>
        <p:nvSpPr>
          <p:cNvPr id="525" name="Google Shape;525;p71"/>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26" name="Google Shape;526;p71"/>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18</a:t>
            </a:fld>
            <a:endParaRPr/>
          </a:p>
        </p:txBody>
      </p:sp>
      <p:pic>
        <p:nvPicPr>
          <p:cNvPr id="527" name="Google Shape;527;p71"/>
          <p:cNvPicPr preferRelativeResize="0"/>
          <p:nvPr/>
        </p:nvPicPr>
        <p:blipFill rotWithShape="1">
          <a:blip r:embed="rId3">
            <a:alphaModFix/>
          </a:blip>
          <a:srcRect b="10586"/>
          <a:stretch/>
        </p:blipFill>
        <p:spPr>
          <a:xfrm>
            <a:off x="5481075" y="919384"/>
            <a:ext cx="3124200" cy="5019232"/>
          </a:xfrm>
          <a:prstGeom prst="rect">
            <a:avLst/>
          </a:prstGeom>
          <a:noFill/>
          <a:ln>
            <a:noFill/>
          </a:ln>
        </p:spPr>
      </p:pic>
    </p:spTree>
    <p:extLst>
      <p:ext uri="{BB962C8B-B14F-4D97-AF65-F5344CB8AC3E}">
        <p14:creationId xmlns:p14="http://schemas.microsoft.com/office/powerpoint/2010/main" val="73480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fade">
                                      <p:cBhvr>
                                        <p:cTn id="7" dur="1000"/>
                                        <p:tgtEl>
                                          <p:spTgt spid="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1176" y="1007707"/>
            <a:ext cx="7974174" cy="5169119"/>
          </a:xfrm>
        </p:spPr>
        <p:txBody>
          <a:bodyPr>
            <a:normAutofit fontScale="62500" lnSpcReduction="20000"/>
          </a:bodyPr>
          <a:lstStyle/>
          <a:p>
            <a:pPr marL="139700" indent="0">
              <a:buNone/>
            </a:pPr>
            <a:r>
              <a:rPr lang="en-US" b="1" dirty="0"/>
              <a:t>Node:</a:t>
            </a:r>
          </a:p>
          <a:p>
            <a:r>
              <a:rPr lang="en-US" dirty="0"/>
              <a:t>Represents a cohesive collection of input and output elements of the home security function. </a:t>
            </a:r>
            <a:endParaRPr lang="en-US" dirty="0" smtClean="0"/>
          </a:p>
          <a:p>
            <a:r>
              <a:rPr lang="en-US" dirty="0"/>
              <a:t>Nodes can represent physical devices, software processes, or other entities that interact with each other to accomplish a larger task.</a:t>
            </a:r>
          </a:p>
          <a:p>
            <a:r>
              <a:rPr lang="en-US" dirty="0"/>
              <a:t>For example a node might be comprised of </a:t>
            </a:r>
            <a:endParaRPr lang="en-US" dirty="0" smtClean="0"/>
          </a:p>
          <a:p>
            <a:pPr lvl="1"/>
            <a:r>
              <a:rPr lang="en-US" sz="1800" dirty="0" smtClean="0"/>
              <a:t>various </a:t>
            </a:r>
            <a:r>
              <a:rPr lang="en-US" sz="1800" dirty="0"/>
              <a:t>sensors and </a:t>
            </a:r>
            <a:r>
              <a:rPr lang="en-US" sz="1800" dirty="0" smtClean="0"/>
              <a:t>alarm indicators</a:t>
            </a:r>
            <a:endParaRPr lang="en-US" sz="1800" dirty="0"/>
          </a:p>
          <a:p>
            <a:pPr marL="596900" lvl="1" indent="0">
              <a:buNone/>
            </a:pPr>
            <a:endParaRPr lang="en-US" sz="1800" dirty="0"/>
          </a:p>
          <a:p>
            <a:endParaRPr lang="en-US" dirty="0" smtClean="0"/>
          </a:p>
          <a:p>
            <a:pPr marL="139700" indent="0">
              <a:buNone/>
            </a:pPr>
            <a:r>
              <a:rPr lang="en-US" b="1" dirty="0" smtClean="0"/>
              <a:t>Detector:</a:t>
            </a:r>
          </a:p>
          <a:p>
            <a:r>
              <a:rPr lang="en-US" dirty="0" smtClean="0"/>
              <a:t>An </a:t>
            </a:r>
            <a:r>
              <a:rPr lang="en-US" dirty="0"/>
              <a:t>abstraction that encompasses all sensing equipment that feeds information into the target </a:t>
            </a:r>
            <a:r>
              <a:rPr lang="en-US" dirty="0" smtClean="0"/>
              <a:t>system.</a:t>
            </a:r>
          </a:p>
          <a:p>
            <a:endParaRPr lang="en-US" b="1" dirty="0" smtClean="0"/>
          </a:p>
          <a:p>
            <a:pPr marL="139700" indent="0">
              <a:buNone/>
            </a:pPr>
            <a:r>
              <a:rPr lang="en-US" b="1" dirty="0" smtClean="0"/>
              <a:t>Indicator</a:t>
            </a:r>
            <a:r>
              <a:rPr lang="en-US" b="1" dirty="0"/>
              <a:t>.</a:t>
            </a:r>
            <a:r>
              <a:rPr lang="en-US" dirty="0"/>
              <a:t> </a:t>
            </a:r>
            <a:endParaRPr lang="en-US" dirty="0" smtClean="0"/>
          </a:p>
          <a:p>
            <a:r>
              <a:rPr lang="en-US" dirty="0" smtClean="0"/>
              <a:t>An </a:t>
            </a:r>
            <a:r>
              <a:rPr lang="en-US" dirty="0"/>
              <a:t>abstraction that represents all mechanisms (e.g., alarm siren, flashing lights, bell) for indicating that an alarm condition is </a:t>
            </a:r>
            <a:r>
              <a:rPr lang="en-US" dirty="0" smtClean="0"/>
              <a:t>occurring.</a:t>
            </a:r>
          </a:p>
        </p:txBody>
      </p:sp>
    </p:spTree>
    <p:extLst>
      <p:ext uri="{BB962C8B-B14F-4D97-AF65-F5344CB8AC3E}">
        <p14:creationId xmlns:p14="http://schemas.microsoft.com/office/powerpoint/2010/main" val="27184760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7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fontScale="90000"/>
          </a:bodyPr>
          <a:lstStyle/>
          <a:p>
            <a:pPr lvl="0" algn="ctr">
              <a:buSzPts val="3300"/>
            </a:pPr>
            <a:r>
              <a:rPr lang="en-US" b="1" dirty="0"/>
              <a:t>Cohesion and Coupling between Objects</a:t>
            </a:r>
            <a:endParaRPr b="1" dirty="0"/>
          </a:p>
        </p:txBody>
      </p:sp>
      <p:sp>
        <p:nvSpPr>
          <p:cNvPr id="541" name="Google Shape;541;p73"/>
          <p:cNvSpPr txBox="1">
            <a:spLocks noGrp="1"/>
          </p:cNvSpPr>
          <p:nvPr>
            <p:ph type="body" idx="1"/>
          </p:nvPr>
        </p:nvSpPr>
        <p:spPr>
          <a:xfrm>
            <a:off x="695350" y="775200"/>
            <a:ext cx="7927200" cy="4414000"/>
          </a:xfrm>
          <a:prstGeom prst="rect">
            <a:avLst/>
          </a:prstGeom>
          <a:noFill/>
          <a:ln>
            <a:noFill/>
          </a:ln>
        </p:spPr>
        <p:txBody>
          <a:bodyPr spcFirstLastPara="1" wrap="square" lIns="68575" tIns="34275" rIns="68575" bIns="34275" anchor="t" anchorCtr="0">
            <a:noAutofit/>
          </a:bodyPr>
          <a:lstStyle/>
          <a:p>
            <a:pPr marL="457200" lvl="0" indent="0" algn="just" rtl="0">
              <a:spcBef>
                <a:spcPts val="0"/>
              </a:spcBef>
              <a:spcAft>
                <a:spcPts val="0"/>
              </a:spcAft>
              <a:buNone/>
            </a:pPr>
            <a:r>
              <a:rPr lang="en-US" sz="2100" dirty="0" smtClean="0">
                <a:solidFill>
                  <a:schemeClr val="dk1"/>
                </a:solidFill>
                <a:latin typeface="Calibri"/>
                <a:ea typeface="Calibri"/>
                <a:cs typeface="Calibri"/>
                <a:sym typeface="Calibri"/>
              </a:rPr>
              <a:t>Modularity: decompose functions/methods into modules</a:t>
            </a:r>
          </a:p>
          <a:p>
            <a:pPr marL="457200" lvl="0" indent="0" algn="just" rtl="0">
              <a:spcBef>
                <a:spcPts val="0"/>
              </a:spcBef>
              <a:spcAft>
                <a:spcPts val="0"/>
              </a:spcAft>
              <a:buNone/>
            </a:pPr>
            <a:endParaRPr lang="en-US" sz="2100" dirty="0" smtClean="0">
              <a:solidFill>
                <a:schemeClr val="dk1"/>
              </a:solidFill>
              <a:latin typeface="Calibri"/>
              <a:ea typeface="Calibri"/>
              <a:cs typeface="Calibri"/>
              <a:sym typeface="Calibri"/>
            </a:endParaRPr>
          </a:p>
          <a:p>
            <a:pPr marL="457200" lvl="0" indent="0" algn="just" rtl="0">
              <a:spcBef>
                <a:spcPts val="0"/>
              </a:spcBef>
              <a:spcAft>
                <a:spcPts val="0"/>
              </a:spcAft>
              <a:buNone/>
            </a:pPr>
            <a:endParaRPr sz="2100" dirty="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100" b="1" dirty="0">
              <a:solidFill>
                <a:srgbClr val="0070C0"/>
              </a:solidFill>
              <a:latin typeface="Calibri"/>
              <a:ea typeface="Calibri"/>
              <a:cs typeface="Calibri"/>
              <a:sym typeface="Calibri"/>
            </a:endParaRPr>
          </a:p>
          <a:p>
            <a:pPr marL="0" lvl="0" indent="0" algn="just" rtl="0">
              <a:spcBef>
                <a:spcPts val="1000"/>
              </a:spcBef>
              <a:spcAft>
                <a:spcPts val="0"/>
              </a:spcAft>
              <a:buNone/>
            </a:pPr>
            <a:endParaRPr sz="2200" dirty="0">
              <a:solidFill>
                <a:schemeClr val="dk1"/>
              </a:solidFill>
              <a:latin typeface="Calibri"/>
              <a:ea typeface="Calibri"/>
              <a:cs typeface="Calibri"/>
              <a:sym typeface="Calibri"/>
            </a:endParaRPr>
          </a:p>
        </p:txBody>
      </p:sp>
      <p:sp>
        <p:nvSpPr>
          <p:cNvPr id="543" name="Google Shape;543;p7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20</a:t>
            </a:fld>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616" y="4068263"/>
            <a:ext cx="3140142" cy="19358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113" y="1219200"/>
            <a:ext cx="3581299" cy="2335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175657" y="6077428"/>
            <a:ext cx="5606343" cy="369332"/>
          </a:xfrm>
          <a:prstGeom prst="rect">
            <a:avLst/>
          </a:prstGeom>
          <a:noFill/>
        </p:spPr>
        <p:txBody>
          <a:bodyPr wrap="none" rtlCol="0">
            <a:spAutoFit/>
          </a:bodyPr>
          <a:lstStyle/>
          <a:p>
            <a:r>
              <a:rPr lang="en-US" dirty="0" smtClean="0"/>
              <a:t>Example of cleanly and non-cleanly decomposed modules</a:t>
            </a:r>
            <a:endParaRPr lang="en-IN" dirty="0"/>
          </a:p>
        </p:txBody>
      </p:sp>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9840" y="4814594"/>
            <a:ext cx="2689019" cy="1029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987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arn(inVertical)">
                                      <p:cBhvr>
                                        <p:cTn id="7" dur="500"/>
                                        <p:tgtEl>
                                          <p:spTgt spid="92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wipe(down)">
                                      <p:cBhvr>
                                        <p:cTn id="12" dur="5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220"/>
                                        </p:tgtEl>
                                        <p:attrNameLst>
                                          <p:attrName>style.visibility</p:attrName>
                                        </p:attrNameLst>
                                      </p:cBhvr>
                                      <p:to>
                                        <p:strVal val="visible"/>
                                      </p:to>
                                    </p:set>
                                    <p:animEffect transition="in" filter="fade">
                                      <p:cBhvr>
                                        <p:cTn id="17" dur="1000"/>
                                        <p:tgtEl>
                                          <p:spTgt spid="9220"/>
                                        </p:tgtEl>
                                      </p:cBhvr>
                                    </p:animEffect>
                                    <p:anim calcmode="lin" valueType="num">
                                      <p:cBhvr>
                                        <p:cTn id="18" dur="1000" fill="hold"/>
                                        <p:tgtEl>
                                          <p:spTgt spid="9220"/>
                                        </p:tgtEl>
                                        <p:attrNameLst>
                                          <p:attrName>ppt_x</p:attrName>
                                        </p:attrNameLst>
                                      </p:cBhvr>
                                      <p:tavLst>
                                        <p:tav tm="0">
                                          <p:val>
                                            <p:strVal val="#ppt_x"/>
                                          </p:val>
                                        </p:tav>
                                        <p:tav tm="100000">
                                          <p:val>
                                            <p:strVal val="#ppt_x"/>
                                          </p:val>
                                        </p:tav>
                                      </p:tavLst>
                                    </p:anim>
                                    <p:anim calcmode="lin" valueType="num">
                                      <p:cBhvr>
                                        <p:cTn id="19" dur="1000" fill="hold"/>
                                        <p:tgtEl>
                                          <p:spTgt spid="92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7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fontScale="90000"/>
          </a:bodyPr>
          <a:lstStyle/>
          <a:p>
            <a:pPr lvl="0" algn="ctr">
              <a:buSzPts val="3300"/>
            </a:pPr>
            <a:r>
              <a:rPr lang="en-US" b="1" dirty="0"/>
              <a:t>Cohesion and Coupling between Objects</a:t>
            </a:r>
            <a:endParaRPr b="1" dirty="0"/>
          </a:p>
        </p:txBody>
      </p:sp>
      <p:sp>
        <p:nvSpPr>
          <p:cNvPr id="541" name="Google Shape;541;p73"/>
          <p:cNvSpPr txBox="1">
            <a:spLocks noGrp="1"/>
          </p:cNvSpPr>
          <p:nvPr>
            <p:ph type="body" idx="1"/>
          </p:nvPr>
        </p:nvSpPr>
        <p:spPr>
          <a:xfrm>
            <a:off x="695350" y="775200"/>
            <a:ext cx="7927200" cy="44140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100" b="1" dirty="0">
                <a:solidFill>
                  <a:schemeClr val="dk1"/>
                </a:solidFill>
                <a:latin typeface="Calibri"/>
                <a:ea typeface="Calibri"/>
                <a:cs typeface="Calibri"/>
                <a:sym typeface="Calibri"/>
              </a:rPr>
              <a:t>Cohesion</a:t>
            </a:r>
            <a:endParaRPr sz="2100" b="1"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dirty="0">
                <a:solidFill>
                  <a:schemeClr val="dk1"/>
                </a:solidFill>
                <a:latin typeface="Calibri"/>
                <a:ea typeface="Calibri"/>
                <a:cs typeface="Calibri"/>
                <a:sym typeface="Calibri"/>
              </a:rPr>
              <a:t>implies that a component or class encapsulates only attributes and operations that are closely related to one another and to the class or component itself.</a:t>
            </a:r>
            <a:endParaRPr sz="2100" dirty="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GB" sz="2100" b="1" dirty="0" smtClean="0">
                <a:solidFill>
                  <a:srgbClr val="0070C0"/>
                </a:solidFill>
                <a:latin typeface="Calibri"/>
                <a:ea typeface="Calibri"/>
                <a:cs typeface="Calibri"/>
                <a:sym typeface="Calibri"/>
              </a:rPr>
              <a:t>Different </a:t>
            </a:r>
            <a:r>
              <a:rPr lang="en-GB" sz="2100" b="1" dirty="0">
                <a:solidFill>
                  <a:srgbClr val="0070C0"/>
                </a:solidFill>
                <a:latin typeface="Calibri"/>
                <a:ea typeface="Calibri"/>
                <a:cs typeface="Calibri"/>
                <a:sym typeface="Calibri"/>
              </a:rPr>
              <a:t>types of cohesion</a:t>
            </a:r>
            <a:endParaRPr sz="2100" b="1" dirty="0">
              <a:solidFill>
                <a:srgbClr val="0070C0"/>
              </a:solidFill>
              <a:latin typeface="Calibri"/>
              <a:ea typeface="Calibri"/>
              <a:cs typeface="Calibri"/>
              <a:sym typeface="Calibri"/>
            </a:endParaRPr>
          </a:p>
          <a:p>
            <a:pPr marL="457200" lvl="0" indent="-361950" algn="just" rtl="0">
              <a:spcBef>
                <a:spcPts val="0"/>
              </a:spcBef>
              <a:spcAft>
                <a:spcPts val="0"/>
              </a:spcAft>
              <a:buSzPts val="2100"/>
              <a:buFont typeface="Calibri"/>
              <a:buChar char="●"/>
            </a:pPr>
            <a:r>
              <a:rPr lang="en-GB" sz="2100" b="1" dirty="0" smtClean="0">
                <a:solidFill>
                  <a:srgbClr val="0070C0"/>
                </a:solidFill>
                <a:latin typeface="Calibri"/>
                <a:ea typeface="Calibri"/>
                <a:cs typeface="Calibri"/>
                <a:sym typeface="Calibri"/>
              </a:rPr>
              <a:t>Functional</a:t>
            </a:r>
          </a:p>
          <a:p>
            <a:pPr lvl="1" indent="-361950" algn="just">
              <a:spcBef>
                <a:spcPts val="0"/>
              </a:spcBef>
              <a:buSzPts val="2100"/>
              <a:buFont typeface="Courier New" panose="02070309020205020404" pitchFamily="49" charset="0"/>
              <a:buChar char="o"/>
            </a:pPr>
            <a:r>
              <a:rPr lang="en-GB" sz="1700" dirty="0" smtClean="0">
                <a:solidFill>
                  <a:schemeClr val="dk1"/>
                </a:solidFill>
                <a:latin typeface="Calibri"/>
                <a:ea typeface="Calibri"/>
                <a:cs typeface="Calibri"/>
                <a:sym typeface="Calibri"/>
              </a:rPr>
              <a:t>Based </a:t>
            </a:r>
            <a:r>
              <a:rPr lang="en-GB" sz="1700" dirty="0">
                <a:solidFill>
                  <a:schemeClr val="dk1"/>
                </a:solidFill>
                <a:latin typeface="Calibri"/>
                <a:ea typeface="Calibri"/>
                <a:cs typeface="Calibri"/>
                <a:sym typeface="Calibri"/>
              </a:rPr>
              <a:t>on </a:t>
            </a:r>
            <a:r>
              <a:rPr lang="en-GB" sz="1700" b="1" dirty="0">
                <a:solidFill>
                  <a:schemeClr val="dk1"/>
                </a:solidFill>
                <a:latin typeface="Calibri"/>
                <a:ea typeface="Calibri"/>
                <a:cs typeface="Calibri"/>
                <a:sym typeface="Calibri"/>
              </a:rPr>
              <a:t>operations</a:t>
            </a:r>
            <a:r>
              <a:rPr lang="en-GB" sz="1700" dirty="0">
                <a:solidFill>
                  <a:schemeClr val="dk1"/>
                </a:solidFill>
                <a:latin typeface="Calibri"/>
                <a:ea typeface="Calibri"/>
                <a:cs typeface="Calibri"/>
                <a:sym typeface="Calibri"/>
              </a:rPr>
              <a:t> ,  this level of cohesion occurs when a component </a:t>
            </a:r>
            <a:r>
              <a:rPr lang="en-GB" sz="1700" b="1" dirty="0">
                <a:solidFill>
                  <a:schemeClr val="dk1"/>
                </a:solidFill>
                <a:latin typeface="Calibri"/>
                <a:ea typeface="Calibri"/>
                <a:cs typeface="Calibri"/>
                <a:sym typeface="Calibri"/>
              </a:rPr>
              <a:t>performs a targeted computation </a:t>
            </a:r>
            <a:r>
              <a:rPr lang="en-GB" sz="1700" dirty="0">
                <a:solidFill>
                  <a:schemeClr val="dk1"/>
                </a:solidFill>
                <a:latin typeface="Calibri"/>
                <a:ea typeface="Calibri"/>
                <a:cs typeface="Calibri"/>
                <a:sym typeface="Calibri"/>
              </a:rPr>
              <a:t>and then returns a result</a:t>
            </a:r>
            <a:r>
              <a:rPr lang="en-GB" sz="1700" dirty="0" smtClean="0">
                <a:solidFill>
                  <a:schemeClr val="dk1"/>
                </a:solidFill>
                <a:latin typeface="Calibri"/>
                <a:ea typeface="Calibri"/>
                <a:cs typeface="Calibri"/>
                <a:sym typeface="Calibri"/>
              </a:rPr>
              <a:t>.</a:t>
            </a:r>
          </a:p>
          <a:p>
            <a:pPr lvl="1" indent="-361950" algn="just">
              <a:spcBef>
                <a:spcPts val="0"/>
              </a:spcBef>
              <a:buSzPts val="2100"/>
              <a:buFont typeface="Courier New" panose="02070309020205020404" pitchFamily="49" charset="0"/>
              <a:buChar char="o"/>
            </a:pPr>
            <a:r>
              <a:rPr lang="en-GB" sz="1700" dirty="0" smtClean="0">
                <a:solidFill>
                  <a:schemeClr val="dk1"/>
                </a:solidFill>
                <a:latin typeface="Calibri"/>
                <a:ea typeface="Calibri"/>
                <a:cs typeface="Calibri"/>
                <a:sym typeface="Calibri"/>
              </a:rPr>
              <a:t>Ex. Event management</a:t>
            </a:r>
            <a:endParaRPr sz="1700" dirty="0">
              <a:solidFill>
                <a:schemeClr val="dk1"/>
              </a:solidFill>
              <a:latin typeface="Calibri"/>
              <a:ea typeface="Calibri"/>
              <a:cs typeface="Calibri"/>
              <a:sym typeface="Calibri"/>
            </a:endParaRPr>
          </a:p>
          <a:p>
            <a:pPr fontAlgn="base"/>
            <a:r>
              <a:rPr lang="en-US" sz="2300" b="1" dirty="0">
                <a:solidFill>
                  <a:srgbClr val="0070C0"/>
                </a:solidFill>
                <a:latin typeface="Calibri"/>
                <a:ea typeface="Calibri"/>
                <a:cs typeface="Calibri"/>
              </a:rPr>
              <a:t>Sequential Cohesion: </a:t>
            </a:r>
          </a:p>
          <a:p>
            <a:pPr lvl="1" fontAlgn="base"/>
            <a:r>
              <a:rPr lang="en-US" sz="1900" dirty="0">
                <a:solidFill>
                  <a:schemeClr val="tx1"/>
                </a:solidFill>
                <a:latin typeface="Calibri"/>
                <a:ea typeface="Calibri"/>
                <a:cs typeface="Calibri"/>
              </a:rPr>
              <a:t>An element outputs some data that becomes the input for other element, i.e., data flow between the parts. It occurs naturally in functional programming languages</a:t>
            </a:r>
            <a:r>
              <a:rPr lang="en-US" sz="1900" dirty="0" smtClean="0">
                <a:solidFill>
                  <a:schemeClr val="tx1"/>
                </a:solidFill>
                <a:latin typeface="Calibri"/>
                <a:ea typeface="Calibri"/>
                <a:cs typeface="Calibri"/>
              </a:rPr>
              <a:t>.</a:t>
            </a:r>
            <a:endParaRPr lang="en-US" sz="1900" dirty="0">
              <a:solidFill>
                <a:schemeClr val="tx1"/>
              </a:solidFill>
              <a:latin typeface="Calibri"/>
              <a:ea typeface="Calibri"/>
              <a:cs typeface="Calibri"/>
            </a:endParaRPr>
          </a:p>
        </p:txBody>
      </p:sp>
      <p:sp>
        <p:nvSpPr>
          <p:cNvPr id="543" name="Google Shape;543;p7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21</a:t>
            </a:fld>
            <a:endParaRPr/>
          </a:p>
        </p:txBody>
      </p:sp>
    </p:spTree>
    <p:extLst>
      <p:ext uri="{BB962C8B-B14F-4D97-AF65-F5344CB8AC3E}">
        <p14:creationId xmlns:p14="http://schemas.microsoft.com/office/powerpoint/2010/main" val="40319256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7160" y="634481"/>
            <a:ext cx="7918191" cy="5542344"/>
          </a:xfrm>
        </p:spPr>
        <p:txBody>
          <a:bodyPr>
            <a:normAutofit fontScale="92500" lnSpcReduction="10000"/>
          </a:bodyPr>
          <a:lstStyle/>
          <a:p>
            <a:pPr lvl="0" indent="-361950" algn="just">
              <a:spcBef>
                <a:spcPts val="0"/>
              </a:spcBef>
              <a:buSzPts val="2100"/>
              <a:buFont typeface="Calibri"/>
              <a:buChar char="●"/>
            </a:pPr>
            <a:r>
              <a:rPr lang="en-US" sz="2100" b="1" dirty="0">
                <a:solidFill>
                  <a:srgbClr val="0070C0"/>
                </a:solidFill>
                <a:latin typeface="Calibri"/>
                <a:ea typeface="Calibri"/>
                <a:cs typeface="Calibri"/>
                <a:sym typeface="Calibri"/>
              </a:rPr>
              <a:t>Communicational</a:t>
            </a:r>
            <a:r>
              <a:rPr lang="en-US" sz="2100" b="1" dirty="0">
                <a:solidFill>
                  <a:schemeClr val="dk1"/>
                </a:solidFill>
                <a:latin typeface="Calibri"/>
                <a:ea typeface="Calibri"/>
                <a:cs typeface="Calibri"/>
                <a:sym typeface="Calibri"/>
              </a:rPr>
              <a:t>. </a:t>
            </a:r>
          </a:p>
          <a:p>
            <a:pPr lvl="1" indent="-361950" algn="just">
              <a:spcBef>
                <a:spcPts val="0"/>
              </a:spcBef>
              <a:buSzPts val="2100"/>
              <a:buFont typeface="Courier New" panose="02070309020205020404" pitchFamily="49" charset="0"/>
              <a:buChar char="o"/>
            </a:pPr>
            <a:r>
              <a:rPr lang="en-US" sz="1700" b="1" dirty="0">
                <a:solidFill>
                  <a:schemeClr val="dk1"/>
                </a:solidFill>
                <a:latin typeface="Calibri"/>
                <a:ea typeface="Calibri"/>
                <a:cs typeface="Calibri"/>
                <a:sym typeface="Calibri"/>
              </a:rPr>
              <a:t>All operations that access the same </a:t>
            </a:r>
            <a:r>
              <a:rPr lang="en-US" sz="1700" b="1" dirty="0" smtClean="0">
                <a:solidFill>
                  <a:schemeClr val="dk1"/>
                </a:solidFill>
                <a:latin typeface="Calibri"/>
                <a:ea typeface="Calibri"/>
                <a:cs typeface="Calibri"/>
                <a:sym typeface="Calibri"/>
              </a:rPr>
              <a:t>data/ data </a:t>
            </a:r>
            <a:r>
              <a:rPr lang="en-US" sz="1700" b="1" dirty="0" err="1" smtClean="0">
                <a:solidFill>
                  <a:schemeClr val="dk1"/>
                </a:solidFill>
                <a:latin typeface="Calibri"/>
                <a:ea typeface="Calibri"/>
                <a:cs typeface="Calibri"/>
                <a:sym typeface="Calibri"/>
              </a:rPr>
              <a:t>structurre</a:t>
            </a:r>
            <a:r>
              <a:rPr lang="en-US" sz="1700" b="1" dirty="0" smtClean="0">
                <a:solidFill>
                  <a:schemeClr val="dk1"/>
                </a:solidFill>
                <a:latin typeface="Calibri"/>
                <a:ea typeface="Calibri"/>
                <a:cs typeface="Calibri"/>
                <a:sym typeface="Calibri"/>
              </a:rPr>
              <a:t> </a:t>
            </a:r>
            <a:r>
              <a:rPr lang="en-US" sz="1700" b="1" dirty="0">
                <a:solidFill>
                  <a:schemeClr val="dk1"/>
                </a:solidFill>
                <a:latin typeface="Calibri"/>
                <a:ea typeface="Calibri"/>
                <a:cs typeface="Calibri"/>
                <a:sym typeface="Calibri"/>
              </a:rPr>
              <a:t>are defined </a:t>
            </a:r>
            <a:r>
              <a:rPr lang="en-US" sz="1700" dirty="0">
                <a:solidFill>
                  <a:schemeClr val="dk1"/>
                </a:solidFill>
                <a:latin typeface="Calibri"/>
                <a:ea typeface="Calibri"/>
                <a:cs typeface="Calibri"/>
                <a:sym typeface="Calibri"/>
              </a:rPr>
              <a:t>within one class. </a:t>
            </a:r>
          </a:p>
          <a:p>
            <a:pPr lvl="1" indent="-361950" algn="just">
              <a:spcBef>
                <a:spcPts val="0"/>
              </a:spcBef>
              <a:buSzPts val="2100"/>
              <a:buFont typeface="Courier New" panose="02070309020205020404" pitchFamily="49" charset="0"/>
              <a:buChar char="o"/>
            </a:pPr>
            <a:r>
              <a:rPr lang="en-US" sz="1900" dirty="0">
                <a:solidFill>
                  <a:schemeClr val="tx1"/>
                </a:solidFill>
                <a:latin typeface="Calibri"/>
                <a:ea typeface="Calibri"/>
                <a:cs typeface="Calibri"/>
              </a:rPr>
              <a:t>Two elements operate on the same input data or contribute towards the same output data. </a:t>
            </a:r>
          </a:p>
          <a:p>
            <a:pPr lvl="1" fontAlgn="base"/>
            <a:r>
              <a:rPr lang="en-US" sz="1900" dirty="0">
                <a:solidFill>
                  <a:schemeClr val="tx1"/>
                </a:solidFill>
                <a:latin typeface="Calibri"/>
                <a:ea typeface="Calibri"/>
                <a:cs typeface="Calibri"/>
              </a:rPr>
              <a:t>Example- update record in the database and send it to the printer</a:t>
            </a:r>
            <a:r>
              <a:rPr lang="en-US" sz="1900" dirty="0" smtClean="0">
                <a:solidFill>
                  <a:schemeClr val="tx1"/>
                </a:solidFill>
                <a:latin typeface="Calibri"/>
                <a:ea typeface="Calibri"/>
                <a:cs typeface="Calibri"/>
              </a:rPr>
              <a:t>.</a:t>
            </a:r>
          </a:p>
          <a:p>
            <a:pPr lvl="1" fontAlgn="base"/>
            <a:r>
              <a:rPr lang="en-US" sz="1900" dirty="0" smtClean="0">
                <a:solidFill>
                  <a:schemeClr val="tx1"/>
                </a:solidFill>
                <a:latin typeface="Calibri"/>
                <a:ea typeface="Calibri"/>
                <a:cs typeface="Calibri"/>
              </a:rPr>
              <a:t>Push and pop in stack.</a:t>
            </a:r>
            <a:endParaRPr lang="en-US" sz="1900" dirty="0">
              <a:solidFill>
                <a:schemeClr val="tx1"/>
              </a:solidFill>
              <a:latin typeface="Calibri"/>
              <a:ea typeface="Calibri"/>
              <a:cs typeface="Calibri"/>
            </a:endParaRPr>
          </a:p>
          <a:p>
            <a:pPr lvl="0" indent="-361950" algn="just">
              <a:spcBef>
                <a:spcPts val="0"/>
              </a:spcBef>
              <a:buSzPts val="2100"/>
              <a:buFont typeface="Calibri"/>
              <a:buChar char="●"/>
            </a:pPr>
            <a:endParaRPr lang="en-US" sz="2100" b="1" dirty="0">
              <a:solidFill>
                <a:srgbClr val="0070C0"/>
              </a:solidFill>
              <a:latin typeface="Calibri"/>
              <a:ea typeface="Calibri"/>
              <a:cs typeface="Calibri"/>
              <a:sym typeface="Calibri"/>
            </a:endParaRPr>
          </a:p>
          <a:p>
            <a:pPr lvl="0"/>
            <a:r>
              <a:rPr lang="en-US" sz="2300" b="1" dirty="0" smtClean="0">
                <a:solidFill>
                  <a:srgbClr val="0070C0"/>
                </a:solidFill>
                <a:latin typeface="Calibri"/>
                <a:ea typeface="Calibri"/>
                <a:cs typeface="Calibri"/>
                <a:sym typeface="Calibri"/>
              </a:rPr>
              <a:t>Procedural </a:t>
            </a:r>
            <a:r>
              <a:rPr lang="en-US" sz="2300" b="1" dirty="0">
                <a:solidFill>
                  <a:srgbClr val="0070C0"/>
                </a:solidFill>
                <a:latin typeface="Calibri"/>
                <a:ea typeface="Calibri"/>
                <a:cs typeface="Calibri"/>
                <a:sym typeface="Calibri"/>
              </a:rPr>
              <a:t>Cohesion</a:t>
            </a:r>
            <a:r>
              <a:rPr lang="en-US" dirty="0">
                <a:solidFill>
                  <a:schemeClr val="dk1"/>
                </a:solidFill>
                <a:latin typeface="Calibri"/>
                <a:ea typeface="Calibri"/>
                <a:cs typeface="Calibri"/>
                <a:sym typeface="Calibri"/>
              </a:rPr>
              <a:t>: </a:t>
            </a:r>
          </a:p>
          <a:p>
            <a:pPr lvl="1">
              <a:lnSpc>
                <a:spcPct val="100000"/>
              </a:lnSpc>
            </a:pPr>
            <a:r>
              <a:rPr lang="en-US" sz="2100" dirty="0" smtClean="0">
                <a:solidFill>
                  <a:schemeClr val="dk1"/>
                </a:solidFill>
                <a:latin typeface="Calibri"/>
                <a:ea typeface="Calibri"/>
                <a:cs typeface="Calibri"/>
                <a:sym typeface="Calibri"/>
              </a:rPr>
              <a:t>Elements </a:t>
            </a:r>
            <a:r>
              <a:rPr lang="en-US" sz="2100" dirty="0">
                <a:solidFill>
                  <a:schemeClr val="dk1"/>
                </a:solidFill>
                <a:latin typeface="Calibri"/>
                <a:ea typeface="Calibri"/>
                <a:cs typeface="Calibri"/>
                <a:sym typeface="Calibri"/>
              </a:rPr>
              <a:t>of procedural cohesion ensure the order of </a:t>
            </a:r>
            <a:r>
              <a:rPr lang="en-US" sz="2100" dirty="0" smtClean="0">
                <a:solidFill>
                  <a:schemeClr val="dk1"/>
                </a:solidFill>
                <a:latin typeface="Calibri"/>
                <a:ea typeface="Calibri"/>
                <a:cs typeface="Calibri"/>
                <a:sym typeface="Calibri"/>
              </a:rPr>
              <a:t>execution.</a:t>
            </a:r>
          </a:p>
          <a:p>
            <a:pPr lvl="1">
              <a:lnSpc>
                <a:spcPct val="100000"/>
              </a:lnSpc>
            </a:pPr>
            <a:r>
              <a:rPr lang="en-US" sz="2100" dirty="0" smtClean="0">
                <a:solidFill>
                  <a:schemeClr val="dk1"/>
                </a:solidFill>
                <a:latin typeface="Calibri"/>
                <a:ea typeface="Calibri"/>
                <a:cs typeface="Calibri"/>
                <a:sym typeface="Calibri"/>
              </a:rPr>
              <a:t>Functions of a module related to each other through a flow control.</a:t>
            </a:r>
          </a:p>
          <a:p>
            <a:pPr lvl="1">
              <a:lnSpc>
                <a:spcPct val="100000"/>
              </a:lnSpc>
            </a:pPr>
            <a:r>
              <a:rPr lang="en-US" sz="2100" dirty="0" smtClean="0">
                <a:solidFill>
                  <a:schemeClr val="dk1"/>
                </a:solidFill>
                <a:latin typeface="Calibri"/>
                <a:ea typeface="Calibri"/>
                <a:cs typeface="Calibri"/>
                <a:sym typeface="Calibri"/>
              </a:rPr>
              <a:t>Ex- </a:t>
            </a:r>
            <a:r>
              <a:rPr lang="en-US" sz="2100" dirty="0">
                <a:solidFill>
                  <a:schemeClr val="dk1"/>
                </a:solidFill>
                <a:latin typeface="Calibri"/>
                <a:ea typeface="Calibri"/>
                <a:cs typeface="Calibri"/>
                <a:sym typeface="Calibri"/>
              </a:rPr>
              <a:t>calculate student GPA, print student record, calculate cumulative GPA, print cumulative GPA.</a:t>
            </a:r>
          </a:p>
          <a:p>
            <a:pPr lvl="0"/>
            <a:r>
              <a:rPr lang="en-US" sz="2300" b="1" dirty="0" smtClean="0">
                <a:solidFill>
                  <a:srgbClr val="0070C0"/>
                </a:solidFill>
                <a:latin typeface="Calibri"/>
                <a:ea typeface="Calibri"/>
                <a:cs typeface="Calibri"/>
                <a:sym typeface="Calibri"/>
              </a:rPr>
              <a:t>Temporal Cohesion</a:t>
            </a:r>
            <a:r>
              <a:rPr lang="en-US" dirty="0" smtClean="0">
                <a:solidFill>
                  <a:schemeClr val="dk1"/>
                </a:solidFill>
                <a:latin typeface="Calibri"/>
                <a:ea typeface="Calibri"/>
                <a:cs typeface="Calibri"/>
                <a:sym typeface="Calibri"/>
              </a:rPr>
              <a:t>: </a:t>
            </a:r>
          </a:p>
          <a:p>
            <a:pPr lvl="1">
              <a:lnSpc>
                <a:spcPct val="100000"/>
              </a:lnSpc>
            </a:pPr>
            <a:r>
              <a:rPr lang="en-US" sz="1900" dirty="0">
                <a:solidFill>
                  <a:schemeClr val="tx1"/>
                </a:solidFill>
                <a:latin typeface="Calibri"/>
                <a:ea typeface="Calibri"/>
                <a:cs typeface="Calibri"/>
                <a:sym typeface="Calibri"/>
              </a:rPr>
              <a:t>The elements are related by their timing involved. </a:t>
            </a:r>
          </a:p>
          <a:p>
            <a:pPr lvl="1">
              <a:lnSpc>
                <a:spcPct val="100000"/>
              </a:lnSpc>
            </a:pPr>
            <a:r>
              <a:rPr lang="en-US" sz="1900" dirty="0">
                <a:solidFill>
                  <a:schemeClr val="tx1"/>
                </a:solidFill>
                <a:latin typeface="Calibri"/>
                <a:ea typeface="Calibri"/>
                <a:cs typeface="Calibri"/>
                <a:sym typeface="Calibri"/>
              </a:rPr>
              <a:t>A module connected with temporal cohesion all the tasks must be executed in the same time span. </a:t>
            </a:r>
          </a:p>
          <a:p>
            <a:endParaRPr lang="en-IN" dirty="0"/>
          </a:p>
        </p:txBody>
      </p:sp>
    </p:spTree>
    <p:extLst>
      <p:ext uri="{BB962C8B-B14F-4D97-AF65-F5344CB8AC3E}">
        <p14:creationId xmlns:p14="http://schemas.microsoft.com/office/powerpoint/2010/main" val="21045857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78498" y="1057470"/>
            <a:ext cx="7936852" cy="5119356"/>
          </a:xfrm>
        </p:spPr>
        <p:txBody>
          <a:bodyPr>
            <a:normAutofit/>
          </a:bodyPr>
          <a:lstStyle/>
          <a:p>
            <a:pPr lvl="0"/>
            <a:r>
              <a:rPr lang="en-US" sz="2300" b="1" dirty="0">
                <a:solidFill>
                  <a:srgbClr val="0070C0"/>
                </a:solidFill>
                <a:latin typeface="Calibri"/>
                <a:ea typeface="Calibri"/>
                <a:cs typeface="Calibri"/>
                <a:sym typeface="Calibri"/>
              </a:rPr>
              <a:t>Logical Cohesion:</a:t>
            </a:r>
          </a:p>
          <a:p>
            <a:pPr lvl="1"/>
            <a:r>
              <a:rPr lang="en-US" sz="1700" dirty="0">
                <a:solidFill>
                  <a:schemeClr val="dk1"/>
                </a:solidFill>
                <a:latin typeface="Calibri"/>
                <a:ea typeface="Calibri"/>
                <a:cs typeface="Calibri"/>
                <a:sym typeface="Calibri"/>
              </a:rPr>
              <a:t>The elements are logically related and not functionally. </a:t>
            </a:r>
            <a:endParaRPr lang="en-US" sz="1700" dirty="0" smtClean="0">
              <a:solidFill>
                <a:schemeClr val="dk1"/>
              </a:solidFill>
              <a:latin typeface="Calibri"/>
              <a:ea typeface="Calibri"/>
              <a:cs typeface="Calibri"/>
              <a:sym typeface="Calibri"/>
            </a:endParaRPr>
          </a:p>
          <a:p>
            <a:pPr lvl="1"/>
            <a:r>
              <a:rPr lang="en-US" sz="1700" dirty="0" smtClean="0">
                <a:solidFill>
                  <a:schemeClr val="dk1"/>
                </a:solidFill>
                <a:latin typeface="Calibri"/>
                <a:ea typeface="Calibri"/>
                <a:cs typeface="Calibri"/>
                <a:sym typeface="Calibri"/>
              </a:rPr>
              <a:t>All </a:t>
            </a:r>
            <a:r>
              <a:rPr lang="en-US" sz="1700" dirty="0">
                <a:solidFill>
                  <a:schemeClr val="dk1"/>
                </a:solidFill>
                <a:latin typeface="Calibri"/>
                <a:ea typeface="Calibri"/>
                <a:cs typeface="Calibri"/>
                <a:sym typeface="Calibri"/>
              </a:rPr>
              <a:t>the code for these functions is in the same component. </a:t>
            </a:r>
            <a:endParaRPr lang="en-US" sz="1700" dirty="0" smtClean="0">
              <a:solidFill>
                <a:schemeClr val="dk1"/>
              </a:solidFill>
              <a:latin typeface="Calibri"/>
              <a:ea typeface="Calibri"/>
              <a:cs typeface="Calibri"/>
              <a:sym typeface="Calibri"/>
            </a:endParaRPr>
          </a:p>
          <a:p>
            <a:pPr lvl="1"/>
            <a:r>
              <a:rPr lang="en-US" sz="1700" dirty="0" smtClean="0">
                <a:solidFill>
                  <a:schemeClr val="dk1"/>
                </a:solidFill>
                <a:latin typeface="Calibri"/>
                <a:ea typeface="Calibri"/>
                <a:cs typeface="Calibri"/>
                <a:sym typeface="Calibri"/>
              </a:rPr>
              <a:t>Operations </a:t>
            </a:r>
            <a:r>
              <a:rPr lang="en-US" sz="1700" dirty="0">
                <a:solidFill>
                  <a:schemeClr val="dk1"/>
                </a:solidFill>
                <a:latin typeface="Calibri"/>
                <a:ea typeface="Calibri"/>
                <a:cs typeface="Calibri"/>
                <a:sym typeface="Calibri"/>
              </a:rPr>
              <a:t>are related, but the functions are significantly different.</a:t>
            </a:r>
          </a:p>
          <a:p>
            <a:pPr lvl="1"/>
            <a:r>
              <a:rPr lang="en-US" sz="1700" dirty="0">
                <a:solidFill>
                  <a:schemeClr val="dk1"/>
                </a:solidFill>
                <a:latin typeface="Calibri"/>
                <a:ea typeface="Calibri"/>
                <a:cs typeface="Calibri"/>
                <a:sym typeface="Calibri"/>
              </a:rPr>
              <a:t>Ex- </a:t>
            </a:r>
            <a:r>
              <a:rPr lang="en-US" sz="1700" dirty="0" smtClean="0">
                <a:solidFill>
                  <a:schemeClr val="dk1"/>
                </a:solidFill>
                <a:latin typeface="Calibri"/>
                <a:ea typeface="Calibri"/>
                <a:cs typeface="Calibri"/>
                <a:sym typeface="Calibri"/>
              </a:rPr>
              <a:t>mouse, printer, scanner</a:t>
            </a:r>
            <a:endParaRPr lang="en-US" sz="1700" dirty="0">
              <a:solidFill>
                <a:schemeClr val="dk1"/>
              </a:solidFill>
              <a:latin typeface="Calibri"/>
              <a:ea typeface="Calibri"/>
              <a:cs typeface="Calibri"/>
              <a:sym typeface="Calibri"/>
            </a:endParaRPr>
          </a:p>
          <a:p>
            <a:pPr lvl="0"/>
            <a:endParaRPr lang="en-US" sz="2300" b="1" dirty="0" smtClean="0">
              <a:solidFill>
                <a:srgbClr val="0070C0"/>
              </a:solidFill>
              <a:latin typeface="Calibri"/>
              <a:ea typeface="Calibri"/>
              <a:cs typeface="Calibri"/>
              <a:sym typeface="Calibri"/>
            </a:endParaRPr>
          </a:p>
          <a:p>
            <a:pPr lvl="0"/>
            <a:r>
              <a:rPr lang="en-US" sz="2300" b="1" dirty="0" smtClean="0">
                <a:solidFill>
                  <a:srgbClr val="0070C0"/>
                </a:solidFill>
                <a:latin typeface="Calibri"/>
                <a:ea typeface="Calibri"/>
                <a:cs typeface="Calibri"/>
                <a:sym typeface="Calibri"/>
              </a:rPr>
              <a:t>Coincidental </a:t>
            </a:r>
            <a:r>
              <a:rPr lang="en-US" sz="2300" b="1" dirty="0">
                <a:solidFill>
                  <a:srgbClr val="0070C0"/>
                </a:solidFill>
                <a:latin typeface="Calibri"/>
                <a:ea typeface="Calibri"/>
                <a:cs typeface="Calibri"/>
                <a:sym typeface="Calibri"/>
              </a:rPr>
              <a:t>Cohesion</a:t>
            </a:r>
            <a:r>
              <a:rPr lang="en-US" dirty="0">
                <a:solidFill>
                  <a:schemeClr val="dk1"/>
                </a:solidFill>
                <a:latin typeface="Calibri"/>
                <a:ea typeface="Calibri"/>
                <a:cs typeface="Calibri"/>
                <a:sym typeface="Calibri"/>
              </a:rPr>
              <a:t>: </a:t>
            </a:r>
          </a:p>
          <a:p>
            <a:pPr lvl="1"/>
            <a:r>
              <a:rPr lang="en-US" sz="1700" dirty="0">
                <a:solidFill>
                  <a:schemeClr val="dk1"/>
                </a:solidFill>
                <a:latin typeface="Calibri"/>
                <a:ea typeface="Calibri"/>
                <a:cs typeface="Calibri"/>
                <a:sym typeface="Calibri"/>
              </a:rPr>
              <a:t>The elements are not related(unrelated). It is accidental and the worst form of cohesion. </a:t>
            </a:r>
          </a:p>
          <a:p>
            <a:pPr lvl="1"/>
            <a:r>
              <a:rPr lang="en-US" sz="1700" dirty="0">
                <a:solidFill>
                  <a:schemeClr val="dk1"/>
                </a:solidFill>
                <a:latin typeface="Calibri"/>
                <a:ea typeface="Calibri"/>
                <a:cs typeface="Calibri"/>
                <a:sym typeface="Calibri"/>
              </a:rPr>
              <a:t>Ex- print next line and reverse the characters of a string in a single component</a:t>
            </a:r>
            <a:r>
              <a:rPr lang="en-US" dirty="0" smtClean="0">
                <a:solidFill>
                  <a:schemeClr val="dk1"/>
                </a:solidFill>
                <a:latin typeface="Calibri"/>
                <a:ea typeface="Calibri"/>
                <a:cs typeface="Calibri"/>
                <a:sym typeface="Calibri"/>
              </a:rPr>
              <a:t>. </a:t>
            </a:r>
            <a:endParaRPr lang="en-US" dirty="0">
              <a:solidFill>
                <a:schemeClr val="dk1"/>
              </a:solidFill>
              <a:latin typeface="Calibri"/>
              <a:ea typeface="Calibri"/>
              <a:cs typeface="Calibri"/>
              <a:sym typeface="Calibri"/>
            </a:endParaRPr>
          </a:p>
          <a:p>
            <a:pPr marL="95250" lvl="0" indent="0" algn="just">
              <a:spcBef>
                <a:spcPts val="0"/>
              </a:spcBef>
              <a:buSzPts val="2100"/>
              <a:buNone/>
            </a:pPr>
            <a:endParaRPr lang="en-US" sz="2100" b="1" dirty="0" smtClean="0">
              <a:solidFill>
                <a:srgbClr val="0070C0"/>
              </a:solidFill>
              <a:latin typeface="Calibri"/>
              <a:ea typeface="Calibri"/>
              <a:cs typeface="Calibri"/>
              <a:sym typeface="Calibri"/>
            </a:endParaRPr>
          </a:p>
          <a:p>
            <a:pPr lvl="0" indent="0" algn="just">
              <a:spcBef>
                <a:spcPts val="0"/>
              </a:spcBef>
              <a:buNone/>
            </a:pPr>
            <a:endParaRPr lang="en-US" sz="2100" dirty="0">
              <a:solidFill>
                <a:schemeClr val="dk1"/>
              </a:solidFill>
              <a:latin typeface="Calibri"/>
              <a:ea typeface="Calibri"/>
              <a:cs typeface="Calibri"/>
              <a:sym typeface="Calibri"/>
            </a:endParaRPr>
          </a:p>
          <a:p>
            <a:pPr fontAlgn="base"/>
            <a:endParaRPr lang="en-US" sz="1900" dirty="0">
              <a:solidFill>
                <a:schemeClr val="tx1"/>
              </a:solidFill>
              <a:latin typeface="Calibri"/>
              <a:ea typeface="Calibri"/>
              <a:cs typeface="Calibri"/>
            </a:endParaRPr>
          </a:p>
        </p:txBody>
      </p:sp>
    </p:spTree>
    <p:extLst>
      <p:ext uri="{BB962C8B-B14F-4D97-AF65-F5344CB8AC3E}">
        <p14:creationId xmlns:p14="http://schemas.microsoft.com/office/powerpoint/2010/main" val="22850651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Coupling</a:t>
            </a:r>
            <a:endParaRPr lang="en-IN" dirty="0"/>
          </a:p>
        </p:txBody>
      </p:sp>
      <p:sp>
        <p:nvSpPr>
          <p:cNvPr id="3" name="Text Placeholder 2"/>
          <p:cNvSpPr>
            <a:spLocks noGrp="1"/>
          </p:cNvSpPr>
          <p:nvPr>
            <p:ph type="body" idx="1"/>
          </p:nvPr>
        </p:nvSpPr>
        <p:spPr/>
        <p:txBody>
          <a:bodyPr/>
          <a:lstStyle/>
          <a:p>
            <a:pPr marL="0" lvl="0" indent="0" algn="just">
              <a:spcBef>
                <a:spcPts val="0"/>
              </a:spcBef>
              <a:buNone/>
            </a:pPr>
            <a:r>
              <a:rPr lang="en-US" b="1" dirty="0">
                <a:solidFill>
                  <a:schemeClr val="dk1"/>
                </a:solidFill>
                <a:latin typeface="Calibri"/>
                <a:ea typeface="Calibri"/>
                <a:cs typeface="Calibri"/>
                <a:sym typeface="Calibri"/>
              </a:rPr>
              <a:t>Coupling</a:t>
            </a:r>
          </a:p>
          <a:p>
            <a:pPr marL="0" lvl="0" indent="0" algn="just">
              <a:spcBef>
                <a:spcPts val="0"/>
              </a:spcBef>
              <a:buNone/>
            </a:pPr>
            <a:r>
              <a:rPr lang="en-US" dirty="0">
                <a:solidFill>
                  <a:schemeClr val="dk1"/>
                </a:solidFill>
                <a:latin typeface="Calibri"/>
                <a:ea typeface="Calibri"/>
                <a:cs typeface="Calibri"/>
                <a:sym typeface="Calibri"/>
              </a:rPr>
              <a:t>a qualitative measure of the </a:t>
            </a:r>
            <a:r>
              <a:rPr lang="en-US" b="1" dirty="0">
                <a:solidFill>
                  <a:schemeClr val="dk1"/>
                </a:solidFill>
                <a:latin typeface="Calibri"/>
                <a:ea typeface="Calibri"/>
                <a:cs typeface="Calibri"/>
                <a:sym typeface="Calibri"/>
              </a:rPr>
              <a:t>degree to which classes are connected to one another</a:t>
            </a:r>
            <a:r>
              <a:rPr lang="en-US" dirty="0">
                <a:solidFill>
                  <a:schemeClr val="dk1"/>
                </a:solidFill>
                <a:latin typeface="Calibri"/>
                <a:ea typeface="Calibri"/>
                <a:cs typeface="Calibri"/>
                <a:sym typeface="Calibri"/>
              </a:rPr>
              <a:t>.</a:t>
            </a:r>
          </a:p>
          <a:p>
            <a:endParaRPr lang="en-IN" dirty="0"/>
          </a:p>
        </p:txBody>
      </p:sp>
      <p:pic>
        <p:nvPicPr>
          <p:cNvPr id="10244" name="Picture 4" descr="Coupling and Cohe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486" y="2975385"/>
            <a:ext cx="4834877" cy="3223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6288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74"/>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Design</a:t>
            </a:r>
            <a:endParaRPr b="1"/>
          </a:p>
        </p:txBody>
      </p:sp>
      <p:sp>
        <p:nvSpPr>
          <p:cNvPr id="549" name="Google Shape;549;p74"/>
          <p:cNvSpPr txBox="1">
            <a:spLocks noGrp="1"/>
          </p:cNvSpPr>
          <p:nvPr>
            <p:ph type="body" idx="1"/>
          </p:nvPr>
        </p:nvSpPr>
        <p:spPr>
          <a:xfrm>
            <a:off x="695351" y="775200"/>
            <a:ext cx="7916805" cy="4823168"/>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000" b="1" dirty="0" smtClean="0">
                <a:solidFill>
                  <a:srgbClr val="0070C0"/>
                </a:solidFill>
                <a:latin typeface="Calibri"/>
                <a:ea typeface="Calibri"/>
                <a:cs typeface="Calibri"/>
                <a:sym typeface="Calibri"/>
              </a:rPr>
              <a:t>Different types </a:t>
            </a:r>
            <a:r>
              <a:rPr lang="en-GB" sz="2000" b="1" dirty="0">
                <a:solidFill>
                  <a:srgbClr val="0070C0"/>
                </a:solidFill>
                <a:latin typeface="Calibri"/>
                <a:ea typeface="Calibri"/>
                <a:cs typeface="Calibri"/>
                <a:sym typeface="Calibri"/>
              </a:rPr>
              <a:t>of coupling  </a:t>
            </a:r>
            <a:endParaRPr sz="2000" b="1" dirty="0">
              <a:solidFill>
                <a:srgbClr val="0070C0"/>
              </a:solidFill>
              <a:latin typeface="Calibri"/>
              <a:ea typeface="Calibri"/>
              <a:cs typeface="Calibri"/>
              <a:sym typeface="Calibri"/>
            </a:endParaRPr>
          </a:p>
          <a:p>
            <a:pPr marL="0" lvl="0" indent="0" algn="just">
              <a:spcBef>
                <a:spcPts val="0"/>
              </a:spcBef>
              <a:buNone/>
            </a:pPr>
            <a:r>
              <a:rPr lang="en-US" sz="2000" b="1" dirty="0" smtClean="0">
                <a:solidFill>
                  <a:srgbClr val="0070C0"/>
                </a:solidFill>
                <a:latin typeface="Calibri"/>
                <a:ea typeface="Calibri"/>
                <a:cs typeface="Calibri"/>
                <a:sym typeface="Calibri"/>
              </a:rPr>
              <a:t>1. Data </a:t>
            </a:r>
            <a:r>
              <a:rPr lang="en-US" sz="2000" b="1" dirty="0">
                <a:solidFill>
                  <a:srgbClr val="0070C0"/>
                </a:solidFill>
                <a:latin typeface="Calibri"/>
                <a:ea typeface="Calibri"/>
                <a:cs typeface="Calibri"/>
                <a:sym typeface="Calibri"/>
              </a:rPr>
              <a:t>coupling </a:t>
            </a:r>
            <a:r>
              <a:rPr lang="en-US" sz="2000" b="1" dirty="0">
                <a:solidFill>
                  <a:schemeClr val="dk1"/>
                </a:solidFill>
                <a:latin typeface="Calibri"/>
                <a:ea typeface="Calibri"/>
                <a:cs typeface="Calibri"/>
                <a:sym typeface="Calibri"/>
              </a:rPr>
              <a:t>– </a:t>
            </a:r>
            <a:endParaRPr lang="en-US" sz="2000" b="1" dirty="0" smtClean="0">
              <a:solidFill>
                <a:schemeClr val="dk1"/>
              </a:solidFill>
              <a:latin typeface="Calibri"/>
              <a:ea typeface="Calibri"/>
              <a:cs typeface="Calibri"/>
              <a:sym typeface="Calibri"/>
            </a:endParaRPr>
          </a:p>
          <a:p>
            <a:pPr marL="342900" indent="-342900" algn="just">
              <a:spcBef>
                <a:spcPts val="0"/>
              </a:spcBef>
            </a:pPr>
            <a:r>
              <a:rPr lang="en-US" sz="2000" dirty="0" smtClean="0">
                <a:solidFill>
                  <a:schemeClr val="dk1"/>
                </a:solidFill>
                <a:latin typeface="Calibri"/>
                <a:ea typeface="Calibri"/>
                <a:cs typeface="Calibri"/>
                <a:sym typeface="Calibri"/>
              </a:rPr>
              <a:t>when </a:t>
            </a:r>
            <a:r>
              <a:rPr lang="en-US" sz="2000" dirty="0">
                <a:solidFill>
                  <a:schemeClr val="dk1"/>
                </a:solidFill>
                <a:latin typeface="Calibri"/>
                <a:ea typeface="Calibri"/>
                <a:cs typeface="Calibri"/>
                <a:sym typeface="Calibri"/>
              </a:rPr>
              <a:t>two modules communicate with each other only by passing </a:t>
            </a:r>
            <a:r>
              <a:rPr lang="en-US" sz="2000" dirty="0" smtClean="0">
                <a:solidFill>
                  <a:schemeClr val="dk1"/>
                </a:solidFill>
                <a:latin typeface="Calibri"/>
                <a:ea typeface="Calibri"/>
                <a:cs typeface="Calibri"/>
                <a:sym typeface="Calibri"/>
              </a:rPr>
              <a:t>data.</a:t>
            </a:r>
          </a:p>
          <a:p>
            <a:pPr marL="342900" indent="-342900" algn="just">
              <a:spcBef>
                <a:spcPts val="0"/>
              </a:spcBef>
            </a:pPr>
            <a:r>
              <a:rPr lang="en-US" sz="2000" dirty="0" smtClean="0">
                <a:solidFill>
                  <a:schemeClr val="dk1"/>
                </a:solidFill>
                <a:latin typeface="Calibri"/>
                <a:ea typeface="Calibri"/>
                <a:cs typeface="Calibri"/>
                <a:sym typeface="Calibri"/>
              </a:rPr>
              <a:t>Occurs </a:t>
            </a:r>
            <a:r>
              <a:rPr lang="en-US" sz="2000" dirty="0">
                <a:solidFill>
                  <a:schemeClr val="dk1"/>
                </a:solidFill>
                <a:latin typeface="Calibri"/>
                <a:ea typeface="Calibri"/>
                <a:cs typeface="Calibri"/>
                <a:sym typeface="Calibri"/>
              </a:rPr>
              <a:t>when operations </a:t>
            </a:r>
            <a:r>
              <a:rPr lang="en-US" sz="2000" b="1" dirty="0">
                <a:solidFill>
                  <a:schemeClr val="dk1"/>
                </a:solidFill>
                <a:latin typeface="Calibri"/>
                <a:ea typeface="Calibri"/>
                <a:cs typeface="Calibri"/>
                <a:sym typeface="Calibri"/>
              </a:rPr>
              <a:t>pass long strings of data arguments. </a:t>
            </a:r>
            <a:endParaRPr lang="en-US" sz="2000" b="1" dirty="0" smtClean="0">
              <a:solidFill>
                <a:schemeClr val="dk1"/>
              </a:solidFill>
              <a:latin typeface="Calibri"/>
              <a:ea typeface="Calibri"/>
              <a:cs typeface="Calibri"/>
              <a:sym typeface="Calibri"/>
            </a:endParaRPr>
          </a:p>
          <a:p>
            <a:pPr marL="342900" indent="-342900" algn="just">
              <a:spcBef>
                <a:spcPts val="0"/>
              </a:spcBef>
            </a:pPr>
            <a:r>
              <a:rPr lang="en-US" sz="2000" dirty="0" smtClean="0">
                <a:solidFill>
                  <a:schemeClr val="dk1"/>
                </a:solidFill>
                <a:latin typeface="Calibri"/>
                <a:ea typeface="Calibri"/>
                <a:cs typeface="Calibri"/>
                <a:sym typeface="Calibri"/>
              </a:rPr>
              <a:t>Band </a:t>
            </a:r>
            <a:r>
              <a:rPr lang="en-US" sz="2000" dirty="0">
                <a:solidFill>
                  <a:schemeClr val="dk1"/>
                </a:solidFill>
                <a:latin typeface="Calibri"/>
                <a:ea typeface="Calibri"/>
                <a:cs typeface="Calibri"/>
                <a:sym typeface="Calibri"/>
              </a:rPr>
              <a:t>width of communication increases complexity increases maintenance becomes difficult.</a:t>
            </a:r>
          </a:p>
          <a:p>
            <a:pPr marL="552450" lvl="0" indent="-457200" algn="just" rtl="0">
              <a:spcBef>
                <a:spcPts val="0"/>
              </a:spcBef>
              <a:spcAft>
                <a:spcPts val="0"/>
              </a:spcAft>
              <a:buSzPts val="2100"/>
              <a:buFont typeface="+mj-lt"/>
              <a:buAutoNum type="arabicPeriod"/>
            </a:pPr>
            <a:endParaRPr lang="en-GB" sz="2000" b="1" dirty="0" smtClean="0">
              <a:solidFill>
                <a:srgbClr val="0070C0"/>
              </a:solidFill>
              <a:latin typeface="Calibri"/>
              <a:ea typeface="Calibri"/>
              <a:cs typeface="Calibri"/>
              <a:sym typeface="Calibri"/>
            </a:endParaRPr>
          </a:p>
          <a:p>
            <a:pPr marL="0" lvl="0" indent="0" algn="just">
              <a:spcBef>
                <a:spcPts val="0"/>
              </a:spcBef>
              <a:buNone/>
            </a:pPr>
            <a:r>
              <a:rPr lang="en-US" sz="2000" b="1" dirty="0" smtClean="0">
                <a:solidFill>
                  <a:srgbClr val="0070C0"/>
                </a:solidFill>
                <a:latin typeface="Calibri"/>
                <a:ea typeface="Calibri"/>
                <a:cs typeface="Calibri"/>
                <a:sym typeface="Calibri"/>
              </a:rPr>
              <a:t>2. Stamp </a:t>
            </a:r>
            <a:r>
              <a:rPr lang="en-US" sz="2000" b="1" dirty="0">
                <a:solidFill>
                  <a:srgbClr val="0070C0"/>
                </a:solidFill>
                <a:latin typeface="Calibri"/>
                <a:ea typeface="Calibri"/>
                <a:cs typeface="Calibri"/>
                <a:sym typeface="Calibri"/>
              </a:rPr>
              <a:t>coupling </a:t>
            </a:r>
            <a:r>
              <a:rPr lang="en-US" sz="2000" b="1" dirty="0">
                <a:solidFill>
                  <a:schemeClr val="dk1"/>
                </a:solidFill>
                <a:latin typeface="Calibri"/>
                <a:ea typeface="Calibri"/>
                <a:cs typeface="Calibri"/>
                <a:sym typeface="Calibri"/>
              </a:rPr>
              <a:t>– </a:t>
            </a:r>
          </a:p>
          <a:p>
            <a:pPr marL="342900" indent="-342900" algn="just">
              <a:spcBef>
                <a:spcPts val="0"/>
              </a:spcBef>
            </a:pPr>
            <a:r>
              <a:rPr lang="en-US" sz="2000" dirty="0" smtClean="0">
                <a:solidFill>
                  <a:schemeClr val="dk1"/>
                </a:solidFill>
                <a:latin typeface="Calibri"/>
                <a:ea typeface="Calibri"/>
                <a:cs typeface="Calibri"/>
                <a:sym typeface="Calibri"/>
              </a:rPr>
              <a:t>when </a:t>
            </a:r>
            <a:r>
              <a:rPr lang="en-US" sz="2000" dirty="0">
                <a:solidFill>
                  <a:schemeClr val="dk1"/>
                </a:solidFill>
                <a:latin typeface="Calibri"/>
                <a:ea typeface="Calibri"/>
                <a:cs typeface="Calibri"/>
                <a:sym typeface="Calibri"/>
              </a:rPr>
              <a:t>two modules communicate with each other by passing of data structure. (call by </a:t>
            </a:r>
            <a:r>
              <a:rPr lang="en-US" sz="2000" dirty="0" smtClean="0">
                <a:solidFill>
                  <a:schemeClr val="dk1"/>
                </a:solidFill>
                <a:latin typeface="Calibri"/>
                <a:ea typeface="Calibri"/>
                <a:cs typeface="Calibri"/>
                <a:sym typeface="Calibri"/>
              </a:rPr>
              <a:t>reference)</a:t>
            </a:r>
          </a:p>
          <a:p>
            <a:pPr marL="342900" indent="-342900" algn="just">
              <a:spcBef>
                <a:spcPts val="0"/>
              </a:spcBef>
            </a:pPr>
            <a:r>
              <a:rPr lang="en-US" sz="2000" dirty="0" smtClean="0">
                <a:solidFill>
                  <a:schemeClr val="dk1"/>
                </a:solidFill>
                <a:latin typeface="Calibri"/>
                <a:ea typeface="Calibri"/>
                <a:cs typeface="Calibri"/>
                <a:sym typeface="Calibri"/>
              </a:rPr>
              <a:t>Occurs </a:t>
            </a:r>
            <a:r>
              <a:rPr lang="en-US" sz="2000" dirty="0">
                <a:solidFill>
                  <a:schemeClr val="dk1"/>
                </a:solidFill>
                <a:latin typeface="Calibri"/>
                <a:ea typeface="Calibri"/>
                <a:cs typeface="Calibri"/>
                <a:sym typeface="Calibri"/>
              </a:rPr>
              <a:t>when systems </a:t>
            </a:r>
            <a:r>
              <a:rPr lang="en-US" sz="2000" b="1" dirty="0">
                <a:solidFill>
                  <a:schemeClr val="dk1"/>
                </a:solidFill>
                <a:latin typeface="Calibri"/>
                <a:ea typeface="Calibri"/>
                <a:cs typeface="Calibri"/>
                <a:sym typeface="Calibri"/>
              </a:rPr>
              <a:t>operation are in nested state </a:t>
            </a:r>
            <a:r>
              <a:rPr lang="en-US" sz="2000" dirty="0">
                <a:solidFill>
                  <a:schemeClr val="dk1"/>
                </a:solidFill>
                <a:latin typeface="Calibri"/>
                <a:ea typeface="Calibri"/>
                <a:cs typeface="Calibri"/>
                <a:sym typeface="Calibri"/>
              </a:rPr>
              <a:t>, modifying the   system becomes complex. </a:t>
            </a:r>
            <a:endParaRPr lang="en-US" sz="2000" dirty="0" smtClean="0">
              <a:solidFill>
                <a:schemeClr val="dk1"/>
              </a:solidFill>
              <a:latin typeface="Calibri"/>
              <a:ea typeface="Calibri"/>
              <a:cs typeface="Calibri"/>
              <a:sym typeface="Calibri"/>
            </a:endParaRPr>
          </a:p>
          <a:p>
            <a:pPr marL="342900" indent="-342900" algn="just">
              <a:spcBef>
                <a:spcPts val="0"/>
              </a:spcBef>
            </a:pPr>
            <a:r>
              <a:rPr lang="en-US" sz="2000" dirty="0" smtClean="0">
                <a:solidFill>
                  <a:schemeClr val="dk1"/>
                </a:solidFill>
                <a:latin typeface="Calibri"/>
                <a:ea typeface="Calibri"/>
                <a:cs typeface="Calibri"/>
                <a:sym typeface="Calibri"/>
              </a:rPr>
              <a:t>Similar </a:t>
            </a:r>
            <a:r>
              <a:rPr lang="en-US" sz="2000" dirty="0">
                <a:solidFill>
                  <a:schemeClr val="dk1"/>
                </a:solidFill>
                <a:latin typeface="Calibri"/>
                <a:ea typeface="Calibri"/>
                <a:cs typeface="Calibri"/>
                <a:sym typeface="Calibri"/>
              </a:rPr>
              <a:t>to common coupling but here global data is accessible to</a:t>
            </a:r>
          </a:p>
          <a:p>
            <a:pPr marL="907200" lvl="0" indent="-450000" algn="just">
              <a:spcBef>
                <a:spcPts val="0"/>
              </a:spcBef>
              <a:buNone/>
            </a:pPr>
            <a:r>
              <a:rPr lang="en-US" sz="2000" dirty="0">
                <a:solidFill>
                  <a:schemeClr val="dk1"/>
                </a:solidFill>
                <a:latin typeface="Calibri"/>
                <a:ea typeface="Calibri"/>
                <a:cs typeface="Calibri"/>
                <a:sym typeface="Calibri"/>
              </a:rPr>
              <a:t>selected routines.</a:t>
            </a:r>
          </a:p>
          <a:p>
            <a:pPr marL="0" lvl="0" indent="0" algn="just" rtl="0">
              <a:spcBef>
                <a:spcPts val="1000"/>
              </a:spcBef>
              <a:spcAft>
                <a:spcPts val="0"/>
              </a:spcAft>
              <a:buNone/>
            </a:pPr>
            <a:endParaRPr sz="2000" b="1" dirty="0">
              <a:solidFill>
                <a:srgbClr val="0070C0"/>
              </a:solidFill>
              <a:latin typeface="Calibri"/>
              <a:ea typeface="Calibri"/>
              <a:cs typeface="Calibri"/>
              <a:sym typeface="Calibri"/>
            </a:endParaRPr>
          </a:p>
        </p:txBody>
      </p:sp>
      <p:sp>
        <p:nvSpPr>
          <p:cNvPr id="550" name="Google Shape;550;p74"/>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51" name="Google Shape;551;p74"/>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25</a:t>
            </a:fld>
            <a:endParaRPr/>
          </a:p>
        </p:txBody>
      </p:sp>
    </p:spTree>
    <p:extLst>
      <p:ext uri="{BB962C8B-B14F-4D97-AF65-F5344CB8AC3E}">
        <p14:creationId xmlns:p14="http://schemas.microsoft.com/office/powerpoint/2010/main" val="28507936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75"/>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Design</a:t>
            </a:r>
            <a:endParaRPr b="1"/>
          </a:p>
        </p:txBody>
      </p:sp>
      <p:sp>
        <p:nvSpPr>
          <p:cNvPr id="557" name="Google Shape;557;p75"/>
          <p:cNvSpPr txBox="1">
            <a:spLocks noGrp="1"/>
          </p:cNvSpPr>
          <p:nvPr>
            <p:ph type="body" idx="1"/>
          </p:nvPr>
        </p:nvSpPr>
        <p:spPr>
          <a:xfrm>
            <a:off x="466532" y="895739"/>
            <a:ext cx="8156019" cy="4293461"/>
          </a:xfrm>
          <a:prstGeom prst="rect">
            <a:avLst/>
          </a:prstGeom>
          <a:noFill/>
          <a:ln>
            <a:noFill/>
          </a:ln>
        </p:spPr>
        <p:txBody>
          <a:bodyPr spcFirstLastPara="1" wrap="square" lIns="68575" tIns="34275" rIns="68575" bIns="34275" anchor="t" anchorCtr="0">
            <a:noAutofit/>
          </a:bodyPr>
          <a:lstStyle/>
          <a:p>
            <a:pPr marL="95250" indent="0" algn="just">
              <a:spcBef>
                <a:spcPts val="0"/>
              </a:spcBef>
              <a:buSzPts val="2100"/>
              <a:buNone/>
            </a:pPr>
            <a:r>
              <a:rPr lang="en-US" b="1" dirty="0" smtClean="0">
                <a:solidFill>
                  <a:srgbClr val="0070C0"/>
                </a:solidFill>
                <a:latin typeface="Calibri"/>
                <a:ea typeface="Calibri"/>
                <a:cs typeface="Calibri"/>
                <a:sym typeface="Calibri"/>
              </a:rPr>
              <a:t>Control </a:t>
            </a:r>
            <a:r>
              <a:rPr lang="en-US" b="1" dirty="0">
                <a:solidFill>
                  <a:srgbClr val="0070C0"/>
                </a:solidFill>
                <a:latin typeface="Calibri"/>
                <a:ea typeface="Calibri"/>
                <a:cs typeface="Calibri"/>
                <a:sym typeface="Calibri"/>
              </a:rPr>
              <a:t>coupling</a:t>
            </a:r>
            <a:r>
              <a:rPr lang="en-US" b="1" dirty="0">
                <a:solidFill>
                  <a:schemeClr val="dk1"/>
                </a:solidFill>
                <a:latin typeface="Calibri"/>
                <a:ea typeface="Calibri"/>
                <a:cs typeface="Calibri"/>
                <a:sym typeface="Calibri"/>
              </a:rPr>
              <a:t> – </a:t>
            </a:r>
            <a:r>
              <a:rPr lang="en-US" dirty="0">
                <a:solidFill>
                  <a:schemeClr val="dk1"/>
                </a:solidFill>
                <a:latin typeface="Calibri"/>
                <a:ea typeface="Calibri"/>
                <a:cs typeface="Calibri"/>
                <a:sym typeface="Calibri"/>
              </a:rPr>
              <a:t>Occurs when </a:t>
            </a:r>
            <a:r>
              <a:rPr lang="en-US" b="1" dirty="0">
                <a:solidFill>
                  <a:schemeClr val="dk1"/>
                </a:solidFill>
                <a:latin typeface="Calibri"/>
                <a:ea typeface="Calibri"/>
                <a:cs typeface="Calibri"/>
                <a:sym typeface="Calibri"/>
              </a:rPr>
              <a:t>one operation controls flow of another operation </a:t>
            </a:r>
            <a:r>
              <a:rPr lang="en-US" dirty="0">
                <a:solidFill>
                  <a:schemeClr val="dk1"/>
                </a:solidFill>
                <a:latin typeface="Calibri"/>
                <a:ea typeface="Calibri"/>
                <a:cs typeface="Calibri"/>
                <a:sym typeface="Calibri"/>
              </a:rPr>
              <a:t>and control signals are sent. Changes done to an operation are to be monitored for errors. </a:t>
            </a:r>
            <a:r>
              <a:rPr lang="en-US" dirty="0" smtClean="0">
                <a:solidFill>
                  <a:schemeClr val="dk1"/>
                </a:solidFill>
                <a:latin typeface="Calibri"/>
                <a:ea typeface="Calibri"/>
                <a:cs typeface="Calibri"/>
                <a:sym typeface="Calibri"/>
              </a:rPr>
              <a:t>(Ex. </a:t>
            </a:r>
            <a:r>
              <a:rPr lang="en-US" dirty="0" err="1" smtClean="0">
                <a:solidFill>
                  <a:schemeClr val="dk1"/>
                </a:solidFill>
                <a:latin typeface="Calibri"/>
                <a:ea typeface="Calibri"/>
                <a:cs typeface="Calibri"/>
                <a:sym typeface="Calibri"/>
              </a:rPr>
              <a:t>Wasing</a:t>
            </a:r>
            <a:r>
              <a:rPr lang="en-US" dirty="0" smtClean="0">
                <a:solidFill>
                  <a:schemeClr val="dk1"/>
                </a:solidFill>
                <a:latin typeface="Calibri"/>
                <a:ea typeface="Calibri"/>
                <a:cs typeface="Calibri"/>
                <a:sym typeface="Calibri"/>
              </a:rPr>
              <a:t> machine operations)(send and acknowledge)</a:t>
            </a:r>
            <a:endParaRPr lang="en-US" dirty="0">
              <a:solidFill>
                <a:schemeClr val="dk1"/>
              </a:solidFill>
              <a:latin typeface="Calibri"/>
              <a:ea typeface="Calibri"/>
              <a:cs typeface="Calibri"/>
              <a:sym typeface="Calibri"/>
            </a:endParaRPr>
          </a:p>
          <a:p>
            <a:pPr marL="0" lvl="0" indent="0" algn="just">
              <a:spcBef>
                <a:spcPts val="1000"/>
              </a:spcBef>
              <a:buNone/>
            </a:pPr>
            <a:r>
              <a:rPr lang="en-US" b="1" dirty="0" smtClean="0">
                <a:solidFill>
                  <a:srgbClr val="0070C0"/>
                </a:solidFill>
                <a:latin typeface="Calibri"/>
                <a:ea typeface="Calibri"/>
                <a:cs typeface="Calibri"/>
                <a:sym typeface="Calibri"/>
              </a:rPr>
              <a:t>External </a:t>
            </a:r>
            <a:r>
              <a:rPr lang="en-US" b="1" dirty="0">
                <a:solidFill>
                  <a:srgbClr val="0070C0"/>
                </a:solidFill>
                <a:latin typeface="Calibri"/>
                <a:ea typeface="Calibri"/>
                <a:cs typeface="Calibri"/>
                <a:sym typeface="Calibri"/>
              </a:rPr>
              <a:t>coupling - </a:t>
            </a:r>
            <a:r>
              <a:rPr lang="en-US" dirty="0">
                <a:solidFill>
                  <a:schemeClr val="dk1"/>
                </a:solidFill>
                <a:latin typeface="Calibri"/>
                <a:ea typeface="Calibri"/>
                <a:cs typeface="Calibri"/>
                <a:sym typeface="Calibri"/>
              </a:rPr>
              <a:t>Occurs when </a:t>
            </a:r>
            <a:r>
              <a:rPr lang="en-US" b="1" dirty="0">
                <a:solidFill>
                  <a:schemeClr val="dk1"/>
                </a:solidFill>
                <a:latin typeface="Calibri"/>
                <a:ea typeface="Calibri"/>
                <a:cs typeface="Calibri"/>
                <a:sym typeface="Calibri"/>
              </a:rPr>
              <a:t>a component communicates or collaborates with infrastructure components </a:t>
            </a:r>
            <a:r>
              <a:rPr lang="en-US" dirty="0">
                <a:solidFill>
                  <a:schemeClr val="dk1"/>
                </a:solidFill>
                <a:latin typeface="Calibri"/>
                <a:ea typeface="Calibri"/>
                <a:cs typeface="Calibri"/>
                <a:sym typeface="Calibri"/>
              </a:rPr>
              <a:t>(e.g., operating system functions, database capability, telecommunication functions</a:t>
            </a:r>
            <a:r>
              <a:rPr lang="en-US" dirty="0" smtClean="0">
                <a:solidFill>
                  <a:schemeClr val="dk1"/>
                </a:solidFill>
                <a:latin typeface="Calibri"/>
                <a:ea typeface="Calibri"/>
                <a:cs typeface="Calibri"/>
                <a:sym typeface="Calibri"/>
              </a:rPr>
              <a:t>).</a:t>
            </a:r>
          </a:p>
          <a:p>
            <a:pPr marL="0" lvl="0" indent="0" algn="just">
              <a:spcBef>
                <a:spcPts val="1000"/>
              </a:spcBef>
              <a:buNone/>
            </a:pPr>
            <a:r>
              <a:rPr lang="en-US" dirty="0" smtClean="0">
                <a:solidFill>
                  <a:schemeClr val="dk1"/>
                </a:solidFill>
                <a:latin typeface="Calibri"/>
                <a:ea typeface="Calibri"/>
                <a:cs typeface="Calibri"/>
                <a:sym typeface="Calibri"/>
              </a:rPr>
              <a:t>Ex. </a:t>
            </a:r>
            <a:r>
              <a:rPr lang="en-US" dirty="0"/>
              <a:t>payment gateway (Module B) to process transactions.</a:t>
            </a:r>
            <a:endParaRPr lang="en-US" dirty="0">
              <a:solidFill>
                <a:schemeClr val="dk1"/>
              </a:solidFill>
              <a:latin typeface="Calibri"/>
              <a:ea typeface="Calibri"/>
              <a:cs typeface="Calibri"/>
              <a:sym typeface="Calibri"/>
            </a:endParaRPr>
          </a:p>
          <a:p>
            <a:pPr marL="0" lvl="0" indent="0" algn="just">
              <a:spcBef>
                <a:spcPts val="1000"/>
              </a:spcBef>
              <a:buNone/>
            </a:pPr>
            <a:r>
              <a:rPr lang="en-US" dirty="0">
                <a:solidFill>
                  <a:schemeClr val="dk1"/>
                </a:solidFill>
                <a:latin typeface="Calibri"/>
                <a:ea typeface="Calibri"/>
                <a:cs typeface="Calibri"/>
                <a:sym typeface="Calibri"/>
              </a:rPr>
              <a:t>This type of coupling is necessary but it should also be limited</a:t>
            </a:r>
            <a:endParaRPr lang="en-US" b="1" dirty="0" smtClean="0">
              <a:solidFill>
                <a:srgbClr val="0070C0"/>
              </a:solidFill>
              <a:latin typeface="Calibri"/>
              <a:ea typeface="Calibri"/>
              <a:cs typeface="Calibri"/>
              <a:sym typeface="Calibri"/>
            </a:endParaRPr>
          </a:p>
          <a:p>
            <a:pPr marL="95250" lvl="0" indent="0" algn="just">
              <a:spcBef>
                <a:spcPts val="0"/>
              </a:spcBef>
              <a:buSzPts val="2100"/>
              <a:buNone/>
            </a:pPr>
            <a:endParaRPr lang="en-US" b="1" dirty="0" smtClean="0">
              <a:solidFill>
                <a:srgbClr val="0070C0"/>
              </a:solidFill>
              <a:latin typeface="Calibri"/>
              <a:ea typeface="Calibri"/>
              <a:cs typeface="Calibri"/>
              <a:sym typeface="Calibri"/>
            </a:endParaRPr>
          </a:p>
          <a:p>
            <a:pPr marL="95250" lvl="0" indent="0" algn="just">
              <a:spcBef>
                <a:spcPts val="0"/>
              </a:spcBef>
              <a:buSzPts val="2100"/>
              <a:buNone/>
            </a:pPr>
            <a:r>
              <a:rPr lang="en-US" b="1" dirty="0" smtClean="0">
                <a:solidFill>
                  <a:srgbClr val="0070C0"/>
                </a:solidFill>
                <a:latin typeface="Calibri"/>
                <a:ea typeface="Calibri"/>
                <a:cs typeface="Calibri"/>
                <a:sym typeface="Calibri"/>
              </a:rPr>
              <a:t>Common </a:t>
            </a:r>
            <a:r>
              <a:rPr lang="en-US" b="1" dirty="0">
                <a:solidFill>
                  <a:srgbClr val="0070C0"/>
                </a:solidFill>
                <a:latin typeface="Calibri"/>
                <a:ea typeface="Calibri"/>
                <a:cs typeface="Calibri"/>
                <a:sym typeface="Calibri"/>
              </a:rPr>
              <a:t>coupling </a:t>
            </a:r>
            <a:r>
              <a:rPr lang="en-US" dirty="0">
                <a:solidFill>
                  <a:schemeClr val="dk1"/>
                </a:solidFill>
                <a:latin typeface="Calibri"/>
                <a:ea typeface="Calibri"/>
                <a:cs typeface="Calibri"/>
                <a:sym typeface="Calibri"/>
              </a:rPr>
              <a:t>Occurs when a number of components </a:t>
            </a:r>
            <a:r>
              <a:rPr lang="en-US" b="1" dirty="0">
                <a:solidFill>
                  <a:schemeClr val="dk1"/>
                </a:solidFill>
                <a:latin typeface="Calibri"/>
                <a:ea typeface="Calibri"/>
                <a:cs typeface="Calibri"/>
                <a:sym typeface="Calibri"/>
              </a:rPr>
              <a:t>all make use of a global variable</a:t>
            </a:r>
            <a:r>
              <a:rPr lang="en-US" dirty="0">
                <a:solidFill>
                  <a:schemeClr val="dk1"/>
                </a:solidFill>
                <a:latin typeface="Calibri"/>
                <a:ea typeface="Calibri"/>
                <a:cs typeface="Calibri"/>
                <a:sym typeface="Calibri"/>
              </a:rPr>
              <a:t>. Common coupling can </a:t>
            </a:r>
            <a:r>
              <a:rPr lang="en-US" b="1" dirty="0">
                <a:solidFill>
                  <a:schemeClr val="dk1"/>
                </a:solidFill>
                <a:latin typeface="Calibri"/>
                <a:ea typeface="Calibri"/>
                <a:cs typeface="Calibri"/>
                <a:sym typeface="Calibri"/>
              </a:rPr>
              <a:t>lead to error propagation.</a:t>
            </a:r>
          </a:p>
          <a:p>
            <a:pPr marL="95250" lvl="0" indent="0" algn="just">
              <a:spcBef>
                <a:spcPts val="0"/>
              </a:spcBef>
              <a:buSzPts val="2100"/>
              <a:buNone/>
            </a:pPr>
            <a:endParaRPr lang="en-US" b="1" dirty="0" smtClean="0">
              <a:solidFill>
                <a:srgbClr val="0070C0"/>
              </a:solidFill>
              <a:latin typeface="Calibri"/>
              <a:ea typeface="Calibri"/>
              <a:cs typeface="Calibri"/>
              <a:sym typeface="Calibri"/>
            </a:endParaRPr>
          </a:p>
          <a:p>
            <a:pPr marL="95250" lvl="0" indent="0" algn="just">
              <a:spcBef>
                <a:spcPts val="0"/>
              </a:spcBef>
              <a:buSzPts val="2100"/>
              <a:buNone/>
            </a:pPr>
            <a:r>
              <a:rPr lang="en-US" b="1" dirty="0" smtClean="0">
                <a:solidFill>
                  <a:srgbClr val="0070C0"/>
                </a:solidFill>
                <a:latin typeface="Calibri"/>
                <a:ea typeface="Calibri"/>
                <a:cs typeface="Calibri"/>
                <a:sym typeface="Calibri"/>
              </a:rPr>
              <a:t>Content </a:t>
            </a:r>
            <a:r>
              <a:rPr lang="en-US" b="1" dirty="0">
                <a:solidFill>
                  <a:srgbClr val="0070C0"/>
                </a:solidFill>
                <a:latin typeface="Calibri"/>
                <a:ea typeface="Calibri"/>
                <a:cs typeface="Calibri"/>
                <a:sym typeface="Calibri"/>
              </a:rPr>
              <a:t>coupling </a:t>
            </a:r>
            <a:r>
              <a:rPr lang="en-US" b="1" dirty="0">
                <a:solidFill>
                  <a:schemeClr val="dk1"/>
                </a:solidFill>
                <a:latin typeface="Calibri"/>
                <a:ea typeface="Calibri"/>
                <a:cs typeface="Calibri"/>
                <a:sym typeface="Calibri"/>
              </a:rPr>
              <a:t>Occurs when one component secretly modifies data</a:t>
            </a:r>
            <a:r>
              <a:rPr lang="en-US" dirty="0">
                <a:solidFill>
                  <a:schemeClr val="dk1"/>
                </a:solidFill>
                <a:latin typeface="Calibri"/>
                <a:ea typeface="Calibri"/>
                <a:cs typeface="Calibri"/>
                <a:sym typeface="Calibri"/>
              </a:rPr>
              <a:t> that is internal to </a:t>
            </a:r>
            <a:r>
              <a:rPr lang="en-US" b="1" dirty="0">
                <a:solidFill>
                  <a:schemeClr val="dk1"/>
                </a:solidFill>
                <a:latin typeface="Calibri"/>
                <a:ea typeface="Calibri"/>
                <a:cs typeface="Calibri"/>
                <a:sym typeface="Calibri"/>
              </a:rPr>
              <a:t>another component</a:t>
            </a:r>
            <a:r>
              <a:rPr lang="en-US" dirty="0">
                <a:solidFill>
                  <a:schemeClr val="dk1"/>
                </a:solidFill>
                <a:latin typeface="Calibri"/>
                <a:ea typeface="Calibri"/>
                <a:cs typeface="Calibri"/>
                <a:sym typeface="Calibri"/>
              </a:rPr>
              <a:t> (friend function /class)</a:t>
            </a:r>
          </a:p>
          <a:p>
            <a:pPr marL="95250" lvl="0" indent="0" algn="just">
              <a:spcBef>
                <a:spcPts val="0"/>
              </a:spcBef>
              <a:buSzPts val="2100"/>
              <a:buNone/>
            </a:pPr>
            <a:r>
              <a:rPr lang="en-US" dirty="0">
                <a:solidFill>
                  <a:schemeClr val="dk1"/>
                </a:solidFill>
                <a:latin typeface="Calibri"/>
                <a:ea typeface="Calibri"/>
                <a:cs typeface="Calibri"/>
                <a:sym typeface="Calibri"/>
              </a:rPr>
              <a:t>   when one module is a part of another module. High level   dependency.  (e.g. car and engine- engine is the part of car)</a:t>
            </a:r>
          </a:p>
          <a:p>
            <a:pPr marL="95250" lvl="0" indent="0" algn="just">
              <a:spcBef>
                <a:spcPts val="0"/>
              </a:spcBef>
              <a:buSzPts val="2100"/>
              <a:buNone/>
            </a:pPr>
            <a:endParaRPr lang="en-US" b="1" dirty="0">
              <a:solidFill>
                <a:srgbClr val="0070C0"/>
              </a:solidFill>
              <a:latin typeface="Calibri"/>
              <a:ea typeface="Calibri"/>
              <a:cs typeface="Calibri"/>
              <a:sym typeface="Calibri"/>
            </a:endParaRPr>
          </a:p>
          <a:p>
            <a:pPr marL="0" lvl="0" indent="0" algn="just" rtl="0">
              <a:spcBef>
                <a:spcPts val="1000"/>
              </a:spcBef>
              <a:spcAft>
                <a:spcPts val="0"/>
              </a:spcAft>
              <a:buNone/>
            </a:pPr>
            <a:endParaRPr b="1" dirty="0">
              <a:solidFill>
                <a:srgbClr val="0070C0"/>
              </a:solidFill>
              <a:latin typeface="Calibri"/>
              <a:ea typeface="Calibri"/>
              <a:cs typeface="Calibri"/>
              <a:sym typeface="Calibri"/>
            </a:endParaRPr>
          </a:p>
        </p:txBody>
      </p:sp>
      <p:sp>
        <p:nvSpPr>
          <p:cNvPr id="558" name="Google Shape;558;p75"/>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dirty="0"/>
              <a:t>MODULE  3</a:t>
            </a:r>
            <a:endParaRPr dirty="0"/>
          </a:p>
        </p:txBody>
      </p:sp>
      <p:sp>
        <p:nvSpPr>
          <p:cNvPr id="559" name="Google Shape;559;p75"/>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26</a:t>
            </a:fld>
            <a:endParaRPr/>
          </a:p>
        </p:txBody>
      </p:sp>
    </p:spTree>
    <p:extLst>
      <p:ext uri="{BB962C8B-B14F-4D97-AF65-F5344CB8AC3E}">
        <p14:creationId xmlns:p14="http://schemas.microsoft.com/office/powerpoint/2010/main" val="3379625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76"/>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Architectural Design</a:t>
            </a:r>
            <a:endParaRPr b="1"/>
          </a:p>
        </p:txBody>
      </p:sp>
      <p:sp>
        <p:nvSpPr>
          <p:cNvPr id="565" name="Google Shape;565;p76"/>
          <p:cNvSpPr txBox="1">
            <a:spLocks noGrp="1"/>
          </p:cNvSpPr>
          <p:nvPr>
            <p:ph type="body" idx="1"/>
          </p:nvPr>
        </p:nvSpPr>
        <p:spPr>
          <a:xfrm>
            <a:off x="695350" y="775200"/>
            <a:ext cx="7927200" cy="4414000"/>
          </a:xfrm>
          <a:prstGeom prst="rect">
            <a:avLst/>
          </a:prstGeom>
          <a:noFill/>
          <a:ln>
            <a:noFill/>
          </a:ln>
        </p:spPr>
        <p:txBody>
          <a:bodyPr spcFirstLastPara="1" wrap="square" lIns="68575" tIns="34275" rIns="68575" bIns="34275" anchor="t" anchorCtr="0">
            <a:noAutofit/>
          </a:bodyPr>
          <a:lstStyle/>
          <a:p>
            <a:pPr marL="450000" lvl="0" indent="-450000" algn="just" rtl="0">
              <a:spcBef>
                <a:spcPts val="0"/>
              </a:spcBef>
              <a:spcAft>
                <a:spcPts val="0"/>
              </a:spcAft>
              <a:buNone/>
            </a:pPr>
            <a:endParaRPr lang="en-GB" sz="2100" b="1" dirty="0" smtClean="0">
              <a:solidFill>
                <a:srgbClr val="0070C0"/>
              </a:solidFill>
              <a:latin typeface="Calibri"/>
              <a:ea typeface="Calibri"/>
              <a:cs typeface="Calibri"/>
              <a:sym typeface="Calibri"/>
            </a:endParaRPr>
          </a:p>
          <a:p>
            <a:pPr marL="450000" lvl="0" indent="-450000" algn="just" rtl="0">
              <a:spcBef>
                <a:spcPts val="0"/>
              </a:spcBef>
              <a:spcAft>
                <a:spcPts val="0"/>
              </a:spcAft>
              <a:buNone/>
            </a:pPr>
            <a:r>
              <a:rPr lang="en-GB" sz="2100" b="1" dirty="0" smtClean="0">
                <a:solidFill>
                  <a:srgbClr val="0070C0"/>
                </a:solidFill>
                <a:latin typeface="Calibri"/>
                <a:ea typeface="Calibri"/>
                <a:cs typeface="Calibri"/>
                <a:sym typeface="Calibri"/>
              </a:rPr>
              <a:t>Routine </a:t>
            </a:r>
            <a:r>
              <a:rPr lang="en-GB" sz="2100" b="1" dirty="0">
                <a:solidFill>
                  <a:srgbClr val="0070C0"/>
                </a:solidFill>
                <a:latin typeface="Calibri"/>
                <a:ea typeface="Calibri"/>
                <a:cs typeface="Calibri"/>
                <a:sym typeface="Calibri"/>
              </a:rPr>
              <a:t>call coupling - </a:t>
            </a:r>
            <a:r>
              <a:rPr lang="en-GB" sz="2100" dirty="0">
                <a:solidFill>
                  <a:schemeClr val="dk1"/>
                </a:solidFill>
                <a:latin typeface="Calibri"/>
                <a:ea typeface="Calibri"/>
                <a:cs typeface="Calibri"/>
                <a:sym typeface="Calibri"/>
              </a:rPr>
              <a:t>Occurs when one operation invokes another</a:t>
            </a:r>
            <a:endParaRPr sz="2100" dirty="0">
              <a:solidFill>
                <a:schemeClr val="dk1"/>
              </a:solidFill>
              <a:latin typeface="Calibri"/>
              <a:ea typeface="Calibri"/>
              <a:cs typeface="Calibri"/>
              <a:sym typeface="Calibri"/>
            </a:endParaRPr>
          </a:p>
          <a:p>
            <a:pPr marL="0" lvl="0" indent="0" algn="l" rtl="0">
              <a:spcBef>
                <a:spcPts val="1000"/>
              </a:spcBef>
              <a:spcAft>
                <a:spcPts val="0"/>
              </a:spcAft>
              <a:buNone/>
            </a:pPr>
            <a:endParaRPr lang="en-GB" sz="2100" b="1" dirty="0" smtClean="0">
              <a:solidFill>
                <a:srgbClr val="0070C0"/>
              </a:solidFill>
              <a:latin typeface="Calibri"/>
              <a:ea typeface="Calibri"/>
              <a:cs typeface="Calibri"/>
              <a:sym typeface="Calibri"/>
            </a:endParaRPr>
          </a:p>
          <a:p>
            <a:pPr marL="0" lvl="0" indent="0" algn="l" rtl="0">
              <a:spcBef>
                <a:spcPts val="1000"/>
              </a:spcBef>
              <a:spcAft>
                <a:spcPts val="0"/>
              </a:spcAft>
              <a:buNone/>
            </a:pPr>
            <a:r>
              <a:rPr lang="en-GB" sz="2100" b="1" dirty="0" smtClean="0">
                <a:solidFill>
                  <a:srgbClr val="0070C0"/>
                </a:solidFill>
                <a:latin typeface="Calibri"/>
                <a:ea typeface="Calibri"/>
                <a:cs typeface="Calibri"/>
                <a:sym typeface="Calibri"/>
              </a:rPr>
              <a:t>Type </a:t>
            </a:r>
            <a:r>
              <a:rPr lang="en-GB" sz="2100" b="1" dirty="0">
                <a:solidFill>
                  <a:srgbClr val="0070C0"/>
                </a:solidFill>
                <a:latin typeface="Calibri"/>
                <a:ea typeface="Calibri"/>
                <a:cs typeface="Calibri"/>
                <a:sym typeface="Calibri"/>
              </a:rPr>
              <a:t>use coupling</a:t>
            </a:r>
            <a:r>
              <a:rPr lang="en-GB" sz="2100" b="1" dirty="0">
                <a:solidFill>
                  <a:schemeClr val="dk1"/>
                </a:solidFill>
                <a:latin typeface="Calibri"/>
                <a:ea typeface="Calibri"/>
                <a:cs typeface="Calibri"/>
                <a:sym typeface="Calibri"/>
              </a:rPr>
              <a:t>. </a:t>
            </a:r>
            <a:r>
              <a:rPr lang="en-GB" sz="2100" dirty="0">
                <a:solidFill>
                  <a:schemeClr val="dk1"/>
                </a:solidFill>
                <a:latin typeface="Calibri"/>
                <a:ea typeface="Calibri"/>
                <a:cs typeface="Calibri"/>
                <a:sym typeface="Calibri"/>
              </a:rPr>
              <a:t>Occurs when component </a:t>
            </a:r>
            <a:r>
              <a:rPr lang="en-GB" sz="2100" b="1" dirty="0">
                <a:solidFill>
                  <a:schemeClr val="dk1"/>
                </a:solidFill>
                <a:latin typeface="Calibri"/>
                <a:ea typeface="Calibri"/>
                <a:cs typeface="Calibri"/>
                <a:sym typeface="Calibri"/>
              </a:rPr>
              <a:t>A </a:t>
            </a:r>
            <a:r>
              <a:rPr lang="en-GB" sz="2100" dirty="0">
                <a:solidFill>
                  <a:schemeClr val="dk1"/>
                </a:solidFill>
                <a:latin typeface="Calibri"/>
                <a:ea typeface="Calibri"/>
                <a:cs typeface="Calibri"/>
                <a:sym typeface="Calibri"/>
              </a:rPr>
              <a:t>uses a data type defined in component </a:t>
            </a:r>
            <a:r>
              <a:rPr lang="en-GB" sz="2100" b="1" dirty="0" smtClean="0">
                <a:solidFill>
                  <a:schemeClr val="dk1"/>
                </a:solidFill>
                <a:latin typeface="Calibri"/>
                <a:ea typeface="Calibri"/>
                <a:cs typeface="Calibri"/>
                <a:sym typeface="Calibri"/>
              </a:rPr>
              <a:t>B.</a:t>
            </a:r>
            <a:endParaRPr lang="en-GB" sz="2100" b="1" dirty="0">
              <a:solidFill>
                <a:schemeClr val="dk1"/>
              </a:solidFill>
              <a:latin typeface="Calibri"/>
              <a:ea typeface="Calibri"/>
              <a:cs typeface="Calibri"/>
              <a:sym typeface="Calibri"/>
            </a:endParaRPr>
          </a:p>
          <a:p>
            <a:pPr marL="0" lvl="0" indent="0" algn="l" rtl="0">
              <a:spcBef>
                <a:spcPts val="1000"/>
              </a:spcBef>
              <a:spcAft>
                <a:spcPts val="0"/>
              </a:spcAft>
              <a:buNone/>
            </a:pPr>
            <a:r>
              <a:rPr lang="en-GB" sz="2100" dirty="0" smtClean="0">
                <a:solidFill>
                  <a:schemeClr val="dk1"/>
                </a:solidFill>
                <a:latin typeface="Calibri"/>
                <a:ea typeface="Calibri"/>
                <a:cs typeface="Calibri"/>
                <a:sym typeface="Calibri"/>
              </a:rPr>
              <a:t>If </a:t>
            </a:r>
            <a:r>
              <a:rPr lang="en-GB" sz="2100" dirty="0">
                <a:solidFill>
                  <a:schemeClr val="dk1"/>
                </a:solidFill>
                <a:latin typeface="Calibri"/>
                <a:ea typeface="Calibri"/>
                <a:cs typeface="Calibri"/>
                <a:sym typeface="Calibri"/>
              </a:rPr>
              <a:t>the type definition changes, every component that uses the definition must also change</a:t>
            </a:r>
            <a:r>
              <a:rPr lang="en-GB" sz="2100" dirty="0" smtClean="0">
                <a:solidFill>
                  <a:schemeClr val="dk1"/>
                </a:solidFill>
                <a:latin typeface="Calibri"/>
                <a:ea typeface="Calibri"/>
                <a:cs typeface="Calibri"/>
                <a:sym typeface="Calibri"/>
              </a:rPr>
              <a:t>.</a:t>
            </a:r>
          </a:p>
          <a:p>
            <a:pPr marL="450000" lvl="0" indent="-450000" algn="just">
              <a:spcBef>
                <a:spcPts val="0"/>
              </a:spcBef>
              <a:buNone/>
            </a:pPr>
            <a:endParaRPr lang="en-US" sz="2100" b="1" dirty="0" smtClean="0">
              <a:solidFill>
                <a:srgbClr val="0070C0"/>
              </a:solidFill>
              <a:latin typeface="Calibri"/>
              <a:ea typeface="Calibri"/>
              <a:cs typeface="Calibri"/>
              <a:sym typeface="Calibri"/>
            </a:endParaRPr>
          </a:p>
          <a:p>
            <a:pPr marL="450000" lvl="0" indent="-450000" algn="just">
              <a:spcBef>
                <a:spcPts val="0"/>
              </a:spcBef>
              <a:buNone/>
            </a:pPr>
            <a:r>
              <a:rPr lang="en-US" sz="2100" b="1" dirty="0" smtClean="0">
                <a:solidFill>
                  <a:srgbClr val="0070C0"/>
                </a:solidFill>
                <a:latin typeface="Calibri"/>
                <a:ea typeface="Calibri"/>
                <a:cs typeface="Calibri"/>
                <a:sym typeface="Calibri"/>
              </a:rPr>
              <a:t>Inclusion </a:t>
            </a:r>
            <a:r>
              <a:rPr lang="en-US" sz="2100" b="1" dirty="0">
                <a:solidFill>
                  <a:srgbClr val="0070C0"/>
                </a:solidFill>
                <a:latin typeface="Calibri"/>
                <a:ea typeface="Calibri"/>
                <a:cs typeface="Calibri"/>
                <a:sym typeface="Calibri"/>
              </a:rPr>
              <a:t>or import coupling</a:t>
            </a:r>
            <a:r>
              <a:rPr lang="en-US" sz="2100" b="1" dirty="0">
                <a:solidFill>
                  <a:schemeClr val="dk1"/>
                </a:solidFill>
                <a:latin typeface="Calibri"/>
                <a:ea typeface="Calibri"/>
                <a:cs typeface="Calibri"/>
                <a:sym typeface="Calibri"/>
              </a:rPr>
              <a:t>. </a:t>
            </a:r>
            <a:r>
              <a:rPr lang="en-US" sz="2100" dirty="0">
                <a:solidFill>
                  <a:schemeClr val="dk1"/>
                </a:solidFill>
                <a:latin typeface="Calibri"/>
                <a:ea typeface="Calibri"/>
                <a:cs typeface="Calibri"/>
                <a:sym typeface="Calibri"/>
              </a:rPr>
              <a:t>Occurs when component </a:t>
            </a:r>
            <a:r>
              <a:rPr lang="en-US" sz="2100" b="1" dirty="0">
                <a:solidFill>
                  <a:schemeClr val="dk1"/>
                </a:solidFill>
                <a:latin typeface="Calibri"/>
                <a:ea typeface="Calibri"/>
                <a:cs typeface="Calibri"/>
                <a:sym typeface="Calibri"/>
              </a:rPr>
              <a:t>A </a:t>
            </a:r>
            <a:r>
              <a:rPr lang="en-US" sz="2100" dirty="0">
                <a:solidFill>
                  <a:schemeClr val="dk1"/>
                </a:solidFill>
                <a:latin typeface="Calibri"/>
                <a:ea typeface="Calibri"/>
                <a:cs typeface="Calibri"/>
                <a:sym typeface="Calibri"/>
              </a:rPr>
              <a:t>imports or includes a package or the content of component </a:t>
            </a:r>
            <a:r>
              <a:rPr lang="en-US" sz="2100" b="1" dirty="0">
                <a:solidFill>
                  <a:schemeClr val="dk1"/>
                </a:solidFill>
                <a:latin typeface="Calibri"/>
                <a:ea typeface="Calibri"/>
                <a:cs typeface="Calibri"/>
                <a:sym typeface="Calibri"/>
              </a:rPr>
              <a:t>B</a:t>
            </a:r>
            <a:r>
              <a:rPr lang="en-US" sz="2100" dirty="0">
                <a:solidFill>
                  <a:schemeClr val="dk1"/>
                </a:solidFill>
                <a:latin typeface="Calibri"/>
                <a:ea typeface="Calibri"/>
                <a:cs typeface="Calibri"/>
                <a:sym typeface="Calibri"/>
              </a:rPr>
              <a:t>.</a:t>
            </a:r>
          </a:p>
          <a:p>
            <a:pPr marL="0" lvl="0" indent="0" algn="just">
              <a:spcBef>
                <a:spcPts val="1000"/>
              </a:spcBef>
              <a:buNone/>
            </a:pPr>
            <a:r>
              <a:rPr lang="en-US" sz="2100" dirty="0" smtClean="0">
                <a:solidFill>
                  <a:schemeClr val="dk1"/>
                </a:solidFill>
                <a:latin typeface="Calibri"/>
                <a:ea typeface="Calibri"/>
                <a:cs typeface="Calibri"/>
                <a:sym typeface="Calibri"/>
              </a:rPr>
              <a:t>.</a:t>
            </a:r>
            <a:endParaRPr lang="en-US" sz="2100" dirty="0">
              <a:solidFill>
                <a:schemeClr val="dk1"/>
              </a:solidFill>
              <a:latin typeface="Calibri"/>
              <a:ea typeface="Calibri"/>
              <a:cs typeface="Calibri"/>
              <a:sym typeface="Calibri"/>
            </a:endParaRPr>
          </a:p>
          <a:p>
            <a:pPr marL="450000" lvl="0" indent="-450000" algn="just">
              <a:spcBef>
                <a:spcPts val="0"/>
              </a:spcBef>
              <a:buNone/>
            </a:pPr>
            <a:endParaRPr lang="en-US" sz="2100" b="1" dirty="0">
              <a:solidFill>
                <a:srgbClr val="0070C0"/>
              </a:solidFill>
              <a:latin typeface="Calibri"/>
              <a:ea typeface="Calibri"/>
              <a:cs typeface="Calibri"/>
              <a:sym typeface="Calibri"/>
            </a:endParaRPr>
          </a:p>
          <a:p>
            <a:pPr marL="450000" lvl="0" indent="-450000" algn="just">
              <a:spcBef>
                <a:spcPts val="0"/>
              </a:spcBef>
              <a:buNone/>
            </a:pPr>
            <a:endParaRPr lang="en-US" sz="2100" b="1" dirty="0">
              <a:solidFill>
                <a:srgbClr val="0070C0"/>
              </a:solidFill>
              <a:latin typeface="Calibri"/>
              <a:ea typeface="Calibri"/>
              <a:cs typeface="Calibri"/>
              <a:sym typeface="Calibri"/>
            </a:endParaRPr>
          </a:p>
          <a:p>
            <a:pPr marL="457200" lvl="0" indent="0" algn="l" rtl="0">
              <a:spcBef>
                <a:spcPts val="1000"/>
              </a:spcBef>
              <a:spcAft>
                <a:spcPts val="0"/>
              </a:spcAft>
              <a:buNone/>
            </a:pPr>
            <a:endParaRPr sz="2100" dirty="0">
              <a:solidFill>
                <a:schemeClr val="dk1"/>
              </a:solidFill>
              <a:latin typeface="Calibri"/>
              <a:ea typeface="Calibri"/>
              <a:cs typeface="Calibri"/>
              <a:sym typeface="Calibri"/>
            </a:endParaRPr>
          </a:p>
          <a:p>
            <a:pPr marL="907200" lvl="0" indent="-450000" algn="just" rtl="0">
              <a:spcBef>
                <a:spcPts val="0"/>
              </a:spcBef>
              <a:spcAft>
                <a:spcPts val="0"/>
              </a:spcAft>
              <a:buNone/>
            </a:pPr>
            <a:endParaRPr sz="2100" dirty="0">
              <a:solidFill>
                <a:schemeClr val="dk1"/>
              </a:solidFill>
              <a:latin typeface="Calibri"/>
              <a:ea typeface="Calibri"/>
              <a:cs typeface="Calibri"/>
              <a:sym typeface="Calibri"/>
            </a:endParaRPr>
          </a:p>
          <a:p>
            <a:pPr marL="450000" lvl="0" indent="-450000" algn="just" rtl="0">
              <a:spcBef>
                <a:spcPts val="0"/>
              </a:spcBef>
              <a:spcAft>
                <a:spcPts val="0"/>
              </a:spcAft>
              <a:buNone/>
            </a:pPr>
            <a:endParaRPr sz="2100" b="1" dirty="0">
              <a:solidFill>
                <a:srgbClr val="0070C0"/>
              </a:solidFill>
              <a:latin typeface="Calibri"/>
              <a:ea typeface="Calibri"/>
              <a:cs typeface="Calibri"/>
              <a:sym typeface="Calibri"/>
            </a:endParaRPr>
          </a:p>
        </p:txBody>
      </p:sp>
      <p:sp>
        <p:nvSpPr>
          <p:cNvPr id="566" name="Google Shape;566;p76"/>
          <p:cNvSpPr txBox="1">
            <a:spLocks noGrp="1"/>
          </p:cNvSpPr>
          <p:nvPr>
            <p:ph type="ftr" idx="11"/>
          </p:nvPr>
        </p:nvSpPr>
        <p:spPr>
          <a:xfrm>
            <a:off x="3028950" y="62547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67" name="Google Shape;567;p76"/>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27</a:t>
            </a:fld>
            <a:endParaRPr/>
          </a:p>
        </p:txBody>
      </p:sp>
    </p:spTree>
    <p:extLst>
      <p:ext uri="{BB962C8B-B14F-4D97-AF65-F5344CB8AC3E}">
        <p14:creationId xmlns:p14="http://schemas.microsoft.com/office/powerpoint/2010/main" val="20617233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a:t>
            </a:r>
            <a:endParaRPr lang="en-IN" dirty="0"/>
          </a:p>
        </p:txBody>
      </p:sp>
      <p:sp>
        <p:nvSpPr>
          <p:cNvPr id="3" name="Text Placeholder 2"/>
          <p:cNvSpPr>
            <a:spLocks noGrp="1"/>
          </p:cNvSpPr>
          <p:nvPr>
            <p:ph type="body" idx="1"/>
          </p:nvPr>
        </p:nvSpPr>
        <p:spPr/>
        <p:txBody>
          <a:bodyPr/>
          <a:lstStyle/>
          <a:p>
            <a:endParaRPr lang="en-US" dirty="0" smtClean="0"/>
          </a:p>
        </p:txBody>
      </p:sp>
      <p:pic>
        <p:nvPicPr>
          <p:cNvPr id="11266" name="Picture 2" descr="Coupling and Cohesion - Software Engineering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9" y="1336567"/>
            <a:ext cx="2543175" cy="431800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Coupling and Cohesion - Software Engineering - GeeksforGee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380" y="1460976"/>
            <a:ext cx="2733675" cy="431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470987" y="1940769"/>
            <a:ext cx="589264" cy="369332"/>
          </a:xfrm>
          <a:prstGeom prst="rect">
            <a:avLst/>
          </a:prstGeom>
          <a:noFill/>
        </p:spPr>
        <p:txBody>
          <a:bodyPr wrap="none" rtlCol="0">
            <a:spAutoFit/>
          </a:bodyPr>
          <a:lstStyle/>
          <a:p>
            <a:r>
              <a:rPr lang="en-US" dirty="0" smtClean="0"/>
              <a:t>Best</a:t>
            </a:r>
            <a:endParaRPr lang="en-IN" dirty="0"/>
          </a:p>
        </p:txBody>
      </p:sp>
      <p:sp>
        <p:nvSpPr>
          <p:cNvPr id="5" name="TextBox 4"/>
          <p:cNvSpPr txBox="1"/>
          <p:nvPr/>
        </p:nvSpPr>
        <p:spPr>
          <a:xfrm>
            <a:off x="3489650" y="5511584"/>
            <a:ext cx="742319" cy="369332"/>
          </a:xfrm>
          <a:prstGeom prst="rect">
            <a:avLst/>
          </a:prstGeom>
          <a:noFill/>
        </p:spPr>
        <p:txBody>
          <a:bodyPr wrap="none" rtlCol="0">
            <a:spAutoFit/>
          </a:bodyPr>
          <a:lstStyle/>
          <a:p>
            <a:r>
              <a:rPr lang="en-US" dirty="0" smtClean="0"/>
              <a:t>Worst</a:t>
            </a:r>
            <a:endParaRPr lang="en-IN" dirty="0"/>
          </a:p>
        </p:txBody>
      </p:sp>
    </p:spTree>
    <p:extLst>
      <p:ext uri="{BB962C8B-B14F-4D97-AF65-F5344CB8AC3E}">
        <p14:creationId xmlns:p14="http://schemas.microsoft.com/office/powerpoint/2010/main" val="12275474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8"/>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Module 3</a:t>
            </a:r>
            <a:endParaRPr b="1"/>
          </a:p>
        </p:txBody>
      </p:sp>
      <p:sp>
        <p:nvSpPr>
          <p:cNvPr id="581" name="Google Shape;581;p78"/>
          <p:cNvSpPr txBox="1">
            <a:spLocks noGrp="1"/>
          </p:cNvSpPr>
          <p:nvPr>
            <p:ph type="body" idx="1"/>
          </p:nvPr>
        </p:nvSpPr>
        <p:spPr>
          <a:xfrm>
            <a:off x="0" y="793767"/>
            <a:ext cx="8583300" cy="3300400"/>
          </a:xfrm>
          <a:prstGeom prst="rect">
            <a:avLst/>
          </a:prstGeom>
          <a:noFill/>
          <a:ln>
            <a:noFill/>
          </a:ln>
        </p:spPr>
        <p:txBody>
          <a:bodyPr spcFirstLastPara="1" wrap="square" lIns="68575" tIns="34275" rIns="68575" bIns="34275" anchor="t" anchorCtr="0">
            <a:noAutofit/>
          </a:bodyPr>
          <a:lstStyle/>
          <a:p>
            <a:pPr marL="533400" lvl="0" indent="0" algn="l" rtl="0">
              <a:spcBef>
                <a:spcPts val="1000"/>
              </a:spcBef>
              <a:spcAft>
                <a:spcPts val="0"/>
              </a:spcAft>
              <a:buNone/>
            </a:pPr>
            <a:r>
              <a:rPr lang="en-GB" sz="2200">
                <a:solidFill>
                  <a:srgbClr val="A6A6A6"/>
                </a:solidFill>
                <a:latin typeface="Calibri"/>
                <a:ea typeface="Calibri"/>
                <a:cs typeface="Calibri"/>
                <a:sym typeface="Calibri"/>
              </a:rPr>
              <a:t>3.1 Design Quality, Classification of Design activities. Design concepts: Modularity &amp; Layering. Introduction to Pattern-based software design.</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marL="533400" lvl="0" indent="0" algn="l" rtl="0">
              <a:spcBef>
                <a:spcPts val="1000"/>
              </a:spcBef>
              <a:spcAft>
                <a:spcPts val="0"/>
              </a:spcAft>
              <a:buNone/>
            </a:pPr>
            <a:r>
              <a:rPr lang="en-GB" sz="2200">
                <a:solidFill>
                  <a:schemeClr val="lt2"/>
                </a:solidFill>
                <a:latin typeface="Calibri"/>
                <a:ea typeface="Calibri"/>
                <a:cs typeface="Calibri"/>
                <a:sym typeface="Calibri"/>
              </a:rPr>
              <a:t>3.2  Software Architecture, Data design, Object -Oriented versus Function - oriented Design, Design of software object, methods, Cohesion &amp; Coupling between objects.</a:t>
            </a:r>
            <a:endParaRPr sz="2200">
              <a:solidFill>
                <a:schemeClr val="lt2"/>
              </a:solidFill>
              <a:latin typeface="Calibri"/>
              <a:ea typeface="Calibri"/>
              <a:cs typeface="Calibri"/>
              <a:sym typeface="Calibri"/>
            </a:endParaRPr>
          </a:p>
          <a:p>
            <a:pPr marL="533400" lvl="0" indent="0" algn="l" rtl="0">
              <a:spcBef>
                <a:spcPts val="1000"/>
              </a:spcBef>
              <a:spcAft>
                <a:spcPts val="0"/>
              </a:spcAft>
              <a:buNone/>
            </a:pPr>
            <a:r>
              <a:rPr lang="en-GB" sz="2200">
                <a:solidFill>
                  <a:schemeClr val="dk1"/>
                </a:solidFill>
                <a:latin typeface="Calibri"/>
                <a:ea typeface="Calibri"/>
                <a:cs typeface="Calibri"/>
                <a:sym typeface="Calibri"/>
              </a:rPr>
              <a:t>3.3 User Interface design: Rules, User Interface Analysis Steps in Interface design, Design Evaluation </a:t>
            </a:r>
            <a:endParaRPr sz="2200">
              <a:solidFill>
                <a:schemeClr val="dk1"/>
              </a:solidFill>
              <a:latin typeface="Calibri"/>
              <a:ea typeface="Calibri"/>
              <a:cs typeface="Calibri"/>
              <a:sym typeface="Calibri"/>
            </a:endParaRPr>
          </a:p>
          <a:p>
            <a:pPr marL="533400" lvl="0" indent="0" algn="l" rtl="0">
              <a:spcBef>
                <a:spcPts val="1000"/>
              </a:spcBef>
              <a:spcAft>
                <a:spcPts val="0"/>
              </a:spcAft>
              <a:buNone/>
            </a:pPr>
            <a:r>
              <a:rPr lang="en-GB" sz="2200">
                <a:solidFill>
                  <a:srgbClr val="BFBFBF"/>
                </a:solidFill>
                <a:latin typeface="Calibri"/>
                <a:ea typeface="Calibri"/>
                <a:cs typeface="Calibri"/>
                <a:sym typeface="Calibri"/>
              </a:rPr>
              <a:t>3.4  Software Reuse, Component-based software design</a:t>
            </a:r>
            <a:endParaRPr sz="2200">
              <a:solidFill>
                <a:srgbClr val="BFBFBF"/>
              </a:solidFill>
              <a:latin typeface="Calibri"/>
              <a:ea typeface="Calibri"/>
              <a:cs typeface="Calibri"/>
              <a:sym typeface="Calibri"/>
            </a:endParaRPr>
          </a:p>
          <a:p>
            <a:pPr marL="457200" lvl="0" indent="0" algn="just" rtl="0">
              <a:spcBef>
                <a:spcPts val="500"/>
              </a:spcBef>
              <a:spcAft>
                <a:spcPts val="0"/>
              </a:spcAft>
              <a:buNone/>
            </a:pPr>
            <a:endParaRPr sz="2100" b="1">
              <a:solidFill>
                <a:srgbClr val="0070C0"/>
              </a:solidFill>
              <a:latin typeface="Calibri"/>
              <a:ea typeface="Calibri"/>
              <a:cs typeface="Calibri"/>
              <a:sym typeface="Calibri"/>
            </a:endParaRPr>
          </a:p>
          <a:p>
            <a:pPr marL="0" lvl="0" indent="0" algn="just" rtl="0">
              <a:spcBef>
                <a:spcPts val="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582" name="Google Shape;582;p78"/>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83" name="Google Shape;583;p78"/>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29</a:t>
            </a:fld>
            <a:endParaRPr/>
          </a:p>
        </p:txBody>
      </p:sp>
    </p:spTree>
    <p:extLst>
      <p:ext uri="{BB962C8B-B14F-4D97-AF65-F5344CB8AC3E}">
        <p14:creationId xmlns:p14="http://schemas.microsoft.com/office/powerpoint/2010/main" val="91673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8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482" y="365125"/>
            <a:ext cx="7880868" cy="356443"/>
          </a:xfrm>
        </p:spPr>
        <p:txBody>
          <a:bodyPr>
            <a:normAutofit fontScale="90000"/>
          </a:bodyPr>
          <a:lstStyle/>
          <a:p>
            <a:r>
              <a:rPr lang="en-US" dirty="0"/>
              <a:t>UI/UX design</a:t>
            </a:r>
            <a:endParaRPr lang="en-IN" dirty="0"/>
          </a:p>
        </p:txBody>
      </p:sp>
      <p:sp>
        <p:nvSpPr>
          <p:cNvPr id="3" name="Text Placeholder 2"/>
          <p:cNvSpPr>
            <a:spLocks noGrp="1"/>
          </p:cNvSpPr>
          <p:nvPr>
            <p:ph type="body" idx="1"/>
          </p:nvPr>
        </p:nvSpPr>
        <p:spPr>
          <a:xfrm>
            <a:off x="625152" y="1045028"/>
            <a:ext cx="7890199" cy="5131797"/>
          </a:xfrm>
        </p:spPr>
        <p:txBody>
          <a:bodyPr>
            <a:normAutofit fontScale="77500" lnSpcReduction="20000"/>
          </a:bodyPr>
          <a:lstStyle/>
          <a:p>
            <a:r>
              <a:rPr lang="en-US" dirty="0"/>
              <a:t>UI/UX design refers to the fields of User Interface (UI) and User Experience (UX) design, which are crucial for creating effective, engaging, and user-friendly digital products such as websites, apps, and software.</a:t>
            </a:r>
          </a:p>
          <a:p>
            <a:pPr marL="139700" indent="0">
              <a:buNone/>
            </a:pPr>
            <a:r>
              <a:rPr lang="en-US" b="1" dirty="0"/>
              <a:t>UI Design (User Interface Design)</a:t>
            </a:r>
          </a:p>
          <a:p>
            <a:r>
              <a:rPr lang="en-US" b="1" dirty="0"/>
              <a:t>Focus:</a:t>
            </a:r>
            <a:r>
              <a:rPr lang="en-US" dirty="0"/>
              <a:t> UI design focuses on the look and feel of a product. It deals with the design of the graphical layout of an application, including buttons, icons, spacing, typography, color schemes, and responsive design.</a:t>
            </a:r>
          </a:p>
          <a:p>
            <a:pPr marL="139700" indent="0">
              <a:buNone/>
            </a:pPr>
            <a:r>
              <a:rPr lang="en-US" b="1" dirty="0"/>
              <a:t>UX Design (User Experience Design)</a:t>
            </a:r>
          </a:p>
          <a:p>
            <a:r>
              <a:rPr lang="en-US" b="1" dirty="0"/>
              <a:t>Focus:</a:t>
            </a:r>
            <a:r>
              <a:rPr lang="en-US" dirty="0"/>
              <a:t> UX design focuses on the overall experience a user has when interacting with a product. It involves understanding the users’ needs, behavior, and emotions to create a product that provides a meaningful and relevant experience.</a:t>
            </a:r>
          </a:p>
        </p:txBody>
      </p:sp>
    </p:spTree>
    <p:extLst>
      <p:ext uri="{BB962C8B-B14F-4D97-AF65-F5344CB8AC3E}">
        <p14:creationId xmlns:p14="http://schemas.microsoft.com/office/powerpoint/2010/main" val="157833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Interface Design</a:t>
            </a:r>
            <a:endParaRPr lang="en-IN" dirty="0"/>
          </a:p>
        </p:txBody>
      </p:sp>
      <p:sp>
        <p:nvSpPr>
          <p:cNvPr id="3" name="Text Placeholder 2"/>
          <p:cNvSpPr>
            <a:spLocks noGrp="1"/>
          </p:cNvSpPr>
          <p:nvPr>
            <p:ph type="body"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229" y="2269802"/>
            <a:ext cx="6581775" cy="326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4797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user interface</a:t>
            </a:r>
            <a:endParaRPr lang="en-IN" dirty="0"/>
          </a:p>
        </p:txBody>
      </p:sp>
      <p:sp>
        <p:nvSpPr>
          <p:cNvPr id="3" name="Text Placeholder 2"/>
          <p:cNvSpPr>
            <a:spLocks noGrp="1"/>
          </p:cNvSpPr>
          <p:nvPr>
            <p:ph type="body"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318" y="2058177"/>
            <a:ext cx="643890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4649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14" y="2138655"/>
            <a:ext cx="6381750" cy="392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4604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9"/>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a:t>User Interface Design Rules</a:t>
            </a:r>
            <a:endParaRPr sz="1900" b="1"/>
          </a:p>
        </p:txBody>
      </p:sp>
      <p:sp>
        <p:nvSpPr>
          <p:cNvPr id="589" name="Google Shape;589;p79"/>
          <p:cNvSpPr txBox="1">
            <a:spLocks noGrp="1"/>
          </p:cNvSpPr>
          <p:nvPr>
            <p:ph type="body" idx="1"/>
          </p:nvPr>
        </p:nvSpPr>
        <p:spPr>
          <a:xfrm>
            <a:off x="228275" y="900333"/>
            <a:ext cx="8526600" cy="3300400"/>
          </a:xfrm>
          <a:prstGeom prst="rect">
            <a:avLst/>
          </a:prstGeom>
          <a:noFill/>
          <a:ln>
            <a:noFill/>
          </a:ln>
        </p:spPr>
        <p:txBody>
          <a:bodyPr spcFirstLastPara="1" wrap="square" lIns="68575" tIns="34275" rIns="68575" bIns="34275" anchor="t" anchorCtr="0">
            <a:noAutofit/>
          </a:bodyPr>
          <a:lstStyle/>
          <a:p>
            <a:pPr marL="457200" lvl="0" indent="-368300" algn="just" rtl="0">
              <a:spcBef>
                <a:spcPts val="0"/>
              </a:spcBef>
              <a:spcAft>
                <a:spcPts val="0"/>
              </a:spcAft>
              <a:buClr>
                <a:srgbClr val="0070C0"/>
              </a:buClr>
              <a:buSzPts val="2200"/>
              <a:buFont typeface="Calibri"/>
              <a:buAutoNum type="arabicPeriod"/>
            </a:pPr>
            <a:r>
              <a:rPr lang="en-GB" sz="2200" b="1" dirty="0">
                <a:solidFill>
                  <a:srgbClr val="0070C0"/>
                </a:solidFill>
                <a:latin typeface="Calibri"/>
                <a:ea typeface="Calibri"/>
                <a:cs typeface="Calibri"/>
                <a:sym typeface="Calibri"/>
              </a:rPr>
              <a:t>Place user in control </a:t>
            </a:r>
            <a:endParaRPr sz="2200" b="1" dirty="0">
              <a:solidFill>
                <a:srgbClr val="0070C0"/>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A system or user interface </a:t>
            </a:r>
            <a:r>
              <a:rPr lang="en-GB" sz="2100" b="1" dirty="0">
                <a:solidFill>
                  <a:schemeClr val="dk1"/>
                </a:solidFill>
                <a:latin typeface="Calibri"/>
                <a:ea typeface="Calibri"/>
                <a:cs typeface="Calibri"/>
                <a:sym typeface="Calibri"/>
              </a:rPr>
              <a:t>should be designed keeping user in mind.</a:t>
            </a:r>
            <a:endParaRPr sz="2100" b="1" dirty="0">
              <a:solidFill>
                <a:schemeClr val="dk1"/>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r>
              <a:rPr lang="en-GB" sz="2100" dirty="0">
                <a:solidFill>
                  <a:schemeClr val="dk1"/>
                </a:solidFill>
                <a:latin typeface="Calibri"/>
                <a:ea typeface="Calibri"/>
                <a:cs typeface="Calibri"/>
                <a:sym typeface="Calibri"/>
              </a:rPr>
              <a:t>Interface designed should be </a:t>
            </a:r>
            <a:r>
              <a:rPr lang="en-GB" sz="2100" b="1" dirty="0">
                <a:solidFill>
                  <a:schemeClr val="dk1"/>
                </a:solidFill>
                <a:latin typeface="Calibri"/>
                <a:ea typeface="Calibri"/>
                <a:cs typeface="Calibri"/>
                <a:sym typeface="Calibri"/>
              </a:rPr>
              <a:t>easy to use and build</a:t>
            </a:r>
            <a:r>
              <a:rPr lang="en-GB" sz="2100" b="1" dirty="0" smtClean="0">
                <a:solidFill>
                  <a:schemeClr val="dk1"/>
                </a:solidFill>
                <a:latin typeface="Calibri"/>
                <a:ea typeface="Calibri"/>
                <a:cs typeface="Calibri"/>
                <a:sym typeface="Calibri"/>
              </a:rPr>
              <a:t>.</a:t>
            </a:r>
          </a:p>
          <a:p>
            <a:pPr marL="0" lvl="0" indent="0" algn="just">
              <a:spcBef>
                <a:spcPts val="0"/>
              </a:spcBef>
              <a:buSzPts val="1100"/>
              <a:buNone/>
            </a:pPr>
            <a:endParaRPr lang="en-US" sz="2000" b="1" dirty="0" smtClean="0">
              <a:solidFill>
                <a:srgbClr val="0070C0"/>
              </a:solidFill>
              <a:latin typeface="Calibri"/>
              <a:ea typeface="Calibri"/>
              <a:cs typeface="Calibri"/>
              <a:sym typeface="Calibri"/>
            </a:endParaRPr>
          </a:p>
          <a:p>
            <a:pPr marL="457200" lvl="0" indent="-361950" algn="just" rtl="0">
              <a:spcBef>
                <a:spcPts val="0"/>
              </a:spcBef>
              <a:spcAft>
                <a:spcPts val="0"/>
              </a:spcAft>
              <a:buClr>
                <a:schemeClr val="dk1"/>
              </a:buClr>
              <a:buSzPts val="2100"/>
              <a:buFont typeface="Calibri"/>
              <a:buChar char="●"/>
            </a:pPr>
            <a:endParaRPr sz="2100" b="1" dirty="0">
              <a:solidFill>
                <a:schemeClr val="dk1"/>
              </a:solidFill>
              <a:latin typeface="Calibri"/>
              <a:ea typeface="Calibri"/>
              <a:cs typeface="Calibri"/>
              <a:sym typeface="Calibri"/>
            </a:endParaRPr>
          </a:p>
          <a:p>
            <a:pPr marL="0" lvl="0" indent="0" algn="just" rtl="0">
              <a:spcBef>
                <a:spcPts val="0"/>
              </a:spcBef>
              <a:spcAft>
                <a:spcPts val="0"/>
              </a:spcAft>
              <a:buNone/>
            </a:pPr>
            <a:endParaRPr sz="2200" b="1" dirty="0">
              <a:solidFill>
                <a:srgbClr val="0070C0"/>
              </a:solidFill>
              <a:latin typeface="Calibri"/>
              <a:ea typeface="Calibri"/>
              <a:cs typeface="Calibri"/>
              <a:sym typeface="Calibri"/>
            </a:endParaRPr>
          </a:p>
          <a:p>
            <a:pPr marL="914400" lvl="0" indent="0" algn="just" rtl="0">
              <a:spcBef>
                <a:spcPts val="1000"/>
              </a:spcBef>
              <a:spcAft>
                <a:spcPts val="0"/>
              </a:spcAft>
              <a:buClr>
                <a:schemeClr val="dk1"/>
              </a:buClr>
              <a:buSzPts val="1100"/>
              <a:buNone/>
            </a:pPr>
            <a:endParaRPr sz="2200" dirty="0">
              <a:solidFill>
                <a:schemeClr val="dk1"/>
              </a:solidFill>
              <a:latin typeface="Calibri"/>
              <a:ea typeface="Calibri"/>
              <a:cs typeface="Calibri"/>
              <a:sym typeface="Calibri"/>
            </a:endParaRPr>
          </a:p>
          <a:p>
            <a:pPr marL="457200" lvl="0" indent="0" algn="just" rtl="0">
              <a:spcBef>
                <a:spcPts val="0"/>
              </a:spcBef>
              <a:spcAft>
                <a:spcPts val="0"/>
              </a:spcAft>
              <a:buClr>
                <a:schemeClr val="dk1"/>
              </a:buClr>
              <a:buSzPts val="1100"/>
              <a:buNone/>
            </a:pPr>
            <a:endParaRPr sz="22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1829" dirty="0">
              <a:solidFill>
                <a:schemeClr val="dk1"/>
              </a:solidFill>
              <a:latin typeface="Calibri"/>
              <a:ea typeface="Calibri"/>
              <a:cs typeface="Calibri"/>
              <a:sym typeface="Calibri"/>
            </a:endParaRPr>
          </a:p>
        </p:txBody>
      </p:sp>
      <p:sp>
        <p:nvSpPr>
          <p:cNvPr id="590" name="Google Shape;590;p79"/>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91" name="Google Shape;591;p79"/>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34</a:t>
            </a:fld>
            <a:endParaRP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141" y="2545961"/>
            <a:ext cx="5533018" cy="2753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191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80"/>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a:t>User Interface Design</a:t>
            </a:r>
            <a:endParaRPr sz="1900" b="1"/>
          </a:p>
        </p:txBody>
      </p:sp>
      <p:sp>
        <p:nvSpPr>
          <p:cNvPr id="597" name="Google Shape;597;p80"/>
          <p:cNvSpPr txBox="1">
            <a:spLocks noGrp="1"/>
          </p:cNvSpPr>
          <p:nvPr>
            <p:ph type="body" idx="1"/>
          </p:nvPr>
        </p:nvSpPr>
        <p:spPr>
          <a:xfrm>
            <a:off x="228275" y="900332"/>
            <a:ext cx="8520189" cy="5048948"/>
          </a:xfrm>
          <a:prstGeom prst="rect">
            <a:avLst/>
          </a:prstGeom>
          <a:noFill/>
          <a:ln>
            <a:noFill/>
          </a:ln>
        </p:spPr>
        <p:txBody>
          <a:bodyPr spcFirstLastPara="1" wrap="square" lIns="68575" tIns="34275" rIns="68575" bIns="34275" anchor="t" anchorCtr="0">
            <a:noAutofit/>
          </a:bodyPr>
          <a:lstStyle/>
          <a:p>
            <a:pPr marL="0" lvl="0" indent="0" algn="just">
              <a:spcBef>
                <a:spcPts val="0"/>
              </a:spcBef>
              <a:buSzPts val="1100"/>
              <a:buNone/>
            </a:pPr>
            <a:r>
              <a:rPr lang="en-US" sz="2400" b="1" dirty="0">
                <a:solidFill>
                  <a:srgbClr val="0070C0"/>
                </a:solidFill>
                <a:latin typeface="Calibri"/>
                <a:ea typeface="Calibri"/>
                <a:cs typeface="Calibri"/>
                <a:sym typeface="Calibri"/>
              </a:rPr>
              <a:t>Design principles that allow the user to maintain control:</a:t>
            </a:r>
          </a:p>
          <a:p>
            <a:pPr lvl="0" indent="-368300" algn="just">
              <a:spcBef>
                <a:spcPts val="0"/>
              </a:spcBef>
              <a:buClr>
                <a:srgbClr val="0070C0"/>
              </a:buClr>
              <a:buSzPts val="2200"/>
              <a:buFont typeface="Calibri"/>
              <a:buChar char="●"/>
            </a:pPr>
            <a:r>
              <a:rPr lang="en-US" sz="2400" b="1" dirty="0">
                <a:solidFill>
                  <a:srgbClr val="0070C0"/>
                </a:solidFill>
                <a:latin typeface="Calibri"/>
                <a:ea typeface="Calibri"/>
                <a:cs typeface="Calibri"/>
                <a:sym typeface="Calibri"/>
              </a:rPr>
              <a:t>Define interaction modes in a way that does not force a user into unnecessary or undesired actions.</a:t>
            </a:r>
          </a:p>
          <a:p>
            <a:pPr lvl="0" indent="0" algn="just">
              <a:spcBef>
                <a:spcPts val="0"/>
              </a:spcBef>
              <a:buSzPts val="1100"/>
              <a:buNone/>
            </a:pPr>
            <a:r>
              <a:rPr lang="en-US" sz="1800" dirty="0">
                <a:sym typeface="Calibri"/>
              </a:rPr>
              <a:t>Example: Spell Checking mode</a:t>
            </a:r>
          </a:p>
          <a:p>
            <a:pPr lvl="0" indent="-368300" algn="just">
              <a:spcBef>
                <a:spcPts val="0"/>
              </a:spcBef>
              <a:buSzPts val="2200"/>
              <a:buFont typeface="Calibri"/>
              <a:buChar char="●"/>
            </a:pPr>
            <a:endParaRPr lang="en-US" sz="2400" b="1" dirty="0" smtClean="0">
              <a:solidFill>
                <a:srgbClr val="0070C0"/>
              </a:solidFill>
              <a:latin typeface="Calibri"/>
              <a:ea typeface="Calibri"/>
              <a:cs typeface="Calibri"/>
              <a:sym typeface="Calibri"/>
            </a:endParaRPr>
          </a:p>
          <a:p>
            <a:pPr lvl="0" indent="-368300" algn="just">
              <a:spcBef>
                <a:spcPts val="0"/>
              </a:spcBef>
              <a:buSzPts val="2200"/>
              <a:buFont typeface="Calibri"/>
              <a:buChar char="●"/>
            </a:pPr>
            <a:r>
              <a:rPr lang="en-US" sz="2400" b="1" dirty="0" smtClean="0">
                <a:solidFill>
                  <a:srgbClr val="0070C0"/>
                </a:solidFill>
                <a:latin typeface="Calibri"/>
                <a:ea typeface="Calibri"/>
                <a:cs typeface="Calibri"/>
                <a:sym typeface="Calibri"/>
              </a:rPr>
              <a:t>Provide </a:t>
            </a:r>
            <a:r>
              <a:rPr lang="en-US" sz="2400" b="1" dirty="0">
                <a:solidFill>
                  <a:srgbClr val="0070C0"/>
                </a:solidFill>
                <a:latin typeface="Calibri"/>
                <a:ea typeface="Calibri"/>
                <a:cs typeface="Calibri"/>
                <a:sym typeface="Calibri"/>
              </a:rPr>
              <a:t>for flexible interaction. </a:t>
            </a:r>
            <a:r>
              <a:rPr lang="en-US" sz="2400" dirty="0">
                <a:solidFill>
                  <a:schemeClr val="dk1"/>
                </a:solidFill>
                <a:latin typeface="Calibri"/>
                <a:ea typeface="Calibri"/>
                <a:cs typeface="Calibri"/>
                <a:sym typeface="Calibri"/>
              </a:rPr>
              <a:t>Because different </a:t>
            </a:r>
            <a:r>
              <a:rPr lang="en-US" sz="2400" b="1" dirty="0">
                <a:solidFill>
                  <a:schemeClr val="dk1"/>
                </a:solidFill>
                <a:latin typeface="Calibri"/>
                <a:ea typeface="Calibri"/>
                <a:cs typeface="Calibri"/>
                <a:sym typeface="Calibri"/>
              </a:rPr>
              <a:t>users have different interaction preferences</a:t>
            </a:r>
            <a:r>
              <a:rPr lang="en-US" sz="2400" dirty="0">
                <a:solidFill>
                  <a:schemeClr val="dk1"/>
                </a:solidFill>
                <a:latin typeface="Calibri"/>
                <a:ea typeface="Calibri"/>
                <a:cs typeface="Calibri"/>
                <a:sym typeface="Calibri"/>
              </a:rPr>
              <a:t>, choices should be provided.</a:t>
            </a:r>
          </a:p>
          <a:p>
            <a:pPr indent="0" algn="just">
              <a:spcBef>
                <a:spcPts val="0"/>
              </a:spcBef>
              <a:buSzPts val="1100"/>
              <a:buNone/>
            </a:pPr>
            <a:r>
              <a:rPr lang="en-US" sz="1800" dirty="0">
                <a:sym typeface="Calibri"/>
              </a:rPr>
              <a:t>Example: software might allow a user to interact via keyboard commands, mouse movement, a digitizer pen etc.</a:t>
            </a:r>
          </a:p>
          <a:p>
            <a:pPr marL="457200" lvl="0" indent="-368300" algn="just" rtl="0">
              <a:spcBef>
                <a:spcPts val="1000"/>
              </a:spcBef>
              <a:spcAft>
                <a:spcPts val="0"/>
              </a:spcAft>
              <a:buClr>
                <a:srgbClr val="0070C0"/>
              </a:buClr>
              <a:buSzPts val="2200"/>
              <a:buFont typeface="Calibri"/>
              <a:buChar char="●"/>
            </a:pPr>
            <a:r>
              <a:rPr lang="en-GB" sz="2200" b="1" dirty="0" smtClean="0">
                <a:solidFill>
                  <a:srgbClr val="0070C0"/>
                </a:solidFill>
                <a:latin typeface="Calibri"/>
                <a:ea typeface="Calibri"/>
                <a:cs typeface="Calibri"/>
                <a:sym typeface="Calibri"/>
              </a:rPr>
              <a:t>Allow </a:t>
            </a:r>
            <a:r>
              <a:rPr lang="en-GB" sz="2200" b="1" dirty="0">
                <a:solidFill>
                  <a:srgbClr val="0070C0"/>
                </a:solidFill>
                <a:latin typeface="Calibri"/>
                <a:ea typeface="Calibri"/>
                <a:cs typeface="Calibri"/>
                <a:sym typeface="Calibri"/>
              </a:rPr>
              <a:t>user interaction to be interruptible and undoable.</a:t>
            </a:r>
            <a:endParaRPr sz="2200" b="1" dirty="0">
              <a:solidFill>
                <a:srgbClr val="0070C0"/>
              </a:solidFill>
              <a:latin typeface="Calibri"/>
              <a:ea typeface="Calibri"/>
              <a:cs typeface="Calibri"/>
              <a:sym typeface="Calibri"/>
            </a:endParaRPr>
          </a:p>
          <a:p>
            <a:pPr marL="88900" lvl="0" indent="0" algn="just" rtl="0">
              <a:spcBef>
                <a:spcPts val="0"/>
              </a:spcBef>
              <a:spcAft>
                <a:spcPts val="0"/>
              </a:spcAft>
              <a:buClr>
                <a:srgbClr val="0070C0"/>
              </a:buClr>
              <a:buSzPts val="2200"/>
              <a:buNone/>
            </a:pPr>
            <a:r>
              <a:rPr lang="en-GB" sz="1800" dirty="0">
                <a:sym typeface="Calibri"/>
              </a:rPr>
              <a:t>        Ex: user can perform </a:t>
            </a:r>
            <a:r>
              <a:rPr lang="en-GB" sz="1800" dirty="0" smtClean="0">
                <a:sym typeface="Calibri"/>
              </a:rPr>
              <a:t>interrupt </a:t>
            </a:r>
            <a:r>
              <a:rPr lang="en-GB" sz="1800" dirty="0">
                <a:sym typeface="Calibri"/>
              </a:rPr>
              <a:t>the </a:t>
            </a:r>
            <a:r>
              <a:rPr lang="en-GB" sz="1800" dirty="0" smtClean="0">
                <a:sym typeface="Calibri"/>
              </a:rPr>
              <a:t>sequence </a:t>
            </a:r>
            <a:r>
              <a:rPr lang="en-GB" sz="1800" dirty="0">
                <a:sym typeface="Calibri"/>
              </a:rPr>
              <a:t>to do another work.</a:t>
            </a:r>
          </a:p>
          <a:p>
            <a:pPr marL="457200" lvl="0" indent="-368300" algn="just" rtl="0">
              <a:spcBef>
                <a:spcPts val="0"/>
              </a:spcBef>
              <a:spcAft>
                <a:spcPts val="0"/>
              </a:spcAft>
              <a:buClr>
                <a:srgbClr val="0070C0"/>
              </a:buClr>
              <a:buSzPts val="2200"/>
              <a:buFont typeface="Calibri"/>
              <a:buChar char="●"/>
            </a:pPr>
            <a:r>
              <a:rPr lang="en-GB" sz="2200" b="1" dirty="0" smtClean="0">
                <a:solidFill>
                  <a:srgbClr val="0070C0"/>
                </a:solidFill>
                <a:latin typeface="Calibri"/>
                <a:ea typeface="Calibri"/>
                <a:cs typeface="Calibri"/>
                <a:sym typeface="Calibri"/>
              </a:rPr>
              <a:t>Hide </a:t>
            </a:r>
            <a:r>
              <a:rPr lang="en-GB" sz="2200" b="1" dirty="0">
                <a:solidFill>
                  <a:srgbClr val="0070C0"/>
                </a:solidFill>
                <a:latin typeface="Calibri"/>
                <a:ea typeface="Calibri"/>
                <a:cs typeface="Calibri"/>
                <a:sym typeface="Calibri"/>
              </a:rPr>
              <a:t>technical internals from the casual user.</a:t>
            </a:r>
            <a:endParaRPr sz="2200" b="1" dirty="0">
              <a:solidFill>
                <a:srgbClr val="0070C0"/>
              </a:solidFill>
              <a:latin typeface="Calibri"/>
              <a:ea typeface="Calibri"/>
              <a:cs typeface="Calibri"/>
              <a:sym typeface="Calibri"/>
            </a:endParaRPr>
          </a:p>
          <a:p>
            <a:pPr marL="88900" lvl="0" indent="0" algn="just">
              <a:spcBef>
                <a:spcPts val="0"/>
              </a:spcBef>
              <a:buClr>
                <a:srgbClr val="0070C0"/>
              </a:buClr>
              <a:buSzPts val="2200"/>
              <a:buNone/>
            </a:pPr>
            <a:r>
              <a:rPr lang="en-US" sz="1600" dirty="0" smtClean="0"/>
              <a:t>     Example</a:t>
            </a:r>
            <a:r>
              <a:rPr lang="en-US" sz="1600" dirty="0"/>
              <a:t>: In a file management application, users typically interact with a </a:t>
            </a:r>
            <a:r>
              <a:rPr lang="en-US" sz="1600" dirty="0" smtClean="0"/>
              <a:t>GUI </a:t>
            </a:r>
            <a:r>
              <a:rPr lang="en-US" sz="1600" dirty="0"/>
              <a:t>where they can drag and drop files into folders. The application handles all the technical details, such as file paths and system permissions, in the </a:t>
            </a:r>
            <a:r>
              <a:rPr lang="en-US" sz="1600" dirty="0" smtClean="0"/>
              <a:t>background.</a:t>
            </a:r>
          </a:p>
          <a:p>
            <a:pPr marL="431800" algn="just">
              <a:spcBef>
                <a:spcPts val="0"/>
              </a:spcBef>
              <a:buClr>
                <a:srgbClr val="0070C0"/>
              </a:buClr>
              <a:buSzPts val="2200"/>
            </a:pPr>
            <a:endParaRPr lang="en-US" sz="1200" b="1" dirty="0">
              <a:solidFill>
                <a:srgbClr val="0070C0"/>
              </a:solidFill>
              <a:ea typeface="Calibri"/>
              <a:cs typeface="Calibri"/>
              <a:sym typeface="Calibri"/>
            </a:endParaRPr>
          </a:p>
          <a:p>
            <a:pPr marL="431800" algn="just">
              <a:spcBef>
                <a:spcPts val="0"/>
              </a:spcBef>
              <a:buClr>
                <a:srgbClr val="0070C0"/>
              </a:buClr>
              <a:buSzPts val="2200"/>
            </a:pPr>
            <a:r>
              <a:rPr lang="en-US" sz="2200" b="1" dirty="0" smtClean="0">
                <a:solidFill>
                  <a:srgbClr val="0070C0"/>
                </a:solidFill>
                <a:ea typeface="Calibri"/>
                <a:cs typeface="Calibri"/>
                <a:sym typeface="Calibri"/>
              </a:rPr>
              <a:t>Design </a:t>
            </a:r>
            <a:r>
              <a:rPr lang="en-US" sz="2200" b="1" dirty="0">
                <a:solidFill>
                  <a:srgbClr val="0070C0"/>
                </a:solidFill>
                <a:ea typeface="Calibri"/>
                <a:cs typeface="Calibri"/>
                <a:sym typeface="Calibri"/>
              </a:rPr>
              <a:t>for direct interaction with objects that appear on the screen.</a:t>
            </a:r>
          </a:p>
          <a:p>
            <a:pPr marL="457200" lvl="0" indent="0" algn="just" rtl="0">
              <a:spcBef>
                <a:spcPts val="0"/>
              </a:spcBef>
              <a:spcAft>
                <a:spcPts val="0"/>
              </a:spcAft>
              <a:buClr>
                <a:schemeClr val="dk1"/>
              </a:buClr>
              <a:buSzPts val="1100"/>
              <a:buFont typeface="Arial"/>
              <a:buNone/>
            </a:pPr>
            <a:endParaRPr sz="2200" b="1" dirty="0">
              <a:solidFill>
                <a:srgbClr val="0070C0"/>
              </a:solidFill>
              <a:latin typeface="Calibri"/>
              <a:ea typeface="Calibri"/>
              <a:cs typeface="Calibri"/>
              <a:sym typeface="Calibri"/>
            </a:endParaRPr>
          </a:p>
        </p:txBody>
      </p:sp>
      <p:sp>
        <p:nvSpPr>
          <p:cNvPr id="598" name="Google Shape;598;p80"/>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599" name="Google Shape;599;p80"/>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35</a:t>
            </a:fld>
            <a:endParaRPr/>
          </a:p>
        </p:txBody>
      </p:sp>
    </p:spTree>
    <p:extLst>
      <p:ext uri="{BB962C8B-B14F-4D97-AF65-F5344CB8AC3E}">
        <p14:creationId xmlns:p14="http://schemas.microsoft.com/office/powerpoint/2010/main" val="419330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7">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81"/>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a:t>User Interface Design Rules</a:t>
            </a:r>
            <a:endParaRPr sz="1900" b="1"/>
          </a:p>
        </p:txBody>
      </p:sp>
      <p:sp>
        <p:nvSpPr>
          <p:cNvPr id="605" name="Google Shape;605;p81"/>
          <p:cNvSpPr txBox="1">
            <a:spLocks noGrp="1"/>
          </p:cNvSpPr>
          <p:nvPr>
            <p:ph type="body" idx="1"/>
          </p:nvPr>
        </p:nvSpPr>
        <p:spPr>
          <a:xfrm>
            <a:off x="228275" y="758200"/>
            <a:ext cx="8526600" cy="33004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GB" sz="2300" b="1" dirty="0">
                <a:solidFill>
                  <a:srgbClr val="0070C0"/>
                </a:solidFill>
                <a:latin typeface="Calibri"/>
                <a:ea typeface="Calibri"/>
                <a:cs typeface="Calibri"/>
                <a:sym typeface="Calibri"/>
              </a:rPr>
              <a:t>2. Reduce the users’ memory load: </a:t>
            </a:r>
            <a:endParaRPr sz="3000" b="1" dirty="0">
              <a:solidFill>
                <a:srgbClr val="0070C0"/>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The </a:t>
            </a:r>
            <a:r>
              <a:rPr lang="en-GB" sz="2200" b="1" dirty="0">
                <a:solidFill>
                  <a:schemeClr val="dk1"/>
                </a:solidFill>
                <a:latin typeface="Calibri"/>
                <a:ea typeface="Calibri"/>
                <a:cs typeface="Calibri"/>
                <a:sym typeface="Calibri"/>
              </a:rPr>
              <a:t>more a user has to remember</a:t>
            </a:r>
            <a:r>
              <a:rPr lang="en-GB" sz="2200" dirty="0">
                <a:solidFill>
                  <a:schemeClr val="dk1"/>
                </a:solidFill>
                <a:latin typeface="Calibri"/>
                <a:ea typeface="Calibri"/>
                <a:cs typeface="Calibri"/>
                <a:sym typeface="Calibri"/>
              </a:rPr>
              <a:t>, the </a:t>
            </a:r>
            <a:r>
              <a:rPr lang="en-GB" sz="2200" b="1" dirty="0">
                <a:solidFill>
                  <a:schemeClr val="dk1"/>
                </a:solidFill>
                <a:latin typeface="Calibri"/>
                <a:ea typeface="Calibri"/>
                <a:cs typeface="Calibri"/>
                <a:sym typeface="Calibri"/>
              </a:rPr>
              <a:t>more error-prone the interaction </a:t>
            </a:r>
            <a:r>
              <a:rPr lang="en-GB" sz="2200" dirty="0">
                <a:solidFill>
                  <a:schemeClr val="dk1"/>
                </a:solidFill>
                <a:latin typeface="Calibri"/>
                <a:ea typeface="Calibri"/>
                <a:cs typeface="Calibri"/>
                <a:sym typeface="Calibri"/>
              </a:rPr>
              <a:t>with the system will be.</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well-designed user interface does not </a:t>
            </a:r>
            <a:r>
              <a:rPr lang="en-GB" sz="2200" dirty="0" err="1">
                <a:solidFill>
                  <a:schemeClr val="dk1"/>
                </a:solidFill>
                <a:latin typeface="Calibri"/>
                <a:ea typeface="Calibri"/>
                <a:cs typeface="Calibri"/>
                <a:sym typeface="Calibri"/>
              </a:rPr>
              <a:t>burdon</a:t>
            </a:r>
            <a:r>
              <a:rPr lang="en-GB" sz="2200" dirty="0">
                <a:solidFill>
                  <a:schemeClr val="dk1"/>
                </a:solidFill>
                <a:latin typeface="Calibri"/>
                <a:ea typeface="Calibri"/>
                <a:cs typeface="Calibri"/>
                <a:sym typeface="Calibri"/>
              </a:rPr>
              <a:t> the user’s </a:t>
            </a:r>
            <a:r>
              <a:rPr lang="en-GB" sz="2200" dirty="0" smtClean="0">
                <a:solidFill>
                  <a:schemeClr val="dk1"/>
                </a:solidFill>
                <a:latin typeface="Calibri"/>
                <a:ea typeface="Calibri"/>
                <a:cs typeface="Calibri"/>
                <a:sym typeface="Calibri"/>
              </a:rPr>
              <a:t>memory</a:t>
            </a:r>
          </a:p>
          <a:p>
            <a:pPr lvl="0" indent="-368300" algn="just">
              <a:spcBef>
                <a:spcPts val="0"/>
              </a:spcBef>
              <a:buSzPts val="2200"/>
              <a:buFont typeface="Calibri"/>
              <a:buChar char="●"/>
            </a:pPr>
            <a:r>
              <a:rPr lang="en-US" sz="2200" dirty="0">
                <a:solidFill>
                  <a:schemeClr val="dk1"/>
                </a:solidFill>
                <a:latin typeface="Calibri"/>
                <a:ea typeface="Calibri"/>
                <a:cs typeface="Calibri"/>
                <a:sym typeface="Calibri"/>
              </a:rPr>
              <a:t>It focuses on minimizing the amount of information users need to remember when interacting with a product.</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design an interface that to reduce the users’ memory load:</a:t>
            </a:r>
            <a:endParaRPr sz="2200" dirty="0">
              <a:solidFill>
                <a:schemeClr val="dk1"/>
              </a:solidFill>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GB" sz="2200" b="1" dirty="0">
                <a:solidFill>
                  <a:srgbClr val="0070C0"/>
                </a:solidFill>
                <a:latin typeface="Calibri"/>
                <a:ea typeface="Calibri"/>
                <a:cs typeface="Calibri"/>
                <a:sym typeface="Calibri"/>
              </a:rPr>
              <a:t>Reduce demand on short-term memory </a:t>
            </a:r>
            <a:r>
              <a:rPr lang="en-GB" sz="2200" b="1" dirty="0">
                <a:solidFill>
                  <a:schemeClr val="dk1"/>
                </a:solidFill>
                <a:latin typeface="Calibri"/>
                <a:ea typeface="Calibri"/>
                <a:cs typeface="Calibri"/>
                <a:sym typeface="Calibri"/>
              </a:rPr>
              <a:t>– </a:t>
            </a:r>
            <a:r>
              <a:rPr lang="en-GB" sz="2200" dirty="0">
                <a:solidFill>
                  <a:schemeClr val="dk1"/>
                </a:solidFill>
                <a:latin typeface="Calibri"/>
                <a:ea typeface="Calibri"/>
                <a:cs typeface="Calibri"/>
                <a:sym typeface="Calibri"/>
              </a:rPr>
              <a:t>complex tasks demand on short term memory is high - interface designed to reduce dependency.</a:t>
            </a:r>
            <a:endParaRPr sz="2200" dirty="0">
              <a:solidFill>
                <a:schemeClr val="dk1"/>
              </a:solidFill>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GB" sz="2200" b="1" dirty="0">
                <a:solidFill>
                  <a:srgbClr val="0070C0"/>
                </a:solidFill>
                <a:latin typeface="Calibri"/>
                <a:ea typeface="Calibri"/>
                <a:cs typeface="Calibri"/>
                <a:sym typeface="Calibri"/>
              </a:rPr>
              <a:t>Establish meaningful defaults </a:t>
            </a:r>
            <a:r>
              <a:rPr lang="en-GB" sz="2200" b="1" dirty="0">
                <a:solidFill>
                  <a:schemeClr val="dk1"/>
                </a:solidFill>
                <a:latin typeface="Calibri"/>
                <a:ea typeface="Calibri"/>
                <a:cs typeface="Calibri"/>
                <a:sym typeface="Calibri"/>
              </a:rPr>
              <a:t>- </a:t>
            </a:r>
            <a:r>
              <a:rPr lang="en-GB" sz="2200" dirty="0">
                <a:solidFill>
                  <a:schemeClr val="dk1"/>
                </a:solidFill>
                <a:latin typeface="Calibri"/>
                <a:ea typeface="Calibri"/>
                <a:cs typeface="Calibri"/>
                <a:sym typeface="Calibri"/>
              </a:rPr>
              <a:t>“reset” option should be available for enabling original default values.</a:t>
            </a:r>
            <a:endParaRPr sz="2200" dirty="0">
              <a:solidFill>
                <a:schemeClr val="dk1"/>
              </a:solidFill>
              <a:latin typeface="Calibri"/>
              <a:ea typeface="Calibri"/>
              <a:cs typeface="Calibri"/>
              <a:sym typeface="Calibri"/>
            </a:endParaRPr>
          </a:p>
          <a:p>
            <a:pPr marL="914400" lvl="1"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Defines short cuts that are more intuitive (easy to remember) </a:t>
            </a:r>
            <a:endParaRPr sz="2200" dirty="0">
              <a:solidFill>
                <a:schemeClr val="dk1"/>
              </a:solidFill>
              <a:latin typeface="Calibri"/>
              <a:ea typeface="Calibri"/>
              <a:cs typeface="Calibri"/>
              <a:sym typeface="Calibri"/>
            </a:endParaRPr>
          </a:p>
          <a:p>
            <a:pPr marL="914400" lvl="1"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Ctrl- s,  Ctrl-p , alt-p</a:t>
            </a:r>
            <a:endParaRPr sz="2200" dirty="0">
              <a:solidFill>
                <a:schemeClr val="dk1"/>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1829" dirty="0">
              <a:solidFill>
                <a:schemeClr val="dk1"/>
              </a:solidFill>
              <a:latin typeface="Calibri"/>
              <a:ea typeface="Calibri"/>
              <a:cs typeface="Calibri"/>
              <a:sym typeface="Calibri"/>
            </a:endParaRPr>
          </a:p>
        </p:txBody>
      </p:sp>
      <p:sp>
        <p:nvSpPr>
          <p:cNvPr id="607" name="Google Shape;607;p81"/>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36</a:t>
            </a:fld>
            <a:endParaRPr/>
          </a:p>
        </p:txBody>
      </p:sp>
    </p:spTree>
    <p:extLst>
      <p:ext uri="{BB962C8B-B14F-4D97-AF65-F5344CB8AC3E}">
        <p14:creationId xmlns:p14="http://schemas.microsoft.com/office/powerpoint/2010/main" val="248303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82"/>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a:t>User Interface Design Rules</a:t>
            </a:r>
            <a:endParaRPr sz="1900" b="1"/>
          </a:p>
        </p:txBody>
      </p:sp>
      <p:sp>
        <p:nvSpPr>
          <p:cNvPr id="613" name="Google Shape;613;p82"/>
          <p:cNvSpPr txBox="1">
            <a:spLocks noGrp="1"/>
          </p:cNvSpPr>
          <p:nvPr>
            <p:ph type="body" idx="1"/>
          </p:nvPr>
        </p:nvSpPr>
        <p:spPr>
          <a:xfrm>
            <a:off x="228275" y="758200"/>
            <a:ext cx="8505178" cy="5176069"/>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GB" sz="2000" b="1" dirty="0" smtClean="0">
                <a:solidFill>
                  <a:srgbClr val="0070C0"/>
                </a:solidFill>
                <a:latin typeface="Calibri"/>
                <a:ea typeface="Calibri"/>
                <a:cs typeface="Calibri"/>
                <a:sym typeface="Calibri"/>
              </a:rPr>
              <a:t>Reduce </a:t>
            </a:r>
            <a:r>
              <a:rPr lang="en-GB" sz="2000" b="1" dirty="0">
                <a:solidFill>
                  <a:srgbClr val="0070C0"/>
                </a:solidFill>
                <a:latin typeface="Calibri"/>
                <a:ea typeface="Calibri"/>
                <a:cs typeface="Calibri"/>
                <a:sym typeface="Calibri"/>
              </a:rPr>
              <a:t>the users’ memory load: </a:t>
            </a:r>
            <a:endParaRPr lang="en-GB" sz="2000" b="1" dirty="0" smtClean="0">
              <a:solidFill>
                <a:srgbClr val="0070C0"/>
              </a:solidFill>
              <a:latin typeface="Calibri"/>
              <a:ea typeface="Calibri"/>
              <a:cs typeface="Calibri"/>
              <a:sym typeface="Calibri"/>
            </a:endParaRPr>
          </a:p>
          <a:p>
            <a:pPr lvl="1" indent="-368300" algn="just">
              <a:spcBef>
                <a:spcPts val="0"/>
              </a:spcBef>
              <a:buSzPts val="2200"/>
              <a:buFont typeface="Calibri"/>
              <a:buChar char="○"/>
            </a:pPr>
            <a:r>
              <a:rPr lang="en-US" sz="1600" b="1" dirty="0">
                <a:solidFill>
                  <a:schemeClr val="tx1"/>
                </a:solidFill>
                <a:latin typeface="Calibri"/>
                <a:ea typeface="Calibri"/>
                <a:cs typeface="Calibri"/>
                <a:sym typeface="Calibri"/>
              </a:rPr>
              <a:t>Consistent Design Patterns</a:t>
            </a:r>
            <a:r>
              <a:rPr lang="en-US" sz="1600" dirty="0">
                <a:solidFill>
                  <a:schemeClr val="tx1"/>
                </a:solidFill>
                <a:latin typeface="Calibri"/>
                <a:ea typeface="Calibri"/>
                <a:cs typeface="Calibri"/>
                <a:sym typeface="Calibri"/>
              </a:rPr>
              <a:t>: Use familiar design patterns and elements across the interface. </a:t>
            </a:r>
            <a:endParaRPr lang="en-US" sz="1600" dirty="0" smtClean="0">
              <a:solidFill>
                <a:schemeClr val="tx1"/>
              </a:solidFill>
              <a:latin typeface="Calibri"/>
              <a:ea typeface="Calibri"/>
              <a:cs typeface="Calibri"/>
              <a:sym typeface="Calibri"/>
            </a:endParaRPr>
          </a:p>
          <a:p>
            <a:pPr marL="660400" lvl="1" algn="just">
              <a:spcBef>
                <a:spcPts val="0"/>
              </a:spcBef>
              <a:buSzPts val="2200"/>
            </a:pPr>
            <a:r>
              <a:rPr lang="en-US" sz="1600" dirty="0" smtClean="0">
                <a:solidFill>
                  <a:schemeClr val="tx1"/>
                </a:solidFill>
                <a:latin typeface="Calibri"/>
                <a:ea typeface="Calibri"/>
                <a:cs typeface="Calibri"/>
                <a:sym typeface="Calibri"/>
              </a:rPr>
              <a:t>For </a:t>
            </a:r>
            <a:r>
              <a:rPr lang="en-US" sz="1600" dirty="0">
                <a:solidFill>
                  <a:schemeClr val="tx1"/>
                </a:solidFill>
                <a:latin typeface="Calibri"/>
                <a:ea typeface="Calibri"/>
                <a:cs typeface="Calibri"/>
                <a:sym typeface="Calibri"/>
              </a:rPr>
              <a:t>example, if a user learns how to use one part of an app, they should be able to apply that knowledge to other parts of the app without needing to learn new patterns</a:t>
            </a:r>
            <a:r>
              <a:rPr lang="en-US" sz="1600" dirty="0" smtClean="0">
                <a:solidFill>
                  <a:schemeClr val="tx1"/>
                </a:solidFill>
                <a:latin typeface="Calibri"/>
                <a:ea typeface="Calibri"/>
                <a:cs typeface="Calibri"/>
                <a:sym typeface="Calibri"/>
              </a:rPr>
              <a:t>.</a:t>
            </a:r>
          </a:p>
          <a:p>
            <a:pPr marL="660400" lvl="1" algn="just">
              <a:spcBef>
                <a:spcPts val="0"/>
              </a:spcBef>
              <a:buSzPts val="2200"/>
            </a:pPr>
            <a:r>
              <a:rPr lang="en-US" sz="1600" dirty="0" smtClean="0">
                <a:solidFill>
                  <a:schemeClr val="tx1"/>
                </a:solidFill>
                <a:latin typeface="Calibri"/>
                <a:ea typeface="Calibri"/>
                <a:cs typeface="Calibri"/>
                <a:sym typeface="Calibri"/>
              </a:rPr>
              <a:t>Standard </a:t>
            </a:r>
            <a:r>
              <a:rPr lang="en-US" sz="1600" dirty="0">
                <a:solidFill>
                  <a:schemeClr val="tx1"/>
                </a:solidFill>
                <a:latin typeface="Calibri"/>
                <a:ea typeface="Calibri"/>
                <a:cs typeface="Calibri"/>
                <a:sym typeface="Calibri"/>
              </a:rPr>
              <a:t>Icons and Labels: Use standard icons (like a magnifying glass for search or a gear icon for settings) and labels that users are likely to </a:t>
            </a:r>
            <a:r>
              <a:rPr lang="en-US" sz="1600" dirty="0" smtClean="0">
                <a:solidFill>
                  <a:schemeClr val="tx1"/>
                </a:solidFill>
                <a:latin typeface="Calibri"/>
                <a:ea typeface="Calibri"/>
                <a:cs typeface="Calibri"/>
                <a:sym typeface="Calibri"/>
              </a:rPr>
              <a:t>recognize.</a:t>
            </a:r>
          </a:p>
          <a:p>
            <a:pPr marL="546100" lvl="1" indent="0" algn="just">
              <a:spcBef>
                <a:spcPts val="0"/>
              </a:spcBef>
              <a:buSzPts val="2200"/>
              <a:buNone/>
            </a:pPr>
            <a:endParaRPr lang="en-US" sz="1600" b="1" dirty="0">
              <a:latin typeface="Calibri"/>
              <a:ea typeface="Calibri"/>
              <a:cs typeface="Calibri"/>
            </a:endParaRPr>
          </a:p>
          <a:p>
            <a:pPr marL="831850" lvl="1" algn="just">
              <a:spcBef>
                <a:spcPts val="0"/>
              </a:spcBef>
              <a:buSzPts val="2200"/>
              <a:buFont typeface="Courier New" panose="02070309020205020404" pitchFamily="49" charset="0"/>
              <a:buChar char="o"/>
            </a:pPr>
            <a:r>
              <a:rPr lang="en-US" sz="1600" b="1" dirty="0" smtClean="0">
                <a:solidFill>
                  <a:schemeClr val="tx1"/>
                </a:solidFill>
                <a:latin typeface="Calibri"/>
                <a:ea typeface="Calibri"/>
                <a:cs typeface="Calibri"/>
              </a:rPr>
              <a:t>Visible </a:t>
            </a:r>
            <a:r>
              <a:rPr lang="en-US" sz="1600" b="1" dirty="0">
                <a:solidFill>
                  <a:schemeClr val="tx1"/>
                </a:solidFill>
                <a:latin typeface="Calibri"/>
                <a:ea typeface="Calibri"/>
                <a:cs typeface="Calibri"/>
              </a:rPr>
              <a:t>Information:</a:t>
            </a:r>
          </a:p>
          <a:p>
            <a:pPr marL="831850" lvl="1" indent="-285750" algn="just">
              <a:spcBef>
                <a:spcPts val="0"/>
              </a:spcBef>
              <a:buSzPts val="2200"/>
            </a:pPr>
            <a:r>
              <a:rPr lang="en-US" sz="1600" dirty="0">
                <a:solidFill>
                  <a:schemeClr val="tx1"/>
                </a:solidFill>
                <a:latin typeface="Calibri"/>
                <a:ea typeface="Calibri"/>
                <a:cs typeface="Calibri"/>
              </a:rPr>
              <a:t>Display Relevant Information: Keep essential information visible on the screen rather than requiring users to remember it. </a:t>
            </a:r>
            <a:endParaRPr lang="en-US" sz="1600" dirty="0" smtClean="0">
              <a:solidFill>
                <a:schemeClr val="tx1"/>
              </a:solidFill>
              <a:latin typeface="Calibri"/>
              <a:ea typeface="Calibri"/>
              <a:cs typeface="Calibri"/>
            </a:endParaRPr>
          </a:p>
          <a:p>
            <a:pPr marL="831850" lvl="1" indent="-285750" algn="just">
              <a:spcBef>
                <a:spcPts val="0"/>
              </a:spcBef>
              <a:buSzPts val="2200"/>
            </a:pPr>
            <a:r>
              <a:rPr lang="en-US" sz="1600" dirty="0" smtClean="0">
                <a:solidFill>
                  <a:schemeClr val="tx1"/>
                </a:solidFill>
                <a:latin typeface="Calibri"/>
                <a:ea typeface="Calibri"/>
                <a:cs typeface="Calibri"/>
              </a:rPr>
              <a:t>For </a:t>
            </a:r>
            <a:r>
              <a:rPr lang="en-US" sz="1600" dirty="0">
                <a:solidFill>
                  <a:schemeClr val="tx1"/>
                </a:solidFill>
                <a:latin typeface="Calibri"/>
                <a:ea typeface="Calibri"/>
                <a:cs typeface="Calibri"/>
              </a:rPr>
              <a:t>example, showing a shopping cart icon with the number of items currently in the cart prevents users from having to remember what they added</a:t>
            </a:r>
            <a:r>
              <a:rPr lang="en-US" sz="1600" dirty="0" smtClean="0">
                <a:solidFill>
                  <a:schemeClr val="tx1"/>
                </a:solidFill>
                <a:latin typeface="Calibri"/>
                <a:ea typeface="Calibri"/>
                <a:cs typeface="Calibri"/>
              </a:rPr>
              <a:t>.</a:t>
            </a:r>
          </a:p>
          <a:p>
            <a:pPr marL="831850" lvl="1" indent="-285750" algn="just">
              <a:spcBef>
                <a:spcPts val="0"/>
              </a:spcBef>
              <a:buSzPts val="2200"/>
            </a:pPr>
            <a:r>
              <a:rPr lang="en-US" sz="1600" dirty="0" smtClean="0">
                <a:solidFill>
                  <a:schemeClr val="tx1"/>
                </a:solidFill>
                <a:latin typeface="Calibri"/>
                <a:ea typeface="Calibri"/>
                <a:cs typeface="Calibri"/>
              </a:rPr>
              <a:t>Tooltips </a:t>
            </a:r>
            <a:r>
              <a:rPr lang="en-US" sz="1600" dirty="0">
                <a:solidFill>
                  <a:schemeClr val="tx1"/>
                </a:solidFill>
                <a:latin typeface="Calibri"/>
                <a:ea typeface="Calibri"/>
                <a:cs typeface="Calibri"/>
              </a:rPr>
              <a:t>and Hints: Provide tooltips, hints, or inline help that appear when users hover over or focus on elements.</a:t>
            </a:r>
            <a:endParaRPr lang="en-IN" sz="1600" dirty="0">
              <a:solidFill>
                <a:schemeClr val="tx1"/>
              </a:solidFill>
              <a:latin typeface="Calibri"/>
              <a:ea typeface="Calibri"/>
              <a:cs typeface="Calibri"/>
            </a:endParaRPr>
          </a:p>
          <a:p>
            <a:pPr marL="546100" lvl="1" indent="0" algn="just">
              <a:spcBef>
                <a:spcPts val="0"/>
              </a:spcBef>
              <a:buSzPts val="2200"/>
              <a:buNone/>
            </a:pPr>
            <a:endParaRPr lang="en-US" sz="2000" b="1" dirty="0" smtClean="0">
              <a:solidFill>
                <a:srgbClr val="0070C0"/>
              </a:solidFill>
              <a:latin typeface="Calibri"/>
              <a:ea typeface="Calibri"/>
              <a:cs typeface="Calibri"/>
              <a:sym typeface="Calibri"/>
            </a:endParaRPr>
          </a:p>
          <a:p>
            <a:pPr marL="546100" lvl="1" indent="0" algn="just">
              <a:spcBef>
                <a:spcPts val="0"/>
              </a:spcBef>
              <a:buSzPts val="2200"/>
              <a:buNone/>
            </a:pPr>
            <a:r>
              <a:rPr lang="en-US" sz="2000" b="1" dirty="0" smtClean="0">
                <a:solidFill>
                  <a:srgbClr val="0070C0"/>
                </a:solidFill>
                <a:latin typeface="Calibri"/>
                <a:ea typeface="Calibri"/>
                <a:cs typeface="Calibri"/>
                <a:sym typeface="Calibri"/>
              </a:rPr>
              <a:t>Disclose </a:t>
            </a:r>
            <a:r>
              <a:rPr lang="en-US" sz="2000" b="1" dirty="0">
                <a:solidFill>
                  <a:srgbClr val="0070C0"/>
                </a:solidFill>
                <a:latin typeface="Calibri"/>
                <a:ea typeface="Calibri"/>
                <a:cs typeface="Calibri"/>
                <a:sym typeface="Calibri"/>
              </a:rPr>
              <a:t>information in a progressive fashion </a:t>
            </a:r>
            <a:r>
              <a:rPr lang="en-US" sz="2000" b="1" dirty="0" smtClean="0">
                <a:solidFill>
                  <a:srgbClr val="0070C0"/>
                </a:solidFill>
                <a:latin typeface="Calibri"/>
                <a:ea typeface="Calibri"/>
                <a:cs typeface="Calibri"/>
                <a:sym typeface="Calibri"/>
              </a:rPr>
              <a:t>– </a:t>
            </a:r>
          </a:p>
          <a:p>
            <a:pPr marL="889000" lvl="1" indent="-342900" algn="just">
              <a:spcBef>
                <a:spcPts val="0"/>
              </a:spcBef>
              <a:buSzPts val="2200"/>
            </a:pPr>
            <a:r>
              <a:rPr lang="en-US" sz="2000" dirty="0" smtClean="0">
                <a:solidFill>
                  <a:schemeClr val="dk1"/>
                </a:solidFill>
                <a:latin typeface="Calibri"/>
                <a:ea typeface="Calibri"/>
                <a:cs typeface="Calibri"/>
                <a:sym typeface="Calibri"/>
              </a:rPr>
              <a:t>The </a:t>
            </a:r>
            <a:r>
              <a:rPr lang="en-US" sz="2000" dirty="0">
                <a:solidFill>
                  <a:schemeClr val="dk1"/>
                </a:solidFill>
                <a:latin typeface="Calibri"/>
                <a:ea typeface="Calibri"/>
                <a:cs typeface="Calibri"/>
                <a:sym typeface="Calibri"/>
              </a:rPr>
              <a:t>interface should be organized </a:t>
            </a:r>
            <a:r>
              <a:rPr lang="en-US" sz="2000" dirty="0" smtClean="0">
                <a:solidFill>
                  <a:schemeClr val="dk1"/>
                </a:solidFill>
                <a:latin typeface="Calibri"/>
                <a:ea typeface="Calibri"/>
                <a:cs typeface="Calibri"/>
                <a:sym typeface="Calibri"/>
              </a:rPr>
              <a:t>hierarchically.</a:t>
            </a:r>
          </a:p>
          <a:p>
            <a:pPr marL="889000" lvl="1" indent="-342900" algn="just">
              <a:spcBef>
                <a:spcPts val="0"/>
              </a:spcBef>
              <a:buSzPts val="2200"/>
            </a:pPr>
            <a:r>
              <a:rPr lang="en-US" sz="2000" dirty="0" smtClean="0">
                <a:solidFill>
                  <a:schemeClr val="dk1"/>
                </a:solidFill>
                <a:latin typeface="Calibri"/>
                <a:ea typeface="Calibri"/>
                <a:cs typeface="Calibri"/>
                <a:sym typeface="Calibri"/>
              </a:rPr>
              <a:t>An </a:t>
            </a:r>
            <a:r>
              <a:rPr lang="en-US" sz="2000" dirty="0">
                <a:solidFill>
                  <a:schemeClr val="dk1"/>
                </a:solidFill>
                <a:latin typeface="Calibri"/>
                <a:ea typeface="Calibri"/>
                <a:cs typeface="Calibri"/>
                <a:sym typeface="Calibri"/>
              </a:rPr>
              <a:t>example, word-processing </a:t>
            </a:r>
            <a:r>
              <a:rPr lang="en-US" sz="2000" dirty="0" smtClean="0">
                <a:solidFill>
                  <a:schemeClr val="dk1"/>
                </a:solidFill>
                <a:latin typeface="Calibri"/>
                <a:ea typeface="Calibri"/>
                <a:cs typeface="Calibri"/>
                <a:sym typeface="Calibri"/>
              </a:rPr>
              <a:t>applications</a:t>
            </a:r>
          </a:p>
          <a:p>
            <a:pPr marL="914400" lvl="0" indent="457200">
              <a:spcBef>
                <a:spcPts val="0"/>
              </a:spcBef>
              <a:buSzPts val="1100"/>
              <a:buNone/>
            </a:pPr>
            <a:endParaRPr lang="en-US" sz="2000" dirty="0">
              <a:solidFill>
                <a:schemeClr val="dk1"/>
              </a:solidFill>
              <a:latin typeface="Calibri"/>
              <a:ea typeface="Calibri"/>
              <a:cs typeface="Calibri"/>
              <a:sym typeface="Calibri"/>
            </a:endParaRPr>
          </a:p>
          <a:p>
            <a:pPr marL="914400" lvl="0" indent="457200">
              <a:spcBef>
                <a:spcPts val="0"/>
              </a:spcBef>
              <a:buSzPts val="1100"/>
              <a:buNone/>
            </a:pPr>
            <a:endParaRPr lang="en-US" sz="2000" dirty="0">
              <a:solidFill>
                <a:schemeClr val="dk1"/>
              </a:solidFill>
              <a:latin typeface="Calibri"/>
              <a:ea typeface="Calibri"/>
              <a:cs typeface="Calibri"/>
              <a:sym typeface="Calibri"/>
            </a:endParaRPr>
          </a:p>
          <a:p>
            <a:pPr lvl="1" indent="-368300" algn="just">
              <a:spcBef>
                <a:spcPts val="0"/>
              </a:spcBef>
              <a:buSzPts val="2200"/>
              <a:buFont typeface="Calibri"/>
              <a:buChar char="○"/>
            </a:pPr>
            <a:endParaRPr lang="en-US" sz="1600" dirty="0">
              <a:solidFill>
                <a:schemeClr val="tx1"/>
              </a:solidFill>
              <a:latin typeface="Calibri"/>
              <a:ea typeface="Calibri"/>
              <a:cs typeface="Calibri"/>
              <a:sym typeface="Calibri"/>
            </a:endParaRPr>
          </a:p>
          <a:p>
            <a:pPr marL="914400" lvl="1" indent="-368300" algn="just" rtl="0">
              <a:spcBef>
                <a:spcPts val="0"/>
              </a:spcBef>
              <a:spcAft>
                <a:spcPts val="0"/>
              </a:spcAft>
              <a:buSzPts val="2200"/>
              <a:buFont typeface="Calibri"/>
              <a:buChar char="○"/>
            </a:pPr>
            <a:endParaRPr lang="en-GB" sz="2000" b="1" dirty="0" smtClean="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000" dirty="0">
              <a:solidFill>
                <a:schemeClr val="dk1"/>
              </a:solidFill>
              <a:latin typeface="Calibri"/>
              <a:ea typeface="Calibri"/>
              <a:cs typeface="Calibri"/>
              <a:sym typeface="Calibri"/>
            </a:endParaRPr>
          </a:p>
        </p:txBody>
      </p:sp>
      <p:sp>
        <p:nvSpPr>
          <p:cNvPr id="614" name="Google Shape;614;p82"/>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15" name="Google Shape;615;p82"/>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37</a:t>
            </a:fld>
            <a:endParaRPr/>
          </a:p>
        </p:txBody>
      </p:sp>
    </p:spTree>
    <p:extLst>
      <p:ext uri="{BB962C8B-B14F-4D97-AF65-F5344CB8AC3E}">
        <p14:creationId xmlns:p14="http://schemas.microsoft.com/office/powerpoint/2010/main" val="179693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69168" y="223935"/>
            <a:ext cx="7946183" cy="5952891"/>
          </a:xfrm>
        </p:spPr>
        <p:txBody>
          <a:bodyPr>
            <a:normAutofit/>
          </a:bodyPr>
          <a:lstStyle/>
          <a:p>
            <a:pPr marL="139700" indent="0">
              <a:buNone/>
            </a:pPr>
            <a:r>
              <a:rPr lang="en-US" sz="2800" b="1" dirty="0">
                <a:solidFill>
                  <a:srgbClr val="0070C0"/>
                </a:solidFill>
                <a:latin typeface="Calibri"/>
                <a:ea typeface="Calibri"/>
                <a:cs typeface="Calibri"/>
              </a:rPr>
              <a:t>Clear Navigation and Structure:</a:t>
            </a:r>
          </a:p>
          <a:p>
            <a:r>
              <a:rPr lang="en-US" sz="2000" b="1" dirty="0">
                <a:solidFill>
                  <a:schemeClr val="tx1"/>
                </a:solidFill>
                <a:latin typeface="Calibri"/>
                <a:ea typeface="Calibri"/>
                <a:cs typeface="Calibri"/>
              </a:rPr>
              <a:t>Breadcrumbs</a:t>
            </a:r>
            <a:r>
              <a:rPr lang="en-US" sz="2000" dirty="0">
                <a:solidFill>
                  <a:schemeClr val="tx1"/>
                </a:solidFill>
                <a:latin typeface="Calibri"/>
                <a:ea typeface="Calibri"/>
                <a:cs typeface="Calibri"/>
              </a:rPr>
              <a:t>: Use breadcrumb navigation to show users their current location within the interface and how they got there, which helps them understand context without having to remember it.</a:t>
            </a:r>
          </a:p>
          <a:p>
            <a:r>
              <a:rPr lang="en-US" sz="2000" b="1" dirty="0">
                <a:solidFill>
                  <a:schemeClr val="tx1"/>
                </a:solidFill>
                <a:latin typeface="Calibri"/>
                <a:ea typeface="Calibri"/>
                <a:cs typeface="Calibri"/>
              </a:rPr>
              <a:t>Progress Indicators</a:t>
            </a:r>
            <a:r>
              <a:rPr lang="en-US" sz="2000" dirty="0">
                <a:solidFill>
                  <a:schemeClr val="tx1"/>
                </a:solidFill>
                <a:latin typeface="Calibri"/>
                <a:ea typeface="Calibri"/>
                <a:cs typeface="Calibri"/>
              </a:rPr>
              <a:t>: In multi-step processes (like a checkout flow), show progress indicators so users know where they are in the process and what steps remain.</a:t>
            </a:r>
          </a:p>
          <a:p>
            <a:pPr marL="139700" indent="0">
              <a:buNone/>
            </a:pPr>
            <a:endParaRPr lang="en-US" sz="2800" b="1" dirty="0" smtClean="0">
              <a:solidFill>
                <a:srgbClr val="0070C0"/>
              </a:solidFill>
              <a:latin typeface="Calibri"/>
              <a:ea typeface="Calibri"/>
              <a:cs typeface="Calibri"/>
            </a:endParaRPr>
          </a:p>
          <a:p>
            <a:pPr marL="139700" indent="0">
              <a:buNone/>
            </a:pPr>
            <a:r>
              <a:rPr lang="en-US" sz="2800" b="1" dirty="0" smtClean="0">
                <a:solidFill>
                  <a:srgbClr val="0070C0"/>
                </a:solidFill>
                <a:latin typeface="Calibri"/>
                <a:ea typeface="Calibri"/>
                <a:cs typeface="Calibri"/>
              </a:rPr>
              <a:t>Recognition </a:t>
            </a:r>
            <a:r>
              <a:rPr lang="en-US" sz="2800" b="1" dirty="0">
                <a:solidFill>
                  <a:srgbClr val="0070C0"/>
                </a:solidFill>
                <a:latin typeface="Calibri"/>
                <a:ea typeface="Calibri"/>
                <a:cs typeface="Calibri"/>
              </a:rPr>
              <a:t>Over Recall:</a:t>
            </a:r>
          </a:p>
          <a:p>
            <a:r>
              <a:rPr lang="en-US" sz="2000" b="1" dirty="0">
                <a:solidFill>
                  <a:schemeClr val="tx1"/>
                </a:solidFill>
                <a:latin typeface="Calibri"/>
                <a:ea typeface="Calibri"/>
                <a:cs typeface="Calibri"/>
              </a:rPr>
              <a:t>Recognition-Based Interfaces</a:t>
            </a:r>
            <a:r>
              <a:rPr lang="en-US" sz="2000" dirty="0">
                <a:solidFill>
                  <a:schemeClr val="tx1"/>
                </a:solidFill>
                <a:latin typeface="Calibri"/>
                <a:ea typeface="Calibri"/>
                <a:cs typeface="Calibri"/>
              </a:rPr>
              <a:t>: Design interfaces where users can recognize options rather than recall information. </a:t>
            </a:r>
            <a:endParaRPr lang="en-US" sz="2000" dirty="0" smtClean="0">
              <a:solidFill>
                <a:schemeClr val="tx1"/>
              </a:solidFill>
              <a:latin typeface="Calibri"/>
              <a:ea typeface="Calibri"/>
              <a:cs typeface="Calibri"/>
            </a:endParaRPr>
          </a:p>
          <a:p>
            <a:r>
              <a:rPr lang="en-US" sz="2000" dirty="0" smtClean="0">
                <a:solidFill>
                  <a:schemeClr val="tx1"/>
                </a:solidFill>
                <a:latin typeface="Calibri"/>
                <a:ea typeface="Calibri"/>
                <a:cs typeface="Calibri"/>
              </a:rPr>
              <a:t>For </a:t>
            </a:r>
            <a:r>
              <a:rPr lang="en-US" sz="2000" dirty="0">
                <a:solidFill>
                  <a:schemeClr val="tx1"/>
                </a:solidFill>
                <a:latin typeface="Calibri"/>
                <a:ea typeface="Calibri"/>
                <a:cs typeface="Calibri"/>
              </a:rPr>
              <a:t>instance, using dropdown menus or lists of choices instead of requiring users to remember and type in information.</a:t>
            </a:r>
          </a:p>
          <a:p>
            <a:r>
              <a:rPr lang="en-US" sz="2000" b="1" dirty="0">
                <a:solidFill>
                  <a:schemeClr val="tx1"/>
                </a:solidFill>
                <a:latin typeface="Calibri"/>
                <a:ea typeface="Calibri"/>
                <a:cs typeface="Calibri"/>
              </a:rPr>
              <a:t>Predictive Text and Autocomplete</a:t>
            </a:r>
            <a:r>
              <a:rPr lang="en-US" sz="2000" dirty="0">
                <a:solidFill>
                  <a:schemeClr val="tx1"/>
                </a:solidFill>
                <a:latin typeface="Calibri"/>
                <a:ea typeface="Calibri"/>
                <a:cs typeface="Calibri"/>
              </a:rPr>
              <a:t>: Features like autocomplete in search bars or predictive text suggestions help users by reducing the amount of information they need to remember and enter manually.</a:t>
            </a:r>
          </a:p>
          <a:p>
            <a:endParaRPr lang="en-US" sz="2000" dirty="0">
              <a:solidFill>
                <a:schemeClr val="tx1"/>
              </a:solidFill>
              <a:latin typeface="Calibri"/>
              <a:ea typeface="Calibri"/>
              <a:cs typeface="Calibri"/>
            </a:endParaRPr>
          </a:p>
          <a:p>
            <a:endParaRPr lang="en-IN" sz="4000" dirty="0"/>
          </a:p>
        </p:txBody>
      </p:sp>
    </p:spTree>
    <p:extLst>
      <p:ext uri="{BB962C8B-B14F-4D97-AF65-F5344CB8AC3E}">
        <p14:creationId xmlns:p14="http://schemas.microsoft.com/office/powerpoint/2010/main" val="20345485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8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dirty="0"/>
              <a:t>User Interface Design Rules</a:t>
            </a:r>
            <a:endParaRPr sz="1900" b="1" dirty="0"/>
          </a:p>
        </p:txBody>
      </p:sp>
      <p:sp>
        <p:nvSpPr>
          <p:cNvPr id="621" name="Google Shape;621;p83"/>
          <p:cNvSpPr txBox="1">
            <a:spLocks noGrp="1"/>
          </p:cNvSpPr>
          <p:nvPr>
            <p:ph type="body" idx="1"/>
          </p:nvPr>
        </p:nvSpPr>
        <p:spPr>
          <a:xfrm>
            <a:off x="256267" y="1467325"/>
            <a:ext cx="8526600" cy="33004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GB" sz="2300" b="1" dirty="0">
                <a:solidFill>
                  <a:srgbClr val="0070C0"/>
                </a:solidFill>
                <a:latin typeface="Calibri"/>
                <a:ea typeface="Calibri"/>
                <a:cs typeface="Calibri"/>
                <a:sym typeface="Calibri"/>
              </a:rPr>
              <a:t>3. Make the interface consistent:</a:t>
            </a:r>
            <a:endParaRPr sz="2200" b="1" dirty="0">
              <a:solidFill>
                <a:srgbClr val="0070C0"/>
              </a:solidFill>
              <a:latin typeface="Calibri"/>
              <a:ea typeface="Calibri"/>
              <a:cs typeface="Calibri"/>
              <a:sym typeface="Calibri"/>
            </a:endParaRPr>
          </a:p>
          <a:p>
            <a:pPr lvl="0" indent="-7199">
              <a:spcBef>
                <a:spcPts val="0"/>
              </a:spcBef>
              <a:buNone/>
            </a:pPr>
            <a:r>
              <a:rPr lang="en-GB" sz="2200" dirty="0">
                <a:solidFill>
                  <a:schemeClr val="dk1"/>
                </a:solidFill>
                <a:latin typeface="Calibri"/>
                <a:ea typeface="Calibri"/>
                <a:cs typeface="Calibri"/>
                <a:sym typeface="Calibri"/>
              </a:rPr>
              <a:t>“Things that look different should act different. Things that look the same should act the </a:t>
            </a:r>
            <a:r>
              <a:rPr lang="en-GB" sz="2200" dirty="0" smtClean="0">
                <a:solidFill>
                  <a:schemeClr val="dk1"/>
                </a:solidFill>
                <a:latin typeface="Calibri"/>
                <a:ea typeface="Calibri"/>
                <a:cs typeface="Calibri"/>
                <a:sym typeface="Calibri"/>
              </a:rPr>
              <a:t>same”, </a:t>
            </a:r>
            <a:r>
              <a:rPr lang="en-GB" sz="2200" dirty="0">
                <a:solidFill>
                  <a:schemeClr val="dk1"/>
                </a:solidFill>
                <a:latin typeface="Calibri"/>
                <a:ea typeface="Calibri"/>
                <a:cs typeface="Calibri"/>
                <a:sym typeface="Calibri"/>
              </a:rPr>
              <a:t>across the entire </a:t>
            </a:r>
            <a:r>
              <a:rPr lang="en-GB" sz="2200" dirty="0" smtClean="0">
                <a:solidFill>
                  <a:schemeClr val="dk1"/>
                </a:solidFill>
                <a:latin typeface="Calibri"/>
                <a:ea typeface="Calibri"/>
                <a:cs typeface="Calibri"/>
                <a:sym typeface="Calibri"/>
              </a:rPr>
              <a:t>product.</a:t>
            </a:r>
            <a:endParaRPr sz="22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 b="1" dirty="0">
              <a:solidFill>
                <a:srgbClr val="0070C0"/>
              </a:solidFill>
              <a:latin typeface="Calibri"/>
              <a:ea typeface="Calibri"/>
              <a:cs typeface="Calibri"/>
              <a:sym typeface="Calibri"/>
            </a:endParaRPr>
          </a:p>
          <a:p>
            <a:pPr marL="457200" lvl="0" indent="-368300" algn="l" rtl="0">
              <a:spcBef>
                <a:spcPts val="0"/>
              </a:spcBef>
              <a:spcAft>
                <a:spcPts val="0"/>
              </a:spcAft>
              <a:buClr>
                <a:srgbClr val="0070C0"/>
              </a:buClr>
              <a:buSzPts val="2200"/>
              <a:buFont typeface="Calibri"/>
              <a:buChar char="●"/>
            </a:pPr>
            <a:endParaRPr lang="en-GB" sz="2200" b="1" dirty="0" smtClean="0">
              <a:solidFill>
                <a:srgbClr val="0070C0"/>
              </a:solidFill>
              <a:latin typeface="Calibri"/>
              <a:ea typeface="Calibri"/>
              <a:cs typeface="Calibri"/>
              <a:sym typeface="Calibri"/>
            </a:endParaRPr>
          </a:p>
          <a:p>
            <a:pPr marL="457200" lvl="0" indent="-368300" algn="l" rtl="0">
              <a:spcBef>
                <a:spcPts val="0"/>
              </a:spcBef>
              <a:spcAft>
                <a:spcPts val="0"/>
              </a:spcAft>
              <a:buClr>
                <a:srgbClr val="0070C0"/>
              </a:buClr>
              <a:buSzPts val="2200"/>
              <a:buFont typeface="Calibri"/>
              <a:buChar char="●"/>
            </a:pPr>
            <a:r>
              <a:rPr lang="en-GB" sz="2200" b="1" dirty="0" smtClean="0">
                <a:solidFill>
                  <a:srgbClr val="0070C0"/>
                </a:solidFill>
                <a:latin typeface="Calibri"/>
                <a:ea typeface="Calibri"/>
                <a:cs typeface="Calibri"/>
                <a:sym typeface="Calibri"/>
              </a:rPr>
              <a:t>Allow </a:t>
            </a:r>
            <a:r>
              <a:rPr lang="en-GB" sz="2200" b="1" dirty="0">
                <a:solidFill>
                  <a:srgbClr val="0070C0"/>
                </a:solidFill>
                <a:latin typeface="Calibri"/>
                <a:ea typeface="Calibri"/>
                <a:cs typeface="Calibri"/>
                <a:sym typeface="Calibri"/>
              </a:rPr>
              <a:t>the user to put the current task into a meaningful context.</a:t>
            </a:r>
            <a:endParaRPr sz="2200" b="1" dirty="0">
              <a:solidFill>
                <a:srgbClr val="0070C0"/>
              </a:solidFill>
              <a:latin typeface="Calibri"/>
              <a:ea typeface="Calibri"/>
              <a:cs typeface="Calibri"/>
              <a:sym typeface="Calibri"/>
            </a:endParaRPr>
          </a:p>
          <a:p>
            <a:pPr marL="457200" lvl="0" indent="0" algn="l" rtl="0">
              <a:spcBef>
                <a:spcPts val="0"/>
              </a:spcBef>
              <a:spcAft>
                <a:spcPts val="0"/>
              </a:spcAft>
              <a:buNone/>
            </a:pPr>
            <a:r>
              <a:rPr lang="en-GB" sz="2200" dirty="0">
                <a:solidFill>
                  <a:schemeClr val="dk1"/>
                </a:solidFill>
                <a:latin typeface="Calibri"/>
                <a:ea typeface="Calibri"/>
                <a:cs typeface="Calibri"/>
                <a:sym typeface="Calibri"/>
              </a:rPr>
              <a:t>Complex layers to be implemented with clear indication to the user about the context of the work at hand.</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rgbClr val="0070C0"/>
              </a:buClr>
              <a:buSzPts val="2200"/>
              <a:buFont typeface="Calibri"/>
              <a:buChar char="●"/>
            </a:pPr>
            <a:endParaRPr lang="en-GB" sz="2200" b="1" dirty="0" smtClean="0">
              <a:solidFill>
                <a:srgbClr val="0070C0"/>
              </a:solidFill>
              <a:latin typeface="Calibri"/>
              <a:ea typeface="Calibri"/>
              <a:cs typeface="Calibri"/>
              <a:sym typeface="Calibri"/>
            </a:endParaRPr>
          </a:p>
          <a:p>
            <a:pPr marL="457200" lvl="0" indent="-368300" algn="l" rtl="0">
              <a:spcBef>
                <a:spcPts val="0"/>
              </a:spcBef>
              <a:spcAft>
                <a:spcPts val="0"/>
              </a:spcAft>
              <a:buClr>
                <a:srgbClr val="0070C0"/>
              </a:buClr>
              <a:buSzPts val="2200"/>
              <a:buFont typeface="Calibri"/>
              <a:buChar char="●"/>
            </a:pPr>
            <a:r>
              <a:rPr lang="en-GB" sz="2200" b="1" dirty="0" smtClean="0">
                <a:solidFill>
                  <a:srgbClr val="0070C0"/>
                </a:solidFill>
                <a:latin typeface="Calibri"/>
                <a:ea typeface="Calibri"/>
                <a:cs typeface="Calibri"/>
                <a:sym typeface="Calibri"/>
              </a:rPr>
              <a:t>If </a:t>
            </a:r>
            <a:r>
              <a:rPr lang="en-GB" sz="2200" b="1" dirty="0">
                <a:solidFill>
                  <a:srgbClr val="0070C0"/>
                </a:solidFill>
                <a:latin typeface="Calibri"/>
                <a:ea typeface="Calibri"/>
                <a:cs typeface="Calibri"/>
                <a:sym typeface="Calibri"/>
              </a:rPr>
              <a:t>past interactive models have created user expectations, do not make changes unless there is a compelling reason to do so</a:t>
            </a:r>
            <a:r>
              <a:rPr lang="en-GB" sz="2200" b="1" dirty="0" smtClean="0">
                <a:solidFill>
                  <a:srgbClr val="0070C0"/>
                </a:solidFill>
                <a:latin typeface="Calibri"/>
                <a:ea typeface="Calibri"/>
                <a:cs typeface="Calibri"/>
                <a:sym typeface="Calibri"/>
              </a:rPr>
              <a:t>.</a:t>
            </a:r>
            <a:r>
              <a:rPr lang="en-US" sz="2200" b="1" dirty="0" smtClean="0">
                <a:solidFill>
                  <a:srgbClr val="0070C0"/>
                </a:solidFill>
                <a:latin typeface="Calibri"/>
                <a:ea typeface="Calibri"/>
                <a:cs typeface="Calibri"/>
                <a:sym typeface="Calibri"/>
              </a:rPr>
              <a:t> </a:t>
            </a:r>
          </a:p>
        </p:txBody>
      </p:sp>
      <p:sp>
        <p:nvSpPr>
          <p:cNvPr id="622" name="Google Shape;622;p83"/>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23" name="Google Shape;623;p8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39</a:t>
            </a:fld>
            <a:endParaRPr/>
          </a:p>
        </p:txBody>
      </p:sp>
    </p:spTree>
    <p:extLst>
      <p:ext uri="{BB962C8B-B14F-4D97-AF65-F5344CB8AC3E}">
        <p14:creationId xmlns:p14="http://schemas.microsoft.com/office/powerpoint/2010/main" val="224932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5862" y="609601"/>
            <a:ext cx="8039489" cy="5567225"/>
          </a:xfrm>
        </p:spPr>
        <p:txBody>
          <a:bodyPr>
            <a:normAutofit fontScale="62500" lnSpcReduction="20000"/>
          </a:bodyPr>
          <a:lstStyle/>
          <a:p>
            <a:pPr lvl="0" indent="-368300">
              <a:spcBef>
                <a:spcPts val="0"/>
              </a:spcBef>
              <a:buClr>
                <a:srgbClr val="0070C0"/>
              </a:buClr>
              <a:buSzPts val="2200"/>
              <a:buFont typeface="Calibri"/>
              <a:buChar char="●"/>
            </a:pPr>
            <a:r>
              <a:rPr lang="en-US" b="1" dirty="0">
                <a:solidFill>
                  <a:srgbClr val="0070C0"/>
                </a:solidFill>
                <a:latin typeface="Calibri"/>
                <a:ea typeface="Calibri"/>
                <a:cs typeface="Calibri"/>
                <a:sym typeface="Calibri"/>
              </a:rPr>
              <a:t>Maintain consistency across a family of applications.</a:t>
            </a:r>
          </a:p>
          <a:p>
            <a:pPr lvl="0" indent="0">
              <a:spcBef>
                <a:spcPts val="0"/>
              </a:spcBef>
              <a:buNone/>
            </a:pPr>
            <a:r>
              <a:rPr lang="en-US" dirty="0">
                <a:solidFill>
                  <a:schemeClr val="dk1"/>
                </a:solidFill>
                <a:latin typeface="Calibri"/>
                <a:ea typeface="Calibri"/>
                <a:cs typeface="Calibri"/>
                <a:sym typeface="Calibri"/>
              </a:rPr>
              <a:t>A set of applications (or products) should all implement the same design rules - consistency is maintained for all interaction.</a:t>
            </a:r>
          </a:p>
          <a:p>
            <a:pPr lvl="0" indent="-368300">
              <a:spcBef>
                <a:spcPts val="0"/>
              </a:spcBef>
              <a:buClr>
                <a:srgbClr val="0070C0"/>
              </a:buClr>
              <a:buSzPts val="2200"/>
              <a:buFont typeface="Calibri"/>
              <a:buChar char="●"/>
            </a:pPr>
            <a:r>
              <a:rPr lang="en-US" dirty="0" smtClean="0">
                <a:solidFill>
                  <a:schemeClr val="dk1"/>
                </a:solidFill>
                <a:latin typeface="Calibri"/>
                <a:ea typeface="Calibri"/>
                <a:cs typeface="Calibri"/>
                <a:sym typeface="Calibri"/>
              </a:rPr>
              <a:t>Consistency </a:t>
            </a:r>
            <a:r>
              <a:rPr lang="en-US" dirty="0">
                <a:solidFill>
                  <a:schemeClr val="dk1"/>
                </a:solidFill>
                <a:latin typeface="Calibri"/>
                <a:ea typeface="Calibri"/>
                <a:cs typeface="Calibri"/>
                <a:sym typeface="Calibri"/>
              </a:rPr>
              <a:t>in an interface means that similar elements behave and appear in the same way across the entire product. </a:t>
            </a:r>
            <a:endParaRPr lang="en-US" dirty="0" smtClean="0">
              <a:solidFill>
                <a:schemeClr val="dk1"/>
              </a:solidFill>
              <a:latin typeface="Calibri"/>
              <a:ea typeface="Calibri"/>
              <a:cs typeface="Calibri"/>
              <a:sym typeface="Calibri"/>
            </a:endParaRPr>
          </a:p>
          <a:p>
            <a:pPr lvl="0" indent="-368300">
              <a:spcBef>
                <a:spcPts val="0"/>
              </a:spcBef>
              <a:buClr>
                <a:srgbClr val="0070C0"/>
              </a:buClr>
              <a:buSzPts val="2200"/>
              <a:buFont typeface="Calibri"/>
              <a:buChar char="●"/>
            </a:pPr>
            <a:r>
              <a:rPr lang="en-US" dirty="0" smtClean="0">
                <a:solidFill>
                  <a:schemeClr val="dk1"/>
                </a:solidFill>
                <a:latin typeface="Calibri"/>
                <a:ea typeface="Calibri"/>
                <a:cs typeface="Calibri"/>
                <a:sym typeface="Calibri"/>
              </a:rPr>
              <a:t>This </a:t>
            </a:r>
            <a:r>
              <a:rPr lang="en-US" dirty="0">
                <a:solidFill>
                  <a:schemeClr val="dk1"/>
                </a:solidFill>
                <a:latin typeface="Calibri"/>
                <a:ea typeface="Calibri"/>
                <a:cs typeface="Calibri"/>
                <a:sym typeface="Calibri"/>
              </a:rPr>
              <a:t>uniformity helps users learn how to interact with the interface quickly, reduces confusion, and enhances the overall user experience</a:t>
            </a:r>
            <a:r>
              <a:rPr lang="en-US" dirty="0" smtClean="0">
                <a:solidFill>
                  <a:schemeClr val="dk1"/>
                </a:solidFill>
                <a:latin typeface="Calibri"/>
                <a:ea typeface="Calibri"/>
                <a:cs typeface="Calibri"/>
                <a:sym typeface="Calibri"/>
              </a:rPr>
              <a:t>.</a:t>
            </a:r>
          </a:p>
          <a:p>
            <a:pPr marL="88900" lvl="0" indent="0">
              <a:spcBef>
                <a:spcPts val="0"/>
              </a:spcBef>
              <a:buClr>
                <a:srgbClr val="0070C0"/>
              </a:buClr>
              <a:buSzPts val="2200"/>
              <a:buNone/>
            </a:pPr>
            <a:endParaRPr lang="en-US" b="1" dirty="0" smtClean="0">
              <a:solidFill>
                <a:schemeClr val="dk1"/>
              </a:solidFill>
              <a:latin typeface="Calibri"/>
              <a:ea typeface="Calibri"/>
              <a:cs typeface="Calibri"/>
              <a:sym typeface="Calibri"/>
            </a:endParaRPr>
          </a:p>
          <a:p>
            <a:pPr marL="88900" lvl="0" indent="0">
              <a:spcBef>
                <a:spcPts val="0"/>
              </a:spcBef>
              <a:buClr>
                <a:srgbClr val="0070C0"/>
              </a:buClr>
              <a:buSzPts val="2200"/>
              <a:buNone/>
            </a:pPr>
            <a:r>
              <a:rPr lang="en-US" b="1" dirty="0" smtClean="0">
                <a:solidFill>
                  <a:schemeClr val="dk1"/>
                </a:solidFill>
                <a:latin typeface="Calibri"/>
                <a:ea typeface="Calibri"/>
                <a:cs typeface="Calibri"/>
                <a:sym typeface="Calibri"/>
              </a:rPr>
              <a:t>Types </a:t>
            </a:r>
            <a:r>
              <a:rPr lang="en-US" b="1" dirty="0">
                <a:solidFill>
                  <a:schemeClr val="dk1"/>
                </a:solidFill>
                <a:latin typeface="Calibri"/>
                <a:ea typeface="Calibri"/>
                <a:cs typeface="Calibri"/>
                <a:sym typeface="Calibri"/>
              </a:rPr>
              <a:t>of Consistency in UI Design</a:t>
            </a:r>
            <a:r>
              <a:rPr lang="en-US" dirty="0" smtClean="0">
                <a:solidFill>
                  <a:schemeClr val="dk1"/>
                </a:solidFill>
                <a:latin typeface="Calibri"/>
                <a:ea typeface="Calibri"/>
                <a:cs typeface="Calibri"/>
                <a:sym typeface="Calibri"/>
              </a:rPr>
              <a:t>:</a:t>
            </a:r>
          </a:p>
          <a:p>
            <a:pPr marL="88900" lvl="0" indent="0">
              <a:spcBef>
                <a:spcPts val="0"/>
              </a:spcBef>
              <a:buClr>
                <a:srgbClr val="0070C0"/>
              </a:buClr>
              <a:buSzPts val="2200"/>
              <a:buNone/>
            </a:pPr>
            <a:r>
              <a:rPr lang="en-US" u="sng" dirty="0" smtClean="0">
                <a:solidFill>
                  <a:schemeClr val="dk1"/>
                </a:solidFill>
                <a:latin typeface="Calibri"/>
                <a:ea typeface="Calibri"/>
                <a:cs typeface="Calibri"/>
                <a:sym typeface="Calibri"/>
              </a:rPr>
              <a:t>Visual </a:t>
            </a:r>
            <a:r>
              <a:rPr lang="en-US" u="sng" dirty="0">
                <a:solidFill>
                  <a:schemeClr val="dk1"/>
                </a:solidFill>
                <a:latin typeface="Calibri"/>
                <a:ea typeface="Calibri"/>
                <a:cs typeface="Calibri"/>
                <a:sym typeface="Calibri"/>
              </a:rPr>
              <a:t>Consistency</a:t>
            </a:r>
            <a:r>
              <a:rPr lang="en-US" u="sng" dirty="0" smtClean="0">
                <a:solidFill>
                  <a:schemeClr val="dk1"/>
                </a:solidFill>
                <a:latin typeface="Calibri"/>
                <a:ea typeface="Calibri"/>
                <a:cs typeface="Calibri"/>
                <a:sym typeface="Calibri"/>
              </a:rPr>
              <a:t>:</a:t>
            </a:r>
          </a:p>
          <a:p>
            <a:pPr lvl="0" indent="-368300">
              <a:spcBef>
                <a:spcPts val="0"/>
              </a:spcBef>
              <a:buClr>
                <a:srgbClr val="0070C0"/>
              </a:buClr>
              <a:buSzPts val="2200"/>
              <a:buFont typeface="Calibri"/>
              <a:buChar char="●"/>
            </a:pPr>
            <a:endParaRPr lang="en-US" dirty="0" smtClean="0">
              <a:solidFill>
                <a:schemeClr val="dk1"/>
              </a:solidFill>
              <a:latin typeface="Calibri"/>
              <a:ea typeface="Calibri"/>
              <a:cs typeface="Calibri"/>
              <a:sym typeface="Calibri"/>
            </a:endParaRPr>
          </a:p>
          <a:p>
            <a:pPr lvl="0" indent="-368300">
              <a:spcBef>
                <a:spcPts val="0"/>
              </a:spcBef>
              <a:buClr>
                <a:srgbClr val="0070C0"/>
              </a:buClr>
              <a:buSzPts val="2200"/>
              <a:buFont typeface="Calibri"/>
              <a:buChar char="●"/>
            </a:pPr>
            <a:r>
              <a:rPr lang="en-US" dirty="0" smtClean="0">
                <a:solidFill>
                  <a:schemeClr val="dk1"/>
                </a:solidFill>
                <a:latin typeface="Calibri"/>
                <a:ea typeface="Calibri"/>
                <a:cs typeface="Calibri"/>
                <a:sym typeface="Calibri"/>
              </a:rPr>
              <a:t>Consistent </a:t>
            </a:r>
            <a:r>
              <a:rPr lang="en-US" dirty="0">
                <a:solidFill>
                  <a:schemeClr val="dk1"/>
                </a:solidFill>
                <a:latin typeface="Calibri"/>
                <a:ea typeface="Calibri"/>
                <a:cs typeface="Calibri"/>
                <a:sym typeface="Calibri"/>
              </a:rPr>
              <a:t>Design Elements: Use the same fonts, colors, icons, and button styles throughout the application. </a:t>
            </a:r>
            <a:endParaRPr lang="en-US" dirty="0" smtClean="0">
              <a:solidFill>
                <a:schemeClr val="dk1"/>
              </a:solidFill>
              <a:latin typeface="Calibri"/>
              <a:ea typeface="Calibri"/>
              <a:cs typeface="Calibri"/>
              <a:sym typeface="Calibri"/>
            </a:endParaRPr>
          </a:p>
          <a:p>
            <a:pPr lvl="0" indent="-368300">
              <a:spcBef>
                <a:spcPts val="0"/>
              </a:spcBef>
              <a:buClr>
                <a:srgbClr val="0070C0"/>
              </a:buClr>
              <a:buSzPts val="2200"/>
              <a:buFont typeface="Calibri"/>
              <a:buChar char="●"/>
            </a:pPr>
            <a:r>
              <a:rPr lang="en-US" dirty="0" smtClean="0">
                <a:solidFill>
                  <a:schemeClr val="dk1"/>
                </a:solidFill>
                <a:latin typeface="Calibri"/>
                <a:ea typeface="Calibri"/>
                <a:cs typeface="Calibri"/>
                <a:sym typeface="Calibri"/>
              </a:rPr>
              <a:t>For </a:t>
            </a:r>
            <a:r>
              <a:rPr lang="en-US" dirty="0">
                <a:solidFill>
                  <a:schemeClr val="dk1"/>
                </a:solidFill>
                <a:latin typeface="Calibri"/>
                <a:ea typeface="Calibri"/>
                <a:cs typeface="Calibri"/>
                <a:sym typeface="Calibri"/>
              </a:rPr>
              <a:t>example, if your primary action button is always blue and rounded, it should appear that way on every screen or page</a:t>
            </a:r>
            <a:r>
              <a:rPr lang="en-US" dirty="0" smtClean="0">
                <a:solidFill>
                  <a:schemeClr val="dk1"/>
                </a:solidFill>
                <a:latin typeface="Calibri"/>
                <a:ea typeface="Calibri"/>
                <a:cs typeface="Calibri"/>
                <a:sym typeface="Calibri"/>
              </a:rPr>
              <a:t>.</a:t>
            </a:r>
          </a:p>
          <a:p>
            <a:pPr marL="139700" indent="0">
              <a:buNone/>
            </a:pPr>
            <a:r>
              <a:rPr lang="en-US" u="sng" dirty="0">
                <a:solidFill>
                  <a:schemeClr val="dk1"/>
                </a:solidFill>
                <a:latin typeface="Calibri"/>
                <a:ea typeface="Calibri"/>
                <a:cs typeface="Calibri"/>
              </a:rPr>
              <a:t>Functional Consistency</a:t>
            </a:r>
            <a:r>
              <a:rPr lang="en-US" dirty="0">
                <a:solidFill>
                  <a:schemeClr val="dk1"/>
                </a:solidFill>
                <a:latin typeface="Calibri"/>
                <a:ea typeface="Calibri"/>
                <a:cs typeface="Calibri"/>
              </a:rPr>
              <a:t>:</a:t>
            </a:r>
          </a:p>
          <a:p>
            <a:r>
              <a:rPr lang="en-US" dirty="0">
                <a:solidFill>
                  <a:schemeClr val="dk1"/>
                </a:solidFill>
                <a:latin typeface="Calibri"/>
                <a:ea typeface="Calibri"/>
                <a:cs typeface="Calibri"/>
              </a:rPr>
              <a:t>Consistent Behavior: </a:t>
            </a:r>
            <a:endParaRPr lang="en-US" dirty="0" smtClean="0">
              <a:solidFill>
                <a:schemeClr val="dk1"/>
              </a:solidFill>
              <a:latin typeface="Calibri"/>
              <a:ea typeface="Calibri"/>
              <a:cs typeface="Calibri"/>
            </a:endParaRPr>
          </a:p>
          <a:p>
            <a:r>
              <a:rPr lang="en-US" dirty="0" smtClean="0">
                <a:solidFill>
                  <a:schemeClr val="dk1"/>
                </a:solidFill>
                <a:latin typeface="Calibri"/>
                <a:ea typeface="Calibri"/>
                <a:cs typeface="Calibri"/>
              </a:rPr>
              <a:t>Similar </a:t>
            </a:r>
            <a:r>
              <a:rPr lang="en-US" dirty="0">
                <a:solidFill>
                  <a:schemeClr val="dk1"/>
                </a:solidFill>
                <a:latin typeface="Calibri"/>
                <a:ea typeface="Calibri"/>
                <a:cs typeface="Calibri"/>
              </a:rPr>
              <a:t>actions should have similar results across the interface. </a:t>
            </a:r>
            <a:endParaRPr lang="en-US" dirty="0" smtClean="0">
              <a:solidFill>
                <a:schemeClr val="dk1"/>
              </a:solidFill>
              <a:latin typeface="Calibri"/>
              <a:ea typeface="Calibri"/>
              <a:cs typeface="Calibri"/>
            </a:endParaRPr>
          </a:p>
          <a:p>
            <a:r>
              <a:rPr lang="en-US" dirty="0" smtClean="0">
                <a:solidFill>
                  <a:schemeClr val="dk1"/>
                </a:solidFill>
                <a:latin typeface="Calibri"/>
                <a:ea typeface="Calibri"/>
                <a:cs typeface="Calibri"/>
              </a:rPr>
              <a:t>For </a:t>
            </a:r>
            <a:r>
              <a:rPr lang="en-US" dirty="0">
                <a:solidFill>
                  <a:schemeClr val="dk1"/>
                </a:solidFill>
                <a:latin typeface="Calibri"/>
                <a:ea typeface="Calibri"/>
                <a:cs typeface="Calibri"/>
              </a:rPr>
              <a:t>example, if a swipe gesture deletes an item in one part of the app, the same gesture should perform the same action elsewhere</a:t>
            </a:r>
            <a:r>
              <a:rPr lang="en-US" dirty="0" smtClean="0">
                <a:solidFill>
                  <a:schemeClr val="dk1"/>
                </a:solidFill>
                <a:latin typeface="Calibri"/>
                <a:ea typeface="Calibri"/>
                <a:cs typeface="Calibri"/>
              </a:rPr>
              <a:t>.</a:t>
            </a:r>
            <a:endParaRPr lang="en-US" dirty="0">
              <a:solidFill>
                <a:schemeClr val="dk1"/>
              </a:solidFill>
              <a:latin typeface="Calibri"/>
              <a:ea typeface="Calibri"/>
              <a:cs typeface="Calibri"/>
            </a:endParaRPr>
          </a:p>
        </p:txBody>
      </p:sp>
    </p:spTree>
    <p:extLst>
      <p:ext uri="{BB962C8B-B14F-4D97-AF65-F5344CB8AC3E}">
        <p14:creationId xmlns:p14="http://schemas.microsoft.com/office/powerpoint/2010/main" val="23323594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normAutofit fontScale="92500"/>
          </a:bodyPr>
          <a:lstStyle/>
          <a:p>
            <a:pPr marL="139700" indent="0">
              <a:buNone/>
            </a:pPr>
            <a:r>
              <a:rPr lang="en-US" u="sng" dirty="0">
                <a:solidFill>
                  <a:schemeClr val="dk1"/>
                </a:solidFill>
                <a:latin typeface="Calibri"/>
                <a:ea typeface="Calibri"/>
                <a:cs typeface="Calibri"/>
              </a:rPr>
              <a:t>Internal Consistency</a:t>
            </a:r>
            <a:r>
              <a:rPr lang="en-US" dirty="0" smtClean="0">
                <a:solidFill>
                  <a:schemeClr val="dk1"/>
                </a:solidFill>
                <a:latin typeface="Calibri"/>
                <a:ea typeface="Calibri"/>
                <a:cs typeface="Calibri"/>
              </a:rPr>
              <a:t>:</a:t>
            </a:r>
          </a:p>
          <a:p>
            <a:r>
              <a:rPr lang="en-US" dirty="0" smtClean="0">
                <a:solidFill>
                  <a:schemeClr val="dk1"/>
                </a:solidFill>
                <a:latin typeface="Calibri"/>
                <a:ea typeface="Calibri"/>
                <a:cs typeface="Calibri"/>
              </a:rPr>
              <a:t>Consistency </a:t>
            </a:r>
            <a:r>
              <a:rPr lang="en-US" dirty="0">
                <a:solidFill>
                  <a:schemeClr val="dk1"/>
                </a:solidFill>
                <a:latin typeface="Calibri"/>
                <a:ea typeface="Calibri"/>
                <a:cs typeface="Calibri"/>
              </a:rPr>
              <a:t>Within the Product: Ensure that the design patterns, terminology, and interaction styles are uniform across different parts of the same product</a:t>
            </a:r>
            <a:r>
              <a:rPr lang="en-US" dirty="0" smtClean="0">
                <a:solidFill>
                  <a:schemeClr val="dk1"/>
                </a:solidFill>
                <a:latin typeface="Calibri"/>
                <a:ea typeface="Calibri"/>
                <a:cs typeface="Calibri"/>
              </a:rPr>
              <a:t>.</a:t>
            </a:r>
          </a:p>
          <a:p>
            <a:r>
              <a:rPr lang="en-US" dirty="0" smtClean="0">
                <a:solidFill>
                  <a:schemeClr val="dk1"/>
                </a:solidFill>
                <a:latin typeface="Calibri"/>
                <a:ea typeface="Calibri"/>
                <a:cs typeface="Calibri"/>
              </a:rPr>
              <a:t>Example</a:t>
            </a:r>
            <a:r>
              <a:rPr lang="en-US" dirty="0">
                <a:solidFill>
                  <a:schemeClr val="dk1"/>
                </a:solidFill>
                <a:latin typeface="Calibri"/>
                <a:ea typeface="Calibri"/>
                <a:cs typeface="Calibri"/>
              </a:rPr>
              <a:t>: In an e-commerce website, if the "Add to Cart" button is always located at the bottom right of product pages, users will expect it to be there every time they view a product.</a:t>
            </a:r>
          </a:p>
          <a:p>
            <a:endParaRPr lang="en-IN" dirty="0"/>
          </a:p>
        </p:txBody>
      </p:sp>
    </p:spTree>
    <p:extLst>
      <p:ext uri="{BB962C8B-B14F-4D97-AF65-F5344CB8AC3E}">
        <p14:creationId xmlns:p14="http://schemas.microsoft.com/office/powerpoint/2010/main" val="1063561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830" y="365126"/>
            <a:ext cx="7927521" cy="580377"/>
          </a:xfrm>
        </p:spPr>
        <p:txBody>
          <a:bodyPr>
            <a:noAutofit/>
          </a:bodyPr>
          <a:lstStyle/>
          <a:p>
            <a:r>
              <a:rPr lang="en-US" sz="3200" b="1" dirty="0"/>
              <a:t>User Interface Design </a:t>
            </a:r>
            <a:r>
              <a:rPr lang="en-US" sz="3200" b="1" dirty="0" smtClean="0"/>
              <a:t>Activities/ Process</a:t>
            </a:r>
            <a:endParaRPr lang="en-IN" sz="3200" b="1" dirty="0"/>
          </a:p>
        </p:txBody>
      </p:sp>
      <p:sp>
        <p:nvSpPr>
          <p:cNvPr id="3" name="Text Placeholder 2"/>
          <p:cNvSpPr>
            <a:spLocks noGrp="1"/>
          </p:cNvSpPr>
          <p:nvPr>
            <p:ph type="body" idx="1"/>
          </p:nvPr>
        </p:nvSpPr>
        <p:spPr>
          <a:xfrm>
            <a:off x="628650" y="1121216"/>
            <a:ext cx="7886700" cy="4351200"/>
          </a:xfrm>
        </p:spPr>
        <p:txBody>
          <a:bodyPr>
            <a:normAutofit/>
          </a:bodyPr>
          <a:lstStyle/>
          <a:p>
            <a:r>
              <a:rPr lang="en-US" sz="2400" dirty="0" smtClean="0"/>
              <a:t>There </a:t>
            </a:r>
            <a:r>
              <a:rPr lang="en-US" sz="2400" dirty="0"/>
              <a:t>are a number of activities performed for designing user interface. The process of GUI design and implementation is alike SDLC. </a:t>
            </a:r>
            <a:endParaRPr lang="en-US" sz="2400" dirty="0" smtClean="0"/>
          </a:p>
          <a:p>
            <a:r>
              <a:rPr lang="en-US" sz="2400" dirty="0" smtClean="0"/>
              <a:t>Any </a:t>
            </a:r>
            <a:r>
              <a:rPr lang="en-US" sz="2400" dirty="0"/>
              <a:t>model can be used for GUI implementation among Waterfall, Iterative or Spiral Model.</a:t>
            </a:r>
          </a:p>
          <a:p>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366" y="2995292"/>
            <a:ext cx="3041578" cy="389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Google Shape;632;p84"/>
          <p:cNvPicPr preferRelativeResize="0"/>
          <p:nvPr/>
        </p:nvPicPr>
        <p:blipFill>
          <a:blip r:embed="rId3">
            <a:alphaModFix/>
          </a:blip>
          <a:stretch>
            <a:fillRect/>
          </a:stretch>
        </p:blipFill>
        <p:spPr>
          <a:xfrm>
            <a:off x="4644008" y="2995292"/>
            <a:ext cx="3300401" cy="3282331"/>
          </a:xfrm>
          <a:prstGeom prst="rect">
            <a:avLst/>
          </a:prstGeom>
          <a:noFill/>
          <a:ln>
            <a:noFill/>
          </a:ln>
        </p:spPr>
      </p:pic>
      <p:sp>
        <p:nvSpPr>
          <p:cNvPr id="4" name="TextBox 3"/>
          <p:cNvSpPr txBox="1"/>
          <p:nvPr/>
        </p:nvSpPr>
        <p:spPr>
          <a:xfrm>
            <a:off x="4963886" y="6101993"/>
            <a:ext cx="2006081" cy="923330"/>
          </a:xfrm>
          <a:prstGeom prst="rect">
            <a:avLst/>
          </a:prstGeom>
          <a:noFill/>
        </p:spPr>
        <p:txBody>
          <a:bodyPr wrap="square" rtlCol="0">
            <a:spAutoFit/>
          </a:bodyPr>
          <a:lstStyle/>
          <a:p>
            <a:pPr lvl="0"/>
            <a:r>
              <a:rPr lang="en-GB" dirty="0">
                <a:solidFill>
                  <a:schemeClr val="dk1"/>
                </a:solidFill>
                <a:latin typeface="Calibri"/>
                <a:ea typeface="Calibri"/>
                <a:cs typeface="Calibri"/>
                <a:sym typeface="Calibri"/>
              </a:rPr>
              <a:t>Iterative, Incremental </a:t>
            </a:r>
          </a:p>
          <a:p>
            <a:endParaRPr lang="en-IN" dirty="0"/>
          </a:p>
        </p:txBody>
      </p:sp>
    </p:spTree>
    <p:extLst>
      <p:ext uri="{BB962C8B-B14F-4D97-AF65-F5344CB8AC3E}">
        <p14:creationId xmlns:p14="http://schemas.microsoft.com/office/powerpoint/2010/main" val="16150554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85"/>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a:t>User Interface Design Process</a:t>
            </a:r>
            <a:endParaRPr sz="1900" b="1"/>
          </a:p>
        </p:txBody>
      </p:sp>
      <p:sp>
        <p:nvSpPr>
          <p:cNvPr id="638" name="Google Shape;638;p85"/>
          <p:cNvSpPr txBox="1">
            <a:spLocks noGrp="1"/>
          </p:cNvSpPr>
          <p:nvPr>
            <p:ph type="body" idx="1"/>
          </p:nvPr>
        </p:nvSpPr>
        <p:spPr>
          <a:xfrm>
            <a:off x="228275" y="758200"/>
            <a:ext cx="8526600" cy="33004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000" b="1" i="1" dirty="0" smtClean="0">
                <a:solidFill>
                  <a:srgbClr val="0070C0"/>
                </a:solidFill>
                <a:latin typeface="Calibri"/>
                <a:ea typeface="Calibri"/>
                <a:cs typeface="Calibri"/>
                <a:sym typeface="Calibri"/>
              </a:rPr>
              <a:t>(1) Interface analysis </a:t>
            </a:r>
            <a:r>
              <a:rPr lang="en-GB" sz="2000" b="1" i="1" dirty="0" smtClean="0">
                <a:solidFill>
                  <a:schemeClr val="dk1"/>
                </a:solidFill>
                <a:latin typeface="Calibri"/>
                <a:ea typeface="Calibri"/>
                <a:cs typeface="Calibri"/>
                <a:sym typeface="Calibri"/>
              </a:rPr>
              <a:t>– </a:t>
            </a:r>
            <a:r>
              <a:rPr lang="en-GB" sz="2000" dirty="0" smtClean="0">
                <a:solidFill>
                  <a:schemeClr val="dk1"/>
                </a:solidFill>
                <a:latin typeface="Calibri"/>
                <a:ea typeface="Calibri"/>
                <a:cs typeface="Calibri"/>
                <a:sym typeface="Calibri"/>
              </a:rPr>
              <a:t>focuses on the </a:t>
            </a:r>
            <a:r>
              <a:rPr lang="en-GB" sz="2000" b="1" dirty="0" smtClean="0">
                <a:solidFill>
                  <a:schemeClr val="dk1"/>
                </a:solidFill>
                <a:latin typeface="Calibri"/>
                <a:ea typeface="Calibri"/>
                <a:cs typeface="Calibri"/>
                <a:sym typeface="Calibri"/>
              </a:rPr>
              <a:t>profile of the users</a:t>
            </a:r>
            <a:r>
              <a:rPr lang="en-GB" sz="2000" dirty="0" smtClean="0">
                <a:solidFill>
                  <a:schemeClr val="dk1"/>
                </a:solidFill>
                <a:latin typeface="Calibri"/>
                <a:ea typeface="Calibri"/>
                <a:cs typeface="Calibri"/>
                <a:sym typeface="Calibri"/>
              </a:rPr>
              <a:t> who will interact with the system. Different </a:t>
            </a:r>
            <a:r>
              <a:rPr lang="en-GB" sz="2000" b="1" dirty="0" smtClean="0">
                <a:solidFill>
                  <a:schemeClr val="dk1"/>
                </a:solidFill>
                <a:latin typeface="Calibri"/>
                <a:ea typeface="Calibri"/>
                <a:cs typeface="Calibri"/>
                <a:sym typeface="Calibri"/>
              </a:rPr>
              <a:t>user categories </a:t>
            </a:r>
            <a:r>
              <a:rPr lang="en-GB" sz="2000" dirty="0" smtClean="0">
                <a:solidFill>
                  <a:schemeClr val="dk1"/>
                </a:solidFill>
                <a:latin typeface="Calibri"/>
                <a:ea typeface="Calibri"/>
                <a:cs typeface="Calibri"/>
                <a:sym typeface="Calibri"/>
              </a:rPr>
              <a:t>are </a:t>
            </a:r>
            <a:r>
              <a:rPr lang="en-GB" sz="2000" b="1" dirty="0" smtClean="0">
                <a:solidFill>
                  <a:schemeClr val="dk1"/>
                </a:solidFill>
                <a:latin typeface="Calibri"/>
                <a:ea typeface="Calibri"/>
                <a:cs typeface="Calibri"/>
                <a:sym typeface="Calibri"/>
              </a:rPr>
              <a:t>defined</a:t>
            </a:r>
            <a:r>
              <a:rPr lang="en-GB" sz="2000" dirty="0" smtClean="0">
                <a:solidFill>
                  <a:schemeClr val="dk1"/>
                </a:solidFill>
                <a:latin typeface="Calibri"/>
                <a:ea typeface="Calibri"/>
                <a:cs typeface="Calibri"/>
                <a:sym typeface="Calibri"/>
              </a:rPr>
              <a:t>.</a:t>
            </a:r>
            <a:endParaRPr sz="2000" dirty="0" smtClean="0">
              <a:solidFill>
                <a:schemeClr val="dk1"/>
              </a:solidFill>
              <a:latin typeface="Calibri"/>
              <a:ea typeface="Calibri"/>
              <a:cs typeface="Calibri"/>
              <a:sym typeface="Calibri"/>
            </a:endParaRPr>
          </a:p>
          <a:p>
            <a:pPr marL="457200" lvl="0" indent="0" algn="just" rtl="0">
              <a:spcBef>
                <a:spcPts val="0"/>
              </a:spcBef>
              <a:spcAft>
                <a:spcPts val="0"/>
              </a:spcAft>
              <a:buNone/>
            </a:pPr>
            <a:r>
              <a:rPr lang="en-GB" sz="2000" dirty="0" smtClean="0">
                <a:solidFill>
                  <a:schemeClr val="dk1"/>
                </a:solidFill>
              </a:rPr>
              <a:t>•</a:t>
            </a:r>
            <a:r>
              <a:rPr lang="en-GB" sz="2000" dirty="0" smtClean="0">
                <a:solidFill>
                  <a:schemeClr val="dk1"/>
                </a:solidFill>
                <a:latin typeface="Calibri"/>
                <a:ea typeface="Calibri"/>
                <a:cs typeface="Calibri"/>
                <a:sym typeface="Calibri"/>
              </a:rPr>
              <a:t>Once </a:t>
            </a:r>
            <a:r>
              <a:rPr lang="en-GB" sz="2000" b="1" dirty="0" smtClean="0">
                <a:solidFill>
                  <a:schemeClr val="dk1"/>
                </a:solidFill>
                <a:latin typeface="Calibri"/>
                <a:ea typeface="Calibri"/>
                <a:cs typeface="Calibri"/>
                <a:sym typeface="Calibri"/>
              </a:rPr>
              <a:t>general requirements </a:t>
            </a:r>
            <a:r>
              <a:rPr lang="en-GB" sz="2000" dirty="0" smtClean="0">
                <a:solidFill>
                  <a:schemeClr val="dk1"/>
                </a:solidFill>
                <a:latin typeface="Calibri"/>
                <a:ea typeface="Calibri"/>
                <a:cs typeface="Calibri"/>
                <a:sym typeface="Calibri"/>
              </a:rPr>
              <a:t>have been </a:t>
            </a:r>
            <a:r>
              <a:rPr lang="en-GB" sz="2000" b="1" dirty="0" smtClean="0">
                <a:solidFill>
                  <a:schemeClr val="dk1"/>
                </a:solidFill>
                <a:latin typeface="Calibri"/>
                <a:ea typeface="Calibri"/>
                <a:cs typeface="Calibri"/>
                <a:sym typeface="Calibri"/>
              </a:rPr>
              <a:t>defined</a:t>
            </a:r>
            <a:r>
              <a:rPr lang="en-GB" sz="2000" dirty="0" smtClean="0">
                <a:solidFill>
                  <a:schemeClr val="dk1"/>
                </a:solidFill>
                <a:latin typeface="Calibri"/>
                <a:ea typeface="Calibri"/>
                <a:cs typeface="Calibri"/>
                <a:sym typeface="Calibri"/>
              </a:rPr>
              <a:t>, a more </a:t>
            </a:r>
            <a:r>
              <a:rPr lang="en-GB" sz="2000" b="1" dirty="0" smtClean="0">
                <a:solidFill>
                  <a:schemeClr val="dk1"/>
                </a:solidFill>
                <a:latin typeface="Calibri"/>
                <a:ea typeface="Calibri"/>
                <a:cs typeface="Calibri"/>
                <a:sym typeface="Calibri"/>
              </a:rPr>
              <a:t>detailed </a:t>
            </a:r>
            <a:r>
              <a:rPr lang="en-GB" sz="2000" b="1" i="1" dirty="0" smtClean="0">
                <a:solidFill>
                  <a:schemeClr val="dk1"/>
                </a:solidFill>
                <a:latin typeface="Calibri"/>
                <a:ea typeface="Calibri"/>
                <a:cs typeface="Calibri"/>
                <a:sym typeface="Calibri"/>
              </a:rPr>
              <a:t>task analysis </a:t>
            </a:r>
            <a:r>
              <a:rPr lang="en-GB" sz="2000" dirty="0" smtClean="0">
                <a:solidFill>
                  <a:schemeClr val="dk1"/>
                </a:solidFill>
                <a:latin typeface="Calibri"/>
                <a:ea typeface="Calibri"/>
                <a:cs typeface="Calibri"/>
                <a:sym typeface="Calibri"/>
              </a:rPr>
              <a:t>is conducted.</a:t>
            </a:r>
          </a:p>
          <a:p>
            <a:pPr lvl="1" indent="0" algn="just">
              <a:spcBef>
                <a:spcPts val="0"/>
              </a:spcBef>
              <a:buNone/>
            </a:pPr>
            <a:r>
              <a:rPr lang="en-GB" sz="1600" dirty="0" smtClean="0">
                <a:solidFill>
                  <a:schemeClr val="dk1"/>
                </a:solidFill>
                <a:latin typeface="Calibri"/>
                <a:ea typeface="Calibri"/>
                <a:cs typeface="Calibri"/>
                <a:sym typeface="Calibri"/>
              </a:rPr>
              <a:t>-User analysis</a:t>
            </a:r>
          </a:p>
          <a:p>
            <a:pPr lvl="1" indent="0" algn="just">
              <a:spcBef>
                <a:spcPts val="0"/>
              </a:spcBef>
              <a:buNone/>
            </a:pPr>
            <a:r>
              <a:rPr lang="en-GB" sz="1600" dirty="0" smtClean="0">
                <a:solidFill>
                  <a:schemeClr val="dk1"/>
                </a:solidFill>
                <a:latin typeface="Calibri"/>
                <a:ea typeface="Calibri"/>
                <a:cs typeface="Calibri"/>
                <a:sym typeface="Calibri"/>
              </a:rPr>
              <a:t>-Task analysis</a:t>
            </a:r>
            <a:endParaRPr sz="1600" dirty="0" smtClean="0">
              <a:solidFill>
                <a:schemeClr val="dk1"/>
              </a:solidFill>
              <a:latin typeface="Calibri"/>
              <a:ea typeface="Calibri"/>
              <a:cs typeface="Calibri"/>
              <a:sym typeface="Calibri"/>
            </a:endParaRPr>
          </a:p>
          <a:p>
            <a:pPr marL="0" lvl="0" indent="0" algn="l" rtl="0">
              <a:spcBef>
                <a:spcPts val="0"/>
              </a:spcBef>
              <a:spcAft>
                <a:spcPts val="0"/>
              </a:spcAft>
              <a:buNone/>
            </a:pPr>
            <a:r>
              <a:rPr lang="en-GB" sz="2000" b="1" dirty="0" smtClean="0">
                <a:solidFill>
                  <a:srgbClr val="0070C0"/>
                </a:solidFill>
                <a:latin typeface="Calibri"/>
                <a:ea typeface="Calibri"/>
                <a:cs typeface="Calibri"/>
                <a:sym typeface="Calibri"/>
              </a:rPr>
              <a:t>(2) I</a:t>
            </a:r>
            <a:r>
              <a:rPr lang="en-GB" sz="2000" b="1" i="1" dirty="0" smtClean="0">
                <a:solidFill>
                  <a:srgbClr val="0070C0"/>
                </a:solidFill>
                <a:latin typeface="Calibri"/>
                <a:ea typeface="Calibri"/>
                <a:cs typeface="Calibri"/>
                <a:sym typeface="Calibri"/>
              </a:rPr>
              <a:t>nterface design </a:t>
            </a:r>
            <a:r>
              <a:rPr lang="en-GB" sz="2000" b="1" i="1" dirty="0" smtClean="0">
                <a:solidFill>
                  <a:schemeClr val="dk1"/>
                </a:solidFill>
                <a:latin typeface="Calibri"/>
                <a:ea typeface="Calibri"/>
                <a:cs typeface="Calibri"/>
                <a:sym typeface="Calibri"/>
              </a:rPr>
              <a:t>–</a:t>
            </a:r>
            <a:r>
              <a:rPr lang="en-GB" sz="2000" i="1" dirty="0" smtClean="0">
                <a:solidFill>
                  <a:schemeClr val="dk1"/>
                </a:solidFill>
                <a:latin typeface="Calibri"/>
                <a:ea typeface="Calibri"/>
                <a:cs typeface="Calibri"/>
                <a:sym typeface="Calibri"/>
              </a:rPr>
              <a:t> </a:t>
            </a:r>
            <a:r>
              <a:rPr lang="en-GB" sz="2000" dirty="0" smtClean="0">
                <a:solidFill>
                  <a:schemeClr val="dk1"/>
                </a:solidFill>
                <a:latin typeface="Calibri"/>
                <a:ea typeface="Calibri"/>
                <a:cs typeface="Calibri"/>
                <a:sym typeface="Calibri"/>
              </a:rPr>
              <a:t>is to </a:t>
            </a:r>
            <a:r>
              <a:rPr lang="en-GB" sz="2000" b="1" dirty="0" smtClean="0">
                <a:solidFill>
                  <a:schemeClr val="dk1"/>
                </a:solidFill>
                <a:latin typeface="Calibri"/>
                <a:ea typeface="Calibri"/>
                <a:cs typeface="Calibri"/>
                <a:sym typeface="Calibri"/>
              </a:rPr>
              <a:t>define a set of interface objects and actions </a:t>
            </a:r>
            <a:r>
              <a:rPr lang="en-GB" sz="2000" dirty="0" smtClean="0">
                <a:solidFill>
                  <a:schemeClr val="dk1"/>
                </a:solidFill>
                <a:latin typeface="Calibri"/>
                <a:ea typeface="Calibri"/>
                <a:cs typeface="Calibri"/>
                <a:sym typeface="Calibri"/>
              </a:rPr>
              <a:t>that enable a user to perform all defined tasks to </a:t>
            </a:r>
            <a:r>
              <a:rPr lang="en-GB" sz="2000" b="1" dirty="0" smtClean="0">
                <a:solidFill>
                  <a:schemeClr val="dk1"/>
                </a:solidFill>
                <a:latin typeface="Calibri"/>
                <a:ea typeface="Calibri"/>
                <a:cs typeface="Calibri"/>
                <a:sym typeface="Calibri"/>
              </a:rPr>
              <a:t>meet goals </a:t>
            </a:r>
            <a:r>
              <a:rPr lang="en-GB" sz="2000" dirty="0" smtClean="0">
                <a:solidFill>
                  <a:schemeClr val="dk1"/>
                </a:solidFill>
                <a:latin typeface="Calibri"/>
                <a:ea typeface="Calibri"/>
                <a:cs typeface="Calibri"/>
                <a:sym typeface="Calibri"/>
              </a:rPr>
              <a:t>defined.</a:t>
            </a:r>
            <a:endParaRPr sz="2000" dirty="0" smtClean="0">
              <a:solidFill>
                <a:schemeClr val="dk1"/>
              </a:solidFill>
              <a:latin typeface="Calibri"/>
              <a:ea typeface="Calibri"/>
              <a:cs typeface="Calibri"/>
              <a:sym typeface="Calibri"/>
            </a:endParaRPr>
          </a:p>
          <a:p>
            <a:pPr marL="0" lvl="0" indent="0" algn="just" rtl="0">
              <a:spcBef>
                <a:spcPts val="0"/>
              </a:spcBef>
              <a:spcAft>
                <a:spcPts val="0"/>
              </a:spcAft>
              <a:buNone/>
            </a:pPr>
            <a:r>
              <a:rPr lang="en-GB" sz="2000" b="1" i="1" dirty="0" smtClean="0">
                <a:solidFill>
                  <a:srgbClr val="0070C0"/>
                </a:solidFill>
                <a:latin typeface="Calibri"/>
                <a:ea typeface="Calibri"/>
                <a:cs typeface="Calibri"/>
                <a:sym typeface="Calibri"/>
              </a:rPr>
              <a:t>(</a:t>
            </a:r>
            <a:r>
              <a:rPr lang="en-GB" sz="2000" b="1" i="1" dirty="0">
                <a:solidFill>
                  <a:srgbClr val="0070C0"/>
                </a:solidFill>
                <a:latin typeface="Calibri"/>
                <a:ea typeface="Calibri"/>
                <a:cs typeface="Calibri"/>
                <a:sym typeface="Calibri"/>
              </a:rPr>
              <a:t>3) Interface construction </a:t>
            </a:r>
            <a:r>
              <a:rPr lang="en-GB" sz="2000" i="1" dirty="0">
                <a:solidFill>
                  <a:srgbClr val="0070C0"/>
                </a:solidFill>
                <a:latin typeface="Calibri"/>
                <a:ea typeface="Calibri"/>
                <a:cs typeface="Calibri"/>
                <a:sym typeface="Calibri"/>
              </a:rPr>
              <a:t>- </a:t>
            </a:r>
            <a:r>
              <a:rPr lang="en-GB" sz="2000" dirty="0">
                <a:solidFill>
                  <a:schemeClr val="dk1"/>
                </a:solidFill>
                <a:latin typeface="Calibri"/>
                <a:ea typeface="Calibri"/>
                <a:cs typeface="Calibri"/>
                <a:sym typeface="Calibri"/>
              </a:rPr>
              <a:t>normally begins with the </a:t>
            </a:r>
            <a:r>
              <a:rPr lang="en-GB" sz="2000" b="1" dirty="0">
                <a:solidFill>
                  <a:schemeClr val="dk1"/>
                </a:solidFill>
                <a:latin typeface="Calibri"/>
                <a:ea typeface="Calibri"/>
                <a:cs typeface="Calibri"/>
                <a:sym typeface="Calibri"/>
              </a:rPr>
              <a:t>creation of a prototype </a:t>
            </a:r>
            <a:r>
              <a:rPr lang="en-GB" sz="2000" dirty="0">
                <a:solidFill>
                  <a:schemeClr val="dk1"/>
                </a:solidFill>
                <a:latin typeface="Calibri"/>
                <a:ea typeface="Calibri"/>
                <a:cs typeface="Calibri"/>
                <a:sym typeface="Calibri"/>
              </a:rPr>
              <a:t>that enables usage scenarios to be evaluated.</a:t>
            </a:r>
            <a:endParaRPr sz="2000" dirty="0">
              <a:solidFill>
                <a:schemeClr val="dk1"/>
              </a:solidFill>
              <a:latin typeface="Calibri"/>
              <a:ea typeface="Calibri"/>
              <a:cs typeface="Calibri"/>
              <a:sym typeface="Calibri"/>
            </a:endParaRPr>
          </a:p>
          <a:p>
            <a:pPr marL="0" lvl="0" indent="0" algn="just" rtl="0">
              <a:spcBef>
                <a:spcPts val="0"/>
              </a:spcBef>
              <a:spcAft>
                <a:spcPts val="0"/>
              </a:spcAft>
              <a:buNone/>
            </a:pPr>
            <a:r>
              <a:rPr lang="en-GB" sz="2000" b="1" i="1" dirty="0">
                <a:solidFill>
                  <a:srgbClr val="0070C0"/>
                </a:solidFill>
                <a:latin typeface="Calibri"/>
                <a:ea typeface="Calibri"/>
                <a:cs typeface="Calibri"/>
                <a:sym typeface="Calibri"/>
              </a:rPr>
              <a:t>(4) Interface validation - </a:t>
            </a:r>
            <a:r>
              <a:rPr lang="en-GB" sz="2000" dirty="0">
                <a:solidFill>
                  <a:schemeClr val="dk1"/>
                </a:solidFill>
                <a:latin typeface="Calibri"/>
                <a:ea typeface="Calibri"/>
                <a:cs typeface="Calibri"/>
                <a:sym typeface="Calibri"/>
              </a:rPr>
              <a:t>focuses on</a:t>
            </a:r>
            <a:endParaRPr sz="2000" dirty="0">
              <a:solidFill>
                <a:schemeClr val="dk1"/>
              </a:solidFill>
              <a:latin typeface="Calibri"/>
              <a:ea typeface="Calibri"/>
              <a:cs typeface="Calibri"/>
              <a:sym typeface="Calibri"/>
            </a:endParaRPr>
          </a:p>
          <a:p>
            <a:pPr marL="457200" lvl="0" indent="0" algn="just" rtl="0">
              <a:spcBef>
                <a:spcPts val="0"/>
              </a:spcBef>
              <a:spcAft>
                <a:spcPts val="0"/>
              </a:spcAft>
              <a:buNone/>
            </a:pPr>
            <a:r>
              <a:rPr lang="en-GB" sz="2000" dirty="0">
                <a:solidFill>
                  <a:schemeClr val="dk1"/>
                </a:solidFill>
              </a:rPr>
              <a:t>a)</a:t>
            </a:r>
            <a:r>
              <a:rPr lang="en-GB" sz="2000" dirty="0">
                <a:solidFill>
                  <a:schemeClr val="dk1"/>
                </a:solidFill>
                <a:latin typeface="Calibri"/>
                <a:ea typeface="Calibri"/>
                <a:cs typeface="Calibri"/>
                <a:sym typeface="Calibri"/>
              </a:rPr>
              <a:t>the ability of the interface to implement </a:t>
            </a:r>
            <a:r>
              <a:rPr lang="en-GB" sz="2000" b="1" dirty="0">
                <a:solidFill>
                  <a:schemeClr val="dk1"/>
                </a:solidFill>
                <a:latin typeface="Calibri"/>
                <a:ea typeface="Calibri"/>
                <a:cs typeface="Calibri"/>
                <a:sym typeface="Calibri"/>
              </a:rPr>
              <a:t>every user task correctly</a:t>
            </a:r>
            <a:r>
              <a:rPr lang="en-GB" sz="2000" dirty="0">
                <a:solidFill>
                  <a:schemeClr val="dk1"/>
                </a:solidFill>
                <a:latin typeface="Calibri"/>
                <a:ea typeface="Calibri"/>
                <a:cs typeface="Calibri"/>
                <a:sym typeface="Calibri"/>
              </a:rPr>
              <a:t>, </a:t>
            </a:r>
            <a:r>
              <a:rPr lang="en-GB" sz="2000" b="1" dirty="0">
                <a:solidFill>
                  <a:schemeClr val="dk1"/>
                </a:solidFill>
                <a:latin typeface="Calibri"/>
                <a:ea typeface="Calibri"/>
                <a:cs typeface="Calibri"/>
                <a:sym typeface="Calibri"/>
              </a:rPr>
              <a:t>accommodate all task va</a:t>
            </a:r>
            <a:r>
              <a:rPr lang="en-GB" sz="2000" dirty="0">
                <a:solidFill>
                  <a:schemeClr val="dk1"/>
                </a:solidFill>
                <a:latin typeface="Calibri"/>
                <a:ea typeface="Calibri"/>
                <a:cs typeface="Calibri"/>
                <a:sym typeface="Calibri"/>
              </a:rPr>
              <a:t>riations, and to </a:t>
            </a:r>
            <a:r>
              <a:rPr lang="en-GB" sz="2000" b="1" dirty="0">
                <a:solidFill>
                  <a:schemeClr val="dk1"/>
                </a:solidFill>
                <a:latin typeface="Calibri"/>
                <a:ea typeface="Calibri"/>
                <a:cs typeface="Calibri"/>
                <a:sym typeface="Calibri"/>
              </a:rPr>
              <a:t>achieve all general user requi</a:t>
            </a:r>
            <a:r>
              <a:rPr lang="en-GB" sz="2000" dirty="0">
                <a:solidFill>
                  <a:schemeClr val="dk1"/>
                </a:solidFill>
                <a:latin typeface="Calibri"/>
                <a:ea typeface="Calibri"/>
                <a:cs typeface="Calibri"/>
                <a:sym typeface="Calibri"/>
              </a:rPr>
              <a:t>rements;</a:t>
            </a:r>
            <a:endParaRPr sz="2000" dirty="0">
              <a:solidFill>
                <a:schemeClr val="dk1"/>
              </a:solidFill>
              <a:latin typeface="Calibri"/>
              <a:ea typeface="Calibri"/>
              <a:cs typeface="Calibri"/>
              <a:sym typeface="Calibri"/>
            </a:endParaRPr>
          </a:p>
          <a:p>
            <a:pPr marL="457200" lvl="0" indent="0" algn="just" rtl="0">
              <a:spcBef>
                <a:spcPts val="0"/>
              </a:spcBef>
              <a:spcAft>
                <a:spcPts val="0"/>
              </a:spcAft>
              <a:buNone/>
            </a:pPr>
            <a:r>
              <a:rPr lang="en-GB" sz="2000" dirty="0">
                <a:solidFill>
                  <a:schemeClr val="dk1"/>
                </a:solidFill>
              </a:rPr>
              <a:t>b)</a:t>
            </a:r>
            <a:r>
              <a:rPr lang="en-GB" sz="2000" dirty="0">
                <a:solidFill>
                  <a:schemeClr val="dk1"/>
                </a:solidFill>
                <a:latin typeface="Calibri"/>
                <a:ea typeface="Calibri"/>
                <a:cs typeface="Calibri"/>
                <a:sym typeface="Calibri"/>
              </a:rPr>
              <a:t>the degree to which the </a:t>
            </a:r>
            <a:r>
              <a:rPr lang="en-GB" sz="2000" b="1" dirty="0">
                <a:solidFill>
                  <a:schemeClr val="dk1"/>
                </a:solidFill>
                <a:latin typeface="Calibri"/>
                <a:ea typeface="Calibri"/>
                <a:cs typeface="Calibri"/>
                <a:sym typeface="Calibri"/>
              </a:rPr>
              <a:t>interface is easy to use </a:t>
            </a:r>
            <a:r>
              <a:rPr lang="en-GB" sz="2000" dirty="0">
                <a:solidFill>
                  <a:schemeClr val="dk1"/>
                </a:solidFill>
                <a:latin typeface="Calibri"/>
                <a:ea typeface="Calibri"/>
                <a:cs typeface="Calibri"/>
                <a:sym typeface="Calibri"/>
              </a:rPr>
              <a:t>and </a:t>
            </a:r>
            <a:r>
              <a:rPr lang="en-GB" sz="2000" b="1" dirty="0">
                <a:solidFill>
                  <a:schemeClr val="dk1"/>
                </a:solidFill>
                <a:latin typeface="Calibri"/>
                <a:ea typeface="Calibri"/>
                <a:cs typeface="Calibri"/>
                <a:sym typeface="Calibri"/>
              </a:rPr>
              <a:t>easy to learn</a:t>
            </a:r>
            <a:endParaRPr sz="2000" b="1" dirty="0">
              <a:solidFill>
                <a:schemeClr val="dk1"/>
              </a:solidFill>
              <a:latin typeface="Calibri"/>
              <a:ea typeface="Calibri"/>
              <a:cs typeface="Calibri"/>
              <a:sym typeface="Calibri"/>
            </a:endParaRPr>
          </a:p>
          <a:p>
            <a:pPr marL="457200" lvl="0" indent="0" algn="just" rtl="0">
              <a:spcBef>
                <a:spcPts val="0"/>
              </a:spcBef>
              <a:spcAft>
                <a:spcPts val="0"/>
              </a:spcAft>
              <a:buNone/>
            </a:pPr>
            <a:r>
              <a:rPr lang="en-GB" sz="2000" dirty="0">
                <a:solidFill>
                  <a:schemeClr val="dk1"/>
                </a:solidFill>
              </a:rPr>
              <a:t>c)</a:t>
            </a:r>
            <a:r>
              <a:rPr lang="en-GB" sz="2000" dirty="0">
                <a:solidFill>
                  <a:schemeClr val="dk1"/>
                </a:solidFill>
                <a:latin typeface="Calibri"/>
                <a:ea typeface="Calibri"/>
                <a:cs typeface="Calibri"/>
                <a:sym typeface="Calibri"/>
              </a:rPr>
              <a:t>the </a:t>
            </a:r>
            <a:r>
              <a:rPr lang="en-GB" sz="2000" b="1" dirty="0">
                <a:solidFill>
                  <a:schemeClr val="dk1"/>
                </a:solidFill>
                <a:latin typeface="Calibri"/>
                <a:ea typeface="Calibri"/>
                <a:cs typeface="Calibri"/>
                <a:sym typeface="Calibri"/>
              </a:rPr>
              <a:t>users’ acceptance </a:t>
            </a:r>
            <a:r>
              <a:rPr lang="en-GB" sz="2000" dirty="0">
                <a:solidFill>
                  <a:schemeClr val="dk1"/>
                </a:solidFill>
                <a:latin typeface="Calibri"/>
                <a:ea typeface="Calibri"/>
                <a:cs typeface="Calibri"/>
                <a:sym typeface="Calibri"/>
              </a:rPr>
              <a:t>of the </a:t>
            </a:r>
            <a:r>
              <a:rPr lang="en-GB" sz="2000" b="1" dirty="0">
                <a:solidFill>
                  <a:schemeClr val="dk1"/>
                </a:solidFill>
                <a:latin typeface="Calibri"/>
                <a:ea typeface="Calibri"/>
                <a:cs typeface="Calibri"/>
                <a:sym typeface="Calibri"/>
              </a:rPr>
              <a:t>interface</a:t>
            </a:r>
            <a:r>
              <a:rPr lang="en-GB" sz="2000" dirty="0">
                <a:solidFill>
                  <a:schemeClr val="dk1"/>
                </a:solidFill>
                <a:latin typeface="Calibri"/>
                <a:ea typeface="Calibri"/>
                <a:cs typeface="Calibri"/>
                <a:sym typeface="Calibri"/>
              </a:rPr>
              <a:t> as a useful tool in their work</a:t>
            </a:r>
            <a:endParaRPr sz="2000" dirty="0">
              <a:solidFill>
                <a:schemeClr val="dk1"/>
              </a:solidFill>
              <a:latin typeface="Calibri"/>
              <a:ea typeface="Calibri"/>
              <a:cs typeface="Calibri"/>
              <a:sym typeface="Calibri"/>
            </a:endParaRPr>
          </a:p>
          <a:p>
            <a:pPr marL="457200" lvl="0" indent="-7199"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39" name="Google Shape;639;p85"/>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40" name="Google Shape;640;p85"/>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43</a:t>
            </a:fld>
            <a:endParaRPr/>
          </a:p>
        </p:txBody>
      </p:sp>
    </p:spTree>
    <p:extLst>
      <p:ext uri="{BB962C8B-B14F-4D97-AF65-F5344CB8AC3E}">
        <p14:creationId xmlns:p14="http://schemas.microsoft.com/office/powerpoint/2010/main" val="410756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86"/>
          <p:cNvSpPr txBox="1">
            <a:spLocks noGrp="1"/>
          </p:cNvSpPr>
          <p:nvPr>
            <p:ph type="title"/>
          </p:nvPr>
        </p:nvSpPr>
        <p:spPr>
          <a:xfrm>
            <a:off x="272400" y="548680"/>
            <a:ext cx="8871600" cy="799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Arial"/>
              <a:buNone/>
            </a:pPr>
            <a:r>
              <a:rPr lang="en-GB" dirty="0"/>
              <a:t>Interface Analysis</a:t>
            </a:r>
            <a:endParaRPr sz="1900" b="1" dirty="0"/>
          </a:p>
        </p:txBody>
      </p:sp>
      <p:sp>
        <p:nvSpPr>
          <p:cNvPr id="646" name="Google Shape;646;p86"/>
          <p:cNvSpPr txBox="1">
            <a:spLocks noGrp="1"/>
          </p:cNvSpPr>
          <p:nvPr>
            <p:ph type="body" idx="1"/>
          </p:nvPr>
        </p:nvSpPr>
        <p:spPr>
          <a:xfrm>
            <a:off x="323528" y="1988840"/>
            <a:ext cx="8526600" cy="33004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200" b="1" dirty="0" smtClean="0">
                <a:solidFill>
                  <a:schemeClr val="dk1"/>
                </a:solidFill>
                <a:latin typeface="Calibri"/>
                <a:ea typeface="Calibri"/>
                <a:cs typeface="Calibri"/>
                <a:sym typeface="Calibri"/>
              </a:rPr>
              <a:t>Understand </a:t>
            </a:r>
            <a:r>
              <a:rPr lang="en-GB" sz="2200" b="1" dirty="0">
                <a:solidFill>
                  <a:schemeClr val="dk1"/>
                </a:solidFill>
                <a:latin typeface="Calibri"/>
                <a:ea typeface="Calibri"/>
                <a:cs typeface="Calibri"/>
                <a:sym typeface="Calibri"/>
              </a:rPr>
              <a:t>the problem before you attempt to design a solution.</a:t>
            </a:r>
            <a:endParaRPr sz="2200" b="1" dirty="0">
              <a:solidFill>
                <a:schemeClr val="dk1"/>
              </a:solidFill>
              <a:latin typeface="Calibri"/>
              <a:ea typeface="Calibri"/>
              <a:cs typeface="Calibri"/>
              <a:sym typeface="Calibri"/>
            </a:endParaRPr>
          </a:p>
          <a:p>
            <a:pPr marL="457200" lvl="0" indent="-368300" algn="just" rtl="0">
              <a:spcBef>
                <a:spcPts val="500"/>
              </a:spcBef>
              <a:spcAft>
                <a:spcPts val="0"/>
              </a:spcAft>
              <a:buClr>
                <a:schemeClr val="dk1"/>
              </a:buClr>
              <a:buSzPts val="2200"/>
              <a:buChar char="●"/>
            </a:pPr>
            <a:r>
              <a:rPr lang="en-GB" sz="2200" dirty="0">
                <a:solidFill>
                  <a:schemeClr val="dk1"/>
                </a:solidFill>
              </a:rPr>
              <a:t>T</a:t>
            </a:r>
            <a:r>
              <a:rPr lang="en-GB" sz="2200" dirty="0">
                <a:solidFill>
                  <a:schemeClr val="dk1"/>
                </a:solidFill>
                <a:latin typeface="Calibri"/>
                <a:ea typeface="Calibri"/>
                <a:cs typeface="Calibri"/>
                <a:sym typeface="Calibri"/>
              </a:rPr>
              <a:t>he people (</a:t>
            </a:r>
            <a:r>
              <a:rPr lang="en-GB" sz="2200" b="1" dirty="0">
                <a:solidFill>
                  <a:schemeClr val="dk1"/>
                </a:solidFill>
                <a:latin typeface="Calibri"/>
                <a:ea typeface="Calibri"/>
                <a:cs typeface="Calibri"/>
                <a:sym typeface="Calibri"/>
              </a:rPr>
              <a:t>end users</a:t>
            </a:r>
            <a:r>
              <a:rPr lang="en-GB" sz="2200" dirty="0">
                <a:solidFill>
                  <a:schemeClr val="dk1"/>
                </a:solidFill>
                <a:latin typeface="Calibri"/>
                <a:ea typeface="Calibri"/>
                <a:cs typeface="Calibri"/>
                <a:sym typeface="Calibri"/>
              </a:rPr>
              <a:t>) who will interact with the system through the interface.</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The </a:t>
            </a:r>
            <a:r>
              <a:rPr lang="en-GB" sz="2200" b="1" dirty="0">
                <a:solidFill>
                  <a:schemeClr val="dk1"/>
                </a:solidFill>
                <a:latin typeface="Calibri"/>
                <a:ea typeface="Calibri"/>
                <a:cs typeface="Calibri"/>
                <a:sym typeface="Calibri"/>
              </a:rPr>
              <a:t>tasks that end users must perfo</a:t>
            </a:r>
            <a:r>
              <a:rPr lang="en-GB" sz="2200" dirty="0">
                <a:solidFill>
                  <a:schemeClr val="dk1"/>
                </a:solidFill>
                <a:latin typeface="Calibri"/>
                <a:ea typeface="Calibri"/>
                <a:cs typeface="Calibri"/>
                <a:sym typeface="Calibri"/>
              </a:rPr>
              <a:t>rm to do their work,</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The </a:t>
            </a:r>
            <a:r>
              <a:rPr lang="en-GB" sz="2200" b="1" dirty="0">
                <a:solidFill>
                  <a:schemeClr val="dk1"/>
                </a:solidFill>
                <a:latin typeface="Calibri"/>
                <a:ea typeface="Calibri"/>
                <a:cs typeface="Calibri"/>
                <a:sym typeface="Calibri"/>
              </a:rPr>
              <a:t>content that is presented </a:t>
            </a:r>
            <a:r>
              <a:rPr lang="en-GB" sz="2200" dirty="0">
                <a:solidFill>
                  <a:schemeClr val="dk1"/>
                </a:solidFill>
                <a:latin typeface="Calibri"/>
                <a:ea typeface="Calibri"/>
                <a:cs typeface="Calibri"/>
                <a:sym typeface="Calibri"/>
              </a:rPr>
              <a:t>as part of the interface</a:t>
            </a:r>
            <a:endParaRPr sz="22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The </a:t>
            </a:r>
            <a:r>
              <a:rPr lang="en-GB" sz="2200" b="1" dirty="0">
                <a:solidFill>
                  <a:schemeClr val="dk1"/>
                </a:solidFill>
                <a:latin typeface="Calibri"/>
                <a:ea typeface="Calibri"/>
                <a:cs typeface="Calibri"/>
                <a:sym typeface="Calibri"/>
              </a:rPr>
              <a:t>environment</a:t>
            </a:r>
            <a:r>
              <a:rPr lang="en-GB" sz="2200" dirty="0">
                <a:solidFill>
                  <a:schemeClr val="dk1"/>
                </a:solidFill>
                <a:latin typeface="Calibri"/>
                <a:ea typeface="Calibri"/>
                <a:cs typeface="Calibri"/>
                <a:sym typeface="Calibri"/>
              </a:rPr>
              <a:t> in which these </a:t>
            </a:r>
            <a:r>
              <a:rPr lang="en-GB" sz="2200" b="1" dirty="0">
                <a:solidFill>
                  <a:schemeClr val="dk1"/>
                </a:solidFill>
                <a:latin typeface="Calibri"/>
                <a:ea typeface="Calibri"/>
                <a:cs typeface="Calibri"/>
                <a:sym typeface="Calibri"/>
              </a:rPr>
              <a:t>tasks will be conducted</a:t>
            </a:r>
            <a:endParaRPr sz="2200" b="1" i="1" dirty="0">
              <a:solidFill>
                <a:srgbClr val="0070C0"/>
              </a:solidFill>
              <a:latin typeface="Calibri"/>
              <a:ea typeface="Calibri"/>
              <a:cs typeface="Calibri"/>
              <a:sym typeface="Calibri"/>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47" name="Google Shape;647;p86"/>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48" name="Google Shape;648;p86"/>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44</a:t>
            </a:fld>
            <a:endParaRPr/>
          </a:p>
        </p:txBody>
      </p:sp>
    </p:spTree>
    <p:extLst>
      <p:ext uri="{BB962C8B-B14F-4D97-AF65-F5344CB8AC3E}">
        <p14:creationId xmlns:p14="http://schemas.microsoft.com/office/powerpoint/2010/main" val="144599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88"/>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Interface Analysis Steps</a:t>
            </a:r>
            <a:endParaRPr sz="1900" b="1"/>
          </a:p>
        </p:txBody>
      </p:sp>
      <p:sp>
        <p:nvSpPr>
          <p:cNvPr id="662" name="Google Shape;662;p88"/>
          <p:cNvSpPr txBox="1">
            <a:spLocks noGrp="1"/>
          </p:cNvSpPr>
          <p:nvPr>
            <p:ph type="body" idx="1"/>
          </p:nvPr>
        </p:nvSpPr>
        <p:spPr>
          <a:xfrm>
            <a:off x="228275" y="758200"/>
            <a:ext cx="8526600" cy="3300400"/>
          </a:xfrm>
          <a:prstGeom prst="rect">
            <a:avLst/>
          </a:prstGeom>
          <a:noFill/>
          <a:ln>
            <a:noFill/>
          </a:ln>
        </p:spPr>
        <p:txBody>
          <a:bodyPr spcFirstLastPara="1" wrap="square" lIns="68575" tIns="34275" rIns="68575" bIns="34275" anchor="t" anchorCtr="0">
            <a:noAutofit/>
          </a:bodyPr>
          <a:lstStyle/>
          <a:p>
            <a:pPr marL="457200" lvl="0" indent="-387350" algn="just" rtl="0">
              <a:spcBef>
                <a:spcPts val="0"/>
              </a:spcBef>
              <a:spcAft>
                <a:spcPts val="0"/>
              </a:spcAft>
              <a:buClr>
                <a:srgbClr val="073763"/>
              </a:buClr>
              <a:buSzPts val="2500"/>
              <a:buFont typeface="Calibri"/>
              <a:buAutoNum type="arabicPeriod"/>
            </a:pPr>
            <a:r>
              <a:rPr lang="en-GB" sz="2500" b="1" dirty="0" smtClean="0">
                <a:solidFill>
                  <a:srgbClr val="073763"/>
                </a:solidFill>
                <a:latin typeface="Calibri"/>
                <a:ea typeface="Calibri"/>
                <a:cs typeface="Calibri"/>
                <a:sym typeface="Calibri"/>
              </a:rPr>
              <a:t>User </a:t>
            </a:r>
            <a:r>
              <a:rPr lang="en-GB" sz="2500" b="1" dirty="0">
                <a:solidFill>
                  <a:srgbClr val="073763"/>
                </a:solidFill>
                <a:latin typeface="Calibri"/>
                <a:ea typeface="Calibri"/>
                <a:cs typeface="Calibri"/>
                <a:sym typeface="Calibri"/>
              </a:rPr>
              <a:t>Analysis</a:t>
            </a:r>
            <a:endParaRPr sz="2500" b="1" dirty="0">
              <a:solidFill>
                <a:srgbClr val="073763"/>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800" b="1" dirty="0">
                <a:solidFill>
                  <a:schemeClr val="dk1"/>
                </a:solidFill>
                <a:latin typeface="Calibri"/>
                <a:ea typeface="Calibri"/>
                <a:cs typeface="Calibri"/>
                <a:sym typeface="Calibri"/>
              </a:rPr>
              <a:t>User interviews</a:t>
            </a:r>
            <a:endParaRPr sz="2200" dirty="0">
              <a:solidFill>
                <a:schemeClr val="dk1"/>
              </a:solidFill>
            </a:endParaRPr>
          </a:p>
          <a:p>
            <a:pPr marL="457200" lvl="0" indent="-368300" algn="just" rtl="0">
              <a:spcBef>
                <a:spcPts val="0"/>
              </a:spcBef>
              <a:spcAft>
                <a:spcPts val="0"/>
              </a:spcAft>
              <a:buClr>
                <a:schemeClr val="dk1"/>
              </a:buClr>
              <a:buSzPts val="2200"/>
              <a:buChar char="●"/>
            </a:pPr>
            <a:r>
              <a:rPr lang="en-GB" sz="2800" b="1" dirty="0">
                <a:solidFill>
                  <a:schemeClr val="dk1"/>
                </a:solidFill>
                <a:latin typeface="Calibri"/>
                <a:ea typeface="Calibri"/>
                <a:cs typeface="Calibri"/>
                <a:sym typeface="Calibri"/>
              </a:rPr>
              <a:t>Sales Input</a:t>
            </a:r>
            <a:r>
              <a:rPr lang="en-GB" sz="2200" dirty="0">
                <a:solidFill>
                  <a:schemeClr val="dk1"/>
                </a:solidFill>
              </a:rPr>
              <a:t>:</a:t>
            </a:r>
            <a:r>
              <a:rPr lang="en-GB" sz="2800" dirty="0">
                <a:solidFill>
                  <a:schemeClr val="dk1"/>
                </a:solidFill>
              </a:rPr>
              <a:t> </a:t>
            </a:r>
            <a:r>
              <a:rPr lang="en-GB" sz="2800" dirty="0">
                <a:solidFill>
                  <a:schemeClr val="dk1"/>
                </a:solidFill>
                <a:latin typeface="Calibri"/>
                <a:ea typeface="Calibri"/>
                <a:cs typeface="Calibri"/>
                <a:sym typeface="Calibri"/>
              </a:rPr>
              <a:t>Sales people meet with users on a regular basis and can gather information.</a:t>
            </a:r>
            <a:endParaRPr sz="2800" dirty="0">
              <a:solidFill>
                <a:schemeClr val="dk1"/>
              </a:solidFill>
              <a:latin typeface="Calibri"/>
              <a:ea typeface="Calibri"/>
              <a:cs typeface="Calibri"/>
              <a:sym typeface="Calibri"/>
            </a:endParaRPr>
          </a:p>
          <a:p>
            <a:pPr marL="457200" lvl="0" indent="-368300" algn="just" rtl="0">
              <a:spcBef>
                <a:spcPts val="0"/>
              </a:spcBef>
              <a:spcAft>
                <a:spcPts val="0"/>
              </a:spcAft>
              <a:buSzPts val="2200"/>
              <a:buChar char="●"/>
            </a:pPr>
            <a:r>
              <a:rPr lang="en-GB" sz="2800" b="1" dirty="0">
                <a:solidFill>
                  <a:schemeClr val="dk1"/>
                </a:solidFill>
                <a:latin typeface="Calibri"/>
                <a:ea typeface="Calibri"/>
                <a:cs typeface="Calibri"/>
                <a:sym typeface="Calibri"/>
              </a:rPr>
              <a:t>Marketing input.</a:t>
            </a:r>
            <a:endParaRPr sz="2800" b="1" dirty="0">
              <a:solidFill>
                <a:schemeClr val="dk1"/>
              </a:solidFill>
              <a:latin typeface="Calibri"/>
              <a:ea typeface="Calibri"/>
              <a:cs typeface="Calibri"/>
              <a:sym typeface="Calibri"/>
            </a:endParaRPr>
          </a:p>
          <a:p>
            <a:pPr marL="457200" lvl="0" indent="-368300" algn="just" rtl="0">
              <a:spcBef>
                <a:spcPts val="0"/>
              </a:spcBef>
              <a:spcAft>
                <a:spcPts val="0"/>
              </a:spcAft>
              <a:buSzPts val="2200"/>
              <a:buChar char="●"/>
            </a:pPr>
            <a:r>
              <a:rPr lang="en-GB" sz="2800" b="1" dirty="0">
                <a:solidFill>
                  <a:schemeClr val="dk1"/>
                </a:solidFill>
                <a:latin typeface="Calibri"/>
                <a:ea typeface="Calibri"/>
                <a:cs typeface="Calibri"/>
                <a:sym typeface="Calibri"/>
              </a:rPr>
              <a:t>Support input - </a:t>
            </a:r>
            <a:r>
              <a:rPr lang="en-GB" sz="2800" dirty="0">
                <a:solidFill>
                  <a:schemeClr val="dk1"/>
                </a:solidFill>
                <a:latin typeface="Calibri"/>
                <a:ea typeface="Calibri"/>
                <a:cs typeface="Calibri"/>
                <a:sym typeface="Calibri"/>
              </a:rPr>
              <a:t>Support staff talks with users on a daily basis. </a:t>
            </a:r>
            <a:endParaRPr sz="2800" dirty="0">
              <a:solidFill>
                <a:schemeClr val="dk1"/>
              </a:solidFill>
              <a:latin typeface="Calibri"/>
              <a:ea typeface="Calibri"/>
              <a:cs typeface="Calibri"/>
              <a:sym typeface="Calibri"/>
            </a:endParaRPr>
          </a:p>
          <a:p>
            <a:pPr marL="457200" lvl="0" indent="0" algn="just" rtl="0">
              <a:spcBef>
                <a:spcPts val="500"/>
              </a:spcBef>
              <a:spcAft>
                <a:spcPts val="0"/>
              </a:spcAft>
              <a:buNone/>
            </a:pPr>
            <a:endParaRPr sz="2200" dirty="0">
              <a:solidFill>
                <a:schemeClr val="dk1"/>
              </a:solidFill>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63" name="Google Shape;663;p88"/>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64" name="Google Shape;664;p88"/>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45</a:t>
            </a:fld>
            <a:endParaRPr/>
          </a:p>
        </p:txBody>
      </p:sp>
    </p:spTree>
    <p:extLst>
      <p:ext uri="{BB962C8B-B14F-4D97-AF65-F5344CB8AC3E}">
        <p14:creationId xmlns:p14="http://schemas.microsoft.com/office/powerpoint/2010/main" val="96112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89"/>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Interface Analysis Steps</a:t>
            </a:r>
            <a:endParaRPr sz="1900" b="1"/>
          </a:p>
        </p:txBody>
      </p:sp>
      <p:sp>
        <p:nvSpPr>
          <p:cNvPr id="670" name="Google Shape;670;p89"/>
          <p:cNvSpPr txBox="1">
            <a:spLocks noGrp="1"/>
          </p:cNvSpPr>
          <p:nvPr>
            <p:ph type="body" idx="1"/>
          </p:nvPr>
        </p:nvSpPr>
        <p:spPr>
          <a:xfrm>
            <a:off x="228275" y="758200"/>
            <a:ext cx="8526600" cy="3300400"/>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500" b="1" dirty="0" smtClean="0">
                <a:solidFill>
                  <a:srgbClr val="073763"/>
                </a:solidFill>
                <a:latin typeface="Calibri"/>
                <a:ea typeface="Calibri"/>
                <a:cs typeface="Calibri"/>
                <a:sym typeface="Calibri"/>
              </a:rPr>
              <a:t>2. Task </a:t>
            </a:r>
            <a:r>
              <a:rPr lang="en-GB" sz="2500" b="1" dirty="0">
                <a:solidFill>
                  <a:srgbClr val="073763"/>
                </a:solidFill>
                <a:latin typeface="Calibri"/>
                <a:ea typeface="Calibri"/>
                <a:cs typeface="Calibri"/>
                <a:sym typeface="Calibri"/>
              </a:rPr>
              <a:t>Analysis &amp; Modelling  </a:t>
            </a:r>
            <a:endParaRPr sz="2500" b="1" dirty="0">
              <a:solidFill>
                <a:srgbClr val="073763"/>
              </a:solidFill>
              <a:latin typeface="Calibri"/>
              <a:ea typeface="Calibri"/>
              <a:cs typeface="Calibri"/>
              <a:sym typeface="Calibri"/>
            </a:endParaRPr>
          </a:p>
          <a:p>
            <a:pPr marL="457200" lvl="0" indent="-355600" algn="just" rtl="0">
              <a:spcBef>
                <a:spcPts val="0"/>
              </a:spcBef>
              <a:spcAft>
                <a:spcPts val="0"/>
              </a:spcAft>
              <a:buSzPts val="2000"/>
              <a:buChar char="●"/>
            </a:pPr>
            <a:r>
              <a:rPr lang="en-GB" sz="2000" dirty="0">
                <a:solidFill>
                  <a:schemeClr val="dk1"/>
                </a:solidFill>
                <a:latin typeface="Calibri"/>
                <a:ea typeface="Calibri"/>
                <a:cs typeface="Calibri"/>
                <a:sym typeface="Calibri"/>
              </a:rPr>
              <a:t>Gather information about the </a:t>
            </a:r>
            <a:r>
              <a:rPr lang="en-GB" sz="2000" b="1" dirty="0">
                <a:solidFill>
                  <a:schemeClr val="dk1"/>
                </a:solidFill>
                <a:latin typeface="Calibri"/>
                <a:ea typeface="Calibri"/>
                <a:cs typeface="Calibri"/>
                <a:sym typeface="Calibri"/>
              </a:rPr>
              <a:t>tasks and subtasks </a:t>
            </a:r>
            <a:r>
              <a:rPr lang="en-GB" sz="2000" dirty="0">
                <a:solidFill>
                  <a:schemeClr val="dk1"/>
                </a:solidFill>
                <a:latin typeface="Calibri"/>
                <a:ea typeface="Calibri"/>
                <a:cs typeface="Calibri"/>
                <a:sym typeface="Calibri"/>
              </a:rPr>
              <a:t>performed by the user, their </a:t>
            </a:r>
            <a:r>
              <a:rPr lang="en-GB" sz="2000" b="1" dirty="0">
                <a:solidFill>
                  <a:schemeClr val="dk1"/>
                </a:solidFill>
                <a:latin typeface="Calibri"/>
                <a:ea typeface="Calibri"/>
                <a:cs typeface="Calibri"/>
                <a:sym typeface="Calibri"/>
              </a:rPr>
              <a:t>workflow and hierarchy</a:t>
            </a:r>
            <a:r>
              <a:rPr lang="en-GB" sz="2000" dirty="0">
                <a:solidFill>
                  <a:schemeClr val="dk1"/>
                </a:solidFill>
                <a:latin typeface="Calibri"/>
                <a:ea typeface="Calibri"/>
                <a:cs typeface="Calibri"/>
                <a:sym typeface="Calibri"/>
              </a:rPr>
              <a:t> </a:t>
            </a:r>
            <a:endParaRPr sz="2000"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b="1" dirty="0">
                <a:solidFill>
                  <a:schemeClr val="dk1"/>
                </a:solidFill>
                <a:latin typeface="Calibri"/>
                <a:ea typeface="Calibri"/>
                <a:cs typeface="Calibri"/>
                <a:sym typeface="Calibri"/>
              </a:rPr>
              <a:t>Use cases.</a:t>
            </a:r>
            <a:endParaRPr sz="2000" b="1"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b="1" dirty="0">
                <a:solidFill>
                  <a:schemeClr val="dk1"/>
                </a:solidFill>
                <a:latin typeface="Calibri"/>
                <a:ea typeface="Calibri"/>
                <a:cs typeface="Calibri"/>
                <a:sym typeface="Calibri"/>
              </a:rPr>
              <a:t>Task elaboration </a:t>
            </a:r>
            <a:r>
              <a:rPr lang="en-GB" sz="2000" dirty="0">
                <a:solidFill>
                  <a:schemeClr val="dk1"/>
                </a:solidFill>
                <a:latin typeface="Calibri"/>
                <a:ea typeface="Calibri"/>
                <a:cs typeface="Calibri"/>
                <a:sym typeface="Calibri"/>
              </a:rPr>
              <a:t>- stepwise elaboration (also called functional decomposition or stepwise refinement) for software to accomplish some desired function.</a:t>
            </a:r>
            <a:endParaRPr sz="2000"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b="1" dirty="0">
                <a:solidFill>
                  <a:schemeClr val="dk1"/>
                </a:solidFill>
                <a:latin typeface="Calibri"/>
                <a:ea typeface="Calibri"/>
                <a:cs typeface="Calibri"/>
                <a:sym typeface="Calibri"/>
              </a:rPr>
              <a:t>Object elaboration: </a:t>
            </a:r>
            <a:r>
              <a:rPr lang="en-GB" sz="2000" dirty="0">
                <a:solidFill>
                  <a:schemeClr val="dk1"/>
                </a:solidFill>
                <a:latin typeface="Calibri"/>
                <a:ea typeface="Calibri"/>
                <a:cs typeface="Calibri"/>
                <a:sym typeface="Calibri"/>
              </a:rPr>
              <a:t>Examine use case and other information obtained from the user.</a:t>
            </a:r>
            <a:endParaRPr sz="2000"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b="1" dirty="0">
                <a:solidFill>
                  <a:schemeClr val="dk1"/>
                </a:solidFill>
                <a:latin typeface="Calibri"/>
                <a:ea typeface="Calibri"/>
                <a:cs typeface="Calibri"/>
                <a:sym typeface="Calibri"/>
              </a:rPr>
              <a:t>Workflow analysis - </a:t>
            </a:r>
            <a:r>
              <a:rPr lang="en-GB" sz="2000" dirty="0">
                <a:solidFill>
                  <a:schemeClr val="dk1"/>
                </a:solidFill>
                <a:latin typeface="Calibri"/>
                <a:ea typeface="Calibri"/>
                <a:cs typeface="Calibri"/>
                <a:sym typeface="Calibri"/>
              </a:rPr>
              <a:t>When a number of different users, makes use of a user interface workflow analysis becomes important.</a:t>
            </a:r>
            <a:endParaRPr sz="2000"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dirty="0">
                <a:solidFill>
                  <a:schemeClr val="dk1"/>
                </a:solidFill>
                <a:latin typeface="Calibri"/>
                <a:ea typeface="Calibri"/>
                <a:cs typeface="Calibri"/>
                <a:sym typeface="Calibri"/>
              </a:rPr>
              <a:t> </a:t>
            </a:r>
            <a:r>
              <a:rPr lang="en-GB" sz="2000" dirty="0" err="1">
                <a:solidFill>
                  <a:schemeClr val="dk1"/>
                </a:solidFill>
                <a:latin typeface="Calibri"/>
                <a:ea typeface="Calibri"/>
                <a:cs typeface="Calibri"/>
                <a:sym typeface="Calibri"/>
              </a:rPr>
              <a:t>E.g</a:t>
            </a:r>
            <a:r>
              <a:rPr lang="en-GB" sz="2000" dirty="0">
                <a:solidFill>
                  <a:schemeClr val="dk1"/>
                </a:solidFill>
                <a:latin typeface="Calibri"/>
                <a:ea typeface="Calibri"/>
                <a:cs typeface="Calibri"/>
                <a:sym typeface="Calibri"/>
              </a:rPr>
              <a:t>: </a:t>
            </a:r>
            <a:r>
              <a:rPr lang="en-GB" sz="2000" dirty="0" smtClean="0">
                <a:solidFill>
                  <a:schemeClr val="dk1"/>
                </a:solidFill>
                <a:latin typeface="Calibri"/>
                <a:ea typeface="Calibri"/>
                <a:cs typeface="Calibri"/>
                <a:sym typeface="Calibri"/>
              </a:rPr>
              <a:t>verification process</a:t>
            </a:r>
            <a:endParaRPr sz="2000" dirty="0">
              <a:solidFill>
                <a:schemeClr val="dk1"/>
              </a:solidFill>
              <a:latin typeface="Calibri"/>
              <a:ea typeface="Calibri"/>
              <a:cs typeface="Calibri"/>
              <a:sym typeface="Calibri"/>
            </a:endParaRPr>
          </a:p>
          <a:p>
            <a:pPr marL="914400" lvl="1" indent="-355600" algn="just" rtl="0">
              <a:spcBef>
                <a:spcPts val="0"/>
              </a:spcBef>
              <a:spcAft>
                <a:spcPts val="0"/>
              </a:spcAft>
              <a:buClr>
                <a:schemeClr val="dk1"/>
              </a:buClr>
              <a:buSzPts val="2000"/>
              <a:buFont typeface="Calibri"/>
              <a:buChar char="○"/>
            </a:pPr>
            <a:r>
              <a:rPr lang="en-GB" sz="2000" b="1" dirty="0">
                <a:solidFill>
                  <a:schemeClr val="dk1"/>
                </a:solidFill>
                <a:latin typeface="Calibri"/>
                <a:ea typeface="Calibri"/>
                <a:cs typeface="Calibri"/>
                <a:sym typeface="Calibri"/>
              </a:rPr>
              <a:t>Hierarchical representation - </a:t>
            </a:r>
            <a:r>
              <a:rPr lang="en-GB" sz="2000" dirty="0">
                <a:solidFill>
                  <a:schemeClr val="dk1"/>
                </a:solidFill>
                <a:latin typeface="Calibri"/>
                <a:ea typeface="Calibri"/>
                <a:cs typeface="Calibri"/>
                <a:sym typeface="Calibri"/>
              </a:rPr>
              <a:t>Once workflow has been established, a task hierarchy can be defined for each user type</a:t>
            </a:r>
            <a:r>
              <a:rPr lang="en-GB" sz="2000" dirty="0" smtClean="0">
                <a:solidFill>
                  <a:schemeClr val="dk1"/>
                </a:solidFill>
                <a:latin typeface="Calibri"/>
                <a:ea typeface="Calibri"/>
                <a:cs typeface="Calibri"/>
                <a:sym typeface="Calibri"/>
              </a:rPr>
              <a:t>.</a:t>
            </a:r>
          </a:p>
          <a:p>
            <a:pPr marL="914400" lvl="1" indent="-355600" algn="just" rtl="0">
              <a:spcBef>
                <a:spcPts val="0"/>
              </a:spcBef>
              <a:spcAft>
                <a:spcPts val="0"/>
              </a:spcAft>
              <a:buClr>
                <a:schemeClr val="dk1"/>
              </a:buClr>
              <a:buSzPts val="2000"/>
              <a:buFont typeface="Calibri"/>
              <a:buChar char="○"/>
            </a:pPr>
            <a:r>
              <a:rPr lang="en-GB" sz="2000" dirty="0" smtClean="0">
                <a:solidFill>
                  <a:schemeClr val="dk1"/>
                </a:solidFill>
                <a:latin typeface="Calibri"/>
                <a:ea typeface="Calibri"/>
                <a:cs typeface="Calibri"/>
                <a:sym typeface="Calibri"/>
              </a:rPr>
              <a:t>Ex. Top level tasks-&gt; sub tasks</a:t>
            </a:r>
            <a:endParaRPr sz="2000" dirty="0">
              <a:solidFill>
                <a:schemeClr val="dk1"/>
              </a:solidFill>
              <a:latin typeface="Calibri"/>
              <a:ea typeface="Calibri"/>
              <a:cs typeface="Calibri"/>
              <a:sym typeface="Calibri"/>
            </a:endParaRPr>
          </a:p>
          <a:p>
            <a:pPr marL="0" lvl="0" indent="0" algn="just" rtl="0">
              <a:spcBef>
                <a:spcPts val="1000"/>
              </a:spcBef>
              <a:spcAft>
                <a:spcPts val="0"/>
              </a:spcAft>
              <a:buNone/>
            </a:pPr>
            <a:endParaRPr sz="2800" dirty="0">
              <a:solidFill>
                <a:schemeClr val="dk1"/>
              </a:solidFill>
              <a:latin typeface="Calibri"/>
              <a:ea typeface="Calibri"/>
              <a:cs typeface="Calibri"/>
              <a:sym typeface="Calibri"/>
            </a:endParaRPr>
          </a:p>
          <a:p>
            <a:pPr marL="457200" lvl="0" indent="0" algn="just" rtl="0">
              <a:spcBef>
                <a:spcPts val="500"/>
              </a:spcBef>
              <a:spcAft>
                <a:spcPts val="0"/>
              </a:spcAft>
              <a:buNone/>
            </a:pPr>
            <a:endParaRPr sz="2200" dirty="0">
              <a:solidFill>
                <a:schemeClr val="dk1"/>
              </a:solidFill>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71" name="Google Shape;671;p89"/>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72" name="Google Shape;672;p89"/>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46</a:t>
            </a:fld>
            <a:endParaRPr/>
          </a:p>
        </p:txBody>
      </p:sp>
    </p:spTree>
    <p:extLst>
      <p:ext uri="{BB962C8B-B14F-4D97-AF65-F5344CB8AC3E}">
        <p14:creationId xmlns:p14="http://schemas.microsoft.com/office/powerpoint/2010/main" val="136338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90"/>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Interface Analysis Steps</a:t>
            </a:r>
            <a:endParaRPr sz="1900" b="1"/>
          </a:p>
        </p:txBody>
      </p:sp>
      <p:sp>
        <p:nvSpPr>
          <p:cNvPr id="678" name="Google Shape;678;p90"/>
          <p:cNvSpPr txBox="1">
            <a:spLocks noGrp="1"/>
          </p:cNvSpPr>
          <p:nvPr>
            <p:ph type="body" idx="1"/>
          </p:nvPr>
        </p:nvSpPr>
        <p:spPr>
          <a:xfrm>
            <a:off x="498864" y="1766595"/>
            <a:ext cx="7758729" cy="3026012"/>
          </a:xfrm>
          <a:prstGeom prst="rect">
            <a:avLst/>
          </a:prstGeom>
          <a:noFill/>
          <a:ln>
            <a:noFill/>
          </a:ln>
        </p:spPr>
        <p:txBody>
          <a:bodyPr spcFirstLastPara="1" wrap="square" lIns="68575" tIns="34275" rIns="68575" bIns="34275" anchor="t" anchorCtr="0">
            <a:noAutofit/>
          </a:bodyPr>
          <a:lstStyle/>
          <a:p>
            <a:pPr marL="0" lvl="0" indent="0" algn="just" rtl="0">
              <a:spcBef>
                <a:spcPts val="0"/>
              </a:spcBef>
              <a:spcAft>
                <a:spcPts val="0"/>
              </a:spcAft>
              <a:buNone/>
            </a:pPr>
            <a:r>
              <a:rPr lang="en-GB" sz="2400" b="1" dirty="0">
                <a:solidFill>
                  <a:srgbClr val="3D85C6"/>
                </a:solidFill>
                <a:latin typeface="Calibri"/>
                <a:ea typeface="Calibri"/>
                <a:cs typeface="Calibri"/>
                <a:sym typeface="Calibri"/>
              </a:rPr>
              <a:t>3. Analysis of Display Content </a:t>
            </a:r>
            <a:r>
              <a:rPr lang="en-GB" sz="2400" b="1" dirty="0" smtClean="0">
                <a:solidFill>
                  <a:srgbClr val="3D85C6"/>
                </a:solidFill>
                <a:latin typeface="Calibri"/>
                <a:ea typeface="Calibri"/>
                <a:cs typeface="Calibri"/>
                <a:sym typeface="Calibri"/>
              </a:rPr>
              <a:t>– </a:t>
            </a:r>
          </a:p>
          <a:p>
            <a:pPr marL="0" lvl="0" indent="0" algn="just" rtl="0">
              <a:spcBef>
                <a:spcPts val="0"/>
              </a:spcBef>
              <a:spcAft>
                <a:spcPts val="0"/>
              </a:spcAft>
              <a:buNone/>
            </a:pPr>
            <a:r>
              <a:rPr lang="en-GB" sz="2400" dirty="0">
                <a:solidFill>
                  <a:schemeClr val="dk1"/>
                </a:solidFill>
                <a:latin typeface="Calibri"/>
                <a:ea typeface="Calibri"/>
                <a:cs typeface="Calibri"/>
                <a:sym typeface="Calibri"/>
              </a:rPr>
              <a:t>T</a:t>
            </a:r>
            <a:r>
              <a:rPr lang="en-GB" sz="2400" dirty="0" smtClean="0">
                <a:solidFill>
                  <a:schemeClr val="dk1"/>
                </a:solidFill>
                <a:latin typeface="Calibri"/>
                <a:ea typeface="Calibri"/>
                <a:cs typeface="Calibri"/>
                <a:sym typeface="Calibri"/>
              </a:rPr>
              <a:t>he </a:t>
            </a:r>
            <a:r>
              <a:rPr lang="en-GB" sz="2400" dirty="0">
                <a:solidFill>
                  <a:schemeClr val="dk1"/>
                </a:solidFill>
                <a:latin typeface="Calibri"/>
                <a:ea typeface="Calibri"/>
                <a:cs typeface="Calibri"/>
                <a:sym typeface="Calibri"/>
              </a:rPr>
              <a:t>presentation of a variety of different types of content.</a:t>
            </a:r>
            <a:endParaRPr sz="2400" dirty="0">
              <a:solidFill>
                <a:schemeClr val="dk1"/>
              </a:solidFill>
              <a:latin typeface="Calibri"/>
              <a:ea typeface="Calibri"/>
              <a:cs typeface="Calibri"/>
              <a:sym typeface="Calibri"/>
            </a:endParaRPr>
          </a:p>
          <a:p>
            <a:pPr marL="0" lvl="0" indent="0" algn="just" rtl="0">
              <a:spcBef>
                <a:spcPts val="1000"/>
              </a:spcBef>
              <a:spcAft>
                <a:spcPts val="0"/>
              </a:spcAft>
              <a:buClr>
                <a:schemeClr val="dk1"/>
              </a:buClr>
              <a:buSzPts val="1100"/>
              <a:buFont typeface="Arial"/>
              <a:buNone/>
            </a:pPr>
            <a:r>
              <a:rPr lang="en-GB" sz="2400" dirty="0">
                <a:solidFill>
                  <a:schemeClr val="dk1"/>
                </a:solidFill>
              </a:rPr>
              <a:t>•</a:t>
            </a:r>
            <a:r>
              <a:rPr lang="en-GB" sz="2400" dirty="0">
                <a:solidFill>
                  <a:schemeClr val="dk1"/>
                </a:solidFill>
                <a:latin typeface="Calibri"/>
                <a:ea typeface="Calibri"/>
                <a:cs typeface="Calibri"/>
                <a:sym typeface="Calibri"/>
              </a:rPr>
              <a:t>For modern applications, display content can range from character-based reports (e.g., a spreadsheet), </a:t>
            </a:r>
            <a:endParaRPr lang="en-GB" sz="2400" dirty="0" smtClean="0">
              <a:solidFill>
                <a:schemeClr val="dk1"/>
              </a:solidFill>
              <a:latin typeface="Calibri"/>
              <a:ea typeface="Calibri"/>
              <a:cs typeface="Calibri"/>
              <a:sym typeface="Calibri"/>
            </a:endParaRPr>
          </a:p>
          <a:p>
            <a:pPr marL="0" lvl="0" indent="0" algn="just" rtl="0">
              <a:spcBef>
                <a:spcPts val="1000"/>
              </a:spcBef>
              <a:spcAft>
                <a:spcPts val="0"/>
              </a:spcAft>
              <a:buClr>
                <a:schemeClr val="dk1"/>
              </a:buClr>
              <a:buSzPts val="1100"/>
              <a:buFont typeface="Arial"/>
              <a:buNone/>
            </a:pPr>
            <a:r>
              <a:rPr lang="en-GB" sz="2400" dirty="0" smtClean="0">
                <a:solidFill>
                  <a:schemeClr val="dk1"/>
                </a:solidFill>
                <a:latin typeface="Calibri"/>
                <a:ea typeface="Calibri"/>
                <a:cs typeface="Calibri"/>
                <a:sym typeface="Calibri"/>
              </a:rPr>
              <a:t>graphical </a:t>
            </a:r>
            <a:r>
              <a:rPr lang="en-GB" sz="2400" dirty="0">
                <a:solidFill>
                  <a:schemeClr val="dk1"/>
                </a:solidFill>
                <a:latin typeface="Calibri"/>
                <a:ea typeface="Calibri"/>
                <a:cs typeface="Calibri"/>
                <a:sym typeface="Calibri"/>
              </a:rPr>
              <a:t>displays (e.g., a histogram, a 3-D model, a picture of a person), </a:t>
            </a:r>
            <a:endParaRPr lang="en-GB" sz="2400" dirty="0" smtClean="0">
              <a:solidFill>
                <a:schemeClr val="dk1"/>
              </a:solidFill>
              <a:latin typeface="Calibri"/>
              <a:ea typeface="Calibri"/>
              <a:cs typeface="Calibri"/>
              <a:sym typeface="Calibri"/>
            </a:endParaRPr>
          </a:p>
          <a:p>
            <a:pPr marL="0" lvl="0" indent="0" algn="just" rtl="0">
              <a:spcBef>
                <a:spcPts val="1000"/>
              </a:spcBef>
              <a:spcAft>
                <a:spcPts val="0"/>
              </a:spcAft>
              <a:buClr>
                <a:schemeClr val="dk1"/>
              </a:buClr>
              <a:buSzPts val="1100"/>
              <a:buFont typeface="Arial"/>
              <a:buNone/>
            </a:pPr>
            <a:r>
              <a:rPr lang="en-GB" sz="2400" dirty="0" smtClean="0">
                <a:solidFill>
                  <a:schemeClr val="dk1"/>
                </a:solidFill>
                <a:latin typeface="Calibri"/>
                <a:ea typeface="Calibri"/>
                <a:cs typeface="Calibri"/>
                <a:sym typeface="Calibri"/>
              </a:rPr>
              <a:t>or </a:t>
            </a:r>
            <a:r>
              <a:rPr lang="en-GB" sz="2400" dirty="0">
                <a:solidFill>
                  <a:schemeClr val="dk1"/>
                </a:solidFill>
                <a:latin typeface="Calibri"/>
                <a:ea typeface="Calibri"/>
                <a:cs typeface="Calibri"/>
                <a:sym typeface="Calibri"/>
              </a:rPr>
              <a:t>specialized information (e.g., audio or video files).</a:t>
            </a:r>
            <a:endParaRPr sz="2400" dirty="0">
              <a:solidFill>
                <a:schemeClr val="dk1"/>
              </a:solidFill>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79" name="Google Shape;679;p90"/>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80" name="Google Shape;680;p90"/>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47</a:t>
            </a:fld>
            <a:endParaRPr/>
          </a:p>
        </p:txBody>
      </p:sp>
    </p:spTree>
    <p:extLst>
      <p:ext uri="{BB962C8B-B14F-4D97-AF65-F5344CB8AC3E}">
        <p14:creationId xmlns:p14="http://schemas.microsoft.com/office/powerpoint/2010/main" val="411163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91"/>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Interface Design Steps</a:t>
            </a:r>
            <a:endParaRPr sz="1900" b="1"/>
          </a:p>
        </p:txBody>
      </p:sp>
      <p:sp>
        <p:nvSpPr>
          <p:cNvPr id="686" name="Google Shape;686;p91"/>
          <p:cNvSpPr txBox="1">
            <a:spLocks noGrp="1"/>
          </p:cNvSpPr>
          <p:nvPr>
            <p:ph type="body" idx="1"/>
          </p:nvPr>
        </p:nvSpPr>
        <p:spPr>
          <a:xfrm>
            <a:off x="228275" y="758200"/>
            <a:ext cx="8526600" cy="3300400"/>
          </a:xfrm>
          <a:prstGeom prst="rect">
            <a:avLst/>
          </a:prstGeom>
          <a:noFill/>
          <a:ln>
            <a:noFill/>
          </a:ln>
        </p:spPr>
        <p:txBody>
          <a:bodyPr spcFirstLastPara="1" wrap="square" lIns="68575" tIns="34275" rIns="68575" bIns="34275" anchor="t" anchorCtr="0">
            <a:noAutofit/>
          </a:bodyPr>
          <a:lstStyle/>
          <a:p>
            <a:pPr marL="457200" lvl="0" indent="-374650" algn="just" rtl="0">
              <a:spcBef>
                <a:spcPts val="300"/>
              </a:spcBef>
              <a:spcAft>
                <a:spcPts val="0"/>
              </a:spcAft>
              <a:buClr>
                <a:schemeClr val="dk1"/>
              </a:buClr>
              <a:buSzPts val="2300"/>
              <a:buFont typeface="Calibri"/>
              <a:buChar char="●"/>
            </a:pPr>
            <a:endParaRPr lang="en-GB" sz="2300" dirty="0" smtClean="0">
              <a:solidFill>
                <a:schemeClr val="dk1"/>
              </a:solidFill>
              <a:latin typeface="Calibri"/>
              <a:ea typeface="Calibri"/>
              <a:cs typeface="Calibri"/>
              <a:sym typeface="Calibri"/>
            </a:endParaRPr>
          </a:p>
          <a:p>
            <a:pPr indent="-374650" algn="just">
              <a:spcBef>
                <a:spcPts val="300"/>
              </a:spcBef>
              <a:buSzPts val="2300"/>
              <a:buFont typeface="Calibri"/>
              <a:buChar char="●"/>
            </a:pPr>
            <a:r>
              <a:rPr lang="en-US" sz="2000" b="1" dirty="0">
                <a:solidFill>
                  <a:srgbClr val="3D85C6"/>
                </a:solidFill>
                <a:latin typeface="Calibri"/>
                <a:ea typeface="Calibri"/>
                <a:cs typeface="Calibri"/>
                <a:sym typeface="Calibri"/>
              </a:rPr>
              <a:t>4. Analysis of the Work Environment</a:t>
            </a:r>
            <a:endParaRPr lang="en-US" sz="2000" b="1" dirty="0">
              <a:solidFill>
                <a:srgbClr val="0070C0"/>
              </a:solidFill>
              <a:latin typeface="Calibri"/>
              <a:ea typeface="Calibri"/>
              <a:cs typeface="Calibri"/>
              <a:sym typeface="Calibri"/>
            </a:endParaRPr>
          </a:p>
          <a:p>
            <a:pPr marL="457200" lvl="0" indent="-374650" algn="just" rtl="0">
              <a:spcBef>
                <a:spcPts val="300"/>
              </a:spcBef>
              <a:spcAft>
                <a:spcPts val="0"/>
              </a:spcAft>
              <a:buClr>
                <a:schemeClr val="dk1"/>
              </a:buClr>
              <a:buSzPts val="2300"/>
              <a:buFont typeface="Calibri"/>
              <a:buChar char="●"/>
            </a:pPr>
            <a:r>
              <a:rPr lang="en-GB" sz="2300" dirty="0" smtClean="0">
                <a:solidFill>
                  <a:schemeClr val="dk1"/>
                </a:solidFill>
                <a:latin typeface="Calibri"/>
                <a:ea typeface="Calibri"/>
                <a:cs typeface="Calibri"/>
                <a:sym typeface="Calibri"/>
              </a:rPr>
              <a:t>Using </a:t>
            </a:r>
            <a:r>
              <a:rPr lang="en-GB" sz="2300" b="1" dirty="0">
                <a:solidFill>
                  <a:schemeClr val="dk1"/>
                </a:solidFill>
                <a:latin typeface="Calibri"/>
                <a:ea typeface="Calibri"/>
                <a:cs typeface="Calibri"/>
                <a:sym typeface="Calibri"/>
              </a:rPr>
              <a:t>information developed during interface analysis</a:t>
            </a:r>
            <a:r>
              <a:rPr lang="en-GB" sz="2300" dirty="0">
                <a:solidFill>
                  <a:schemeClr val="dk1"/>
                </a:solidFill>
                <a:latin typeface="Calibri"/>
                <a:ea typeface="Calibri"/>
                <a:cs typeface="Calibri"/>
                <a:sym typeface="Calibri"/>
              </a:rPr>
              <a:t>, define interface objects and actions (operations).</a:t>
            </a:r>
            <a:endParaRPr sz="2300" dirty="0">
              <a:solidFill>
                <a:schemeClr val="dk1"/>
              </a:solidFill>
              <a:latin typeface="Calibri"/>
              <a:ea typeface="Calibri"/>
              <a:cs typeface="Calibri"/>
              <a:sym typeface="Calibri"/>
            </a:endParaRPr>
          </a:p>
          <a:p>
            <a:pPr marL="457200" lvl="0" indent="-374650" algn="just" rtl="0">
              <a:spcBef>
                <a:spcPts val="0"/>
              </a:spcBef>
              <a:spcAft>
                <a:spcPts val="0"/>
              </a:spcAft>
              <a:buClr>
                <a:schemeClr val="dk1"/>
              </a:buClr>
              <a:buSzPts val="2300"/>
              <a:buFont typeface="Calibri"/>
              <a:buChar char="●"/>
            </a:pPr>
            <a:r>
              <a:rPr lang="en-GB" sz="2300" b="1" dirty="0">
                <a:solidFill>
                  <a:schemeClr val="dk1"/>
                </a:solidFill>
                <a:latin typeface="Calibri"/>
                <a:ea typeface="Calibri"/>
                <a:cs typeface="Calibri"/>
                <a:sym typeface="Calibri"/>
              </a:rPr>
              <a:t>Define events (user actions) that will cause the state of the user interface to change</a:t>
            </a:r>
            <a:r>
              <a:rPr lang="en-GB" sz="2300" dirty="0">
                <a:solidFill>
                  <a:schemeClr val="dk1"/>
                </a:solidFill>
                <a:latin typeface="Calibri"/>
                <a:ea typeface="Calibri"/>
                <a:cs typeface="Calibri"/>
                <a:sym typeface="Calibri"/>
              </a:rPr>
              <a:t>. Model this </a:t>
            </a:r>
            <a:r>
              <a:rPr lang="en-GB" sz="2300" dirty="0" err="1">
                <a:solidFill>
                  <a:schemeClr val="dk1"/>
                </a:solidFill>
                <a:latin typeface="Calibri"/>
                <a:ea typeface="Calibri"/>
                <a:cs typeface="Calibri"/>
                <a:sym typeface="Calibri"/>
              </a:rPr>
              <a:t>behavior</a:t>
            </a:r>
            <a:r>
              <a:rPr lang="en-GB" sz="2300" dirty="0">
                <a:solidFill>
                  <a:schemeClr val="dk1"/>
                </a:solidFill>
                <a:latin typeface="Calibri"/>
                <a:ea typeface="Calibri"/>
                <a:cs typeface="Calibri"/>
                <a:sym typeface="Calibri"/>
              </a:rPr>
              <a:t>.</a:t>
            </a:r>
            <a:endParaRPr sz="2300" dirty="0">
              <a:solidFill>
                <a:schemeClr val="dk1"/>
              </a:solidFill>
              <a:latin typeface="Calibri"/>
              <a:ea typeface="Calibri"/>
              <a:cs typeface="Calibri"/>
              <a:sym typeface="Calibri"/>
            </a:endParaRPr>
          </a:p>
          <a:p>
            <a:pPr marL="457200" lvl="0" indent="-374650" algn="just" rtl="0">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Depict each </a:t>
            </a:r>
            <a:r>
              <a:rPr lang="en-GB" sz="2300" b="1" dirty="0">
                <a:solidFill>
                  <a:schemeClr val="dk1"/>
                </a:solidFill>
                <a:latin typeface="Calibri"/>
                <a:ea typeface="Calibri"/>
                <a:cs typeface="Calibri"/>
                <a:sym typeface="Calibri"/>
              </a:rPr>
              <a:t>interface state as it will actually look to the end-user.</a:t>
            </a:r>
            <a:endParaRPr sz="2300" b="1" dirty="0">
              <a:solidFill>
                <a:schemeClr val="dk1"/>
              </a:solidFill>
              <a:latin typeface="Calibri"/>
              <a:ea typeface="Calibri"/>
              <a:cs typeface="Calibri"/>
              <a:sym typeface="Calibri"/>
            </a:endParaRPr>
          </a:p>
          <a:p>
            <a:pPr marL="457200" lvl="0" indent="-374650" algn="just" rtl="0">
              <a:spcBef>
                <a:spcPts val="0"/>
              </a:spcBef>
              <a:spcAft>
                <a:spcPts val="0"/>
              </a:spcAft>
              <a:buClr>
                <a:schemeClr val="dk1"/>
              </a:buClr>
              <a:buSzPts val="2300"/>
              <a:buFont typeface="Calibri"/>
              <a:buChar char="●"/>
            </a:pPr>
            <a:r>
              <a:rPr lang="en-GB" sz="2300" b="1" dirty="0">
                <a:solidFill>
                  <a:schemeClr val="dk1"/>
                </a:solidFill>
                <a:latin typeface="Calibri"/>
                <a:ea typeface="Calibri"/>
                <a:cs typeface="Calibri"/>
                <a:sym typeface="Calibri"/>
              </a:rPr>
              <a:t>Indicate how the user interprets the state of</a:t>
            </a:r>
            <a:r>
              <a:rPr lang="en-GB" sz="2300" dirty="0">
                <a:solidFill>
                  <a:schemeClr val="dk1"/>
                </a:solidFill>
                <a:latin typeface="Calibri"/>
                <a:ea typeface="Calibri"/>
                <a:cs typeface="Calibri"/>
                <a:sym typeface="Calibri"/>
              </a:rPr>
              <a:t> the system from information provided through the </a:t>
            </a:r>
            <a:r>
              <a:rPr lang="en-GB" sz="2300" b="1" dirty="0">
                <a:solidFill>
                  <a:schemeClr val="dk1"/>
                </a:solidFill>
                <a:latin typeface="Calibri"/>
                <a:ea typeface="Calibri"/>
                <a:cs typeface="Calibri"/>
                <a:sym typeface="Calibri"/>
              </a:rPr>
              <a:t>interface.</a:t>
            </a:r>
            <a:endParaRPr sz="2300" b="1" dirty="0">
              <a:solidFill>
                <a:schemeClr val="dk1"/>
              </a:solidFill>
              <a:latin typeface="Calibri"/>
              <a:ea typeface="Calibri"/>
              <a:cs typeface="Calibri"/>
              <a:sym typeface="Calibri"/>
            </a:endParaRPr>
          </a:p>
          <a:p>
            <a:pPr marL="0" lvl="0" indent="0" algn="just" rtl="0">
              <a:spcBef>
                <a:spcPts val="1000"/>
              </a:spcBef>
              <a:spcAft>
                <a:spcPts val="0"/>
              </a:spcAft>
              <a:buNone/>
            </a:pPr>
            <a:endParaRPr sz="2400" b="1" dirty="0">
              <a:solidFill>
                <a:srgbClr val="3D85C6"/>
              </a:solidFill>
              <a:latin typeface="Calibri"/>
              <a:ea typeface="Calibri"/>
              <a:cs typeface="Calibri"/>
              <a:sym typeface="Calibri"/>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687" name="Google Shape;687;p91"/>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88" name="Google Shape;688;p91"/>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48</a:t>
            </a:fld>
            <a:endParaRPr/>
          </a:p>
        </p:txBody>
      </p:sp>
    </p:spTree>
    <p:extLst>
      <p:ext uri="{BB962C8B-B14F-4D97-AF65-F5344CB8AC3E}">
        <p14:creationId xmlns:p14="http://schemas.microsoft.com/office/powerpoint/2010/main" val="126058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9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Design issues</a:t>
            </a:r>
            <a:endParaRPr sz="1900" b="1"/>
          </a:p>
        </p:txBody>
      </p:sp>
      <p:sp>
        <p:nvSpPr>
          <p:cNvPr id="702" name="Google Shape;702;p93"/>
          <p:cNvSpPr txBox="1">
            <a:spLocks noGrp="1"/>
          </p:cNvSpPr>
          <p:nvPr>
            <p:ph type="body" idx="1"/>
          </p:nvPr>
        </p:nvSpPr>
        <p:spPr>
          <a:xfrm>
            <a:off x="179512" y="836712"/>
            <a:ext cx="8593113" cy="3435088"/>
          </a:xfrm>
          <a:prstGeom prst="rect">
            <a:avLst/>
          </a:prstGeom>
          <a:noFill/>
          <a:ln>
            <a:noFill/>
          </a:ln>
        </p:spPr>
        <p:txBody>
          <a:bodyPr spcFirstLastPara="1" wrap="square" lIns="68575" tIns="34275" rIns="68575" bIns="34275" anchor="t" anchorCtr="0">
            <a:noAutofit/>
          </a:bodyPr>
          <a:lstStyle/>
          <a:p>
            <a:r>
              <a:rPr lang="en-US" sz="1600" b="1" dirty="0"/>
              <a:t>1. Response Time</a:t>
            </a:r>
          </a:p>
          <a:p>
            <a:r>
              <a:rPr lang="en-US" sz="1600" dirty="0"/>
              <a:t>This refers to how quickly the system reacts to user inputs or requests. A good software system provides prompt responses to user actions. </a:t>
            </a:r>
            <a:r>
              <a:rPr lang="en-US" sz="1600" b="1" dirty="0"/>
              <a:t>Slow response times</a:t>
            </a:r>
            <a:r>
              <a:rPr lang="en-US" sz="1600" dirty="0"/>
              <a:t> can frustrate users, while </a:t>
            </a:r>
            <a:r>
              <a:rPr lang="en-US" sz="1600" b="1" dirty="0"/>
              <a:t>fast response times</a:t>
            </a:r>
            <a:r>
              <a:rPr lang="en-US" sz="1600" dirty="0"/>
              <a:t> improve user experience.</a:t>
            </a:r>
          </a:p>
          <a:p>
            <a:r>
              <a:rPr lang="en-US" sz="1600" b="1" dirty="0"/>
              <a:t>Example</a:t>
            </a:r>
            <a:r>
              <a:rPr lang="en-US" sz="1600" dirty="0"/>
              <a:t>: In an </a:t>
            </a:r>
            <a:r>
              <a:rPr lang="en-US" sz="1600" b="1" dirty="0"/>
              <a:t>e-commerce application</a:t>
            </a:r>
            <a:r>
              <a:rPr lang="en-US" sz="1600" dirty="0"/>
              <a:t>, when a user clicks on "Add to Cart," the system should respond immediately by updating the cart and showing the item has been added. If it takes more than a few seconds, the user might get frustrated and abandon the site.</a:t>
            </a:r>
          </a:p>
          <a:p>
            <a:endParaRPr lang="en-US" sz="1600" b="1" dirty="0" smtClean="0"/>
          </a:p>
          <a:p>
            <a:r>
              <a:rPr lang="en-US" sz="1600" b="1" dirty="0" smtClean="0"/>
              <a:t>2</a:t>
            </a:r>
            <a:r>
              <a:rPr lang="en-US" sz="1600" b="1" dirty="0"/>
              <a:t>. Help Facilities</a:t>
            </a:r>
          </a:p>
          <a:p>
            <a:r>
              <a:rPr lang="en-US" sz="1600" dirty="0"/>
              <a:t>Help facilities guide users when they encounter difficulties or are unsure of how to use certain features. This can include </a:t>
            </a:r>
            <a:r>
              <a:rPr lang="en-US" sz="1600" b="1" dirty="0"/>
              <a:t>tooltips, FAQs, documentation, and live support</a:t>
            </a:r>
            <a:r>
              <a:rPr lang="en-US" sz="1600" dirty="0"/>
              <a:t>.</a:t>
            </a:r>
          </a:p>
          <a:p>
            <a:r>
              <a:rPr lang="en-US" sz="1600" b="1" dirty="0"/>
              <a:t>Example</a:t>
            </a:r>
            <a:r>
              <a:rPr lang="en-US" sz="1600" dirty="0"/>
              <a:t>: In </a:t>
            </a:r>
            <a:r>
              <a:rPr lang="en-US" sz="1600" b="1" dirty="0"/>
              <a:t>Microsoft Word</a:t>
            </a:r>
            <a:r>
              <a:rPr lang="en-US" sz="1600" dirty="0"/>
              <a:t>, if a user is confused about how to insert a table, they can click on the help icon to access step-by-step instructions or search for help topics related to inserting tables.</a:t>
            </a:r>
          </a:p>
          <a:p>
            <a:endParaRPr lang="en-US" sz="1600" b="1" dirty="0" smtClean="0"/>
          </a:p>
          <a:p>
            <a:r>
              <a:rPr lang="en-US" sz="1600" b="1" dirty="0" smtClean="0"/>
              <a:t>3</a:t>
            </a:r>
            <a:r>
              <a:rPr lang="en-US" sz="1600" b="1" dirty="0"/>
              <a:t>. Error Handling</a:t>
            </a:r>
          </a:p>
          <a:p>
            <a:r>
              <a:rPr lang="en-US" sz="1600" dirty="0"/>
              <a:t>Error handling is crucial for making sure that the software can handle unexpected situations gracefully and guide the user through correction.</a:t>
            </a:r>
          </a:p>
          <a:p>
            <a:r>
              <a:rPr lang="en-US" sz="1600" b="1" dirty="0"/>
              <a:t>Example</a:t>
            </a:r>
            <a:r>
              <a:rPr lang="en-US" sz="1600" dirty="0"/>
              <a:t>: In a </a:t>
            </a:r>
            <a:r>
              <a:rPr lang="en-US" sz="1600" b="1" dirty="0"/>
              <a:t>banking application</a:t>
            </a:r>
            <a:r>
              <a:rPr lang="en-US" sz="1600" dirty="0"/>
              <a:t>, if a user enters the wrong format for their credit card number, the system should display a clear message like “Invalid card number, please enter a 16-digit number” rather than crashing or providing a generic error message like “Error occurred.”</a:t>
            </a:r>
            <a:endParaRPr sz="1400" dirty="0">
              <a:solidFill>
                <a:schemeClr val="dk1"/>
              </a:solidFill>
              <a:latin typeface="Calibri"/>
              <a:ea typeface="Calibri"/>
              <a:cs typeface="Calibri"/>
              <a:sym typeface="Calibri"/>
            </a:endParaRPr>
          </a:p>
          <a:p>
            <a:pPr marL="457200" lvl="0" indent="0" algn="l" rtl="0">
              <a:spcBef>
                <a:spcPts val="0"/>
              </a:spcBef>
              <a:spcAft>
                <a:spcPts val="0"/>
              </a:spcAft>
              <a:buNone/>
            </a:pPr>
            <a:endParaRPr sz="14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1600" dirty="0">
              <a:solidFill>
                <a:schemeClr val="dk1"/>
              </a:solidFill>
              <a:latin typeface="Calibri"/>
              <a:ea typeface="Calibri"/>
              <a:cs typeface="Calibri"/>
              <a:sym typeface="Calibri"/>
            </a:endParaRPr>
          </a:p>
        </p:txBody>
      </p:sp>
      <p:sp>
        <p:nvSpPr>
          <p:cNvPr id="703" name="Google Shape;703;p93"/>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04" name="Google Shape;704;p9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49</a:t>
            </a:fld>
            <a:endParaRPr/>
          </a:p>
        </p:txBody>
      </p:sp>
    </p:spTree>
    <p:extLst>
      <p:ext uri="{BB962C8B-B14F-4D97-AF65-F5344CB8AC3E}">
        <p14:creationId xmlns:p14="http://schemas.microsoft.com/office/powerpoint/2010/main" val="323007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2">
                                            <p:txEl>
                                              <p:pRg st="0" end="0"/>
                                            </p:txEl>
                                          </p:spTgt>
                                        </p:tgtEl>
                                        <p:attrNameLst>
                                          <p:attrName>style.visibility</p:attrName>
                                        </p:attrNameLst>
                                      </p:cBhvr>
                                      <p:to>
                                        <p:strVal val="visible"/>
                                      </p:to>
                                    </p:set>
                                    <p:anim calcmode="lin" valueType="num">
                                      <p:cBhvr additive="base">
                                        <p:cTn id="7" dur="500" fill="hold"/>
                                        <p:tgtEl>
                                          <p:spTgt spid="70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2">
                                            <p:txEl>
                                              <p:pRg st="1" end="1"/>
                                            </p:txEl>
                                          </p:spTgt>
                                        </p:tgtEl>
                                        <p:attrNameLst>
                                          <p:attrName>style.visibility</p:attrName>
                                        </p:attrNameLst>
                                      </p:cBhvr>
                                      <p:to>
                                        <p:strVal val="visible"/>
                                      </p:to>
                                    </p:set>
                                    <p:anim calcmode="lin" valueType="num">
                                      <p:cBhvr additive="base">
                                        <p:cTn id="13" dur="500" fill="hold"/>
                                        <p:tgtEl>
                                          <p:spTgt spid="70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02">
                                            <p:txEl>
                                              <p:pRg st="2" end="2"/>
                                            </p:txEl>
                                          </p:spTgt>
                                        </p:tgtEl>
                                        <p:attrNameLst>
                                          <p:attrName>style.visibility</p:attrName>
                                        </p:attrNameLst>
                                      </p:cBhvr>
                                      <p:to>
                                        <p:strVal val="visible"/>
                                      </p:to>
                                    </p:set>
                                    <p:anim calcmode="lin" valueType="num">
                                      <p:cBhvr additive="base">
                                        <p:cTn id="19" dur="500" fill="hold"/>
                                        <p:tgtEl>
                                          <p:spTgt spid="70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02">
                                            <p:txEl>
                                              <p:pRg st="4" end="4"/>
                                            </p:txEl>
                                          </p:spTgt>
                                        </p:tgtEl>
                                        <p:attrNameLst>
                                          <p:attrName>style.visibility</p:attrName>
                                        </p:attrNameLst>
                                      </p:cBhvr>
                                      <p:to>
                                        <p:strVal val="visible"/>
                                      </p:to>
                                    </p:set>
                                    <p:anim calcmode="lin" valueType="num">
                                      <p:cBhvr additive="base">
                                        <p:cTn id="25" dur="500" fill="hold"/>
                                        <p:tgtEl>
                                          <p:spTgt spid="70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02">
                                            <p:txEl>
                                              <p:pRg st="5" end="5"/>
                                            </p:txEl>
                                          </p:spTgt>
                                        </p:tgtEl>
                                        <p:attrNameLst>
                                          <p:attrName>style.visibility</p:attrName>
                                        </p:attrNameLst>
                                      </p:cBhvr>
                                      <p:to>
                                        <p:strVal val="visible"/>
                                      </p:to>
                                    </p:set>
                                    <p:anim calcmode="lin" valueType="num">
                                      <p:cBhvr additive="base">
                                        <p:cTn id="31" dur="500" fill="hold"/>
                                        <p:tgtEl>
                                          <p:spTgt spid="70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0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02">
                                            <p:txEl>
                                              <p:pRg st="6" end="6"/>
                                            </p:txEl>
                                          </p:spTgt>
                                        </p:tgtEl>
                                        <p:attrNameLst>
                                          <p:attrName>style.visibility</p:attrName>
                                        </p:attrNameLst>
                                      </p:cBhvr>
                                      <p:to>
                                        <p:strVal val="visible"/>
                                      </p:to>
                                    </p:set>
                                    <p:anim calcmode="lin" valueType="num">
                                      <p:cBhvr additive="base">
                                        <p:cTn id="37" dur="500" fill="hold"/>
                                        <p:tgtEl>
                                          <p:spTgt spid="70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0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02">
                                            <p:txEl>
                                              <p:pRg st="8" end="8"/>
                                            </p:txEl>
                                          </p:spTgt>
                                        </p:tgtEl>
                                        <p:attrNameLst>
                                          <p:attrName>style.visibility</p:attrName>
                                        </p:attrNameLst>
                                      </p:cBhvr>
                                      <p:to>
                                        <p:strVal val="visible"/>
                                      </p:to>
                                    </p:set>
                                    <p:anim calcmode="lin" valueType="num">
                                      <p:cBhvr additive="base">
                                        <p:cTn id="43" dur="500" fill="hold"/>
                                        <p:tgtEl>
                                          <p:spTgt spid="702">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0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02">
                                            <p:txEl>
                                              <p:pRg st="9" end="9"/>
                                            </p:txEl>
                                          </p:spTgt>
                                        </p:tgtEl>
                                        <p:attrNameLst>
                                          <p:attrName>style.visibility</p:attrName>
                                        </p:attrNameLst>
                                      </p:cBhvr>
                                      <p:to>
                                        <p:strVal val="visible"/>
                                      </p:to>
                                    </p:set>
                                    <p:anim calcmode="lin" valueType="num">
                                      <p:cBhvr additive="base">
                                        <p:cTn id="49" dur="500" fill="hold"/>
                                        <p:tgtEl>
                                          <p:spTgt spid="702">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0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02">
                                            <p:txEl>
                                              <p:pRg st="10" end="10"/>
                                            </p:txEl>
                                          </p:spTgt>
                                        </p:tgtEl>
                                        <p:attrNameLst>
                                          <p:attrName>style.visibility</p:attrName>
                                        </p:attrNameLst>
                                      </p:cBhvr>
                                      <p:to>
                                        <p:strVal val="visible"/>
                                      </p:to>
                                    </p:set>
                                    <p:anim calcmode="lin" valueType="num">
                                      <p:cBhvr additive="base">
                                        <p:cTn id="55" dur="500" fill="hold"/>
                                        <p:tgtEl>
                                          <p:spTgt spid="702">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0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363272" cy="5793507"/>
          </a:xfrm>
        </p:spPr>
        <p:txBody>
          <a:bodyPr>
            <a:noAutofit/>
          </a:bodyPr>
          <a:lstStyle/>
          <a:p>
            <a:endParaRPr lang="en-US" sz="1600" dirty="0"/>
          </a:p>
          <a:p>
            <a:r>
              <a:rPr lang="en-US" sz="1600" b="1" dirty="0"/>
              <a:t>4. Menu and Command Labeling</a:t>
            </a:r>
          </a:p>
          <a:p>
            <a:r>
              <a:rPr lang="en-US" sz="1600" dirty="0"/>
              <a:t>Menus and commands should be labeled in a way that makes it easy for users to understand their function. They should be intuitive, concise, and meaningful.</a:t>
            </a:r>
          </a:p>
          <a:p>
            <a:r>
              <a:rPr lang="en-US" sz="1600" b="1" dirty="0"/>
              <a:t>Example</a:t>
            </a:r>
            <a:r>
              <a:rPr lang="en-US" sz="1600" dirty="0"/>
              <a:t>: In an </a:t>
            </a:r>
            <a:r>
              <a:rPr lang="en-US" sz="1600" b="1" dirty="0"/>
              <a:t>online photo editor</a:t>
            </a:r>
            <a:r>
              <a:rPr lang="en-US" sz="1600" dirty="0"/>
              <a:t>, instead of labeling a button “Adjust Image Properties,” a more intuitive label like “Edit Photo” might be better because it directly describes the action in plain language.</a:t>
            </a:r>
          </a:p>
          <a:p>
            <a:endParaRPr lang="en-US" sz="1600" b="1" dirty="0" smtClean="0"/>
          </a:p>
          <a:p>
            <a:r>
              <a:rPr lang="en-US" sz="1600" b="1" dirty="0" smtClean="0"/>
              <a:t>5</a:t>
            </a:r>
            <a:r>
              <a:rPr lang="en-US" sz="1600" b="1" dirty="0"/>
              <a:t>. Application Accessibility for Physically Challenged Users</a:t>
            </a:r>
          </a:p>
          <a:p>
            <a:r>
              <a:rPr lang="en-US" sz="1600" dirty="0"/>
              <a:t>Software design should include features that make the application usable for people with physical disabilities, such as those with visual, auditory, or motor impairments. This can include support for screen readers, keyboard navigation, and voice commands.</a:t>
            </a:r>
          </a:p>
          <a:p>
            <a:r>
              <a:rPr lang="en-US" sz="1600" b="1" dirty="0"/>
              <a:t>Example</a:t>
            </a:r>
            <a:r>
              <a:rPr lang="en-US" sz="1600" dirty="0"/>
              <a:t>: </a:t>
            </a:r>
            <a:r>
              <a:rPr lang="en-US" sz="1600" b="1" dirty="0"/>
              <a:t>Windows OS</a:t>
            </a:r>
            <a:r>
              <a:rPr lang="en-US" sz="1600" dirty="0"/>
              <a:t> includes </a:t>
            </a:r>
            <a:r>
              <a:rPr lang="en-US" sz="1600" b="1" dirty="0"/>
              <a:t>narrator functionality</a:t>
            </a:r>
            <a:r>
              <a:rPr lang="en-US" sz="1600" dirty="0"/>
              <a:t> for visually impaired users, which reads out screen text and descriptions. It also allows for </a:t>
            </a:r>
            <a:r>
              <a:rPr lang="en-US" sz="1600" b="1" dirty="0"/>
              <a:t>keyboard-only navigation</a:t>
            </a:r>
            <a:r>
              <a:rPr lang="en-US" sz="1600" dirty="0"/>
              <a:t> for users who cannot use a mouse.</a:t>
            </a:r>
          </a:p>
          <a:p>
            <a:endParaRPr lang="en-US" sz="1600" b="1" dirty="0" smtClean="0"/>
          </a:p>
          <a:p>
            <a:r>
              <a:rPr lang="en-US" sz="1600" b="1" dirty="0" smtClean="0"/>
              <a:t>6</a:t>
            </a:r>
            <a:r>
              <a:rPr lang="en-US" sz="1600" b="1" dirty="0"/>
              <a:t>. Internationalization</a:t>
            </a:r>
          </a:p>
          <a:p>
            <a:r>
              <a:rPr lang="en-US" sz="1600" dirty="0"/>
              <a:t>This involves designing software so that it can be easily adapted for various languages and regions without major changes to the underlying code. It ensures that the software can be used in different cultural and linguistic settings.</a:t>
            </a:r>
          </a:p>
          <a:p>
            <a:r>
              <a:rPr lang="en-US" sz="1600" b="1" dirty="0"/>
              <a:t>Example</a:t>
            </a:r>
            <a:r>
              <a:rPr lang="en-US" sz="1600" dirty="0"/>
              <a:t>: </a:t>
            </a:r>
            <a:r>
              <a:rPr lang="en-US" sz="1600" b="1" dirty="0"/>
              <a:t>Google Search</a:t>
            </a:r>
            <a:r>
              <a:rPr lang="en-US" sz="1600" dirty="0"/>
              <a:t> is available in multiple languages. The interface changes based on the region, with support for different character sets, right-to-left text (for Arabic, Hebrew), and localized formats for dates and numbers.</a:t>
            </a:r>
          </a:p>
          <a:p>
            <a:endParaRPr lang="en-IN" sz="1600" dirty="0"/>
          </a:p>
        </p:txBody>
      </p:sp>
    </p:spTree>
    <p:extLst>
      <p:ext uri="{BB962C8B-B14F-4D97-AF65-F5344CB8AC3E}">
        <p14:creationId xmlns:p14="http://schemas.microsoft.com/office/powerpoint/2010/main" val="360692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19256" cy="418058"/>
          </a:xfrm>
        </p:spPr>
        <p:txBody>
          <a:bodyPr>
            <a:noAutofit/>
          </a:bodyPr>
          <a:lstStyle/>
          <a:p>
            <a:r>
              <a:rPr lang="en-US" sz="2800" dirty="0" smtClean="0"/>
              <a:t>Example - </a:t>
            </a:r>
            <a:r>
              <a:rPr lang="en-US" sz="2800" dirty="0"/>
              <a:t>Wireframe design of Online Shopping </a:t>
            </a:r>
            <a:r>
              <a:rPr lang="en-US" sz="2800" dirty="0" smtClean="0"/>
              <a:t>cart</a:t>
            </a:r>
            <a:endParaRPr lang="en-IN" sz="2800"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723624"/>
            <a:ext cx="6704678" cy="5743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0950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descr="Creating Shopping Cart Using Angular8 | by Moshe Vilner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124744"/>
            <a:ext cx="6793779" cy="5095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0910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074" name="Picture 2" descr="GIT435 Fall 2015 wireframes wire frames shopping cart process hom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43408"/>
            <a:ext cx="8412149" cy="7206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745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descr="GIT435 Fall 2015 wireframes wire frames shopping cart process hom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10048"/>
            <a:ext cx="7540052" cy="645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3399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descr="GIT435 Fall 2015 wireframes wire frames shopping cart process hom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7" y="13289"/>
            <a:ext cx="7632848" cy="653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141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descr="GIT435 Fall 2015 wireframes wire frames shopping cart process hom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04664"/>
            <a:ext cx="7128792" cy="610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900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92"/>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b="1"/>
              <a:t>Module 3</a:t>
            </a:r>
            <a:endParaRPr b="1"/>
          </a:p>
        </p:txBody>
      </p:sp>
      <p:sp>
        <p:nvSpPr>
          <p:cNvPr id="694" name="Google Shape;694;p92"/>
          <p:cNvSpPr txBox="1">
            <a:spLocks noGrp="1"/>
          </p:cNvSpPr>
          <p:nvPr>
            <p:ph type="body" idx="1"/>
          </p:nvPr>
        </p:nvSpPr>
        <p:spPr>
          <a:xfrm>
            <a:off x="0" y="793767"/>
            <a:ext cx="8583300" cy="3300400"/>
          </a:xfrm>
          <a:prstGeom prst="rect">
            <a:avLst/>
          </a:prstGeom>
          <a:noFill/>
          <a:ln>
            <a:noFill/>
          </a:ln>
        </p:spPr>
        <p:txBody>
          <a:bodyPr spcFirstLastPara="1" wrap="square" lIns="68575" tIns="34275" rIns="68575" bIns="34275" anchor="t" anchorCtr="0">
            <a:noAutofit/>
          </a:bodyPr>
          <a:lstStyle/>
          <a:p>
            <a:pPr marL="533400" lvl="0" indent="0" algn="l" rtl="0">
              <a:spcBef>
                <a:spcPts val="1000"/>
              </a:spcBef>
              <a:spcAft>
                <a:spcPts val="0"/>
              </a:spcAft>
              <a:buNone/>
            </a:pPr>
            <a:r>
              <a:rPr lang="en-GB" sz="2200">
                <a:solidFill>
                  <a:schemeClr val="lt2"/>
                </a:solidFill>
                <a:latin typeface="Calibri"/>
                <a:ea typeface="Calibri"/>
                <a:cs typeface="Calibri"/>
                <a:sym typeface="Calibri"/>
              </a:rPr>
              <a:t>3.1 Design Quality, Classification of Design activities. Design concepts: Modularity &amp; Layering. Introduction to Pattern-based software design. </a:t>
            </a:r>
            <a:endParaRPr sz="2200">
              <a:solidFill>
                <a:schemeClr val="lt2"/>
              </a:solidFill>
              <a:latin typeface="Calibri"/>
              <a:ea typeface="Calibri"/>
              <a:cs typeface="Calibri"/>
              <a:sym typeface="Calibri"/>
            </a:endParaRPr>
          </a:p>
          <a:p>
            <a:pPr marL="533400" lvl="0" indent="0" algn="l" rtl="0">
              <a:spcBef>
                <a:spcPts val="1000"/>
              </a:spcBef>
              <a:spcAft>
                <a:spcPts val="0"/>
              </a:spcAft>
              <a:buNone/>
            </a:pPr>
            <a:r>
              <a:rPr lang="en-GB" sz="2200">
                <a:solidFill>
                  <a:schemeClr val="lt2"/>
                </a:solidFill>
                <a:latin typeface="Calibri"/>
                <a:ea typeface="Calibri"/>
                <a:cs typeface="Calibri"/>
                <a:sym typeface="Calibri"/>
              </a:rPr>
              <a:t>3.2  Software Architecture, Data design, Object -Oriented versus Function - oriented Design, Design of software object, methods, Cohesion &amp; Coupling between objects.</a:t>
            </a:r>
            <a:endParaRPr sz="2200">
              <a:solidFill>
                <a:schemeClr val="lt2"/>
              </a:solidFill>
              <a:latin typeface="Calibri"/>
              <a:ea typeface="Calibri"/>
              <a:cs typeface="Calibri"/>
              <a:sym typeface="Calibri"/>
            </a:endParaRPr>
          </a:p>
          <a:p>
            <a:pPr marL="533400" lvl="0" indent="0" algn="l" rtl="0">
              <a:spcBef>
                <a:spcPts val="1000"/>
              </a:spcBef>
              <a:spcAft>
                <a:spcPts val="0"/>
              </a:spcAft>
              <a:buNone/>
            </a:pPr>
            <a:r>
              <a:rPr lang="en-GB" sz="2200">
                <a:solidFill>
                  <a:schemeClr val="lt2"/>
                </a:solidFill>
                <a:latin typeface="Calibri"/>
                <a:ea typeface="Calibri"/>
                <a:cs typeface="Calibri"/>
                <a:sym typeface="Calibri"/>
              </a:rPr>
              <a:t>3.3 User Interface design: Rules, User Interface Analysis Steps in Interface design, Design Evaluation </a:t>
            </a:r>
            <a:endParaRPr sz="2200">
              <a:solidFill>
                <a:schemeClr val="lt2"/>
              </a:solidFill>
              <a:latin typeface="Calibri"/>
              <a:ea typeface="Calibri"/>
              <a:cs typeface="Calibri"/>
              <a:sym typeface="Calibri"/>
            </a:endParaRPr>
          </a:p>
          <a:p>
            <a:pPr marL="533400" lvl="0" indent="0" algn="l" rtl="0">
              <a:spcBef>
                <a:spcPts val="1000"/>
              </a:spcBef>
              <a:spcAft>
                <a:spcPts val="0"/>
              </a:spcAft>
              <a:buNone/>
            </a:pPr>
            <a:r>
              <a:rPr lang="en-GB" sz="2200">
                <a:solidFill>
                  <a:schemeClr val="dk1"/>
                </a:solidFill>
                <a:latin typeface="Calibri"/>
                <a:ea typeface="Calibri"/>
                <a:cs typeface="Calibri"/>
                <a:sym typeface="Calibri"/>
              </a:rPr>
              <a:t>3.4  Software Reuse, Component-based software design</a:t>
            </a:r>
            <a:endParaRPr sz="2200">
              <a:solidFill>
                <a:schemeClr val="dk1"/>
              </a:solidFill>
              <a:latin typeface="Calibri"/>
              <a:ea typeface="Calibri"/>
              <a:cs typeface="Calibri"/>
              <a:sym typeface="Calibri"/>
            </a:endParaRPr>
          </a:p>
          <a:p>
            <a:pPr marL="457200" lvl="0" indent="0" algn="just" rtl="0">
              <a:spcBef>
                <a:spcPts val="500"/>
              </a:spcBef>
              <a:spcAft>
                <a:spcPts val="0"/>
              </a:spcAft>
              <a:buNone/>
            </a:pPr>
            <a:endParaRPr sz="2100" b="1">
              <a:solidFill>
                <a:srgbClr val="0070C0"/>
              </a:solidFill>
              <a:latin typeface="Calibri"/>
              <a:ea typeface="Calibri"/>
              <a:cs typeface="Calibri"/>
              <a:sym typeface="Calibri"/>
            </a:endParaRPr>
          </a:p>
          <a:p>
            <a:pPr marL="0" lvl="0" indent="0" algn="just" rtl="0">
              <a:spcBef>
                <a:spcPts val="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b="1">
              <a:solidFill>
                <a:srgbClr val="0070C0"/>
              </a:solidFill>
              <a:latin typeface="Calibri"/>
              <a:ea typeface="Calibri"/>
              <a:cs typeface="Calibri"/>
              <a:sym typeface="Calibri"/>
            </a:endParaRPr>
          </a:p>
          <a:p>
            <a:pPr marL="0" lvl="0" indent="0" algn="just" rtl="0">
              <a:spcBef>
                <a:spcPts val="1000"/>
              </a:spcBef>
              <a:spcAft>
                <a:spcPts val="0"/>
              </a:spcAft>
              <a:buNone/>
            </a:pPr>
            <a:endParaRPr sz="2100">
              <a:solidFill>
                <a:schemeClr val="dk1"/>
              </a:solidFill>
              <a:latin typeface="Calibri"/>
              <a:ea typeface="Calibri"/>
              <a:cs typeface="Calibri"/>
              <a:sym typeface="Calibri"/>
            </a:endParaRPr>
          </a:p>
          <a:p>
            <a:pPr marL="914400" lvl="0" indent="0" algn="just" rtl="0">
              <a:lnSpc>
                <a:spcPct val="100000"/>
              </a:lnSpc>
              <a:spcBef>
                <a:spcPts val="0"/>
              </a:spcBef>
              <a:spcAft>
                <a:spcPts val="0"/>
              </a:spcAft>
              <a:buNone/>
            </a:pPr>
            <a:endParaRPr sz="2400" b="1">
              <a:solidFill>
                <a:srgbClr val="0070C0"/>
              </a:solidFill>
              <a:latin typeface="Calibri"/>
              <a:ea typeface="Calibri"/>
              <a:cs typeface="Calibri"/>
              <a:sym typeface="Calibri"/>
            </a:endParaRPr>
          </a:p>
          <a:p>
            <a:pPr marL="0" lvl="0" indent="0" algn="just" rtl="0">
              <a:spcBef>
                <a:spcPts val="1000"/>
              </a:spcBef>
              <a:spcAft>
                <a:spcPts val="0"/>
              </a:spcAft>
              <a:buNone/>
            </a:pPr>
            <a:endParaRPr sz="2300">
              <a:solidFill>
                <a:schemeClr val="dk1"/>
              </a:solidFill>
              <a:latin typeface="Calibri"/>
              <a:ea typeface="Calibri"/>
              <a:cs typeface="Calibri"/>
              <a:sym typeface="Calibri"/>
            </a:endParaRPr>
          </a:p>
        </p:txBody>
      </p:sp>
      <p:sp>
        <p:nvSpPr>
          <p:cNvPr id="695" name="Google Shape;695;p92"/>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696" name="Google Shape;696;p92"/>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57</a:t>
            </a:fld>
            <a:endParaRPr/>
          </a:p>
        </p:txBody>
      </p:sp>
    </p:spTree>
    <p:extLst>
      <p:ext uri="{BB962C8B-B14F-4D97-AF65-F5344CB8AC3E}">
        <p14:creationId xmlns:p14="http://schemas.microsoft.com/office/powerpoint/2010/main" val="270550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9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94"/>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Design Evaluation Cycle</a:t>
            </a:r>
            <a:endParaRPr sz="1900" b="1"/>
          </a:p>
        </p:txBody>
      </p:sp>
      <p:sp>
        <p:nvSpPr>
          <p:cNvPr id="710" name="Google Shape;710;p94"/>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11" name="Google Shape;711;p94"/>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58</a:t>
            </a:fld>
            <a:endParaRPr/>
          </a:p>
        </p:txBody>
      </p:sp>
      <p:pic>
        <p:nvPicPr>
          <p:cNvPr id="712" name="Google Shape;712;p94"/>
          <p:cNvPicPr preferRelativeResize="0"/>
          <p:nvPr/>
        </p:nvPicPr>
        <p:blipFill>
          <a:blip r:embed="rId3">
            <a:alphaModFix/>
          </a:blip>
          <a:stretch>
            <a:fillRect/>
          </a:stretch>
        </p:blipFill>
        <p:spPr>
          <a:xfrm>
            <a:off x="2087062" y="836712"/>
            <a:ext cx="4069114" cy="5637837"/>
          </a:xfrm>
          <a:prstGeom prst="rect">
            <a:avLst/>
          </a:prstGeom>
          <a:noFill/>
          <a:ln>
            <a:noFill/>
          </a:ln>
        </p:spPr>
      </p:pic>
    </p:spTree>
    <p:extLst>
      <p:ext uri="{BB962C8B-B14F-4D97-AF65-F5344CB8AC3E}">
        <p14:creationId xmlns:p14="http://schemas.microsoft.com/office/powerpoint/2010/main" val="157018413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95"/>
          <p:cNvSpPr txBox="1">
            <a:spLocks noGrp="1"/>
          </p:cNvSpPr>
          <p:nvPr>
            <p:ph type="title"/>
          </p:nvPr>
        </p:nvSpPr>
        <p:spPr>
          <a:xfrm>
            <a:off x="107504" y="476672"/>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dirty="0"/>
              <a:t>Design with Reuse</a:t>
            </a:r>
            <a:endParaRPr sz="1900" b="1" dirty="0"/>
          </a:p>
        </p:txBody>
      </p:sp>
      <p:sp>
        <p:nvSpPr>
          <p:cNvPr id="718" name="Google Shape;718;p95"/>
          <p:cNvSpPr txBox="1">
            <a:spLocks noGrp="1"/>
          </p:cNvSpPr>
          <p:nvPr>
            <p:ph type="body" idx="1"/>
          </p:nvPr>
        </p:nvSpPr>
        <p:spPr>
          <a:xfrm>
            <a:off x="395536" y="1412776"/>
            <a:ext cx="8424935" cy="4032448"/>
          </a:xfrm>
          <a:prstGeom prst="rect">
            <a:avLst/>
          </a:prstGeom>
          <a:noFill/>
          <a:ln>
            <a:noFill/>
          </a:ln>
        </p:spPr>
        <p:txBody>
          <a:bodyPr spcFirstLastPara="1" wrap="square" lIns="68575" tIns="34275" rIns="68575" bIns="34275" anchor="t" anchorCtr="0">
            <a:noAutofit/>
          </a:bodyPr>
          <a:lstStyle/>
          <a:p>
            <a:pPr marL="457200" lvl="0" indent="-374650" algn="l" rtl="0">
              <a:spcBef>
                <a:spcPts val="1000"/>
              </a:spcBef>
              <a:spcAft>
                <a:spcPts val="0"/>
              </a:spcAft>
              <a:buSzPts val="2300"/>
              <a:buFont typeface="Calibri"/>
              <a:buChar char="●"/>
            </a:pPr>
            <a:r>
              <a:rPr lang="en-GB" sz="2300" dirty="0">
                <a:solidFill>
                  <a:schemeClr val="dk1"/>
                </a:solidFill>
                <a:latin typeface="Calibri"/>
                <a:ea typeface="Calibri"/>
                <a:cs typeface="Calibri"/>
                <a:sym typeface="Calibri"/>
              </a:rPr>
              <a:t>Building software with reusable </a:t>
            </a:r>
            <a:r>
              <a:rPr lang="en-GB" sz="2300" dirty="0" smtClean="0">
                <a:solidFill>
                  <a:schemeClr val="dk1"/>
                </a:solidFill>
                <a:latin typeface="Calibri"/>
                <a:ea typeface="Calibri"/>
                <a:cs typeface="Calibri"/>
                <a:sym typeface="Calibri"/>
              </a:rPr>
              <a:t>components</a:t>
            </a:r>
          </a:p>
          <a:p>
            <a:pPr marL="457200" lvl="0" indent="-374650" algn="l" rtl="0">
              <a:spcBef>
                <a:spcPts val="1000"/>
              </a:spcBef>
              <a:spcAft>
                <a:spcPts val="0"/>
              </a:spcAft>
              <a:buSzPts val="2300"/>
              <a:buFont typeface="Calibri"/>
              <a:buChar char="●"/>
            </a:pPr>
            <a:endParaRPr lang="en-GB" sz="2300" dirty="0" smtClean="0">
              <a:solidFill>
                <a:schemeClr val="dk1"/>
              </a:solidFill>
              <a:latin typeface="Calibri"/>
              <a:ea typeface="Calibri"/>
              <a:cs typeface="Calibri"/>
              <a:sym typeface="Calibri"/>
            </a:endParaRPr>
          </a:p>
          <a:p>
            <a:pPr marL="457200" lvl="0" indent="-374650">
              <a:spcBef>
                <a:spcPts val="1000"/>
              </a:spcBef>
              <a:buSzPts val="2300"/>
              <a:buFont typeface="Calibri"/>
              <a:buChar char="●"/>
            </a:pPr>
            <a:r>
              <a:rPr lang="en-US" sz="2400" dirty="0" smtClean="0"/>
              <a:t>Software design with reuse is the practice of using existing software components  </a:t>
            </a:r>
            <a:r>
              <a:rPr lang="en-US" sz="2400" dirty="0"/>
              <a:t>software artifacts, such as code, libraries, frameworks, or design </a:t>
            </a:r>
            <a:r>
              <a:rPr lang="en-US" sz="2400" dirty="0" smtClean="0"/>
              <a:t>patterns to build new software.</a:t>
            </a:r>
            <a:endParaRPr sz="2300" dirty="0" smtClean="0">
              <a:solidFill>
                <a:schemeClr val="dk1"/>
              </a:solidFill>
              <a:latin typeface="Calibri"/>
              <a:ea typeface="Calibri"/>
              <a:cs typeface="Calibri"/>
              <a:sym typeface="Calibri"/>
            </a:endParaRPr>
          </a:p>
          <a:p>
            <a:pPr marL="457200" lvl="0" indent="-374650" algn="just" rtl="0">
              <a:spcBef>
                <a:spcPts val="0"/>
              </a:spcBef>
              <a:spcAft>
                <a:spcPts val="0"/>
              </a:spcAft>
              <a:buSzPts val="2300"/>
              <a:buFont typeface="Calibri"/>
              <a:buChar char="●"/>
            </a:pPr>
            <a:endParaRPr lang="en-GB" sz="2300" dirty="0" smtClean="0">
              <a:solidFill>
                <a:schemeClr val="dk1"/>
              </a:solidFill>
              <a:latin typeface="Calibri"/>
              <a:ea typeface="Calibri"/>
              <a:cs typeface="Calibri"/>
              <a:sym typeface="Calibri"/>
            </a:endParaRPr>
          </a:p>
          <a:p>
            <a:pPr marL="457200" lvl="0" indent="-374650" algn="l" rtl="0">
              <a:spcBef>
                <a:spcPts val="0"/>
              </a:spcBef>
              <a:spcAft>
                <a:spcPts val="0"/>
              </a:spcAft>
              <a:buClr>
                <a:schemeClr val="dk1"/>
              </a:buClr>
              <a:buSzPts val="2300"/>
              <a:buFont typeface="Calibri"/>
              <a:buChar char="●"/>
            </a:pPr>
            <a:r>
              <a:rPr lang="en-GB" sz="2300" dirty="0" smtClean="0">
                <a:solidFill>
                  <a:schemeClr val="dk1"/>
                </a:solidFill>
                <a:latin typeface="Calibri"/>
                <a:ea typeface="Calibri"/>
                <a:cs typeface="Calibri"/>
                <a:sym typeface="Calibri"/>
              </a:rPr>
              <a:t>to </a:t>
            </a:r>
            <a:r>
              <a:rPr lang="en-GB" sz="2300" dirty="0">
                <a:solidFill>
                  <a:schemeClr val="dk1"/>
                </a:solidFill>
                <a:latin typeface="Calibri"/>
                <a:ea typeface="Calibri"/>
                <a:cs typeface="Calibri"/>
                <a:sym typeface="Calibri"/>
              </a:rPr>
              <a:t>achieve better software, more quickly and at lower cost, adopt a design process that is based on systematic </a:t>
            </a:r>
            <a:r>
              <a:rPr lang="en-GB" sz="2300" dirty="0" smtClean="0">
                <a:solidFill>
                  <a:schemeClr val="dk1"/>
                </a:solidFill>
                <a:latin typeface="Calibri"/>
                <a:ea typeface="Calibri"/>
                <a:cs typeface="Calibri"/>
                <a:sym typeface="Calibri"/>
              </a:rPr>
              <a:t>reuse.</a:t>
            </a:r>
          </a:p>
          <a:p>
            <a:pPr marL="457200" lvl="0" indent="-374650">
              <a:spcBef>
                <a:spcPts val="0"/>
              </a:spcBef>
              <a:buClr>
                <a:schemeClr val="dk1"/>
              </a:buClr>
              <a:buSzPts val="2300"/>
              <a:buFont typeface="Calibri"/>
              <a:buChar char="●"/>
            </a:pPr>
            <a:endParaRPr lang="en-US" sz="2300" dirty="0" smtClean="0">
              <a:solidFill>
                <a:schemeClr val="dk1"/>
              </a:solidFill>
              <a:ea typeface="Calibri"/>
              <a:cs typeface="Calibri"/>
              <a:sym typeface="Calibri"/>
            </a:endParaRPr>
          </a:p>
          <a:p>
            <a:pPr marL="457200" lvl="0" indent="-374650">
              <a:spcBef>
                <a:spcPts val="0"/>
              </a:spcBef>
              <a:buClr>
                <a:schemeClr val="dk1"/>
              </a:buClr>
              <a:buSzPts val="2300"/>
              <a:buFont typeface="Calibri"/>
              <a:buChar char="●"/>
            </a:pPr>
            <a:r>
              <a:rPr lang="en-US" sz="2300" dirty="0" smtClean="0">
                <a:solidFill>
                  <a:schemeClr val="dk1"/>
                </a:solidFill>
                <a:ea typeface="Calibri"/>
                <a:cs typeface="Calibri"/>
                <a:sym typeface="Calibri"/>
              </a:rPr>
              <a:t>Software </a:t>
            </a:r>
            <a:r>
              <a:rPr lang="en-US" sz="2300" dirty="0">
                <a:solidFill>
                  <a:schemeClr val="dk1"/>
                </a:solidFill>
                <a:ea typeface="Calibri"/>
                <a:cs typeface="Calibri"/>
                <a:sym typeface="Calibri"/>
              </a:rPr>
              <a:t>reuse can reduce development time and cost, increase reliability and performance, and promote consistency and standardization</a:t>
            </a:r>
            <a:endParaRPr sz="2300" dirty="0">
              <a:solidFill>
                <a:schemeClr val="dk1"/>
              </a:solidFill>
              <a:latin typeface="Calibri"/>
              <a:ea typeface="Calibri"/>
              <a:cs typeface="Calibri"/>
              <a:sym typeface="Calibri"/>
            </a:endParaRPr>
          </a:p>
          <a:p>
            <a:pPr marL="457200" lvl="0" indent="0" algn="l" rtl="0">
              <a:spcBef>
                <a:spcPts val="1000"/>
              </a:spcBef>
              <a:spcAft>
                <a:spcPts val="0"/>
              </a:spcAft>
              <a:buNone/>
            </a:pPr>
            <a:endParaRPr sz="23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b="1" dirty="0">
              <a:solidFill>
                <a:srgbClr val="0070C0"/>
              </a:solidFill>
              <a:latin typeface="Calibri"/>
              <a:ea typeface="Calibri"/>
              <a:cs typeface="Calibri"/>
              <a:sym typeface="Calibri"/>
            </a:endParaRPr>
          </a:p>
          <a:p>
            <a:pPr marL="360000" lvl="0" indent="-360000" algn="l" rtl="0">
              <a:lnSpc>
                <a:spcPct val="90000"/>
              </a:lnSpc>
              <a:spcBef>
                <a:spcPts val="800"/>
              </a:spcBef>
              <a:spcAft>
                <a:spcPts val="1200"/>
              </a:spcAft>
              <a:buClr>
                <a:schemeClr val="dk1"/>
              </a:buClr>
              <a:buSzPts val="998"/>
              <a:buNone/>
            </a:pPr>
            <a:endParaRPr sz="2200" dirty="0">
              <a:solidFill>
                <a:schemeClr val="dk1"/>
              </a:solidFill>
              <a:latin typeface="Calibri"/>
              <a:ea typeface="Calibri"/>
              <a:cs typeface="Calibri"/>
              <a:sym typeface="Calibri"/>
            </a:endParaRPr>
          </a:p>
        </p:txBody>
      </p:sp>
      <p:sp>
        <p:nvSpPr>
          <p:cNvPr id="719" name="Google Shape;719;p95"/>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20" name="Google Shape;720;p95"/>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59</a:t>
            </a:fld>
            <a:endParaRPr/>
          </a:p>
        </p:txBody>
      </p:sp>
    </p:spTree>
    <p:extLst>
      <p:ext uri="{BB962C8B-B14F-4D97-AF65-F5344CB8AC3E}">
        <p14:creationId xmlns:p14="http://schemas.microsoft.com/office/powerpoint/2010/main" val="400174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96"/>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Reuse based Software Engineering </a:t>
            </a:r>
            <a:endParaRPr sz="1900" b="1"/>
          </a:p>
        </p:txBody>
      </p:sp>
      <p:sp>
        <p:nvSpPr>
          <p:cNvPr id="726" name="Google Shape;726;p96"/>
          <p:cNvSpPr txBox="1">
            <a:spLocks noGrp="1"/>
          </p:cNvSpPr>
          <p:nvPr>
            <p:ph type="body" idx="1"/>
          </p:nvPr>
        </p:nvSpPr>
        <p:spPr>
          <a:xfrm>
            <a:off x="246025" y="971400"/>
            <a:ext cx="8526600" cy="3300400"/>
          </a:xfrm>
          <a:prstGeom prst="rect">
            <a:avLst/>
          </a:prstGeom>
          <a:noFill/>
          <a:ln>
            <a:noFill/>
          </a:ln>
        </p:spPr>
        <p:txBody>
          <a:bodyPr spcFirstLastPara="1" wrap="square" lIns="68575" tIns="34275" rIns="68575" bIns="34275" anchor="t" anchorCtr="0">
            <a:noAutofit/>
          </a:bodyPr>
          <a:lstStyle/>
          <a:p>
            <a:pPr marL="0" lvl="0" indent="0" algn="just" rtl="0">
              <a:lnSpc>
                <a:spcPct val="100000"/>
              </a:lnSpc>
              <a:spcBef>
                <a:spcPts val="0"/>
              </a:spcBef>
              <a:spcAft>
                <a:spcPts val="0"/>
              </a:spcAft>
              <a:buClr>
                <a:schemeClr val="dk1"/>
              </a:buClr>
              <a:buSzPts val="1100"/>
              <a:buFont typeface="Arial"/>
              <a:buNone/>
            </a:pPr>
            <a:r>
              <a:rPr lang="en-GB" sz="2200" b="1" dirty="0">
                <a:solidFill>
                  <a:srgbClr val="1C4587"/>
                </a:solidFill>
                <a:latin typeface="Calibri"/>
                <a:ea typeface="Calibri"/>
                <a:cs typeface="Calibri"/>
                <a:sym typeface="Calibri"/>
              </a:rPr>
              <a:t>Application system reuse</a:t>
            </a:r>
            <a:endParaRPr sz="2200" b="1" dirty="0">
              <a:solidFill>
                <a:srgbClr val="1C4587"/>
              </a:solidFill>
              <a:latin typeface="Calibri"/>
              <a:ea typeface="Calibri"/>
              <a:cs typeface="Calibri"/>
              <a:sym typeface="Calibri"/>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The whole of an application system may be reused either by incorporating it without change into other systems or by configuring the application for different customers.</a:t>
            </a:r>
            <a:endParaRPr sz="2200" dirty="0">
              <a:solidFill>
                <a:schemeClr val="dk1"/>
              </a:solidFill>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Application families that have a common architecture, but which are tailored for specific customers, may be developed</a:t>
            </a:r>
            <a:r>
              <a:rPr lang="en-GB" sz="2200" dirty="0" smtClean="0">
                <a:solidFill>
                  <a:schemeClr val="dk1"/>
                </a:solidFill>
                <a:latin typeface="Calibri"/>
                <a:ea typeface="Calibri"/>
                <a:cs typeface="Calibri"/>
                <a:sym typeface="Calibri"/>
              </a:rPr>
              <a:t>.</a:t>
            </a:r>
          </a:p>
          <a:p>
            <a:pPr marL="857250" lvl="1" indent="-368300" algn="just">
              <a:spcBef>
                <a:spcPts val="0"/>
              </a:spcBef>
              <a:buClr>
                <a:schemeClr val="dk1"/>
              </a:buClr>
              <a:buSzPts val="2200"/>
              <a:buFont typeface="Calibri"/>
              <a:buChar char="●"/>
            </a:pPr>
            <a:r>
              <a:rPr lang="en-US" sz="2000" b="1" dirty="0" smtClean="0"/>
              <a:t>Example</a:t>
            </a:r>
            <a:r>
              <a:rPr lang="en-US" sz="2000" dirty="0"/>
              <a:t>: Using a pre-built e-commerce platform like Shopify</a:t>
            </a:r>
            <a:endParaRPr sz="18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200" b="1" dirty="0">
                <a:solidFill>
                  <a:srgbClr val="1C4587"/>
                </a:solidFill>
                <a:latin typeface="Calibri"/>
                <a:ea typeface="Calibri"/>
                <a:cs typeface="Calibri"/>
                <a:sym typeface="Calibri"/>
              </a:rPr>
              <a:t>Component reuse</a:t>
            </a:r>
            <a:endParaRPr sz="2200" b="1" dirty="0">
              <a:solidFill>
                <a:schemeClr val="dk1"/>
              </a:solidFill>
              <a:latin typeface="Calibri"/>
              <a:ea typeface="Calibri"/>
              <a:cs typeface="Calibri"/>
              <a:sym typeface="Calibri"/>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Components of an application from sub-systems to single objects may be </a:t>
            </a:r>
            <a:r>
              <a:rPr lang="en-GB" sz="2200" dirty="0" smtClean="0">
                <a:solidFill>
                  <a:schemeClr val="dk1"/>
                </a:solidFill>
                <a:latin typeface="Calibri"/>
                <a:ea typeface="Calibri"/>
                <a:cs typeface="Calibri"/>
                <a:sym typeface="Calibri"/>
              </a:rPr>
              <a:t>reused</a:t>
            </a:r>
          </a:p>
          <a:p>
            <a:pPr marL="857250" lvl="1" indent="-368300" algn="just">
              <a:spcBef>
                <a:spcPts val="0"/>
              </a:spcBef>
              <a:buClr>
                <a:schemeClr val="dk1"/>
              </a:buClr>
              <a:buSzPts val="2200"/>
              <a:buFont typeface="Calibri"/>
              <a:buChar char="●"/>
            </a:pPr>
            <a:r>
              <a:rPr lang="en-US" sz="2000" b="1" dirty="0" smtClean="0"/>
              <a:t>Example</a:t>
            </a:r>
            <a:r>
              <a:rPr lang="en-US" sz="2000" dirty="0"/>
              <a:t>: Reusing a login module across multiple web applications</a:t>
            </a:r>
            <a:endParaRPr lang="en-US" sz="2000" dirty="0">
              <a:solidFill>
                <a:schemeClr val="dk1"/>
              </a:solidFill>
            </a:endParaRPr>
          </a:p>
          <a:p>
            <a:pPr marL="457200" lvl="0" indent="-368300" algn="just" rtl="0">
              <a:lnSpc>
                <a:spcPct val="100000"/>
              </a:lnSpc>
              <a:spcBef>
                <a:spcPts val="0"/>
              </a:spcBef>
              <a:spcAft>
                <a:spcPts val="0"/>
              </a:spcAft>
              <a:buClr>
                <a:schemeClr val="dk1"/>
              </a:buClr>
              <a:buSzPts val="2200"/>
              <a:buFont typeface="Calibri"/>
              <a:buChar char="●"/>
            </a:pPr>
            <a:endParaRPr sz="22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r>
              <a:rPr lang="en-GB" sz="2200" b="1" dirty="0">
                <a:solidFill>
                  <a:srgbClr val="1C4587"/>
                </a:solidFill>
                <a:latin typeface="Calibri"/>
                <a:ea typeface="Calibri"/>
                <a:cs typeface="Calibri"/>
                <a:sym typeface="Calibri"/>
              </a:rPr>
              <a:t>Object and Function reuse</a:t>
            </a:r>
            <a:endParaRPr sz="2200" b="1" dirty="0">
              <a:solidFill>
                <a:schemeClr val="dk1"/>
              </a:solidFill>
              <a:latin typeface="Calibri"/>
              <a:ea typeface="Calibri"/>
              <a:cs typeface="Calibri"/>
              <a:sym typeface="Calibri"/>
            </a:endParaRPr>
          </a:p>
          <a:p>
            <a:pPr marL="457200" lvl="0"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Software components that implement a single function, such as a mathematical function, or an object class may be </a:t>
            </a:r>
            <a:r>
              <a:rPr lang="en-GB" sz="2200" dirty="0" smtClean="0">
                <a:solidFill>
                  <a:schemeClr val="dk1"/>
                </a:solidFill>
                <a:latin typeface="Calibri"/>
                <a:ea typeface="Calibri"/>
                <a:cs typeface="Calibri"/>
                <a:sym typeface="Calibri"/>
              </a:rPr>
              <a:t>reused</a:t>
            </a:r>
          </a:p>
          <a:p>
            <a:pPr marL="857250" lvl="1" indent="-368300" algn="just">
              <a:spcBef>
                <a:spcPts val="0"/>
              </a:spcBef>
              <a:buClr>
                <a:schemeClr val="dk1"/>
              </a:buClr>
              <a:buSzPts val="2200"/>
              <a:buFont typeface="Calibri"/>
              <a:buChar char="●"/>
            </a:pPr>
            <a:r>
              <a:rPr lang="en-US" sz="2000" b="1" dirty="0"/>
              <a:t>Example</a:t>
            </a:r>
            <a:r>
              <a:rPr lang="en-US" sz="2000" dirty="0"/>
              <a:t>: Using a pre-defined function for calculating taxes in a financial application</a:t>
            </a:r>
            <a:endParaRPr sz="18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endParaRPr sz="22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200" dirty="0">
              <a:solidFill>
                <a:schemeClr val="dk1"/>
              </a:solidFill>
              <a:latin typeface="Calibri"/>
              <a:ea typeface="Calibri"/>
              <a:cs typeface="Calibri"/>
              <a:sym typeface="Calibri"/>
            </a:endParaRPr>
          </a:p>
        </p:txBody>
      </p:sp>
      <p:sp>
        <p:nvSpPr>
          <p:cNvPr id="727" name="Google Shape;727;p96"/>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28" name="Google Shape;728;p96"/>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60</a:t>
            </a:fld>
            <a:endParaRPr/>
          </a:p>
        </p:txBody>
      </p:sp>
    </p:spTree>
    <p:extLst>
      <p:ext uri="{BB962C8B-B14F-4D97-AF65-F5344CB8AC3E}">
        <p14:creationId xmlns:p14="http://schemas.microsoft.com/office/powerpoint/2010/main" val="46523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2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97"/>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Benefits of Reuse </a:t>
            </a:r>
            <a:endParaRPr sz="1900" b="1"/>
          </a:p>
        </p:txBody>
      </p:sp>
      <p:sp>
        <p:nvSpPr>
          <p:cNvPr id="734" name="Google Shape;734;p97"/>
          <p:cNvSpPr txBox="1">
            <a:spLocks noGrp="1"/>
          </p:cNvSpPr>
          <p:nvPr>
            <p:ph type="body" idx="1"/>
          </p:nvPr>
        </p:nvSpPr>
        <p:spPr>
          <a:xfrm>
            <a:off x="467544" y="1340768"/>
            <a:ext cx="8526600" cy="3300400"/>
          </a:xfrm>
          <a:prstGeom prst="rect">
            <a:avLst/>
          </a:prstGeom>
          <a:noFill/>
          <a:ln>
            <a:noFill/>
          </a:ln>
        </p:spPr>
        <p:txBody>
          <a:bodyPr spcFirstLastPara="1" wrap="square" lIns="68575" tIns="34275" rIns="68575" bIns="34275" anchor="t" anchorCtr="0">
            <a:noAutofit/>
          </a:bodyPr>
          <a:lstStyle/>
          <a:p>
            <a:pPr marL="457200" lvl="0"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Increased reliability</a:t>
            </a:r>
            <a:endParaRPr sz="2200" dirty="0">
              <a:solidFill>
                <a:schemeClr val="dk1"/>
              </a:solidFill>
              <a:latin typeface="Calibri"/>
              <a:ea typeface="Calibri"/>
              <a:cs typeface="Calibri"/>
              <a:sym typeface="Calibri"/>
            </a:endParaRPr>
          </a:p>
          <a:p>
            <a:pPr marL="914400" lvl="1"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Components exercised in working </a:t>
            </a:r>
            <a:r>
              <a:rPr lang="en-GB" sz="2200" dirty="0" smtClean="0">
                <a:solidFill>
                  <a:schemeClr val="dk1"/>
                </a:solidFill>
                <a:latin typeface="Calibri"/>
                <a:ea typeface="Calibri"/>
                <a:cs typeface="Calibri"/>
                <a:sym typeface="Calibri"/>
              </a:rPr>
              <a:t>systems</a:t>
            </a:r>
          </a:p>
          <a:p>
            <a:pPr marL="914400" lvl="1" indent="-368300" algn="l" rtl="0">
              <a:lnSpc>
                <a:spcPct val="100000"/>
              </a:lnSpc>
              <a:spcBef>
                <a:spcPts val="0"/>
              </a:spcBef>
              <a:spcAft>
                <a:spcPts val="0"/>
              </a:spcAft>
              <a:buClr>
                <a:schemeClr val="dk1"/>
              </a:buClr>
              <a:buSzPts val="2200"/>
              <a:buFont typeface="Calibri"/>
              <a:buChar char="○"/>
            </a:pPr>
            <a:endParaRPr sz="2200" dirty="0">
              <a:solidFill>
                <a:schemeClr val="dk1"/>
              </a:solidFill>
              <a:latin typeface="Calibri"/>
              <a:ea typeface="Calibri"/>
              <a:cs typeface="Calibri"/>
              <a:sym typeface="Calibri"/>
            </a:endParaRPr>
          </a:p>
          <a:p>
            <a:pPr marL="457200" lvl="0"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Reduced process risk</a:t>
            </a:r>
            <a:endParaRPr sz="2200" dirty="0">
              <a:solidFill>
                <a:schemeClr val="dk1"/>
              </a:solidFill>
              <a:latin typeface="Calibri"/>
              <a:ea typeface="Calibri"/>
              <a:cs typeface="Calibri"/>
              <a:sym typeface="Calibri"/>
            </a:endParaRPr>
          </a:p>
          <a:p>
            <a:pPr marL="914400" lvl="1"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Less uncertainty in development </a:t>
            </a:r>
            <a:r>
              <a:rPr lang="en-GB" sz="2200" dirty="0" smtClean="0">
                <a:solidFill>
                  <a:schemeClr val="dk1"/>
                </a:solidFill>
                <a:latin typeface="Calibri"/>
                <a:ea typeface="Calibri"/>
                <a:cs typeface="Calibri"/>
                <a:sym typeface="Calibri"/>
              </a:rPr>
              <a:t>costs</a:t>
            </a:r>
          </a:p>
          <a:p>
            <a:pPr marL="914400" lvl="1" indent="-368300" algn="l" rtl="0">
              <a:lnSpc>
                <a:spcPct val="100000"/>
              </a:lnSpc>
              <a:spcBef>
                <a:spcPts val="0"/>
              </a:spcBef>
              <a:spcAft>
                <a:spcPts val="0"/>
              </a:spcAft>
              <a:buClr>
                <a:schemeClr val="dk1"/>
              </a:buClr>
              <a:buSzPts val="2200"/>
              <a:buFont typeface="Calibri"/>
              <a:buChar char="○"/>
            </a:pPr>
            <a:endParaRPr sz="2200" dirty="0">
              <a:solidFill>
                <a:schemeClr val="dk1"/>
              </a:solidFill>
              <a:latin typeface="Calibri"/>
              <a:ea typeface="Calibri"/>
              <a:cs typeface="Calibri"/>
              <a:sym typeface="Calibri"/>
            </a:endParaRPr>
          </a:p>
          <a:p>
            <a:pPr marL="457200" lvl="0"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Effective use of specialists</a:t>
            </a:r>
            <a:endParaRPr sz="2200" dirty="0">
              <a:solidFill>
                <a:schemeClr val="dk1"/>
              </a:solidFill>
              <a:latin typeface="Calibri"/>
              <a:ea typeface="Calibri"/>
              <a:cs typeface="Calibri"/>
              <a:sym typeface="Calibri"/>
            </a:endParaRPr>
          </a:p>
          <a:p>
            <a:pPr marL="914400" lvl="1"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Reuse components instead of </a:t>
            </a:r>
            <a:r>
              <a:rPr lang="en-GB" sz="2200" dirty="0" smtClean="0">
                <a:solidFill>
                  <a:schemeClr val="dk1"/>
                </a:solidFill>
                <a:latin typeface="Calibri"/>
                <a:ea typeface="Calibri"/>
                <a:cs typeface="Calibri"/>
                <a:sym typeface="Calibri"/>
              </a:rPr>
              <a:t>people</a:t>
            </a:r>
          </a:p>
          <a:p>
            <a:pPr marL="914400" lvl="1" indent="-368300" algn="l" rtl="0">
              <a:lnSpc>
                <a:spcPct val="100000"/>
              </a:lnSpc>
              <a:spcBef>
                <a:spcPts val="0"/>
              </a:spcBef>
              <a:spcAft>
                <a:spcPts val="0"/>
              </a:spcAft>
              <a:buClr>
                <a:schemeClr val="dk1"/>
              </a:buClr>
              <a:buSzPts val="2200"/>
              <a:buFont typeface="Calibri"/>
              <a:buChar char="○"/>
            </a:pPr>
            <a:endParaRPr sz="2200" dirty="0">
              <a:solidFill>
                <a:schemeClr val="dk1"/>
              </a:solidFill>
              <a:latin typeface="Calibri"/>
              <a:ea typeface="Calibri"/>
              <a:cs typeface="Calibri"/>
              <a:sym typeface="Calibri"/>
            </a:endParaRPr>
          </a:p>
          <a:p>
            <a:pPr marL="457200" lvl="0"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Standards compliance</a:t>
            </a:r>
            <a:endParaRPr sz="2200" dirty="0">
              <a:solidFill>
                <a:schemeClr val="dk1"/>
              </a:solidFill>
              <a:latin typeface="Calibri"/>
              <a:ea typeface="Calibri"/>
              <a:cs typeface="Calibri"/>
              <a:sym typeface="Calibri"/>
            </a:endParaRPr>
          </a:p>
          <a:p>
            <a:pPr marL="914400" lvl="1"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Embed standards in reusable </a:t>
            </a:r>
            <a:r>
              <a:rPr lang="en-GB" sz="2200" dirty="0" smtClean="0">
                <a:solidFill>
                  <a:schemeClr val="dk1"/>
                </a:solidFill>
                <a:latin typeface="Calibri"/>
                <a:ea typeface="Calibri"/>
                <a:cs typeface="Calibri"/>
                <a:sym typeface="Calibri"/>
              </a:rPr>
              <a:t>components</a:t>
            </a:r>
          </a:p>
          <a:p>
            <a:pPr marL="914400" lvl="1" indent="-368300" algn="l" rtl="0">
              <a:lnSpc>
                <a:spcPct val="100000"/>
              </a:lnSpc>
              <a:spcBef>
                <a:spcPts val="0"/>
              </a:spcBef>
              <a:spcAft>
                <a:spcPts val="0"/>
              </a:spcAft>
              <a:buClr>
                <a:schemeClr val="dk1"/>
              </a:buClr>
              <a:buSzPts val="2200"/>
              <a:buFont typeface="Calibri"/>
              <a:buChar char="○"/>
            </a:pPr>
            <a:endParaRPr sz="2200" dirty="0">
              <a:solidFill>
                <a:schemeClr val="dk1"/>
              </a:solidFill>
              <a:latin typeface="Calibri"/>
              <a:ea typeface="Calibri"/>
              <a:cs typeface="Calibri"/>
              <a:sym typeface="Calibri"/>
            </a:endParaRPr>
          </a:p>
          <a:p>
            <a:pPr marL="457200" lvl="0" indent="-368300" algn="l"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Accelerated development</a:t>
            </a:r>
            <a:endParaRPr sz="2200" dirty="0">
              <a:solidFill>
                <a:schemeClr val="dk1"/>
              </a:solidFill>
              <a:latin typeface="Calibri"/>
              <a:ea typeface="Calibri"/>
              <a:cs typeface="Calibri"/>
              <a:sym typeface="Calibri"/>
            </a:endParaRPr>
          </a:p>
          <a:p>
            <a:pPr marL="914400" lvl="1" indent="-368300" algn="just" rtl="0">
              <a:lnSpc>
                <a:spcPct val="100000"/>
              </a:lnSpc>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Avoid original development and hence speed-up production</a:t>
            </a:r>
            <a:endParaRPr sz="2200" b="1" dirty="0">
              <a:solidFill>
                <a:srgbClr val="1C4587"/>
              </a:solidFill>
              <a:latin typeface="Calibri"/>
              <a:ea typeface="Calibri"/>
              <a:cs typeface="Calibri"/>
              <a:sym typeface="Calibri"/>
            </a:endParaRPr>
          </a:p>
          <a:p>
            <a:pPr marL="0" lvl="0" indent="0" algn="just" rtl="0">
              <a:lnSpc>
                <a:spcPct val="100000"/>
              </a:lnSpc>
              <a:spcBef>
                <a:spcPts val="0"/>
              </a:spcBef>
              <a:spcAft>
                <a:spcPts val="0"/>
              </a:spcAft>
              <a:buNone/>
            </a:pPr>
            <a:endParaRPr sz="22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200" dirty="0">
              <a:solidFill>
                <a:schemeClr val="dk1"/>
              </a:solidFill>
              <a:latin typeface="Calibri"/>
              <a:ea typeface="Calibri"/>
              <a:cs typeface="Calibri"/>
              <a:sym typeface="Calibri"/>
            </a:endParaRPr>
          </a:p>
        </p:txBody>
      </p:sp>
      <p:sp>
        <p:nvSpPr>
          <p:cNvPr id="735" name="Google Shape;735;p97"/>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36" name="Google Shape;736;p97"/>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61</a:t>
            </a:fld>
            <a:endParaRPr/>
          </a:p>
        </p:txBody>
      </p:sp>
    </p:spTree>
    <p:extLst>
      <p:ext uri="{BB962C8B-B14F-4D97-AF65-F5344CB8AC3E}">
        <p14:creationId xmlns:p14="http://schemas.microsoft.com/office/powerpoint/2010/main" val="398583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34">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3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98"/>
          <p:cNvSpPr txBox="1">
            <a:spLocks noGrp="1"/>
          </p:cNvSpPr>
          <p:nvPr>
            <p:ph type="title"/>
          </p:nvPr>
        </p:nvSpPr>
        <p:spPr>
          <a:xfrm>
            <a:off x="136325" y="829200"/>
            <a:ext cx="8871600" cy="799600"/>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Clr>
                <a:schemeClr val="dk1"/>
              </a:buClr>
              <a:buSzPts val="3300"/>
              <a:buFont typeface="Arial"/>
              <a:buNone/>
            </a:pPr>
            <a:r>
              <a:rPr lang="en-GB" dirty="0"/>
              <a:t>Components Based Software Engineering (CBSE) </a:t>
            </a:r>
            <a:endParaRPr sz="1900" b="1" dirty="0"/>
          </a:p>
        </p:txBody>
      </p:sp>
      <p:sp>
        <p:nvSpPr>
          <p:cNvPr id="742" name="Google Shape;742;p98"/>
          <p:cNvSpPr txBox="1">
            <a:spLocks noGrp="1"/>
          </p:cNvSpPr>
          <p:nvPr>
            <p:ph type="body" idx="1"/>
          </p:nvPr>
        </p:nvSpPr>
        <p:spPr>
          <a:xfrm>
            <a:off x="251520" y="1844824"/>
            <a:ext cx="8526600" cy="3300400"/>
          </a:xfrm>
          <a:prstGeom prst="rect">
            <a:avLst/>
          </a:prstGeom>
          <a:noFill/>
          <a:ln>
            <a:noFill/>
          </a:ln>
        </p:spPr>
        <p:txBody>
          <a:bodyPr spcFirstLastPara="1" wrap="square" lIns="68575" tIns="34275" rIns="68575" bIns="34275" anchor="t" anchorCtr="0">
            <a:noAutofit/>
          </a:bodyPr>
          <a:lstStyle/>
          <a:p>
            <a:pPr marL="457200" lvl="0" indent="-368300" algn="just">
              <a:spcBef>
                <a:spcPts val="0"/>
              </a:spcBef>
              <a:buClr>
                <a:srgbClr val="1C4587"/>
              </a:buClr>
              <a:buSzPts val="2200"/>
              <a:buFont typeface="Calibri"/>
              <a:buChar char="●"/>
            </a:pPr>
            <a:r>
              <a:rPr lang="en-US" sz="2400" dirty="0" smtClean="0"/>
              <a:t>It is </a:t>
            </a:r>
            <a:r>
              <a:rPr lang="en-US" sz="2400" dirty="0"/>
              <a:t>an approach to software development that focuses on building systems by </a:t>
            </a:r>
            <a:r>
              <a:rPr lang="en-US" sz="2400" b="1" dirty="0"/>
              <a:t>assembling reusable, independent components</a:t>
            </a:r>
            <a:r>
              <a:rPr lang="en-US" sz="2400" dirty="0"/>
              <a:t>.</a:t>
            </a:r>
            <a:endParaRPr lang="en-GB" sz="2200" b="1" dirty="0" smtClean="0">
              <a:solidFill>
                <a:srgbClr val="1C4587"/>
              </a:solidFill>
              <a:latin typeface="Calibri"/>
              <a:ea typeface="Calibri"/>
              <a:cs typeface="Calibri"/>
              <a:sym typeface="Calibri"/>
            </a:endParaRPr>
          </a:p>
          <a:p>
            <a:pPr marL="457200" lvl="0" indent="-368300" algn="just" rtl="0">
              <a:lnSpc>
                <a:spcPct val="100000"/>
              </a:lnSpc>
              <a:spcBef>
                <a:spcPts val="0"/>
              </a:spcBef>
              <a:spcAft>
                <a:spcPts val="0"/>
              </a:spcAft>
              <a:buClr>
                <a:srgbClr val="1C4587"/>
              </a:buClr>
              <a:buSzPts val="2200"/>
              <a:buFont typeface="Calibri"/>
              <a:buChar char="●"/>
            </a:pPr>
            <a:r>
              <a:rPr lang="en-GB" sz="2200" b="1" dirty="0" smtClean="0">
                <a:solidFill>
                  <a:srgbClr val="1C4587"/>
                </a:solidFill>
                <a:latin typeface="Calibri"/>
                <a:ea typeface="Calibri"/>
                <a:cs typeface="Calibri"/>
                <a:sym typeface="Calibri"/>
              </a:rPr>
              <a:t>Approach </a:t>
            </a:r>
            <a:r>
              <a:rPr lang="en-GB" sz="2200" b="1" dirty="0">
                <a:solidFill>
                  <a:srgbClr val="1C4587"/>
                </a:solidFill>
                <a:latin typeface="Calibri"/>
                <a:ea typeface="Calibri"/>
                <a:cs typeface="Calibri"/>
                <a:sym typeface="Calibri"/>
              </a:rPr>
              <a:t>to software development that relies on reuse</a:t>
            </a:r>
            <a:endParaRPr sz="2300" b="1" dirty="0">
              <a:solidFill>
                <a:schemeClr val="dk1"/>
              </a:solidFill>
              <a:latin typeface="Calibri"/>
              <a:ea typeface="Calibri"/>
              <a:cs typeface="Calibri"/>
              <a:sym typeface="Calibri"/>
            </a:endParaRPr>
          </a:p>
          <a:p>
            <a:pPr marL="457200" lvl="0" indent="-374650" algn="just" rtl="0">
              <a:spcBef>
                <a:spcPts val="0"/>
              </a:spcBef>
              <a:spcAft>
                <a:spcPts val="0"/>
              </a:spcAft>
              <a:buClr>
                <a:schemeClr val="dk1"/>
              </a:buClr>
              <a:buSzPts val="2300"/>
              <a:buFont typeface="Calibri"/>
              <a:buChar char="●"/>
            </a:pPr>
            <a:r>
              <a:rPr lang="en-GB" sz="2300" dirty="0">
                <a:solidFill>
                  <a:schemeClr val="dk1"/>
                </a:solidFill>
                <a:latin typeface="Calibri"/>
                <a:ea typeface="Calibri"/>
                <a:cs typeface="Calibri"/>
                <a:sym typeface="Calibri"/>
              </a:rPr>
              <a:t>It emerged from the failure of object-oriented development to support effective reuse. Single object classes are too detailed and </a:t>
            </a:r>
            <a:r>
              <a:rPr lang="en-GB" sz="2300" dirty="0" smtClean="0">
                <a:solidFill>
                  <a:schemeClr val="dk1"/>
                </a:solidFill>
                <a:latin typeface="Calibri"/>
                <a:ea typeface="Calibri"/>
                <a:cs typeface="Calibri"/>
                <a:sym typeface="Calibri"/>
              </a:rPr>
              <a:t>specific</a:t>
            </a:r>
          </a:p>
          <a:p>
            <a:pPr marL="82550" lvl="0" indent="0" algn="just">
              <a:spcBef>
                <a:spcPts val="0"/>
              </a:spcBef>
              <a:buClr>
                <a:schemeClr val="dk1"/>
              </a:buClr>
              <a:buSzPts val="2300"/>
              <a:buNone/>
            </a:pPr>
            <a:r>
              <a:rPr lang="en-US" sz="2000" b="1" dirty="0" smtClean="0"/>
              <a:t>	</a:t>
            </a:r>
            <a:endParaRPr sz="2300" dirty="0">
              <a:solidFill>
                <a:schemeClr val="dk1"/>
              </a:solidFill>
            </a:endParaRPr>
          </a:p>
          <a:p>
            <a:pPr marL="457200" lvl="0" indent="-374650" algn="just" rtl="0">
              <a:spcBef>
                <a:spcPts val="0"/>
              </a:spcBef>
              <a:spcAft>
                <a:spcPts val="0"/>
              </a:spcAft>
              <a:buClr>
                <a:schemeClr val="dk1"/>
              </a:buClr>
              <a:buSzPts val="2300"/>
              <a:buFont typeface="Calibri"/>
              <a:buChar char="●"/>
            </a:pPr>
            <a:r>
              <a:rPr lang="en-GB" sz="2300" b="1" dirty="0">
                <a:solidFill>
                  <a:schemeClr val="dk1"/>
                </a:solidFill>
                <a:latin typeface="Calibri"/>
                <a:ea typeface="Calibri"/>
                <a:cs typeface="Calibri"/>
                <a:sym typeface="Calibri"/>
              </a:rPr>
              <a:t>Components are more abstract than object classes </a:t>
            </a:r>
            <a:r>
              <a:rPr lang="en-GB" sz="2300" dirty="0">
                <a:solidFill>
                  <a:schemeClr val="dk1"/>
                </a:solidFill>
                <a:latin typeface="Calibri"/>
                <a:ea typeface="Calibri"/>
                <a:cs typeface="Calibri"/>
                <a:sym typeface="Calibri"/>
              </a:rPr>
              <a:t>and can be considered to be stand-alone service </a:t>
            </a:r>
            <a:r>
              <a:rPr lang="en-GB" sz="2300" dirty="0" smtClean="0">
                <a:solidFill>
                  <a:schemeClr val="dk1"/>
                </a:solidFill>
                <a:latin typeface="Calibri"/>
                <a:ea typeface="Calibri"/>
                <a:cs typeface="Calibri"/>
                <a:sym typeface="Calibri"/>
              </a:rPr>
              <a:t>providers.</a:t>
            </a:r>
          </a:p>
          <a:p>
            <a:pPr marL="82550" lvl="0" indent="0" algn="just">
              <a:spcBef>
                <a:spcPts val="0"/>
              </a:spcBef>
              <a:buClr>
                <a:schemeClr val="dk1"/>
              </a:buClr>
              <a:buSzPts val="2300"/>
              <a:buNone/>
            </a:pPr>
            <a:r>
              <a:rPr lang="en-US" sz="2000" b="1" dirty="0" smtClean="0"/>
              <a:t>	</a:t>
            </a:r>
            <a:endParaRPr lang="en-GB" sz="2300" dirty="0" smtClean="0">
              <a:solidFill>
                <a:schemeClr val="dk1"/>
              </a:solidFill>
              <a:latin typeface="Calibri"/>
              <a:ea typeface="Calibri"/>
              <a:cs typeface="Calibri"/>
              <a:sym typeface="Calibri"/>
            </a:endParaRPr>
          </a:p>
          <a:p>
            <a:pPr marL="457200" lvl="0" indent="-374650" algn="just" rtl="0">
              <a:spcBef>
                <a:spcPts val="0"/>
              </a:spcBef>
              <a:spcAft>
                <a:spcPts val="0"/>
              </a:spcAft>
              <a:buClr>
                <a:schemeClr val="dk1"/>
              </a:buClr>
              <a:buSzPts val="2300"/>
              <a:buFont typeface="Calibri"/>
              <a:buChar char="●"/>
            </a:pPr>
            <a:r>
              <a:rPr lang="en-GB" sz="2300" dirty="0" smtClean="0">
                <a:solidFill>
                  <a:schemeClr val="dk1"/>
                </a:solidFill>
                <a:latin typeface="Calibri"/>
                <a:ea typeface="Calibri"/>
                <a:cs typeface="Calibri"/>
                <a:sym typeface="Calibri"/>
              </a:rPr>
              <a:t>Components can range in size from simple functions to entire application systems</a:t>
            </a:r>
            <a:endParaRPr sz="2300" dirty="0" smtClean="0">
              <a:solidFill>
                <a:schemeClr val="dk1"/>
              </a:solidFill>
              <a:latin typeface="Calibri"/>
              <a:ea typeface="Calibri"/>
              <a:cs typeface="Calibri"/>
              <a:sym typeface="Calibri"/>
            </a:endParaRPr>
          </a:p>
          <a:p>
            <a:pPr marL="457200" lvl="0" indent="0" algn="just" rtl="0">
              <a:spcBef>
                <a:spcPts val="0"/>
              </a:spcBef>
              <a:spcAft>
                <a:spcPts val="0"/>
              </a:spcAft>
              <a:buNone/>
            </a:pPr>
            <a:endParaRPr sz="23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200" dirty="0">
              <a:solidFill>
                <a:schemeClr val="dk1"/>
              </a:solidFill>
              <a:latin typeface="Calibri"/>
              <a:ea typeface="Calibri"/>
              <a:cs typeface="Calibri"/>
              <a:sym typeface="Calibri"/>
            </a:endParaRPr>
          </a:p>
        </p:txBody>
      </p:sp>
      <p:sp>
        <p:nvSpPr>
          <p:cNvPr id="743" name="Google Shape;743;p98"/>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44" name="Google Shape;744;p98"/>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62</a:t>
            </a:fld>
            <a:endParaRPr/>
          </a:p>
        </p:txBody>
      </p:sp>
    </p:spTree>
    <p:extLst>
      <p:ext uri="{BB962C8B-B14F-4D97-AF65-F5344CB8AC3E}">
        <p14:creationId xmlns:p14="http://schemas.microsoft.com/office/powerpoint/2010/main" val="329819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99"/>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Key goals of CBSE </a:t>
            </a:r>
            <a:endParaRPr sz="1900" b="1"/>
          </a:p>
        </p:txBody>
      </p:sp>
      <p:sp>
        <p:nvSpPr>
          <p:cNvPr id="750" name="Google Shape;750;p99"/>
          <p:cNvSpPr txBox="1">
            <a:spLocks noGrp="1"/>
          </p:cNvSpPr>
          <p:nvPr>
            <p:ph type="body" idx="1"/>
          </p:nvPr>
        </p:nvSpPr>
        <p:spPr>
          <a:xfrm>
            <a:off x="246025" y="971400"/>
            <a:ext cx="8526600" cy="3300400"/>
          </a:xfrm>
          <a:prstGeom prst="rect">
            <a:avLst/>
          </a:prstGeom>
          <a:noFill/>
          <a:ln>
            <a:noFill/>
          </a:ln>
        </p:spPr>
        <p:txBody>
          <a:bodyPr spcFirstLastPara="1" wrap="square" lIns="68575" tIns="34275" rIns="68575" bIns="34275" anchor="t" anchorCtr="0">
            <a:noAutofit/>
          </a:bodyPr>
          <a:lstStyle/>
          <a:p>
            <a:pPr marL="457200" lvl="0" indent="-368300" algn="l" rtl="0">
              <a:spcBef>
                <a:spcPts val="100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Save time and money when building large and complex systems</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Enhance the software quality</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Detect defects within the systems</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Improved efficiency</a:t>
            </a:r>
            <a:endParaRPr sz="2200" dirty="0">
              <a:solidFill>
                <a:schemeClr val="dk1"/>
              </a:solidFill>
              <a:latin typeface="Calibri"/>
              <a:ea typeface="Calibri"/>
              <a:cs typeface="Calibri"/>
              <a:sym typeface="Calibri"/>
            </a:endParaRPr>
          </a:p>
          <a:p>
            <a:pPr marL="457200" lvl="0" indent="-368300" algn="l" rtl="0">
              <a:spcBef>
                <a:spcPts val="0"/>
              </a:spcBef>
              <a:spcAft>
                <a:spcPts val="0"/>
              </a:spcAft>
              <a:buClr>
                <a:schemeClr val="dk1"/>
              </a:buClr>
              <a:buSzPts val="2200"/>
              <a:buFont typeface="Calibri"/>
              <a:buChar char="●"/>
            </a:pPr>
            <a:r>
              <a:rPr lang="en-GB" sz="2200" dirty="0">
                <a:solidFill>
                  <a:schemeClr val="dk1"/>
                </a:solidFill>
                <a:latin typeface="Calibri"/>
                <a:ea typeface="Calibri"/>
                <a:cs typeface="Calibri"/>
                <a:sym typeface="Calibri"/>
              </a:rPr>
              <a:t>Minimized delivery</a:t>
            </a:r>
            <a:endParaRPr sz="22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endParaRPr sz="22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200" dirty="0">
              <a:solidFill>
                <a:schemeClr val="dk1"/>
              </a:solidFill>
              <a:latin typeface="Calibri"/>
              <a:ea typeface="Calibri"/>
              <a:cs typeface="Calibri"/>
              <a:sym typeface="Calibri"/>
            </a:endParaRPr>
          </a:p>
        </p:txBody>
      </p:sp>
      <p:sp>
        <p:nvSpPr>
          <p:cNvPr id="751" name="Google Shape;751;p99"/>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52" name="Google Shape;752;p99"/>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63</a:t>
            </a:fld>
            <a:endParaRPr/>
          </a:p>
        </p:txBody>
      </p:sp>
    </p:spTree>
    <p:extLst>
      <p:ext uri="{BB962C8B-B14F-4D97-AF65-F5344CB8AC3E}">
        <p14:creationId xmlns:p14="http://schemas.microsoft.com/office/powerpoint/2010/main" val="158663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19256" cy="490066"/>
          </a:xfrm>
        </p:spPr>
        <p:txBody>
          <a:bodyPr>
            <a:normAutofit fontScale="90000"/>
          </a:bodyPr>
          <a:lstStyle/>
          <a:p>
            <a:r>
              <a:rPr lang="en-US" dirty="0" smtClean="0"/>
              <a:t>Key concepts in CBSE</a:t>
            </a:r>
            <a:endParaRPr lang="en-IN" dirty="0"/>
          </a:p>
        </p:txBody>
      </p:sp>
      <p:sp>
        <p:nvSpPr>
          <p:cNvPr id="3" name="Content Placeholder 2"/>
          <p:cNvSpPr>
            <a:spLocks noGrp="1"/>
          </p:cNvSpPr>
          <p:nvPr>
            <p:ph idx="1"/>
          </p:nvPr>
        </p:nvSpPr>
        <p:spPr>
          <a:xfrm>
            <a:off x="395536" y="908720"/>
            <a:ext cx="8291264" cy="5217443"/>
          </a:xfrm>
        </p:spPr>
        <p:txBody>
          <a:bodyPr>
            <a:normAutofit fontScale="55000" lnSpcReduction="20000"/>
          </a:bodyPr>
          <a:lstStyle/>
          <a:p>
            <a:pPr marL="0" indent="0">
              <a:buNone/>
            </a:pPr>
            <a:r>
              <a:rPr lang="en-US" b="1" dirty="0"/>
              <a:t>Components:</a:t>
            </a:r>
          </a:p>
          <a:p>
            <a:r>
              <a:rPr lang="en-US" dirty="0"/>
              <a:t>A software component is a self-contained unit of functionality with clearly defined interfaces.</a:t>
            </a:r>
          </a:p>
          <a:p>
            <a:r>
              <a:rPr lang="en-US" dirty="0"/>
              <a:t>Components are designed to be reused in different applications or systems.</a:t>
            </a:r>
          </a:p>
          <a:p>
            <a:r>
              <a:rPr lang="en-US" dirty="0"/>
              <a:t>They encapsulate their functionality and are often distributed as binary units (e.g., libraries, modules, or services).</a:t>
            </a:r>
          </a:p>
          <a:p>
            <a:endParaRPr lang="en-US" dirty="0"/>
          </a:p>
          <a:p>
            <a:pPr marL="0" indent="0">
              <a:buNone/>
            </a:pPr>
            <a:r>
              <a:rPr lang="en-US" b="1" dirty="0"/>
              <a:t>Reuse:</a:t>
            </a:r>
          </a:p>
          <a:p>
            <a:r>
              <a:rPr lang="en-US" dirty="0"/>
              <a:t>CBSE aims to maximize reuse of components, both at the internal and external levels (e.g., third-party components).</a:t>
            </a:r>
          </a:p>
          <a:p>
            <a:r>
              <a:rPr lang="en-US" dirty="0"/>
              <a:t>Instead of writing code for common functionalities, developers can reuse existing components, saving time and effort.</a:t>
            </a:r>
          </a:p>
          <a:p>
            <a:pPr marL="0" indent="0">
              <a:buNone/>
            </a:pPr>
            <a:endParaRPr lang="en-US" b="1" dirty="0" smtClean="0"/>
          </a:p>
          <a:p>
            <a:pPr marL="0" indent="0">
              <a:buNone/>
            </a:pPr>
            <a:r>
              <a:rPr lang="en-US" b="1" dirty="0" smtClean="0"/>
              <a:t>Interfaces</a:t>
            </a:r>
            <a:r>
              <a:rPr lang="en-US" b="1" dirty="0"/>
              <a:t>:</a:t>
            </a:r>
          </a:p>
          <a:p>
            <a:r>
              <a:rPr lang="en-US" dirty="0"/>
              <a:t>Each component has a well-defined interface that specifies how other components or systems interact with it.</a:t>
            </a:r>
          </a:p>
          <a:p>
            <a:pPr marL="0" indent="0">
              <a:buNone/>
            </a:pPr>
            <a:r>
              <a:rPr lang="en-US" dirty="0" smtClean="0"/>
              <a:t>      Components </a:t>
            </a:r>
            <a:r>
              <a:rPr lang="en-US" dirty="0"/>
              <a:t>typically have:</a:t>
            </a:r>
          </a:p>
          <a:p>
            <a:pPr lvl="1"/>
            <a:r>
              <a:rPr lang="en-US" dirty="0"/>
              <a:t>Provides Interface: Defines the services or functionalities the component offers.</a:t>
            </a:r>
          </a:p>
          <a:p>
            <a:pPr lvl="1"/>
            <a:r>
              <a:rPr lang="en-US" dirty="0"/>
              <a:t>Requires Interface: Defines the services or dependencies that the component needs to operate</a:t>
            </a:r>
            <a:r>
              <a:rPr lang="en-US" dirty="0" smtClean="0"/>
              <a:t>.</a:t>
            </a:r>
            <a:endParaRPr lang="en-US" dirty="0"/>
          </a:p>
        </p:txBody>
      </p:sp>
    </p:spTree>
    <p:extLst>
      <p:ext uri="{BB962C8B-B14F-4D97-AF65-F5344CB8AC3E}">
        <p14:creationId xmlns:p14="http://schemas.microsoft.com/office/powerpoint/2010/main" val="22592267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20688"/>
            <a:ext cx="8640960" cy="5760640"/>
          </a:xfrm>
        </p:spPr>
        <p:txBody>
          <a:bodyPr>
            <a:normAutofit fontScale="55000" lnSpcReduction="20000"/>
          </a:bodyPr>
          <a:lstStyle/>
          <a:p>
            <a:pPr marL="0" indent="0">
              <a:buNone/>
            </a:pPr>
            <a:r>
              <a:rPr lang="en-US" b="1" dirty="0"/>
              <a:t>Interoperability:</a:t>
            </a:r>
          </a:p>
          <a:p>
            <a:r>
              <a:rPr lang="en-US" dirty="0" smtClean="0"/>
              <a:t>CBSE </a:t>
            </a:r>
            <a:r>
              <a:rPr lang="en-US" dirty="0"/>
              <a:t>focuses on ensuring that components can interoperate and work together seamlessly, even if they come from different sources.</a:t>
            </a:r>
          </a:p>
          <a:p>
            <a:endParaRPr lang="en-US" dirty="0" smtClean="0"/>
          </a:p>
          <a:p>
            <a:pPr marL="0" indent="0">
              <a:buNone/>
            </a:pPr>
            <a:r>
              <a:rPr lang="en-US" b="1" dirty="0" smtClean="0"/>
              <a:t>Composition</a:t>
            </a:r>
            <a:r>
              <a:rPr lang="en-US" b="1" dirty="0"/>
              <a:t>:</a:t>
            </a:r>
          </a:p>
          <a:p>
            <a:r>
              <a:rPr lang="en-US" dirty="0"/>
              <a:t>In CBSE, software systems are built through composition—assembling different components together.</a:t>
            </a:r>
          </a:p>
          <a:p>
            <a:r>
              <a:rPr lang="en-US" dirty="0"/>
              <a:t>The composition can be achieved using design tools or frameworks that manage the integration and interaction of components.</a:t>
            </a:r>
          </a:p>
          <a:p>
            <a:pPr marL="0" indent="0">
              <a:buNone/>
            </a:pPr>
            <a:endParaRPr lang="en-US" b="1" dirty="0" smtClean="0"/>
          </a:p>
          <a:p>
            <a:pPr marL="0" indent="0">
              <a:buNone/>
            </a:pPr>
            <a:r>
              <a:rPr lang="en-US" b="1" dirty="0" smtClean="0"/>
              <a:t>Independence </a:t>
            </a:r>
            <a:r>
              <a:rPr lang="en-US" b="1" dirty="0"/>
              <a:t>and Loose Coupling:</a:t>
            </a:r>
          </a:p>
          <a:p>
            <a:r>
              <a:rPr lang="en-US" dirty="0"/>
              <a:t>Components are designed to be independent and loosely coupled, meaning they can function with minimal dependency on other components.</a:t>
            </a:r>
          </a:p>
          <a:p>
            <a:r>
              <a:rPr lang="en-US" dirty="0"/>
              <a:t>This independence enhances flexibility, as components can be easily replaced or upgraded without affecting the entire system.</a:t>
            </a:r>
          </a:p>
          <a:p>
            <a:pPr marL="0" indent="0">
              <a:buNone/>
            </a:pPr>
            <a:endParaRPr lang="en-US" b="1" dirty="0" smtClean="0"/>
          </a:p>
          <a:p>
            <a:pPr marL="0" indent="0">
              <a:buNone/>
            </a:pPr>
            <a:r>
              <a:rPr lang="en-US" b="1" dirty="0" smtClean="0"/>
              <a:t>Customization </a:t>
            </a:r>
            <a:r>
              <a:rPr lang="en-US" b="1" dirty="0"/>
              <a:t>and Extensibility:</a:t>
            </a:r>
          </a:p>
          <a:p>
            <a:r>
              <a:rPr lang="en-US" dirty="0"/>
              <a:t>Components may allow some degree of customization (e.g., configuration options) so they can be adapted to different use cases.</a:t>
            </a:r>
          </a:p>
          <a:p>
            <a:r>
              <a:rPr lang="en-US" dirty="0"/>
              <a:t>They can also be extended to provide additional features when needed.</a:t>
            </a:r>
          </a:p>
          <a:p>
            <a:endParaRPr lang="en-US" dirty="0"/>
          </a:p>
          <a:p>
            <a:endParaRPr lang="en-IN" dirty="0"/>
          </a:p>
        </p:txBody>
      </p:sp>
    </p:spTree>
    <p:extLst>
      <p:ext uri="{BB962C8B-B14F-4D97-AF65-F5344CB8AC3E}">
        <p14:creationId xmlns:p14="http://schemas.microsoft.com/office/powerpoint/2010/main" val="26859164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00"/>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Component Interfaces</a:t>
            </a:r>
            <a:endParaRPr sz="1900" b="1"/>
          </a:p>
        </p:txBody>
      </p:sp>
      <p:sp>
        <p:nvSpPr>
          <p:cNvPr id="758" name="Google Shape;758;p100"/>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59" name="Google Shape;759;p100"/>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66</a:t>
            </a:fld>
            <a:endParaRPr/>
          </a:p>
        </p:txBody>
      </p:sp>
      <p:pic>
        <p:nvPicPr>
          <p:cNvPr id="760" name="Google Shape;760;p100"/>
          <p:cNvPicPr preferRelativeResize="0"/>
          <p:nvPr/>
        </p:nvPicPr>
        <p:blipFill>
          <a:blip r:embed="rId3">
            <a:alphaModFix/>
          </a:blip>
          <a:stretch>
            <a:fillRect/>
          </a:stretch>
        </p:blipFill>
        <p:spPr>
          <a:xfrm>
            <a:off x="2195736" y="5395050"/>
            <a:ext cx="2664005" cy="1085704"/>
          </a:xfrm>
          <a:prstGeom prst="rect">
            <a:avLst/>
          </a:prstGeom>
          <a:noFill/>
          <a:ln>
            <a:noFill/>
          </a:ln>
        </p:spPr>
      </p:pic>
      <p:sp>
        <p:nvSpPr>
          <p:cNvPr id="761" name="Google Shape;761;p100"/>
          <p:cNvSpPr txBox="1"/>
          <p:nvPr/>
        </p:nvSpPr>
        <p:spPr>
          <a:xfrm>
            <a:off x="423575" y="1243200"/>
            <a:ext cx="8297100" cy="25114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100" dirty="0">
                <a:solidFill>
                  <a:schemeClr val="dk1"/>
                </a:solidFill>
                <a:latin typeface="Calibri"/>
                <a:ea typeface="Calibri"/>
                <a:cs typeface="Calibri"/>
                <a:sym typeface="Calibri"/>
              </a:rPr>
              <a:t>These interfaces reflect the services that the component provides and the services that the component requires to operate correctly</a:t>
            </a:r>
            <a:endParaRPr sz="2100" dirty="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GB" sz="2100" b="1" dirty="0">
                <a:solidFill>
                  <a:schemeClr val="dk1"/>
                </a:solidFill>
                <a:latin typeface="Calibri"/>
                <a:ea typeface="Calibri"/>
                <a:cs typeface="Calibri"/>
                <a:sym typeface="Calibri"/>
              </a:rPr>
              <a:t>Provides interface</a:t>
            </a:r>
            <a:endParaRPr sz="2100" b="1" dirty="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GB" sz="2100" dirty="0">
                <a:solidFill>
                  <a:schemeClr val="dk1"/>
                </a:solidFill>
                <a:latin typeface="Calibri"/>
                <a:ea typeface="Calibri"/>
                <a:cs typeface="Calibri"/>
                <a:sym typeface="Calibri"/>
              </a:rPr>
              <a:t>Defines the services that are provided by the component to other </a:t>
            </a:r>
            <a:r>
              <a:rPr lang="en-GB" sz="2100" dirty="0" smtClean="0">
                <a:solidFill>
                  <a:schemeClr val="dk1"/>
                </a:solidFill>
                <a:latin typeface="Calibri"/>
                <a:ea typeface="Calibri"/>
                <a:cs typeface="Calibri"/>
                <a:sym typeface="Calibri"/>
              </a:rPr>
              <a:t>components or parts of the system.</a:t>
            </a:r>
            <a:endParaRPr sz="2100" dirty="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GB" sz="2100" b="1" dirty="0">
                <a:solidFill>
                  <a:schemeClr val="dk1"/>
                </a:solidFill>
                <a:latin typeface="Calibri"/>
                <a:ea typeface="Calibri"/>
                <a:cs typeface="Calibri"/>
                <a:sym typeface="Calibri"/>
              </a:rPr>
              <a:t>Requires interface</a:t>
            </a:r>
            <a:endParaRPr sz="2100" b="1" dirty="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GB" sz="2100" dirty="0">
                <a:solidFill>
                  <a:schemeClr val="dk1"/>
                </a:solidFill>
                <a:latin typeface="Calibri"/>
                <a:ea typeface="Calibri"/>
                <a:cs typeface="Calibri"/>
                <a:sym typeface="Calibri"/>
              </a:rPr>
              <a:t>Defines the services that specifies what services must be made available for the component to execute as specified</a:t>
            </a:r>
            <a:endParaRPr sz="2100" dirty="0">
              <a:solidFill>
                <a:schemeClr val="dk1"/>
              </a:solidFill>
              <a:latin typeface="Calibri"/>
              <a:ea typeface="Calibri"/>
              <a:cs typeface="Calibri"/>
              <a:sym typeface="Calibri"/>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26" y="3789040"/>
            <a:ext cx="6478538" cy="1450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75897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101"/>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dirty="0"/>
              <a:t>Example: Printing service Component </a:t>
            </a:r>
            <a:endParaRPr sz="1900" b="1" dirty="0"/>
          </a:p>
        </p:txBody>
      </p:sp>
      <p:sp>
        <p:nvSpPr>
          <p:cNvPr id="767" name="Google Shape;767;p101"/>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68" name="Google Shape;768;p101"/>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67</a:t>
            </a:fld>
            <a:endParaRPr/>
          </a:p>
        </p:txBody>
      </p:sp>
      <p:pic>
        <p:nvPicPr>
          <p:cNvPr id="769" name="Google Shape;769;p101"/>
          <p:cNvPicPr preferRelativeResize="0"/>
          <p:nvPr/>
        </p:nvPicPr>
        <p:blipFill>
          <a:blip r:embed="rId3">
            <a:alphaModFix/>
          </a:blip>
          <a:stretch>
            <a:fillRect/>
          </a:stretch>
        </p:blipFill>
        <p:spPr>
          <a:xfrm>
            <a:off x="1614489" y="1377951"/>
            <a:ext cx="5915025" cy="4102100"/>
          </a:xfrm>
          <a:prstGeom prst="rect">
            <a:avLst/>
          </a:prstGeom>
          <a:noFill/>
          <a:ln>
            <a:noFill/>
          </a:ln>
        </p:spPr>
      </p:pic>
    </p:spTree>
    <p:extLst>
      <p:ext uri="{BB962C8B-B14F-4D97-AF65-F5344CB8AC3E}">
        <p14:creationId xmlns:p14="http://schemas.microsoft.com/office/powerpoint/2010/main" val="32270943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02"/>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CBSE Process</a:t>
            </a:r>
            <a:endParaRPr sz="1900" b="1"/>
          </a:p>
        </p:txBody>
      </p:sp>
      <p:sp>
        <p:nvSpPr>
          <p:cNvPr id="775" name="Google Shape;775;p102"/>
          <p:cNvSpPr txBox="1">
            <a:spLocks noGrp="1"/>
          </p:cNvSpPr>
          <p:nvPr>
            <p:ph type="body" idx="1"/>
          </p:nvPr>
        </p:nvSpPr>
        <p:spPr>
          <a:xfrm>
            <a:off x="246025" y="971400"/>
            <a:ext cx="8526600" cy="3300400"/>
          </a:xfrm>
          <a:prstGeom prst="rect">
            <a:avLst/>
          </a:prstGeom>
          <a:noFill/>
          <a:ln>
            <a:noFill/>
          </a:ln>
        </p:spPr>
        <p:txBody>
          <a:bodyPr spcFirstLastPara="1" wrap="square" lIns="68575" tIns="34275" rIns="68575" bIns="34275" anchor="t" anchorCtr="0">
            <a:noAutofit/>
          </a:bodyPr>
          <a:lstStyle/>
          <a:p>
            <a:pPr marL="457200" lvl="0" indent="-368300" algn="just" rtl="0">
              <a:spcBef>
                <a:spcPts val="0"/>
              </a:spcBef>
              <a:spcAft>
                <a:spcPts val="0"/>
              </a:spcAft>
              <a:buClr>
                <a:schemeClr val="dk1"/>
              </a:buClr>
              <a:buSzPts val="2200"/>
              <a:buFont typeface="Calibri"/>
              <a:buChar char="●"/>
            </a:pPr>
            <a:r>
              <a:rPr lang="en-GB" sz="2000" dirty="0">
                <a:solidFill>
                  <a:schemeClr val="dk1"/>
                </a:solidFill>
                <a:latin typeface="Calibri"/>
                <a:ea typeface="Calibri"/>
                <a:cs typeface="Calibri"/>
                <a:sym typeface="Calibri"/>
              </a:rPr>
              <a:t>CBSE processes are software processes that support component-based software engineering.</a:t>
            </a:r>
            <a:endParaRPr sz="20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Char char="●"/>
            </a:pPr>
            <a:r>
              <a:rPr lang="en-GB" sz="2000" dirty="0">
                <a:solidFill>
                  <a:schemeClr val="dk1"/>
                </a:solidFill>
                <a:latin typeface="Calibri"/>
                <a:ea typeface="Calibri"/>
                <a:cs typeface="Calibri"/>
                <a:sym typeface="Calibri"/>
              </a:rPr>
              <a:t>They take into account the possibilities of reuse and the different process activities involved in developing and using reusable components. </a:t>
            </a:r>
            <a:endParaRPr sz="2000" dirty="0">
              <a:solidFill>
                <a:schemeClr val="dk1"/>
              </a:solidFill>
              <a:latin typeface="Calibri"/>
              <a:ea typeface="Calibri"/>
              <a:cs typeface="Calibri"/>
              <a:sym typeface="Calibri"/>
            </a:endParaRPr>
          </a:p>
          <a:p>
            <a:pPr marL="457200" lvl="0" indent="-368300" algn="just" rtl="0">
              <a:spcBef>
                <a:spcPts val="0"/>
              </a:spcBef>
              <a:spcAft>
                <a:spcPts val="0"/>
              </a:spcAft>
              <a:buClr>
                <a:schemeClr val="dk1"/>
              </a:buClr>
              <a:buSzPts val="2200"/>
              <a:buFont typeface="Calibri"/>
              <a:buAutoNum type="arabicPeriod"/>
            </a:pPr>
            <a:r>
              <a:rPr lang="en-GB" sz="2000" b="1" dirty="0">
                <a:solidFill>
                  <a:schemeClr val="dk1"/>
                </a:solidFill>
                <a:latin typeface="Calibri"/>
                <a:ea typeface="Calibri"/>
                <a:cs typeface="Calibri"/>
                <a:sym typeface="Calibri"/>
              </a:rPr>
              <a:t>Development for reuse</a:t>
            </a:r>
            <a:endParaRPr sz="2000" b="1" dirty="0">
              <a:solidFill>
                <a:schemeClr val="dk1"/>
              </a:solidFill>
              <a:latin typeface="Calibri"/>
              <a:ea typeface="Calibri"/>
              <a:cs typeface="Calibri"/>
              <a:sym typeface="Calibri"/>
            </a:endParaRPr>
          </a:p>
          <a:p>
            <a:pPr marL="914400" lvl="0" indent="-368300" algn="just" rtl="0">
              <a:spcBef>
                <a:spcPts val="0"/>
              </a:spcBef>
              <a:spcAft>
                <a:spcPts val="0"/>
              </a:spcAft>
              <a:buClr>
                <a:schemeClr val="dk1"/>
              </a:buClr>
              <a:buSzPts val="2200"/>
              <a:buFont typeface="Calibri"/>
              <a:buChar char="●"/>
            </a:pPr>
            <a:r>
              <a:rPr lang="en-GB" sz="2000" dirty="0">
                <a:solidFill>
                  <a:schemeClr val="dk1"/>
                </a:solidFill>
                <a:latin typeface="Calibri"/>
                <a:ea typeface="Calibri"/>
                <a:cs typeface="Calibri"/>
                <a:sym typeface="Calibri"/>
              </a:rPr>
              <a:t>This process is concerned with </a:t>
            </a:r>
            <a:r>
              <a:rPr lang="en-GB" sz="2000" b="1" dirty="0">
                <a:solidFill>
                  <a:schemeClr val="dk1"/>
                </a:solidFill>
                <a:latin typeface="Calibri"/>
                <a:ea typeface="Calibri"/>
                <a:cs typeface="Calibri"/>
                <a:sym typeface="Calibri"/>
              </a:rPr>
              <a:t>developing components or services that will be reused </a:t>
            </a:r>
            <a:r>
              <a:rPr lang="en-GB" sz="2000" dirty="0">
                <a:solidFill>
                  <a:schemeClr val="dk1"/>
                </a:solidFill>
                <a:latin typeface="Calibri"/>
                <a:ea typeface="Calibri"/>
                <a:cs typeface="Calibri"/>
                <a:sym typeface="Calibri"/>
              </a:rPr>
              <a:t>in other applications.</a:t>
            </a:r>
            <a:endParaRPr sz="2000" dirty="0">
              <a:solidFill>
                <a:schemeClr val="dk1"/>
              </a:solidFill>
              <a:latin typeface="Calibri"/>
              <a:ea typeface="Calibri"/>
              <a:cs typeface="Calibri"/>
              <a:sym typeface="Calibri"/>
            </a:endParaRPr>
          </a:p>
          <a:p>
            <a:pPr marL="914400" lvl="0" indent="-368300" algn="just" rtl="0">
              <a:spcBef>
                <a:spcPts val="0"/>
              </a:spcBef>
              <a:spcAft>
                <a:spcPts val="0"/>
              </a:spcAft>
              <a:buClr>
                <a:schemeClr val="dk1"/>
              </a:buClr>
              <a:buSzPts val="2200"/>
              <a:buFont typeface="Calibri"/>
              <a:buChar char="●"/>
            </a:pPr>
            <a:r>
              <a:rPr lang="en-GB" sz="2000" dirty="0">
                <a:solidFill>
                  <a:schemeClr val="dk1"/>
                </a:solidFill>
                <a:latin typeface="Calibri"/>
                <a:ea typeface="Calibri"/>
                <a:cs typeface="Calibri"/>
                <a:sym typeface="Calibri"/>
              </a:rPr>
              <a:t>It usually involves generalizing existing </a:t>
            </a:r>
            <a:r>
              <a:rPr lang="en-GB" sz="2000" dirty="0" smtClean="0">
                <a:solidFill>
                  <a:schemeClr val="dk1"/>
                </a:solidFill>
                <a:latin typeface="Calibri"/>
                <a:ea typeface="Calibri"/>
                <a:cs typeface="Calibri"/>
                <a:sym typeface="Calibri"/>
              </a:rPr>
              <a:t>components</a:t>
            </a:r>
          </a:p>
          <a:p>
            <a:r>
              <a:rPr lang="en-US" sz="2000" b="1" dirty="0"/>
              <a:t>Focus</a:t>
            </a:r>
            <a:r>
              <a:rPr lang="en-US" sz="2000" dirty="0"/>
              <a:t>: Creating software components or systems that are designed to be reused across multiple projects or contexts.</a:t>
            </a:r>
          </a:p>
          <a:p>
            <a:r>
              <a:rPr lang="en-US" sz="2000" b="1" dirty="0"/>
              <a:t>Objective</a:t>
            </a:r>
            <a:r>
              <a:rPr lang="en-US" sz="2000" dirty="0"/>
              <a:t>: The goal is to build </a:t>
            </a:r>
            <a:r>
              <a:rPr lang="en-US" sz="2000" b="1" dirty="0"/>
              <a:t>general-purpose</a:t>
            </a:r>
            <a:r>
              <a:rPr lang="en-US" sz="2000" dirty="0"/>
              <a:t> components, modules, or libraries that are flexible, modular, and adaptable to a wide range of use cases</a:t>
            </a:r>
            <a:r>
              <a:rPr lang="en-US" sz="2000" dirty="0" smtClean="0"/>
              <a:t>.</a:t>
            </a:r>
          </a:p>
          <a:p>
            <a:r>
              <a:rPr lang="en-US" sz="2000" b="1" dirty="0"/>
              <a:t>Example</a:t>
            </a:r>
            <a:r>
              <a:rPr lang="en-US" sz="2000" dirty="0"/>
              <a:t>: A team develops a reusable </a:t>
            </a:r>
            <a:r>
              <a:rPr lang="en-US" sz="2000" b="1" dirty="0"/>
              <a:t>authentication module</a:t>
            </a:r>
            <a:r>
              <a:rPr lang="en-US" sz="2000" dirty="0"/>
              <a:t> that can be used in multiple applications, such as web apps, mobile apps, and enterprise systems.</a:t>
            </a:r>
          </a:p>
          <a:p>
            <a:pPr marL="914400" lvl="0" indent="-368300" algn="just" rtl="0">
              <a:spcBef>
                <a:spcPts val="0"/>
              </a:spcBef>
              <a:spcAft>
                <a:spcPts val="0"/>
              </a:spcAft>
              <a:buClr>
                <a:schemeClr val="dk1"/>
              </a:buClr>
              <a:buSzPts val="2200"/>
              <a:buFont typeface="Calibri"/>
              <a:buChar char="●"/>
            </a:pPr>
            <a:endParaRPr sz="2000" dirty="0">
              <a:solidFill>
                <a:schemeClr val="dk1"/>
              </a:solidFill>
              <a:latin typeface="Calibri"/>
              <a:ea typeface="Calibri"/>
              <a:cs typeface="Calibri"/>
              <a:sym typeface="Calibri"/>
            </a:endParaRPr>
          </a:p>
          <a:p>
            <a:pPr marL="0" lvl="0" indent="0" algn="l" rtl="0">
              <a:spcBef>
                <a:spcPts val="0"/>
              </a:spcBef>
              <a:spcAft>
                <a:spcPts val="0"/>
              </a:spcAft>
              <a:buNone/>
            </a:pPr>
            <a:endParaRPr sz="20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endParaRPr sz="20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000" dirty="0">
              <a:solidFill>
                <a:schemeClr val="dk1"/>
              </a:solidFill>
              <a:latin typeface="Calibri"/>
              <a:ea typeface="Calibri"/>
              <a:cs typeface="Calibri"/>
              <a:sym typeface="Calibri"/>
            </a:endParaRPr>
          </a:p>
        </p:txBody>
      </p:sp>
      <p:sp>
        <p:nvSpPr>
          <p:cNvPr id="776" name="Google Shape;776;p102"/>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77" name="Google Shape;777;p102"/>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68</a:t>
            </a:fld>
            <a:endParaRPr/>
          </a:p>
        </p:txBody>
      </p:sp>
    </p:spTree>
    <p:extLst>
      <p:ext uri="{BB962C8B-B14F-4D97-AF65-F5344CB8AC3E}">
        <p14:creationId xmlns:p14="http://schemas.microsoft.com/office/powerpoint/2010/main" val="211594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88900" lvl="0" indent="0" algn="just">
              <a:spcBef>
                <a:spcPts val="0"/>
              </a:spcBef>
              <a:buClr>
                <a:schemeClr val="dk1"/>
              </a:buClr>
              <a:buSzPts val="2200"/>
              <a:buNone/>
            </a:pPr>
            <a:r>
              <a:rPr lang="en-US" b="1" dirty="0" smtClean="0">
                <a:solidFill>
                  <a:schemeClr val="dk1"/>
                </a:solidFill>
                <a:ea typeface="Calibri"/>
                <a:cs typeface="Calibri"/>
                <a:sym typeface="Calibri"/>
              </a:rPr>
              <a:t>2. Development </a:t>
            </a:r>
            <a:r>
              <a:rPr lang="en-US" b="1" dirty="0">
                <a:solidFill>
                  <a:schemeClr val="dk1"/>
                </a:solidFill>
                <a:ea typeface="Calibri"/>
                <a:cs typeface="Calibri"/>
                <a:sym typeface="Calibri"/>
              </a:rPr>
              <a:t>with reuse</a:t>
            </a:r>
          </a:p>
          <a:p>
            <a:pPr marL="914400" lvl="0" indent="-368300" algn="just">
              <a:spcBef>
                <a:spcPts val="0"/>
              </a:spcBef>
              <a:buClr>
                <a:schemeClr val="dk1"/>
              </a:buClr>
              <a:buSzPts val="2200"/>
              <a:buFont typeface="Calibri"/>
              <a:buChar char="●"/>
            </a:pPr>
            <a:r>
              <a:rPr lang="en-US" dirty="0">
                <a:solidFill>
                  <a:schemeClr val="dk1"/>
                </a:solidFill>
                <a:ea typeface="Calibri"/>
                <a:cs typeface="Calibri"/>
                <a:sym typeface="Calibri"/>
              </a:rPr>
              <a:t>This is the process of </a:t>
            </a:r>
            <a:r>
              <a:rPr lang="en-US" b="1" dirty="0">
                <a:solidFill>
                  <a:schemeClr val="dk1"/>
                </a:solidFill>
                <a:ea typeface="Calibri"/>
                <a:cs typeface="Calibri"/>
                <a:sym typeface="Calibri"/>
              </a:rPr>
              <a:t>developing new applications using existing components and services</a:t>
            </a:r>
            <a:r>
              <a:rPr lang="en-US" dirty="0" smtClean="0">
                <a:solidFill>
                  <a:schemeClr val="dk1"/>
                </a:solidFill>
                <a:ea typeface="Calibri"/>
                <a:cs typeface="Calibri"/>
                <a:sym typeface="Calibri"/>
              </a:rPr>
              <a:t>.</a:t>
            </a:r>
          </a:p>
          <a:p>
            <a:r>
              <a:rPr lang="en-US" b="1" dirty="0"/>
              <a:t>Focus</a:t>
            </a:r>
            <a:r>
              <a:rPr lang="en-US" dirty="0"/>
              <a:t>: Building software by </a:t>
            </a:r>
            <a:r>
              <a:rPr lang="en-US" b="1" dirty="0"/>
              <a:t>reusing existing components</a:t>
            </a:r>
            <a:r>
              <a:rPr lang="en-US" dirty="0"/>
              <a:t> that have already been developed either in-house or sourced externally.</a:t>
            </a:r>
          </a:p>
          <a:p>
            <a:r>
              <a:rPr lang="en-US" b="1" dirty="0"/>
              <a:t>Objective</a:t>
            </a:r>
            <a:r>
              <a:rPr lang="en-US" dirty="0"/>
              <a:t>: The goal is to accelerate development by </a:t>
            </a:r>
            <a:r>
              <a:rPr lang="en-US" b="1" dirty="0"/>
              <a:t>leveraging pre-built modules, libraries, frameworks</a:t>
            </a:r>
            <a:r>
              <a:rPr lang="en-US" dirty="0"/>
              <a:t>, or even entire systems to avoid reinventing the wheel</a:t>
            </a:r>
            <a:r>
              <a:rPr lang="en-US" dirty="0" smtClean="0"/>
              <a:t>.</a:t>
            </a:r>
          </a:p>
          <a:p>
            <a:r>
              <a:rPr lang="en-US" b="1" dirty="0"/>
              <a:t>Example</a:t>
            </a:r>
            <a:r>
              <a:rPr lang="en-US" dirty="0"/>
              <a:t>: A developer building a web application uses the </a:t>
            </a:r>
            <a:r>
              <a:rPr lang="en-US" b="1" dirty="0"/>
              <a:t>Django web framework</a:t>
            </a:r>
            <a:r>
              <a:rPr lang="en-US" dirty="0"/>
              <a:t> to handle routing, authentication, and database interactions instead of developing these features from scratch. They may also reuse third-party libraries for specific features like payment processing or image uploads</a:t>
            </a:r>
          </a:p>
          <a:p>
            <a:pPr marL="914400" lvl="0" indent="-368300" algn="just">
              <a:spcBef>
                <a:spcPts val="0"/>
              </a:spcBef>
              <a:buClr>
                <a:schemeClr val="dk1"/>
              </a:buClr>
              <a:buSzPts val="2200"/>
              <a:buFont typeface="Calibri"/>
              <a:buChar char="●"/>
            </a:pPr>
            <a:endParaRPr lang="en-US" dirty="0">
              <a:solidFill>
                <a:schemeClr val="dk1"/>
              </a:solidFill>
              <a:ea typeface="Calibri"/>
              <a:cs typeface="Calibri"/>
              <a:sym typeface="Calibri"/>
            </a:endParaRPr>
          </a:p>
          <a:p>
            <a:endParaRPr lang="en-IN" dirty="0"/>
          </a:p>
        </p:txBody>
      </p:sp>
    </p:spTree>
    <p:extLst>
      <p:ext uri="{BB962C8B-B14F-4D97-AF65-F5344CB8AC3E}">
        <p14:creationId xmlns:p14="http://schemas.microsoft.com/office/powerpoint/2010/main" val="34063787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103"/>
          <p:cNvSpPr txBox="1">
            <a:spLocks noGrp="1"/>
          </p:cNvSpPr>
          <p:nvPr>
            <p:ph type="title"/>
          </p:nvPr>
        </p:nvSpPr>
        <p:spPr>
          <a:xfrm>
            <a:off x="136325" y="100731"/>
            <a:ext cx="8871600" cy="7996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dirty="0"/>
              <a:t>CBSE for reuse</a:t>
            </a:r>
            <a:endParaRPr sz="1900" b="1" dirty="0"/>
          </a:p>
        </p:txBody>
      </p:sp>
      <p:sp>
        <p:nvSpPr>
          <p:cNvPr id="783" name="Google Shape;783;p103"/>
          <p:cNvSpPr txBox="1">
            <a:spLocks noGrp="1"/>
          </p:cNvSpPr>
          <p:nvPr>
            <p:ph type="body" idx="1"/>
          </p:nvPr>
        </p:nvSpPr>
        <p:spPr>
          <a:xfrm>
            <a:off x="323528" y="1196752"/>
            <a:ext cx="8526600" cy="3300400"/>
          </a:xfrm>
          <a:prstGeom prst="rect">
            <a:avLst/>
          </a:prstGeom>
          <a:noFill/>
          <a:ln>
            <a:noFill/>
          </a:ln>
        </p:spPr>
        <p:txBody>
          <a:bodyPr spcFirstLastPara="1" wrap="square" lIns="68575" tIns="34275" rIns="68575" bIns="34275" anchor="t" anchorCtr="0">
            <a:noAutofit/>
          </a:bodyPr>
          <a:lstStyle/>
          <a:p>
            <a:pPr marL="0" lvl="0" indent="0" algn="just" rtl="0">
              <a:spcBef>
                <a:spcPts val="1000"/>
              </a:spcBef>
              <a:spcAft>
                <a:spcPts val="0"/>
              </a:spcAft>
              <a:buClr>
                <a:schemeClr val="dk1"/>
              </a:buClr>
              <a:buSzPts val="1100"/>
              <a:buFont typeface="Arial"/>
              <a:buNone/>
            </a:pPr>
            <a:r>
              <a:rPr lang="en-GB" sz="2200" dirty="0">
                <a:solidFill>
                  <a:schemeClr val="dk1"/>
                </a:solidFill>
                <a:latin typeface="Calibri"/>
                <a:ea typeface="Calibri"/>
                <a:cs typeface="Calibri"/>
                <a:sym typeface="Calibri"/>
              </a:rPr>
              <a:t>CBSE for reuse is the process of developing reusable components and making them available for reuse through a component management system.</a:t>
            </a:r>
            <a:endParaRPr sz="2200" dirty="0">
              <a:solidFill>
                <a:schemeClr val="dk1"/>
              </a:solidFill>
              <a:latin typeface="Calibri"/>
              <a:ea typeface="Calibri"/>
              <a:cs typeface="Calibri"/>
              <a:sym typeface="Calibri"/>
            </a:endParaRPr>
          </a:p>
          <a:p>
            <a:pPr marL="0" lvl="0" indent="0" algn="just" rtl="0">
              <a:lnSpc>
                <a:spcPct val="100000"/>
              </a:lnSpc>
              <a:spcBef>
                <a:spcPts val="0"/>
              </a:spcBef>
              <a:spcAft>
                <a:spcPts val="0"/>
              </a:spcAft>
              <a:buNone/>
            </a:pPr>
            <a:endParaRPr sz="2200" dirty="0">
              <a:solidFill>
                <a:schemeClr val="dk1"/>
              </a:solidFill>
              <a:latin typeface="Calibri"/>
              <a:ea typeface="Calibri"/>
              <a:cs typeface="Calibri"/>
              <a:sym typeface="Calibri"/>
            </a:endParaRPr>
          </a:p>
          <a:p>
            <a:pPr marL="360000" lvl="0" indent="-360000" algn="l" rtl="0">
              <a:lnSpc>
                <a:spcPct val="100000"/>
              </a:lnSpc>
              <a:spcBef>
                <a:spcPts val="0"/>
              </a:spcBef>
              <a:spcAft>
                <a:spcPts val="0"/>
              </a:spcAft>
              <a:buClr>
                <a:schemeClr val="dk1"/>
              </a:buClr>
              <a:buSzPts val="998"/>
              <a:buNone/>
            </a:pPr>
            <a:endParaRPr sz="2200" dirty="0">
              <a:solidFill>
                <a:schemeClr val="dk1"/>
              </a:solidFill>
              <a:latin typeface="Calibri"/>
              <a:ea typeface="Calibri"/>
              <a:cs typeface="Calibri"/>
              <a:sym typeface="Calibri"/>
            </a:endParaRPr>
          </a:p>
        </p:txBody>
      </p:sp>
      <p:sp>
        <p:nvSpPr>
          <p:cNvPr id="784" name="Google Shape;784;p103"/>
          <p:cNvSpPr txBox="1">
            <a:spLocks noGrp="1"/>
          </p:cNvSpPr>
          <p:nvPr>
            <p:ph type="ftr" idx="11"/>
          </p:nvPr>
        </p:nvSpPr>
        <p:spPr>
          <a:xfrm>
            <a:off x="3028950" y="6356351"/>
            <a:ext cx="3086100" cy="3652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85" name="Google Shape;785;p103"/>
          <p:cNvSpPr txBox="1">
            <a:spLocks noGrp="1"/>
          </p:cNvSpPr>
          <p:nvPr>
            <p:ph type="sldNum" idx="12"/>
          </p:nvPr>
        </p:nvSpPr>
        <p:spPr>
          <a:xfrm>
            <a:off x="6457950" y="6356351"/>
            <a:ext cx="2057400" cy="3652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70</a:t>
            </a:fld>
            <a:endParaRPr/>
          </a:p>
        </p:txBody>
      </p:sp>
      <p:pic>
        <p:nvPicPr>
          <p:cNvPr id="6" name="Google Shape;793;p104"/>
          <p:cNvPicPr preferRelativeResize="0"/>
          <p:nvPr/>
        </p:nvPicPr>
        <p:blipFill>
          <a:blip r:embed="rId3">
            <a:alphaModFix/>
          </a:blip>
          <a:stretch>
            <a:fillRect/>
          </a:stretch>
        </p:blipFill>
        <p:spPr>
          <a:xfrm>
            <a:off x="1115616" y="2780928"/>
            <a:ext cx="6324600" cy="3784600"/>
          </a:xfrm>
          <a:prstGeom prst="rect">
            <a:avLst/>
          </a:prstGeom>
          <a:noFill/>
          <a:ln>
            <a:noFill/>
          </a:ln>
        </p:spPr>
      </p:pic>
    </p:spTree>
    <p:extLst>
      <p:ext uri="{BB962C8B-B14F-4D97-AF65-F5344CB8AC3E}">
        <p14:creationId xmlns:p14="http://schemas.microsoft.com/office/powerpoint/2010/main" val="315078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04"/>
          <p:cNvSpPr txBox="1">
            <a:spLocks noGrp="1"/>
          </p:cNvSpPr>
          <p:nvPr>
            <p:ph type="title"/>
          </p:nvPr>
        </p:nvSpPr>
        <p:spPr>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Arial"/>
              <a:buNone/>
            </a:pPr>
            <a:r>
              <a:rPr lang="en-GB"/>
              <a:t>CBSE with reuse</a:t>
            </a:r>
            <a:endParaRPr sz="1900" b="1"/>
          </a:p>
        </p:txBody>
      </p:sp>
      <p:sp>
        <p:nvSpPr>
          <p:cNvPr id="2" name="Content Placeholder 1"/>
          <p:cNvSpPr>
            <a:spLocks noGrp="1"/>
          </p:cNvSpPr>
          <p:nvPr>
            <p:ph idx="1"/>
          </p:nvPr>
        </p:nvSpPr>
        <p:spPr/>
        <p:txBody>
          <a:bodyPr>
            <a:normAutofit fontScale="92500" lnSpcReduction="20000"/>
          </a:bodyPr>
          <a:lstStyle/>
          <a:p>
            <a:r>
              <a:rPr lang="en-US" dirty="0"/>
              <a:t>When reusing components, it is essential to make tradeoffs between ideal requirements and the services actually provided by available components</a:t>
            </a:r>
            <a:r>
              <a:rPr lang="en-US" dirty="0" smtClean="0"/>
              <a:t>.</a:t>
            </a:r>
          </a:p>
          <a:p>
            <a:r>
              <a:rPr lang="en-US" dirty="0"/>
              <a:t>This involves: </a:t>
            </a:r>
            <a:endParaRPr lang="en-US" dirty="0" smtClean="0"/>
          </a:p>
          <a:p>
            <a:pPr marL="400050" lvl="1" indent="0">
              <a:buNone/>
            </a:pPr>
            <a:r>
              <a:rPr lang="en-US" dirty="0" smtClean="0"/>
              <a:t>§ </a:t>
            </a:r>
            <a:r>
              <a:rPr lang="en-US" dirty="0"/>
              <a:t>Developing outline requirements; </a:t>
            </a:r>
            <a:endParaRPr lang="en-US" dirty="0" smtClean="0"/>
          </a:p>
          <a:p>
            <a:pPr marL="400050" lvl="1" indent="0">
              <a:buNone/>
            </a:pPr>
            <a:r>
              <a:rPr lang="en-US" dirty="0" smtClean="0"/>
              <a:t>§ </a:t>
            </a:r>
            <a:r>
              <a:rPr lang="en-US" dirty="0"/>
              <a:t>Searching for components then modifying requirements according to available functionality. </a:t>
            </a:r>
            <a:endParaRPr lang="en-US" dirty="0" smtClean="0"/>
          </a:p>
          <a:p>
            <a:pPr marL="400050" lvl="1" indent="0">
              <a:buNone/>
            </a:pPr>
            <a:r>
              <a:rPr lang="en-US" dirty="0" smtClean="0"/>
              <a:t>§ </a:t>
            </a:r>
            <a:r>
              <a:rPr lang="en-US" dirty="0"/>
              <a:t>Searching again to find if there are better components that meet the revised requirements. </a:t>
            </a:r>
            <a:endParaRPr lang="en-US" dirty="0" smtClean="0"/>
          </a:p>
          <a:p>
            <a:pPr marL="400050" lvl="1" indent="0">
              <a:buNone/>
            </a:pPr>
            <a:r>
              <a:rPr lang="en-US" dirty="0" smtClean="0"/>
              <a:t>§ </a:t>
            </a:r>
            <a:r>
              <a:rPr lang="en-US" dirty="0"/>
              <a:t>Composing components to create the system.</a:t>
            </a:r>
            <a:endParaRPr lang="en-IN" dirty="0"/>
          </a:p>
        </p:txBody>
      </p:sp>
      <p:sp>
        <p:nvSpPr>
          <p:cNvPr id="791" name="Google Shape;791;p104"/>
          <p:cNvSpPr txBox="1">
            <a:spLocks noGrp="1"/>
          </p:cNvSpPr>
          <p:nvPr>
            <p:ph type="ftr" sz="quarter" idx="11"/>
          </p:nvPr>
        </p:nvSpPr>
        <p:spPr>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GB"/>
              <a:t>MODULE  3</a:t>
            </a:r>
            <a:endParaRPr/>
          </a:p>
        </p:txBody>
      </p:sp>
      <p:sp>
        <p:nvSpPr>
          <p:cNvPr id="792" name="Google Shape;792;p104"/>
          <p:cNvSpPr txBox="1">
            <a:spLocks noGrp="1"/>
          </p:cNvSpPr>
          <p:nvPr>
            <p:ph type="sldNum" sz="quarter" idx="12"/>
          </p:nvPr>
        </p:nvSpPr>
        <p:spPr>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None/>
            </a:pPr>
            <a:fld id="{00000000-1234-1234-1234-123412341234}" type="slidenum">
              <a:rPr lang="en-GB"/>
              <a:t>71</a:t>
            </a:fld>
            <a:endParaRPr/>
          </a:p>
        </p:txBody>
      </p:sp>
    </p:spTree>
    <p:extLst>
      <p:ext uri="{BB962C8B-B14F-4D97-AF65-F5344CB8AC3E}">
        <p14:creationId xmlns:p14="http://schemas.microsoft.com/office/powerpoint/2010/main" val="7765512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component identification process</a:t>
            </a:r>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420888"/>
            <a:ext cx="6604510" cy="1148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40388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91264" cy="490066"/>
          </a:xfrm>
        </p:spPr>
        <p:txBody>
          <a:bodyPr>
            <a:normAutofit fontScale="90000"/>
          </a:bodyPr>
          <a:lstStyle/>
          <a:p>
            <a:r>
              <a:rPr lang="en-IN" dirty="0"/>
              <a:t>Component identification issues</a:t>
            </a:r>
          </a:p>
        </p:txBody>
      </p:sp>
      <p:sp>
        <p:nvSpPr>
          <p:cNvPr id="3" name="Content Placeholder 2"/>
          <p:cNvSpPr>
            <a:spLocks noGrp="1"/>
          </p:cNvSpPr>
          <p:nvPr>
            <p:ph idx="1"/>
          </p:nvPr>
        </p:nvSpPr>
        <p:spPr>
          <a:xfrm>
            <a:off x="395536" y="1052736"/>
            <a:ext cx="8291264" cy="5073427"/>
          </a:xfrm>
        </p:spPr>
        <p:txBody>
          <a:bodyPr>
            <a:normAutofit fontScale="70000" lnSpcReduction="20000"/>
          </a:bodyPr>
          <a:lstStyle/>
          <a:p>
            <a:r>
              <a:rPr lang="en-US" b="1" dirty="0" smtClean="0"/>
              <a:t>Trust.</a:t>
            </a:r>
          </a:p>
          <a:p>
            <a:pPr lvl="1"/>
            <a:r>
              <a:rPr lang="en-US" dirty="0" smtClean="0"/>
              <a:t>You need to be able to trust the supplier of a component. </a:t>
            </a:r>
          </a:p>
          <a:p>
            <a:pPr lvl="1"/>
            <a:r>
              <a:rPr lang="en-US" dirty="0" smtClean="0"/>
              <a:t>At </a:t>
            </a:r>
            <a:r>
              <a:rPr lang="en-US" dirty="0"/>
              <a:t>best, an untrusted component may not operate as advertised; at worst, it can breach your </a:t>
            </a:r>
            <a:r>
              <a:rPr lang="en-US" dirty="0" smtClean="0"/>
              <a:t>security.</a:t>
            </a:r>
          </a:p>
          <a:p>
            <a:r>
              <a:rPr lang="en-US" b="1" dirty="0" smtClean="0"/>
              <a:t>Requirements</a:t>
            </a:r>
            <a:r>
              <a:rPr lang="en-US" dirty="0"/>
              <a:t>. </a:t>
            </a:r>
            <a:endParaRPr lang="en-US" dirty="0" smtClean="0"/>
          </a:p>
          <a:p>
            <a:pPr lvl="1"/>
            <a:r>
              <a:rPr lang="en-US" dirty="0" smtClean="0"/>
              <a:t>Different </a:t>
            </a:r>
            <a:r>
              <a:rPr lang="en-US" dirty="0"/>
              <a:t>groups of components will satisfy different </a:t>
            </a:r>
            <a:r>
              <a:rPr lang="en-US" dirty="0" smtClean="0"/>
              <a:t>requirements.</a:t>
            </a:r>
          </a:p>
          <a:p>
            <a:r>
              <a:rPr lang="en-US" b="1" dirty="0" smtClean="0"/>
              <a:t>Validation</a:t>
            </a:r>
            <a:r>
              <a:rPr lang="en-US" dirty="0"/>
              <a:t>. </a:t>
            </a:r>
            <a:endParaRPr lang="en-US" dirty="0" smtClean="0"/>
          </a:p>
          <a:p>
            <a:pPr lvl="1"/>
            <a:r>
              <a:rPr lang="en-US" dirty="0" smtClean="0"/>
              <a:t>The </a:t>
            </a:r>
            <a:r>
              <a:rPr lang="en-US" dirty="0"/>
              <a:t>component specification may not be detailed enough to allow comprehensive tests to be developed. </a:t>
            </a:r>
            <a:r>
              <a:rPr lang="en-US" dirty="0" smtClean="0"/>
              <a:t> </a:t>
            </a:r>
            <a:r>
              <a:rPr lang="en-US" dirty="0"/>
              <a:t>Components may have unwanted </a:t>
            </a:r>
            <a:r>
              <a:rPr lang="en-US" dirty="0" smtClean="0"/>
              <a:t>functionality.</a:t>
            </a:r>
          </a:p>
          <a:p>
            <a:pPr lvl="1"/>
            <a:r>
              <a:rPr lang="en-US" dirty="0" smtClean="0"/>
              <a:t>How </a:t>
            </a:r>
            <a:r>
              <a:rPr lang="en-US" dirty="0"/>
              <a:t>can you test this will not interfere with your application</a:t>
            </a:r>
            <a:r>
              <a:rPr lang="en-US" dirty="0" smtClean="0"/>
              <a:t>?</a:t>
            </a:r>
          </a:p>
          <a:p>
            <a:pPr lvl="1"/>
            <a:r>
              <a:rPr lang="en-US" dirty="0"/>
              <a:t>Component validation involves developing a set of test cases for a component (or, possibly, extending test cases supplied with that component) and developing a test harness to run component tests</a:t>
            </a:r>
            <a:r>
              <a:rPr lang="en-US" dirty="0" smtClean="0"/>
              <a:t>.</a:t>
            </a:r>
          </a:p>
          <a:p>
            <a:pPr lvl="1"/>
            <a:r>
              <a:rPr lang="en-US" dirty="0"/>
              <a:t>The major problem with component validation is that the component specification may not be sufficiently detailed to allow you to develop a complete set of component tests.</a:t>
            </a:r>
            <a:endParaRPr lang="en-IN" dirty="0"/>
          </a:p>
        </p:txBody>
      </p:sp>
    </p:spTree>
    <p:extLst>
      <p:ext uri="{BB962C8B-B14F-4D97-AF65-F5344CB8AC3E}">
        <p14:creationId xmlns:p14="http://schemas.microsoft.com/office/powerpoint/2010/main" val="23522058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Object-Oriented versus Function-Oriented Design</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8838822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5288</Words>
  <Application>Microsoft Office PowerPoint</Application>
  <PresentationFormat>On-screen Show (4:3)</PresentationFormat>
  <Paragraphs>641</Paragraphs>
  <Slides>74</Slides>
  <Notes>42</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Module 3</vt:lpstr>
      <vt:lpstr>Software Architecture</vt:lpstr>
      <vt:lpstr>Software Architecture</vt:lpstr>
      <vt:lpstr>Architectural Styles</vt:lpstr>
      <vt:lpstr>Importance of Software Architecture</vt:lpstr>
      <vt:lpstr>Types of Architectural styles</vt:lpstr>
      <vt:lpstr>Architectural Styles</vt:lpstr>
      <vt:lpstr>PowerPoint Presentation</vt:lpstr>
      <vt:lpstr>Architectural Styles</vt:lpstr>
      <vt:lpstr>Architectural Styles</vt:lpstr>
      <vt:lpstr>Architectural Styles</vt:lpstr>
      <vt:lpstr>Architectural Styles</vt:lpstr>
      <vt:lpstr>Architectural Styles</vt:lpstr>
      <vt:lpstr>PowerPoint Presentation</vt:lpstr>
      <vt:lpstr>Architectural Design</vt:lpstr>
      <vt:lpstr>PowerPoint Presentation</vt:lpstr>
      <vt:lpstr>PowerPoint Presentation</vt:lpstr>
      <vt:lpstr>Define Archetype</vt:lpstr>
      <vt:lpstr>PowerPoint Presentation</vt:lpstr>
      <vt:lpstr>Cohesion and Coupling between Objects</vt:lpstr>
      <vt:lpstr>Cohesion and Coupling between Objects</vt:lpstr>
      <vt:lpstr>PowerPoint Presentation</vt:lpstr>
      <vt:lpstr>PowerPoint Presentation</vt:lpstr>
      <vt:lpstr>Coupling</vt:lpstr>
      <vt:lpstr>Architectural Design</vt:lpstr>
      <vt:lpstr>Architectural Design</vt:lpstr>
      <vt:lpstr>Architectural Design</vt:lpstr>
      <vt:lpstr>Comparison </vt:lpstr>
      <vt:lpstr>Module 3</vt:lpstr>
      <vt:lpstr>UI/UX design</vt:lpstr>
      <vt:lpstr>User Interface Design</vt:lpstr>
      <vt:lpstr>Types of user interface</vt:lpstr>
      <vt:lpstr>PowerPoint Presentation</vt:lpstr>
      <vt:lpstr>User Interface Design Rules</vt:lpstr>
      <vt:lpstr>User Interface Design</vt:lpstr>
      <vt:lpstr>User Interface Design Rules</vt:lpstr>
      <vt:lpstr>User Interface Design Rules</vt:lpstr>
      <vt:lpstr>PowerPoint Presentation</vt:lpstr>
      <vt:lpstr>User Interface Design Rules</vt:lpstr>
      <vt:lpstr>PowerPoint Presentation</vt:lpstr>
      <vt:lpstr>PowerPoint Presentation</vt:lpstr>
      <vt:lpstr>User Interface Design Activities/ Process</vt:lpstr>
      <vt:lpstr>User Interface Design Process</vt:lpstr>
      <vt:lpstr>Interface Analysis</vt:lpstr>
      <vt:lpstr>Interface Analysis Steps</vt:lpstr>
      <vt:lpstr>Interface Analysis Steps</vt:lpstr>
      <vt:lpstr>Interface Analysis Steps</vt:lpstr>
      <vt:lpstr>Interface Design Steps</vt:lpstr>
      <vt:lpstr>Design issues</vt:lpstr>
      <vt:lpstr>PowerPoint Presentation</vt:lpstr>
      <vt:lpstr>Example - Wireframe design of Online Shopping cart</vt:lpstr>
      <vt:lpstr>PowerPoint Presentation</vt:lpstr>
      <vt:lpstr>PowerPoint Presentation</vt:lpstr>
      <vt:lpstr>PowerPoint Presentation</vt:lpstr>
      <vt:lpstr>PowerPoint Presentation</vt:lpstr>
      <vt:lpstr>PowerPoint Presentation</vt:lpstr>
      <vt:lpstr>Module 3</vt:lpstr>
      <vt:lpstr>Design Evaluation Cycle</vt:lpstr>
      <vt:lpstr>Design with Reuse</vt:lpstr>
      <vt:lpstr>Reuse based Software Engineering </vt:lpstr>
      <vt:lpstr>Benefits of Reuse </vt:lpstr>
      <vt:lpstr>Components Based Software Engineering (CBSE) </vt:lpstr>
      <vt:lpstr>Key goals of CBSE </vt:lpstr>
      <vt:lpstr>Key concepts in CBSE</vt:lpstr>
      <vt:lpstr>PowerPoint Presentation</vt:lpstr>
      <vt:lpstr>Component Interfaces</vt:lpstr>
      <vt:lpstr>Example: Printing service Component </vt:lpstr>
      <vt:lpstr>CBSE Process</vt:lpstr>
      <vt:lpstr>PowerPoint Presentation</vt:lpstr>
      <vt:lpstr>CBSE for reuse</vt:lpstr>
      <vt:lpstr>CBSE with reuse</vt:lpstr>
      <vt:lpstr>The component identification process</vt:lpstr>
      <vt:lpstr>Component identification issues</vt:lpstr>
      <vt:lpstr>Object-Oriented versus Function-Oriented Design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kjscecomp</dc:creator>
  <cp:lastModifiedBy>kjscecomp</cp:lastModifiedBy>
  <cp:revision>36</cp:revision>
  <dcterms:created xsi:type="dcterms:W3CDTF">2024-09-03T05:59:00Z</dcterms:created>
  <dcterms:modified xsi:type="dcterms:W3CDTF">2024-09-09T06:33:51Z</dcterms:modified>
</cp:coreProperties>
</file>
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51"/>
  </p:notesMasterIdLst>
  <p:sldIdLst>
    <p:sldId id="256" r:id="rId2"/>
    <p:sldId id="257" r:id="rId3"/>
    <p:sldId id="347" r:id="rId4"/>
    <p:sldId id="348" r:id="rId5"/>
    <p:sldId id="260" r:id="rId6"/>
    <p:sldId id="259" r:id="rId7"/>
    <p:sldId id="261" r:id="rId8"/>
    <p:sldId id="262" r:id="rId9"/>
    <p:sldId id="263" r:id="rId10"/>
    <p:sldId id="264" r:id="rId11"/>
    <p:sldId id="265" r:id="rId12"/>
    <p:sldId id="266" r:id="rId13"/>
    <p:sldId id="267" r:id="rId14"/>
    <p:sldId id="268" r:id="rId15"/>
    <p:sldId id="356" r:id="rId16"/>
    <p:sldId id="271" r:id="rId17"/>
    <p:sldId id="270" r:id="rId18"/>
    <p:sldId id="272" r:id="rId19"/>
    <p:sldId id="350" r:id="rId20"/>
    <p:sldId id="274" r:id="rId21"/>
    <p:sldId id="357" r:id="rId22"/>
    <p:sldId id="275" r:id="rId23"/>
    <p:sldId id="276" r:id="rId24"/>
    <p:sldId id="277" r:id="rId25"/>
    <p:sldId id="279" r:id="rId26"/>
    <p:sldId id="280" r:id="rId27"/>
    <p:sldId id="281" r:id="rId28"/>
    <p:sldId id="283" r:id="rId29"/>
    <p:sldId id="352" r:id="rId30"/>
    <p:sldId id="284" r:id="rId31"/>
    <p:sldId id="351" r:id="rId32"/>
    <p:sldId id="285" r:id="rId33"/>
    <p:sldId id="286" r:id="rId34"/>
    <p:sldId id="287" r:id="rId35"/>
    <p:sldId id="289" r:id="rId36"/>
    <p:sldId id="354" r:id="rId37"/>
    <p:sldId id="363" r:id="rId38"/>
    <p:sldId id="358" r:id="rId39"/>
    <p:sldId id="359" r:id="rId40"/>
    <p:sldId id="292" r:id="rId41"/>
    <p:sldId id="293" r:id="rId42"/>
    <p:sldId id="294" r:id="rId43"/>
    <p:sldId id="295" r:id="rId44"/>
    <p:sldId id="296" r:id="rId45"/>
    <p:sldId id="297" r:id="rId46"/>
    <p:sldId id="298" r:id="rId47"/>
    <p:sldId id="299" r:id="rId48"/>
    <p:sldId id="368" r:id="rId49"/>
    <p:sldId id="369" r:id="rId5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2" d="100"/>
          <a:sy n="102" d="100"/>
        </p:scale>
        <p:origin x="-456"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17676079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ea7feebca6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 name="Google Shape;58;gea7feebca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ea7feebca6_0_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 name="Google Shape;66;gea7feebca6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12648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f6ea69ec1f_0_2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gf6ea69ec1f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f6ea69ec1f_0_2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gf6ea69ec1f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f6ea69ec1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f6ea69ec1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f6ea69ec1f_0_3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f6ea69ec1f_0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f6ea69ec1f_0_4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gf6ea69ec1f_0_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f6ea69ec1f_0_5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gf6ea69ec1f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f7b1d358d1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gf7b1d358d1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f6ea69ec1f_0_6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gf6ea69ec1f_0_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f6ea69ec1f_0_7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gf6ea69ec1f_0_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f6ea69ec1f_0_8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gf6ea69ec1f_0_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f6ea69ec1f_0_9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gf6ea69ec1f_0_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f7b1d358d1_0_5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gf7b1d358d1_0_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f7b1d358d1_0_5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gf7b1d358d1_0_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f7b1d358d1_0_2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gf7b1d358d1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f6ea69ec1f_0_10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gf6ea69ec1f_0_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f6ea69ec1f_0_11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gf6ea69ec1f_0_1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f6ea69ec1f_0_12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gf6ea69ec1f_0_1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f6ea69ec1f_0_15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gf6ea69ec1f_0_1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f6ea69ec1f_0_14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f6ea69ec1f_0_1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f7b1d358d1_0_8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gf7b1d358d1_0_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f7b1d358d1_0_7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gf7b1d358d1_0_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f7b1d358d1_0_9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gf7b1d358d1_0_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f7b1d358d1_0_10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gf7b1d358d1_0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f7b1d358d1_0_1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gf7b1d358d1_0_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f7b1d358d1_0_13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1" name="Google Shape;311;gf7b1d358d1_0_1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f7b1d358d1_0_12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7" name="Google Shape;327;gf7b1d358d1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f7b1d358d1_0_17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1" name="Google Shape;351;gf7b1d358d1_0_1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f7b1d358d1_0_18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gf7b1d358d1_0_1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f7b1d358d1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f7b1d358d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f93db55943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f93db55943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f93db55943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f93db55943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f93db55943_0_2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7" name="Google Shape;387;gf93db55943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f93db55943_0_2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5" name="Google Shape;395;gf93db55943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f93db55943_0_3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3" name="Google Shape;403;gf93db55943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f93db55943_0_13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6" name="Google Shape;496;gf93db55943_0_1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f93db55943_0_14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4" name="Google Shape;504;gf93db55943_0_1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1200"/>
              </a:spcBef>
              <a:spcAft>
                <a:spcPts val="0"/>
              </a:spcAft>
              <a:buClr>
                <a:schemeClr val="dk1"/>
              </a:buClr>
              <a:buSzPts val="1400"/>
              <a:buChar char="○"/>
              <a:defRPr/>
            </a:lvl2pPr>
            <a:lvl3pPr marL="1371600" lvl="2" indent="-317500" algn="l" rtl="0">
              <a:lnSpc>
                <a:spcPct val="90000"/>
              </a:lnSpc>
              <a:spcBef>
                <a:spcPts val="1200"/>
              </a:spcBef>
              <a:spcAft>
                <a:spcPts val="0"/>
              </a:spcAft>
              <a:buClr>
                <a:schemeClr val="dk1"/>
              </a:buClr>
              <a:buSzPts val="1400"/>
              <a:buChar char="■"/>
              <a:defRPr/>
            </a:lvl3pPr>
            <a:lvl4pPr marL="1828800" lvl="3" indent="-317500" algn="l" rtl="0">
              <a:lnSpc>
                <a:spcPct val="90000"/>
              </a:lnSpc>
              <a:spcBef>
                <a:spcPts val="1200"/>
              </a:spcBef>
              <a:spcAft>
                <a:spcPts val="0"/>
              </a:spcAft>
              <a:buClr>
                <a:schemeClr val="dk1"/>
              </a:buClr>
              <a:buSzPts val="1400"/>
              <a:buChar char="●"/>
              <a:defRPr/>
            </a:lvl4pPr>
            <a:lvl5pPr marL="2286000" lvl="4" indent="-317500" algn="l" rtl="0">
              <a:lnSpc>
                <a:spcPct val="90000"/>
              </a:lnSpc>
              <a:spcBef>
                <a:spcPts val="1200"/>
              </a:spcBef>
              <a:spcAft>
                <a:spcPts val="0"/>
              </a:spcAft>
              <a:buClr>
                <a:schemeClr val="dk1"/>
              </a:buClr>
              <a:buSzPts val="1400"/>
              <a:buChar char="○"/>
              <a:defRPr/>
            </a:lvl5pPr>
            <a:lvl6pPr marL="2743200" lvl="5" indent="-317500" algn="l" rtl="0">
              <a:lnSpc>
                <a:spcPct val="90000"/>
              </a:lnSpc>
              <a:spcBef>
                <a:spcPts val="1200"/>
              </a:spcBef>
              <a:spcAft>
                <a:spcPts val="0"/>
              </a:spcAft>
              <a:buClr>
                <a:schemeClr val="dk1"/>
              </a:buClr>
              <a:buSzPts val="1400"/>
              <a:buChar char="■"/>
              <a:defRPr/>
            </a:lvl6pPr>
            <a:lvl7pPr marL="3200400" lvl="6" indent="-317500" algn="l" rtl="0">
              <a:lnSpc>
                <a:spcPct val="90000"/>
              </a:lnSpc>
              <a:spcBef>
                <a:spcPts val="1200"/>
              </a:spcBef>
              <a:spcAft>
                <a:spcPts val="0"/>
              </a:spcAft>
              <a:buClr>
                <a:schemeClr val="dk1"/>
              </a:buClr>
              <a:buSzPts val="1400"/>
              <a:buChar char="●"/>
              <a:defRPr/>
            </a:lvl7pPr>
            <a:lvl8pPr marL="3657600" lvl="7" indent="-317500" algn="l" rtl="0">
              <a:lnSpc>
                <a:spcPct val="90000"/>
              </a:lnSpc>
              <a:spcBef>
                <a:spcPts val="1200"/>
              </a:spcBef>
              <a:spcAft>
                <a:spcPts val="0"/>
              </a:spcAft>
              <a:buClr>
                <a:schemeClr val="dk1"/>
              </a:buClr>
              <a:buSzPts val="1400"/>
              <a:buChar char="○"/>
              <a:defRPr/>
            </a:lvl8pPr>
            <a:lvl9pPr marL="4114800" lvl="8" indent="-317500" algn="l" rtl="0">
              <a:lnSpc>
                <a:spcPct val="90000"/>
              </a:lnSpc>
              <a:spcBef>
                <a:spcPts val="1200"/>
              </a:spcBef>
              <a:spcAft>
                <a:spcPts val="1200"/>
              </a:spcAft>
              <a:buClr>
                <a:schemeClr val="dk1"/>
              </a:buClr>
              <a:buSzPts val="1400"/>
              <a:buChar char="■"/>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200" b="1"/>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sz="1200" b="1" i="0" u="none" strike="noStrike" cap="none">
                <a:solidFill>
                  <a:srgbClr val="888888"/>
                </a:solidFill>
                <a:latin typeface="Arial"/>
                <a:ea typeface="Arial"/>
                <a:cs typeface="Arial"/>
                <a:sym typeface="Arial"/>
              </a:defRPr>
            </a:lvl1pPr>
            <a:lvl2pPr marL="0" lvl="1" indent="0" algn="r" rtl="0">
              <a:spcBef>
                <a:spcPts val="0"/>
              </a:spcBef>
              <a:buNone/>
              <a:defRPr sz="1200" b="1" i="0" u="none" strike="noStrike" cap="none">
                <a:solidFill>
                  <a:srgbClr val="888888"/>
                </a:solidFill>
                <a:latin typeface="Arial"/>
                <a:ea typeface="Arial"/>
                <a:cs typeface="Arial"/>
                <a:sym typeface="Arial"/>
              </a:defRPr>
            </a:lvl2pPr>
            <a:lvl3pPr marL="0" lvl="2" indent="0" algn="r" rtl="0">
              <a:spcBef>
                <a:spcPts val="0"/>
              </a:spcBef>
              <a:buNone/>
              <a:defRPr sz="1200" b="1" i="0" u="none" strike="noStrike" cap="none">
                <a:solidFill>
                  <a:srgbClr val="888888"/>
                </a:solidFill>
                <a:latin typeface="Arial"/>
                <a:ea typeface="Arial"/>
                <a:cs typeface="Arial"/>
                <a:sym typeface="Arial"/>
              </a:defRPr>
            </a:lvl3pPr>
            <a:lvl4pPr marL="0" lvl="3" indent="0" algn="r" rtl="0">
              <a:spcBef>
                <a:spcPts val="0"/>
              </a:spcBef>
              <a:buNone/>
              <a:defRPr sz="1200" b="1" i="0" u="none" strike="noStrike" cap="none">
                <a:solidFill>
                  <a:srgbClr val="888888"/>
                </a:solidFill>
                <a:latin typeface="Arial"/>
                <a:ea typeface="Arial"/>
                <a:cs typeface="Arial"/>
                <a:sym typeface="Arial"/>
              </a:defRPr>
            </a:lvl4pPr>
            <a:lvl5pPr marL="0" lvl="4" indent="0" algn="r" rtl="0">
              <a:spcBef>
                <a:spcPts val="0"/>
              </a:spcBef>
              <a:buNone/>
              <a:defRPr sz="1200" b="1" i="0" u="none" strike="noStrike" cap="none">
                <a:solidFill>
                  <a:srgbClr val="888888"/>
                </a:solidFill>
                <a:latin typeface="Arial"/>
                <a:ea typeface="Arial"/>
                <a:cs typeface="Arial"/>
                <a:sym typeface="Arial"/>
              </a:defRPr>
            </a:lvl5pPr>
            <a:lvl6pPr marL="0" lvl="5" indent="0" algn="r" rtl="0">
              <a:spcBef>
                <a:spcPts val="0"/>
              </a:spcBef>
              <a:buNone/>
              <a:defRPr sz="1200" b="1" i="0" u="none" strike="noStrike" cap="none">
                <a:solidFill>
                  <a:srgbClr val="888888"/>
                </a:solidFill>
                <a:latin typeface="Arial"/>
                <a:ea typeface="Arial"/>
                <a:cs typeface="Arial"/>
                <a:sym typeface="Arial"/>
              </a:defRPr>
            </a:lvl6pPr>
            <a:lvl7pPr marL="0" lvl="6" indent="0" algn="r" rtl="0">
              <a:spcBef>
                <a:spcPts val="0"/>
              </a:spcBef>
              <a:buNone/>
              <a:defRPr sz="1200" b="1" i="0" u="none" strike="noStrike" cap="none">
                <a:solidFill>
                  <a:srgbClr val="888888"/>
                </a:solidFill>
                <a:latin typeface="Arial"/>
                <a:ea typeface="Arial"/>
                <a:cs typeface="Arial"/>
                <a:sym typeface="Arial"/>
              </a:defRPr>
            </a:lvl7pPr>
            <a:lvl8pPr marL="0" lvl="7" indent="0" algn="r" rtl="0">
              <a:spcBef>
                <a:spcPts val="0"/>
              </a:spcBef>
              <a:buNone/>
              <a:defRPr sz="1200" b="1" i="0" u="none" strike="noStrike" cap="none">
                <a:solidFill>
                  <a:srgbClr val="888888"/>
                </a:solidFill>
                <a:latin typeface="Arial"/>
                <a:ea typeface="Arial"/>
                <a:cs typeface="Arial"/>
                <a:sym typeface="Arial"/>
              </a:defRPr>
            </a:lvl8pPr>
            <a:lvl9pPr marL="0" lvl="8" indent="0" algn="r" rtl="0">
              <a:spcBef>
                <a:spcPts val="0"/>
              </a:spcBef>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0.xml"/><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0.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685800" y="1949521"/>
            <a:ext cx="7315200" cy="682800"/>
          </a:xfrm>
          <a:prstGeom prst="rect">
            <a:avLst/>
          </a:prstGeom>
          <a:noFill/>
          <a:ln>
            <a:noFill/>
          </a:ln>
        </p:spPr>
        <p:txBody>
          <a:bodyPr spcFirstLastPara="1" wrap="square" lIns="68575" tIns="34275" rIns="68575" bIns="34275" anchor="b" anchorCtr="0">
            <a:normAutofit fontScale="90000"/>
          </a:bodyPr>
          <a:lstStyle/>
          <a:p>
            <a:pPr marL="0" lvl="0" indent="0" algn="ctr" rtl="0">
              <a:lnSpc>
                <a:spcPct val="90000"/>
              </a:lnSpc>
              <a:spcBef>
                <a:spcPts val="0"/>
              </a:spcBef>
              <a:spcAft>
                <a:spcPts val="0"/>
              </a:spcAft>
              <a:buClr>
                <a:schemeClr val="dk1"/>
              </a:buClr>
              <a:buSzPct val="86538"/>
              <a:buFont typeface="Arial"/>
              <a:buNone/>
            </a:pPr>
            <a:r>
              <a:rPr lang="en-GB"/>
              <a:t>Software Engineering</a:t>
            </a:r>
            <a:endParaRPr/>
          </a:p>
        </p:txBody>
      </p:sp>
      <p:sp>
        <p:nvSpPr>
          <p:cNvPr id="61" name="Google Shape;61;p14"/>
          <p:cNvSpPr txBox="1">
            <a:spLocks noGrp="1"/>
          </p:cNvSpPr>
          <p:nvPr>
            <p:ph type="subTitle" idx="1"/>
          </p:nvPr>
        </p:nvSpPr>
        <p:spPr>
          <a:xfrm>
            <a:off x="1143000" y="2894192"/>
            <a:ext cx="6858000" cy="1411800"/>
          </a:xfrm>
          <a:prstGeom prst="rect">
            <a:avLst/>
          </a:prstGeom>
          <a:noFill/>
          <a:ln>
            <a:noFill/>
          </a:ln>
        </p:spPr>
        <p:txBody>
          <a:bodyPr spcFirstLastPara="1" wrap="square" lIns="68575" tIns="34275" rIns="68575" bIns="34275" anchor="t" anchorCtr="0">
            <a:normAutofit lnSpcReduction="10000"/>
          </a:bodyPr>
          <a:lstStyle/>
          <a:p>
            <a:pPr marL="0" lvl="0" indent="0">
              <a:lnSpc>
                <a:spcPct val="90000"/>
              </a:lnSpc>
              <a:buClr>
                <a:schemeClr val="dk1"/>
              </a:buClr>
              <a:buSzPts val="1100"/>
            </a:pPr>
            <a:r>
              <a:rPr lang="en-GB" dirty="0"/>
              <a:t>MODULE 3 </a:t>
            </a:r>
            <a:endParaRPr lang="en-GB" dirty="0" smtClean="0"/>
          </a:p>
          <a:p>
            <a:pPr marL="0" lvl="0" indent="0">
              <a:lnSpc>
                <a:spcPct val="90000"/>
              </a:lnSpc>
              <a:buClr>
                <a:schemeClr val="dk1"/>
              </a:buClr>
              <a:buSzPts val="1100"/>
            </a:pPr>
            <a:r>
              <a:rPr lang="en-GB" dirty="0" smtClean="0"/>
              <a:t>116U01C501</a:t>
            </a:r>
            <a:endParaRPr dirty="0"/>
          </a:p>
          <a:p>
            <a:pPr marL="0" lvl="0" indent="0" algn="ctr" rtl="0">
              <a:lnSpc>
                <a:spcPct val="90000"/>
              </a:lnSpc>
              <a:spcBef>
                <a:spcPts val="0"/>
              </a:spcBef>
              <a:spcAft>
                <a:spcPts val="0"/>
              </a:spcAft>
              <a:buClr>
                <a:schemeClr val="dk1"/>
              </a:buClr>
              <a:buSzPts val="1800"/>
              <a:buNone/>
            </a:pPr>
            <a:endParaRPr dirty="0"/>
          </a:p>
          <a:p>
            <a:pPr marL="0" lvl="0" indent="0" algn="ctr" rtl="0">
              <a:lnSpc>
                <a:spcPct val="90000"/>
              </a:lnSpc>
              <a:spcBef>
                <a:spcPts val="0"/>
              </a:spcBef>
              <a:spcAft>
                <a:spcPts val="0"/>
              </a:spcAft>
              <a:buClr>
                <a:schemeClr val="dk1"/>
              </a:buClr>
              <a:buSzPts val="1800"/>
              <a:buNone/>
            </a:pPr>
            <a:r>
              <a:rPr lang="en-GB" sz="1800" dirty="0" smtClean="0"/>
              <a:t>July 2024- November 2024</a:t>
            </a:r>
            <a:endParaRPr sz="1800" dirty="0"/>
          </a:p>
        </p:txBody>
      </p:sp>
      <p:sp>
        <p:nvSpPr>
          <p:cNvPr id="62" name="Google Shape;62;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sz="1100"/>
              <a:t>MODULE  3</a:t>
            </a:r>
            <a:endParaRPr sz="1100"/>
          </a:p>
        </p:txBody>
      </p:sp>
      <p:sp>
        <p:nvSpPr>
          <p:cNvPr id="63" name="Google Shape;63;p14"/>
          <p:cNvSpPr txBox="1">
            <a:spLocks noGrp="1"/>
          </p:cNvSpPr>
          <p:nvPr>
            <p:ph type="sldNum" idx="12"/>
          </p:nvPr>
        </p:nvSpPr>
        <p:spPr>
          <a:xfrm>
            <a:off x="6354343" y="3497413"/>
            <a:ext cx="411600" cy="29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1</a:t>
            </a:fld>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136331" y="75544"/>
            <a:ext cx="8871600" cy="9942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1"/>
              </a:buClr>
              <a:buSzPct val="173684"/>
              <a:buFont typeface="Arial"/>
              <a:buNone/>
            </a:pPr>
            <a:r>
              <a:rPr lang="en-GB" dirty="0"/>
              <a:t>MODULE 3 : </a:t>
            </a:r>
            <a:r>
              <a:rPr lang="en-GB" sz="4400" b="1" dirty="0"/>
              <a:t>System Design Engineering</a:t>
            </a:r>
            <a:endParaRPr sz="1900" b="1" dirty="0"/>
          </a:p>
        </p:txBody>
      </p:sp>
      <p:sp>
        <p:nvSpPr>
          <p:cNvPr id="69" name="Google Shape;69;p15"/>
          <p:cNvSpPr txBox="1">
            <a:spLocks noGrp="1"/>
          </p:cNvSpPr>
          <p:nvPr>
            <p:ph type="body" idx="1"/>
          </p:nvPr>
        </p:nvSpPr>
        <p:spPr>
          <a:xfrm>
            <a:off x="272675" y="1024750"/>
            <a:ext cx="8526600" cy="2475300"/>
          </a:xfrm>
          <a:prstGeom prst="rect">
            <a:avLst/>
          </a:prstGeom>
          <a:noFill/>
          <a:ln>
            <a:noFill/>
          </a:ln>
        </p:spPr>
        <p:txBody>
          <a:bodyPr spcFirstLastPara="1" wrap="square" lIns="68575" tIns="34275" rIns="68575" bIns="34275" anchor="t" anchorCtr="0">
            <a:noAutofit/>
          </a:bodyPr>
          <a:lstStyle/>
          <a:p>
            <a:pPr marL="360000" lvl="0" indent="-360000" algn="l" rtl="0">
              <a:lnSpc>
                <a:spcPct val="90000"/>
              </a:lnSpc>
              <a:spcBef>
                <a:spcPts val="800"/>
              </a:spcBef>
              <a:spcAft>
                <a:spcPts val="0"/>
              </a:spcAft>
              <a:buClr>
                <a:schemeClr val="dk1"/>
              </a:buClr>
              <a:buSzPts val="998"/>
              <a:buNone/>
            </a:pPr>
            <a:r>
              <a:rPr lang="en-GB" sz="1829" dirty="0">
                <a:solidFill>
                  <a:schemeClr val="dk1"/>
                </a:solidFill>
                <a:latin typeface="Calibri"/>
                <a:ea typeface="Calibri"/>
                <a:cs typeface="Calibri"/>
                <a:sym typeface="Calibri"/>
              </a:rPr>
              <a:t>3.1 Design quality, Classification of Design Activities, Design Concepts: Modularity and Layering, Introduction to Pattern-Based Software Design</a:t>
            </a:r>
            <a:endParaRPr sz="1829" dirty="0">
              <a:solidFill>
                <a:schemeClr val="dk1"/>
              </a:solidFill>
              <a:latin typeface="Calibri"/>
              <a:ea typeface="Calibri"/>
              <a:cs typeface="Calibri"/>
              <a:sym typeface="Calibri"/>
            </a:endParaRPr>
          </a:p>
          <a:p>
            <a:pPr marL="360000" lvl="0" indent="-360000" algn="l" rtl="0">
              <a:lnSpc>
                <a:spcPct val="100000"/>
              </a:lnSpc>
              <a:spcBef>
                <a:spcPts val="1200"/>
              </a:spcBef>
              <a:spcAft>
                <a:spcPts val="0"/>
              </a:spcAft>
              <a:buNone/>
            </a:pPr>
            <a:r>
              <a:rPr lang="en-GB" sz="1829" dirty="0">
                <a:solidFill>
                  <a:schemeClr val="dk1"/>
                </a:solidFill>
                <a:latin typeface="Calibri"/>
                <a:ea typeface="Calibri"/>
                <a:cs typeface="Calibri"/>
                <a:sym typeface="Calibri"/>
              </a:rPr>
              <a:t>3.2 Software Architecture, Data Design, Object-Oriented versus Function-Oriented Design, Design of Software Objects, Methods, Cohesion and Coupling between Objects</a:t>
            </a:r>
            <a:endParaRPr sz="1829" dirty="0">
              <a:solidFill>
                <a:schemeClr val="dk1"/>
              </a:solidFill>
              <a:latin typeface="Calibri"/>
              <a:ea typeface="Calibri"/>
              <a:cs typeface="Calibri"/>
              <a:sym typeface="Calibri"/>
            </a:endParaRPr>
          </a:p>
          <a:p>
            <a:pPr marL="360000" lvl="0" indent="-360000" algn="l" rtl="0">
              <a:lnSpc>
                <a:spcPct val="100000"/>
              </a:lnSpc>
              <a:spcBef>
                <a:spcPts val="0"/>
              </a:spcBef>
              <a:spcAft>
                <a:spcPts val="0"/>
              </a:spcAft>
              <a:buNone/>
            </a:pPr>
            <a:r>
              <a:rPr lang="en-GB" sz="1829" dirty="0">
                <a:solidFill>
                  <a:schemeClr val="dk1"/>
                </a:solidFill>
                <a:latin typeface="Calibri"/>
                <a:ea typeface="Calibri"/>
                <a:cs typeface="Calibri"/>
                <a:sym typeface="Calibri"/>
              </a:rPr>
              <a:t>3.3 User Interface Design: Rules, User Interface Analysis and Steps in Interface Design, Design Evaluation</a:t>
            </a:r>
            <a:endParaRPr sz="1829" dirty="0">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r>
              <a:rPr lang="en-GB" sz="1829" dirty="0">
                <a:solidFill>
                  <a:schemeClr val="dk1"/>
                </a:solidFill>
                <a:latin typeface="Calibri"/>
                <a:ea typeface="Calibri"/>
                <a:cs typeface="Calibri"/>
                <a:sym typeface="Calibri"/>
              </a:rPr>
              <a:t>3.4 Software Reuse, Component-Based Software Engineering</a:t>
            </a:r>
            <a:endParaRPr sz="1829" dirty="0">
              <a:solidFill>
                <a:schemeClr val="dk1"/>
              </a:solidFill>
              <a:latin typeface="Calibri"/>
              <a:ea typeface="Calibri"/>
              <a:cs typeface="Calibri"/>
              <a:sym typeface="Calibri"/>
            </a:endParaRPr>
          </a:p>
          <a:p>
            <a:pPr marL="139700" lvl="0" indent="0" algn="l" rtl="0">
              <a:lnSpc>
                <a:spcPct val="90000"/>
              </a:lnSpc>
              <a:spcBef>
                <a:spcPts val="800"/>
              </a:spcBef>
              <a:spcAft>
                <a:spcPts val="1200"/>
              </a:spcAft>
              <a:buClr>
                <a:schemeClr val="dk1"/>
              </a:buClr>
              <a:buSzPts val="998"/>
              <a:buNone/>
            </a:pPr>
            <a:endParaRPr sz="1829" dirty="0">
              <a:solidFill>
                <a:schemeClr val="dk1"/>
              </a:solidFill>
              <a:latin typeface="Calibri"/>
              <a:ea typeface="Calibri"/>
              <a:cs typeface="Calibri"/>
              <a:sym typeface="Calibri"/>
            </a:endParaRPr>
          </a:p>
        </p:txBody>
      </p:sp>
      <p:sp>
        <p:nvSpPr>
          <p:cNvPr id="70" name="Google Shape;70;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71" name="Google Shape;71;p1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574" y="587829"/>
            <a:ext cx="6579526" cy="37365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263320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317" y="1600103"/>
            <a:ext cx="7451692" cy="17029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182387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1"/>
              </a:buClr>
              <a:buSzPct val="117857"/>
              <a:buFont typeface="Arial"/>
              <a:buNone/>
            </a:pPr>
            <a:r>
              <a:rPr lang="en-GB" b="1"/>
              <a:t>Translating the requirement model in to Design Model</a:t>
            </a:r>
            <a:endParaRPr b="1"/>
          </a:p>
        </p:txBody>
      </p:sp>
      <p:sp>
        <p:nvSpPr>
          <p:cNvPr id="93" name="Google Shape;93;p18"/>
          <p:cNvSpPr txBox="1">
            <a:spLocks noGrp="1"/>
          </p:cNvSpPr>
          <p:nvPr>
            <p:ph type="body" idx="1"/>
          </p:nvPr>
        </p:nvSpPr>
        <p:spPr>
          <a:xfrm>
            <a:off x="228275" y="675250"/>
            <a:ext cx="8708400" cy="2475300"/>
          </a:xfrm>
          <a:prstGeom prst="rect">
            <a:avLst/>
          </a:prstGeom>
          <a:noFill/>
          <a:ln>
            <a:noFill/>
          </a:ln>
        </p:spPr>
        <p:txBody>
          <a:bodyPr spcFirstLastPara="1" wrap="square" lIns="68575" tIns="34275" rIns="68575" bIns="34275" anchor="t" anchorCtr="0">
            <a:noAutofit/>
          </a:bodyPr>
          <a:lstStyle/>
          <a:p>
            <a:pPr marL="0" lvl="0" indent="0" algn="l" rtl="0">
              <a:spcBef>
                <a:spcPts val="1000"/>
              </a:spcBef>
              <a:spcAft>
                <a:spcPts val="0"/>
              </a:spcAft>
              <a:buNone/>
            </a:pPr>
            <a:r>
              <a:rPr lang="en-GB" sz="2400" b="1" dirty="0">
                <a:solidFill>
                  <a:schemeClr val="dk1"/>
                </a:solidFill>
                <a:latin typeface="Calibri"/>
                <a:ea typeface="Calibri"/>
                <a:cs typeface="Calibri"/>
                <a:sym typeface="Calibri"/>
              </a:rPr>
              <a:t>Requirements model focuses on describing required data, function, and behaviour</a:t>
            </a:r>
            <a:endParaRPr sz="2400" b="1" dirty="0">
              <a:solidFill>
                <a:schemeClr val="dk1"/>
              </a:solidFill>
              <a:latin typeface="Calibri"/>
              <a:ea typeface="Calibri"/>
              <a:cs typeface="Calibri"/>
              <a:sym typeface="Calibri"/>
            </a:endParaRPr>
          </a:p>
          <a:p>
            <a:pPr marL="0" lvl="0" indent="0" algn="l" rtl="0">
              <a:spcBef>
                <a:spcPts val="1000"/>
              </a:spcBef>
              <a:spcAft>
                <a:spcPts val="0"/>
              </a:spcAft>
              <a:buClr>
                <a:schemeClr val="dk1"/>
              </a:buClr>
              <a:buSzPts val="1100"/>
              <a:buNone/>
            </a:pPr>
            <a:r>
              <a:rPr lang="en-GB" sz="2200" b="1" dirty="0">
                <a:solidFill>
                  <a:schemeClr val="dk1"/>
                </a:solidFill>
                <a:latin typeface="Calibri"/>
                <a:ea typeface="Calibri"/>
                <a:cs typeface="Calibri"/>
                <a:sym typeface="Calibri"/>
              </a:rPr>
              <a:t>Design Model :</a:t>
            </a:r>
            <a:endParaRPr sz="2200" b="1" dirty="0">
              <a:solidFill>
                <a:schemeClr val="dk1"/>
              </a:solidFill>
              <a:latin typeface="Calibri"/>
              <a:ea typeface="Calibri"/>
              <a:cs typeface="Calibri"/>
              <a:sym typeface="Calibri"/>
            </a:endParaRPr>
          </a:p>
          <a:p>
            <a:pPr marL="457200" lvl="0" indent="-368300" algn="l"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Represents model of the software which provides detail about software architecture, data structures, interfaces, and components that are necessary to implement the system</a:t>
            </a:r>
            <a:endParaRPr sz="2200" dirty="0">
              <a:solidFill>
                <a:schemeClr val="dk1"/>
              </a:solidFill>
              <a:latin typeface="Calibri"/>
              <a:ea typeface="Calibri"/>
              <a:cs typeface="Calibri"/>
              <a:sym typeface="Calibri"/>
            </a:endParaRPr>
          </a:p>
          <a:p>
            <a:pPr marL="457200" lvl="0" indent="-368300" algn="l"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Developed by Software engineers to conduct each of the design tasks.</a:t>
            </a:r>
            <a:endParaRPr sz="2200" dirty="0">
              <a:solidFill>
                <a:schemeClr val="dk1"/>
              </a:solidFill>
              <a:latin typeface="Calibri"/>
              <a:ea typeface="Calibri"/>
              <a:cs typeface="Calibri"/>
              <a:sym typeface="Calibri"/>
            </a:endParaRPr>
          </a:p>
          <a:p>
            <a:pPr marL="457200" lvl="0" indent="-368300" algn="l"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Design allows you to model the system or product that is to be built.</a:t>
            </a:r>
            <a:endParaRPr sz="2200" dirty="0">
              <a:solidFill>
                <a:schemeClr val="dk1"/>
              </a:solidFill>
              <a:latin typeface="Calibri"/>
              <a:ea typeface="Calibri"/>
              <a:cs typeface="Calibri"/>
              <a:sym typeface="Calibri"/>
            </a:endParaRPr>
          </a:p>
          <a:p>
            <a:pPr marL="457200" lvl="0" indent="-368300" algn="l"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Can be assessed for quality and improved before code is generated, tests are conducted, and end users become involved in large numbers.</a:t>
            </a:r>
            <a:endParaRPr sz="2200" dirty="0">
              <a:solidFill>
                <a:schemeClr val="dk1"/>
              </a:solidFill>
              <a:latin typeface="Calibri"/>
              <a:ea typeface="Calibri"/>
              <a:cs typeface="Calibri"/>
              <a:sym typeface="Calibri"/>
            </a:endParaRPr>
          </a:p>
          <a:p>
            <a:pPr marL="0" lvl="0" indent="0" algn="l" rtl="0">
              <a:spcBef>
                <a:spcPts val="500"/>
              </a:spcBef>
              <a:spcAft>
                <a:spcPts val="0"/>
              </a:spcAft>
              <a:buClr>
                <a:schemeClr val="dk1"/>
              </a:buClr>
              <a:buSzPts val="1100"/>
              <a:buNone/>
            </a:pPr>
            <a:endParaRPr sz="2300" b="1" dirty="0">
              <a:solidFill>
                <a:srgbClr val="0070C0"/>
              </a:solidFill>
              <a:latin typeface="Calibri"/>
              <a:ea typeface="Calibri"/>
              <a:cs typeface="Calibri"/>
              <a:sym typeface="Calibri"/>
            </a:endParaRPr>
          </a:p>
        </p:txBody>
      </p:sp>
      <p:sp>
        <p:nvSpPr>
          <p:cNvPr id="94" name="Google Shape;94;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95" name="Google Shape;95;p1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1"/>
              </a:buClr>
              <a:buSzPct val="117857"/>
              <a:buFont typeface="Arial"/>
              <a:buNone/>
            </a:pPr>
            <a:r>
              <a:rPr lang="en-GB" b="1" dirty="0"/>
              <a:t>Translating the requirement model in to Design Model</a:t>
            </a:r>
            <a:endParaRPr b="1" dirty="0"/>
          </a:p>
        </p:txBody>
      </p:sp>
      <p:sp>
        <p:nvSpPr>
          <p:cNvPr id="85" name="Google Shape;85;p1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86" name="Google Shape;86;p1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6</a:t>
            </a:fld>
            <a:endParaRPr/>
          </a:p>
        </p:txBody>
      </p:sp>
      <p:pic>
        <p:nvPicPr>
          <p:cNvPr id="87" name="Google Shape;87;p17"/>
          <p:cNvPicPr preferRelativeResize="0"/>
          <p:nvPr/>
        </p:nvPicPr>
        <p:blipFill>
          <a:blip r:embed="rId3">
            <a:alphaModFix/>
          </a:blip>
          <a:stretch>
            <a:fillRect/>
          </a:stretch>
        </p:blipFill>
        <p:spPr>
          <a:xfrm>
            <a:off x="783125" y="817725"/>
            <a:ext cx="7095003" cy="3807075"/>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9"/>
          <p:cNvSpPr txBox="1">
            <a:spLocks noGrp="1"/>
          </p:cNvSpPr>
          <p:nvPr>
            <p:ph type="title"/>
          </p:nvPr>
        </p:nvSpPr>
        <p:spPr>
          <a:xfrm>
            <a:off x="628650" y="273846"/>
            <a:ext cx="7886700" cy="428100"/>
          </a:xfrm>
          <a:prstGeom prst="rect">
            <a:avLst/>
          </a:prstGeom>
        </p:spPr>
        <p:txBody>
          <a:bodyPr spcFirstLastPara="1" wrap="square" lIns="68575" tIns="34275" rIns="68575" bIns="34275" anchor="ctr" anchorCtr="0">
            <a:normAutofit fontScale="90000"/>
          </a:bodyPr>
          <a:lstStyle/>
          <a:p>
            <a:pPr marL="0" lvl="0" indent="0" algn="l" rtl="0">
              <a:spcBef>
                <a:spcPts val="0"/>
              </a:spcBef>
              <a:spcAft>
                <a:spcPts val="0"/>
              </a:spcAft>
              <a:buNone/>
            </a:pPr>
            <a:r>
              <a:rPr lang="en-GB" b="1"/>
              <a:t>Design Quality</a:t>
            </a:r>
            <a:endParaRPr b="1"/>
          </a:p>
        </p:txBody>
      </p:sp>
      <p:sp>
        <p:nvSpPr>
          <p:cNvPr id="101" name="Google Shape;101;p19"/>
          <p:cNvSpPr txBox="1">
            <a:spLocks noGrp="1"/>
          </p:cNvSpPr>
          <p:nvPr>
            <p:ph type="body" idx="1"/>
          </p:nvPr>
        </p:nvSpPr>
        <p:spPr>
          <a:xfrm>
            <a:off x="575325" y="747375"/>
            <a:ext cx="8316900" cy="4254000"/>
          </a:xfrm>
          <a:prstGeom prst="rect">
            <a:avLst/>
          </a:prstGeom>
        </p:spPr>
        <p:txBody>
          <a:bodyPr spcFirstLastPara="1" wrap="square" lIns="68575" tIns="34275" rIns="68575" bIns="34275" anchor="t" anchorCtr="0">
            <a:normAutofit fontScale="62500" lnSpcReduction="20000"/>
          </a:bodyPr>
          <a:lstStyle/>
          <a:p>
            <a:pPr marL="0" lvl="0" indent="0" algn="l" rtl="0">
              <a:spcBef>
                <a:spcPts val="1000"/>
              </a:spcBef>
              <a:spcAft>
                <a:spcPts val="0"/>
              </a:spcAft>
              <a:buNone/>
            </a:pPr>
            <a:r>
              <a:rPr lang="en-GB" sz="3109" b="1" dirty="0">
                <a:solidFill>
                  <a:schemeClr val="dk1"/>
                </a:solidFill>
                <a:latin typeface="Calibri"/>
                <a:ea typeface="Calibri"/>
                <a:cs typeface="Calibri"/>
                <a:sym typeface="Calibri"/>
              </a:rPr>
              <a:t>Design Steps:</a:t>
            </a:r>
            <a:endParaRPr sz="3109" b="1" dirty="0">
              <a:solidFill>
                <a:schemeClr val="dk1"/>
              </a:solidFill>
              <a:latin typeface="Calibri"/>
              <a:ea typeface="Calibri"/>
              <a:cs typeface="Calibri"/>
              <a:sym typeface="Calibri"/>
            </a:endParaRPr>
          </a:p>
          <a:p>
            <a:pPr marL="457200" lvl="0" indent="-344776" algn="l" rtl="0">
              <a:spcBef>
                <a:spcPts val="1000"/>
              </a:spcBef>
              <a:spcAft>
                <a:spcPts val="0"/>
              </a:spcAft>
              <a:buClr>
                <a:schemeClr val="dk1"/>
              </a:buClr>
              <a:buSzPct val="100000"/>
              <a:buFont typeface="Calibri"/>
              <a:buChar char="●"/>
            </a:pPr>
            <a:r>
              <a:rPr lang="en-GB" sz="2927" dirty="0">
                <a:solidFill>
                  <a:schemeClr val="dk1"/>
                </a:solidFill>
                <a:latin typeface="Calibri"/>
                <a:ea typeface="Calibri"/>
                <a:cs typeface="Calibri"/>
                <a:sym typeface="Calibri"/>
              </a:rPr>
              <a:t>The architecture of the system or product must be represented.</a:t>
            </a:r>
            <a:endParaRPr sz="2927" dirty="0">
              <a:solidFill>
                <a:schemeClr val="dk1"/>
              </a:solidFill>
              <a:latin typeface="Calibri"/>
              <a:ea typeface="Calibri"/>
              <a:cs typeface="Calibri"/>
              <a:sym typeface="Calibri"/>
            </a:endParaRPr>
          </a:p>
          <a:p>
            <a:pPr marL="457200" lvl="0" indent="-344776" algn="l" rtl="0">
              <a:spcBef>
                <a:spcPts val="0"/>
              </a:spcBef>
              <a:spcAft>
                <a:spcPts val="0"/>
              </a:spcAft>
              <a:buClr>
                <a:schemeClr val="dk1"/>
              </a:buClr>
              <a:buSzPct val="100000"/>
              <a:buFont typeface="Calibri"/>
              <a:buChar char="●"/>
            </a:pPr>
            <a:r>
              <a:rPr lang="en-GB" sz="2927" dirty="0">
                <a:solidFill>
                  <a:schemeClr val="dk1"/>
                </a:solidFill>
                <a:latin typeface="Calibri"/>
                <a:ea typeface="Calibri"/>
                <a:cs typeface="Calibri"/>
                <a:sym typeface="Calibri"/>
              </a:rPr>
              <a:t>The interfaces that connect the software to end users, to other systems and devices, and to its own constituent components are modelled.</a:t>
            </a:r>
            <a:endParaRPr sz="2927" dirty="0">
              <a:solidFill>
                <a:schemeClr val="dk1"/>
              </a:solidFill>
              <a:latin typeface="Calibri"/>
              <a:ea typeface="Calibri"/>
              <a:cs typeface="Calibri"/>
              <a:sym typeface="Calibri"/>
            </a:endParaRPr>
          </a:p>
          <a:p>
            <a:pPr marL="457200" lvl="0" indent="-344776" algn="l" rtl="0">
              <a:spcBef>
                <a:spcPts val="0"/>
              </a:spcBef>
              <a:spcAft>
                <a:spcPts val="0"/>
              </a:spcAft>
              <a:buClr>
                <a:schemeClr val="dk1"/>
              </a:buClr>
              <a:buSzPct val="100000"/>
              <a:buFont typeface="Calibri"/>
              <a:buChar char="●"/>
            </a:pPr>
            <a:r>
              <a:rPr lang="en-GB" sz="2927" dirty="0">
                <a:solidFill>
                  <a:schemeClr val="dk1"/>
                </a:solidFill>
                <a:latin typeface="Calibri"/>
                <a:ea typeface="Calibri"/>
                <a:cs typeface="Calibri"/>
                <a:sym typeface="Calibri"/>
              </a:rPr>
              <a:t>The software components that are used to construct the system are designed.</a:t>
            </a:r>
            <a:endParaRPr sz="2927" dirty="0">
              <a:solidFill>
                <a:schemeClr val="dk1"/>
              </a:solidFill>
              <a:latin typeface="Calibri"/>
              <a:ea typeface="Calibri"/>
              <a:cs typeface="Calibri"/>
              <a:sym typeface="Calibri"/>
            </a:endParaRPr>
          </a:p>
          <a:p>
            <a:pPr marL="457200" lvl="0" indent="-344776" algn="l" rtl="0">
              <a:spcBef>
                <a:spcPts val="0"/>
              </a:spcBef>
              <a:spcAft>
                <a:spcPts val="0"/>
              </a:spcAft>
              <a:buClr>
                <a:schemeClr val="dk1"/>
              </a:buClr>
              <a:buSzPct val="100000"/>
              <a:buFont typeface="Calibri"/>
              <a:buChar char="●"/>
            </a:pPr>
            <a:r>
              <a:rPr lang="en-GB" sz="2927" dirty="0">
                <a:solidFill>
                  <a:schemeClr val="dk1"/>
                </a:solidFill>
                <a:latin typeface="Calibri"/>
                <a:ea typeface="Calibri"/>
                <a:cs typeface="Calibri"/>
                <a:sym typeface="Calibri"/>
              </a:rPr>
              <a:t>Each of these views represents a different design action, but all must conform to a set of basic design concepts that guide software design work.</a:t>
            </a:r>
            <a:endParaRPr sz="2927" dirty="0">
              <a:solidFill>
                <a:schemeClr val="dk1"/>
              </a:solidFill>
            </a:endParaRPr>
          </a:p>
          <a:p>
            <a:pPr marL="0" lvl="0" indent="0" algn="l" rtl="0">
              <a:spcBef>
                <a:spcPts val="1000"/>
              </a:spcBef>
              <a:spcAft>
                <a:spcPts val="0"/>
              </a:spcAft>
              <a:buClr>
                <a:schemeClr val="dk1"/>
              </a:buClr>
              <a:buSzPct val="35380"/>
              <a:buFont typeface="Arial"/>
              <a:buNone/>
            </a:pPr>
            <a:r>
              <a:rPr lang="en-GB" sz="3109" b="1" dirty="0">
                <a:solidFill>
                  <a:schemeClr val="dk1"/>
                </a:solidFill>
                <a:latin typeface="Calibri"/>
                <a:ea typeface="Calibri"/>
                <a:cs typeface="Calibri"/>
                <a:sym typeface="Calibri"/>
              </a:rPr>
              <a:t>Outcome of Design Model</a:t>
            </a:r>
            <a:endParaRPr sz="2200" dirty="0">
              <a:solidFill>
                <a:schemeClr val="dk1"/>
              </a:solidFill>
              <a:latin typeface="Calibri"/>
              <a:ea typeface="Calibri"/>
              <a:cs typeface="Calibri"/>
              <a:sym typeface="Calibri"/>
            </a:endParaRPr>
          </a:p>
          <a:p>
            <a:pPr marL="457200" lvl="0" indent="0" algn="l" rtl="0">
              <a:spcBef>
                <a:spcPts val="1000"/>
              </a:spcBef>
              <a:spcAft>
                <a:spcPts val="0"/>
              </a:spcAft>
              <a:buClr>
                <a:schemeClr val="dk1"/>
              </a:buClr>
              <a:buSzPct val="38596"/>
              <a:buFont typeface="Arial"/>
              <a:buNone/>
            </a:pPr>
            <a:r>
              <a:rPr lang="en-GB" sz="2850" dirty="0">
                <a:solidFill>
                  <a:schemeClr val="dk1"/>
                </a:solidFill>
                <a:latin typeface="Calibri"/>
                <a:ea typeface="Calibri"/>
                <a:cs typeface="Calibri"/>
                <a:sym typeface="Calibri"/>
              </a:rPr>
              <a:t>Architectural, interface, component level, and deployment representations</a:t>
            </a:r>
            <a:endParaRPr sz="2850" dirty="0">
              <a:solidFill>
                <a:schemeClr val="dk1"/>
              </a:solidFill>
              <a:latin typeface="Calibri"/>
              <a:ea typeface="Calibri"/>
              <a:cs typeface="Calibri"/>
              <a:sym typeface="Calibri"/>
            </a:endParaRPr>
          </a:p>
          <a:p>
            <a:pPr marL="0" lvl="0" indent="0" algn="l" rtl="0">
              <a:spcBef>
                <a:spcPts val="1000"/>
              </a:spcBef>
              <a:spcAft>
                <a:spcPts val="0"/>
              </a:spcAft>
              <a:buNone/>
            </a:pPr>
            <a:r>
              <a:rPr lang="en-GB" sz="3109" b="1" dirty="0">
                <a:solidFill>
                  <a:schemeClr val="dk1"/>
                </a:solidFill>
                <a:latin typeface="Calibri"/>
                <a:ea typeface="Calibri"/>
                <a:cs typeface="Calibri"/>
                <a:sym typeface="Calibri"/>
              </a:rPr>
              <a:t>Design model is assessed by the software team to determine :</a:t>
            </a:r>
            <a:endParaRPr sz="2200" b="1" dirty="0">
              <a:solidFill>
                <a:schemeClr val="dk1"/>
              </a:solidFill>
              <a:latin typeface="Calibri"/>
              <a:ea typeface="Calibri"/>
              <a:cs typeface="Calibri"/>
              <a:sym typeface="Calibri"/>
            </a:endParaRPr>
          </a:p>
          <a:p>
            <a:pPr marL="457200" lvl="0" indent="-341709" algn="l" rtl="0">
              <a:spcBef>
                <a:spcPts val="1000"/>
              </a:spcBef>
              <a:spcAft>
                <a:spcPts val="0"/>
              </a:spcAft>
              <a:buClr>
                <a:schemeClr val="dk1"/>
              </a:buClr>
              <a:buSzPct val="100000"/>
              <a:buFont typeface="Calibri"/>
              <a:buChar char="●"/>
            </a:pPr>
            <a:r>
              <a:rPr lang="en-GB" sz="2850" dirty="0">
                <a:solidFill>
                  <a:schemeClr val="dk1"/>
                </a:solidFill>
                <a:latin typeface="Calibri"/>
                <a:ea typeface="Calibri"/>
                <a:cs typeface="Calibri"/>
                <a:sym typeface="Calibri"/>
              </a:rPr>
              <a:t>Whether it contains errors, inconsistencies, or omissions</a:t>
            </a:r>
            <a:endParaRPr sz="2850" dirty="0">
              <a:solidFill>
                <a:schemeClr val="dk1"/>
              </a:solidFill>
              <a:latin typeface="Calibri"/>
              <a:ea typeface="Calibri"/>
              <a:cs typeface="Calibri"/>
              <a:sym typeface="Calibri"/>
            </a:endParaRPr>
          </a:p>
          <a:p>
            <a:pPr marL="457200" lvl="0" indent="-341709" algn="l" rtl="0">
              <a:spcBef>
                <a:spcPts val="0"/>
              </a:spcBef>
              <a:spcAft>
                <a:spcPts val="0"/>
              </a:spcAft>
              <a:buClr>
                <a:schemeClr val="dk1"/>
              </a:buClr>
              <a:buSzPct val="100000"/>
              <a:buFont typeface="Calibri"/>
              <a:buChar char="●"/>
            </a:pPr>
            <a:r>
              <a:rPr lang="en-GB" sz="2850" dirty="0">
                <a:solidFill>
                  <a:schemeClr val="dk1"/>
                </a:solidFill>
                <a:latin typeface="Calibri"/>
                <a:ea typeface="Calibri"/>
                <a:cs typeface="Calibri"/>
                <a:sym typeface="Calibri"/>
              </a:rPr>
              <a:t>Whether better alternatives exist</a:t>
            </a:r>
            <a:endParaRPr sz="2850" dirty="0">
              <a:solidFill>
                <a:schemeClr val="dk1"/>
              </a:solidFill>
              <a:latin typeface="Calibri"/>
              <a:ea typeface="Calibri"/>
              <a:cs typeface="Calibri"/>
              <a:sym typeface="Calibri"/>
            </a:endParaRPr>
          </a:p>
          <a:p>
            <a:pPr marL="457200" lvl="0" indent="-341709" algn="l" rtl="0">
              <a:spcBef>
                <a:spcPts val="0"/>
              </a:spcBef>
              <a:spcAft>
                <a:spcPts val="0"/>
              </a:spcAft>
              <a:buClr>
                <a:schemeClr val="dk1"/>
              </a:buClr>
              <a:buSzPct val="100000"/>
              <a:buFont typeface="Calibri"/>
              <a:buChar char="●"/>
            </a:pPr>
            <a:r>
              <a:rPr lang="en-GB" sz="2850" dirty="0">
                <a:solidFill>
                  <a:schemeClr val="dk1"/>
                </a:solidFill>
                <a:latin typeface="Calibri"/>
                <a:ea typeface="Calibri"/>
                <a:cs typeface="Calibri"/>
                <a:sym typeface="Calibri"/>
              </a:rPr>
              <a:t>Whether the model can be implemented within the constraints, schedule, and cost that have been established.</a:t>
            </a:r>
            <a:endParaRPr sz="2850"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0"/>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GB" b="1"/>
              <a:t>Design </a:t>
            </a:r>
            <a:endParaRPr b="1"/>
          </a:p>
        </p:txBody>
      </p:sp>
      <p:sp>
        <p:nvSpPr>
          <p:cNvPr id="107" name="Google Shape;107;p20"/>
          <p:cNvSpPr txBox="1">
            <a:spLocks noGrp="1"/>
          </p:cNvSpPr>
          <p:nvPr>
            <p:ph type="body" idx="1"/>
          </p:nvPr>
        </p:nvSpPr>
        <p:spPr>
          <a:xfrm>
            <a:off x="102637" y="675249"/>
            <a:ext cx="8834038" cy="4064701"/>
          </a:xfrm>
          <a:prstGeom prst="rect">
            <a:avLst/>
          </a:prstGeom>
          <a:noFill/>
          <a:ln>
            <a:noFill/>
          </a:ln>
        </p:spPr>
        <p:txBody>
          <a:bodyPr spcFirstLastPara="1" wrap="square" lIns="68575" tIns="34275" rIns="68575" bIns="34275" anchor="t" anchorCtr="0">
            <a:noAutofit/>
          </a:bodyPr>
          <a:lstStyle/>
          <a:p>
            <a:pPr marL="457200" lvl="0" indent="-342900" algn="just" rtl="0">
              <a:spcBef>
                <a:spcPts val="0"/>
              </a:spcBef>
              <a:spcAft>
                <a:spcPts val="0"/>
              </a:spcAft>
              <a:buSzPts val="1800"/>
              <a:buFont typeface="Calibri"/>
              <a:buChar char="●"/>
            </a:pPr>
            <a:r>
              <a:rPr lang="en-GB" b="1" u="sng" dirty="0">
                <a:solidFill>
                  <a:schemeClr val="dk1"/>
                </a:solidFill>
                <a:latin typeface="Calibri"/>
                <a:ea typeface="Calibri"/>
                <a:cs typeface="Calibri"/>
                <a:sym typeface="Calibri"/>
              </a:rPr>
              <a:t>Software desig</a:t>
            </a:r>
            <a:r>
              <a:rPr lang="en-GB" b="1" dirty="0">
                <a:solidFill>
                  <a:schemeClr val="dk1"/>
                </a:solidFill>
                <a:latin typeface="Calibri"/>
                <a:ea typeface="Calibri"/>
                <a:cs typeface="Calibri"/>
                <a:sym typeface="Calibri"/>
              </a:rPr>
              <a:t>n </a:t>
            </a:r>
            <a:r>
              <a:rPr lang="en-GB" dirty="0">
                <a:solidFill>
                  <a:schemeClr val="dk1"/>
                </a:solidFill>
                <a:latin typeface="Calibri"/>
                <a:ea typeface="Calibri"/>
                <a:cs typeface="Calibri"/>
                <a:sym typeface="Calibri"/>
              </a:rPr>
              <a:t>is an </a:t>
            </a:r>
            <a:r>
              <a:rPr lang="en-GB" b="1" u="sng" dirty="0">
                <a:solidFill>
                  <a:schemeClr val="dk1"/>
                </a:solidFill>
                <a:latin typeface="Calibri"/>
                <a:ea typeface="Calibri"/>
                <a:cs typeface="Calibri"/>
                <a:sym typeface="Calibri"/>
              </a:rPr>
              <a:t>iterative process </a:t>
            </a:r>
            <a:r>
              <a:rPr lang="en-GB" dirty="0">
                <a:solidFill>
                  <a:schemeClr val="dk1"/>
                </a:solidFill>
                <a:latin typeface="Calibri"/>
                <a:ea typeface="Calibri"/>
                <a:cs typeface="Calibri"/>
                <a:sym typeface="Calibri"/>
              </a:rPr>
              <a:t>through which </a:t>
            </a:r>
            <a:r>
              <a:rPr lang="en-GB" b="1" dirty="0">
                <a:solidFill>
                  <a:schemeClr val="dk1"/>
                </a:solidFill>
                <a:latin typeface="Calibri"/>
                <a:ea typeface="Calibri"/>
                <a:cs typeface="Calibri"/>
                <a:sym typeface="Calibri"/>
              </a:rPr>
              <a:t>requirements are translated into a “blueprint” </a:t>
            </a:r>
            <a:r>
              <a:rPr lang="en-GB" dirty="0">
                <a:solidFill>
                  <a:schemeClr val="dk1"/>
                </a:solidFill>
                <a:latin typeface="Calibri"/>
                <a:ea typeface="Calibri"/>
                <a:cs typeface="Calibri"/>
                <a:sym typeface="Calibri"/>
              </a:rPr>
              <a:t>for constructing the software.</a:t>
            </a:r>
            <a:endParaRPr dirty="0">
              <a:solidFill>
                <a:schemeClr val="dk1"/>
              </a:solidFill>
              <a:latin typeface="Calibri"/>
              <a:ea typeface="Calibri"/>
              <a:cs typeface="Calibri"/>
              <a:sym typeface="Calibri"/>
            </a:endParaRPr>
          </a:p>
          <a:p>
            <a:pPr marL="457200" lvl="0" indent="-342900" algn="just" rtl="0">
              <a:spcBef>
                <a:spcPts val="0"/>
              </a:spcBef>
              <a:spcAft>
                <a:spcPts val="0"/>
              </a:spcAft>
              <a:buSzPts val="1800"/>
              <a:buFont typeface="Calibri"/>
              <a:buChar char="●"/>
            </a:pPr>
            <a:endParaRPr lang="en-GB" dirty="0" smtClean="0">
              <a:solidFill>
                <a:schemeClr val="dk1"/>
              </a:solidFill>
              <a:latin typeface="Calibri"/>
              <a:ea typeface="Calibri"/>
              <a:cs typeface="Calibri"/>
              <a:sym typeface="Calibri"/>
            </a:endParaRPr>
          </a:p>
          <a:p>
            <a:pPr marL="457200" lvl="0" indent="-342900" algn="just" rtl="0">
              <a:spcBef>
                <a:spcPts val="0"/>
              </a:spcBef>
              <a:spcAft>
                <a:spcPts val="0"/>
              </a:spcAft>
              <a:buSzPts val="1800"/>
              <a:buFont typeface="Calibri"/>
              <a:buChar char="●"/>
            </a:pPr>
            <a:r>
              <a:rPr lang="en-GB" dirty="0" smtClean="0">
                <a:solidFill>
                  <a:schemeClr val="dk1"/>
                </a:solidFill>
                <a:latin typeface="Calibri"/>
                <a:ea typeface="Calibri"/>
                <a:cs typeface="Calibri"/>
                <a:sym typeface="Calibri"/>
              </a:rPr>
              <a:t>Developers </a:t>
            </a:r>
            <a:r>
              <a:rPr lang="en-GB" dirty="0">
                <a:solidFill>
                  <a:schemeClr val="dk1"/>
                </a:solidFill>
                <a:latin typeface="Calibri"/>
                <a:ea typeface="Calibri"/>
                <a:cs typeface="Calibri"/>
                <a:sym typeface="Calibri"/>
              </a:rPr>
              <a:t>identify and prioritize the qualities of the system that they should optimize.</a:t>
            </a:r>
            <a:endParaRPr dirty="0">
              <a:solidFill>
                <a:schemeClr val="dk1"/>
              </a:solidFill>
              <a:latin typeface="Calibri"/>
              <a:ea typeface="Calibri"/>
              <a:cs typeface="Calibri"/>
              <a:sym typeface="Calibri"/>
            </a:endParaRPr>
          </a:p>
          <a:p>
            <a:pPr marL="457200" lvl="0" indent="-342900" algn="just" rtl="0">
              <a:spcBef>
                <a:spcPts val="0"/>
              </a:spcBef>
              <a:spcAft>
                <a:spcPts val="0"/>
              </a:spcAft>
              <a:buSzPts val="1800"/>
              <a:buFont typeface="Calibri"/>
              <a:buChar char="●"/>
            </a:pPr>
            <a:endParaRPr lang="en-GB" b="1" dirty="0" smtClean="0">
              <a:solidFill>
                <a:schemeClr val="dk1"/>
              </a:solidFill>
              <a:latin typeface="Calibri"/>
              <a:ea typeface="Calibri"/>
              <a:cs typeface="Calibri"/>
              <a:sym typeface="Calibri"/>
            </a:endParaRPr>
          </a:p>
          <a:p>
            <a:pPr marL="457200" lvl="0" indent="-342900" algn="just" rtl="0">
              <a:spcBef>
                <a:spcPts val="0"/>
              </a:spcBef>
              <a:spcAft>
                <a:spcPts val="0"/>
              </a:spcAft>
              <a:buSzPts val="1800"/>
              <a:buFont typeface="Calibri"/>
              <a:buChar char="●"/>
            </a:pPr>
            <a:r>
              <a:rPr lang="en-GB" b="1" dirty="0" smtClean="0">
                <a:solidFill>
                  <a:schemeClr val="dk1"/>
                </a:solidFill>
                <a:latin typeface="Calibri"/>
                <a:ea typeface="Calibri"/>
                <a:cs typeface="Calibri"/>
                <a:sym typeface="Calibri"/>
              </a:rPr>
              <a:t>The </a:t>
            </a:r>
            <a:r>
              <a:rPr lang="en-GB" b="1" dirty="0">
                <a:solidFill>
                  <a:schemeClr val="dk1"/>
                </a:solidFill>
                <a:latin typeface="Calibri"/>
                <a:ea typeface="Calibri"/>
                <a:cs typeface="Calibri"/>
                <a:sym typeface="Calibri"/>
              </a:rPr>
              <a:t>design </a:t>
            </a:r>
            <a:r>
              <a:rPr lang="en-GB" b="1" u="sng" dirty="0">
                <a:solidFill>
                  <a:schemeClr val="dk1"/>
                </a:solidFill>
                <a:latin typeface="Calibri"/>
                <a:ea typeface="Calibri"/>
                <a:cs typeface="Calibri"/>
                <a:sym typeface="Calibri"/>
              </a:rPr>
              <a:t>must implement </a:t>
            </a:r>
            <a:r>
              <a:rPr lang="en-GB" b="1" dirty="0">
                <a:solidFill>
                  <a:schemeClr val="dk1"/>
                </a:solidFill>
                <a:latin typeface="Calibri"/>
                <a:ea typeface="Calibri"/>
                <a:cs typeface="Calibri"/>
                <a:sym typeface="Calibri"/>
              </a:rPr>
              <a:t>all of the </a:t>
            </a:r>
            <a:r>
              <a:rPr lang="en-GB" b="1" u="sng" dirty="0">
                <a:solidFill>
                  <a:schemeClr val="dk1"/>
                </a:solidFill>
                <a:latin typeface="Calibri"/>
                <a:ea typeface="Calibri"/>
                <a:cs typeface="Calibri"/>
                <a:sym typeface="Calibri"/>
              </a:rPr>
              <a:t>explicit </a:t>
            </a:r>
            <a:r>
              <a:rPr lang="en-GB" b="1" dirty="0">
                <a:solidFill>
                  <a:schemeClr val="dk1"/>
                </a:solidFill>
                <a:latin typeface="Calibri"/>
                <a:ea typeface="Calibri"/>
                <a:cs typeface="Calibri"/>
                <a:sym typeface="Calibri"/>
              </a:rPr>
              <a:t>requirements </a:t>
            </a:r>
            <a:r>
              <a:rPr lang="en-GB" dirty="0">
                <a:solidFill>
                  <a:schemeClr val="dk1"/>
                </a:solidFill>
                <a:latin typeface="Calibri"/>
                <a:ea typeface="Calibri"/>
                <a:cs typeface="Calibri"/>
                <a:sym typeface="Calibri"/>
              </a:rPr>
              <a:t>contained in the analysis model, and it </a:t>
            </a:r>
            <a:r>
              <a:rPr lang="en-GB" b="1" u="sng" dirty="0">
                <a:solidFill>
                  <a:schemeClr val="dk1"/>
                </a:solidFill>
                <a:latin typeface="Calibri"/>
                <a:ea typeface="Calibri"/>
                <a:cs typeface="Calibri"/>
                <a:sym typeface="Calibri"/>
              </a:rPr>
              <a:t>must accommodate</a:t>
            </a:r>
            <a:r>
              <a:rPr lang="en-GB" u="sng" dirty="0">
                <a:solidFill>
                  <a:schemeClr val="dk1"/>
                </a:solidFill>
                <a:latin typeface="Calibri"/>
                <a:ea typeface="Calibri"/>
                <a:cs typeface="Calibri"/>
                <a:sym typeface="Calibri"/>
              </a:rPr>
              <a:t> </a:t>
            </a:r>
            <a:r>
              <a:rPr lang="en-GB" dirty="0">
                <a:solidFill>
                  <a:schemeClr val="dk1"/>
                </a:solidFill>
                <a:latin typeface="Calibri"/>
                <a:ea typeface="Calibri"/>
                <a:cs typeface="Calibri"/>
                <a:sym typeface="Calibri"/>
              </a:rPr>
              <a:t>all of the </a:t>
            </a:r>
            <a:r>
              <a:rPr lang="en-GB" b="1" u="sng" dirty="0">
                <a:solidFill>
                  <a:schemeClr val="dk1"/>
                </a:solidFill>
                <a:latin typeface="Calibri"/>
                <a:ea typeface="Calibri"/>
                <a:cs typeface="Calibri"/>
                <a:sym typeface="Calibri"/>
              </a:rPr>
              <a:t>implicit </a:t>
            </a:r>
            <a:r>
              <a:rPr lang="en-GB" dirty="0">
                <a:solidFill>
                  <a:schemeClr val="dk1"/>
                </a:solidFill>
                <a:latin typeface="Calibri"/>
                <a:ea typeface="Calibri"/>
                <a:cs typeface="Calibri"/>
                <a:sym typeface="Calibri"/>
              </a:rPr>
              <a:t>requirements desired by the customer.</a:t>
            </a:r>
            <a:endParaRPr dirty="0">
              <a:solidFill>
                <a:schemeClr val="dk1"/>
              </a:solidFill>
              <a:latin typeface="Calibri"/>
              <a:ea typeface="Calibri"/>
              <a:cs typeface="Calibri"/>
              <a:sym typeface="Calibri"/>
            </a:endParaRPr>
          </a:p>
          <a:p>
            <a:pPr lvl="1" indent="-342900" algn="just">
              <a:spcBef>
                <a:spcPts val="0"/>
              </a:spcBef>
              <a:buSzPts val="1800"/>
              <a:buFont typeface="Calibri"/>
              <a:buChar char="●"/>
            </a:pPr>
            <a:r>
              <a:rPr lang="en-GB" b="1" dirty="0">
                <a:solidFill>
                  <a:schemeClr val="dk1"/>
                </a:solidFill>
                <a:latin typeface="Calibri"/>
                <a:ea typeface="Calibri"/>
                <a:cs typeface="Calibri"/>
                <a:sym typeface="Calibri"/>
              </a:rPr>
              <a:t>Explicit Requirements: </a:t>
            </a:r>
            <a:r>
              <a:rPr lang="en-GB" dirty="0">
                <a:solidFill>
                  <a:schemeClr val="dk1"/>
                </a:solidFill>
                <a:latin typeface="Calibri"/>
                <a:ea typeface="Calibri"/>
                <a:cs typeface="Calibri"/>
                <a:sym typeface="Calibri"/>
              </a:rPr>
              <a:t>The Things You Wrote Down</a:t>
            </a:r>
            <a:endParaRPr dirty="0">
              <a:solidFill>
                <a:schemeClr val="dk1"/>
              </a:solidFill>
              <a:latin typeface="Calibri"/>
              <a:ea typeface="Calibri"/>
              <a:cs typeface="Calibri"/>
              <a:sym typeface="Calibri"/>
            </a:endParaRPr>
          </a:p>
          <a:p>
            <a:pPr lvl="1" indent="-342900" algn="just">
              <a:spcBef>
                <a:spcPts val="0"/>
              </a:spcBef>
              <a:buSzPts val="1800"/>
              <a:buFont typeface="Calibri"/>
              <a:buChar char="●"/>
            </a:pPr>
            <a:r>
              <a:rPr lang="en-GB" b="1" dirty="0">
                <a:solidFill>
                  <a:schemeClr val="dk1"/>
                </a:solidFill>
                <a:latin typeface="Calibri"/>
                <a:ea typeface="Calibri"/>
                <a:cs typeface="Calibri"/>
                <a:sym typeface="Calibri"/>
              </a:rPr>
              <a:t>Implicit Requirements: </a:t>
            </a:r>
            <a:r>
              <a:rPr lang="en-GB" dirty="0">
                <a:solidFill>
                  <a:schemeClr val="dk1"/>
                </a:solidFill>
                <a:latin typeface="Calibri"/>
                <a:ea typeface="Calibri"/>
                <a:cs typeface="Calibri"/>
                <a:sym typeface="Calibri"/>
              </a:rPr>
              <a:t>The Things Your Customers Will Expect</a:t>
            </a:r>
            <a:endParaRPr dirty="0">
              <a:solidFill>
                <a:schemeClr val="dk1"/>
              </a:solidFill>
              <a:latin typeface="Calibri"/>
              <a:ea typeface="Calibri"/>
              <a:cs typeface="Calibri"/>
              <a:sym typeface="Calibri"/>
            </a:endParaRPr>
          </a:p>
          <a:p>
            <a:pPr lvl="1" indent="-342900" algn="just">
              <a:spcBef>
                <a:spcPts val="0"/>
              </a:spcBef>
              <a:buSzPts val="1800"/>
              <a:buFont typeface="Calibri"/>
              <a:buChar char="●"/>
            </a:pPr>
            <a:r>
              <a:rPr lang="en-GB" b="1" dirty="0">
                <a:solidFill>
                  <a:schemeClr val="dk1"/>
                </a:solidFill>
                <a:latin typeface="Calibri"/>
                <a:ea typeface="Calibri"/>
                <a:cs typeface="Calibri"/>
                <a:sym typeface="Calibri"/>
              </a:rPr>
              <a:t>Latent Requirements: </a:t>
            </a:r>
            <a:r>
              <a:rPr lang="en-GB" dirty="0">
                <a:solidFill>
                  <a:schemeClr val="dk1"/>
                </a:solidFill>
                <a:latin typeface="Calibri"/>
                <a:ea typeface="Calibri"/>
                <a:cs typeface="Calibri"/>
                <a:sym typeface="Calibri"/>
              </a:rPr>
              <a:t>Things That Will Delight Your Customers</a:t>
            </a:r>
            <a:endParaRPr dirty="0">
              <a:solidFill>
                <a:schemeClr val="dk1"/>
              </a:solidFill>
              <a:latin typeface="Calibri"/>
              <a:ea typeface="Calibri"/>
              <a:cs typeface="Calibri"/>
              <a:sym typeface="Calibri"/>
            </a:endParaRPr>
          </a:p>
          <a:p>
            <a:pPr marL="457200" lvl="0" indent="-342900" algn="just" rtl="0">
              <a:spcBef>
                <a:spcPts val="0"/>
              </a:spcBef>
              <a:spcAft>
                <a:spcPts val="0"/>
              </a:spcAft>
              <a:buSzPts val="1800"/>
              <a:buFont typeface="Calibri"/>
              <a:buChar char="●"/>
            </a:pPr>
            <a:endParaRPr lang="en-GB" b="1" dirty="0" smtClean="0">
              <a:solidFill>
                <a:schemeClr val="dk1"/>
              </a:solidFill>
              <a:latin typeface="Calibri"/>
              <a:ea typeface="Calibri"/>
              <a:cs typeface="Calibri"/>
              <a:sym typeface="Calibri"/>
            </a:endParaRPr>
          </a:p>
          <a:p>
            <a:pPr marL="457200" lvl="0" indent="-342900" algn="just" rtl="0">
              <a:spcBef>
                <a:spcPts val="0"/>
              </a:spcBef>
              <a:spcAft>
                <a:spcPts val="0"/>
              </a:spcAft>
              <a:buSzPts val="1800"/>
              <a:buFont typeface="Calibri"/>
              <a:buChar char="●"/>
            </a:pPr>
            <a:r>
              <a:rPr lang="en-GB" b="1" dirty="0" smtClean="0">
                <a:solidFill>
                  <a:schemeClr val="dk1"/>
                </a:solidFill>
                <a:latin typeface="Calibri"/>
                <a:ea typeface="Calibri"/>
                <a:cs typeface="Calibri"/>
                <a:sym typeface="Calibri"/>
              </a:rPr>
              <a:t>The </a:t>
            </a:r>
            <a:r>
              <a:rPr lang="en-GB" b="1" dirty="0">
                <a:solidFill>
                  <a:schemeClr val="dk1"/>
                </a:solidFill>
                <a:latin typeface="Calibri"/>
                <a:ea typeface="Calibri"/>
                <a:cs typeface="Calibri"/>
                <a:sym typeface="Calibri"/>
              </a:rPr>
              <a:t>design must be a readable, understandable </a:t>
            </a:r>
            <a:r>
              <a:rPr lang="en-GB" dirty="0">
                <a:solidFill>
                  <a:schemeClr val="dk1"/>
                </a:solidFill>
                <a:latin typeface="Calibri"/>
                <a:ea typeface="Calibri"/>
                <a:cs typeface="Calibri"/>
                <a:sym typeface="Calibri"/>
              </a:rPr>
              <a:t>guide for those who generate code and for those who test and subsequently support the software.</a:t>
            </a:r>
            <a:endParaRPr dirty="0">
              <a:solidFill>
                <a:schemeClr val="dk1"/>
              </a:solidFill>
              <a:latin typeface="Calibri"/>
              <a:ea typeface="Calibri"/>
              <a:cs typeface="Calibri"/>
              <a:sym typeface="Calibri"/>
            </a:endParaRPr>
          </a:p>
          <a:p>
            <a:pPr marL="457200" lvl="0" indent="-342900" algn="just" rtl="0">
              <a:spcBef>
                <a:spcPts val="0"/>
              </a:spcBef>
              <a:spcAft>
                <a:spcPts val="0"/>
              </a:spcAft>
              <a:buSzPts val="1800"/>
              <a:buFont typeface="Calibri"/>
              <a:buChar char="●"/>
            </a:pPr>
            <a:endParaRPr lang="en-GB" b="1" dirty="0" smtClean="0">
              <a:solidFill>
                <a:schemeClr val="dk1"/>
              </a:solidFill>
              <a:latin typeface="Calibri"/>
              <a:ea typeface="Calibri"/>
              <a:cs typeface="Calibri"/>
              <a:sym typeface="Calibri"/>
            </a:endParaRPr>
          </a:p>
          <a:p>
            <a:pPr marL="457200" lvl="0" indent="-342900" algn="just" rtl="0">
              <a:spcBef>
                <a:spcPts val="0"/>
              </a:spcBef>
              <a:spcAft>
                <a:spcPts val="0"/>
              </a:spcAft>
              <a:buSzPts val="1800"/>
              <a:buFont typeface="Calibri"/>
              <a:buChar char="●"/>
            </a:pPr>
            <a:r>
              <a:rPr lang="en-GB" b="1" dirty="0" smtClean="0">
                <a:solidFill>
                  <a:schemeClr val="dk1"/>
                </a:solidFill>
                <a:latin typeface="Calibri"/>
                <a:ea typeface="Calibri"/>
                <a:cs typeface="Calibri"/>
                <a:sym typeface="Calibri"/>
              </a:rPr>
              <a:t>The </a:t>
            </a:r>
            <a:r>
              <a:rPr lang="en-GB" b="1" dirty="0">
                <a:solidFill>
                  <a:schemeClr val="dk1"/>
                </a:solidFill>
                <a:latin typeface="Calibri"/>
                <a:ea typeface="Calibri"/>
                <a:cs typeface="Calibri"/>
                <a:sym typeface="Calibri"/>
              </a:rPr>
              <a:t>design should provide a complete picture of the software</a:t>
            </a:r>
            <a:r>
              <a:rPr lang="en-GB" dirty="0">
                <a:solidFill>
                  <a:schemeClr val="dk1"/>
                </a:solidFill>
                <a:latin typeface="Calibri"/>
                <a:ea typeface="Calibri"/>
                <a:cs typeface="Calibri"/>
                <a:sym typeface="Calibri"/>
              </a:rPr>
              <a:t>, addressing the data, functional, and </a:t>
            </a:r>
            <a:r>
              <a:rPr lang="en-GB" dirty="0" err="1">
                <a:solidFill>
                  <a:schemeClr val="dk1"/>
                </a:solidFill>
                <a:latin typeface="Calibri"/>
                <a:ea typeface="Calibri"/>
                <a:cs typeface="Calibri"/>
                <a:sym typeface="Calibri"/>
              </a:rPr>
              <a:t>behavioral</a:t>
            </a:r>
            <a:r>
              <a:rPr lang="en-GB" dirty="0">
                <a:solidFill>
                  <a:schemeClr val="dk1"/>
                </a:solidFill>
                <a:latin typeface="Calibri"/>
                <a:ea typeface="Calibri"/>
                <a:cs typeface="Calibri"/>
                <a:sym typeface="Calibri"/>
              </a:rPr>
              <a:t> domains from an implementation perspective</a:t>
            </a:r>
            <a:endParaRPr b="1" dirty="0">
              <a:solidFill>
                <a:srgbClr val="0070C0"/>
              </a:solidFill>
              <a:latin typeface="Calibri"/>
              <a:ea typeface="Calibri"/>
              <a:cs typeface="Calibri"/>
              <a:sym typeface="Calibri"/>
            </a:endParaRPr>
          </a:p>
        </p:txBody>
      </p:sp>
      <p:sp>
        <p:nvSpPr>
          <p:cNvPr id="108" name="Google Shape;108;p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109" name="Google Shape;109;p2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8</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7">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1"/>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GB" b="1"/>
              <a:t>Quality Guidelines</a:t>
            </a:r>
            <a:endParaRPr b="1"/>
          </a:p>
        </p:txBody>
      </p:sp>
      <p:sp>
        <p:nvSpPr>
          <p:cNvPr id="115" name="Google Shape;115;p21"/>
          <p:cNvSpPr txBox="1">
            <a:spLocks noGrp="1"/>
          </p:cNvSpPr>
          <p:nvPr>
            <p:ph type="body" idx="1"/>
          </p:nvPr>
        </p:nvSpPr>
        <p:spPr>
          <a:xfrm>
            <a:off x="228275" y="675250"/>
            <a:ext cx="8575200" cy="2475300"/>
          </a:xfrm>
          <a:prstGeom prst="rect">
            <a:avLst/>
          </a:prstGeom>
          <a:noFill/>
          <a:ln>
            <a:noFill/>
          </a:ln>
        </p:spPr>
        <p:txBody>
          <a:bodyPr spcFirstLastPara="1" wrap="square" lIns="68575" tIns="34275" rIns="68575" bIns="34275" anchor="t" anchorCtr="0">
            <a:noAutofit/>
          </a:bodyPr>
          <a:lstStyle/>
          <a:p>
            <a:pPr marL="450000" lvl="0" indent="-216999" algn="l" rtl="0">
              <a:spcBef>
                <a:spcPts val="1000"/>
              </a:spcBef>
              <a:spcAft>
                <a:spcPts val="0"/>
              </a:spcAft>
              <a:buClr>
                <a:schemeClr val="dk1"/>
              </a:buClr>
              <a:buSzPts val="2000"/>
              <a:buFont typeface="Calibri"/>
              <a:buAutoNum type="arabicPeriod"/>
            </a:pPr>
            <a:r>
              <a:rPr lang="en-GB" sz="2000" dirty="0">
                <a:solidFill>
                  <a:schemeClr val="dk1"/>
                </a:solidFill>
                <a:latin typeface="Calibri"/>
                <a:ea typeface="Calibri"/>
                <a:cs typeface="Calibri"/>
                <a:sym typeface="Calibri"/>
              </a:rPr>
              <a:t>A design should exhibit </a:t>
            </a:r>
            <a:r>
              <a:rPr lang="en-GB" sz="2000" u="sng" dirty="0">
                <a:solidFill>
                  <a:schemeClr val="dk1"/>
                </a:solidFill>
                <a:latin typeface="Calibri"/>
                <a:ea typeface="Calibri"/>
                <a:cs typeface="Calibri"/>
                <a:sym typeface="Calibri"/>
              </a:rPr>
              <a:t>an architecture</a:t>
            </a:r>
            <a:r>
              <a:rPr lang="en-GB" sz="2000" dirty="0">
                <a:solidFill>
                  <a:schemeClr val="dk1"/>
                </a:solidFill>
                <a:latin typeface="Calibri"/>
                <a:ea typeface="Calibri"/>
                <a:cs typeface="Calibri"/>
                <a:sym typeface="Calibri"/>
              </a:rPr>
              <a:t> that:</a:t>
            </a:r>
            <a:endParaRPr sz="2000" dirty="0">
              <a:solidFill>
                <a:schemeClr val="dk1"/>
              </a:solidFill>
              <a:latin typeface="Calibri"/>
              <a:ea typeface="Calibri"/>
              <a:cs typeface="Calibri"/>
              <a:sym typeface="Calibri"/>
            </a:endParaRPr>
          </a:p>
          <a:p>
            <a:pPr marL="899999" lvl="1" indent="-355599" algn="just" rtl="0">
              <a:spcBef>
                <a:spcPts val="0"/>
              </a:spcBef>
              <a:spcAft>
                <a:spcPts val="0"/>
              </a:spcAft>
              <a:buClr>
                <a:schemeClr val="dk1"/>
              </a:buClr>
              <a:buSzPts val="2000"/>
              <a:buFont typeface="Calibri"/>
              <a:buAutoNum type="alphaLcPeriod"/>
            </a:pPr>
            <a:r>
              <a:rPr lang="en-GB" sz="2000" dirty="0">
                <a:solidFill>
                  <a:schemeClr val="dk1"/>
                </a:solidFill>
                <a:latin typeface="Calibri"/>
                <a:ea typeface="Calibri"/>
                <a:cs typeface="Calibri"/>
                <a:sym typeface="Calibri"/>
              </a:rPr>
              <a:t>Is created using standard architectural patterns.</a:t>
            </a:r>
            <a:endParaRPr sz="2000" dirty="0">
              <a:solidFill>
                <a:schemeClr val="dk1"/>
              </a:solidFill>
              <a:latin typeface="Calibri"/>
              <a:ea typeface="Calibri"/>
              <a:cs typeface="Calibri"/>
              <a:sym typeface="Calibri"/>
            </a:endParaRPr>
          </a:p>
          <a:p>
            <a:pPr marL="899999" lvl="1" indent="-355599" algn="l" rtl="0">
              <a:spcBef>
                <a:spcPts val="0"/>
              </a:spcBef>
              <a:spcAft>
                <a:spcPts val="0"/>
              </a:spcAft>
              <a:buClr>
                <a:schemeClr val="dk1"/>
              </a:buClr>
              <a:buSzPts val="2000"/>
              <a:buFont typeface="Calibri"/>
              <a:buAutoNum type="alphaLcPeriod"/>
            </a:pPr>
            <a:r>
              <a:rPr lang="en-GB" sz="2000" dirty="0">
                <a:solidFill>
                  <a:schemeClr val="dk1"/>
                </a:solidFill>
                <a:latin typeface="Calibri"/>
                <a:ea typeface="Calibri"/>
                <a:cs typeface="Calibri"/>
                <a:sym typeface="Calibri"/>
              </a:rPr>
              <a:t>Is composed of components that exhibit good design characteristics.</a:t>
            </a:r>
            <a:endParaRPr sz="2000" dirty="0">
              <a:solidFill>
                <a:schemeClr val="dk1"/>
              </a:solidFill>
              <a:latin typeface="Calibri"/>
              <a:ea typeface="Calibri"/>
              <a:cs typeface="Calibri"/>
              <a:sym typeface="Calibri"/>
            </a:endParaRPr>
          </a:p>
          <a:p>
            <a:pPr marL="899999" lvl="1" indent="-355599" algn="l" rtl="0">
              <a:spcBef>
                <a:spcPts val="0"/>
              </a:spcBef>
              <a:spcAft>
                <a:spcPts val="0"/>
              </a:spcAft>
              <a:buClr>
                <a:schemeClr val="dk1"/>
              </a:buClr>
              <a:buSzPts val="2000"/>
              <a:buFont typeface="Calibri"/>
              <a:buAutoNum type="alphaLcPeriod"/>
            </a:pPr>
            <a:r>
              <a:rPr lang="en-GB" sz="2000" dirty="0">
                <a:solidFill>
                  <a:schemeClr val="dk1"/>
                </a:solidFill>
                <a:latin typeface="Calibri"/>
                <a:ea typeface="Calibri"/>
                <a:cs typeface="Calibri"/>
                <a:sym typeface="Calibri"/>
              </a:rPr>
              <a:t>Can be implemented in an evolutionary fashion</a:t>
            </a:r>
            <a:endParaRPr sz="2000" dirty="0">
              <a:solidFill>
                <a:schemeClr val="dk1"/>
              </a:solidFill>
              <a:latin typeface="Calibri"/>
              <a:ea typeface="Calibri"/>
              <a:cs typeface="Calibri"/>
              <a:sym typeface="Calibri"/>
            </a:endParaRPr>
          </a:p>
          <a:p>
            <a:pPr marL="450000" lvl="0" indent="-307000" algn="just" rtl="0">
              <a:spcBef>
                <a:spcPts val="0"/>
              </a:spcBef>
              <a:spcAft>
                <a:spcPts val="0"/>
              </a:spcAft>
              <a:buClr>
                <a:schemeClr val="dk1"/>
              </a:buClr>
              <a:buSzPts val="2000"/>
              <a:buFont typeface="Calibri"/>
              <a:buAutoNum type="arabicPeriod"/>
            </a:pPr>
            <a:endParaRPr lang="en-GB" sz="2000" dirty="0" smtClean="0">
              <a:solidFill>
                <a:schemeClr val="dk1"/>
              </a:solidFill>
              <a:latin typeface="Calibri"/>
              <a:ea typeface="Calibri"/>
              <a:cs typeface="Calibri"/>
              <a:sym typeface="Calibri"/>
            </a:endParaRPr>
          </a:p>
          <a:p>
            <a:pPr marL="450000" lvl="0" indent="-307000" algn="just" rtl="0">
              <a:spcBef>
                <a:spcPts val="0"/>
              </a:spcBef>
              <a:spcAft>
                <a:spcPts val="0"/>
              </a:spcAft>
              <a:buClr>
                <a:schemeClr val="dk1"/>
              </a:buClr>
              <a:buSzPts val="2000"/>
              <a:buFont typeface="Calibri"/>
              <a:buAutoNum type="arabicPeriod"/>
            </a:pPr>
            <a:r>
              <a:rPr lang="en-GB" sz="2000" dirty="0" smtClean="0">
                <a:solidFill>
                  <a:schemeClr val="dk1"/>
                </a:solidFill>
                <a:latin typeface="Calibri"/>
                <a:ea typeface="Calibri"/>
                <a:cs typeface="Calibri"/>
                <a:sym typeface="Calibri"/>
              </a:rPr>
              <a:t>A </a:t>
            </a:r>
            <a:r>
              <a:rPr lang="en-GB" sz="2000" dirty="0">
                <a:solidFill>
                  <a:schemeClr val="dk1"/>
                </a:solidFill>
                <a:latin typeface="Calibri"/>
                <a:ea typeface="Calibri"/>
                <a:cs typeface="Calibri"/>
                <a:sym typeface="Calibri"/>
              </a:rPr>
              <a:t>design should be modular: logically partitioned into elements or subsystems</a:t>
            </a:r>
            <a:endParaRPr sz="2000" dirty="0">
              <a:solidFill>
                <a:schemeClr val="dk1"/>
              </a:solidFill>
              <a:latin typeface="Calibri"/>
              <a:ea typeface="Calibri"/>
              <a:cs typeface="Calibri"/>
              <a:sym typeface="Calibri"/>
            </a:endParaRPr>
          </a:p>
          <a:p>
            <a:pPr marL="540000" lvl="0" indent="-355600" algn="just" rtl="0">
              <a:spcBef>
                <a:spcPts val="0"/>
              </a:spcBef>
              <a:spcAft>
                <a:spcPts val="0"/>
              </a:spcAft>
              <a:buClr>
                <a:schemeClr val="dk1"/>
              </a:buClr>
              <a:buSzPts val="2000"/>
              <a:buFont typeface="Calibri"/>
              <a:buAutoNum type="arabicPeriod"/>
            </a:pPr>
            <a:endParaRPr lang="en-GB" sz="2000" dirty="0" smtClean="0">
              <a:solidFill>
                <a:schemeClr val="dk1"/>
              </a:solidFill>
              <a:latin typeface="Calibri"/>
              <a:ea typeface="Calibri"/>
              <a:cs typeface="Calibri"/>
              <a:sym typeface="Calibri"/>
            </a:endParaRPr>
          </a:p>
          <a:p>
            <a:pPr marL="540000" lvl="0" indent="-355600" algn="just" rtl="0">
              <a:spcBef>
                <a:spcPts val="0"/>
              </a:spcBef>
              <a:spcAft>
                <a:spcPts val="0"/>
              </a:spcAft>
              <a:buClr>
                <a:schemeClr val="dk1"/>
              </a:buClr>
              <a:buSzPts val="2000"/>
              <a:buFont typeface="Calibri"/>
              <a:buAutoNum type="arabicPeriod"/>
            </a:pPr>
            <a:r>
              <a:rPr lang="en-GB" sz="2000" dirty="0" smtClean="0">
                <a:solidFill>
                  <a:schemeClr val="dk1"/>
                </a:solidFill>
                <a:latin typeface="Calibri"/>
                <a:ea typeface="Calibri"/>
                <a:cs typeface="Calibri"/>
                <a:sym typeface="Calibri"/>
              </a:rPr>
              <a:t>A </a:t>
            </a:r>
            <a:r>
              <a:rPr lang="en-GB" sz="2000" dirty="0">
                <a:solidFill>
                  <a:schemeClr val="dk1"/>
                </a:solidFill>
                <a:latin typeface="Calibri"/>
                <a:ea typeface="Calibri"/>
                <a:cs typeface="Calibri"/>
                <a:sym typeface="Calibri"/>
              </a:rPr>
              <a:t>design should contain </a:t>
            </a:r>
            <a:r>
              <a:rPr lang="en-GB" sz="2000" b="1" dirty="0">
                <a:solidFill>
                  <a:schemeClr val="dk1"/>
                </a:solidFill>
                <a:latin typeface="Calibri"/>
                <a:ea typeface="Calibri"/>
                <a:cs typeface="Calibri"/>
                <a:sym typeface="Calibri"/>
              </a:rPr>
              <a:t>distinct representations </a:t>
            </a:r>
            <a:r>
              <a:rPr lang="en-GB" sz="2000" dirty="0">
                <a:solidFill>
                  <a:schemeClr val="dk1"/>
                </a:solidFill>
                <a:latin typeface="Calibri"/>
                <a:ea typeface="Calibri"/>
                <a:cs typeface="Calibri"/>
                <a:sym typeface="Calibri"/>
              </a:rPr>
              <a:t>of data, architecture, interfaces, and components.</a:t>
            </a:r>
            <a:endParaRPr sz="2000" dirty="0">
              <a:solidFill>
                <a:schemeClr val="dk1"/>
              </a:solidFill>
              <a:latin typeface="Calibri"/>
              <a:ea typeface="Calibri"/>
              <a:cs typeface="Calibri"/>
              <a:sym typeface="Calibri"/>
            </a:endParaRPr>
          </a:p>
          <a:p>
            <a:pPr marL="540000" lvl="0" indent="-355600" algn="just" rtl="0">
              <a:spcBef>
                <a:spcPts val="0"/>
              </a:spcBef>
              <a:spcAft>
                <a:spcPts val="0"/>
              </a:spcAft>
              <a:buClr>
                <a:schemeClr val="dk1"/>
              </a:buClr>
              <a:buSzPts val="2000"/>
              <a:buFont typeface="Calibri"/>
              <a:buAutoNum type="arabicPeriod"/>
            </a:pPr>
            <a:endParaRPr lang="en-GB" sz="2000" dirty="0" smtClean="0">
              <a:solidFill>
                <a:schemeClr val="dk1"/>
              </a:solidFill>
              <a:latin typeface="Calibri"/>
              <a:ea typeface="Calibri"/>
              <a:cs typeface="Calibri"/>
              <a:sym typeface="Calibri"/>
            </a:endParaRPr>
          </a:p>
          <a:p>
            <a:pPr marL="540000" lvl="0" indent="-355600" algn="just" rtl="0">
              <a:spcBef>
                <a:spcPts val="0"/>
              </a:spcBef>
              <a:spcAft>
                <a:spcPts val="0"/>
              </a:spcAft>
              <a:buClr>
                <a:schemeClr val="dk1"/>
              </a:buClr>
              <a:buSzPts val="2000"/>
              <a:buFont typeface="Calibri"/>
              <a:buAutoNum type="arabicPeriod"/>
            </a:pPr>
            <a:r>
              <a:rPr lang="en-GB" sz="2000" dirty="0" smtClean="0">
                <a:solidFill>
                  <a:schemeClr val="dk1"/>
                </a:solidFill>
                <a:latin typeface="Calibri"/>
                <a:ea typeface="Calibri"/>
                <a:cs typeface="Calibri"/>
                <a:sym typeface="Calibri"/>
              </a:rPr>
              <a:t>A </a:t>
            </a:r>
            <a:r>
              <a:rPr lang="en-GB" sz="2000" dirty="0">
                <a:solidFill>
                  <a:schemeClr val="dk1"/>
                </a:solidFill>
                <a:latin typeface="Calibri"/>
                <a:ea typeface="Calibri"/>
                <a:cs typeface="Calibri"/>
                <a:sym typeface="Calibri"/>
              </a:rPr>
              <a:t>design should lead to </a:t>
            </a:r>
            <a:r>
              <a:rPr lang="en-GB" sz="2000" b="1" dirty="0">
                <a:solidFill>
                  <a:schemeClr val="dk1"/>
                </a:solidFill>
                <a:latin typeface="Calibri"/>
                <a:ea typeface="Calibri"/>
                <a:cs typeface="Calibri"/>
                <a:sym typeface="Calibri"/>
              </a:rPr>
              <a:t>data structures that are appropriate</a:t>
            </a:r>
            <a:r>
              <a:rPr lang="en-GB" sz="2000" dirty="0">
                <a:solidFill>
                  <a:schemeClr val="dk1"/>
                </a:solidFill>
                <a:latin typeface="Calibri"/>
                <a:ea typeface="Calibri"/>
                <a:cs typeface="Calibri"/>
                <a:sym typeface="Calibri"/>
              </a:rPr>
              <a:t> for the classes to be implemented and are drawn from recognizable data patterns. </a:t>
            </a:r>
            <a:endParaRPr sz="2000" dirty="0">
              <a:solidFill>
                <a:schemeClr val="dk1"/>
              </a:solidFill>
              <a:latin typeface="Calibri"/>
              <a:ea typeface="Calibri"/>
              <a:cs typeface="Calibri"/>
              <a:sym typeface="Calibri"/>
            </a:endParaRPr>
          </a:p>
          <a:p>
            <a:pPr marL="0" lvl="0" indent="0" algn="just" rtl="0">
              <a:spcBef>
                <a:spcPts val="0"/>
              </a:spcBef>
              <a:spcAft>
                <a:spcPts val="0"/>
              </a:spcAft>
              <a:buNone/>
            </a:pPr>
            <a:endParaRPr b="1" u="sng" dirty="0">
              <a:solidFill>
                <a:schemeClr val="dk1"/>
              </a:solidFill>
              <a:latin typeface="Calibri"/>
              <a:ea typeface="Calibri"/>
              <a:cs typeface="Calibri"/>
              <a:sym typeface="Calibri"/>
            </a:endParaRPr>
          </a:p>
        </p:txBody>
      </p:sp>
      <p:sp>
        <p:nvSpPr>
          <p:cNvPr id="116" name="Google Shape;116;p2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117" name="Google Shape;117;p2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2"/>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GB" b="1"/>
              <a:t>Quality Guidelines</a:t>
            </a:r>
            <a:endParaRPr b="1"/>
          </a:p>
        </p:txBody>
      </p:sp>
      <p:sp>
        <p:nvSpPr>
          <p:cNvPr id="123" name="Google Shape;123;p22"/>
          <p:cNvSpPr txBox="1">
            <a:spLocks noGrp="1"/>
          </p:cNvSpPr>
          <p:nvPr>
            <p:ph type="body" idx="1"/>
          </p:nvPr>
        </p:nvSpPr>
        <p:spPr>
          <a:xfrm>
            <a:off x="228275" y="675250"/>
            <a:ext cx="8575200" cy="2475300"/>
          </a:xfrm>
          <a:prstGeom prst="rect">
            <a:avLst/>
          </a:prstGeom>
          <a:noFill/>
          <a:ln>
            <a:noFill/>
          </a:ln>
        </p:spPr>
        <p:txBody>
          <a:bodyPr spcFirstLastPara="1" wrap="square" lIns="68575" tIns="34275" rIns="68575" bIns="34275" anchor="t" anchorCtr="0">
            <a:noAutofit/>
          </a:bodyPr>
          <a:lstStyle/>
          <a:p>
            <a:pPr marL="360000" lvl="0" indent="-270000" algn="just" rtl="0">
              <a:spcBef>
                <a:spcPts val="1000"/>
              </a:spcBef>
              <a:spcAft>
                <a:spcPts val="0"/>
              </a:spcAft>
              <a:buNone/>
            </a:pPr>
            <a:r>
              <a:rPr lang="en-GB" sz="2300" dirty="0">
                <a:solidFill>
                  <a:schemeClr val="dk1"/>
                </a:solidFill>
                <a:latin typeface="Calibri"/>
                <a:ea typeface="Calibri"/>
                <a:cs typeface="Calibri"/>
                <a:sym typeface="Calibri"/>
              </a:rPr>
              <a:t>5. A design should lead to components that </a:t>
            </a:r>
            <a:r>
              <a:rPr lang="en-GB" sz="2300" b="1" dirty="0">
                <a:solidFill>
                  <a:schemeClr val="dk1"/>
                </a:solidFill>
                <a:latin typeface="Calibri"/>
                <a:ea typeface="Calibri"/>
                <a:cs typeface="Calibri"/>
                <a:sym typeface="Calibri"/>
              </a:rPr>
              <a:t>exhibit independent functional characteristics.</a:t>
            </a:r>
            <a:endParaRPr sz="2300" b="1" dirty="0">
              <a:solidFill>
                <a:schemeClr val="dk1"/>
              </a:solidFill>
              <a:latin typeface="Calibri"/>
              <a:ea typeface="Calibri"/>
              <a:cs typeface="Calibri"/>
              <a:sym typeface="Calibri"/>
            </a:endParaRPr>
          </a:p>
          <a:p>
            <a:pPr marL="450000" lvl="0" indent="-360000" algn="just" rtl="0">
              <a:spcBef>
                <a:spcPts val="1000"/>
              </a:spcBef>
              <a:spcAft>
                <a:spcPts val="0"/>
              </a:spcAft>
              <a:buNone/>
            </a:pPr>
            <a:r>
              <a:rPr lang="en-GB" sz="2300" dirty="0">
                <a:solidFill>
                  <a:schemeClr val="dk1"/>
                </a:solidFill>
                <a:latin typeface="Calibri"/>
                <a:ea typeface="Calibri"/>
                <a:cs typeface="Calibri"/>
                <a:sym typeface="Calibri"/>
              </a:rPr>
              <a:t>6. A design should lead to interfaces that </a:t>
            </a:r>
            <a:r>
              <a:rPr lang="en-GB" sz="2300" b="1" dirty="0">
                <a:solidFill>
                  <a:schemeClr val="dk1"/>
                </a:solidFill>
                <a:latin typeface="Calibri"/>
                <a:ea typeface="Calibri"/>
                <a:cs typeface="Calibri"/>
                <a:sym typeface="Calibri"/>
              </a:rPr>
              <a:t>reduce the complexity</a:t>
            </a:r>
            <a:r>
              <a:rPr lang="en-GB" sz="2300" dirty="0">
                <a:solidFill>
                  <a:schemeClr val="dk1"/>
                </a:solidFill>
                <a:latin typeface="Calibri"/>
                <a:ea typeface="Calibri"/>
                <a:cs typeface="Calibri"/>
                <a:sym typeface="Calibri"/>
              </a:rPr>
              <a:t> of connections between components and with the external environment.</a:t>
            </a:r>
            <a:endParaRPr sz="2300" dirty="0">
              <a:solidFill>
                <a:schemeClr val="dk1"/>
              </a:solidFill>
              <a:latin typeface="Calibri"/>
              <a:ea typeface="Calibri"/>
              <a:cs typeface="Calibri"/>
              <a:sym typeface="Calibri"/>
            </a:endParaRPr>
          </a:p>
          <a:p>
            <a:pPr marL="450000" lvl="0" indent="-360000" algn="just" rtl="0">
              <a:spcBef>
                <a:spcPts val="1000"/>
              </a:spcBef>
              <a:spcAft>
                <a:spcPts val="0"/>
              </a:spcAft>
              <a:buNone/>
            </a:pPr>
            <a:r>
              <a:rPr lang="en-GB" sz="2300" dirty="0">
                <a:solidFill>
                  <a:schemeClr val="dk1"/>
                </a:solidFill>
                <a:latin typeface="Calibri"/>
                <a:ea typeface="Calibri"/>
                <a:cs typeface="Calibri"/>
                <a:sym typeface="Calibri"/>
              </a:rPr>
              <a:t>7. A design should be derived using a </a:t>
            </a:r>
            <a:r>
              <a:rPr lang="en-GB" sz="2300" b="1" dirty="0">
                <a:solidFill>
                  <a:schemeClr val="dk1"/>
                </a:solidFill>
                <a:latin typeface="Calibri"/>
                <a:ea typeface="Calibri"/>
                <a:cs typeface="Calibri"/>
                <a:sym typeface="Calibri"/>
              </a:rPr>
              <a:t>repeatable method</a:t>
            </a:r>
            <a:r>
              <a:rPr lang="en-GB" sz="2300" dirty="0">
                <a:solidFill>
                  <a:schemeClr val="dk1"/>
                </a:solidFill>
                <a:latin typeface="Calibri"/>
                <a:ea typeface="Calibri"/>
                <a:cs typeface="Calibri"/>
                <a:sym typeface="Calibri"/>
              </a:rPr>
              <a:t> that is driven by information obtained during software requirements analysis.</a:t>
            </a:r>
            <a:endParaRPr sz="2300" dirty="0">
              <a:solidFill>
                <a:schemeClr val="dk1"/>
              </a:solidFill>
              <a:latin typeface="Calibri"/>
              <a:ea typeface="Calibri"/>
              <a:cs typeface="Calibri"/>
              <a:sym typeface="Calibri"/>
            </a:endParaRPr>
          </a:p>
          <a:p>
            <a:pPr marL="450000" lvl="0" indent="-360000" algn="just" rtl="0">
              <a:spcBef>
                <a:spcPts val="1000"/>
              </a:spcBef>
              <a:spcAft>
                <a:spcPts val="0"/>
              </a:spcAft>
              <a:buNone/>
            </a:pPr>
            <a:r>
              <a:rPr lang="en-GB" sz="2300" dirty="0">
                <a:solidFill>
                  <a:schemeClr val="dk1"/>
                </a:solidFill>
                <a:latin typeface="Calibri"/>
                <a:ea typeface="Calibri"/>
                <a:cs typeface="Calibri"/>
                <a:sym typeface="Calibri"/>
              </a:rPr>
              <a:t>8. A design should be represented using a notation that </a:t>
            </a:r>
            <a:r>
              <a:rPr lang="en-GB" sz="2300" b="1" dirty="0">
                <a:solidFill>
                  <a:schemeClr val="dk1"/>
                </a:solidFill>
                <a:latin typeface="Calibri"/>
                <a:ea typeface="Calibri"/>
                <a:cs typeface="Calibri"/>
                <a:sym typeface="Calibri"/>
              </a:rPr>
              <a:t>effectively communicates its meaning</a:t>
            </a:r>
            <a:r>
              <a:rPr lang="en-GB" sz="2300" dirty="0">
                <a:solidFill>
                  <a:schemeClr val="dk1"/>
                </a:solidFill>
                <a:latin typeface="Calibri"/>
                <a:ea typeface="Calibri"/>
                <a:cs typeface="Calibri"/>
                <a:sym typeface="Calibri"/>
              </a:rPr>
              <a:t>.</a:t>
            </a:r>
            <a:endParaRPr sz="2300" dirty="0">
              <a:solidFill>
                <a:schemeClr val="dk1"/>
              </a:solidFill>
              <a:latin typeface="Calibri"/>
              <a:ea typeface="Calibri"/>
              <a:cs typeface="Calibri"/>
              <a:sym typeface="Calibri"/>
            </a:endParaRPr>
          </a:p>
          <a:p>
            <a:pPr marL="0" lvl="0" indent="0" algn="just" rtl="0">
              <a:spcBef>
                <a:spcPts val="0"/>
              </a:spcBef>
              <a:spcAft>
                <a:spcPts val="0"/>
              </a:spcAft>
              <a:buNone/>
            </a:pPr>
            <a:endParaRPr sz="2300" b="1" u="sng" dirty="0">
              <a:solidFill>
                <a:schemeClr val="dk1"/>
              </a:solidFill>
              <a:latin typeface="Calibri"/>
              <a:ea typeface="Calibri"/>
              <a:cs typeface="Calibri"/>
              <a:sym typeface="Calibri"/>
            </a:endParaRPr>
          </a:p>
        </p:txBody>
      </p:sp>
      <p:sp>
        <p:nvSpPr>
          <p:cNvPr id="124" name="Google Shape;124;p2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125" name="Google Shape;125;p2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10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sz="3000" b="1"/>
              <a:t>Implementation </a:t>
            </a:r>
            <a:endParaRPr sz="3000" b="1"/>
          </a:p>
        </p:txBody>
      </p:sp>
      <p:sp>
        <p:nvSpPr>
          <p:cNvPr id="131" name="Google Shape;131;p23"/>
          <p:cNvSpPr txBox="1">
            <a:spLocks noGrp="1"/>
          </p:cNvSpPr>
          <p:nvPr>
            <p:ph type="body" idx="1"/>
          </p:nvPr>
        </p:nvSpPr>
        <p:spPr>
          <a:xfrm>
            <a:off x="228275" y="675250"/>
            <a:ext cx="8575200" cy="2475300"/>
          </a:xfrm>
          <a:prstGeom prst="rect">
            <a:avLst/>
          </a:prstGeom>
          <a:noFill/>
          <a:ln>
            <a:noFill/>
          </a:ln>
        </p:spPr>
        <p:txBody>
          <a:bodyPr spcFirstLastPara="1" wrap="square" lIns="68575" tIns="34275" rIns="68575" bIns="34275" anchor="t" anchorCtr="0">
            <a:noAutofit/>
          </a:bodyPr>
          <a:lstStyle/>
          <a:p>
            <a:pPr marL="0" lvl="0" indent="0" algn="just" rtl="0">
              <a:lnSpc>
                <a:spcPct val="100000"/>
              </a:lnSpc>
              <a:spcBef>
                <a:spcPts val="0"/>
              </a:spcBef>
              <a:spcAft>
                <a:spcPts val="0"/>
              </a:spcAft>
              <a:buClr>
                <a:schemeClr val="dk1"/>
              </a:buClr>
              <a:buSzPts val="1100"/>
              <a:buFont typeface="Arial"/>
              <a:buNone/>
            </a:pPr>
            <a:r>
              <a:rPr lang="en-GB" sz="2900">
                <a:solidFill>
                  <a:schemeClr val="dk1"/>
                </a:solidFill>
                <a:latin typeface="Calibri"/>
                <a:ea typeface="Calibri"/>
                <a:cs typeface="Calibri"/>
                <a:sym typeface="Calibri"/>
              </a:rPr>
              <a:t>The implementation phase of software development is the </a:t>
            </a:r>
            <a:r>
              <a:rPr lang="en-GB" sz="2900" b="1">
                <a:solidFill>
                  <a:schemeClr val="dk1"/>
                </a:solidFill>
                <a:latin typeface="Calibri"/>
                <a:ea typeface="Calibri"/>
                <a:cs typeface="Calibri"/>
                <a:sym typeface="Calibri"/>
              </a:rPr>
              <a:t>process of converting a system specification into an executable system </a:t>
            </a:r>
            <a:r>
              <a:rPr lang="en-GB" sz="2900">
                <a:solidFill>
                  <a:schemeClr val="dk1"/>
                </a:solidFill>
                <a:latin typeface="Calibri"/>
                <a:ea typeface="Calibri"/>
                <a:cs typeface="Calibri"/>
                <a:sym typeface="Calibri"/>
              </a:rPr>
              <a:t>through the </a:t>
            </a:r>
            <a:r>
              <a:rPr lang="en-GB" sz="2900" b="1">
                <a:solidFill>
                  <a:schemeClr val="dk1"/>
                </a:solidFill>
                <a:latin typeface="Calibri"/>
                <a:ea typeface="Calibri"/>
                <a:cs typeface="Calibri"/>
                <a:sym typeface="Calibri"/>
              </a:rPr>
              <a:t>design of system</a:t>
            </a:r>
            <a:r>
              <a:rPr lang="en-GB" sz="2900">
                <a:solidFill>
                  <a:schemeClr val="dk1"/>
                </a:solidFill>
                <a:latin typeface="Calibri"/>
                <a:ea typeface="Calibri"/>
                <a:cs typeface="Calibri"/>
                <a:sym typeface="Calibri"/>
              </a:rPr>
              <a:t>. </a:t>
            </a:r>
            <a:endParaRPr sz="2900">
              <a:solidFill>
                <a:schemeClr val="dk1"/>
              </a:solidFill>
              <a:latin typeface="Calibri"/>
              <a:ea typeface="Calibri"/>
              <a:cs typeface="Calibri"/>
              <a:sym typeface="Calibri"/>
            </a:endParaRPr>
          </a:p>
          <a:p>
            <a:pPr marL="0" lvl="0" indent="0" algn="just" rtl="0">
              <a:spcBef>
                <a:spcPts val="0"/>
              </a:spcBef>
              <a:spcAft>
                <a:spcPts val="0"/>
              </a:spcAft>
              <a:buNone/>
            </a:pPr>
            <a:endParaRPr sz="2300">
              <a:solidFill>
                <a:schemeClr val="dk1"/>
              </a:solidFill>
              <a:latin typeface="Calibri"/>
              <a:ea typeface="Calibri"/>
              <a:cs typeface="Calibri"/>
              <a:sym typeface="Calibri"/>
            </a:endParaRPr>
          </a:p>
        </p:txBody>
      </p:sp>
      <p:sp>
        <p:nvSpPr>
          <p:cNvPr id="132" name="Google Shape;132;p2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133" name="Google Shape;133;p2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11</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4"/>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Processes</a:t>
            </a:r>
            <a:endParaRPr b="1"/>
          </a:p>
        </p:txBody>
      </p:sp>
      <p:sp>
        <p:nvSpPr>
          <p:cNvPr id="139" name="Google Shape;139;p24"/>
          <p:cNvSpPr txBox="1">
            <a:spLocks noGrp="1"/>
          </p:cNvSpPr>
          <p:nvPr>
            <p:ph type="body" idx="1"/>
          </p:nvPr>
        </p:nvSpPr>
        <p:spPr>
          <a:xfrm>
            <a:off x="192750" y="577525"/>
            <a:ext cx="8575200" cy="2475300"/>
          </a:xfrm>
          <a:prstGeom prst="rect">
            <a:avLst/>
          </a:prstGeom>
          <a:noFill/>
          <a:ln>
            <a:noFill/>
          </a:ln>
        </p:spPr>
        <p:txBody>
          <a:bodyPr spcFirstLastPara="1" wrap="square" lIns="68575" tIns="34275" rIns="68575" bIns="34275" anchor="t" anchorCtr="0">
            <a:noAutofit/>
          </a:bodyPr>
          <a:lstStyle/>
          <a:p>
            <a:pPr marL="0" lvl="0" indent="0" algn="just" rtl="0">
              <a:spcBef>
                <a:spcPts val="0"/>
              </a:spcBef>
              <a:spcAft>
                <a:spcPts val="0"/>
              </a:spcAft>
              <a:buNone/>
            </a:pPr>
            <a:r>
              <a:rPr lang="en-GB" sz="2300" dirty="0">
                <a:solidFill>
                  <a:schemeClr val="dk1"/>
                </a:solidFill>
                <a:latin typeface="Calibri"/>
                <a:ea typeface="Calibri"/>
                <a:cs typeface="Calibri"/>
                <a:sym typeface="Calibri"/>
              </a:rPr>
              <a:t>The </a:t>
            </a:r>
            <a:r>
              <a:rPr lang="en-GB" sz="2300" b="1" dirty="0">
                <a:solidFill>
                  <a:schemeClr val="dk1"/>
                </a:solidFill>
                <a:latin typeface="Calibri"/>
                <a:ea typeface="Calibri"/>
                <a:cs typeface="Calibri"/>
                <a:sym typeface="Calibri"/>
              </a:rPr>
              <a:t>design proce</a:t>
            </a:r>
            <a:r>
              <a:rPr lang="en-GB" sz="2300" dirty="0">
                <a:solidFill>
                  <a:schemeClr val="dk1"/>
                </a:solidFill>
                <a:latin typeface="Calibri"/>
                <a:ea typeface="Calibri"/>
                <a:cs typeface="Calibri"/>
                <a:sym typeface="Calibri"/>
              </a:rPr>
              <a:t>ss is a sequence of steps that enable the designer to </a:t>
            </a:r>
            <a:r>
              <a:rPr lang="en-GB" sz="2300" b="1" dirty="0">
                <a:solidFill>
                  <a:schemeClr val="dk1"/>
                </a:solidFill>
                <a:latin typeface="Calibri"/>
                <a:ea typeface="Calibri"/>
                <a:cs typeface="Calibri"/>
                <a:sym typeface="Calibri"/>
              </a:rPr>
              <a:t>describe all aspects of the software to be built.</a:t>
            </a:r>
            <a:endParaRPr sz="2300" b="1" dirty="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endParaRPr sz="500" b="1" dirty="0">
              <a:solidFill>
                <a:schemeClr val="dk1"/>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AutoNum type="arabicPeriod"/>
            </a:pPr>
            <a:r>
              <a:rPr lang="en-GB" sz="2200" b="1" dirty="0">
                <a:solidFill>
                  <a:schemeClr val="dk1"/>
                </a:solidFill>
                <a:latin typeface="Calibri"/>
                <a:ea typeface="Calibri"/>
                <a:cs typeface="Calibri"/>
                <a:sym typeface="Calibri"/>
              </a:rPr>
              <a:t>The design process should not suffer from “tunnel vision.”- </a:t>
            </a:r>
            <a:r>
              <a:rPr lang="en-GB" sz="2200" dirty="0">
                <a:solidFill>
                  <a:schemeClr val="dk1"/>
                </a:solidFill>
                <a:latin typeface="Calibri"/>
                <a:ea typeface="Calibri"/>
                <a:cs typeface="Calibri"/>
                <a:sym typeface="Calibri"/>
              </a:rPr>
              <a:t>A good designer should consider alternative approaches.</a:t>
            </a:r>
            <a:r>
              <a:rPr lang="en-GB" sz="2200" b="1" dirty="0">
                <a:solidFill>
                  <a:schemeClr val="dk1"/>
                </a:solidFill>
                <a:latin typeface="Calibri"/>
                <a:ea typeface="Calibri"/>
                <a:cs typeface="Calibri"/>
                <a:sym typeface="Calibri"/>
              </a:rPr>
              <a:t> </a:t>
            </a:r>
            <a:endParaRPr sz="2200" b="1" dirty="0">
              <a:solidFill>
                <a:schemeClr val="dk1"/>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AutoNum type="arabicPeriod"/>
            </a:pPr>
            <a:r>
              <a:rPr lang="en-GB" sz="2200" b="1" dirty="0">
                <a:solidFill>
                  <a:schemeClr val="dk1"/>
                </a:solidFill>
                <a:latin typeface="Calibri"/>
                <a:ea typeface="Calibri"/>
                <a:cs typeface="Calibri"/>
                <a:sym typeface="Calibri"/>
              </a:rPr>
              <a:t>The design should be traceable to the analysis model.- </a:t>
            </a:r>
            <a:r>
              <a:rPr lang="en-GB" sz="2200" dirty="0">
                <a:solidFill>
                  <a:schemeClr val="dk1"/>
                </a:solidFill>
                <a:latin typeface="Calibri"/>
                <a:ea typeface="Calibri"/>
                <a:cs typeface="Calibri"/>
                <a:sym typeface="Calibri"/>
              </a:rPr>
              <a:t>means for tracking how requirements have been satisfied by the design model.</a:t>
            </a:r>
            <a:endParaRPr sz="2200" dirty="0">
              <a:solidFill>
                <a:schemeClr val="dk1"/>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AutoNum type="arabicPeriod"/>
            </a:pPr>
            <a:r>
              <a:rPr lang="en-GB" sz="2200" b="1" dirty="0">
                <a:solidFill>
                  <a:schemeClr val="dk1"/>
                </a:solidFill>
                <a:latin typeface="Calibri"/>
                <a:ea typeface="Calibri"/>
                <a:cs typeface="Calibri"/>
                <a:sym typeface="Calibri"/>
              </a:rPr>
              <a:t>The design should not reinvent the wheel. - </a:t>
            </a:r>
            <a:r>
              <a:rPr lang="en-GB" sz="2200" dirty="0">
                <a:solidFill>
                  <a:schemeClr val="dk1"/>
                </a:solidFill>
                <a:latin typeface="Calibri"/>
                <a:ea typeface="Calibri"/>
                <a:cs typeface="Calibri"/>
                <a:sym typeface="Calibri"/>
              </a:rPr>
              <a:t>Design time should be invested in representing truly new ideas and integrating those patterns that already exist.</a:t>
            </a:r>
            <a:endParaRPr sz="2200" dirty="0">
              <a:solidFill>
                <a:schemeClr val="dk1"/>
              </a:solidFill>
              <a:latin typeface="Calibri"/>
              <a:ea typeface="Calibri"/>
              <a:cs typeface="Calibri"/>
              <a:sym typeface="Calibri"/>
            </a:endParaRPr>
          </a:p>
          <a:p>
            <a:pPr marL="457200" lvl="0" indent="-368300" algn="just" rtl="0">
              <a:spcBef>
                <a:spcPts val="0"/>
              </a:spcBef>
              <a:spcAft>
                <a:spcPts val="0"/>
              </a:spcAft>
              <a:buSzPts val="2200"/>
              <a:buFont typeface="Calibri"/>
              <a:buAutoNum type="arabicPeriod"/>
            </a:pPr>
            <a:r>
              <a:rPr lang="en-GB" sz="2200" b="1" dirty="0">
                <a:solidFill>
                  <a:schemeClr val="dk1"/>
                </a:solidFill>
                <a:latin typeface="Calibri"/>
                <a:ea typeface="Calibri"/>
                <a:cs typeface="Calibri"/>
                <a:sym typeface="Calibri"/>
              </a:rPr>
              <a:t>The design should “minimize the intellectual distance” between the software and the problem as it exists in the real world. - </a:t>
            </a:r>
            <a:r>
              <a:rPr lang="en-GB" sz="2200" dirty="0">
                <a:solidFill>
                  <a:schemeClr val="dk1"/>
                </a:solidFill>
                <a:latin typeface="Calibri"/>
                <a:ea typeface="Calibri"/>
                <a:cs typeface="Calibri"/>
                <a:sym typeface="Calibri"/>
              </a:rPr>
              <a:t>structure of the software design should be replica of structure of the problem domain.</a:t>
            </a:r>
            <a:endParaRPr sz="2200" dirty="0">
              <a:solidFill>
                <a:schemeClr val="dk1"/>
              </a:solidFill>
              <a:latin typeface="Calibri"/>
              <a:ea typeface="Calibri"/>
              <a:cs typeface="Calibri"/>
              <a:sym typeface="Calibri"/>
            </a:endParaRPr>
          </a:p>
          <a:p>
            <a:pPr marL="450000" lvl="0" indent="-360000" algn="just" rtl="0">
              <a:spcBef>
                <a:spcPts val="1000"/>
              </a:spcBef>
              <a:spcAft>
                <a:spcPts val="0"/>
              </a:spcAft>
              <a:buNone/>
            </a:pPr>
            <a:endParaRPr sz="2300" dirty="0">
              <a:solidFill>
                <a:schemeClr val="dk1"/>
              </a:solidFill>
              <a:latin typeface="Calibri"/>
              <a:ea typeface="Calibri"/>
              <a:cs typeface="Calibri"/>
              <a:sym typeface="Calibri"/>
            </a:endParaRPr>
          </a:p>
          <a:p>
            <a:pPr marL="0" lvl="0" indent="0" algn="just" rtl="0">
              <a:spcBef>
                <a:spcPts val="0"/>
              </a:spcBef>
              <a:spcAft>
                <a:spcPts val="0"/>
              </a:spcAft>
              <a:buNone/>
            </a:pPr>
            <a:endParaRPr sz="2300" b="1" u="sng" dirty="0">
              <a:solidFill>
                <a:schemeClr val="dk1"/>
              </a:solidFill>
              <a:latin typeface="Calibri"/>
              <a:ea typeface="Calibri"/>
              <a:cs typeface="Calibri"/>
              <a:sym typeface="Calibri"/>
            </a:endParaRPr>
          </a:p>
        </p:txBody>
      </p:sp>
      <p:sp>
        <p:nvSpPr>
          <p:cNvPr id="140" name="Google Shape;140;p2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141" name="Google Shape;141;p2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12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5"/>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Processes</a:t>
            </a:r>
            <a:endParaRPr b="1"/>
          </a:p>
        </p:txBody>
      </p:sp>
      <p:sp>
        <p:nvSpPr>
          <p:cNvPr id="147" name="Google Shape;147;p25"/>
          <p:cNvSpPr txBox="1">
            <a:spLocks noGrp="1"/>
          </p:cNvSpPr>
          <p:nvPr>
            <p:ph type="body" idx="1"/>
          </p:nvPr>
        </p:nvSpPr>
        <p:spPr>
          <a:xfrm>
            <a:off x="228275" y="675250"/>
            <a:ext cx="8575200" cy="2475300"/>
          </a:xfrm>
          <a:prstGeom prst="rect">
            <a:avLst/>
          </a:prstGeom>
          <a:noFill/>
          <a:ln>
            <a:noFill/>
          </a:ln>
        </p:spPr>
        <p:txBody>
          <a:bodyPr spcFirstLastPara="1" wrap="square" lIns="68575" tIns="34275" rIns="68575" bIns="34275" anchor="t" anchorCtr="0">
            <a:noAutofit/>
          </a:bodyPr>
          <a:lstStyle/>
          <a:p>
            <a:pPr marL="0" lvl="0" indent="0" algn="just" rtl="0">
              <a:spcBef>
                <a:spcPts val="1000"/>
              </a:spcBef>
              <a:spcAft>
                <a:spcPts val="0"/>
              </a:spcAft>
              <a:buClr>
                <a:schemeClr val="dk1"/>
              </a:buClr>
              <a:buSzPts val="1100"/>
              <a:buFont typeface="Arial"/>
              <a:buNone/>
            </a:pPr>
            <a:endParaRPr sz="100" dirty="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n-GB" sz="2200" b="1" dirty="0">
                <a:solidFill>
                  <a:schemeClr val="dk1"/>
                </a:solidFill>
                <a:latin typeface="Calibri"/>
                <a:ea typeface="Calibri"/>
                <a:cs typeface="Calibri"/>
                <a:sym typeface="Calibri"/>
              </a:rPr>
              <a:t>5. The design should exhibit uniformity and integration.</a:t>
            </a:r>
            <a:endParaRPr sz="2200" b="1" dirty="0">
              <a:solidFill>
                <a:schemeClr val="dk1"/>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format should be defined for a design team before design work begins.</a:t>
            </a:r>
            <a:endParaRPr sz="2200" dirty="0">
              <a:solidFill>
                <a:schemeClr val="dk1"/>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design is integrated if care is taken in defining interfaces between design components.</a:t>
            </a:r>
            <a:endParaRPr sz="2200" dirty="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n-GB" sz="2200" b="1" dirty="0">
                <a:solidFill>
                  <a:schemeClr val="dk1"/>
                </a:solidFill>
                <a:latin typeface="Calibri"/>
                <a:ea typeface="Calibri"/>
                <a:cs typeface="Calibri"/>
                <a:sym typeface="Calibri"/>
              </a:rPr>
              <a:t>6. The design should be structured to accommodate change.</a:t>
            </a:r>
            <a:endParaRPr sz="2200" b="1" dirty="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n-GB" sz="2200" b="1" dirty="0">
                <a:solidFill>
                  <a:schemeClr val="dk1"/>
                </a:solidFill>
                <a:latin typeface="Calibri"/>
                <a:ea typeface="Calibri"/>
                <a:cs typeface="Calibri"/>
                <a:sym typeface="Calibri"/>
              </a:rPr>
              <a:t>7. The design should be structured to degrade gently, even when aberrant data, events, or operating conditions are encountered. </a:t>
            </a:r>
            <a:endParaRPr sz="2200" b="1" dirty="0">
              <a:solidFill>
                <a:schemeClr val="dk1"/>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Well designed software should never “bomb.”</a:t>
            </a:r>
            <a:endParaRPr sz="2200" dirty="0">
              <a:solidFill>
                <a:schemeClr val="dk1"/>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It should be designed to accommodate unusual circumstances, and if it must terminate processing, do so in a graceful manner.</a:t>
            </a:r>
            <a:endParaRPr sz="2200" dirty="0">
              <a:solidFill>
                <a:schemeClr val="dk1"/>
              </a:solidFill>
              <a:latin typeface="Calibri"/>
              <a:ea typeface="Calibri"/>
              <a:cs typeface="Calibri"/>
              <a:sym typeface="Calibri"/>
            </a:endParaRPr>
          </a:p>
          <a:p>
            <a:pPr marL="450000" lvl="0" indent="-360000" algn="just" rtl="0">
              <a:spcBef>
                <a:spcPts val="1000"/>
              </a:spcBef>
              <a:spcAft>
                <a:spcPts val="0"/>
              </a:spcAft>
              <a:buNone/>
            </a:pPr>
            <a:endParaRPr sz="2200" dirty="0">
              <a:solidFill>
                <a:schemeClr val="dk1"/>
              </a:solidFill>
              <a:latin typeface="Calibri"/>
              <a:ea typeface="Calibri"/>
              <a:cs typeface="Calibri"/>
              <a:sym typeface="Calibri"/>
            </a:endParaRPr>
          </a:p>
          <a:p>
            <a:pPr marL="0" lvl="0" indent="0" algn="just" rtl="0">
              <a:spcBef>
                <a:spcPts val="0"/>
              </a:spcBef>
              <a:spcAft>
                <a:spcPts val="0"/>
              </a:spcAft>
              <a:buNone/>
            </a:pPr>
            <a:endParaRPr sz="2300" b="1" u="sng" dirty="0">
              <a:solidFill>
                <a:schemeClr val="dk1"/>
              </a:solidFill>
              <a:latin typeface="Calibri"/>
              <a:ea typeface="Calibri"/>
              <a:cs typeface="Calibri"/>
              <a:sym typeface="Calibri"/>
            </a:endParaRPr>
          </a:p>
        </p:txBody>
      </p:sp>
      <p:sp>
        <p:nvSpPr>
          <p:cNvPr id="148" name="Google Shape;148;p2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149" name="Google Shape;149;p2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13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6"/>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Processes</a:t>
            </a:r>
            <a:endParaRPr b="1"/>
          </a:p>
        </p:txBody>
      </p:sp>
      <p:sp>
        <p:nvSpPr>
          <p:cNvPr id="155" name="Google Shape;155;p26"/>
          <p:cNvSpPr txBox="1">
            <a:spLocks noGrp="1"/>
          </p:cNvSpPr>
          <p:nvPr>
            <p:ph type="body" idx="1"/>
          </p:nvPr>
        </p:nvSpPr>
        <p:spPr>
          <a:xfrm>
            <a:off x="228275" y="675250"/>
            <a:ext cx="8575200" cy="2475300"/>
          </a:xfrm>
          <a:prstGeom prst="rect">
            <a:avLst/>
          </a:prstGeom>
          <a:noFill/>
          <a:ln>
            <a:noFill/>
          </a:ln>
        </p:spPr>
        <p:txBody>
          <a:bodyPr spcFirstLastPara="1" wrap="square" lIns="68575" tIns="34275" rIns="68575" bIns="34275" anchor="t" anchorCtr="0">
            <a:noAutofit/>
          </a:bodyPr>
          <a:lstStyle/>
          <a:p>
            <a:pPr marL="0" lvl="0" indent="0" algn="just" rtl="0">
              <a:spcBef>
                <a:spcPts val="1000"/>
              </a:spcBef>
              <a:spcAft>
                <a:spcPts val="0"/>
              </a:spcAft>
              <a:buNone/>
            </a:pPr>
            <a:endParaRPr sz="100" dirty="0">
              <a:solidFill>
                <a:schemeClr val="dk1"/>
              </a:solidFill>
              <a:latin typeface="Calibri"/>
              <a:ea typeface="Calibri"/>
              <a:cs typeface="Calibri"/>
              <a:sym typeface="Calibri"/>
            </a:endParaRPr>
          </a:p>
          <a:p>
            <a:pPr marL="228600" lvl="0" indent="0" algn="just" rtl="0">
              <a:spcBef>
                <a:spcPts val="1000"/>
              </a:spcBef>
              <a:spcAft>
                <a:spcPts val="0"/>
              </a:spcAft>
              <a:buNone/>
            </a:pPr>
            <a:r>
              <a:rPr lang="en-GB" sz="2200" b="1" dirty="0">
                <a:solidFill>
                  <a:schemeClr val="dk1"/>
                </a:solidFill>
                <a:latin typeface="Calibri"/>
                <a:ea typeface="Calibri"/>
                <a:cs typeface="Calibri"/>
                <a:sym typeface="Calibri"/>
              </a:rPr>
              <a:t>8. Design is not coding, coding is not design.</a:t>
            </a:r>
            <a:endParaRPr sz="2200" b="1" dirty="0">
              <a:solidFill>
                <a:schemeClr val="dk1"/>
              </a:solidFill>
              <a:latin typeface="Calibri"/>
              <a:ea typeface="Calibri"/>
              <a:cs typeface="Calibri"/>
              <a:sym typeface="Calibri"/>
            </a:endParaRPr>
          </a:p>
          <a:p>
            <a:pPr marL="457200" lvl="0" indent="0" algn="just" rtl="0">
              <a:spcBef>
                <a:spcPts val="1000"/>
              </a:spcBef>
              <a:spcAft>
                <a:spcPts val="0"/>
              </a:spcAft>
              <a:buNone/>
            </a:pPr>
            <a:r>
              <a:rPr lang="en-GB" sz="2200" dirty="0">
                <a:solidFill>
                  <a:schemeClr val="dk1"/>
                </a:solidFill>
              </a:rPr>
              <a:t>-</a:t>
            </a:r>
            <a:r>
              <a:rPr lang="en-GB" sz="2200" dirty="0">
                <a:solidFill>
                  <a:schemeClr val="dk1"/>
                </a:solidFill>
                <a:latin typeface="Calibri"/>
                <a:ea typeface="Calibri"/>
                <a:cs typeface="Calibri"/>
                <a:sym typeface="Calibri"/>
              </a:rPr>
              <a:t>the level of abstraction of the design model is higher than source code.</a:t>
            </a:r>
            <a:endParaRPr sz="2200" dirty="0">
              <a:solidFill>
                <a:schemeClr val="dk1"/>
              </a:solidFill>
              <a:latin typeface="Calibri"/>
              <a:ea typeface="Calibri"/>
              <a:cs typeface="Calibri"/>
              <a:sym typeface="Calibri"/>
            </a:endParaRPr>
          </a:p>
          <a:p>
            <a:pPr marL="457200" lvl="0" indent="0" algn="just" rtl="0">
              <a:spcBef>
                <a:spcPts val="1000"/>
              </a:spcBef>
              <a:spcAft>
                <a:spcPts val="0"/>
              </a:spcAft>
              <a:buNone/>
            </a:pPr>
            <a:r>
              <a:rPr lang="en-GB" sz="2200" dirty="0">
                <a:solidFill>
                  <a:schemeClr val="dk1"/>
                </a:solidFill>
              </a:rPr>
              <a:t>-</a:t>
            </a:r>
            <a:r>
              <a:rPr lang="en-GB" sz="2200" dirty="0">
                <a:solidFill>
                  <a:schemeClr val="dk1"/>
                </a:solidFill>
                <a:latin typeface="Calibri"/>
                <a:ea typeface="Calibri"/>
                <a:cs typeface="Calibri"/>
                <a:sym typeface="Calibri"/>
              </a:rPr>
              <a:t>only design decisions made at the coding level address the small implementation details.</a:t>
            </a:r>
            <a:endParaRPr sz="2200" dirty="0">
              <a:solidFill>
                <a:schemeClr val="dk1"/>
              </a:solidFill>
            </a:endParaRPr>
          </a:p>
          <a:p>
            <a:pPr marL="228600" lvl="0" indent="0" algn="just" rtl="0">
              <a:spcBef>
                <a:spcPts val="1000"/>
              </a:spcBef>
              <a:spcAft>
                <a:spcPts val="0"/>
              </a:spcAft>
              <a:buNone/>
            </a:pPr>
            <a:r>
              <a:rPr lang="en-GB" sz="2200" b="1" dirty="0">
                <a:solidFill>
                  <a:schemeClr val="dk1"/>
                </a:solidFill>
                <a:latin typeface="Calibri"/>
                <a:ea typeface="Calibri"/>
                <a:cs typeface="Calibri"/>
                <a:sym typeface="Calibri"/>
              </a:rPr>
              <a:t>9. The design should be assessed for quality as it is being created, not after the fact.</a:t>
            </a:r>
            <a:endParaRPr sz="2200" b="1" dirty="0">
              <a:solidFill>
                <a:schemeClr val="dk1"/>
              </a:solidFill>
              <a:latin typeface="Calibri"/>
              <a:ea typeface="Calibri"/>
              <a:cs typeface="Calibri"/>
              <a:sym typeface="Calibri"/>
            </a:endParaRPr>
          </a:p>
          <a:p>
            <a:pPr marL="228600" lvl="0" indent="0" algn="just" rtl="0">
              <a:spcBef>
                <a:spcPts val="1000"/>
              </a:spcBef>
              <a:spcAft>
                <a:spcPts val="0"/>
              </a:spcAft>
              <a:buNone/>
            </a:pPr>
            <a:r>
              <a:rPr lang="en-GB" sz="2200" b="1" dirty="0">
                <a:solidFill>
                  <a:schemeClr val="dk1"/>
                </a:solidFill>
                <a:latin typeface="Calibri"/>
                <a:ea typeface="Calibri"/>
                <a:cs typeface="Calibri"/>
                <a:sym typeface="Calibri"/>
              </a:rPr>
              <a:t>10. The design should be reviewed to minimize conceptual (semantic) errors.</a:t>
            </a:r>
            <a:endParaRPr sz="2200" b="1" dirty="0">
              <a:solidFill>
                <a:schemeClr val="dk1"/>
              </a:solidFill>
              <a:latin typeface="Calibri"/>
              <a:ea typeface="Calibri"/>
              <a:cs typeface="Calibri"/>
              <a:sym typeface="Calibri"/>
            </a:endParaRPr>
          </a:p>
          <a:p>
            <a:pPr marL="0" lvl="0" indent="0" algn="just" rtl="0">
              <a:spcBef>
                <a:spcPts val="0"/>
              </a:spcBef>
              <a:spcAft>
                <a:spcPts val="0"/>
              </a:spcAft>
              <a:buNone/>
            </a:pPr>
            <a:endParaRPr sz="2200" b="1" dirty="0">
              <a:solidFill>
                <a:schemeClr val="dk1"/>
              </a:solidFill>
              <a:latin typeface="Calibri"/>
              <a:ea typeface="Calibri"/>
              <a:cs typeface="Calibri"/>
              <a:sym typeface="Calibri"/>
            </a:endParaRPr>
          </a:p>
        </p:txBody>
      </p:sp>
      <p:sp>
        <p:nvSpPr>
          <p:cNvPr id="156" name="Google Shape;156;p2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157" name="Google Shape;157;p2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14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US" dirty="0" smtClean="0"/>
              <a:t>Software engineering design is a 3-step process:</a:t>
            </a:r>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683" y="1859319"/>
            <a:ext cx="2000250" cy="1238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9922" y="1859319"/>
            <a:ext cx="2076450" cy="1847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3225" y="2145069"/>
            <a:ext cx="2857500" cy="2486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13225" y="1725482"/>
            <a:ext cx="1495425" cy="33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2284879" y="561070"/>
            <a:ext cx="2576369" cy="400110"/>
          </a:xfrm>
          <a:prstGeom prst="rect">
            <a:avLst/>
          </a:prstGeom>
        </p:spPr>
        <p:txBody>
          <a:bodyPr wrap="square">
            <a:spAutoFit/>
          </a:bodyPr>
          <a:lstStyle/>
          <a:p>
            <a:r>
              <a:rPr lang="en-GB" sz="2000" b="1" dirty="0"/>
              <a:t>Design Activities</a:t>
            </a:r>
            <a:endParaRPr lang="en-IN" sz="2000" dirty="0"/>
          </a:p>
        </p:txBody>
      </p:sp>
    </p:spTree>
    <p:extLst>
      <p:ext uri="{BB962C8B-B14F-4D97-AF65-F5344CB8AC3E}">
        <p14:creationId xmlns:p14="http://schemas.microsoft.com/office/powerpoint/2010/main" val="263193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barn(inVertical)">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075"/>
                                        </p:tgtEl>
                                        <p:attrNameLst>
                                          <p:attrName>style.visibility</p:attrName>
                                        </p:attrNameLst>
                                      </p:cBhvr>
                                      <p:to>
                                        <p:strVal val="visible"/>
                                      </p:to>
                                    </p:set>
                                    <p:animEffect transition="in" filter="wipe(down)">
                                      <p:cBhvr>
                                        <p:cTn id="12" dur="500"/>
                                        <p:tgtEl>
                                          <p:spTgt spid="307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076"/>
                                        </p:tgtEl>
                                        <p:attrNameLst>
                                          <p:attrName>style.visibility</p:attrName>
                                        </p:attrNameLst>
                                      </p:cBhvr>
                                      <p:to>
                                        <p:strVal val="visible"/>
                                      </p:to>
                                    </p:set>
                                    <p:animEffect transition="in" filter="barn(inVertical)">
                                      <p:cBhvr>
                                        <p:cTn id="17"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9"/>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Activities</a:t>
            </a:r>
            <a:endParaRPr b="1"/>
          </a:p>
        </p:txBody>
      </p:sp>
      <p:sp>
        <p:nvSpPr>
          <p:cNvPr id="179" name="Google Shape;179;p29"/>
          <p:cNvSpPr txBox="1">
            <a:spLocks noGrp="1"/>
          </p:cNvSpPr>
          <p:nvPr>
            <p:ph type="body" idx="1"/>
          </p:nvPr>
        </p:nvSpPr>
        <p:spPr>
          <a:xfrm>
            <a:off x="228275" y="577550"/>
            <a:ext cx="8575200" cy="2475300"/>
          </a:xfrm>
          <a:prstGeom prst="rect">
            <a:avLst/>
          </a:prstGeom>
          <a:noFill/>
          <a:ln>
            <a:noFill/>
          </a:ln>
        </p:spPr>
        <p:txBody>
          <a:bodyPr spcFirstLastPara="1" wrap="square" lIns="68575" tIns="34275" rIns="68575" bIns="34275" anchor="t" anchorCtr="0">
            <a:noAutofit/>
          </a:bodyPr>
          <a:lstStyle/>
          <a:p>
            <a:pPr marL="0" lvl="0" indent="0" algn="just" rtl="0">
              <a:spcBef>
                <a:spcPts val="0"/>
              </a:spcBef>
              <a:spcAft>
                <a:spcPts val="0"/>
              </a:spcAft>
              <a:buNone/>
            </a:pPr>
            <a:r>
              <a:rPr lang="en-GB" sz="2500" b="1" dirty="0">
                <a:solidFill>
                  <a:srgbClr val="0070C0"/>
                </a:solidFill>
                <a:latin typeface="Calibri"/>
                <a:ea typeface="Calibri"/>
                <a:cs typeface="Calibri"/>
                <a:sym typeface="Calibri"/>
              </a:rPr>
              <a:t>1</a:t>
            </a:r>
            <a:r>
              <a:rPr lang="en-GB" sz="2500" b="1" dirty="0" smtClean="0">
                <a:solidFill>
                  <a:srgbClr val="0070C0"/>
                </a:solidFill>
                <a:latin typeface="Calibri"/>
                <a:ea typeface="Calibri"/>
                <a:cs typeface="Calibri"/>
                <a:sym typeface="Calibri"/>
              </a:rPr>
              <a:t>. </a:t>
            </a:r>
            <a:r>
              <a:rPr lang="en-GB" sz="2500" b="1" dirty="0">
                <a:solidFill>
                  <a:srgbClr val="0070C0"/>
                </a:solidFill>
                <a:latin typeface="Calibri"/>
                <a:ea typeface="Calibri"/>
                <a:cs typeface="Calibri"/>
                <a:sym typeface="Calibri"/>
              </a:rPr>
              <a:t>Interface Design</a:t>
            </a:r>
            <a:endParaRPr sz="2500" b="1" dirty="0">
              <a:solidFill>
                <a:srgbClr val="0070C0"/>
              </a:solidFill>
              <a:latin typeface="Calibri"/>
              <a:ea typeface="Calibri"/>
              <a:cs typeface="Calibri"/>
              <a:sym typeface="Calibri"/>
            </a:endParaRPr>
          </a:p>
          <a:p>
            <a:pPr marL="457200" lvl="0" indent="-374650" algn="l" rtl="0">
              <a:lnSpc>
                <a:spcPct val="100000"/>
              </a:lnSpc>
              <a:spcBef>
                <a:spcPts val="0"/>
              </a:spcBef>
              <a:spcAft>
                <a:spcPts val="0"/>
              </a:spcAft>
              <a:buClr>
                <a:schemeClr val="dk1"/>
              </a:buClr>
              <a:buSzPts val="2300"/>
              <a:buFont typeface="Calibri"/>
              <a:buChar char="●"/>
            </a:pPr>
            <a:r>
              <a:rPr lang="en-GB" sz="2300" dirty="0">
                <a:solidFill>
                  <a:schemeClr val="dk1"/>
                </a:solidFill>
                <a:latin typeface="Calibri"/>
                <a:ea typeface="Calibri"/>
                <a:cs typeface="Calibri"/>
                <a:sym typeface="Calibri"/>
              </a:rPr>
              <a:t>Analogous to a set of detailed drawings.</a:t>
            </a:r>
            <a:endParaRPr sz="2300" dirty="0">
              <a:solidFill>
                <a:schemeClr val="dk1"/>
              </a:solidFill>
              <a:latin typeface="Calibri"/>
              <a:ea typeface="Calibri"/>
              <a:cs typeface="Calibri"/>
              <a:sym typeface="Calibri"/>
            </a:endParaRPr>
          </a:p>
          <a:p>
            <a:pPr marL="457200" lvl="0" indent="-374650" algn="l" rtl="0">
              <a:lnSpc>
                <a:spcPct val="100000"/>
              </a:lnSpc>
              <a:spcBef>
                <a:spcPts val="0"/>
              </a:spcBef>
              <a:spcAft>
                <a:spcPts val="0"/>
              </a:spcAft>
              <a:buClr>
                <a:schemeClr val="dk1"/>
              </a:buClr>
              <a:buSzPts val="2300"/>
              <a:buFont typeface="Calibri"/>
              <a:buChar char="●"/>
            </a:pPr>
            <a:r>
              <a:rPr lang="en-GB" sz="2300" dirty="0">
                <a:solidFill>
                  <a:schemeClr val="dk1"/>
                </a:solidFill>
                <a:latin typeface="Calibri"/>
                <a:ea typeface="Calibri"/>
                <a:cs typeface="Calibri"/>
                <a:sym typeface="Calibri"/>
              </a:rPr>
              <a:t>Specifications of software</a:t>
            </a:r>
            <a:endParaRPr sz="2300" dirty="0">
              <a:solidFill>
                <a:schemeClr val="dk1"/>
              </a:solidFill>
              <a:latin typeface="Calibri"/>
              <a:ea typeface="Calibri"/>
              <a:cs typeface="Calibri"/>
              <a:sym typeface="Calibri"/>
            </a:endParaRPr>
          </a:p>
          <a:p>
            <a:pPr marL="457200" lvl="0" indent="-374650" algn="just" rtl="0">
              <a:lnSpc>
                <a:spcPct val="100000"/>
              </a:lnSpc>
              <a:spcBef>
                <a:spcPts val="0"/>
              </a:spcBef>
              <a:spcAft>
                <a:spcPts val="0"/>
              </a:spcAft>
              <a:buClr>
                <a:schemeClr val="dk1"/>
              </a:buClr>
              <a:buSzPts val="2300"/>
              <a:buFont typeface="Calibri"/>
              <a:buChar char="●"/>
            </a:pPr>
            <a:r>
              <a:rPr lang="en-GB" sz="2300" dirty="0">
                <a:solidFill>
                  <a:schemeClr val="dk1"/>
                </a:solidFill>
                <a:latin typeface="Calibri"/>
                <a:ea typeface="Calibri"/>
                <a:cs typeface="Calibri"/>
                <a:sym typeface="Calibri"/>
              </a:rPr>
              <a:t>The interface design elements for software depict </a:t>
            </a:r>
            <a:r>
              <a:rPr lang="en-GB" sz="2300" b="1" dirty="0">
                <a:solidFill>
                  <a:schemeClr val="dk1"/>
                </a:solidFill>
                <a:latin typeface="Calibri"/>
                <a:ea typeface="Calibri"/>
                <a:cs typeface="Calibri"/>
                <a:sym typeface="Calibri"/>
              </a:rPr>
              <a:t>information flows into and out of the system </a:t>
            </a:r>
            <a:r>
              <a:rPr lang="en-GB" sz="2300" dirty="0">
                <a:solidFill>
                  <a:schemeClr val="dk1"/>
                </a:solidFill>
                <a:latin typeface="Calibri"/>
                <a:ea typeface="Calibri"/>
                <a:cs typeface="Calibri"/>
                <a:sym typeface="Calibri"/>
              </a:rPr>
              <a:t>and how it is communicated among the components defined as part of the architecture.</a:t>
            </a:r>
            <a:endParaRPr sz="2300" dirty="0">
              <a:solidFill>
                <a:schemeClr val="dk1"/>
              </a:solidFill>
              <a:latin typeface="Calibri"/>
              <a:ea typeface="Calibri"/>
              <a:cs typeface="Calibri"/>
              <a:sym typeface="Calibri"/>
            </a:endParaRPr>
          </a:p>
          <a:p>
            <a:pPr marL="0" lvl="0" indent="0" algn="just" rtl="0">
              <a:lnSpc>
                <a:spcPct val="100000"/>
              </a:lnSpc>
              <a:spcBef>
                <a:spcPts val="800"/>
              </a:spcBef>
              <a:spcAft>
                <a:spcPts val="0"/>
              </a:spcAft>
              <a:buNone/>
            </a:pPr>
            <a:endParaRPr sz="2400" dirty="0">
              <a:solidFill>
                <a:schemeClr val="dk1"/>
              </a:solidFill>
              <a:latin typeface="Calibri"/>
              <a:ea typeface="Calibri"/>
              <a:cs typeface="Calibri"/>
              <a:sym typeface="Calibri"/>
            </a:endParaRPr>
          </a:p>
          <a:p>
            <a:pPr marL="0" lvl="0" indent="0" algn="just" rtl="0">
              <a:lnSpc>
                <a:spcPct val="100000"/>
              </a:lnSpc>
              <a:spcBef>
                <a:spcPts val="0"/>
              </a:spcBef>
              <a:spcAft>
                <a:spcPts val="0"/>
              </a:spcAft>
              <a:buNone/>
            </a:pPr>
            <a:r>
              <a:rPr lang="en-GB" sz="2400" b="1" dirty="0">
                <a:solidFill>
                  <a:srgbClr val="0070C0"/>
                </a:solidFill>
                <a:latin typeface="Calibri"/>
                <a:ea typeface="Calibri"/>
                <a:cs typeface="Calibri"/>
                <a:sym typeface="Calibri"/>
              </a:rPr>
              <a:t>Important elements of interface design:</a:t>
            </a:r>
            <a:endParaRPr sz="2400" b="1" dirty="0">
              <a:solidFill>
                <a:srgbClr val="0070C0"/>
              </a:solidFill>
              <a:latin typeface="Calibri"/>
              <a:ea typeface="Calibri"/>
              <a:cs typeface="Calibri"/>
              <a:sym typeface="Calibri"/>
            </a:endParaRPr>
          </a:p>
          <a:p>
            <a:pPr marL="457200" lvl="0" indent="-381000" algn="l" rtl="0">
              <a:lnSpc>
                <a:spcPct val="100000"/>
              </a:lnSpc>
              <a:spcBef>
                <a:spcPts val="800"/>
              </a:spcBef>
              <a:spcAft>
                <a:spcPts val="0"/>
              </a:spcAft>
              <a:buClr>
                <a:schemeClr val="dk1"/>
              </a:buClr>
              <a:buSzPts val="2400"/>
              <a:buFont typeface="Calibri"/>
              <a:buAutoNum type="arabicPeriod"/>
            </a:pPr>
            <a:r>
              <a:rPr lang="en-GB" sz="2400" b="1" dirty="0">
                <a:solidFill>
                  <a:schemeClr val="dk1"/>
                </a:solidFill>
                <a:latin typeface="Calibri"/>
                <a:ea typeface="Calibri"/>
                <a:cs typeface="Calibri"/>
                <a:sym typeface="Calibri"/>
              </a:rPr>
              <a:t>User Interface (UI)</a:t>
            </a:r>
            <a:endParaRPr sz="2400" b="1" dirty="0">
              <a:solidFill>
                <a:schemeClr val="dk1"/>
              </a:solidFill>
              <a:latin typeface="Calibri"/>
              <a:ea typeface="Calibri"/>
              <a:cs typeface="Calibri"/>
              <a:sym typeface="Calibri"/>
            </a:endParaRPr>
          </a:p>
          <a:p>
            <a:pPr marL="457200" lvl="0" indent="-381000" algn="l" rtl="0">
              <a:lnSpc>
                <a:spcPct val="100000"/>
              </a:lnSpc>
              <a:spcBef>
                <a:spcPts val="0"/>
              </a:spcBef>
              <a:spcAft>
                <a:spcPts val="0"/>
              </a:spcAft>
              <a:buClr>
                <a:schemeClr val="dk1"/>
              </a:buClr>
              <a:buSzPts val="2400"/>
              <a:buFont typeface="Calibri"/>
              <a:buAutoNum type="arabicPeriod"/>
            </a:pPr>
            <a:r>
              <a:rPr lang="en-GB" sz="2400" b="1" dirty="0">
                <a:solidFill>
                  <a:schemeClr val="dk1"/>
                </a:solidFill>
                <a:latin typeface="Calibri"/>
                <a:ea typeface="Calibri"/>
                <a:cs typeface="Calibri"/>
                <a:sym typeface="Calibri"/>
              </a:rPr>
              <a:t>External interface</a:t>
            </a:r>
            <a:endParaRPr sz="2400" b="1" dirty="0">
              <a:solidFill>
                <a:schemeClr val="dk1"/>
              </a:solidFill>
              <a:latin typeface="Calibri"/>
              <a:ea typeface="Calibri"/>
              <a:cs typeface="Calibri"/>
              <a:sym typeface="Calibri"/>
            </a:endParaRPr>
          </a:p>
          <a:p>
            <a:pPr marL="457200" lvl="0" indent="-381000" algn="l" rtl="0">
              <a:lnSpc>
                <a:spcPct val="100000"/>
              </a:lnSpc>
              <a:spcBef>
                <a:spcPts val="0"/>
              </a:spcBef>
              <a:spcAft>
                <a:spcPts val="0"/>
              </a:spcAft>
              <a:buClr>
                <a:schemeClr val="dk1"/>
              </a:buClr>
              <a:buSzPts val="2400"/>
              <a:buFont typeface="Calibri"/>
              <a:buAutoNum type="arabicPeriod"/>
            </a:pPr>
            <a:r>
              <a:rPr lang="en-GB" sz="2400" b="1" dirty="0">
                <a:solidFill>
                  <a:schemeClr val="dk1"/>
                </a:solidFill>
                <a:latin typeface="Calibri"/>
                <a:ea typeface="Calibri"/>
                <a:cs typeface="Calibri"/>
                <a:sym typeface="Calibri"/>
              </a:rPr>
              <a:t>Internal interface </a:t>
            </a:r>
            <a:endParaRPr sz="2400" b="1" dirty="0">
              <a:solidFill>
                <a:schemeClr val="dk1"/>
              </a:solidFill>
              <a:latin typeface="Calibri"/>
              <a:ea typeface="Calibri"/>
              <a:cs typeface="Calibri"/>
              <a:sym typeface="Calibri"/>
            </a:endParaRPr>
          </a:p>
        </p:txBody>
      </p:sp>
      <p:sp>
        <p:nvSpPr>
          <p:cNvPr id="180" name="Google Shape;180;p2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181" name="Google Shape;181;p2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16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8"/>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dirty="0"/>
              <a:t>Design Activities</a:t>
            </a:r>
            <a:endParaRPr b="1" dirty="0"/>
          </a:p>
        </p:txBody>
      </p:sp>
      <p:sp>
        <p:nvSpPr>
          <p:cNvPr id="171" name="Google Shape;171;p28"/>
          <p:cNvSpPr txBox="1">
            <a:spLocks noGrp="1"/>
          </p:cNvSpPr>
          <p:nvPr>
            <p:ph type="body" idx="1"/>
          </p:nvPr>
        </p:nvSpPr>
        <p:spPr>
          <a:xfrm>
            <a:off x="228275" y="577550"/>
            <a:ext cx="8575200" cy="2475300"/>
          </a:xfrm>
          <a:prstGeom prst="rect">
            <a:avLst/>
          </a:prstGeom>
          <a:noFill/>
          <a:ln>
            <a:noFill/>
          </a:ln>
        </p:spPr>
        <p:txBody>
          <a:bodyPr spcFirstLastPara="1" wrap="square" lIns="68575" tIns="34275" rIns="68575" bIns="34275" anchor="t" anchorCtr="0">
            <a:noAutofit/>
          </a:bodyPr>
          <a:lstStyle/>
          <a:p>
            <a:pPr marL="69850" lvl="0" indent="0" algn="just" rtl="0">
              <a:spcBef>
                <a:spcPts val="0"/>
              </a:spcBef>
              <a:spcAft>
                <a:spcPts val="0"/>
              </a:spcAft>
              <a:buClr>
                <a:srgbClr val="0070C0"/>
              </a:buClr>
              <a:buSzPts val="2500"/>
              <a:buNone/>
            </a:pPr>
            <a:r>
              <a:rPr lang="en-GB" sz="2500" b="1" dirty="0" smtClean="0">
                <a:solidFill>
                  <a:srgbClr val="0070C0"/>
                </a:solidFill>
                <a:latin typeface="Calibri"/>
                <a:ea typeface="Calibri"/>
                <a:cs typeface="Calibri"/>
                <a:sym typeface="Calibri"/>
              </a:rPr>
              <a:t>2. Architectural </a:t>
            </a:r>
            <a:r>
              <a:rPr lang="en-GB" sz="2500" b="1" dirty="0">
                <a:solidFill>
                  <a:srgbClr val="0070C0"/>
                </a:solidFill>
                <a:latin typeface="Calibri"/>
                <a:ea typeface="Calibri"/>
                <a:cs typeface="Calibri"/>
                <a:sym typeface="Calibri"/>
              </a:rPr>
              <a:t>Design</a:t>
            </a:r>
            <a:endParaRPr sz="2500" b="1" dirty="0">
              <a:solidFill>
                <a:srgbClr val="0070C0"/>
              </a:solidFill>
              <a:latin typeface="Calibri"/>
              <a:ea typeface="Calibri"/>
              <a:cs typeface="Calibri"/>
              <a:sym typeface="Calibri"/>
            </a:endParaRPr>
          </a:p>
          <a:p>
            <a:pPr marL="457200" lvl="0" indent="-381000" algn="just" rtl="0">
              <a:lnSpc>
                <a:spcPct val="100000"/>
              </a:lnSpc>
              <a:spcBef>
                <a:spcPts val="0"/>
              </a:spcBef>
              <a:spcAft>
                <a:spcPts val="0"/>
              </a:spcAft>
              <a:buSzPts val="2400"/>
              <a:buFont typeface="Calibri"/>
              <a:buChar char="●"/>
            </a:pPr>
            <a:r>
              <a:rPr lang="en-GB" sz="2400" dirty="0">
                <a:solidFill>
                  <a:schemeClr val="dk1"/>
                </a:solidFill>
                <a:latin typeface="Calibri"/>
                <a:ea typeface="Calibri"/>
                <a:cs typeface="Calibri"/>
                <a:sym typeface="Calibri"/>
              </a:rPr>
              <a:t>The architectural design for software is the equivalent to the floor plan(overview) of a house.</a:t>
            </a:r>
            <a:endParaRPr sz="2400" dirty="0">
              <a:solidFill>
                <a:schemeClr val="dk1"/>
              </a:solidFill>
              <a:latin typeface="Calibri"/>
              <a:ea typeface="Calibri"/>
              <a:cs typeface="Calibri"/>
              <a:sym typeface="Calibri"/>
            </a:endParaRPr>
          </a:p>
          <a:p>
            <a:pPr marL="457200" lvl="0" indent="-381000" algn="just" rtl="0">
              <a:lnSpc>
                <a:spcPct val="100000"/>
              </a:lnSpc>
              <a:spcBef>
                <a:spcPts val="0"/>
              </a:spcBef>
              <a:spcAft>
                <a:spcPts val="0"/>
              </a:spcAft>
              <a:buSzPts val="2400"/>
              <a:buFont typeface="Calibri"/>
              <a:buChar char="●"/>
            </a:pPr>
            <a:r>
              <a:rPr lang="en-GB" sz="2400" dirty="0">
                <a:solidFill>
                  <a:schemeClr val="dk1"/>
                </a:solidFill>
                <a:latin typeface="Calibri"/>
                <a:ea typeface="Calibri"/>
                <a:cs typeface="Calibri"/>
                <a:sym typeface="Calibri"/>
              </a:rPr>
              <a:t>Architectural design elements give us an   overall view of the software.</a:t>
            </a:r>
            <a:endParaRPr sz="2400" dirty="0">
              <a:solidFill>
                <a:schemeClr val="dk1"/>
              </a:solidFill>
              <a:latin typeface="Calibri"/>
              <a:ea typeface="Calibri"/>
              <a:cs typeface="Calibri"/>
              <a:sym typeface="Calibri"/>
            </a:endParaRPr>
          </a:p>
          <a:p>
            <a:pPr marL="0" lvl="0" indent="0" algn="just" rtl="0">
              <a:lnSpc>
                <a:spcPct val="100000"/>
              </a:lnSpc>
              <a:spcBef>
                <a:spcPts val="0"/>
              </a:spcBef>
              <a:spcAft>
                <a:spcPts val="0"/>
              </a:spcAft>
              <a:buNone/>
            </a:pPr>
            <a:r>
              <a:rPr lang="en-GB" sz="2400" b="1" dirty="0">
                <a:solidFill>
                  <a:srgbClr val="0070C0"/>
                </a:solidFill>
                <a:latin typeface="Calibri"/>
                <a:ea typeface="Calibri"/>
                <a:cs typeface="Calibri"/>
                <a:sym typeface="Calibri"/>
              </a:rPr>
              <a:t>Architectural model is derived from three sources:</a:t>
            </a:r>
            <a:endParaRPr sz="2400" b="1" dirty="0">
              <a:solidFill>
                <a:srgbClr val="0070C0"/>
              </a:solidFill>
              <a:latin typeface="Calibri"/>
              <a:ea typeface="Calibri"/>
              <a:cs typeface="Calibri"/>
              <a:sym typeface="Calibri"/>
            </a:endParaRPr>
          </a:p>
          <a:p>
            <a:pPr marL="457200" lvl="0" indent="-381000" algn="l" rtl="0">
              <a:lnSpc>
                <a:spcPct val="100000"/>
              </a:lnSpc>
              <a:spcBef>
                <a:spcPts val="800"/>
              </a:spcBef>
              <a:spcAft>
                <a:spcPts val="0"/>
              </a:spcAft>
              <a:buClr>
                <a:schemeClr val="dk1"/>
              </a:buClr>
              <a:buSzPts val="2400"/>
              <a:buFont typeface="Calibri"/>
              <a:buAutoNum type="arabicPeriod"/>
            </a:pPr>
            <a:r>
              <a:rPr lang="en-GB" sz="2400" b="1" dirty="0">
                <a:solidFill>
                  <a:schemeClr val="dk1"/>
                </a:solidFill>
                <a:latin typeface="Calibri"/>
                <a:ea typeface="Calibri"/>
                <a:cs typeface="Calibri"/>
                <a:sym typeface="Calibri"/>
              </a:rPr>
              <a:t>Information about the application </a:t>
            </a:r>
            <a:r>
              <a:rPr lang="en-GB" sz="2400" dirty="0">
                <a:solidFill>
                  <a:schemeClr val="dk1"/>
                </a:solidFill>
                <a:latin typeface="Calibri"/>
                <a:ea typeface="Calibri"/>
                <a:cs typeface="Calibri"/>
                <a:sym typeface="Calibri"/>
              </a:rPr>
              <a:t>domain for the software to be built</a:t>
            </a:r>
            <a:endParaRPr sz="2400" dirty="0">
              <a:solidFill>
                <a:schemeClr val="dk1"/>
              </a:solidFill>
              <a:latin typeface="Calibri"/>
              <a:ea typeface="Calibri"/>
              <a:cs typeface="Calibri"/>
              <a:sym typeface="Calibri"/>
            </a:endParaRPr>
          </a:p>
          <a:p>
            <a:pPr marL="457200" lvl="0" indent="-381000" algn="l" rtl="0">
              <a:lnSpc>
                <a:spcPct val="100000"/>
              </a:lnSpc>
              <a:spcBef>
                <a:spcPts val="0"/>
              </a:spcBef>
              <a:spcAft>
                <a:spcPts val="0"/>
              </a:spcAft>
              <a:buClr>
                <a:schemeClr val="dk1"/>
              </a:buClr>
              <a:buSzPts val="2400"/>
              <a:buFont typeface="Calibri"/>
              <a:buAutoNum type="arabicPeriod"/>
            </a:pPr>
            <a:r>
              <a:rPr lang="en-GB" sz="2400" b="1" dirty="0">
                <a:solidFill>
                  <a:schemeClr val="dk1"/>
                </a:solidFill>
                <a:latin typeface="Calibri"/>
                <a:ea typeface="Calibri"/>
                <a:cs typeface="Calibri"/>
                <a:sym typeface="Calibri"/>
              </a:rPr>
              <a:t>specific requirements</a:t>
            </a:r>
            <a:endParaRPr sz="2400" b="1" dirty="0">
              <a:solidFill>
                <a:schemeClr val="dk1"/>
              </a:solidFill>
              <a:latin typeface="Calibri"/>
              <a:ea typeface="Calibri"/>
              <a:cs typeface="Calibri"/>
              <a:sym typeface="Calibri"/>
            </a:endParaRPr>
          </a:p>
          <a:p>
            <a:pPr marL="457200" lvl="0" indent="-381000" algn="l" rtl="0">
              <a:lnSpc>
                <a:spcPct val="100000"/>
              </a:lnSpc>
              <a:spcBef>
                <a:spcPts val="0"/>
              </a:spcBef>
              <a:spcAft>
                <a:spcPts val="0"/>
              </a:spcAft>
              <a:buClr>
                <a:schemeClr val="dk1"/>
              </a:buClr>
              <a:buSzPts val="2400"/>
              <a:buFont typeface="Calibri"/>
              <a:buAutoNum type="arabicPeriod"/>
            </a:pPr>
            <a:r>
              <a:rPr lang="en-GB" sz="2400" dirty="0">
                <a:solidFill>
                  <a:schemeClr val="dk1"/>
                </a:solidFill>
                <a:latin typeface="Calibri"/>
                <a:ea typeface="Calibri"/>
                <a:cs typeface="Calibri"/>
                <a:sym typeface="Calibri"/>
              </a:rPr>
              <a:t>The availability of architectural </a:t>
            </a:r>
            <a:r>
              <a:rPr lang="en-GB" sz="2400" b="1" dirty="0">
                <a:solidFill>
                  <a:schemeClr val="dk1"/>
                </a:solidFill>
                <a:latin typeface="Calibri"/>
                <a:ea typeface="Calibri"/>
                <a:cs typeface="Calibri"/>
                <a:sym typeface="Calibri"/>
              </a:rPr>
              <a:t>Styles and patterns</a:t>
            </a:r>
            <a:endParaRPr sz="2400" b="1" dirty="0">
              <a:solidFill>
                <a:schemeClr val="dk1"/>
              </a:solidFill>
              <a:latin typeface="Calibri"/>
              <a:ea typeface="Calibri"/>
              <a:cs typeface="Calibri"/>
              <a:sym typeface="Calibri"/>
            </a:endParaRPr>
          </a:p>
          <a:p>
            <a:pPr marL="457200" lvl="0" indent="0" algn="just" rtl="0">
              <a:spcBef>
                <a:spcPts val="0"/>
              </a:spcBef>
              <a:spcAft>
                <a:spcPts val="0"/>
              </a:spcAft>
              <a:buNone/>
            </a:pPr>
            <a:endParaRPr sz="2400" dirty="0">
              <a:solidFill>
                <a:srgbClr val="0070C0"/>
              </a:solidFill>
              <a:latin typeface="Calibri"/>
              <a:ea typeface="Calibri"/>
              <a:cs typeface="Calibri"/>
              <a:sym typeface="Calibri"/>
            </a:endParaRPr>
          </a:p>
        </p:txBody>
      </p:sp>
      <p:sp>
        <p:nvSpPr>
          <p:cNvPr id="172" name="Google Shape;172;p2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173" name="Google Shape;173;p2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17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0"/>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Activities</a:t>
            </a:r>
            <a:endParaRPr b="1"/>
          </a:p>
        </p:txBody>
      </p:sp>
      <p:sp>
        <p:nvSpPr>
          <p:cNvPr id="187" name="Google Shape;187;p30"/>
          <p:cNvSpPr txBox="1">
            <a:spLocks noGrp="1"/>
          </p:cNvSpPr>
          <p:nvPr>
            <p:ph type="body" idx="1"/>
          </p:nvPr>
        </p:nvSpPr>
        <p:spPr>
          <a:xfrm>
            <a:off x="228275" y="577550"/>
            <a:ext cx="8575200" cy="2475300"/>
          </a:xfrm>
          <a:prstGeom prst="rect">
            <a:avLst/>
          </a:prstGeom>
          <a:noFill/>
          <a:ln>
            <a:noFill/>
          </a:ln>
        </p:spPr>
        <p:txBody>
          <a:bodyPr spcFirstLastPara="1" wrap="square" lIns="68575" tIns="34275" rIns="68575" bIns="34275" anchor="t" anchorCtr="0">
            <a:noAutofit/>
          </a:bodyPr>
          <a:lstStyle/>
          <a:p>
            <a:pPr marL="0" lvl="0" indent="0" algn="just" rtl="0">
              <a:spcBef>
                <a:spcPts val="0"/>
              </a:spcBef>
              <a:spcAft>
                <a:spcPts val="0"/>
              </a:spcAft>
              <a:buNone/>
            </a:pPr>
            <a:r>
              <a:rPr lang="en-GB" sz="2500" b="1" dirty="0">
                <a:solidFill>
                  <a:srgbClr val="0070C0"/>
                </a:solidFill>
                <a:latin typeface="Calibri"/>
                <a:ea typeface="Calibri"/>
                <a:cs typeface="Calibri"/>
                <a:sym typeface="Calibri"/>
              </a:rPr>
              <a:t>3.  Component </a:t>
            </a:r>
            <a:r>
              <a:rPr lang="en-GB" sz="2500" b="1" dirty="0" smtClean="0">
                <a:solidFill>
                  <a:srgbClr val="0070C0"/>
                </a:solidFill>
                <a:latin typeface="Calibri"/>
                <a:ea typeface="Calibri"/>
                <a:cs typeface="Calibri"/>
                <a:sym typeface="Calibri"/>
              </a:rPr>
              <a:t>Level/detailed  </a:t>
            </a:r>
            <a:r>
              <a:rPr lang="en-GB" sz="2500" b="1" dirty="0">
                <a:solidFill>
                  <a:srgbClr val="0070C0"/>
                </a:solidFill>
                <a:latin typeface="Calibri"/>
                <a:ea typeface="Calibri"/>
                <a:cs typeface="Calibri"/>
                <a:sym typeface="Calibri"/>
              </a:rPr>
              <a:t>Design</a:t>
            </a:r>
            <a:endParaRPr sz="2500" b="1" dirty="0">
              <a:solidFill>
                <a:srgbClr val="0070C0"/>
              </a:solidFill>
              <a:latin typeface="Calibri"/>
              <a:ea typeface="Calibri"/>
              <a:cs typeface="Calibri"/>
              <a:sym typeface="Calibri"/>
            </a:endParaRPr>
          </a:p>
          <a:p>
            <a:pPr marL="457200" lvl="0" indent="-374650" algn="l" rtl="0">
              <a:lnSpc>
                <a:spcPct val="100000"/>
              </a:lnSpc>
              <a:spcBef>
                <a:spcPts val="0"/>
              </a:spcBef>
              <a:spcAft>
                <a:spcPts val="0"/>
              </a:spcAft>
              <a:buClr>
                <a:schemeClr val="dk1"/>
              </a:buClr>
              <a:buSzPts val="2300"/>
              <a:buFont typeface="Calibri"/>
              <a:buChar char="●"/>
            </a:pPr>
            <a:r>
              <a:rPr lang="en-GB" sz="2300" dirty="0">
                <a:solidFill>
                  <a:schemeClr val="dk1"/>
                </a:solidFill>
                <a:latin typeface="Calibri"/>
                <a:ea typeface="Calibri"/>
                <a:cs typeface="Calibri"/>
                <a:sym typeface="Calibri"/>
              </a:rPr>
              <a:t>Analogous to a set of detail drawing and specifications  of each room in a house.</a:t>
            </a:r>
            <a:endParaRPr sz="2300" dirty="0">
              <a:solidFill>
                <a:schemeClr val="dk1"/>
              </a:solidFill>
              <a:latin typeface="Calibri"/>
              <a:ea typeface="Calibri"/>
              <a:cs typeface="Calibri"/>
              <a:sym typeface="Calibri"/>
            </a:endParaRPr>
          </a:p>
          <a:p>
            <a:pPr marL="457200" lvl="0" indent="-381000" algn="l" rtl="0">
              <a:lnSpc>
                <a:spcPct val="100000"/>
              </a:lnSpc>
              <a:spcBef>
                <a:spcPts val="0"/>
              </a:spcBef>
              <a:spcAft>
                <a:spcPts val="0"/>
              </a:spcAft>
              <a:buClr>
                <a:schemeClr val="dk1"/>
              </a:buClr>
              <a:buSzPts val="2400"/>
              <a:buFont typeface="Calibri"/>
              <a:buChar char="●"/>
            </a:pPr>
            <a:r>
              <a:rPr lang="en-GB" sz="2400" dirty="0">
                <a:solidFill>
                  <a:schemeClr val="dk1"/>
                </a:solidFill>
                <a:latin typeface="Calibri"/>
                <a:ea typeface="Calibri"/>
                <a:cs typeface="Calibri"/>
                <a:sym typeface="Calibri"/>
              </a:rPr>
              <a:t>The component-level design for software fully </a:t>
            </a:r>
            <a:r>
              <a:rPr lang="en-GB" sz="2400" b="1" dirty="0">
                <a:solidFill>
                  <a:schemeClr val="dk1"/>
                </a:solidFill>
                <a:latin typeface="Calibri"/>
                <a:ea typeface="Calibri"/>
                <a:cs typeface="Calibri"/>
                <a:sym typeface="Calibri"/>
              </a:rPr>
              <a:t>describes the internal detail of each software component</a:t>
            </a:r>
            <a:r>
              <a:rPr lang="en-GB" sz="2400" dirty="0">
                <a:solidFill>
                  <a:schemeClr val="dk1"/>
                </a:solidFill>
                <a:latin typeface="Calibri"/>
                <a:ea typeface="Calibri"/>
                <a:cs typeface="Calibri"/>
                <a:sym typeface="Calibri"/>
              </a:rPr>
              <a:t>.</a:t>
            </a:r>
            <a:endParaRPr sz="2400" dirty="0">
              <a:solidFill>
                <a:schemeClr val="dk1"/>
              </a:solidFill>
            </a:endParaRPr>
          </a:p>
          <a:p>
            <a:pPr marL="457200" lvl="0" indent="-381000" algn="just" rtl="0">
              <a:lnSpc>
                <a:spcPct val="100000"/>
              </a:lnSpc>
              <a:spcBef>
                <a:spcPts val="0"/>
              </a:spcBef>
              <a:spcAft>
                <a:spcPts val="0"/>
              </a:spcAft>
              <a:buClr>
                <a:schemeClr val="dk1"/>
              </a:buClr>
              <a:buSzPts val="2400"/>
              <a:buFont typeface="Calibri"/>
              <a:buChar char="●"/>
            </a:pPr>
            <a:r>
              <a:rPr lang="en-GB" sz="2400" dirty="0">
                <a:solidFill>
                  <a:schemeClr val="dk1"/>
                </a:solidFill>
                <a:latin typeface="Calibri"/>
                <a:ea typeface="Calibri"/>
                <a:cs typeface="Calibri"/>
                <a:sym typeface="Calibri"/>
              </a:rPr>
              <a:t>Component-level design </a:t>
            </a:r>
            <a:r>
              <a:rPr lang="en-GB" sz="2400" b="1" dirty="0">
                <a:solidFill>
                  <a:schemeClr val="dk1"/>
                </a:solidFill>
                <a:latin typeface="Calibri"/>
                <a:ea typeface="Calibri"/>
                <a:cs typeface="Calibri"/>
                <a:sym typeface="Calibri"/>
              </a:rPr>
              <a:t>defines data structures</a:t>
            </a:r>
            <a:r>
              <a:rPr lang="en-GB" sz="2400" dirty="0">
                <a:solidFill>
                  <a:schemeClr val="dk1"/>
                </a:solidFill>
                <a:latin typeface="Calibri"/>
                <a:ea typeface="Calibri"/>
                <a:cs typeface="Calibri"/>
                <a:sym typeface="Calibri"/>
              </a:rPr>
              <a:t> for all local data objects and </a:t>
            </a:r>
            <a:r>
              <a:rPr lang="en-GB" sz="2400" b="1" dirty="0">
                <a:solidFill>
                  <a:schemeClr val="dk1"/>
                </a:solidFill>
                <a:latin typeface="Calibri"/>
                <a:ea typeface="Calibri"/>
                <a:cs typeface="Calibri"/>
                <a:sym typeface="Calibri"/>
              </a:rPr>
              <a:t>algorithmic detail</a:t>
            </a:r>
            <a:r>
              <a:rPr lang="en-GB" sz="2400" dirty="0">
                <a:solidFill>
                  <a:schemeClr val="dk1"/>
                </a:solidFill>
                <a:latin typeface="Calibri"/>
                <a:ea typeface="Calibri"/>
                <a:cs typeface="Calibri"/>
                <a:sym typeface="Calibri"/>
              </a:rPr>
              <a:t>.</a:t>
            </a:r>
            <a:endParaRPr sz="2400" dirty="0">
              <a:solidFill>
                <a:schemeClr val="dk1"/>
              </a:solidFill>
            </a:endParaRPr>
          </a:p>
          <a:p>
            <a:pPr marL="457200" lvl="0" indent="-381000" algn="just" rtl="0">
              <a:lnSpc>
                <a:spcPct val="100000"/>
              </a:lnSpc>
              <a:spcBef>
                <a:spcPts val="0"/>
              </a:spcBef>
              <a:spcAft>
                <a:spcPts val="0"/>
              </a:spcAft>
              <a:buClr>
                <a:schemeClr val="dk1"/>
              </a:buClr>
              <a:buSzPts val="2400"/>
              <a:buFont typeface="Calibri"/>
              <a:buChar char="●"/>
            </a:pPr>
            <a:r>
              <a:rPr lang="en-GB" sz="2400" dirty="0">
                <a:solidFill>
                  <a:schemeClr val="dk1"/>
                </a:solidFill>
                <a:latin typeface="Calibri"/>
                <a:ea typeface="Calibri"/>
                <a:cs typeface="Calibri"/>
                <a:sym typeface="Calibri"/>
              </a:rPr>
              <a:t>Within the context of object-oriented software engineering, a </a:t>
            </a:r>
            <a:r>
              <a:rPr lang="en-GB" sz="2400" b="1" dirty="0">
                <a:solidFill>
                  <a:schemeClr val="dk1"/>
                </a:solidFill>
                <a:latin typeface="Calibri"/>
                <a:ea typeface="Calibri"/>
                <a:cs typeface="Calibri"/>
                <a:sym typeface="Calibri"/>
              </a:rPr>
              <a:t>component is represented in UML diagrammatic form.</a:t>
            </a:r>
            <a:endParaRPr sz="2400" b="1" dirty="0">
              <a:solidFill>
                <a:schemeClr val="dk1"/>
              </a:solidFill>
              <a:latin typeface="Calibri"/>
              <a:ea typeface="Calibri"/>
              <a:cs typeface="Calibri"/>
              <a:sym typeface="Calibri"/>
            </a:endParaRPr>
          </a:p>
          <a:p>
            <a:pPr marL="0" lvl="0" indent="0" algn="l" rtl="0">
              <a:lnSpc>
                <a:spcPct val="100000"/>
              </a:lnSpc>
              <a:spcBef>
                <a:spcPts val="800"/>
              </a:spcBef>
              <a:spcAft>
                <a:spcPts val="0"/>
              </a:spcAft>
              <a:buNone/>
            </a:pPr>
            <a:endParaRPr sz="2400" b="1" dirty="0">
              <a:solidFill>
                <a:schemeClr val="dk1"/>
              </a:solidFill>
              <a:latin typeface="Calibri"/>
              <a:ea typeface="Calibri"/>
              <a:cs typeface="Calibri"/>
              <a:sym typeface="Calibri"/>
            </a:endParaRPr>
          </a:p>
        </p:txBody>
      </p:sp>
      <p:sp>
        <p:nvSpPr>
          <p:cNvPr id="188" name="Google Shape;188;p3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189" name="Google Shape;189;p3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18</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design concept</a:t>
            </a:r>
            <a:endParaRPr lang="en-IN" dirty="0"/>
          </a:p>
        </p:txBody>
      </p:sp>
      <p:sp>
        <p:nvSpPr>
          <p:cNvPr id="3" name="Text Placeholder 2"/>
          <p:cNvSpPr>
            <a:spLocks noGrp="1"/>
          </p:cNvSpPr>
          <p:nvPr>
            <p:ph type="body" idx="1"/>
          </p:nvPr>
        </p:nvSpPr>
        <p:spPr/>
        <p:txBody>
          <a:bodyPr/>
          <a:lstStyle/>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3979" y="1315615"/>
            <a:ext cx="3610116" cy="29489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5482" y="1537557"/>
            <a:ext cx="3505200" cy="2505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672472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2"/>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Concepts</a:t>
            </a:r>
            <a:endParaRPr b="1"/>
          </a:p>
        </p:txBody>
      </p:sp>
      <p:sp>
        <p:nvSpPr>
          <p:cNvPr id="203" name="Google Shape;203;p32"/>
          <p:cNvSpPr txBox="1">
            <a:spLocks noGrp="1"/>
          </p:cNvSpPr>
          <p:nvPr>
            <p:ph type="body" idx="1"/>
          </p:nvPr>
        </p:nvSpPr>
        <p:spPr>
          <a:xfrm>
            <a:off x="228275" y="577550"/>
            <a:ext cx="8575200" cy="2475300"/>
          </a:xfrm>
          <a:prstGeom prst="rect">
            <a:avLst/>
          </a:prstGeom>
          <a:noFill/>
          <a:ln>
            <a:noFill/>
          </a:ln>
        </p:spPr>
        <p:txBody>
          <a:bodyPr spcFirstLastPara="1" wrap="square" lIns="68575" tIns="34275" rIns="68575" bIns="34275" anchor="t" anchorCtr="0">
            <a:noAutofit/>
          </a:bodyPr>
          <a:lstStyle/>
          <a:p>
            <a:pPr marL="457200" lvl="0" indent="-355600" algn="just" rtl="0">
              <a:spcBef>
                <a:spcPts val="0"/>
              </a:spcBef>
              <a:spcAft>
                <a:spcPts val="0"/>
              </a:spcAft>
              <a:buClr>
                <a:srgbClr val="0070C0"/>
              </a:buClr>
              <a:buSzPts val="2000"/>
              <a:buFont typeface="Calibri"/>
              <a:buAutoNum type="arabicPeriod"/>
            </a:pPr>
            <a:r>
              <a:rPr lang="en-GB" sz="2000" b="1" dirty="0">
                <a:solidFill>
                  <a:srgbClr val="0070C0"/>
                </a:solidFill>
                <a:latin typeface="Calibri"/>
                <a:ea typeface="Calibri"/>
                <a:cs typeface="Calibri"/>
                <a:sym typeface="Calibri"/>
              </a:rPr>
              <a:t>Abstraction</a:t>
            </a:r>
            <a:endParaRPr sz="2000" b="1" dirty="0">
              <a:solidFill>
                <a:srgbClr val="0070C0"/>
              </a:solidFill>
              <a:latin typeface="Calibri"/>
              <a:ea typeface="Calibri"/>
              <a:cs typeface="Calibri"/>
              <a:sym typeface="Calibri"/>
            </a:endParaRPr>
          </a:p>
          <a:p>
            <a:pPr marL="457200" lvl="0" indent="-349250" algn="just" rtl="0">
              <a:spcBef>
                <a:spcPts val="0"/>
              </a:spcBef>
              <a:spcAft>
                <a:spcPts val="0"/>
              </a:spcAft>
              <a:buClr>
                <a:schemeClr val="dk1"/>
              </a:buClr>
              <a:buSzPts val="1900"/>
              <a:buFont typeface="Calibri"/>
              <a:buChar char="●"/>
            </a:pPr>
            <a:r>
              <a:rPr lang="en-GB" sz="1900" dirty="0">
                <a:solidFill>
                  <a:schemeClr val="dk1"/>
                </a:solidFill>
                <a:latin typeface="Calibri"/>
                <a:ea typeface="Calibri"/>
                <a:cs typeface="Calibri"/>
                <a:sym typeface="Calibri"/>
              </a:rPr>
              <a:t>Modular solution to any problem , many levels of abstraction can be posed.</a:t>
            </a:r>
            <a:endParaRPr sz="1900" dirty="0">
              <a:solidFill>
                <a:schemeClr val="dk1"/>
              </a:solidFill>
              <a:latin typeface="Calibri"/>
              <a:ea typeface="Calibri"/>
              <a:cs typeface="Calibri"/>
              <a:sym typeface="Calibri"/>
            </a:endParaRPr>
          </a:p>
          <a:p>
            <a:pPr marL="457200" lvl="0" indent="-349250" algn="just" rtl="0">
              <a:spcBef>
                <a:spcPts val="0"/>
              </a:spcBef>
              <a:spcAft>
                <a:spcPts val="0"/>
              </a:spcAft>
              <a:buClr>
                <a:schemeClr val="dk1"/>
              </a:buClr>
              <a:buSzPts val="1900"/>
              <a:buFont typeface="Calibri"/>
              <a:buChar char="●"/>
            </a:pPr>
            <a:r>
              <a:rPr lang="en-GB" sz="1900" dirty="0">
                <a:solidFill>
                  <a:schemeClr val="dk1"/>
                </a:solidFill>
                <a:latin typeface="Calibri"/>
                <a:ea typeface="Calibri"/>
                <a:cs typeface="Calibri"/>
                <a:sym typeface="Calibri"/>
              </a:rPr>
              <a:t>At the highest level of abstraction, a solution is stated in broad terms using the language of the problem environment.</a:t>
            </a:r>
            <a:endParaRPr sz="1900" dirty="0">
              <a:solidFill>
                <a:schemeClr val="dk1"/>
              </a:solidFill>
              <a:latin typeface="Calibri"/>
              <a:ea typeface="Calibri"/>
              <a:cs typeface="Calibri"/>
              <a:sym typeface="Calibri"/>
            </a:endParaRPr>
          </a:p>
          <a:p>
            <a:pPr marL="457200" lvl="0" indent="-349250" algn="just" rtl="0">
              <a:spcBef>
                <a:spcPts val="0"/>
              </a:spcBef>
              <a:spcAft>
                <a:spcPts val="0"/>
              </a:spcAft>
              <a:buClr>
                <a:schemeClr val="dk1"/>
              </a:buClr>
              <a:buSzPts val="1900"/>
              <a:buFont typeface="Calibri"/>
              <a:buChar char="●"/>
            </a:pPr>
            <a:r>
              <a:rPr lang="en-GB" sz="1900" dirty="0">
                <a:solidFill>
                  <a:schemeClr val="dk1"/>
                </a:solidFill>
                <a:latin typeface="Calibri"/>
                <a:ea typeface="Calibri"/>
                <a:cs typeface="Calibri"/>
                <a:sym typeface="Calibri"/>
              </a:rPr>
              <a:t>Lower levels of abstraction, a more procedural orientation is taken.</a:t>
            </a:r>
            <a:endParaRPr sz="1900" dirty="0">
              <a:solidFill>
                <a:schemeClr val="dk1"/>
              </a:solidFill>
              <a:latin typeface="Calibri"/>
              <a:ea typeface="Calibri"/>
              <a:cs typeface="Calibri"/>
              <a:sym typeface="Calibri"/>
            </a:endParaRPr>
          </a:p>
          <a:p>
            <a:pPr marL="457200" lvl="0" indent="-349250" algn="just" rtl="0">
              <a:spcBef>
                <a:spcPts val="0"/>
              </a:spcBef>
              <a:spcAft>
                <a:spcPts val="0"/>
              </a:spcAft>
              <a:buClr>
                <a:schemeClr val="dk1"/>
              </a:buClr>
              <a:buSzPts val="1900"/>
              <a:buFont typeface="Calibri"/>
              <a:buChar char="●"/>
            </a:pPr>
            <a:r>
              <a:rPr lang="en-GB" sz="1900" dirty="0">
                <a:solidFill>
                  <a:schemeClr val="dk1"/>
                </a:solidFill>
                <a:latin typeface="Calibri"/>
                <a:ea typeface="Calibri"/>
                <a:cs typeface="Calibri"/>
                <a:sym typeface="Calibri"/>
              </a:rPr>
              <a:t>Each step in the software process is a refinement in the level of abstraction of the software solution</a:t>
            </a:r>
            <a:r>
              <a:rPr lang="en-GB" sz="1900" dirty="0" smtClean="0">
                <a:solidFill>
                  <a:schemeClr val="dk1"/>
                </a:solidFill>
                <a:latin typeface="Calibri"/>
                <a:ea typeface="Calibri"/>
                <a:cs typeface="Calibri"/>
                <a:sym typeface="Calibri"/>
              </a:rPr>
              <a:t>.</a:t>
            </a:r>
          </a:p>
          <a:p>
            <a:pPr indent="-349250" algn="just">
              <a:spcBef>
                <a:spcPts val="0"/>
              </a:spcBef>
              <a:buSzPts val="1900"/>
              <a:buFont typeface="Calibri"/>
              <a:buChar char="●"/>
            </a:pPr>
            <a:r>
              <a:rPr lang="en-US" sz="2000" dirty="0">
                <a:solidFill>
                  <a:schemeClr val="dk1"/>
                </a:solidFill>
                <a:latin typeface="Calibri"/>
                <a:ea typeface="Calibri"/>
                <a:cs typeface="Calibri"/>
                <a:sym typeface="Calibri"/>
              </a:rPr>
              <a:t>A </a:t>
            </a:r>
            <a:r>
              <a:rPr lang="en-US" sz="2000" b="1" dirty="0">
                <a:solidFill>
                  <a:srgbClr val="0070C0"/>
                </a:solidFill>
                <a:latin typeface="Calibri"/>
                <a:ea typeface="Calibri"/>
                <a:cs typeface="Calibri"/>
                <a:sym typeface="Calibri"/>
              </a:rPr>
              <a:t>procedural abstraction</a:t>
            </a:r>
            <a:r>
              <a:rPr lang="en-US" sz="2000" b="1" dirty="0">
                <a:solidFill>
                  <a:schemeClr val="dk1"/>
                </a:solidFill>
                <a:latin typeface="Calibri"/>
                <a:ea typeface="Calibri"/>
                <a:cs typeface="Calibri"/>
                <a:sym typeface="Calibri"/>
              </a:rPr>
              <a:t> </a:t>
            </a:r>
            <a:r>
              <a:rPr lang="en-US" sz="2000" dirty="0">
                <a:solidFill>
                  <a:schemeClr val="dk1"/>
                </a:solidFill>
                <a:latin typeface="Calibri"/>
                <a:ea typeface="Calibri"/>
                <a:cs typeface="Calibri"/>
                <a:sym typeface="Calibri"/>
              </a:rPr>
              <a:t>is a named </a:t>
            </a:r>
            <a:r>
              <a:rPr lang="en-US" sz="2000" dirty="0">
                <a:solidFill>
                  <a:srgbClr val="0070C0"/>
                </a:solidFill>
                <a:latin typeface="Calibri"/>
                <a:ea typeface="Calibri"/>
                <a:cs typeface="Calibri"/>
                <a:sym typeface="Calibri"/>
              </a:rPr>
              <a:t>sequence of instructions </a:t>
            </a:r>
            <a:r>
              <a:rPr lang="en-US" sz="2000" dirty="0">
                <a:solidFill>
                  <a:schemeClr val="dk1"/>
                </a:solidFill>
                <a:latin typeface="Calibri"/>
                <a:ea typeface="Calibri"/>
                <a:cs typeface="Calibri"/>
                <a:sym typeface="Calibri"/>
              </a:rPr>
              <a:t>that has a specific and limited function. (algorithm)</a:t>
            </a:r>
          </a:p>
          <a:p>
            <a:pPr marL="457200" lvl="0" indent="-349250" algn="just" rtl="0">
              <a:spcBef>
                <a:spcPts val="0"/>
              </a:spcBef>
              <a:spcAft>
                <a:spcPts val="0"/>
              </a:spcAft>
              <a:buClr>
                <a:schemeClr val="dk1"/>
              </a:buClr>
              <a:buSzPts val="1900"/>
              <a:buFont typeface="Calibri"/>
              <a:buChar char="●"/>
            </a:pPr>
            <a:endParaRPr sz="1900" dirty="0">
              <a:solidFill>
                <a:schemeClr val="dk1"/>
              </a:solidFill>
              <a:latin typeface="Calibri"/>
              <a:ea typeface="Calibri"/>
              <a:cs typeface="Calibri"/>
              <a:sym typeface="Calibri"/>
            </a:endParaRPr>
          </a:p>
        </p:txBody>
      </p:sp>
      <p:sp>
        <p:nvSpPr>
          <p:cNvPr id="205" name="Google Shape;205;p3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20</a:t>
            </a:fld>
            <a:endParaRP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5938" y="3216049"/>
            <a:ext cx="2524125" cy="1323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9731" y="3310910"/>
            <a:ext cx="4381500"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03">
                                            <p:txEl>
                                              <p:pRg st="1" end="1"/>
                                            </p:txEl>
                                          </p:spTgt>
                                        </p:tgtEl>
                                        <p:attrNameLst>
                                          <p:attrName>style.visibility</p:attrName>
                                        </p:attrNameLst>
                                      </p:cBhvr>
                                      <p:to>
                                        <p:strVal val="visible"/>
                                      </p:to>
                                    </p:set>
                                    <p:anim calcmode="lin" valueType="num">
                                      <p:cBhvr additive="base">
                                        <p:cTn id="11" dur="500" fill="hold"/>
                                        <p:tgtEl>
                                          <p:spTgt spid="20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03">
                                            <p:txEl>
                                              <p:pRg st="2" end="2"/>
                                            </p:txEl>
                                          </p:spTgt>
                                        </p:tgtEl>
                                        <p:attrNameLst>
                                          <p:attrName>style.visibility</p:attrName>
                                        </p:attrNameLst>
                                      </p:cBhvr>
                                      <p:to>
                                        <p:strVal val="visible"/>
                                      </p:to>
                                    </p:set>
                                    <p:anim calcmode="lin" valueType="num">
                                      <p:cBhvr additive="base">
                                        <p:cTn id="15" dur="500" fill="hold"/>
                                        <p:tgtEl>
                                          <p:spTgt spid="20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03">
                                            <p:txEl>
                                              <p:pRg st="3" end="3"/>
                                            </p:txEl>
                                          </p:spTgt>
                                        </p:tgtEl>
                                        <p:attrNameLst>
                                          <p:attrName>style.visibility</p:attrName>
                                        </p:attrNameLst>
                                      </p:cBhvr>
                                      <p:to>
                                        <p:strVal val="visible"/>
                                      </p:to>
                                    </p:set>
                                    <p:anim calcmode="lin" valueType="num">
                                      <p:cBhvr additive="base">
                                        <p:cTn id="19" dur="500" fill="hold"/>
                                        <p:tgtEl>
                                          <p:spTgt spid="20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03">
                                            <p:txEl>
                                              <p:pRg st="4" end="4"/>
                                            </p:txEl>
                                          </p:spTgt>
                                        </p:tgtEl>
                                        <p:attrNameLst>
                                          <p:attrName>style.visibility</p:attrName>
                                        </p:attrNameLst>
                                      </p:cBhvr>
                                      <p:to>
                                        <p:strVal val="visible"/>
                                      </p:to>
                                    </p:set>
                                    <p:anim calcmode="lin" valueType="num">
                                      <p:cBhvr additive="base">
                                        <p:cTn id="23" dur="500" fill="hold"/>
                                        <p:tgtEl>
                                          <p:spTgt spid="20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03">
                                            <p:txEl>
                                              <p:pRg st="5" end="5"/>
                                            </p:txEl>
                                          </p:spTgt>
                                        </p:tgtEl>
                                        <p:attrNameLst>
                                          <p:attrName>style.visibility</p:attrName>
                                        </p:attrNameLst>
                                      </p:cBhvr>
                                      <p:to>
                                        <p:strVal val="visible"/>
                                      </p:to>
                                    </p:set>
                                    <p:anim calcmode="lin" valueType="num">
                                      <p:cBhvr additive="base">
                                        <p:cTn id="27" dur="500" fill="hold"/>
                                        <p:tgtEl>
                                          <p:spTgt spid="20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10242"/>
                                        </p:tgtEl>
                                        <p:attrNameLst>
                                          <p:attrName>style.visibility</p:attrName>
                                        </p:attrNameLst>
                                      </p:cBhvr>
                                      <p:to>
                                        <p:strVal val="visible"/>
                                      </p:to>
                                    </p:set>
                                    <p:anim calcmode="lin" valueType="num">
                                      <p:cBhvr>
                                        <p:cTn id="33" dur="500" fill="hold"/>
                                        <p:tgtEl>
                                          <p:spTgt spid="10242"/>
                                        </p:tgtEl>
                                        <p:attrNameLst>
                                          <p:attrName>ppt_w</p:attrName>
                                        </p:attrNameLst>
                                      </p:cBhvr>
                                      <p:tavLst>
                                        <p:tav tm="0">
                                          <p:val>
                                            <p:fltVal val="0"/>
                                          </p:val>
                                        </p:tav>
                                        <p:tav tm="100000">
                                          <p:val>
                                            <p:strVal val="#ppt_w"/>
                                          </p:val>
                                        </p:tav>
                                      </p:tavLst>
                                    </p:anim>
                                    <p:anim calcmode="lin" valueType="num">
                                      <p:cBhvr>
                                        <p:cTn id="34" dur="500" fill="hold"/>
                                        <p:tgtEl>
                                          <p:spTgt spid="10242"/>
                                        </p:tgtEl>
                                        <p:attrNameLst>
                                          <p:attrName>ppt_h</p:attrName>
                                        </p:attrNameLst>
                                      </p:cBhvr>
                                      <p:tavLst>
                                        <p:tav tm="0">
                                          <p:val>
                                            <p:fltVal val="0"/>
                                          </p:val>
                                        </p:tav>
                                        <p:tav tm="100000">
                                          <p:val>
                                            <p:strVal val="#ppt_h"/>
                                          </p:val>
                                        </p:tav>
                                      </p:tavLst>
                                    </p:anim>
                                    <p:animEffect transition="in" filter="fade">
                                      <p:cBhvr>
                                        <p:cTn id="35" dur="500"/>
                                        <p:tgtEl>
                                          <p:spTgt spid="10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107950" lvl="0" indent="0" algn="just">
              <a:spcBef>
                <a:spcPts val="0"/>
              </a:spcBef>
              <a:buSzPts val="1900"/>
              <a:buNone/>
            </a:pPr>
            <a:endParaRPr lang="en-US" dirty="0" smtClean="0">
              <a:solidFill>
                <a:srgbClr val="0070C0"/>
              </a:solidFill>
              <a:latin typeface="Calibri"/>
              <a:ea typeface="Calibri"/>
              <a:cs typeface="Calibri"/>
              <a:sym typeface="Calibri"/>
            </a:endParaRPr>
          </a:p>
          <a:p>
            <a:pPr indent="-349250" algn="just">
              <a:spcBef>
                <a:spcPts val="0"/>
              </a:spcBef>
              <a:buSzPts val="1900"/>
              <a:buFont typeface="Calibri"/>
              <a:buChar char="●"/>
            </a:pPr>
            <a:r>
              <a:rPr lang="en-US" dirty="0">
                <a:solidFill>
                  <a:schemeClr val="dk1"/>
                </a:solidFill>
                <a:latin typeface="Calibri"/>
                <a:ea typeface="Calibri"/>
                <a:cs typeface="Calibri"/>
                <a:sym typeface="Calibri"/>
              </a:rPr>
              <a:t>A </a:t>
            </a:r>
            <a:r>
              <a:rPr lang="en-US" b="1" dirty="0">
                <a:solidFill>
                  <a:srgbClr val="0070C0"/>
                </a:solidFill>
                <a:latin typeface="Calibri"/>
                <a:ea typeface="Calibri"/>
                <a:cs typeface="Calibri"/>
                <a:sym typeface="Calibri"/>
              </a:rPr>
              <a:t>data abstraction </a:t>
            </a:r>
            <a:r>
              <a:rPr lang="en-US" dirty="0">
                <a:solidFill>
                  <a:schemeClr val="dk1"/>
                </a:solidFill>
                <a:latin typeface="Calibri"/>
                <a:ea typeface="Calibri"/>
                <a:cs typeface="Calibri"/>
                <a:sym typeface="Calibri"/>
              </a:rPr>
              <a:t>is a named </a:t>
            </a:r>
            <a:r>
              <a:rPr lang="en-US" dirty="0">
                <a:solidFill>
                  <a:srgbClr val="0070C0"/>
                </a:solidFill>
                <a:latin typeface="Calibri"/>
                <a:ea typeface="Calibri"/>
                <a:cs typeface="Calibri"/>
                <a:sym typeface="Calibri"/>
              </a:rPr>
              <a:t>collection of data </a:t>
            </a:r>
            <a:r>
              <a:rPr lang="en-US" dirty="0">
                <a:solidFill>
                  <a:schemeClr val="dk1"/>
                </a:solidFill>
                <a:latin typeface="Calibri"/>
                <a:ea typeface="Calibri"/>
                <a:cs typeface="Calibri"/>
                <a:sym typeface="Calibri"/>
              </a:rPr>
              <a:t>that describes a data object</a:t>
            </a:r>
          </a:p>
          <a:p>
            <a:pPr lvl="0" indent="-349250" algn="just">
              <a:spcBef>
                <a:spcPts val="0"/>
              </a:spcBef>
              <a:buSzPts val="1900"/>
              <a:buFont typeface="Calibri"/>
              <a:buChar char="●"/>
            </a:pP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7641" y="2293581"/>
            <a:ext cx="3667125" cy="742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7641" y="3199720"/>
            <a:ext cx="6419850" cy="180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36534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3"/>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Concepts</a:t>
            </a:r>
            <a:endParaRPr b="1"/>
          </a:p>
        </p:txBody>
      </p:sp>
      <p:sp>
        <p:nvSpPr>
          <p:cNvPr id="211" name="Google Shape;211;p33"/>
          <p:cNvSpPr txBox="1">
            <a:spLocks noGrp="1"/>
          </p:cNvSpPr>
          <p:nvPr>
            <p:ph type="body" idx="1"/>
          </p:nvPr>
        </p:nvSpPr>
        <p:spPr>
          <a:xfrm>
            <a:off x="0" y="595325"/>
            <a:ext cx="4604400" cy="2475300"/>
          </a:xfrm>
          <a:prstGeom prst="rect">
            <a:avLst/>
          </a:prstGeom>
          <a:noFill/>
          <a:ln>
            <a:noFill/>
          </a:ln>
        </p:spPr>
        <p:txBody>
          <a:bodyPr spcFirstLastPara="1" wrap="square" lIns="68575" tIns="34275" rIns="68575" bIns="34275" anchor="t" anchorCtr="0">
            <a:noAutofit/>
          </a:bodyPr>
          <a:lstStyle/>
          <a:p>
            <a:pPr marL="0" lvl="0" indent="0" algn="just" rtl="0">
              <a:spcBef>
                <a:spcPts val="0"/>
              </a:spcBef>
              <a:spcAft>
                <a:spcPts val="0"/>
              </a:spcAft>
              <a:buNone/>
            </a:pPr>
            <a:r>
              <a:rPr lang="en-GB" sz="2000" b="1" dirty="0">
                <a:solidFill>
                  <a:srgbClr val="0070C0"/>
                </a:solidFill>
                <a:latin typeface="Calibri"/>
                <a:ea typeface="Calibri"/>
                <a:cs typeface="Calibri"/>
                <a:sym typeface="Calibri"/>
              </a:rPr>
              <a:t>2. Refinement</a:t>
            </a:r>
            <a:endParaRPr sz="2000" b="1" dirty="0">
              <a:solidFill>
                <a:srgbClr val="0070C0"/>
              </a:solidFill>
              <a:latin typeface="Calibri"/>
              <a:ea typeface="Calibri"/>
              <a:cs typeface="Calibri"/>
              <a:sym typeface="Calibri"/>
            </a:endParaRPr>
          </a:p>
          <a:p>
            <a:pPr marL="457200" lvl="0" indent="-355600" algn="just" rtl="0">
              <a:spcBef>
                <a:spcPts val="0"/>
              </a:spcBef>
              <a:spcAft>
                <a:spcPts val="0"/>
              </a:spcAft>
              <a:buClr>
                <a:schemeClr val="dk1"/>
              </a:buClr>
              <a:buSzPts val="2000"/>
              <a:buFont typeface="Calibri"/>
              <a:buChar char="●"/>
            </a:pPr>
            <a:r>
              <a:rPr lang="en-GB" sz="2000" dirty="0">
                <a:solidFill>
                  <a:schemeClr val="dk1"/>
                </a:solidFill>
                <a:latin typeface="Calibri"/>
                <a:ea typeface="Calibri"/>
                <a:cs typeface="Calibri"/>
                <a:sym typeface="Calibri"/>
              </a:rPr>
              <a:t>Refinement is process of elaboration</a:t>
            </a:r>
            <a:endParaRPr sz="2000" dirty="0">
              <a:solidFill>
                <a:schemeClr val="dk1"/>
              </a:solidFill>
              <a:latin typeface="Calibri"/>
              <a:ea typeface="Calibri"/>
              <a:cs typeface="Calibri"/>
              <a:sym typeface="Calibri"/>
            </a:endParaRPr>
          </a:p>
          <a:p>
            <a:pPr marL="457200" lvl="0" indent="-355600" algn="just" rtl="0">
              <a:spcBef>
                <a:spcPts val="0"/>
              </a:spcBef>
              <a:spcAft>
                <a:spcPts val="0"/>
              </a:spcAft>
              <a:buClr>
                <a:schemeClr val="dk1"/>
              </a:buClr>
              <a:buSzPts val="2000"/>
              <a:buFont typeface="Calibri"/>
              <a:buChar char="●"/>
            </a:pPr>
            <a:r>
              <a:rPr lang="en-GB" sz="2000" dirty="0">
                <a:solidFill>
                  <a:schemeClr val="dk1"/>
                </a:solidFill>
                <a:latin typeface="Calibri"/>
                <a:ea typeface="Calibri"/>
                <a:cs typeface="Calibri"/>
                <a:sym typeface="Calibri"/>
              </a:rPr>
              <a:t>It’s a top-down design strategy</a:t>
            </a:r>
            <a:endParaRPr sz="2000" dirty="0">
              <a:solidFill>
                <a:schemeClr val="dk1"/>
              </a:solidFill>
              <a:latin typeface="Calibri"/>
              <a:ea typeface="Calibri"/>
              <a:cs typeface="Calibri"/>
              <a:sym typeface="Calibri"/>
            </a:endParaRPr>
          </a:p>
          <a:p>
            <a:pPr marL="457200" lvl="0" indent="-355600" algn="just" rtl="0">
              <a:spcBef>
                <a:spcPts val="0"/>
              </a:spcBef>
              <a:spcAft>
                <a:spcPts val="0"/>
              </a:spcAft>
              <a:buClr>
                <a:schemeClr val="dk1"/>
              </a:buClr>
              <a:buSzPts val="2000"/>
              <a:buFont typeface="Calibri"/>
              <a:buChar char="●"/>
            </a:pPr>
            <a:r>
              <a:rPr lang="en-GB" sz="2000" dirty="0">
                <a:solidFill>
                  <a:schemeClr val="dk1"/>
                </a:solidFill>
                <a:latin typeface="Calibri"/>
                <a:ea typeface="Calibri"/>
                <a:cs typeface="Calibri"/>
                <a:sym typeface="Calibri"/>
              </a:rPr>
              <a:t>A program is developed by successively refining levels of procedural detail</a:t>
            </a:r>
            <a:endParaRPr sz="2000" dirty="0">
              <a:solidFill>
                <a:schemeClr val="dk1"/>
              </a:solidFill>
              <a:latin typeface="Calibri"/>
              <a:ea typeface="Calibri"/>
              <a:cs typeface="Calibri"/>
              <a:sym typeface="Calibri"/>
            </a:endParaRPr>
          </a:p>
          <a:p>
            <a:pPr marL="457200" lvl="0" indent="-355600" algn="just" rtl="0">
              <a:spcBef>
                <a:spcPts val="0"/>
              </a:spcBef>
              <a:spcAft>
                <a:spcPts val="0"/>
              </a:spcAft>
              <a:buSzPts val="2000"/>
              <a:buFont typeface="Calibri"/>
              <a:buChar char="●"/>
            </a:pPr>
            <a:r>
              <a:rPr lang="en-GB" sz="2000" dirty="0">
                <a:solidFill>
                  <a:schemeClr val="dk1"/>
                </a:solidFill>
                <a:latin typeface="Calibri"/>
                <a:ea typeface="Calibri"/>
                <a:cs typeface="Calibri"/>
                <a:sym typeface="Calibri"/>
              </a:rPr>
              <a:t>Refinement causes the designer to </a:t>
            </a:r>
            <a:r>
              <a:rPr lang="en-GB" sz="2000" b="1" dirty="0">
                <a:solidFill>
                  <a:srgbClr val="0070C0"/>
                </a:solidFill>
                <a:latin typeface="Calibri"/>
                <a:ea typeface="Calibri"/>
                <a:cs typeface="Calibri"/>
                <a:sym typeface="Calibri"/>
              </a:rPr>
              <a:t>elaborate on the original statement, providing more and more detail</a:t>
            </a:r>
            <a:r>
              <a:rPr lang="en-GB" sz="2000" dirty="0">
                <a:solidFill>
                  <a:schemeClr val="dk1"/>
                </a:solidFill>
                <a:latin typeface="Calibri"/>
                <a:ea typeface="Calibri"/>
                <a:cs typeface="Calibri"/>
                <a:sym typeface="Calibri"/>
              </a:rPr>
              <a:t> as each successive refinement (elaboration) occurs.</a:t>
            </a:r>
            <a:endParaRPr sz="2000" dirty="0">
              <a:solidFill>
                <a:schemeClr val="dk1"/>
              </a:solidFill>
              <a:latin typeface="Calibri"/>
              <a:ea typeface="Calibri"/>
              <a:cs typeface="Calibri"/>
              <a:sym typeface="Calibri"/>
            </a:endParaRPr>
          </a:p>
          <a:p>
            <a:pPr marL="457200" lvl="0" indent="-355600" algn="just" rtl="0">
              <a:spcBef>
                <a:spcPts val="0"/>
              </a:spcBef>
              <a:spcAft>
                <a:spcPts val="0"/>
              </a:spcAft>
              <a:buClr>
                <a:schemeClr val="dk1"/>
              </a:buClr>
              <a:buSzPts val="2000"/>
              <a:buFont typeface="Calibri"/>
              <a:buChar char="●"/>
            </a:pPr>
            <a:r>
              <a:rPr lang="en-GB" sz="2000" dirty="0">
                <a:solidFill>
                  <a:schemeClr val="dk1"/>
                </a:solidFill>
                <a:latin typeface="Calibri"/>
                <a:ea typeface="Calibri"/>
                <a:cs typeface="Calibri"/>
                <a:sym typeface="Calibri"/>
              </a:rPr>
              <a:t>Abstraction and refinement are complementary concepts. </a:t>
            </a:r>
            <a:endParaRPr sz="2000" dirty="0">
              <a:solidFill>
                <a:schemeClr val="dk1"/>
              </a:solidFill>
              <a:latin typeface="Calibri"/>
              <a:ea typeface="Calibri"/>
              <a:cs typeface="Calibri"/>
              <a:sym typeface="Calibri"/>
            </a:endParaRPr>
          </a:p>
        </p:txBody>
      </p:sp>
      <p:sp>
        <p:nvSpPr>
          <p:cNvPr id="212" name="Google Shape;212;p3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213" name="Google Shape;213;p3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22</a:t>
            </a:fld>
            <a:endParaRPr/>
          </a:p>
        </p:txBody>
      </p:sp>
      <p:pic>
        <p:nvPicPr>
          <p:cNvPr id="214" name="Google Shape;214;p33"/>
          <p:cNvPicPr preferRelativeResize="0"/>
          <p:nvPr/>
        </p:nvPicPr>
        <p:blipFill>
          <a:blip r:embed="rId3">
            <a:alphaModFix/>
          </a:blip>
          <a:stretch>
            <a:fillRect/>
          </a:stretch>
        </p:blipFill>
        <p:spPr>
          <a:xfrm>
            <a:off x="4747849" y="869050"/>
            <a:ext cx="4322126" cy="23329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214"/>
                                        </p:tgtEl>
                                        <p:attrNameLst>
                                          <p:attrName>style.visibility</p:attrName>
                                        </p:attrNameLst>
                                      </p:cBhvr>
                                      <p:to>
                                        <p:strVal val="visible"/>
                                      </p:to>
                                    </p:set>
                                    <p:animEffect transition="in" filter="barn(inVertical)">
                                      <p:cBhvr>
                                        <p:cTn id="11" dur="500"/>
                                        <p:tgtEl>
                                          <p:spTgt spid="214"/>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211">
                                            <p:txEl>
                                              <p:pRg st="1" end="1"/>
                                            </p:txEl>
                                          </p:spTgt>
                                        </p:tgtEl>
                                        <p:attrNameLst>
                                          <p:attrName>style.visibility</p:attrName>
                                        </p:attrNameLst>
                                      </p:cBhvr>
                                      <p:to>
                                        <p:strVal val="visible"/>
                                      </p:to>
                                    </p:set>
                                    <p:anim calcmode="lin" valueType="num">
                                      <p:cBhvr additive="base">
                                        <p:cTn id="16" dur="500" fill="hold"/>
                                        <p:tgtEl>
                                          <p:spTgt spid="211">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211">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211">
                                            <p:txEl>
                                              <p:pRg st="2" end="2"/>
                                            </p:txEl>
                                          </p:spTgt>
                                        </p:tgtEl>
                                        <p:attrNameLst>
                                          <p:attrName>style.visibility</p:attrName>
                                        </p:attrNameLst>
                                      </p:cBhvr>
                                      <p:to>
                                        <p:strVal val="visible"/>
                                      </p:to>
                                    </p:set>
                                    <p:anim calcmode="lin" valueType="num">
                                      <p:cBhvr additive="base">
                                        <p:cTn id="20" dur="500" fill="hold"/>
                                        <p:tgtEl>
                                          <p:spTgt spid="211">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11">
                                            <p:txEl>
                                              <p:pRg st="2" end="2"/>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211">
                                            <p:txEl>
                                              <p:pRg st="3" end="3"/>
                                            </p:txEl>
                                          </p:spTgt>
                                        </p:tgtEl>
                                        <p:attrNameLst>
                                          <p:attrName>style.visibility</p:attrName>
                                        </p:attrNameLst>
                                      </p:cBhvr>
                                      <p:to>
                                        <p:strVal val="visible"/>
                                      </p:to>
                                    </p:set>
                                    <p:anim calcmode="lin" valueType="num">
                                      <p:cBhvr additive="base">
                                        <p:cTn id="24" dur="500" fill="hold"/>
                                        <p:tgtEl>
                                          <p:spTgt spid="211">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11">
                                            <p:txEl>
                                              <p:pRg st="3" end="3"/>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211">
                                            <p:txEl>
                                              <p:pRg st="4" end="4"/>
                                            </p:txEl>
                                          </p:spTgt>
                                        </p:tgtEl>
                                        <p:attrNameLst>
                                          <p:attrName>style.visibility</p:attrName>
                                        </p:attrNameLst>
                                      </p:cBhvr>
                                      <p:to>
                                        <p:strVal val="visible"/>
                                      </p:to>
                                    </p:set>
                                    <p:anim calcmode="lin" valueType="num">
                                      <p:cBhvr additive="base">
                                        <p:cTn id="28" dur="500" fill="hold"/>
                                        <p:tgtEl>
                                          <p:spTgt spid="211">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211">
                                            <p:txEl>
                                              <p:pRg st="4" end="4"/>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211">
                                            <p:txEl>
                                              <p:pRg st="5" end="5"/>
                                            </p:txEl>
                                          </p:spTgt>
                                        </p:tgtEl>
                                        <p:attrNameLst>
                                          <p:attrName>style.visibility</p:attrName>
                                        </p:attrNameLst>
                                      </p:cBhvr>
                                      <p:to>
                                        <p:strVal val="visible"/>
                                      </p:to>
                                    </p:set>
                                    <p:anim calcmode="lin" valueType="num">
                                      <p:cBhvr additive="base">
                                        <p:cTn id="32" dur="500" fill="hold"/>
                                        <p:tgtEl>
                                          <p:spTgt spid="211">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1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4"/>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Concepts</a:t>
            </a:r>
            <a:endParaRPr b="1"/>
          </a:p>
        </p:txBody>
      </p:sp>
      <p:sp>
        <p:nvSpPr>
          <p:cNvPr id="220" name="Google Shape;220;p34"/>
          <p:cNvSpPr txBox="1">
            <a:spLocks noGrp="1"/>
          </p:cNvSpPr>
          <p:nvPr>
            <p:ph type="body" idx="1"/>
          </p:nvPr>
        </p:nvSpPr>
        <p:spPr>
          <a:xfrm>
            <a:off x="0" y="595325"/>
            <a:ext cx="4604400" cy="2475300"/>
          </a:xfrm>
          <a:prstGeom prst="rect">
            <a:avLst/>
          </a:prstGeom>
          <a:noFill/>
          <a:ln>
            <a:noFill/>
          </a:ln>
        </p:spPr>
        <p:txBody>
          <a:bodyPr spcFirstLastPara="1" wrap="square" lIns="68575" tIns="34275" rIns="68575" bIns="34275" anchor="t" anchorCtr="0">
            <a:noAutofit/>
          </a:bodyPr>
          <a:lstStyle/>
          <a:p>
            <a:pPr marL="0" lvl="0" indent="0" algn="l" rtl="0">
              <a:spcBef>
                <a:spcPts val="1000"/>
              </a:spcBef>
              <a:spcAft>
                <a:spcPts val="0"/>
              </a:spcAft>
              <a:buNone/>
            </a:pPr>
            <a:r>
              <a:rPr lang="en-GB" sz="2100" b="1">
                <a:solidFill>
                  <a:srgbClr val="0070C0"/>
                </a:solidFill>
                <a:latin typeface="Calibri"/>
                <a:ea typeface="Calibri"/>
                <a:cs typeface="Calibri"/>
                <a:sym typeface="Calibri"/>
              </a:rPr>
              <a:t>3. Modularity</a:t>
            </a:r>
            <a:endParaRPr sz="2100" b="1">
              <a:solidFill>
                <a:srgbClr val="0070C0"/>
              </a:solidFill>
              <a:latin typeface="Calibri"/>
              <a:ea typeface="Calibri"/>
              <a:cs typeface="Calibri"/>
              <a:sym typeface="Calibri"/>
            </a:endParaRPr>
          </a:p>
          <a:p>
            <a:pPr marL="457200" lvl="0" indent="-361950" algn="just" rtl="0">
              <a:spcBef>
                <a:spcPts val="1000"/>
              </a:spcBef>
              <a:spcAft>
                <a:spcPts val="0"/>
              </a:spcAft>
              <a:buSzPts val="2100"/>
              <a:buFont typeface="Calibri"/>
              <a:buChar char="●"/>
            </a:pPr>
            <a:r>
              <a:rPr lang="en-GB" sz="2100" b="1">
                <a:solidFill>
                  <a:schemeClr val="dk1"/>
                </a:solidFill>
                <a:latin typeface="Calibri"/>
                <a:ea typeface="Calibri"/>
                <a:cs typeface="Calibri"/>
                <a:sym typeface="Calibri"/>
              </a:rPr>
              <a:t>Software is divided </a:t>
            </a:r>
            <a:r>
              <a:rPr lang="en-GB" sz="2100">
                <a:solidFill>
                  <a:schemeClr val="dk1"/>
                </a:solidFill>
                <a:latin typeface="Calibri"/>
                <a:ea typeface="Calibri"/>
                <a:cs typeface="Calibri"/>
                <a:sym typeface="Calibri"/>
              </a:rPr>
              <a:t>into </a:t>
            </a:r>
            <a:r>
              <a:rPr lang="en-GB" sz="2100">
                <a:solidFill>
                  <a:srgbClr val="0070C0"/>
                </a:solidFill>
                <a:latin typeface="Calibri"/>
                <a:ea typeface="Calibri"/>
                <a:cs typeface="Calibri"/>
                <a:sym typeface="Calibri"/>
              </a:rPr>
              <a:t>separate</a:t>
            </a:r>
            <a:r>
              <a:rPr lang="en-GB" sz="2100">
                <a:solidFill>
                  <a:schemeClr val="dk1"/>
                </a:solidFill>
                <a:latin typeface="Calibri"/>
                <a:ea typeface="Calibri"/>
                <a:cs typeface="Calibri"/>
                <a:sym typeface="Calibri"/>
              </a:rPr>
              <a:t>ly named and addressable </a:t>
            </a:r>
            <a:r>
              <a:rPr lang="en-GB" sz="2100" b="1">
                <a:solidFill>
                  <a:srgbClr val="0070C0"/>
                </a:solidFill>
                <a:latin typeface="Calibri"/>
                <a:ea typeface="Calibri"/>
                <a:cs typeface="Calibri"/>
                <a:sym typeface="Calibri"/>
              </a:rPr>
              <a:t>components</a:t>
            </a:r>
            <a:r>
              <a:rPr lang="en-GB" sz="2100">
                <a:solidFill>
                  <a:schemeClr val="dk1"/>
                </a:solidFill>
                <a:latin typeface="Calibri"/>
                <a:ea typeface="Calibri"/>
                <a:cs typeface="Calibri"/>
                <a:sym typeface="Calibri"/>
              </a:rPr>
              <a:t>, often called modules, that are </a:t>
            </a:r>
            <a:r>
              <a:rPr lang="en-GB" sz="2100" b="1">
                <a:solidFill>
                  <a:schemeClr val="dk1"/>
                </a:solidFill>
                <a:latin typeface="Calibri"/>
                <a:ea typeface="Calibri"/>
                <a:cs typeface="Calibri"/>
                <a:sym typeface="Calibri"/>
              </a:rPr>
              <a:t>integrated to satisfy problem requirements.</a:t>
            </a:r>
            <a:endParaRPr sz="2100" b="1">
              <a:solidFill>
                <a:schemeClr val="dk1"/>
              </a:solidFill>
              <a:latin typeface="Calibri"/>
              <a:ea typeface="Calibri"/>
              <a:cs typeface="Calibri"/>
              <a:sym typeface="Calibri"/>
            </a:endParaRPr>
          </a:p>
          <a:p>
            <a:pPr marL="457200" lvl="0" indent="-361950" algn="just" rtl="0">
              <a:spcBef>
                <a:spcPts val="0"/>
              </a:spcBef>
              <a:spcAft>
                <a:spcPts val="0"/>
              </a:spcAft>
              <a:buClr>
                <a:schemeClr val="dk1"/>
              </a:buClr>
              <a:buSzPts val="2100"/>
              <a:buFont typeface="Calibri"/>
              <a:buChar char="●"/>
            </a:pPr>
            <a:r>
              <a:rPr lang="en-GB" sz="2100" b="1">
                <a:solidFill>
                  <a:schemeClr val="dk1"/>
                </a:solidFill>
                <a:latin typeface="Calibri"/>
                <a:ea typeface="Calibri"/>
                <a:cs typeface="Calibri"/>
                <a:sym typeface="Calibri"/>
              </a:rPr>
              <a:t>Modularity</a:t>
            </a:r>
            <a:r>
              <a:rPr lang="en-GB" sz="2100">
                <a:solidFill>
                  <a:schemeClr val="dk1"/>
                </a:solidFill>
                <a:latin typeface="Calibri"/>
                <a:ea typeface="Calibri"/>
                <a:cs typeface="Calibri"/>
                <a:sym typeface="Calibri"/>
              </a:rPr>
              <a:t> is the single attribute of software that </a:t>
            </a:r>
            <a:r>
              <a:rPr lang="en-GB" sz="2100" b="1">
                <a:solidFill>
                  <a:schemeClr val="dk1"/>
                </a:solidFill>
                <a:latin typeface="Calibri"/>
                <a:ea typeface="Calibri"/>
                <a:cs typeface="Calibri"/>
                <a:sym typeface="Calibri"/>
              </a:rPr>
              <a:t>allows</a:t>
            </a:r>
            <a:r>
              <a:rPr lang="en-GB" sz="2100">
                <a:solidFill>
                  <a:schemeClr val="dk1"/>
                </a:solidFill>
                <a:latin typeface="Calibri"/>
                <a:ea typeface="Calibri"/>
                <a:cs typeface="Calibri"/>
                <a:sym typeface="Calibri"/>
              </a:rPr>
              <a:t> a program to be </a:t>
            </a:r>
            <a:r>
              <a:rPr lang="en-GB" sz="2100" b="1">
                <a:solidFill>
                  <a:schemeClr val="dk1"/>
                </a:solidFill>
                <a:latin typeface="Calibri"/>
                <a:ea typeface="Calibri"/>
                <a:cs typeface="Calibri"/>
                <a:sym typeface="Calibri"/>
              </a:rPr>
              <a:t>intellectually manageable.</a:t>
            </a:r>
            <a:endParaRPr sz="2100" b="1">
              <a:solidFill>
                <a:schemeClr val="dk1"/>
              </a:solidFill>
              <a:latin typeface="Calibri"/>
              <a:ea typeface="Calibri"/>
              <a:cs typeface="Calibri"/>
              <a:sym typeface="Calibri"/>
            </a:endParaRPr>
          </a:p>
          <a:p>
            <a:pPr marL="457200" lvl="0" indent="0" algn="just" rtl="0">
              <a:spcBef>
                <a:spcPts val="0"/>
              </a:spcBef>
              <a:spcAft>
                <a:spcPts val="0"/>
              </a:spcAft>
              <a:buNone/>
            </a:pPr>
            <a:endParaRPr sz="2000" b="1">
              <a:solidFill>
                <a:srgbClr val="0070C0"/>
              </a:solidFill>
              <a:latin typeface="Calibri"/>
              <a:ea typeface="Calibri"/>
              <a:cs typeface="Calibri"/>
              <a:sym typeface="Calibri"/>
            </a:endParaRPr>
          </a:p>
        </p:txBody>
      </p:sp>
      <p:sp>
        <p:nvSpPr>
          <p:cNvPr id="221" name="Google Shape;221;p3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222" name="Google Shape;222;p3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23</a:t>
            </a:fld>
            <a:endParaRPr/>
          </a:p>
        </p:txBody>
      </p:sp>
      <p:pic>
        <p:nvPicPr>
          <p:cNvPr id="223" name="Google Shape;223;p34"/>
          <p:cNvPicPr preferRelativeResize="0"/>
          <p:nvPr/>
        </p:nvPicPr>
        <p:blipFill>
          <a:blip r:embed="rId3">
            <a:alphaModFix/>
          </a:blip>
          <a:stretch>
            <a:fillRect/>
          </a:stretch>
        </p:blipFill>
        <p:spPr>
          <a:xfrm>
            <a:off x="4756800" y="827648"/>
            <a:ext cx="4234800" cy="289378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3"/>
                                        </p:tgtEl>
                                        <p:attrNameLst>
                                          <p:attrName>style.visibility</p:attrName>
                                        </p:attrNameLst>
                                      </p:cBhvr>
                                      <p:to>
                                        <p:strVal val="visible"/>
                                      </p:to>
                                    </p:set>
                                    <p:animEffect transition="in" filter="fade">
                                      <p:cBhvr>
                                        <p:cTn id="23" dur="1000"/>
                                        <p:tgtEl>
                                          <p:spTgt spid="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5"/>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Concepts</a:t>
            </a:r>
            <a:endParaRPr b="1"/>
          </a:p>
        </p:txBody>
      </p:sp>
      <p:sp>
        <p:nvSpPr>
          <p:cNvPr id="229" name="Google Shape;229;p3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230" name="Google Shape;230;p3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24</a:t>
            </a:fld>
            <a:endParaRPr/>
          </a:p>
        </p:txBody>
      </p:sp>
      <p:sp>
        <p:nvSpPr>
          <p:cNvPr id="233" name="Google Shape;233;p35"/>
          <p:cNvSpPr txBox="1"/>
          <p:nvPr/>
        </p:nvSpPr>
        <p:spPr>
          <a:xfrm>
            <a:off x="2868700" y="739600"/>
            <a:ext cx="27723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t>Modularity</a:t>
            </a:r>
            <a:endParaRPr b="1"/>
          </a:p>
        </p:txBody>
      </p:sp>
      <p:sp>
        <p:nvSpPr>
          <p:cNvPr id="234" name="Google Shape;234;p35"/>
          <p:cNvSpPr txBox="1"/>
          <p:nvPr/>
        </p:nvSpPr>
        <p:spPr>
          <a:xfrm>
            <a:off x="483295" y="1606060"/>
            <a:ext cx="8403600" cy="1374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000"/>
              </a:spcBef>
              <a:spcAft>
                <a:spcPts val="0"/>
              </a:spcAft>
              <a:buNone/>
            </a:pPr>
            <a:r>
              <a:rPr lang="en-GB" sz="2300" dirty="0">
                <a:solidFill>
                  <a:schemeClr val="dk1"/>
                </a:solidFill>
                <a:latin typeface="Calibri"/>
                <a:ea typeface="Calibri"/>
                <a:cs typeface="Calibri"/>
                <a:sym typeface="Calibri"/>
              </a:rPr>
              <a:t>"</a:t>
            </a:r>
            <a:r>
              <a:rPr lang="en-GB" sz="2300" b="1" dirty="0">
                <a:solidFill>
                  <a:schemeClr val="dk1"/>
                </a:solidFill>
                <a:latin typeface="Calibri"/>
                <a:ea typeface="Calibri"/>
                <a:cs typeface="Calibri"/>
                <a:sym typeface="Calibri"/>
              </a:rPr>
              <a:t>divide and conquer</a:t>
            </a:r>
            <a:r>
              <a:rPr lang="en-GB" sz="2300" dirty="0">
                <a:solidFill>
                  <a:schemeClr val="dk1"/>
                </a:solidFill>
                <a:latin typeface="Calibri"/>
                <a:ea typeface="Calibri"/>
                <a:cs typeface="Calibri"/>
                <a:sym typeface="Calibri"/>
              </a:rPr>
              <a:t>" </a:t>
            </a:r>
            <a:r>
              <a:rPr lang="en-GB" sz="2300" b="1" dirty="0">
                <a:solidFill>
                  <a:schemeClr val="dk1"/>
                </a:solidFill>
                <a:latin typeface="Calibri"/>
                <a:ea typeface="Calibri"/>
                <a:cs typeface="Calibri"/>
                <a:sym typeface="Calibri"/>
              </a:rPr>
              <a:t>an argument for modularity</a:t>
            </a:r>
            <a:endParaRPr sz="2300" dirty="0">
              <a:solidFill>
                <a:schemeClr val="dk1"/>
              </a:solidFill>
              <a:latin typeface="Calibri"/>
              <a:ea typeface="Calibri"/>
              <a:cs typeface="Calibri"/>
              <a:sym typeface="Calibri"/>
            </a:endParaRPr>
          </a:p>
          <a:p>
            <a:pPr marL="457200" lvl="0" indent="-374650" algn="l" rtl="0">
              <a:lnSpc>
                <a:spcPct val="90000"/>
              </a:lnSpc>
              <a:spcBef>
                <a:spcPts val="1000"/>
              </a:spcBef>
              <a:spcAft>
                <a:spcPts val="0"/>
              </a:spcAft>
              <a:buClr>
                <a:schemeClr val="dk1"/>
              </a:buClr>
              <a:buSzPts val="2300"/>
              <a:buFont typeface="Calibri"/>
              <a:buChar char="●"/>
            </a:pPr>
            <a:r>
              <a:rPr lang="en-GB" sz="2300" dirty="0">
                <a:solidFill>
                  <a:schemeClr val="dk1"/>
                </a:solidFill>
                <a:latin typeface="Calibri"/>
                <a:ea typeface="Calibri"/>
                <a:cs typeface="Calibri"/>
                <a:sym typeface="Calibri"/>
              </a:rPr>
              <a:t>it's easier to solve a complex problem when you break it into manageable pieces </a:t>
            </a:r>
            <a:endParaRPr sz="2300" b="1"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7"/>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Concepts</a:t>
            </a:r>
            <a:endParaRPr b="1"/>
          </a:p>
        </p:txBody>
      </p:sp>
      <p:sp>
        <p:nvSpPr>
          <p:cNvPr id="249" name="Google Shape;249;p37"/>
          <p:cNvSpPr txBox="1">
            <a:spLocks noGrp="1"/>
          </p:cNvSpPr>
          <p:nvPr>
            <p:ph type="body" idx="1"/>
          </p:nvPr>
        </p:nvSpPr>
        <p:spPr>
          <a:xfrm>
            <a:off x="0" y="595325"/>
            <a:ext cx="8871600" cy="2475300"/>
          </a:xfrm>
          <a:prstGeom prst="rect">
            <a:avLst/>
          </a:prstGeom>
          <a:noFill/>
          <a:ln>
            <a:noFill/>
          </a:ln>
        </p:spPr>
        <p:txBody>
          <a:bodyPr spcFirstLastPara="1" wrap="square" lIns="68575" tIns="34275" rIns="68575" bIns="34275" anchor="t" anchorCtr="0">
            <a:noAutofit/>
          </a:bodyPr>
          <a:lstStyle/>
          <a:p>
            <a:pPr marL="0" lvl="0" indent="0" algn="l" rtl="0">
              <a:spcBef>
                <a:spcPts val="1000"/>
              </a:spcBef>
              <a:spcAft>
                <a:spcPts val="0"/>
              </a:spcAft>
              <a:buNone/>
            </a:pPr>
            <a:r>
              <a:rPr lang="en-GB" sz="2400" b="1" dirty="0" smtClean="0">
                <a:solidFill>
                  <a:srgbClr val="0070C0"/>
                </a:solidFill>
                <a:latin typeface="Calibri"/>
                <a:ea typeface="Calibri"/>
                <a:cs typeface="Calibri"/>
                <a:sym typeface="Calibri"/>
              </a:rPr>
              <a:t>Modularity</a:t>
            </a:r>
            <a:endParaRPr sz="2400" b="1" dirty="0">
              <a:solidFill>
                <a:srgbClr val="0070C0"/>
              </a:solidFill>
              <a:latin typeface="Calibri"/>
              <a:ea typeface="Calibri"/>
              <a:cs typeface="Calibri"/>
              <a:sym typeface="Calibri"/>
            </a:endParaRPr>
          </a:p>
          <a:p>
            <a:pPr marL="450000" lvl="0" indent="-360000" algn="just" rtl="0">
              <a:spcBef>
                <a:spcPts val="1000"/>
              </a:spcBef>
              <a:spcAft>
                <a:spcPts val="0"/>
              </a:spcAft>
              <a:buNone/>
            </a:pPr>
            <a:r>
              <a:rPr lang="en-GB" sz="2200" b="1" dirty="0">
                <a:solidFill>
                  <a:schemeClr val="dk1"/>
                </a:solidFill>
                <a:latin typeface="Calibri"/>
                <a:ea typeface="Calibri"/>
                <a:cs typeface="Calibri"/>
                <a:sym typeface="Calibri"/>
              </a:rPr>
              <a:t>Five criteria to define an effective modular system:</a:t>
            </a:r>
            <a:endParaRPr sz="2200" b="1" dirty="0">
              <a:solidFill>
                <a:schemeClr val="dk1"/>
              </a:solidFill>
              <a:latin typeface="Calibri"/>
              <a:ea typeface="Calibri"/>
              <a:cs typeface="Calibri"/>
              <a:sym typeface="Calibri"/>
            </a:endParaRPr>
          </a:p>
          <a:p>
            <a:pPr marL="450000" lvl="0" indent="-314325" algn="just" rtl="0">
              <a:spcBef>
                <a:spcPts val="0"/>
              </a:spcBef>
              <a:spcAft>
                <a:spcPts val="0"/>
              </a:spcAft>
              <a:buSzPts val="2100"/>
              <a:buFont typeface="Calibri"/>
              <a:buAutoNum type="arabicPeriod"/>
            </a:pPr>
            <a:r>
              <a:rPr lang="en-GB" sz="2100" b="1" dirty="0">
                <a:solidFill>
                  <a:srgbClr val="0070C0"/>
                </a:solidFill>
                <a:latin typeface="Calibri"/>
                <a:ea typeface="Calibri"/>
                <a:cs typeface="Calibri"/>
                <a:sym typeface="Calibri"/>
              </a:rPr>
              <a:t>Modular decomposability </a:t>
            </a:r>
            <a:r>
              <a:rPr lang="en-GB" sz="2100" b="1" dirty="0">
                <a:solidFill>
                  <a:schemeClr val="dk1"/>
                </a:solidFill>
                <a:latin typeface="Calibri"/>
                <a:ea typeface="Calibri"/>
                <a:cs typeface="Calibri"/>
                <a:sym typeface="Calibri"/>
              </a:rPr>
              <a:t>– </a:t>
            </a:r>
            <a:r>
              <a:rPr lang="en-GB" sz="2100" dirty="0">
                <a:solidFill>
                  <a:schemeClr val="dk1"/>
                </a:solidFill>
                <a:latin typeface="Calibri"/>
                <a:ea typeface="Calibri"/>
                <a:cs typeface="Calibri"/>
                <a:sym typeface="Calibri"/>
              </a:rPr>
              <a:t>systematic mechanism for </a:t>
            </a:r>
            <a:r>
              <a:rPr lang="en-GB" sz="2100" b="1" dirty="0">
                <a:solidFill>
                  <a:srgbClr val="0070C0"/>
                </a:solidFill>
                <a:latin typeface="Calibri"/>
                <a:ea typeface="Calibri"/>
                <a:cs typeface="Calibri"/>
                <a:sym typeface="Calibri"/>
              </a:rPr>
              <a:t>decomposing</a:t>
            </a:r>
            <a:r>
              <a:rPr lang="en-GB" sz="2100" dirty="0">
                <a:solidFill>
                  <a:schemeClr val="dk1"/>
                </a:solidFill>
                <a:latin typeface="Calibri"/>
                <a:ea typeface="Calibri"/>
                <a:cs typeface="Calibri"/>
                <a:sym typeface="Calibri"/>
              </a:rPr>
              <a:t> the problem into </a:t>
            </a:r>
            <a:r>
              <a:rPr lang="en-GB" sz="2100" dirty="0" err="1">
                <a:solidFill>
                  <a:schemeClr val="dk1"/>
                </a:solidFill>
                <a:latin typeface="Calibri"/>
                <a:ea typeface="Calibri"/>
                <a:cs typeface="Calibri"/>
                <a:sym typeface="Calibri"/>
              </a:rPr>
              <a:t>subproblems</a:t>
            </a:r>
            <a:r>
              <a:rPr lang="en-GB" sz="2100" dirty="0">
                <a:solidFill>
                  <a:schemeClr val="dk1"/>
                </a:solidFill>
                <a:latin typeface="Calibri"/>
                <a:ea typeface="Calibri"/>
                <a:cs typeface="Calibri"/>
                <a:sym typeface="Calibri"/>
              </a:rPr>
              <a:t>.</a:t>
            </a:r>
            <a:endParaRPr sz="2100" dirty="0">
              <a:solidFill>
                <a:schemeClr val="dk1"/>
              </a:solidFill>
              <a:latin typeface="Calibri"/>
              <a:ea typeface="Calibri"/>
              <a:cs typeface="Calibri"/>
              <a:sym typeface="Calibri"/>
            </a:endParaRPr>
          </a:p>
          <a:p>
            <a:pPr marL="450000" lvl="0" indent="-314325" algn="just" rtl="0">
              <a:spcBef>
                <a:spcPts val="0"/>
              </a:spcBef>
              <a:spcAft>
                <a:spcPts val="0"/>
              </a:spcAft>
              <a:buSzPts val="2100"/>
              <a:buFont typeface="Calibri"/>
              <a:buAutoNum type="arabicPeriod"/>
            </a:pPr>
            <a:r>
              <a:rPr lang="en-GB" sz="2100" b="1" dirty="0">
                <a:solidFill>
                  <a:srgbClr val="0070C0"/>
                </a:solidFill>
                <a:latin typeface="Calibri"/>
                <a:ea typeface="Calibri"/>
                <a:cs typeface="Calibri"/>
                <a:sym typeface="Calibri"/>
              </a:rPr>
              <a:t>Modular composability – reusing</a:t>
            </a:r>
            <a:r>
              <a:rPr lang="en-GB" sz="2100" dirty="0">
                <a:solidFill>
                  <a:srgbClr val="0070C0"/>
                </a:solidFill>
                <a:latin typeface="Calibri"/>
                <a:ea typeface="Calibri"/>
                <a:cs typeface="Calibri"/>
                <a:sym typeface="Calibri"/>
              </a:rPr>
              <a:t> </a:t>
            </a:r>
            <a:r>
              <a:rPr lang="en-GB" sz="2100" dirty="0">
                <a:solidFill>
                  <a:schemeClr val="dk1"/>
                </a:solidFill>
                <a:latin typeface="Calibri"/>
                <a:ea typeface="Calibri"/>
                <a:cs typeface="Calibri"/>
                <a:sym typeface="Calibri"/>
              </a:rPr>
              <a:t>existing system into new system yield modular solution and not reinvent wheel.</a:t>
            </a:r>
            <a:endParaRPr sz="2100" dirty="0">
              <a:solidFill>
                <a:schemeClr val="dk1"/>
              </a:solidFill>
              <a:latin typeface="Calibri"/>
              <a:ea typeface="Calibri"/>
              <a:cs typeface="Calibri"/>
              <a:sym typeface="Calibri"/>
            </a:endParaRPr>
          </a:p>
          <a:p>
            <a:pPr marL="450000" lvl="0" indent="-314325" algn="l" rtl="0">
              <a:spcBef>
                <a:spcPts val="0"/>
              </a:spcBef>
              <a:spcAft>
                <a:spcPts val="0"/>
              </a:spcAft>
              <a:buSzPts val="2100"/>
              <a:buFont typeface="Calibri"/>
              <a:buAutoNum type="arabicPeriod"/>
            </a:pPr>
            <a:r>
              <a:rPr lang="en-GB" sz="2100" b="1" dirty="0">
                <a:solidFill>
                  <a:srgbClr val="0070C0"/>
                </a:solidFill>
                <a:latin typeface="Calibri"/>
                <a:ea typeface="Calibri"/>
                <a:cs typeface="Calibri"/>
                <a:sym typeface="Calibri"/>
              </a:rPr>
              <a:t>Modular </a:t>
            </a:r>
            <a:r>
              <a:rPr lang="en-GB" sz="2100" b="1" dirty="0" err="1">
                <a:solidFill>
                  <a:srgbClr val="0070C0"/>
                </a:solidFill>
                <a:latin typeface="Calibri"/>
                <a:ea typeface="Calibri"/>
                <a:cs typeface="Calibri"/>
                <a:sym typeface="Calibri"/>
              </a:rPr>
              <a:t>understandability</a:t>
            </a:r>
            <a:r>
              <a:rPr lang="en-GB" sz="2100" b="1" dirty="0">
                <a:solidFill>
                  <a:srgbClr val="0070C0"/>
                </a:solidFill>
                <a:latin typeface="Calibri"/>
                <a:ea typeface="Calibri"/>
                <a:cs typeface="Calibri"/>
                <a:sym typeface="Calibri"/>
              </a:rPr>
              <a:t> </a:t>
            </a:r>
            <a:r>
              <a:rPr lang="en-GB" sz="2100" b="1" dirty="0">
                <a:solidFill>
                  <a:schemeClr val="dk1"/>
                </a:solidFill>
                <a:latin typeface="Calibri"/>
                <a:ea typeface="Calibri"/>
                <a:cs typeface="Calibri"/>
                <a:sym typeface="Calibri"/>
              </a:rPr>
              <a:t>- </a:t>
            </a:r>
            <a:r>
              <a:rPr lang="en-GB" sz="2100" dirty="0">
                <a:solidFill>
                  <a:schemeClr val="dk1"/>
                </a:solidFill>
                <a:latin typeface="Calibri"/>
                <a:ea typeface="Calibri"/>
                <a:cs typeface="Calibri"/>
                <a:sym typeface="Calibri"/>
              </a:rPr>
              <a:t>understood as </a:t>
            </a:r>
            <a:r>
              <a:rPr lang="en-GB" sz="2100" b="1" dirty="0">
                <a:solidFill>
                  <a:srgbClr val="0070C0"/>
                </a:solidFill>
                <a:latin typeface="Calibri"/>
                <a:ea typeface="Calibri"/>
                <a:cs typeface="Calibri"/>
                <a:sym typeface="Calibri"/>
              </a:rPr>
              <a:t>standalone</a:t>
            </a:r>
            <a:r>
              <a:rPr lang="en-GB" sz="2100" b="1" dirty="0">
                <a:solidFill>
                  <a:schemeClr val="dk1"/>
                </a:solidFill>
                <a:latin typeface="Calibri"/>
                <a:ea typeface="Calibri"/>
                <a:cs typeface="Calibri"/>
                <a:sym typeface="Calibri"/>
              </a:rPr>
              <a:t> </a:t>
            </a:r>
            <a:r>
              <a:rPr lang="en-GB" sz="2100" dirty="0">
                <a:solidFill>
                  <a:schemeClr val="dk1"/>
                </a:solidFill>
                <a:latin typeface="Calibri"/>
                <a:ea typeface="Calibri"/>
                <a:cs typeface="Calibri"/>
                <a:sym typeface="Calibri"/>
              </a:rPr>
              <a:t>unit , it will be easier to build and easier to change.</a:t>
            </a:r>
            <a:endParaRPr sz="2100" dirty="0">
              <a:solidFill>
                <a:schemeClr val="dk1"/>
              </a:solidFill>
              <a:latin typeface="Calibri"/>
              <a:ea typeface="Calibri"/>
              <a:cs typeface="Calibri"/>
              <a:sym typeface="Calibri"/>
            </a:endParaRPr>
          </a:p>
          <a:p>
            <a:pPr marL="450000" lvl="0" indent="-314325" algn="just" rtl="0">
              <a:spcBef>
                <a:spcPts val="0"/>
              </a:spcBef>
              <a:spcAft>
                <a:spcPts val="0"/>
              </a:spcAft>
              <a:buSzPts val="2100"/>
              <a:buFont typeface="Calibri"/>
              <a:buAutoNum type="arabicPeriod"/>
            </a:pPr>
            <a:r>
              <a:rPr lang="en-GB" sz="2100" b="1" dirty="0">
                <a:solidFill>
                  <a:srgbClr val="0070C0"/>
                </a:solidFill>
                <a:latin typeface="Calibri"/>
                <a:ea typeface="Calibri"/>
                <a:cs typeface="Calibri"/>
                <a:sym typeface="Calibri"/>
              </a:rPr>
              <a:t>Modular continuity </a:t>
            </a:r>
            <a:r>
              <a:rPr lang="en-GB" sz="2100" b="1" dirty="0">
                <a:solidFill>
                  <a:schemeClr val="dk1"/>
                </a:solidFill>
                <a:latin typeface="Calibri"/>
                <a:ea typeface="Calibri"/>
                <a:cs typeface="Calibri"/>
                <a:sym typeface="Calibri"/>
              </a:rPr>
              <a:t>- small changes </a:t>
            </a:r>
            <a:r>
              <a:rPr lang="en-GB" sz="2100" dirty="0">
                <a:solidFill>
                  <a:schemeClr val="dk1"/>
                </a:solidFill>
                <a:latin typeface="Calibri"/>
                <a:ea typeface="Calibri"/>
                <a:cs typeface="Calibri"/>
                <a:sym typeface="Calibri"/>
              </a:rPr>
              <a:t>to the system requirements - changes to </a:t>
            </a:r>
            <a:r>
              <a:rPr lang="en-GB" sz="2100" b="1" dirty="0">
                <a:solidFill>
                  <a:schemeClr val="dk1"/>
                </a:solidFill>
                <a:latin typeface="Calibri"/>
                <a:ea typeface="Calibri"/>
                <a:cs typeface="Calibri"/>
                <a:sym typeface="Calibri"/>
              </a:rPr>
              <a:t>individual modules</a:t>
            </a:r>
            <a:r>
              <a:rPr lang="en-GB" sz="2100" dirty="0">
                <a:solidFill>
                  <a:schemeClr val="dk1"/>
                </a:solidFill>
                <a:latin typeface="Calibri"/>
                <a:ea typeface="Calibri"/>
                <a:cs typeface="Calibri"/>
                <a:sym typeface="Calibri"/>
              </a:rPr>
              <a:t> rather system – change induced side effects minimized.</a:t>
            </a:r>
            <a:endParaRPr sz="2100" dirty="0">
              <a:solidFill>
                <a:schemeClr val="dk1"/>
              </a:solidFill>
              <a:latin typeface="Calibri"/>
              <a:ea typeface="Calibri"/>
              <a:cs typeface="Calibri"/>
              <a:sym typeface="Calibri"/>
            </a:endParaRPr>
          </a:p>
          <a:p>
            <a:pPr marL="457200" lvl="0" indent="-361950" algn="just" rtl="0">
              <a:spcBef>
                <a:spcPts val="0"/>
              </a:spcBef>
              <a:spcAft>
                <a:spcPts val="0"/>
              </a:spcAft>
              <a:buSzPts val="2100"/>
              <a:buFont typeface="Calibri"/>
              <a:buAutoNum type="arabicPeriod"/>
            </a:pPr>
            <a:r>
              <a:rPr lang="en-GB" sz="2100" b="1" dirty="0">
                <a:solidFill>
                  <a:srgbClr val="0070C0"/>
                </a:solidFill>
                <a:latin typeface="Calibri"/>
                <a:ea typeface="Calibri"/>
                <a:cs typeface="Calibri"/>
                <a:sym typeface="Calibri"/>
              </a:rPr>
              <a:t>Modular protection </a:t>
            </a:r>
            <a:r>
              <a:rPr lang="en-GB" sz="2100" b="1" dirty="0">
                <a:solidFill>
                  <a:schemeClr val="dk1"/>
                </a:solidFill>
                <a:latin typeface="Calibri"/>
                <a:ea typeface="Calibri"/>
                <a:cs typeface="Calibri"/>
                <a:sym typeface="Calibri"/>
              </a:rPr>
              <a:t>- </a:t>
            </a:r>
            <a:r>
              <a:rPr lang="en-GB" sz="2100" b="1" dirty="0">
                <a:solidFill>
                  <a:srgbClr val="0070C0"/>
                </a:solidFill>
                <a:latin typeface="Calibri"/>
                <a:ea typeface="Calibri"/>
                <a:cs typeface="Calibri"/>
                <a:sym typeface="Calibri"/>
              </a:rPr>
              <a:t>irregular</a:t>
            </a:r>
            <a:r>
              <a:rPr lang="en-GB" sz="2100" dirty="0">
                <a:solidFill>
                  <a:schemeClr val="dk1"/>
                </a:solidFill>
                <a:latin typeface="Calibri"/>
                <a:ea typeface="Calibri"/>
                <a:cs typeface="Calibri"/>
                <a:sym typeface="Calibri"/>
              </a:rPr>
              <a:t> condition - error-induced side effects minimized.</a:t>
            </a:r>
            <a:endParaRPr sz="2100" dirty="0">
              <a:solidFill>
                <a:schemeClr val="dk1"/>
              </a:solidFill>
              <a:latin typeface="Calibri"/>
              <a:ea typeface="Calibri"/>
              <a:cs typeface="Calibri"/>
              <a:sym typeface="Calibri"/>
            </a:endParaRPr>
          </a:p>
          <a:p>
            <a:pPr marL="0" lvl="0" indent="0" algn="just" rtl="0">
              <a:spcBef>
                <a:spcPts val="1000"/>
              </a:spcBef>
              <a:spcAft>
                <a:spcPts val="0"/>
              </a:spcAft>
              <a:buNone/>
            </a:pPr>
            <a:endParaRPr sz="2000" b="1" dirty="0">
              <a:solidFill>
                <a:srgbClr val="0070C0"/>
              </a:solidFill>
              <a:latin typeface="Calibri"/>
              <a:ea typeface="Calibri"/>
              <a:cs typeface="Calibri"/>
              <a:sym typeface="Calibri"/>
            </a:endParaRPr>
          </a:p>
        </p:txBody>
      </p:sp>
      <p:sp>
        <p:nvSpPr>
          <p:cNvPr id="250" name="Google Shape;250;p3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251" name="Google Shape;251;p3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25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8"/>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Concepts</a:t>
            </a:r>
            <a:endParaRPr b="1"/>
          </a:p>
        </p:txBody>
      </p:sp>
      <p:sp>
        <p:nvSpPr>
          <p:cNvPr id="257" name="Google Shape;257;p38"/>
          <p:cNvSpPr txBox="1">
            <a:spLocks noGrp="1"/>
          </p:cNvSpPr>
          <p:nvPr>
            <p:ph type="body" idx="1"/>
          </p:nvPr>
        </p:nvSpPr>
        <p:spPr>
          <a:xfrm>
            <a:off x="0" y="595325"/>
            <a:ext cx="8871600" cy="2475300"/>
          </a:xfrm>
          <a:prstGeom prst="rect">
            <a:avLst/>
          </a:prstGeom>
          <a:noFill/>
          <a:ln>
            <a:noFill/>
          </a:ln>
        </p:spPr>
        <p:txBody>
          <a:bodyPr spcFirstLastPara="1" wrap="square" lIns="68575" tIns="34275" rIns="68575" bIns="34275" anchor="t" anchorCtr="0">
            <a:noAutofit/>
          </a:bodyPr>
          <a:lstStyle/>
          <a:p>
            <a:pPr marL="0" lvl="0" indent="0" algn="l" rtl="0">
              <a:spcBef>
                <a:spcPts val="1000"/>
              </a:spcBef>
              <a:spcAft>
                <a:spcPts val="0"/>
              </a:spcAft>
              <a:buNone/>
            </a:pPr>
            <a:r>
              <a:rPr lang="en-GB" sz="2300" b="1">
                <a:solidFill>
                  <a:srgbClr val="0070C0"/>
                </a:solidFill>
                <a:latin typeface="Calibri"/>
                <a:ea typeface="Calibri"/>
                <a:cs typeface="Calibri"/>
                <a:sym typeface="Calibri"/>
              </a:rPr>
              <a:t>4.  Software Architecture</a:t>
            </a:r>
            <a:endParaRPr sz="2300" b="1">
              <a:solidFill>
                <a:srgbClr val="0070C0"/>
              </a:solidFill>
              <a:latin typeface="Calibri"/>
              <a:ea typeface="Calibri"/>
              <a:cs typeface="Calibri"/>
              <a:sym typeface="Calibri"/>
            </a:endParaRPr>
          </a:p>
          <a:p>
            <a:pPr marL="457200" lvl="0" indent="-368300" algn="just" rtl="0">
              <a:spcBef>
                <a:spcPts val="100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Architecture- the overall structure of the software</a:t>
            </a:r>
            <a:endParaRPr sz="2200">
              <a:solidFill>
                <a:schemeClr val="dk1"/>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Hierarchical structure of the software components (modules), the manner in which these components interact and the structure of data that are used by the components</a:t>
            </a:r>
            <a:endParaRPr sz="2200">
              <a:solidFill>
                <a:schemeClr val="dk1"/>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Well designed architecture serves as framework for detailed design activities which can also help in reuse of design level concepts</a:t>
            </a:r>
            <a:endParaRPr sz="2200">
              <a:solidFill>
                <a:schemeClr val="dk1"/>
              </a:solidFill>
              <a:latin typeface="Calibri"/>
              <a:ea typeface="Calibri"/>
              <a:cs typeface="Calibri"/>
              <a:sym typeface="Calibri"/>
            </a:endParaRPr>
          </a:p>
          <a:p>
            <a:pPr marL="0" lvl="0" indent="0" algn="just" rtl="0">
              <a:spcBef>
                <a:spcPts val="1000"/>
              </a:spcBef>
              <a:spcAft>
                <a:spcPts val="0"/>
              </a:spcAft>
              <a:buNone/>
            </a:pPr>
            <a:endParaRPr sz="2000" b="1">
              <a:solidFill>
                <a:srgbClr val="0070C0"/>
              </a:solidFill>
              <a:latin typeface="Calibri"/>
              <a:ea typeface="Calibri"/>
              <a:cs typeface="Calibri"/>
              <a:sym typeface="Calibri"/>
            </a:endParaRPr>
          </a:p>
        </p:txBody>
      </p:sp>
      <p:sp>
        <p:nvSpPr>
          <p:cNvPr id="258" name="Google Shape;258;p3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259" name="Google Shape;259;p3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26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9"/>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Concepts</a:t>
            </a:r>
            <a:endParaRPr b="1"/>
          </a:p>
        </p:txBody>
      </p:sp>
      <p:sp>
        <p:nvSpPr>
          <p:cNvPr id="265" name="Google Shape;265;p39"/>
          <p:cNvSpPr txBox="1">
            <a:spLocks noGrp="1"/>
          </p:cNvSpPr>
          <p:nvPr>
            <p:ph type="body" idx="1"/>
          </p:nvPr>
        </p:nvSpPr>
        <p:spPr>
          <a:xfrm>
            <a:off x="0" y="595325"/>
            <a:ext cx="8871600" cy="2475300"/>
          </a:xfrm>
          <a:prstGeom prst="rect">
            <a:avLst/>
          </a:prstGeom>
          <a:noFill/>
          <a:ln>
            <a:noFill/>
          </a:ln>
        </p:spPr>
        <p:txBody>
          <a:bodyPr spcFirstLastPara="1" wrap="square" lIns="68575" tIns="34275" rIns="68575" bIns="34275" anchor="t" anchorCtr="0">
            <a:noAutofit/>
          </a:bodyPr>
          <a:lstStyle/>
          <a:p>
            <a:pPr marL="0" lvl="0" indent="0" algn="l" rtl="0">
              <a:spcBef>
                <a:spcPts val="1000"/>
              </a:spcBef>
              <a:spcAft>
                <a:spcPts val="0"/>
              </a:spcAft>
              <a:buNone/>
            </a:pPr>
            <a:r>
              <a:rPr lang="en-GB" b="1" dirty="0" smtClean="0">
                <a:solidFill>
                  <a:srgbClr val="0070C0"/>
                </a:solidFill>
                <a:latin typeface="Calibri"/>
                <a:ea typeface="Calibri"/>
                <a:cs typeface="Calibri"/>
                <a:sym typeface="Calibri"/>
              </a:rPr>
              <a:t>Software </a:t>
            </a:r>
            <a:r>
              <a:rPr lang="en-GB" b="1" dirty="0">
                <a:solidFill>
                  <a:srgbClr val="0070C0"/>
                </a:solidFill>
                <a:latin typeface="Calibri"/>
                <a:ea typeface="Calibri"/>
                <a:cs typeface="Calibri"/>
                <a:sym typeface="Calibri"/>
              </a:rPr>
              <a:t>Architecture</a:t>
            </a:r>
            <a:endParaRPr dirty="0">
              <a:solidFill>
                <a:schemeClr val="dk1"/>
              </a:solidFill>
              <a:latin typeface="Calibri"/>
              <a:ea typeface="Calibri"/>
              <a:cs typeface="Calibri"/>
              <a:sym typeface="Calibri"/>
            </a:endParaRPr>
          </a:p>
          <a:p>
            <a:pPr marL="457200" lvl="0" indent="-368300" algn="just" rtl="0">
              <a:spcBef>
                <a:spcPts val="1000"/>
              </a:spcBef>
              <a:spcAft>
                <a:spcPts val="0"/>
              </a:spcAft>
              <a:buClr>
                <a:schemeClr val="dk1"/>
              </a:buClr>
              <a:buSzPts val="2200"/>
              <a:buFont typeface="Calibri"/>
              <a:buChar char="●"/>
            </a:pPr>
            <a:r>
              <a:rPr lang="en-GB" b="1" dirty="0">
                <a:solidFill>
                  <a:schemeClr val="dk1"/>
                </a:solidFill>
                <a:latin typeface="Calibri"/>
                <a:ea typeface="Calibri"/>
                <a:cs typeface="Calibri"/>
                <a:sym typeface="Calibri"/>
              </a:rPr>
              <a:t>Properties of architectural design:</a:t>
            </a:r>
            <a:endParaRPr b="1" dirty="0">
              <a:solidFill>
                <a:schemeClr val="dk1"/>
              </a:solidFill>
              <a:latin typeface="Calibri"/>
              <a:ea typeface="Calibri"/>
              <a:cs typeface="Calibri"/>
              <a:sym typeface="Calibri"/>
            </a:endParaRPr>
          </a:p>
          <a:p>
            <a:pPr marL="457200" lvl="0" indent="-361950" algn="just" rtl="0">
              <a:spcBef>
                <a:spcPts val="0"/>
              </a:spcBef>
              <a:spcAft>
                <a:spcPts val="0"/>
              </a:spcAft>
              <a:buSzPts val="2100"/>
              <a:buFont typeface="Calibri"/>
              <a:buAutoNum type="arabicPeriod"/>
            </a:pPr>
            <a:r>
              <a:rPr lang="en-GB" b="1" dirty="0">
                <a:solidFill>
                  <a:srgbClr val="0070C0"/>
                </a:solidFill>
                <a:latin typeface="Calibri"/>
                <a:ea typeface="Calibri"/>
                <a:cs typeface="Calibri"/>
                <a:sym typeface="Calibri"/>
              </a:rPr>
              <a:t>Structural properties </a:t>
            </a:r>
            <a:r>
              <a:rPr lang="en-GB" b="1" dirty="0">
                <a:solidFill>
                  <a:schemeClr val="dk1"/>
                </a:solidFill>
                <a:latin typeface="Calibri"/>
                <a:ea typeface="Calibri"/>
                <a:cs typeface="Calibri"/>
                <a:sym typeface="Calibri"/>
              </a:rPr>
              <a:t>– </a:t>
            </a:r>
            <a:r>
              <a:rPr lang="en-GB" dirty="0">
                <a:solidFill>
                  <a:schemeClr val="dk1"/>
                </a:solidFill>
                <a:latin typeface="Calibri"/>
                <a:ea typeface="Calibri"/>
                <a:cs typeface="Calibri"/>
                <a:sym typeface="Calibri"/>
              </a:rPr>
              <a:t>defines the components of a system and their interaction with one </a:t>
            </a:r>
            <a:r>
              <a:rPr lang="en-GB" dirty="0" smtClean="0">
                <a:solidFill>
                  <a:schemeClr val="dk1"/>
                </a:solidFill>
                <a:latin typeface="Calibri"/>
                <a:ea typeface="Calibri"/>
                <a:cs typeface="Calibri"/>
                <a:sym typeface="Calibri"/>
              </a:rPr>
              <a:t>another</a:t>
            </a:r>
          </a:p>
          <a:p>
            <a:pPr marL="895350" lvl="1" indent="-342900" algn="just">
              <a:spcBef>
                <a:spcPts val="0"/>
              </a:spcBef>
              <a:buSzPts val="2100"/>
            </a:pPr>
            <a:r>
              <a:rPr lang="en-US" sz="1600" b="1" dirty="0" smtClean="0"/>
              <a:t>Example</a:t>
            </a:r>
            <a:r>
              <a:rPr lang="en-US" sz="1600" dirty="0"/>
              <a:t>: In a web application, structural properties might define how the front-end (user interface) components interact with the back-end (database and server logic).</a:t>
            </a:r>
            <a:endParaRPr sz="1100" dirty="0">
              <a:solidFill>
                <a:schemeClr val="dk1"/>
              </a:solidFill>
              <a:latin typeface="Calibri"/>
              <a:ea typeface="Calibri"/>
              <a:cs typeface="Calibri"/>
              <a:sym typeface="Calibri"/>
            </a:endParaRPr>
          </a:p>
          <a:p>
            <a:pPr marL="457200" lvl="0" indent="-361950" algn="just" rtl="0">
              <a:spcBef>
                <a:spcPts val="0"/>
              </a:spcBef>
              <a:spcAft>
                <a:spcPts val="0"/>
              </a:spcAft>
              <a:buSzPts val="2100"/>
              <a:buFont typeface="Calibri"/>
              <a:buAutoNum type="arabicPeriod"/>
            </a:pPr>
            <a:r>
              <a:rPr lang="en-GB" b="1" dirty="0">
                <a:solidFill>
                  <a:srgbClr val="0070C0"/>
                </a:solidFill>
                <a:latin typeface="Calibri"/>
                <a:ea typeface="Calibri"/>
                <a:cs typeface="Calibri"/>
                <a:sym typeface="Calibri"/>
              </a:rPr>
              <a:t>Extra-functional properties– </a:t>
            </a:r>
            <a:r>
              <a:rPr lang="en-GB" dirty="0">
                <a:solidFill>
                  <a:schemeClr val="dk1"/>
                </a:solidFill>
                <a:latin typeface="Calibri"/>
                <a:ea typeface="Calibri"/>
                <a:cs typeface="Calibri"/>
                <a:sym typeface="Calibri"/>
              </a:rPr>
              <a:t>like performance, capacity, reliability, security, adaptability, and other system </a:t>
            </a:r>
            <a:r>
              <a:rPr lang="en-GB" dirty="0" smtClean="0">
                <a:solidFill>
                  <a:schemeClr val="dk1"/>
                </a:solidFill>
                <a:latin typeface="Calibri"/>
                <a:ea typeface="Calibri"/>
                <a:cs typeface="Calibri"/>
                <a:sym typeface="Calibri"/>
              </a:rPr>
              <a:t>characteristics</a:t>
            </a:r>
          </a:p>
          <a:p>
            <a:pPr lvl="1" indent="-361950" algn="just">
              <a:spcBef>
                <a:spcPts val="0"/>
              </a:spcBef>
              <a:buSzPts val="2100"/>
            </a:pPr>
            <a:r>
              <a:rPr lang="en-US" sz="1600" b="1" dirty="0"/>
              <a:t>Example</a:t>
            </a:r>
            <a:r>
              <a:rPr lang="en-US" sz="1600" dirty="0"/>
              <a:t>: For a banking application, extra-functional properties might focus on ensuring high security, fast response times (performance), and the ability to handle a large number of transactions simultaneously (capacity).</a:t>
            </a:r>
            <a:endParaRPr sz="1100" dirty="0">
              <a:solidFill>
                <a:schemeClr val="dk1"/>
              </a:solidFill>
              <a:latin typeface="Calibri"/>
              <a:ea typeface="Calibri"/>
              <a:cs typeface="Calibri"/>
              <a:sym typeface="Calibri"/>
            </a:endParaRPr>
          </a:p>
          <a:p>
            <a:pPr marL="457200" lvl="0" indent="-361950" algn="l" rtl="0">
              <a:spcBef>
                <a:spcPts val="0"/>
              </a:spcBef>
              <a:spcAft>
                <a:spcPts val="0"/>
              </a:spcAft>
              <a:buSzPts val="2100"/>
              <a:buFont typeface="Calibri"/>
              <a:buAutoNum type="arabicPeriod"/>
            </a:pPr>
            <a:r>
              <a:rPr lang="en-GB" b="1" dirty="0">
                <a:solidFill>
                  <a:srgbClr val="0070C0"/>
                </a:solidFill>
                <a:latin typeface="Calibri"/>
                <a:ea typeface="Calibri"/>
                <a:cs typeface="Calibri"/>
                <a:sym typeface="Calibri"/>
              </a:rPr>
              <a:t>Families of related systems</a:t>
            </a:r>
            <a:r>
              <a:rPr lang="en-GB" b="1" dirty="0">
                <a:solidFill>
                  <a:schemeClr val="dk1"/>
                </a:solidFill>
                <a:latin typeface="Calibri"/>
                <a:ea typeface="Calibri"/>
                <a:cs typeface="Calibri"/>
                <a:sym typeface="Calibri"/>
              </a:rPr>
              <a:t>- </a:t>
            </a:r>
            <a:r>
              <a:rPr lang="en-GB" dirty="0">
                <a:solidFill>
                  <a:schemeClr val="dk1"/>
                </a:solidFill>
                <a:latin typeface="Calibri"/>
                <a:ea typeface="Calibri"/>
                <a:cs typeface="Calibri"/>
                <a:sym typeface="Calibri"/>
              </a:rPr>
              <a:t>should draw upon repeatable patterns that are commonly encountered in the design of families of similar systems</a:t>
            </a:r>
            <a:r>
              <a:rPr lang="en-GB" dirty="0" smtClean="0">
                <a:solidFill>
                  <a:schemeClr val="dk1"/>
                </a:solidFill>
                <a:latin typeface="Calibri"/>
                <a:ea typeface="Calibri"/>
                <a:cs typeface="Calibri"/>
                <a:sym typeface="Calibri"/>
              </a:rPr>
              <a:t>..</a:t>
            </a:r>
          </a:p>
          <a:p>
            <a:pPr lvl="1" indent="-361950">
              <a:spcBef>
                <a:spcPts val="0"/>
              </a:spcBef>
              <a:buSzPts val="2100"/>
            </a:pPr>
            <a:r>
              <a:rPr lang="en-US" sz="1600" b="1" dirty="0"/>
              <a:t>Example</a:t>
            </a:r>
            <a:r>
              <a:rPr lang="en-US" sz="1600" dirty="0"/>
              <a:t>: When designing e-commerce platforms, architects might use a well-known pattern like the "Model-View-Controller" (MVC) to separate concerns and ensure a clear structure that can be easily adapted to different types of online stores.</a:t>
            </a:r>
            <a:endParaRPr dirty="0">
              <a:solidFill>
                <a:schemeClr val="dk1"/>
              </a:solidFill>
              <a:latin typeface="Calibri"/>
              <a:ea typeface="Calibri"/>
              <a:cs typeface="Calibri"/>
              <a:sym typeface="Calibri"/>
            </a:endParaRPr>
          </a:p>
          <a:p>
            <a:pPr marL="0" lvl="0" indent="0" algn="just" rtl="0">
              <a:spcBef>
                <a:spcPts val="1000"/>
              </a:spcBef>
              <a:spcAft>
                <a:spcPts val="0"/>
              </a:spcAft>
              <a:buNone/>
            </a:pPr>
            <a:endParaRPr sz="1600" b="1" dirty="0">
              <a:solidFill>
                <a:srgbClr val="0070C0"/>
              </a:solidFill>
              <a:latin typeface="Calibri"/>
              <a:ea typeface="Calibri"/>
              <a:cs typeface="Calibri"/>
              <a:sym typeface="Calibri"/>
            </a:endParaRPr>
          </a:p>
        </p:txBody>
      </p:sp>
      <p:sp>
        <p:nvSpPr>
          <p:cNvPr id="266" name="Google Shape;266;p3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267" name="Google Shape;267;p3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27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1"/>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Concepts</a:t>
            </a:r>
            <a:endParaRPr b="1"/>
          </a:p>
        </p:txBody>
      </p:sp>
      <p:sp>
        <p:nvSpPr>
          <p:cNvPr id="281" name="Google Shape;281;p41"/>
          <p:cNvSpPr txBox="1">
            <a:spLocks noGrp="1"/>
          </p:cNvSpPr>
          <p:nvPr>
            <p:ph type="body" idx="1"/>
          </p:nvPr>
        </p:nvSpPr>
        <p:spPr>
          <a:xfrm>
            <a:off x="0" y="595325"/>
            <a:ext cx="8871600" cy="2475300"/>
          </a:xfrm>
          <a:prstGeom prst="rect">
            <a:avLst/>
          </a:prstGeom>
          <a:noFill/>
          <a:ln>
            <a:noFill/>
          </a:ln>
        </p:spPr>
        <p:txBody>
          <a:bodyPr spcFirstLastPara="1" wrap="square" lIns="68575" tIns="34275" rIns="68575" bIns="34275" anchor="t" anchorCtr="0">
            <a:noAutofit/>
          </a:bodyPr>
          <a:lstStyle/>
          <a:p>
            <a:pPr marL="0" lvl="0" indent="0" algn="l" rtl="0">
              <a:spcBef>
                <a:spcPts val="1000"/>
              </a:spcBef>
              <a:spcAft>
                <a:spcPts val="0"/>
              </a:spcAft>
              <a:buNone/>
            </a:pPr>
            <a:r>
              <a:rPr lang="en-GB" sz="2400" b="1">
                <a:solidFill>
                  <a:srgbClr val="0070C0"/>
                </a:solidFill>
                <a:latin typeface="Calibri"/>
                <a:ea typeface="Calibri"/>
                <a:cs typeface="Calibri"/>
                <a:sym typeface="Calibri"/>
              </a:rPr>
              <a:t>5. Patterns </a:t>
            </a:r>
            <a:endParaRPr sz="2400" b="1">
              <a:solidFill>
                <a:srgbClr val="0070C0"/>
              </a:solidFill>
              <a:latin typeface="Calibri"/>
              <a:ea typeface="Calibri"/>
              <a:cs typeface="Calibri"/>
              <a:sym typeface="Calibri"/>
            </a:endParaRPr>
          </a:p>
          <a:p>
            <a:pPr marL="457200" lvl="0" indent="-374650" algn="l" rtl="0">
              <a:lnSpc>
                <a:spcPct val="100000"/>
              </a:lnSpc>
              <a:spcBef>
                <a:spcPts val="100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A design pattern describes a design structure that solves a particular design problem within a specific context.</a:t>
            </a:r>
            <a:endParaRPr sz="2300">
              <a:solidFill>
                <a:schemeClr val="dk1"/>
              </a:solidFill>
            </a:endParaRPr>
          </a:p>
          <a:p>
            <a:pPr marL="457200" lvl="0" indent="-374650" algn="just" rtl="0">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The intent of each design pattern is to provide a description that enables a designer to determine:</a:t>
            </a:r>
            <a:endParaRPr sz="2300">
              <a:solidFill>
                <a:schemeClr val="dk1"/>
              </a:solidFill>
              <a:latin typeface="Calibri"/>
              <a:ea typeface="Calibri"/>
              <a:cs typeface="Calibri"/>
              <a:sym typeface="Calibri"/>
            </a:endParaRPr>
          </a:p>
          <a:p>
            <a:pPr marL="914400" lvl="0" indent="-374650" algn="just" rtl="0">
              <a:lnSpc>
                <a:spcPct val="100000"/>
              </a:lnSpc>
              <a:spcBef>
                <a:spcPts val="0"/>
              </a:spcBef>
              <a:spcAft>
                <a:spcPts val="0"/>
              </a:spcAft>
              <a:buClr>
                <a:schemeClr val="dk1"/>
              </a:buClr>
              <a:buSzPts val="2300"/>
              <a:buFont typeface="Calibri"/>
              <a:buAutoNum type="arabicPeriod"/>
            </a:pPr>
            <a:r>
              <a:rPr lang="en-GB" sz="2300">
                <a:solidFill>
                  <a:schemeClr val="dk1"/>
                </a:solidFill>
                <a:latin typeface="Calibri"/>
                <a:ea typeface="Calibri"/>
                <a:cs typeface="Calibri"/>
                <a:sym typeface="Calibri"/>
              </a:rPr>
              <a:t>whether the pattern is applicable to the </a:t>
            </a:r>
            <a:r>
              <a:rPr lang="en-GB" sz="2300" b="1">
                <a:solidFill>
                  <a:schemeClr val="dk1"/>
                </a:solidFill>
                <a:latin typeface="Calibri"/>
                <a:ea typeface="Calibri"/>
                <a:cs typeface="Calibri"/>
                <a:sym typeface="Calibri"/>
              </a:rPr>
              <a:t>current work</a:t>
            </a:r>
            <a:endParaRPr sz="2300" b="1">
              <a:solidFill>
                <a:schemeClr val="dk1"/>
              </a:solidFill>
              <a:latin typeface="Calibri"/>
              <a:ea typeface="Calibri"/>
              <a:cs typeface="Calibri"/>
              <a:sym typeface="Calibri"/>
            </a:endParaRPr>
          </a:p>
          <a:p>
            <a:pPr marL="914400" lvl="0" indent="-374650" algn="just" rtl="0">
              <a:lnSpc>
                <a:spcPct val="100000"/>
              </a:lnSpc>
              <a:spcBef>
                <a:spcPts val="0"/>
              </a:spcBef>
              <a:spcAft>
                <a:spcPts val="0"/>
              </a:spcAft>
              <a:buClr>
                <a:schemeClr val="dk1"/>
              </a:buClr>
              <a:buSzPts val="2300"/>
              <a:buFont typeface="Calibri"/>
              <a:buAutoNum type="arabicPeriod"/>
            </a:pPr>
            <a:r>
              <a:rPr lang="en-GB" sz="2300">
                <a:solidFill>
                  <a:schemeClr val="dk1"/>
                </a:solidFill>
                <a:latin typeface="Calibri"/>
                <a:ea typeface="Calibri"/>
                <a:cs typeface="Calibri"/>
                <a:sym typeface="Calibri"/>
              </a:rPr>
              <a:t>whether the pattern can be </a:t>
            </a:r>
            <a:r>
              <a:rPr lang="en-GB" sz="2300" b="1">
                <a:solidFill>
                  <a:schemeClr val="dk1"/>
                </a:solidFill>
                <a:latin typeface="Calibri"/>
                <a:ea typeface="Calibri"/>
                <a:cs typeface="Calibri"/>
                <a:sym typeface="Calibri"/>
              </a:rPr>
              <a:t>reused</a:t>
            </a:r>
            <a:endParaRPr sz="2300" b="1">
              <a:solidFill>
                <a:schemeClr val="dk1"/>
              </a:solidFill>
              <a:latin typeface="Calibri"/>
              <a:ea typeface="Calibri"/>
              <a:cs typeface="Calibri"/>
              <a:sym typeface="Calibri"/>
            </a:endParaRPr>
          </a:p>
          <a:p>
            <a:pPr marL="914400" marR="0" lvl="0" indent="-374650" algn="just" rtl="0">
              <a:lnSpc>
                <a:spcPct val="100000"/>
              </a:lnSpc>
              <a:spcBef>
                <a:spcPts val="0"/>
              </a:spcBef>
              <a:spcAft>
                <a:spcPts val="0"/>
              </a:spcAft>
              <a:buSzPts val="2300"/>
              <a:buFont typeface="Calibri"/>
              <a:buAutoNum type="arabicPeriod"/>
            </a:pPr>
            <a:r>
              <a:rPr lang="en-GB" sz="2300">
                <a:solidFill>
                  <a:schemeClr val="dk1"/>
                </a:solidFill>
                <a:latin typeface="Calibri"/>
                <a:ea typeface="Calibri"/>
                <a:cs typeface="Calibri"/>
                <a:sym typeface="Calibri"/>
              </a:rPr>
              <a:t>whether the pattern can serve as a guide for </a:t>
            </a:r>
            <a:r>
              <a:rPr lang="en-GB" sz="2300" b="1">
                <a:solidFill>
                  <a:schemeClr val="dk1"/>
                </a:solidFill>
                <a:latin typeface="Calibri"/>
                <a:ea typeface="Calibri"/>
                <a:cs typeface="Calibri"/>
                <a:sym typeface="Calibri"/>
              </a:rPr>
              <a:t>developing a similar,</a:t>
            </a:r>
            <a:r>
              <a:rPr lang="en-GB" sz="2300">
                <a:solidFill>
                  <a:schemeClr val="dk1"/>
                </a:solidFill>
                <a:latin typeface="Calibri"/>
                <a:ea typeface="Calibri"/>
                <a:cs typeface="Calibri"/>
                <a:sym typeface="Calibri"/>
              </a:rPr>
              <a:t> but f</a:t>
            </a:r>
            <a:r>
              <a:rPr lang="en-GB" sz="2300" b="1">
                <a:solidFill>
                  <a:schemeClr val="dk1"/>
                </a:solidFill>
                <a:latin typeface="Calibri"/>
                <a:ea typeface="Calibri"/>
                <a:cs typeface="Calibri"/>
                <a:sym typeface="Calibri"/>
              </a:rPr>
              <a:t>unctionally </a:t>
            </a:r>
            <a:r>
              <a:rPr lang="en-GB" sz="2300">
                <a:solidFill>
                  <a:schemeClr val="dk1"/>
                </a:solidFill>
                <a:latin typeface="Calibri"/>
                <a:ea typeface="Calibri"/>
                <a:cs typeface="Calibri"/>
                <a:sym typeface="Calibri"/>
              </a:rPr>
              <a:t>or </a:t>
            </a:r>
            <a:r>
              <a:rPr lang="en-GB" sz="2300" b="1">
                <a:solidFill>
                  <a:schemeClr val="dk1"/>
                </a:solidFill>
                <a:latin typeface="Calibri"/>
                <a:ea typeface="Calibri"/>
                <a:cs typeface="Calibri"/>
                <a:sym typeface="Calibri"/>
              </a:rPr>
              <a:t>structurally different pattern</a:t>
            </a:r>
            <a:endParaRPr sz="2300" b="1">
              <a:solidFill>
                <a:schemeClr val="dk1"/>
              </a:solidFill>
              <a:latin typeface="Calibri"/>
              <a:ea typeface="Calibri"/>
              <a:cs typeface="Calibri"/>
              <a:sym typeface="Calibri"/>
            </a:endParaRPr>
          </a:p>
          <a:p>
            <a:pPr marL="0" lvl="0" indent="0" algn="just" rtl="0">
              <a:spcBef>
                <a:spcPts val="1000"/>
              </a:spcBef>
              <a:spcAft>
                <a:spcPts val="0"/>
              </a:spcAft>
              <a:buNone/>
            </a:pPr>
            <a:endParaRPr sz="2000" b="1">
              <a:solidFill>
                <a:srgbClr val="0070C0"/>
              </a:solidFill>
              <a:latin typeface="Calibri"/>
              <a:ea typeface="Calibri"/>
              <a:cs typeface="Calibri"/>
              <a:sym typeface="Calibri"/>
            </a:endParaRPr>
          </a:p>
        </p:txBody>
      </p:sp>
      <p:sp>
        <p:nvSpPr>
          <p:cNvPr id="282" name="Google Shape;282;p4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283" name="Google Shape;283;p4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28</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dirty="0" smtClean="0"/>
              <a:t>Example:</a:t>
            </a:r>
            <a:endParaRPr lang="en-IN"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1242" y="1306287"/>
            <a:ext cx="4358408" cy="33242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8824864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2"/>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Concepts</a:t>
            </a:r>
            <a:endParaRPr b="1"/>
          </a:p>
        </p:txBody>
      </p:sp>
      <p:sp>
        <p:nvSpPr>
          <p:cNvPr id="289" name="Google Shape;289;p42"/>
          <p:cNvSpPr txBox="1">
            <a:spLocks noGrp="1"/>
          </p:cNvSpPr>
          <p:nvPr>
            <p:ph type="body" idx="1"/>
          </p:nvPr>
        </p:nvSpPr>
        <p:spPr>
          <a:xfrm>
            <a:off x="0" y="595325"/>
            <a:ext cx="8871600" cy="2475300"/>
          </a:xfrm>
          <a:prstGeom prst="rect">
            <a:avLst/>
          </a:prstGeom>
          <a:noFill/>
          <a:ln>
            <a:noFill/>
          </a:ln>
        </p:spPr>
        <p:txBody>
          <a:bodyPr spcFirstLastPara="1" wrap="square" lIns="68575" tIns="34275" rIns="68575" bIns="34275" anchor="t" anchorCtr="0">
            <a:noAutofit/>
          </a:bodyPr>
          <a:lstStyle/>
          <a:p>
            <a:pPr marL="0" lvl="0" indent="0" algn="l" rtl="0">
              <a:spcBef>
                <a:spcPts val="1000"/>
              </a:spcBef>
              <a:spcAft>
                <a:spcPts val="0"/>
              </a:spcAft>
              <a:buNone/>
            </a:pPr>
            <a:r>
              <a:rPr lang="en-GB" sz="2400" b="1">
                <a:solidFill>
                  <a:srgbClr val="0070C0"/>
                </a:solidFill>
                <a:latin typeface="Calibri"/>
                <a:ea typeface="Calibri"/>
                <a:cs typeface="Calibri"/>
                <a:sym typeface="Calibri"/>
              </a:rPr>
              <a:t>6. Information Hiding </a:t>
            </a:r>
            <a:endParaRPr sz="2400" b="1">
              <a:solidFill>
                <a:srgbClr val="0070C0"/>
              </a:solidFill>
              <a:latin typeface="Calibri"/>
              <a:ea typeface="Calibri"/>
              <a:cs typeface="Calibri"/>
              <a:sym typeface="Calibri"/>
            </a:endParaRPr>
          </a:p>
          <a:p>
            <a:pPr marL="457200" lvl="0" indent="-374650" algn="just" rtl="0">
              <a:lnSpc>
                <a:spcPct val="100000"/>
              </a:lnSpc>
              <a:spcBef>
                <a:spcPts val="700"/>
              </a:spcBef>
              <a:spcAft>
                <a:spcPts val="0"/>
              </a:spcAft>
              <a:buClr>
                <a:schemeClr val="dk1"/>
              </a:buClr>
              <a:buSzPts val="2300"/>
              <a:buFont typeface="Calibri"/>
              <a:buChar char="●"/>
            </a:pPr>
            <a:r>
              <a:rPr lang="en-GB" sz="2300" b="1">
                <a:solidFill>
                  <a:schemeClr val="dk1"/>
                </a:solidFill>
                <a:latin typeface="Calibri"/>
                <a:ea typeface="Calibri"/>
                <a:cs typeface="Calibri"/>
                <a:sym typeface="Calibri"/>
              </a:rPr>
              <a:t>Hide the details of data structures and procedural processing</a:t>
            </a:r>
            <a:r>
              <a:rPr lang="en-GB" sz="2300">
                <a:solidFill>
                  <a:schemeClr val="dk1"/>
                </a:solidFill>
                <a:latin typeface="Calibri"/>
                <a:ea typeface="Calibri"/>
                <a:cs typeface="Calibri"/>
                <a:sym typeface="Calibri"/>
              </a:rPr>
              <a:t> behind a module interface.</a:t>
            </a:r>
            <a:endParaRPr sz="2300">
              <a:solidFill>
                <a:schemeClr val="dk1"/>
              </a:solidFill>
              <a:latin typeface="Calibri"/>
              <a:ea typeface="Calibri"/>
              <a:cs typeface="Calibri"/>
              <a:sym typeface="Calibri"/>
            </a:endParaRPr>
          </a:p>
          <a:p>
            <a:pPr marL="457200" lvl="0" indent="-374650" algn="just" rtl="0">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Knowledge of the </a:t>
            </a:r>
            <a:r>
              <a:rPr lang="en-GB" sz="2300" b="1">
                <a:solidFill>
                  <a:schemeClr val="dk1"/>
                </a:solidFill>
                <a:latin typeface="Calibri"/>
                <a:ea typeface="Calibri"/>
                <a:cs typeface="Calibri"/>
                <a:sym typeface="Calibri"/>
              </a:rPr>
              <a:t>details need not be known by users</a:t>
            </a:r>
            <a:endParaRPr sz="2300" b="1">
              <a:solidFill>
                <a:schemeClr val="dk1"/>
              </a:solidFill>
              <a:latin typeface="Calibri"/>
              <a:ea typeface="Calibri"/>
              <a:cs typeface="Calibri"/>
              <a:sym typeface="Calibri"/>
            </a:endParaRPr>
          </a:p>
          <a:p>
            <a:pPr marL="457200" lvl="0" indent="-374650" algn="just" rtl="0">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independent modules that </a:t>
            </a:r>
            <a:r>
              <a:rPr lang="en-GB" sz="2300" b="1">
                <a:solidFill>
                  <a:schemeClr val="dk1"/>
                </a:solidFill>
                <a:latin typeface="Calibri"/>
                <a:ea typeface="Calibri"/>
                <a:cs typeface="Calibri"/>
                <a:sym typeface="Calibri"/>
              </a:rPr>
              <a:t>communicate with one another only that information necessary </a:t>
            </a:r>
            <a:r>
              <a:rPr lang="en-GB" sz="2300">
                <a:solidFill>
                  <a:schemeClr val="dk1"/>
                </a:solidFill>
                <a:latin typeface="Calibri"/>
                <a:ea typeface="Calibri"/>
                <a:cs typeface="Calibri"/>
                <a:sym typeface="Calibri"/>
              </a:rPr>
              <a:t>to achieve software function</a:t>
            </a:r>
            <a:endParaRPr sz="2300">
              <a:solidFill>
                <a:schemeClr val="dk1"/>
              </a:solidFill>
              <a:latin typeface="Calibri"/>
              <a:ea typeface="Calibri"/>
              <a:cs typeface="Calibri"/>
              <a:sym typeface="Calibri"/>
            </a:endParaRPr>
          </a:p>
          <a:p>
            <a:pPr marL="457200" lvl="0" indent="-374650" algn="just" rtl="0">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Information hiding provides the </a:t>
            </a:r>
            <a:r>
              <a:rPr lang="en-GB" sz="2300" b="1">
                <a:solidFill>
                  <a:schemeClr val="dk1"/>
                </a:solidFill>
                <a:latin typeface="Calibri"/>
                <a:ea typeface="Calibri"/>
                <a:cs typeface="Calibri"/>
                <a:sym typeface="Calibri"/>
              </a:rPr>
              <a:t>greatest benefits when modifications</a:t>
            </a:r>
            <a:r>
              <a:rPr lang="en-GB" sz="2300">
                <a:solidFill>
                  <a:schemeClr val="dk1"/>
                </a:solidFill>
                <a:latin typeface="Calibri"/>
                <a:ea typeface="Calibri"/>
                <a:cs typeface="Calibri"/>
                <a:sym typeface="Calibri"/>
              </a:rPr>
              <a:t> are required.</a:t>
            </a:r>
            <a:endParaRPr sz="2300">
              <a:solidFill>
                <a:schemeClr val="dk1"/>
              </a:solidFill>
              <a:latin typeface="Calibri"/>
              <a:ea typeface="Calibri"/>
              <a:cs typeface="Calibri"/>
              <a:sym typeface="Calibri"/>
            </a:endParaRPr>
          </a:p>
          <a:p>
            <a:pPr marL="457200" lvl="0" indent="-374650" algn="just" rtl="0">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Because most data and procedural </a:t>
            </a:r>
            <a:r>
              <a:rPr lang="en-GB" sz="2300" b="1">
                <a:solidFill>
                  <a:schemeClr val="dk1"/>
                </a:solidFill>
                <a:latin typeface="Calibri"/>
                <a:ea typeface="Calibri"/>
                <a:cs typeface="Calibri"/>
                <a:sym typeface="Calibri"/>
              </a:rPr>
              <a:t>detail are hidden</a:t>
            </a:r>
            <a:r>
              <a:rPr lang="en-GB" sz="2300">
                <a:solidFill>
                  <a:schemeClr val="dk1"/>
                </a:solidFill>
                <a:latin typeface="Calibri"/>
                <a:ea typeface="Calibri"/>
                <a:cs typeface="Calibri"/>
                <a:sym typeface="Calibri"/>
              </a:rPr>
              <a:t> from other parts of the </a:t>
            </a:r>
            <a:r>
              <a:rPr lang="en-GB" sz="2300" b="1">
                <a:solidFill>
                  <a:schemeClr val="dk1"/>
                </a:solidFill>
                <a:latin typeface="Calibri"/>
                <a:ea typeface="Calibri"/>
                <a:cs typeface="Calibri"/>
                <a:sym typeface="Calibri"/>
              </a:rPr>
              <a:t>software errors less likely to propagate.</a:t>
            </a:r>
            <a:endParaRPr sz="2300" b="1">
              <a:solidFill>
                <a:schemeClr val="dk1"/>
              </a:solidFill>
              <a:latin typeface="Calibri"/>
              <a:ea typeface="Calibri"/>
              <a:cs typeface="Calibri"/>
              <a:sym typeface="Calibri"/>
            </a:endParaRPr>
          </a:p>
          <a:p>
            <a:pPr marL="0" lvl="0" indent="0" algn="l" rtl="0">
              <a:lnSpc>
                <a:spcPct val="100000"/>
              </a:lnSpc>
              <a:spcBef>
                <a:spcPts val="1000"/>
              </a:spcBef>
              <a:spcAft>
                <a:spcPts val="0"/>
              </a:spcAft>
              <a:buNone/>
            </a:pPr>
            <a:endParaRPr sz="2300">
              <a:solidFill>
                <a:schemeClr val="dk1"/>
              </a:solidFill>
              <a:latin typeface="Calibri"/>
              <a:ea typeface="Calibri"/>
              <a:cs typeface="Calibri"/>
              <a:sym typeface="Calibri"/>
            </a:endParaRPr>
          </a:p>
        </p:txBody>
      </p:sp>
      <p:sp>
        <p:nvSpPr>
          <p:cNvPr id="290" name="Google Shape;290;p4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291" name="Google Shape;291;p4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30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dirty="0" smtClean="0"/>
              <a:t>Example: </a:t>
            </a:r>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04" y="1877688"/>
            <a:ext cx="3592771" cy="26542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8345223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43"/>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Concepts</a:t>
            </a:r>
            <a:endParaRPr b="1"/>
          </a:p>
        </p:txBody>
      </p:sp>
      <p:sp>
        <p:nvSpPr>
          <p:cNvPr id="297" name="Google Shape;297;p43"/>
          <p:cNvSpPr txBox="1">
            <a:spLocks noGrp="1"/>
          </p:cNvSpPr>
          <p:nvPr>
            <p:ph type="body" idx="1"/>
          </p:nvPr>
        </p:nvSpPr>
        <p:spPr>
          <a:xfrm>
            <a:off x="0" y="595325"/>
            <a:ext cx="8871600" cy="4548300"/>
          </a:xfrm>
          <a:prstGeom prst="rect">
            <a:avLst/>
          </a:prstGeom>
          <a:noFill/>
          <a:ln>
            <a:noFill/>
          </a:ln>
        </p:spPr>
        <p:txBody>
          <a:bodyPr spcFirstLastPara="1" wrap="square" lIns="68575" tIns="34275" rIns="68575" bIns="34275" anchor="t" anchorCtr="0">
            <a:noAutofit/>
          </a:bodyPr>
          <a:lstStyle/>
          <a:p>
            <a:pPr marL="0" lvl="0" indent="0" algn="l" rtl="0">
              <a:spcBef>
                <a:spcPts val="1000"/>
              </a:spcBef>
              <a:spcAft>
                <a:spcPts val="0"/>
              </a:spcAft>
              <a:buNone/>
            </a:pPr>
            <a:r>
              <a:rPr lang="en-GB" sz="2300" b="1" dirty="0">
                <a:solidFill>
                  <a:srgbClr val="0070C0"/>
                </a:solidFill>
                <a:latin typeface="Calibri"/>
                <a:ea typeface="Calibri"/>
                <a:cs typeface="Calibri"/>
                <a:sym typeface="Calibri"/>
              </a:rPr>
              <a:t>7. Functional Independence: </a:t>
            </a:r>
            <a:endParaRPr sz="2300" b="1" dirty="0">
              <a:solidFill>
                <a:srgbClr val="0070C0"/>
              </a:solidFill>
              <a:latin typeface="Calibri"/>
              <a:ea typeface="Calibri"/>
              <a:cs typeface="Calibri"/>
              <a:sym typeface="Calibri"/>
            </a:endParaRPr>
          </a:p>
          <a:p>
            <a:pPr marL="457200" lvl="0" indent="-368300" algn="just"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Software should be designed such that </a:t>
            </a:r>
            <a:r>
              <a:rPr lang="en-GB" sz="2200" b="1" dirty="0">
                <a:solidFill>
                  <a:schemeClr val="dk1"/>
                </a:solidFill>
                <a:latin typeface="Calibri"/>
                <a:ea typeface="Calibri"/>
                <a:cs typeface="Calibri"/>
                <a:sym typeface="Calibri"/>
              </a:rPr>
              <a:t>each module addresses a specific subset of requirements</a:t>
            </a:r>
            <a:r>
              <a:rPr lang="en-GB" sz="2200" dirty="0">
                <a:solidFill>
                  <a:schemeClr val="dk1"/>
                </a:solidFill>
                <a:latin typeface="Calibri"/>
                <a:ea typeface="Calibri"/>
                <a:cs typeface="Calibri"/>
                <a:sym typeface="Calibri"/>
              </a:rPr>
              <a:t> and has a </a:t>
            </a:r>
            <a:r>
              <a:rPr lang="en-GB" sz="2200" b="1" dirty="0">
                <a:solidFill>
                  <a:schemeClr val="dk1"/>
                </a:solidFill>
                <a:latin typeface="Calibri"/>
                <a:ea typeface="Calibri"/>
                <a:cs typeface="Calibri"/>
                <a:sym typeface="Calibri"/>
              </a:rPr>
              <a:t>simple interface with other program structure.</a:t>
            </a:r>
            <a:endParaRPr sz="2200" dirty="0">
              <a:solidFill>
                <a:schemeClr val="dk1"/>
              </a:solidFill>
            </a:endParaRPr>
          </a:p>
          <a:p>
            <a:pPr marL="457200" lvl="0" indent="-368300" algn="just"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Software with effective modularity, that is, independent modules, is easier to develop.</a:t>
            </a:r>
            <a:endParaRPr sz="2200" dirty="0">
              <a:solidFill>
                <a:schemeClr val="dk1"/>
              </a:solidFill>
              <a:latin typeface="Calibri"/>
              <a:ea typeface="Calibri"/>
              <a:cs typeface="Calibri"/>
              <a:sym typeface="Calibri"/>
            </a:endParaRPr>
          </a:p>
          <a:p>
            <a:pPr marL="0" lvl="0" indent="0" algn="just" rtl="0">
              <a:lnSpc>
                <a:spcPct val="100000"/>
              </a:lnSpc>
              <a:spcBef>
                <a:spcPts val="0"/>
              </a:spcBef>
              <a:spcAft>
                <a:spcPts val="0"/>
              </a:spcAft>
              <a:buNone/>
            </a:pPr>
            <a:r>
              <a:rPr lang="en-GB" sz="2200" b="1" dirty="0">
                <a:solidFill>
                  <a:schemeClr val="dk1"/>
                </a:solidFill>
                <a:latin typeface="Calibri"/>
                <a:ea typeface="Calibri"/>
                <a:cs typeface="Calibri"/>
                <a:sym typeface="Calibri"/>
              </a:rPr>
              <a:t>Independent modules</a:t>
            </a:r>
            <a:endParaRPr sz="2200" b="1" dirty="0">
              <a:solidFill>
                <a:schemeClr val="dk1"/>
              </a:solidFill>
              <a:latin typeface="Calibri"/>
              <a:ea typeface="Calibri"/>
              <a:cs typeface="Calibri"/>
              <a:sym typeface="Calibri"/>
            </a:endParaRPr>
          </a:p>
          <a:p>
            <a:pPr marL="914400" lvl="0" indent="-368300" algn="just"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easier to maintain (and test)</a:t>
            </a:r>
            <a:endParaRPr sz="2200" dirty="0">
              <a:solidFill>
                <a:schemeClr val="dk1"/>
              </a:solidFill>
              <a:latin typeface="Calibri"/>
              <a:ea typeface="Calibri"/>
              <a:cs typeface="Calibri"/>
              <a:sym typeface="Calibri"/>
            </a:endParaRPr>
          </a:p>
          <a:p>
            <a:pPr marL="914400" lvl="0" indent="-368300" algn="just"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effects caused by design or code modification limited</a:t>
            </a:r>
            <a:endParaRPr sz="2200" dirty="0">
              <a:solidFill>
                <a:schemeClr val="dk1"/>
              </a:solidFill>
              <a:latin typeface="Calibri"/>
              <a:ea typeface="Calibri"/>
              <a:cs typeface="Calibri"/>
              <a:sym typeface="Calibri"/>
            </a:endParaRPr>
          </a:p>
          <a:p>
            <a:pPr marL="914400" lvl="0" indent="-368300" algn="just"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error propagation is reduced</a:t>
            </a:r>
            <a:endParaRPr sz="2200" dirty="0">
              <a:solidFill>
                <a:schemeClr val="dk1"/>
              </a:solidFill>
              <a:latin typeface="Calibri"/>
              <a:ea typeface="Calibri"/>
              <a:cs typeface="Calibri"/>
              <a:sym typeface="Calibri"/>
            </a:endParaRPr>
          </a:p>
          <a:p>
            <a:pPr marL="914400" lvl="0" indent="-368300" algn="just"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reusable modules are possible.</a:t>
            </a:r>
            <a:endParaRPr sz="2200" dirty="0">
              <a:solidFill>
                <a:schemeClr val="dk1"/>
              </a:solidFill>
            </a:endParaRPr>
          </a:p>
          <a:p>
            <a:pPr marL="914400" lvl="0" indent="-368300" algn="just"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functional independence is a </a:t>
            </a:r>
            <a:r>
              <a:rPr lang="en-GB" sz="2200" b="1" dirty="0">
                <a:solidFill>
                  <a:schemeClr val="dk1"/>
                </a:solidFill>
                <a:latin typeface="Calibri"/>
                <a:ea typeface="Calibri"/>
                <a:cs typeface="Calibri"/>
                <a:sym typeface="Calibri"/>
              </a:rPr>
              <a:t>key to good design</a:t>
            </a:r>
            <a:r>
              <a:rPr lang="en-GB" sz="2200" dirty="0">
                <a:solidFill>
                  <a:schemeClr val="dk1"/>
                </a:solidFill>
                <a:latin typeface="Calibri"/>
                <a:ea typeface="Calibri"/>
                <a:cs typeface="Calibri"/>
                <a:sym typeface="Calibri"/>
              </a:rPr>
              <a:t>, and </a:t>
            </a:r>
            <a:r>
              <a:rPr lang="en-GB" sz="2200" b="1" dirty="0">
                <a:solidFill>
                  <a:schemeClr val="dk1"/>
                </a:solidFill>
                <a:latin typeface="Calibri"/>
                <a:ea typeface="Calibri"/>
                <a:cs typeface="Calibri"/>
                <a:sym typeface="Calibri"/>
              </a:rPr>
              <a:t>design</a:t>
            </a:r>
            <a:r>
              <a:rPr lang="en-GB" sz="2200" dirty="0">
                <a:solidFill>
                  <a:schemeClr val="dk1"/>
                </a:solidFill>
                <a:latin typeface="Calibri"/>
                <a:ea typeface="Calibri"/>
                <a:cs typeface="Calibri"/>
                <a:sym typeface="Calibri"/>
              </a:rPr>
              <a:t> is the </a:t>
            </a:r>
            <a:r>
              <a:rPr lang="en-GB" sz="2200" b="1" dirty="0">
                <a:solidFill>
                  <a:schemeClr val="dk1"/>
                </a:solidFill>
                <a:latin typeface="Calibri"/>
                <a:ea typeface="Calibri"/>
                <a:cs typeface="Calibri"/>
                <a:sym typeface="Calibri"/>
              </a:rPr>
              <a:t>key to software quality</a:t>
            </a:r>
            <a:r>
              <a:rPr lang="en-GB" sz="2200" dirty="0">
                <a:solidFill>
                  <a:schemeClr val="dk1"/>
                </a:solidFill>
                <a:latin typeface="Calibri"/>
                <a:ea typeface="Calibri"/>
                <a:cs typeface="Calibri"/>
                <a:sym typeface="Calibri"/>
              </a:rPr>
              <a:t>.</a:t>
            </a:r>
            <a:endParaRPr sz="2200" dirty="0">
              <a:solidFill>
                <a:schemeClr val="dk1"/>
              </a:solidFill>
              <a:latin typeface="Calibri"/>
              <a:ea typeface="Calibri"/>
              <a:cs typeface="Calibri"/>
              <a:sym typeface="Calibri"/>
            </a:endParaRPr>
          </a:p>
          <a:p>
            <a:pPr marL="457200" lvl="0" indent="0" algn="just" rtl="0">
              <a:lnSpc>
                <a:spcPct val="100000"/>
              </a:lnSpc>
              <a:spcBef>
                <a:spcPts val="0"/>
              </a:spcBef>
              <a:spcAft>
                <a:spcPts val="0"/>
              </a:spcAft>
              <a:buNone/>
            </a:pPr>
            <a:endParaRPr sz="2200" dirty="0">
              <a:solidFill>
                <a:schemeClr val="dk1"/>
              </a:solidFill>
              <a:latin typeface="Calibri"/>
              <a:ea typeface="Calibri"/>
              <a:cs typeface="Calibri"/>
              <a:sym typeface="Calibri"/>
            </a:endParaRPr>
          </a:p>
          <a:p>
            <a:pPr marL="0" marR="0" lvl="0" indent="0" algn="just" rtl="0">
              <a:lnSpc>
                <a:spcPct val="100000"/>
              </a:lnSpc>
              <a:spcBef>
                <a:spcPts val="800"/>
              </a:spcBef>
              <a:spcAft>
                <a:spcPts val="0"/>
              </a:spcAft>
              <a:buNone/>
            </a:pPr>
            <a:endParaRPr sz="2200" dirty="0">
              <a:solidFill>
                <a:schemeClr val="dk1"/>
              </a:solidFill>
              <a:latin typeface="Calibri"/>
              <a:ea typeface="Calibri"/>
              <a:cs typeface="Calibri"/>
              <a:sym typeface="Calibri"/>
            </a:endParaRPr>
          </a:p>
          <a:p>
            <a:pPr marL="0" lvl="0" indent="0" algn="just" rtl="0">
              <a:spcBef>
                <a:spcPts val="1000"/>
              </a:spcBef>
              <a:spcAft>
                <a:spcPts val="0"/>
              </a:spcAft>
              <a:buNone/>
            </a:pPr>
            <a:endParaRPr sz="2200" b="1" dirty="0">
              <a:solidFill>
                <a:srgbClr val="0070C0"/>
              </a:solidFill>
              <a:latin typeface="Calibri"/>
              <a:ea typeface="Calibri"/>
              <a:cs typeface="Calibri"/>
              <a:sym typeface="Calibri"/>
            </a:endParaRPr>
          </a:p>
        </p:txBody>
      </p:sp>
      <p:sp>
        <p:nvSpPr>
          <p:cNvPr id="298" name="Google Shape;298;p4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299" name="Google Shape;299;p4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32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9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9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9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44"/>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Concepts</a:t>
            </a:r>
            <a:endParaRPr b="1"/>
          </a:p>
        </p:txBody>
      </p:sp>
      <p:sp>
        <p:nvSpPr>
          <p:cNvPr id="305" name="Google Shape;305;p44"/>
          <p:cNvSpPr txBox="1">
            <a:spLocks noGrp="1"/>
          </p:cNvSpPr>
          <p:nvPr>
            <p:ph type="body" idx="1"/>
          </p:nvPr>
        </p:nvSpPr>
        <p:spPr>
          <a:xfrm>
            <a:off x="0" y="595325"/>
            <a:ext cx="8871600" cy="519900"/>
          </a:xfrm>
          <a:prstGeom prst="rect">
            <a:avLst/>
          </a:prstGeom>
          <a:noFill/>
          <a:ln>
            <a:noFill/>
          </a:ln>
        </p:spPr>
        <p:txBody>
          <a:bodyPr spcFirstLastPara="1" wrap="square" lIns="68575" tIns="34275" rIns="68575" bIns="34275" anchor="t" anchorCtr="0">
            <a:noAutofit/>
          </a:bodyPr>
          <a:lstStyle/>
          <a:p>
            <a:pPr marL="0" lvl="0" indent="0" algn="l" rtl="0">
              <a:spcBef>
                <a:spcPts val="1000"/>
              </a:spcBef>
              <a:spcAft>
                <a:spcPts val="0"/>
              </a:spcAft>
              <a:buNone/>
            </a:pPr>
            <a:r>
              <a:rPr lang="en-GB" sz="2400" b="1">
                <a:solidFill>
                  <a:srgbClr val="0070C0"/>
                </a:solidFill>
                <a:latin typeface="Calibri"/>
                <a:ea typeface="Calibri"/>
                <a:cs typeface="Calibri"/>
                <a:sym typeface="Calibri"/>
              </a:rPr>
              <a:t>      Independence is assessed by qualitative criteria</a:t>
            </a:r>
            <a:endParaRPr sz="2400" b="1">
              <a:solidFill>
                <a:srgbClr val="0070C0"/>
              </a:solidFill>
              <a:latin typeface="Calibri"/>
              <a:ea typeface="Calibri"/>
              <a:cs typeface="Calibri"/>
              <a:sym typeface="Calibri"/>
            </a:endParaRPr>
          </a:p>
          <a:p>
            <a:pPr marL="0" lvl="0" indent="0" algn="just" rtl="0">
              <a:spcBef>
                <a:spcPts val="1000"/>
              </a:spcBef>
              <a:spcAft>
                <a:spcPts val="0"/>
              </a:spcAft>
              <a:buNone/>
            </a:pPr>
            <a:endParaRPr sz="2000" b="1">
              <a:solidFill>
                <a:srgbClr val="0070C0"/>
              </a:solidFill>
              <a:latin typeface="Calibri"/>
              <a:ea typeface="Calibri"/>
              <a:cs typeface="Calibri"/>
              <a:sym typeface="Calibri"/>
            </a:endParaRPr>
          </a:p>
        </p:txBody>
      </p:sp>
      <p:sp>
        <p:nvSpPr>
          <p:cNvPr id="306" name="Google Shape;306;p4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307" name="Google Shape;307;p4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33</a:t>
            </a:fld>
            <a:endParaRPr/>
          </a:p>
        </p:txBody>
      </p:sp>
      <p:pic>
        <p:nvPicPr>
          <p:cNvPr id="308" name="Google Shape;308;p44"/>
          <p:cNvPicPr preferRelativeResize="0"/>
          <p:nvPr/>
        </p:nvPicPr>
        <p:blipFill>
          <a:blip r:embed="rId3">
            <a:alphaModFix/>
          </a:blip>
          <a:stretch>
            <a:fillRect/>
          </a:stretch>
        </p:blipFill>
        <p:spPr>
          <a:xfrm>
            <a:off x="354562" y="1278292"/>
            <a:ext cx="5770101" cy="3039557"/>
          </a:xfrm>
          <a:prstGeom prst="rect">
            <a:avLst/>
          </a:prstGeom>
          <a:noFill/>
          <a:ln>
            <a:noFill/>
          </a:ln>
        </p:spPr>
      </p:pic>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5582" y="1850332"/>
            <a:ext cx="2619375" cy="1895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5"/>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Concepts</a:t>
            </a:r>
            <a:endParaRPr b="1"/>
          </a:p>
        </p:txBody>
      </p:sp>
      <p:sp>
        <p:nvSpPr>
          <p:cNvPr id="314" name="Google Shape;314;p45"/>
          <p:cNvSpPr txBox="1">
            <a:spLocks noGrp="1"/>
          </p:cNvSpPr>
          <p:nvPr>
            <p:ph type="body" idx="1"/>
          </p:nvPr>
        </p:nvSpPr>
        <p:spPr>
          <a:xfrm>
            <a:off x="0" y="595325"/>
            <a:ext cx="8871600" cy="4548300"/>
          </a:xfrm>
          <a:prstGeom prst="rect">
            <a:avLst/>
          </a:prstGeom>
          <a:noFill/>
          <a:ln>
            <a:noFill/>
          </a:ln>
        </p:spPr>
        <p:txBody>
          <a:bodyPr spcFirstLastPara="1" wrap="square" lIns="68575" tIns="34275" rIns="68575" bIns="34275" anchor="t" anchorCtr="0">
            <a:noAutofit/>
          </a:bodyPr>
          <a:lstStyle/>
          <a:p>
            <a:pPr marL="0" lvl="0" indent="0" algn="l" rtl="0">
              <a:spcBef>
                <a:spcPts val="1000"/>
              </a:spcBef>
              <a:spcAft>
                <a:spcPts val="0"/>
              </a:spcAft>
              <a:buNone/>
            </a:pPr>
            <a:r>
              <a:rPr lang="en-GB" sz="2300" b="1">
                <a:solidFill>
                  <a:srgbClr val="0070C0"/>
                </a:solidFill>
                <a:latin typeface="Calibri"/>
                <a:ea typeface="Calibri"/>
                <a:cs typeface="Calibri"/>
                <a:sym typeface="Calibri"/>
              </a:rPr>
              <a:t>Cohesion: </a:t>
            </a:r>
            <a:endParaRPr sz="2300" b="1">
              <a:solidFill>
                <a:srgbClr val="0070C0"/>
              </a:solidFill>
              <a:latin typeface="Calibri"/>
              <a:ea typeface="Calibri"/>
              <a:cs typeface="Calibri"/>
              <a:sym typeface="Calibri"/>
            </a:endParaRPr>
          </a:p>
          <a:p>
            <a:pPr marL="914400" lvl="0" indent="-374650" algn="just" rtl="0">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A cohesive module performs a </a:t>
            </a:r>
            <a:r>
              <a:rPr lang="en-GB" sz="2300" b="1">
                <a:solidFill>
                  <a:schemeClr val="dk1"/>
                </a:solidFill>
                <a:latin typeface="Calibri"/>
                <a:ea typeface="Calibri"/>
                <a:cs typeface="Calibri"/>
                <a:sym typeface="Calibri"/>
              </a:rPr>
              <a:t>single task</a:t>
            </a:r>
            <a:r>
              <a:rPr lang="en-GB" sz="2300">
                <a:solidFill>
                  <a:schemeClr val="dk1"/>
                </a:solidFill>
                <a:latin typeface="Calibri"/>
                <a:ea typeface="Calibri"/>
                <a:cs typeface="Calibri"/>
                <a:sym typeface="Calibri"/>
              </a:rPr>
              <a:t>, requiring </a:t>
            </a:r>
            <a:r>
              <a:rPr lang="en-GB" sz="2300" b="1">
                <a:solidFill>
                  <a:schemeClr val="dk1"/>
                </a:solidFill>
                <a:latin typeface="Calibri"/>
                <a:ea typeface="Calibri"/>
                <a:cs typeface="Calibri"/>
                <a:sym typeface="Calibri"/>
              </a:rPr>
              <a:t>little interaction</a:t>
            </a:r>
            <a:r>
              <a:rPr lang="en-GB" sz="2300">
                <a:solidFill>
                  <a:schemeClr val="dk1"/>
                </a:solidFill>
                <a:latin typeface="Calibri"/>
                <a:ea typeface="Calibri"/>
                <a:cs typeface="Calibri"/>
                <a:sym typeface="Calibri"/>
              </a:rPr>
              <a:t> with </a:t>
            </a:r>
            <a:r>
              <a:rPr lang="en-GB" sz="2300" b="1">
                <a:solidFill>
                  <a:schemeClr val="dk1"/>
                </a:solidFill>
                <a:latin typeface="Calibri"/>
                <a:ea typeface="Calibri"/>
                <a:cs typeface="Calibri"/>
                <a:sym typeface="Calibri"/>
              </a:rPr>
              <a:t>other components</a:t>
            </a:r>
            <a:r>
              <a:rPr lang="en-GB" sz="2300">
                <a:solidFill>
                  <a:schemeClr val="dk1"/>
                </a:solidFill>
                <a:latin typeface="Calibri"/>
                <a:ea typeface="Calibri"/>
                <a:cs typeface="Calibri"/>
                <a:sym typeface="Calibri"/>
              </a:rPr>
              <a:t> in other parts of a program.</a:t>
            </a:r>
            <a:endParaRPr sz="2300">
              <a:solidFill>
                <a:schemeClr val="dk1"/>
              </a:solidFill>
              <a:latin typeface="Calibri"/>
              <a:ea typeface="Calibri"/>
              <a:cs typeface="Calibri"/>
              <a:sym typeface="Calibri"/>
            </a:endParaRPr>
          </a:p>
          <a:p>
            <a:pPr marL="914400" lvl="0" indent="-374650" algn="just" rtl="0">
              <a:lnSpc>
                <a:spcPct val="100000"/>
              </a:lnSpc>
              <a:spcBef>
                <a:spcPts val="0"/>
              </a:spcBef>
              <a:spcAft>
                <a:spcPts val="0"/>
              </a:spcAft>
              <a:buClr>
                <a:schemeClr val="dk1"/>
              </a:buClr>
              <a:buSzPts val="2300"/>
              <a:buFont typeface="Calibri"/>
              <a:buChar char="●"/>
            </a:pPr>
            <a:r>
              <a:rPr lang="en-GB" sz="2300" b="1">
                <a:solidFill>
                  <a:schemeClr val="dk1"/>
                </a:solidFill>
                <a:latin typeface="Calibri"/>
                <a:ea typeface="Calibri"/>
                <a:cs typeface="Calibri"/>
                <a:sym typeface="Calibri"/>
              </a:rPr>
              <a:t>High degree of cohesion is advisable but</a:t>
            </a:r>
            <a:r>
              <a:rPr lang="en-GB" sz="2300">
                <a:solidFill>
                  <a:schemeClr val="dk1"/>
                </a:solidFill>
                <a:latin typeface="Calibri"/>
                <a:ea typeface="Calibri"/>
                <a:cs typeface="Calibri"/>
                <a:sym typeface="Calibri"/>
              </a:rPr>
              <a:t> it is also necessary and advisable for </a:t>
            </a:r>
            <a:r>
              <a:rPr lang="en-GB" sz="2300" b="1">
                <a:solidFill>
                  <a:schemeClr val="dk1"/>
                </a:solidFill>
                <a:latin typeface="Calibri"/>
                <a:ea typeface="Calibri"/>
                <a:cs typeface="Calibri"/>
                <a:sym typeface="Calibri"/>
              </a:rPr>
              <a:t>components to perform multiple functions.</a:t>
            </a:r>
            <a:endParaRPr sz="2300" b="1">
              <a:solidFill>
                <a:schemeClr val="dk1"/>
              </a:solidFill>
              <a:latin typeface="Calibri"/>
              <a:ea typeface="Calibri"/>
              <a:cs typeface="Calibri"/>
              <a:sym typeface="Calibri"/>
            </a:endParaRPr>
          </a:p>
          <a:p>
            <a:pPr marL="457200" lvl="0" indent="0" algn="just" rtl="0">
              <a:lnSpc>
                <a:spcPct val="100000"/>
              </a:lnSpc>
              <a:spcBef>
                <a:spcPts val="0"/>
              </a:spcBef>
              <a:spcAft>
                <a:spcPts val="0"/>
              </a:spcAft>
              <a:buNone/>
            </a:pPr>
            <a:endParaRPr sz="300">
              <a:solidFill>
                <a:schemeClr val="dk1"/>
              </a:solidFill>
              <a:latin typeface="Calibri"/>
              <a:ea typeface="Calibri"/>
              <a:cs typeface="Calibri"/>
              <a:sym typeface="Calibri"/>
            </a:endParaRPr>
          </a:p>
          <a:p>
            <a:pPr marL="0" lvl="0" indent="0" algn="l" rtl="0">
              <a:spcBef>
                <a:spcPts val="1000"/>
              </a:spcBef>
              <a:spcAft>
                <a:spcPts val="0"/>
              </a:spcAft>
              <a:buClr>
                <a:schemeClr val="dk1"/>
              </a:buClr>
              <a:buSzPts val="1100"/>
              <a:buFont typeface="Arial"/>
              <a:buNone/>
            </a:pPr>
            <a:r>
              <a:rPr lang="en-GB" sz="2300" b="1">
                <a:solidFill>
                  <a:srgbClr val="0070C0"/>
                </a:solidFill>
                <a:latin typeface="Calibri"/>
                <a:ea typeface="Calibri"/>
                <a:cs typeface="Calibri"/>
                <a:sym typeface="Calibri"/>
              </a:rPr>
              <a:t>Coupling: </a:t>
            </a:r>
            <a:endParaRPr sz="2300" b="1">
              <a:solidFill>
                <a:srgbClr val="0070C0"/>
              </a:solidFill>
              <a:latin typeface="Calibri"/>
              <a:ea typeface="Calibri"/>
              <a:cs typeface="Calibri"/>
              <a:sym typeface="Calibri"/>
            </a:endParaRPr>
          </a:p>
          <a:p>
            <a:pPr marL="899999" lvl="0" indent="-416049" algn="just" rtl="0">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Coupling is an indication of </a:t>
            </a:r>
            <a:r>
              <a:rPr lang="en-GB" sz="2300" b="1">
                <a:solidFill>
                  <a:schemeClr val="dk1"/>
                </a:solidFill>
                <a:latin typeface="Calibri"/>
                <a:ea typeface="Calibri"/>
                <a:cs typeface="Calibri"/>
                <a:sym typeface="Calibri"/>
              </a:rPr>
              <a:t>interconnection among modules</a:t>
            </a:r>
            <a:r>
              <a:rPr lang="en-GB" sz="2300">
                <a:solidFill>
                  <a:schemeClr val="dk1"/>
                </a:solidFill>
                <a:latin typeface="Calibri"/>
                <a:ea typeface="Calibri"/>
                <a:cs typeface="Calibri"/>
                <a:sym typeface="Calibri"/>
              </a:rPr>
              <a:t> in a software structure.</a:t>
            </a:r>
            <a:endParaRPr sz="2300">
              <a:solidFill>
                <a:schemeClr val="dk1"/>
              </a:solidFill>
              <a:latin typeface="Calibri"/>
              <a:ea typeface="Calibri"/>
              <a:cs typeface="Calibri"/>
              <a:sym typeface="Calibri"/>
            </a:endParaRPr>
          </a:p>
          <a:p>
            <a:pPr marL="899999" lvl="0" indent="-416049" algn="just" rtl="0">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Coupling depends on the </a:t>
            </a:r>
            <a:r>
              <a:rPr lang="en-GB" sz="2300" b="1">
                <a:solidFill>
                  <a:schemeClr val="dk1"/>
                </a:solidFill>
                <a:latin typeface="Calibri"/>
                <a:ea typeface="Calibri"/>
                <a:cs typeface="Calibri"/>
                <a:sym typeface="Calibri"/>
              </a:rPr>
              <a:t>interface complexity </a:t>
            </a:r>
            <a:r>
              <a:rPr lang="en-GB" sz="2300">
                <a:solidFill>
                  <a:schemeClr val="dk1"/>
                </a:solidFill>
                <a:latin typeface="Calibri"/>
                <a:ea typeface="Calibri"/>
                <a:cs typeface="Calibri"/>
                <a:sym typeface="Calibri"/>
              </a:rPr>
              <a:t>between modules – entry point and type of data that passes through interface.</a:t>
            </a:r>
            <a:endParaRPr sz="3000">
              <a:solidFill>
                <a:schemeClr val="dk1"/>
              </a:solidFill>
            </a:endParaRPr>
          </a:p>
          <a:p>
            <a:pPr marL="899999" lvl="0" indent="-416049" algn="just" rtl="0">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In software design, one should strive for the lowest possible coupling</a:t>
            </a:r>
            <a:endParaRPr sz="2200" b="1">
              <a:solidFill>
                <a:srgbClr val="0070C0"/>
              </a:solidFill>
              <a:latin typeface="Calibri"/>
              <a:ea typeface="Calibri"/>
              <a:cs typeface="Calibri"/>
              <a:sym typeface="Calibri"/>
            </a:endParaRPr>
          </a:p>
        </p:txBody>
      </p:sp>
      <p:sp>
        <p:nvSpPr>
          <p:cNvPr id="315" name="Google Shape;315;p4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316" name="Google Shape;316;p4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34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7"/>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Concepts</a:t>
            </a:r>
            <a:endParaRPr b="1"/>
          </a:p>
        </p:txBody>
      </p:sp>
      <p:sp>
        <p:nvSpPr>
          <p:cNvPr id="330" name="Google Shape;330;p47"/>
          <p:cNvSpPr txBox="1">
            <a:spLocks noGrp="1"/>
          </p:cNvSpPr>
          <p:nvPr>
            <p:ph type="body" idx="1"/>
          </p:nvPr>
        </p:nvSpPr>
        <p:spPr>
          <a:xfrm>
            <a:off x="0" y="595325"/>
            <a:ext cx="8871600" cy="2475300"/>
          </a:xfrm>
          <a:prstGeom prst="rect">
            <a:avLst/>
          </a:prstGeom>
          <a:noFill/>
          <a:ln>
            <a:noFill/>
          </a:ln>
        </p:spPr>
        <p:txBody>
          <a:bodyPr spcFirstLastPara="1" wrap="square" lIns="68575" tIns="34275" rIns="68575" bIns="34275" anchor="t" anchorCtr="0">
            <a:noAutofit/>
          </a:bodyPr>
          <a:lstStyle/>
          <a:p>
            <a:pPr marL="0" lvl="0" indent="0" algn="l" rtl="0">
              <a:spcBef>
                <a:spcPts val="1000"/>
              </a:spcBef>
              <a:spcAft>
                <a:spcPts val="0"/>
              </a:spcAft>
              <a:buNone/>
            </a:pPr>
            <a:r>
              <a:rPr lang="en-GB" sz="2400" b="1" dirty="0">
                <a:solidFill>
                  <a:srgbClr val="0070C0"/>
                </a:solidFill>
                <a:latin typeface="Calibri"/>
                <a:ea typeface="Calibri"/>
                <a:cs typeface="Calibri"/>
                <a:sym typeface="Calibri"/>
              </a:rPr>
              <a:t>8. Refactoring: </a:t>
            </a:r>
            <a:endParaRPr sz="2400" b="1" dirty="0">
              <a:solidFill>
                <a:srgbClr val="0070C0"/>
              </a:solidFill>
              <a:latin typeface="Calibri"/>
              <a:ea typeface="Calibri"/>
              <a:cs typeface="Calibri"/>
              <a:sym typeface="Calibri"/>
            </a:endParaRPr>
          </a:p>
          <a:p>
            <a:pPr marL="457200" lvl="0" indent="-374650" algn="just" rtl="0">
              <a:lnSpc>
                <a:spcPct val="100000"/>
              </a:lnSpc>
              <a:spcBef>
                <a:spcPts val="0"/>
              </a:spcBef>
              <a:spcAft>
                <a:spcPts val="0"/>
              </a:spcAft>
              <a:buClr>
                <a:schemeClr val="dk1"/>
              </a:buClr>
              <a:buSzPts val="2300"/>
              <a:buFont typeface="Calibri"/>
              <a:buChar char="●"/>
            </a:pPr>
            <a:r>
              <a:rPr lang="en-GB" sz="2300" dirty="0">
                <a:solidFill>
                  <a:schemeClr val="dk1"/>
                </a:solidFill>
                <a:latin typeface="Calibri"/>
                <a:ea typeface="Calibri"/>
                <a:cs typeface="Calibri"/>
                <a:sym typeface="Calibri"/>
              </a:rPr>
              <a:t>Refactoring is the process of </a:t>
            </a:r>
            <a:r>
              <a:rPr lang="en-GB" sz="2300" b="1" dirty="0">
                <a:solidFill>
                  <a:schemeClr val="dk1"/>
                </a:solidFill>
                <a:latin typeface="Calibri"/>
                <a:ea typeface="Calibri"/>
                <a:cs typeface="Calibri"/>
                <a:sym typeface="Calibri"/>
              </a:rPr>
              <a:t>changing a software system </a:t>
            </a:r>
            <a:r>
              <a:rPr lang="en-GB" sz="2300" dirty="0">
                <a:solidFill>
                  <a:schemeClr val="dk1"/>
                </a:solidFill>
                <a:latin typeface="Calibri"/>
                <a:ea typeface="Calibri"/>
                <a:cs typeface="Calibri"/>
                <a:sym typeface="Calibri"/>
              </a:rPr>
              <a:t>in such a way that it </a:t>
            </a:r>
            <a:r>
              <a:rPr lang="en-GB" sz="2300" b="1" dirty="0">
                <a:solidFill>
                  <a:schemeClr val="dk1"/>
                </a:solidFill>
                <a:latin typeface="Calibri"/>
                <a:ea typeface="Calibri"/>
                <a:cs typeface="Calibri"/>
                <a:sym typeface="Calibri"/>
              </a:rPr>
              <a:t>does not alter the external </a:t>
            </a:r>
            <a:r>
              <a:rPr lang="en-GB" sz="2300" b="1" dirty="0" err="1">
                <a:solidFill>
                  <a:schemeClr val="dk1"/>
                </a:solidFill>
                <a:latin typeface="Calibri"/>
                <a:ea typeface="Calibri"/>
                <a:cs typeface="Calibri"/>
                <a:sym typeface="Calibri"/>
              </a:rPr>
              <a:t>behavior</a:t>
            </a:r>
            <a:r>
              <a:rPr lang="en-GB" sz="2300" dirty="0">
                <a:solidFill>
                  <a:schemeClr val="dk1"/>
                </a:solidFill>
                <a:latin typeface="Calibri"/>
                <a:ea typeface="Calibri"/>
                <a:cs typeface="Calibri"/>
                <a:sym typeface="Calibri"/>
              </a:rPr>
              <a:t> of the code [design] yet </a:t>
            </a:r>
            <a:r>
              <a:rPr lang="en-GB" sz="2300" b="1" dirty="0">
                <a:solidFill>
                  <a:schemeClr val="dk1"/>
                </a:solidFill>
                <a:latin typeface="Calibri"/>
                <a:ea typeface="Calibri"/>
                <a:cs typeface="Calibri"/>
                <a:sym typeface="Calibri"/>
              </a:rPr>
              <a:t>improves its internal structure.</a:t>
            </a:r>
            <a:endParaRPr sz="2300" b="1" dirty="0">
              <a:solidFill>
                <a:schemeClr val="dk1"/>
              </a:solidFill>
              <a:latin typeface="Calibri"/>
              <a:ea typeface="Calibri"/>
              <a:cs typeface="Calibri"/>
              <a:sym typeface="Calibri"/>
            </a:endParaRPr>
          </a:p>
          <a:p>
            <a:pPr marL="0" lvl="0" indent="0" algn="l" rtl="0">
              <a:lnSpc>
                <a:spcPct val="100000"/>
              </a:lnSpc>
              <a:spcBef>
                <a:spcPts val="1000"/>
              </a:spcBef>
              <a:spcAft>
                <a:spcPts val="0"/>
              </a:spcAft>
              <a:buNone/>
            </a:pPr>
            <a:endParaRPr sz="400" dirty="0">
              <a:solidFill>
                <a:schemeClr val="dk1"/>
              </a:solidFill>
              <a:latin typeface="Calibri"/>
              <a:ea typeface="Calibri"/>
              <a:cs typeface="Calibri"/>
              <a:sym typeface="Calibri"/>
            </a:endParaRPr>
          </a:p>
          <a:p>
            <a:pPr marL="457200" lvl="0" indent="-374650" algn="just" rtl="0">
              <a:lnSpc>
                <a:spcPct val="100000"/>
              </a:lnSpc>
              <a:spcBef>
                <a:spcPts val="800"/>
              </a:spcBef>
              <a:spcAft>
                <a:spcPts val="0"/>
              </a:spcAft>
              <a:buClr>
                <a:schemeClr val="dk1"/>
              </a:buClr>
              <a:buSzPts val="2300"/>
              <a:buFont typeface="Calibri"/>
              <a:buChar char="●"/>
            </a:pPr>
            <a:r>
              <a:rPr lang="en-GB" sz="2300" dirty="0">
                <a:solidFill>
                  <a:schemeClr val="dk1"/>
                </a:solidFill>
                <a:latin typeface="Calibri"/>
                <a:ea typeface="Calibri"/>
                <a:cs typeface="Calibri"/>
                <a:sym typeface="Calibri"/>
              </a:rPr>
              <a:t>When software is refactored:</a:t>
            </a:r>
            <a:endParaRPr sz="2300" dirty="0">
              <a:solidFill>
                <a:schemeClr val="dk1"/>
              </a:solidFill>
              <a:latin typeface="Calibri"/>
              <a:ea typeface="Calibri"/>
              <a:cs typeface="Calibri"/>
              <a:sym typeface="Calibri"/>
            </a:endParaRPr>
          </a:p>
          <a:p>
            <a:pPr marL="914400" lvl="1" indent="-368300" algn="just"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 the existing design is examined for redundancy</a:t>
            </a:r>
            <a:endParaRPr sz="2200" dirty="0">
              <a:solidFill>
                <a:schemeClr val="dk1"/>
              </a:solidFill>
              <a:latin typeface="Calibri"/>
              <a:ea typeface="Calibri"/>
              <a:cs typeface="Calibri"/>
              <a:sym typeface="Calibri"/>
            </a:endParaRPr>
          </a:p>
          <a:p>
            <a:pPr marL="914400" lvl="1" indent="-368300" algn="just"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 unused design elements</a:t>
            </a:r>
            <a:endParaRPr sz="2200" dirty="0">
              <a:solidFill>
                <a:schemeClr val="dk1"/>
              </a:solidFill>
              <a:latin typeface="Calibri"/>
              <a:ea typeface="Calibri"/>
              <a:cs typeface="Calibri"/>
              <a:sym typeface="Calibri"/>
            </a:endParaRPr>
          </a:p>
          <a:p>
            <a:pPr marL="914400" lvl="1" indent="-368300" algn="just"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 inefficient or unnecessary algorithms</a:t>
            </a:r>
            <a:endParaRPr sz="2200" dirty="0">
              <a:solidFill>
                <a:schemeClr val="dk1"/>
              </a:solidFill>
              <a:latin typeface="Calibri"/>
              <a:ea typeface="Calibri"/>
              <a:cs typeface="Calibri"/>
              <a:sym typeface="Calibri"/>
            </a:endParaRPr>
          </a:p>
          <a:p>
            <a:pPr marL="914400" lvl="1" indent="-368300" algn="just"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 poorly constructed or inappropriate data structures,</a:t>
            </a:r>
            <a:endParaRPr sz="2200" dirty="0">
              <a:solidFill>
                <a:schemeClr val="dk1"/>
              </a:solidFill>
              <a:latin typeface="Calibri"/>
              <a:ea typeface="Calibri"/>
              <a:cs typeface="Calibri"/>
              <a:sym typeface="Calibri"/>
            </a:endParaRPr>
          </a:p>
          <a:p>
            <a:pPr marL="914400" lvl="1" indent="-368300" algn="just"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any other design failure that can be corrected to yield a better design.</a:t>
            </a:r>
            <a:endParaRPr sz="2200" dirty="0">
              <a:solidFill>
                <a:schemeClr val="dk1"/>
              </a:solidFill>
              <a:latin typeface="Calibri"/>
              <a:ea typeface="Calibri"/>
              <a:cs typeface="Calibri"/>
              <a:sym typeface="Calibri"/>
            </a:endParaRPr>
          </a:p>
          <a:p>
            <a:pPr marL="0" lvl="0" indent="0" algn="just" rtl="0">
              <a:spcBef>
                <a:spcPts val="1000"/>
              </a:spcBef>
              <a:spcAft>
                <a:spcPts val="0"/>
              </a:spcAft>
              <a:buNone/>
            </a:pPr>
            <a:endParaRPr sz="2300" dirty="0">
              <a:solidFill>
                <a:schemeClr val="dk1"/>
              </a:solidFill>
              <a:latin typeface="Calibri"/>
              <a:ea typeface="Calibri"/>
              <a:cs typeface="Calibri"/>
              <a:sym typeface="Calibri"/>
            </a:endParaRPr>
          </a:p>
        </p:txBody>
      </p:sp>
      <p:sp>
        <p:nvSpPr>
          <p:cNvPr id="331" name="Google Shape;331;p4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332" name="Google Shape;332;p4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35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3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3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3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Oriented Design</a:t>
            </a:r>
            <a:endParaRPr lang="en-IN" dirty="0"/>
          </a:p>
        </p:txBody>
      </p:sp>
      <p:sp>
        <p:nvSpPr>
          <p:cNvPr id="3" name="Text Placeholder 2"/>
          <p:cNvSpPr>
            <a:spLocks noGrp="1"/>
          </p:cNvSpPr>
          <p:nvPr>
            <p:ph type="body" idx="1"/>
          </p:nvPr>
        </p:nvSpPr>
        <p:spPr/>
        <p:txBody>
          <a:bodyPr/>
          <a:lstStyle/>
          <a:p>
            <a:endParaRPr lang="en-IN"/>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328" y="2511670"/>
            <a:ext cx="5516530" cy="15902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9566" y="2381042"/>
            <a:ext cx="2468532" cy="20003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8352" y="1455576"/>
            <a:ext cx="6210300" cy="57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539690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8794" y="1647824"/>
            <a:ext cx="6648369" cy="19164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171700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Modularity and layered architecture</a:t>
            </a:r>
            <a:endParaRPr lang="en-IN" dirty="0"/>
          </a:p>
        </p:txBody>
      </p:sp>
      <p:sp>
        <p:nvSpPr>
          <p:cNvPr id="3" name="Text Placeholder 2"/>
          <p:cNvSpPr>
            <a:spLocks noGrp="1"/>
          </p:cNvSpPr>
          <p:nvPr>
            <p:ph type="body" idx="1"/>
          </p:nvPr>
        </p:nvSpPr>
        <p:spPr/>
        <p:txBody>
          <a:bodyPr>
            <a:normAutofit fontScale="77500" lnSpcReduction="20000"/>
          </a:bodyPr>
          <a:lstStyle/>
          <a:p>
            <a:pPr marL="139700" indent="0">
              <a:buNone/>
            </a:pPr>
            <a:r>
              <a:rPr lang="en-US" b="1" dirty="0" smtClean="0"/>
              <a:t>Modularity</a:t>
            </a:r>
            <a:endParaRPr lang="en-US" dirty="0" smtClean="0"/>
          </a:p>
          <a:p>
            <a:r>
              <a:rPr lang="en-US" dirty="0" smtClean="0"/>
              <a:t>It refers </a:t>
            </a:r>
            <a:r>
              <a:rPr lang="en-US" dirty="0"/>
              <a:t>to dividing a program or system into separate parts that can be developed, tested, used, and understood independently.</a:t>
            </a:r>
          </a:p>
          <a:p>
            <a:r>
              <a:rPr lang="en-US" dirty="0"/>
              <a:t>Each module encompasses everything necessary to perform its specific function and typically has a clearly defined interface for interacting with other parts of the system. </a:t>
            </a:r>
          </a:p>
          <a:p>
            <a:r>
              <a:rPr lang="en-US" dirty="0"/>
              <a:t>Modularity allows developers to work on different parts of the system simultaneously, simplifies maintenance and upgrading of the product.</a:t>
            </a:r>
          </a:p>
          <a:p>
            <a:pPr marL="139700" indent="0">
              <a:buNone/>
            </a:pPr>
            <a:r>
              <a:rPr lang="en-US" b="1" dirty="0"/>
              <a:t>Example:</a:t>
            </a:r>
          </a:p>
          <a:p>
            <a:r>
              <a:rPr lang="en-US" dirty="0"/>
              <a:t>In an automobile manufacturing plant, the process is highly modular. Different parts of the car, such as the engine, transmission, chassis, and electronics, are designed and manufactured separately. Each module (e.g., the engine) can be developed, tested, and improved independently. Once all the modules are complete, they are assembled together to form the final product—a car. </a:t>
            </a:r>
            <a:endParaRPr lang="en-US" dirty="0" smtClean="0"/>
          </a:p>
          <a:p>
            <a:r>
              <a:rPr lang="en-US" dirty="0" smtClean="0"/>
              <a:t>This </a:t>
            </a:r>
            <a:r>
              <a:rPr lang="en-US" dirty="0"/>
              <a:t>modular approach allows manufacturers to innovate and upgrade specific components without affecting the entire vehicle, making maintenance and upgrades more manageable.</a:t>
            </a:r>
          </a:p>
          <a:p>
            <a:endParaRPr lang="en-IN" dirty="0"/>
          </a:p>
        </p:txBody>
      </p:sp>
    </p:spTree>
    <p:extLst>
      <p:ext uri="{BB962C8B-B14F-4D97-AF65-F5344CB8AC3E}">
        <p14:creationId xmlns:p14="http://schemas.microsoft.com/office/powerpoint/2010/main" val="5257034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1845" y="578498"/>
            <a:ext cx="8192277" cy="4292082"/>
          </a:xfrm>
        </p:spPr>
        <p:txBody>
          <a:bodyPr>
            <a:normAutofit fontScale="70000" lnSpcReduction="20000"/>
          </a:bodyPr>
          <a:lstStyle/>
          <a:p>
            <a:pPr marL="139700" indent="0">
              <a:buNone/>
            </a:pPr>
            <a:r>
              <a:rPr lang="en-US" b="1" dirty="0" smtClean="0"/>
              <a:t>Layered architecture </a:t>
            </a:r>
          </a:p>
          <a:p>
            <a:r>
              <a:rPr lang="en-US" dirty="0" smtClean="0"/>
              <a:t>It is </a:t>
            </a:r>
            <a:r>
              <a:rPr lang="en-US" dirty="0"/>
              <a:t>a way of organizing a system where components are separated into layers with clearly defined roles. </a:t>
            </a:r>
            <a:endParaRPr lang="en-US" dirty="0" smtClean="0"/>
          </a:p>
          <a:p>
            <a:r>
              <a:rPr lang="en-US" dirty="0" smtClean="0"/>
              <a:t>Each </a:t>
            </a:r>
            <a:r>
              <a:rPr lang="en-US" dirty="0"/>
              <a:t>layer performs specific functions and provides services to the next level. </a:t>
            </a:r>
            <a:endParaRPr lang="en-US" dirty="0" smtClean="0"/>
          </a:p>
          <a:p>
            <a:r>
              <a:rPr lang="en-US" dirty="0" smtClean="0"/>
              <a:t>This </a:t>
            </a:r>
            <a:r>
              <a:rPr lang="en-US" dirty="0"/>
              <a:t>architecture not only makes the system easier to understand and develop but also helps to isolate changes in one layer from affecting others</a:t>
            </a:r>
            <a:r>
              <a:rPr lang="en-US" dirty="0" smtClean="0"/>
              <a:t>.</a:t>
            </a:r>
          </a:p>
          <a:p>
            <a:pPr marL="139700" indent="0">
              <a:buNone/>
            </a:pPr>
            <a:r>
              <a:rPr lang="en-US" b="1" dirty="0" smtClean="0"/>
              <a:t>Example: Restaurant </a:t>
            </a:r>
            <a:r>
              <a:rPr lang="en-US" b="1" dirty="0"/>
              <a:t>Operations</a:t>
            </a:r>
          </a:p>
          <a:p>
            <a:r>
              <a:rPr lang="en-US" dirty="0"/>
              <a:t>In a restaurant, the operations can be viewed as layered architecture:</a:t>
            </a:r>
          </a:p>
          <a:p>
            <a:pPr lvl="1"/>
            <a:r>
              <a:rPr lang="en-US" sz="1800" b="1" dirty="0"/>
              <a:t>Presentation Layer (</a:t>
            </a:r>
            <a:r>
              <a:rPr lang="en-US" sz="1800" b="1" dirty="0" err="1"/>
              <a:t>Waitstaff</a:t>
            </a:r>
            <a:r>
              <a:rPr lang="en-US" sz="1800" b="1" dirty="0"/>
              <a:t> and Menu): </a:t>
            </a:r>
            <a:r>
              <a:rPr lang="en-US" sz="1800" dirty="0"/>
              <a:t>The </a:t>
            </a:r>
            <a:r>
              <a:rPr lang="en-US" sz="1800" dirty="0" err="1"/>
              <a:t>waitstaff</a:t>
            </a:r>
            <a:r>
              <a:rPr lang="en-US" sz="1800" dirty="0"/>
              <a:t> interacts directly with customers, takes their orders, and serves food. The menu acts as the user interface where customers select what they want.</a:t>
            </a:r>
          </a:p>
          <a:p>
            <a:pPr lvl="1"/>
            <a:r>
              <a:rPr lang="en-US" sz="1800" b="1" dirty="0"/>
              <a:t>Business Logic Layer (Kitchen and Chef): </a:t>
            </a:r>
            <a:r>
              <a:rPr lang="en-US" sz="1800" dirty="0"/>
              <a:t>The kitchen is where the business logic happens. The chef and kitchen staff prepare the food according to the orders taken by the </a:t>
            </a:r>
            <a:r>
              <a:rPr lang="en-US" sz="1800" dirty="0" err="1"/>
              <a:t>waitstaff</a:t>
            </a:r>
            <a:r>
              <a:rPr lang="en-US" sz="1800" dirty="0"/>
              <a:t>. This layer focuses on executing the core functions of the restaurant—preparing and cooking food.</a:t>
            </a:r>
          </a:p>
          <a:p>
            <a:pPr lvl="1"/>
            <a:r>
              <a:rPr lang="en-US" sz="1800" b="1" dirty="0"/>
              <a:t>Data Access Layer (Supply Chain and Inventory): </a:t>
            </a:r>
            <a:r>
              <a:rPr lang="en-US" sz="1800" dirty="0"/>
              <a:t>The inventory system ensures that all ingredients are available when needed. The supply chain handles the procurement of these ingredients. This layer supports the business logic by providing the necessary resources.</a:t>
            </a:r>
          </a:p>
          <a:p>
            <a:r>
              <a:rPr lang="en-US" dirty="0"/>
              <a:t>These layers interact with each other to deliver a seamless dining experience. If there's a change in the menu (presentation layer), it may not necessarily affect the supply chain or inventory management </a:t>
            </a:r>
            <a:r>
              <a:rPr lang="en-US" dirty="0" smtClean="0"/>
              <a:t>directly</a:t>
            </a:r>
            <a:endParaRPr lang="en-US" dirty="0"/>
          </a:p>
        </p:txBody>
      </p:sp>
    </p:spTree>
    <p:extLst>
      <p:ext uri="{BB962C8B-B14F-4D97-AF65-F5344CB8AC3E}">
        <p14:creationId xmlns:p14="http://schemas.microsoft.com/office/powerpoint/2010/main" val="19960891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0"/>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Model</a:t>
            </a:r>
            <a:endParaRPr b="1"/>
          </a:p>
        </p:txBody>
      </p:sp>
      <p:sp>
        <p:nvSpPr>
          <p:cNvPr id="354" name="Google Shape;354;p50"/>
          <p:cNvSpPr txBox="1">
            <a:spLocks noGrp="1"/>
          </p:cNvSpPr>
          <p:nvPr>
            <p:ph type="body" idx="1"/>
          </p:nvPr>
        </p:nvSpPr>
        <p:spPr>
          <a:xfrm>
            <a:off x="0" y="595325"/>
            <a:ext cx="8871600" cy="2475300"/>
          </a:xfrm>
          <a:prstGeom prst="rect">
            <a:avLst/>
          </a:prstGeom>
          <a:noFill/>
          <a:ln>
            <a:noFill/>
          </a:ln>
        </p:spPr>
        <p:txBody>
          <a:bodyPr spcFirstLastPara="1" wrap="square" lIns="68575" tIns="34275" rIns="68575" bIns="34275" anchor="t" anchorCtr="0">
            <a:noAutofit/>
          </a:bodyPr>
          <a:lstStyle/>
          <a:p>
            <a:pPr marL="457200" lvl="0" indent="-374650" algn="just" rtl="0">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Elements of Design Model</a:t>
            </a:r>
            <a:endParaRPr sz="2300">
              <a:solidFill>
                <a:schemeClr val="dk1"/>
              </a:solidFill>
            </a:endParaRPr>
          </a:p>
          <a:p>
            <a:pPr marL="457200" lvl="0" indent="-374650" algn="just" rtl="0">
              <a:lnSpc>
                <a:spcPct val="100000"/>
              </a:lnSpc>
              <a:spcBef>
                <a:spcPts val="0"/>
              </a:spcBef>
              <a:spcAft>
                <a:spcPts val="0"/>
              </a:spcAft>
              <a:buClr>
                <a:schemeClr val="dk1"/>
              </a:buClr>
              <a:buSzPts val="2300"/>
              <a:buFont typeface="Calibri"/>
              <a:buChar char="●"/>
            </a:pPr>
            <a:r>
              <a:rPr lang="en-GB" sz="2300" b="1">
                <a:solidFill>
                  <a:schemeClr val="dk1"/>
                </a:solidFill>
                <a:latin typeface="Calibri"/>
                <a:ea typeface="Calibri"/>
                <a:cs typeface="Calibri"/>
                <a:sym typeface="Calibri"/>
              </a:rPr>
              <a:t>Data Design Elements: </a:t>
            </a:r>
            <a:endParaRPr sz="2300" b="1">
              <a:solidFill>
                <a:schemeClr val="dk1"/>
              </a:solidFill>
              <a:latin typeface="Calibri"/>
              <a:ea typeface="Calibri"/>
              <a:cs typeface="Calibri"/>
              <a:sym typeface="Calibri"/>
            </a:endParaRPr>
          </a:p>
          <a:p>
            <a:pPr marL="914400" lvl="1" indent="-374650" algn="just" rtl="0">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Data Structures</a:t>
            </a:r>
            <a:endParaRPr sz="2300">
              <a:solidFill>
                <a:schemeClr val="dk1"/>
              </a:solidFill>
              <a:latin typeface="Calibri"/>
              <a:ea typeface="Calibri"/>
              <a:cs typeface="Calibri"/>
              <a:sym typeface="Calibri"/>
            </a:endParaRPr>
          </a:p>
          <a:p>
            <a:pPr marL="914400" lvl="1" indent="-374650" algn="just" rtl="0">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Database architecture </a:t>
            </a:r>
            <a:endParaRPr sz="2300">
              <a:solidFill>
                <a:schemeClr val="dk1"/>
              </a:solidFill>
              <a:latin typeface="Calibri"/>
              <a:ea typeface="Calibri"/>
              <a:cs typeface="Calibri"/>
              <a:sym typeface="Calibri"/>
            </a:endParaRPr>
          </a:p>
          <a:p>
            <a:pPr marL="457200" lvl="0" indent="-374650" algn="just" rtl="0">
              <a:lnSpc>
                <a:spcPct val="100000"/>
              </a:lnSpc>
              <a:spcBef>
                <a:spcPts val="0"/>
              </a:spcBef>
              <a:spcAft>
                <a:spcPts val="0"/>
              </a:spcAft>
              <a:buClr>
                <a:schemeClr val="dk1"/>
              </a:buClr>
              <a:buSzPts val="2300"/>
              <a:buFont typeface="Calibri"/>
              <a:buChar char="●"/>
            </a:pPr>
            <a:r>
              <a:rPr lang="en-GB" sz="2300" b="1">
                <a:solidFill>
                  <a:schemeClr val="dk1"/>
                </a:solidFill>
                <a:latin typeface="Calibri"/>
                <a:ea typeface="Calibri"/>
                <a:cs typeface="Calibri"/>
                <a:sym typeface="Calibri"/>
              </a:rPr>
              <a:t>Architectural Design Elements:</a:t>
            </a:r>
            <a:endParaRPr sz="2300" b="1">
              <a:solidFill>
                <a:schemeClr val="dk1"/>
              </a:solidFill>
              <a:latin typeface="Calibri"/>
              <a:ea typeface="Calibri"/>
              <a:cs typeface="Calibri"/>
              <a:sym typeface="Calibri"/>
            </a:endParaRPr>
          </a:p>
          <a:p>
            <a:pPr marL="457200" lvl="0" indent="-374650" algn="just" rtl="0">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Equivalent to floor plan of a house</a:t>
            </a:r>
            <a:endParaRPr sz="2300">
              <a:solidFill>
                <a:schemeClr val="dk1"/>
              </a:solidFill>
              <a:latin typeface="Calibri"/>
              <a:ea typeface="Calibri"/>
              <a:cs typeface="Calibri"/>
              <a:sym typeface="Calibri"/>
            </a:endParaRPr>
          </a:p>
          <a:p>
            <a:pPr marL="457200" lvl="0" indent="-374650" algn="just" rtl="0">
              <a:lnSpc>
                <a:spcPct val="100000"/>
              </a:lnSpc>
              <a:spcBef>
                <a:spcPts val="0"/>
              </a:spcBef>
              <a:spcAft>
                <a:spcPts val="0"/>
              </a:spcAft>
              <a:buClr>
                <a:schemeClr val="dk1"/>
              </a:buClr>
              <a:buSzPts val="2300"/>
              <a:buFont typeface="Calibri"/>
              <a:buChar char="●"/>
            </a:pPr>
            <a:r>
              <a:rPr lang="en-GB" sz="2300" b="1">
                <a:solidFill>
                  <a:schemeClr val="dk1"/>
                </a:solidFill>
                <a:latin typeface="Calibri"/>
                <a:ea typeface="Calibri"/>
                <a:cs typeface="Calibri"/>
                <a:sym typeface="Calibri"/>
              </a:rPr>
              <a:t>Sources for development of architectural design:</a:t>
            </a:r>
            <a:endParaRPr sz="2300" b="1">
              <a:solidFill>
                <a:schemeClr val="dk1"/>
              </a:solidFill>
              <a:latin typeface="Calibri"/>
              <a:ea typeface="Calibri"/>
              <a:cs typeface="Calibri"/>
              <a:sym typeface="Calibri"/>
            </a:endParaRPr>
          </a:p>
          <a:p>
            <a:pPr marL="914400" lvl="1" indent="-368300" algn="l" rtl="0">
              <a:spcBef>
                <a:spcPts val="0"/>
              </a:spcBef>
              <a:spcAft>
                <a:spcPts val="0"/>
              </a:spcAft>
              <a:buClr>
                <a:schemeClr val="dk1"/>
              </a:buClr>
              <a:buSzPts val="2200"/>
              <a:buFont typeface="Calibri"/>
              <a:buChar char="○"/>
            </a:pPr>
            <a:r>
              <a:rPr lang="en-GB" sz="2200" b="1">
                <a:solidFill>
                  <a:schemeClr val="dk1"/>
                </a:solidFill>
                <a:latin typeface="Calibri"/>
                <a:ea typeface="Calibri"/>
                <a:cs typeface="Calibri"/>
                <a:sym typeface="Calibri"/>
              </a:rPr>
              <a:t>information </a:t>
            </a:r>
            <a:r>
              <a:rPr lang="en-GB" sz="2200">
                <a:solidFill>
                  <a:schemeClr val="dk1"/>
                </a:solidFill>
                <a:latin typeface="Calibri"/>
                <a:ea typeface="Calibri"/>
                <a:cs typeface="Calibri"/>
                <a:sym typeface="Calibri"/>
              </a:rPr>
              <a:t>about the </a:t>
            </a:r>
            <a:r>
              <a:rPr lang="en-GB" sz="2200" b="1">
                <a:solidFill>
                  <a:schemeClr val="dk1"/>
                </a:solidFill>
                <a:latin typeface="Calibri"/>
                <a:ea typeface="Calibri"/>
                <a:cs typeface="Calibri"/>
                <a:sym typeface="Calibri"/>
              </a:rPr>
              <a:t>application domain </a:t>
            </a:r>
            <a:r>
              <a:rPr lang="en-GB" sz="2200">
                <a:solidFill>
                  <a:schemeClr val="dk1"/>
                </a:solidFill>
                <a:latin typeface="Calibri"/>
                <a:ea typeface="Calibri"/>
                <a:cs typeface="Calibri"/>
                <a:sym typeface="Calibri"/>
              </a:rPr>
              <a:t>for the software to be built.</a:t>
            </a:r>
            <a:endParaRPr sz="2200">
              <a:solidFill>
                <a:schemeClr val="dk1"/>
              </a:solidFill>
              <a:latin typeface="Calibri"/>
              <a:ea typeface="Calibri"/>
              <a:cs typeface="Calibri"/>
              <a:sym typeface="Calibri"/>
            </a:endParaRPr>
          </a:p>
          <a:p>
            <a:pPr marL="914400" lvl="1" indent="-368300" algn="l" rtl="0">
              <a:spcBef>
                <a:spcPts val="0"/>
              </a:spcBef>
              <a:spcAft>
                <a:spcPts val="0"/>
              </a:spcAft>
              <a:buClr>
                <a:schemeClr val="dk1"/>
              </a:buClr>
              <a:buSzPts val="2200"/>
              <a:buFont typeface="Calibri"/>
              <a:buChar char="○"/>
            </a:pPr>
            <a:r>
              <a:rPr lang="en-GB" sz="2200" b="1">
                <a:solidFill>
                  <a:schemeClr val="dk1"/>
                </a:solidFill>
                <a:latin typeface="Calibri"/>
                <a:ea typeface="Calibri"/>
                <a:cs typeface="Calibri"/>
                <a:sym typeface="Calibri"/>
              </a:rPr>
              <a:t>specific requirements </a:t>
            </a:r>
            <a:r>
              <a:rPr lang="en-GB" sz="2200">
                <a:solidFill>
                  <a:schemeClr val="dk1"/>
                </a:solidFill>
                <a:latin typeface="Calibri"/>
                <a:ea typeface="Calibri"/>
                <a:cs typeface="Calibri"/>
                <a:sym typeface="Calibri"/>
              </a:rPr>
              <a:t>model elements (data flow diagrams , collaboration etc.)</a:t>
            </a:r>
            <a:endParaRPr sz="2200">
              <a:solidFill>
                <a:schemeClr val="dk1"/>
              </a:solidFill>
              <a:latin typeface="Calibri"/>
              <a:ea typeface="Calibri"/>
              <a:cs typeface="Calibri"/>
              <a:sym typeface="Calibri"/>
            </a:endParaRPr>
          </a:p>
          <a:p>
            <a:pPr marL="914400" lvl="1" indent="-374650" algn="l" rtl="0">
              <a:lnSpc>
                <a:spcPct val="115000"/>
              </a:lnSpc>
              <a:spcBef>
                <a:spcPts val="0"/>
              </a:spcBef>
              <a:spcAft>
                <a:spcPts val="0"/>
              </a:spcAft>
              <a:buSzPts val="2300"/>
              <a:buFont typeface="Calibri"/>
              <a:buChar char="○"/>
            </a:pPr>
            <a:r>
              <a:rPr lang="en-GB" sz="2300">
                <a:solidFill>
                  <a:schemeClr val="dk1"/>
                </a:solidFill>
                <a:latin typeface="Calibri"/>
                <a:ea typeface="Calibri"/>
                <a:cs typeface="Calibri"/>
                <a:sym typeface="Calibri"/>
              </a:rPr>
              <a:t>architectural </a:t>
            </a:r>
            <a:r>
              <a:rPr lang="en-GB" sz="2300" b="1">
                <a:solidFill>
                  <a:schemeClr val="dk1"/>
                </a:solidFill>
                <a:latin typeface="Calibri"/>
                <a:ea typeface="Calibri"/>
                <a:cs typeface="Calibri"/>
                <a:sym typeface="Calibri"/>
              </a:rPr>
              <a:t>styles and patterns</a:t>
            </a:r>
            <a:endParaRPr sz="2300" b="1">
              <a:solidFill>
                <a:schemeClr val="dk1"/>
              </a:solidFill>
              <a:latin typeface="Calibri"/>
              <a:ea typeface="Calibri"/>
              <a:cs typeface="Calibri"/>
              <a:sym typeface="Calibri"/>
            </a:endParaRPr>
          </a:p>
          <a:p>
            <a:pPr marL="914400" lvl="0" indent="0" algn="l" rtl="0">
              <a:spcBef>
                <a:spcPts val="0"/>
              </a:spcBef>
              <a:spcAft>
                <a:spcPts val="0"/>
              </a:spcAft>
              <a:buNone/>
            </a:pPr>
            <a:endParaRPr sz="2200">
              <a:solidFill>
                <a:schemeClr val="dk1"/>
              </a:solidFill>
              <a:latin typeface="Calibri"/>
              <a:ea typeface="Calibri"/>
              <a:cs typeface="Calibri"/>
              <a:sym typeface="Calibri"/>
            </a:endParaRPr>
          </a:p>
          <a:p>
            <a:pPr marL="457200" lvl="0" indent="0" algn="just" rtl="0">
              <a:spcBef>
                <a:spcPts val="1000"/>
              </a:spcBef>
              <a:spcAft>
                <a:spcPts val="0"/>
              </a:spcAft>
              <a:buNone/>
            </a:pPr>
            <a:endParaRPr sz="2300">
              <a:solidFill>
                <a:schemeClr val="dk1"/>
              </a:solidFill>
              <a:latin typeface="Calibri"/>
              <a:ea typeface="Calibri"/>
              <a:cs typeface="Calibri"/>
              <a:sym typeface="Calibri"/>
            </a:endParaRPr>
          </a:p>
        </p:txBody>
      </p:sp>
      <p:sp>
        <p:nvSpPr>
          <p:cNvPr id="355" name="Google Shape;355;p5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356" name="Google Shape;356;p5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40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5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5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5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5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5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51"/>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Model</a:t>
            </a:r>
            <a:endParaRPr b="1"/>
          </a:p>
        </p:txBody>
      </p:sp>
      <p:sp>
        <p:nvSpPr>
          <p:cNvPr id="362" name="Google Shape;362;p51"/>
          <p:cNvSpPr txBox="1">
            <a:spLocks noGrp="1"/>
          </p:cNvSpPr>
          <p:nvPr>
            <p:ph type="body" idx="1"/>
          </p:nvPr>
        </p:nvSpPr>
        <p:spPr>
          <a:xfrm>
            <a:off x="0" y="595325"/>
            <a:ext cx="8871600" cy="2475300"/>
          </a:xfrm>
          <a:prstGeom prst="rect">
            <a:avLst/>
          </a:prstGeom>
          <a:noFill/>
          <a:ln>
            <a:noFill/>
          </a:ln>
        </p:spPr>
        <p:txBody>
          <a:bodyPr spcFirstLastPara="1" wrap="square" lIns="68575" tIns="34275" rIns="68575" bIns="34275" anchor="t" anchorCtr="0">
            <a:noAutofit/>
          </a:bodyPr>
          <a:lstStyle/>
          <a:p>
            <a:pPr marL="457200" lvl="0" indent="-374650" algn="just" rtl="0">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Elements of Design Model</a:t>
            </a:r>
            <a:endParaRPr sz="2100">
              <a:solidFill>
                <a:schemeClr val="dk1"/>
              </a:solidFill>
            </a:endParaRPr>
          </a:p>
          <a:p>
            <a:pPr marL="457200" lvl="0" indent="-361950" algn="just" rtl="0">
              <a:lnSpc>
                <a:spcPct val="100000"/>
              </a:lnSpc>
              <a:spcBef>
                <a:spcPts val="0"/>
              </a:spcBef>
              <a:spcAft>
                <a:spcPts val="0"/>
              </a:spcAft>
              <a:buClr>
                <a:schemeClr val="dk1"/>
              </a:buClr>
              <a:buSzPts val="2100"/>
              <a:buFont typeface="Calibri"/>
              <a:buChar char="●"/>
            </a:pPr>
            <a:r>
              <a:rPr lang="en-GB" sz="2100" b="1">
                <a:solidFill>
                  <a:schemeClr val="dk1"/>
                </a:solidFill>
                <a:latin typeface="Calibri"/>
                <a:ea typeface="Calibri"/>
                <a:cs typeface="Calibri"/>
                <a:sym typeface="Calibri"/>
              </a:rPr>
              <a:t>Interface Design Elements: </a:t>
            </a:r>
            <a:endParaRPr sz="2100" b="1">
              <a:solidFill>
                <a:schemeClr val="dk1"/>
              </a:solidFill>
              <a:latin typeface="Calibri"/>
              <a:ea typeface="Calibri"/>
              <a:cs typeface="Calibri"/>
              <a:sym typeface="Calibri"/>
            </a:endParaRPr>
          </a:p>
          <a:p>
            <a:pPr marL="0" lvl="0" indent="0" algn="just" rtl="0">
              <a:lnSpc>
                <a:spcPct val="100000"/>
              </a:lnSpc>
              <a:spcBef>
                <a:spcPts val="0"/>
              </a:spcBef>
              <a:spcAft>
                <a:spcPts val="0"/>
              </a:spcAft>
              <a:buNone/>
            </a:pPr>
            <a:r>
              <a:rPr lang="en-GB" sz="2100">
                <a:solidFill>
                  <a:schemeClr val="dk1"/>
                </a:solidFill>
                <a:latin typeface="Calibri"/>
                <a:ea typeface="Calibri"/>
                <a:cs typeface="Calibri"/>
                <a:sym typeface="Calibri"/>
              </a:rPr>
              <a:t>       Equivalent to detailed drawings of a house</a:t>
            </a:r>
            <a:endParaRPr sz="2100">
              <a:solidFill>
                <a:schemeClr val="dk1"/>
              </a:solidFill>
              <a:latin typeface="Calibri"/>
              <a:ea typeface="Calibri"/>
              <a:cs typeface="Calibri"/>
              <a:sym typeface="Calibri"/>
            </a:endParaRPr>
          </a:p>
          <a:p>
            <a:pPr marL="914400" lvl="1" indent="-361950" algn="just" rtl="0">
              <a:lnSpc>
                <a:spcPct val="100000"/>
              </a:lnSpc>
              <a:spcBef>
                <a:spcPts val="0"/>
              </a:spcBef>
              <a:spcAft>
                <a:spcPts val="0"/>
              </a:spcAft>
              <a:buClr>
                <a:schemeClr val="dk1"/>
              </a:buClr>
              <a:buSzPts val="2100"/>
              <a:buFont typeface="Calibri"/>
              <a:buChar char="○"/>
            </a:pPr>
            <a:r>
              <a:rPr lang="en-GB" sz="2100">
                <a:solidFill>
                  <a:schemeClr val="dk1"/>
                </a:solidFill>
                <a:latin typeface="Calibri"/>
                <a:ea typeface="Calibri"/>
                <a:cs typeface="Calibri"/>
                <a:sym typeface="Calibri"/>
              </a:rPr>
              <a:t>User Interface (UI)</a:t>
            </a:r>
            <a:endParaRPr sz="2100">
              <a:solidFill>
                <a:schemeClr val="dk1"/>
              </a:solidFill>
              <a:latin typeface="Calibri"/>
              <a:ea typeface="Calibri"/>
              <a:cs typeface="Calibri"/>
              <a:sym typeface="Calibri"/>
            </a:endParaRPr>
          </a:p>
          <a:p>
            <a:pPr marL="914400" lvl="1" indent="-361950" algn="just" rtl="0">
              <a:lnSpc>
                <a:spcPct val="100000"/>
              </a:lnSpc>
              <a:spcBef>
                <a:spcPts val="0"/>
              </a:spcBef>
              <a:spcAft>
                <a:spcPts val="0"/>
              </a:spcAft>
              <a:buClr>
                <a:schemeClr val="dk1"/>
              </a:buClr>
              <a:buSzPts val="2100"/>
              <a:buFont typeface="Calibri"/>
              <a:buChar char="○"/>
            </a:pPr>
            <a:r>
              <a:rPr lang="en-GB" sz="2100">
                <a:solidFill>
                  <a:schemeClr val="dk1"/>
                </a:solidFill>
                <a:latin typeface="Calibri"/>
                <a:ea typeface="Calibri"/>
                <a:cs typeface="Calibri"/>
                <a:sym typeface="Calibri"/>
              </a:rPr>
              <a:t>External interface to other systems, devices, networks or other producers or consumers of information </a:t>
            </a:r>
            <a:endParaRPr sz="2100">
              <a:solidFill>
                <a:schemeClr val="dk1"/>
              </a:solidFill>
              <a:latin typeface="Calibri"/>
              <a:ea typeface="Calibri"/>
              <a:cs typeface="Calibri"/>
              <a:sym typeface="Calibri"/>
            </a:endParaRPr>
          </a:p>
          <a:p>
            <a:pPr marL="914400" lvl="1" indent="-361950" algn="just" rtl="0">
              <a:lnSpc>
                <a:spcPct val="100000"/>
              </a:lnSpc>
              <a:spcBef>
                <a:spcPts val="0"/>
              </a:spcBef>
              <a:spcAft>
                <a:spcPts val="0"/>
              </a:spcAft>
              <a:buClr>
                <a:schemeClr val="dk1"/>
              </a:buClr>
              <a:buSzPts val="2100"/>
              <a:buFont typeface="Calibri"/>
              <a:buChar char="○"/>
            </a:pPr>
            <a:r>
              <a:rPr lang="en-GB" sz="2100">
                <a:solidFill>
                  <a:schemeClr val="dk1"/>
                </a:solidFill>
                <a:latin typeface="Calibri"/>
                <a:ea typeface="Calibri"/>
                <a:cs typeface="Calibri"/>
                <a:sym typeface="Calibri"/>
              </a:rPr>
              <a:t>Internal interfaces between various design components </a:t>
            </a:r>
            <a:endParaRPr sz="2100">
              <a:solidFill>
                <a:schemeClr val="dk1"/>
              </a:solidFill>
              <a:latin typeface="Calibri"/>
              <a:ea typeface="Calibri"/>
              <a:cs typeface="Calibri"/>
              <a:sym typeface="Calibri"/>
            </a:endParaRPr>
          </a:p>
          <a:p>
            <a:pPr marL="457200" lvl="0" indent="-361950" algn="just" rtl="0">
              <a:lnSpc>
                <a:spcPct val="100000"/>
              </a:lnSpc>
              <a:spcBef>
                <a:spcPts val="0"/>
              </a:spcBef>
              <a:spcAft>
                <a:spcPts val="0"/>
              </a:spcAft>
              <a:buClr>
                <a:schemeClr val="dk1"/>
              </a:buClr>
              <a:buSzPts val="2100"/>
              <a:buFont typeface="Calibri"/>
              <a:buChar char="●"/>
            </a:pPr>
            <a:r>
              <a:rPr lang="en-GB" sz="2100" b="1">
                <a:solidFill>
                  <a:schemeClr val="dk1"/>
                </a:solidFill>
                <a:latin typeface="Calibri"/>
                <a:ea typeface="Calibri"/>
                <a:cs typeface="Calibri"/>
                <a:sym typeface="Calibri"/>
              </a:rPr>
              <a:t>Components- Level Design Elements:</a:t>
            </a:r>
            <a:endParaRPr sz="2100" b="1">
              <a:solidFill>
                <a:schemeClr val="dk1"/>
              </a:solidFill>
              <a:latin typeface="Calibri"/>
              <a:ea typeface="Calibri"/>
              <a:cs typeface="Calibri"/>
              <a:sym typeface="Calibri"/>
            </a:endParaRPr>
          </a:p>
          <a:p>
            <a:pPr marL="457200" lvl="0" indent="0" algn="just" rtl="0">
              <a:lnSpc>
                <a:spcPct val="100000"/>
              </a:lnSpc>
              <a:spcBef>
                <a:spcPts val="0"/>
              </a:spcBef>
              <a:spcAft>
                <a:spcPts val="0"/>
              </a:spcAft>
              <a:buNone/>
            </a:pPr>
            <a:r>
              <a:rPr lang="en-GB" sz="2100">
                <a:solidFill>
                  <a:schemeClr val="dk1"/>
                </a:solidFill>
                <a:latin typeface="Calibri"/>
                <a:ea typeface="Calibri"/>
                <a:cs typeface="Calibri"/>
                <a:sym typeface="Calibri"/>
              </a:rPr>
              <a:t>Equivalent to a set of detailed drawings of a house </a:t>
            </a:r>
            <a:endParaRPr sz="2100">
              <a:solidFill>
                <a:schemeClr val="dk1"/>
              </a:solidFill>
              <a:latin typeface="Calibri"/>
              <a:ea typeface="Calibri"/>
              <a:cs typeface="Calibri"/>
              <a:sym typeface="Calibri"/>
            </a:endParaRPr>
          </a:p>
          <a:p>
            <a:pPr marL="457200" lvl="0" indent="0" algn="just" rtl="0">
              <a:lnSpc>
                <a:spcPct val="100000"/>
              </a:lnSpc>
              <a:spcBef>
                <a:spcPts val="0"/>
              </a:spcBef>
              <a:spcAft>
                <a:spcPts val="0"/>
              </a:spcAft>
              <a:buNone/>
            </a:pPr>
            <a:r>
              <a:rPr lang="en-GB" sz="2100">
                <a:solidFill>
                  <a:schemeClr val="dk1"/>
                </a:solidFill>
                <a:latin typeface="Calibri"/>
                <a:ea typeface="Calibri"/>
                <a:cs typeface="Calibri"/>
                <a:sym typeface="Calibri"/>
              </a:rPr>
              <a:t>Relationship between the components </a:t>
            </a:r>
            <a:endParaRPr sz="2100">
              <a:solidFill>
                <a:schemeClr val="dk1"/>
              </a:solidFill>
              <a:latin typeface="Calibri"/>
              <a:ea typeface="Calibri"/>
              <a:cs typeface="Calibri"/>
              <a:sym typeface="Calibri"/>
            </a:endParaRPr>
          </a:p>
          <a:p>
            <a:pPr marL="457200" lvl="0" indent="-361950" algn="just" rtl="0">
              <a:lnSpc>
                <a:spcPct val="100000"/>
              </a:lnSpc>
              <a:spcBef>
                <a:spcPts val="0"/>
              </a:spcBef>
              <a:spcAft>
                <a:spcPts val="0"/>
              </a:spcAft>
              <a:buClr>
                <a:schemeClr val="dk1"/>
              </a:buClr>
              <a:buSzPts val="2100"/>
              <a:buFont typeface="Calibri"/>
              <a:buChar char="●"/>
            </a:pPr>
            <a:r>
              <a:rPr lang="en-GB" sz="2100" b="1">
                <a:solidFill>
                  <a:schemeClr val="dk1"/>
                </a:solidFill>
                <a:latin typeface="Calibri"/>
                <a:ea typeface="Calibri"/>
                <a:cs typeface="Calibri"/>
                <a:sym typeface="Calibri"/>
              </a:rPr>
              <a:t>Deployment -Level Design Elements:</a:t>
            </a:r>
            <a:endParaRPr sz="2100" b="1">
              <a:solidFill>
                <a:schemeClr val="dk1"/>
              </a:solidFill>
              <a:latin typeface="Calibri"/>
              <a:ea typeface="Calibri"/>
              <a:cs typeface="Calibri"/>
              <a:sym typeface="Calibri"/>
            </a:endParaRPr>
          </a:p>
          <a:p>
            <a:pPr marL="457200" lvl="0" indent="0" algn="l" rtl="0">
              <a:spcBef>
                <a:spcPts val="0"/>
              </a:spcBef>
              <a:spcAft>
                <a:spcPts val="0"/>
              </a:spcAft>
              <a:buNone/>
            </a:pPr>
            <a:r>
              <a:rPr lang="en-GB" sz="2100">
                <a:solidFill>
                  <a:schemeClr val="dk1"/>
                </a:solidFill>
                <a:latin typeface="Calibri"/>
                <a:ea typeface="Calibri"/>
                <a:cs typeface="Calibri"/>
                <a:sym typeface="Calibri"/>
              </a:rPr>
              <a:t>Indicate how </a:t>
            </a:r>
            <a:r>
              <a:rPr lang="en-GB" sz="2100" b="1">
                <a:solidFill>
                  <a:schemeClr val="dk1"/>
                </a:solidFill>
                <a:latin typeface="Calibri"/>
                <a:ea typeface="Calibri"/>
                <a:cs typeface="Calibri"/>
                <a:sym typeface="Calibri"/>
              </a:rPr>
              <a:t>software functionality and subsystems</a:t>
            </a:r>
            <a:r>
              <a:rPr lang="en-GB" sz="2100">
                <a:solidFill>
                  <a:schemeClr val="dk1"/>
                </a:solidFill>
                <a:latin typeface="Calibri"/>
                <a:ea typeface="Calibri"/>
                <a:cs typeface="Calibri"/>
                <a:sym typeface="Calibri"/>
              </a:rPr>
              <a:t> will be allocated within the software environment.</a:t>
            </a:r>
            <a:endParaRPr sz="2100">
              <a:solidFill>
                <a:schemeClr val="dk1"/>
              </a:solidFill>
              <a:latin typeface="Calibri"/>
              <a:ea typeface="Calibri"/>
              <a:cs typeface="Calibri"/>
              <a:sym typeface="Calibri"/>
            </a:endParaRPr>
          </a:p>
          <a:p>
            <a:pPr marL="0" lvl="0" indent="0" algn="l" rtl="0">
              <a:spcBef>
                <a:spcPts val="0"/>
              </a:spcBef>
              <a:spcAft>
                <a:spcPts val="0"/>
              </a:spcAft>
              <a:buNone/>
            </a:pPr>
            <a:endParaRPr sz="2200" b="1">
              <a:solidFill>
                <a:schemeClr val="dk1"/>
              </a:solidFill>
              <a:latin typeface="Calibri"/>
              <a:ea typeface="Calibri"/>
              <a:cs typeface="Calibri"/>
              <a:sym typeface="Calibri"/>
            </a:endParaRPr>
          </a:p>
        </p:txBody>
      </p:sp>
      <p:sp>
        <p:nvSpPr>
          <p:cNvPr id="363" name="Google Shape;363;p5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364" name="Google Shape;364;p5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41</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6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6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6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6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52"/>
          <p:cNvSpPr txBox="1">
            <a:spLocks noGrp="1"/>
          </p:cNvSpPr>
          <p:nvPr>
            <p:ph type="title"/>
          </p:nvPr>
        </p:nvSpPr>
        <p:spPr>
          <a:xfrm>
            <a:off x="628650" y="-3"/>
            <a:ext cx="7886700" cy="574200"/>
          </a:xfrm>
          <a:prstGeom prst="rect">
            <a:avLst/>
          </a:prstGeom>
        </p:spPr>
        <p:txBody>
          <a:bodyPr spcFirstLastPara="1" wrap="square" lIns="68575" tIns="34275" rIns="68575" bIns="34275" anchor="ctr" anchorCtr="0">
            <a:normAutofit/>
          </a:bodyPr>
          <a:lstStyle/>
          <a:p>
            <a:pPr marL="0" lvl="0" indent="0" algn="ctr" rtl="0">
              <a:spcBef>
                <a:spcPts val="0"/>
              </a:spcBef>
              <a:spcAft>
                <a:spcPts val="0"/>
              </a:spcAft>
              <a:buNone/>
            </a:pPr>
            <a:r>
              <a:rPr lang="en-GB"/>
              <a:t>Pattern Based Software Design</a:t>
            </a:r>
            <a:endParaRPr/>
          </a:p>
        </p:txBody>
      </p:sp>
      <p:sp>
        <p:nvSpPr>
          <p:cNvPr id="370" name="Google Shape;370;p52"/>
          <p:cNvSpPr txBox="1">
            <a:spLocks noGrp="1"/>
          </p:cNvSpPr>
          <p:nvPr>
            <p:ph type="body" idx="1"/>
          </p:nvPr>
        </p:nvSpPr>
        <p:spPr>
          <a:xfrm>
            <a:off x="628650" y="689275"/>
            <a:ext cx="8178600" cy="4006200"/>
          </a:xfrm>
          <a:prstGeom prst="rect">
            <a:avLst/>
          </a:prstGeom>
        </p:spPr>
        <p:txBody>
          <a:bodyPr spcFirstLastPara="1" wrap="square" lIns="68575" tIns="34275" rIns="68575" bIns="34275" anchor="t" anchorCtr="0">
            <a:noAutofit/>
          </a:bodyPr>
          <a:lstStyle/>
          <a:p>
            <a:pPr marL="0" lvl="0" indent="0" algn="just" rtl="0">
              <a:lnSpc>
                <a:spcPct val="80000"/>
              </a:lnSpc>
              <a:spcBef>
                <a:spcPts val="1000"/>
              </a:spcBef>
              <a:spcAft>
                <a:spcPts val="0"/>
              </a:spcAft>
              <a:buClr>
                <a:schemeClr val="dk1"/>
              </a:buClr>
              <a:buSzPts val="688"/>
              <a:buFont typeface="Arial"/>
              <a:buNone/>
            </a:pPr>
            <a:r>
              <a:rPr lang="en-GB" sz="1850">
                <a:solidFill>
                  <a:schemeClr val="dk1"/>
                </a:solidFill>
              </a:rPr>
              <a:t>•</a:t>
            </a:r>
            <a:r>
              <a:rPr lang="en-GB" sz="1850">
                <a:solidFill>
                  <a:schemeClr val="dk1"/>
                </a:solidFill>
                <a:latin typeface="Calibri"/>
                <a:ea typeface="Calibri"/>
                <a:cs typeface="Calibri"/>
                <a:sym typeface="Calibri"/>
              </a:rPr>
              <a:t>The best designers in any field have an uncanny </a:t>
            </a:r>
            <a:r>
              <a:rPr lang="en-GB" sz="1850" b="1">
                <a:solidFill>
                  <a:schemeClr val="dk1"/>
                </a:solidFill>
                <a:latin typeface="Calibri"/>
                <a:ea typeface="Calibri"/>
                <a:cs typeface="Calibri"/>
                <a:sym typeface="Calibri"/>
              </a:rPr>
              <a:t>ability to see patterns that characterize a problem </a:t>
            </a:r>
            <a:r>
              <a:rPr lang="en-GB" sz="1850">
                <a:solidFill>
                  <a:schemeClr val="dk1"/>
                </a:solidFill>
                <a:latin typeface="Calibri"/>
                <a:ea typeface="Calibri"/>
                <a:cs typeface="Calibri"/>
                <a:sym typeface="Calibri"/>
              </a:rPr>
              <a:t>and corresponding patterns that can be combined to create a solution.</a:t>
            </a:r>
            <a:endParaRPr sz="1850">
              <a:solidFill>
                <a:schemeClr val="dk1"/>
              </a:solidFill>
              <a:latin typeface="Calibri"/>
              <a:ea typeface="Calibri"/>
              <a:cs typeface="Calibri"/>
              <a:sym typeface="Calibri"/>
            </a:endParaRPr>
          </a:p>
          <a:p>
            <a:pPr marL="0" lvl="0" indent="0" algn="just" rtl="0">
              <a:lnSpc>
                <a:spcPct val="80000"/>
              </a:lnSpc>
              <a:spcBef>
                <a:spcPts val="1000"/>
              </a:spcBef>
              <a:spcAft>
                <a:spcPts val="0"/>
              </a:spcAft>
              <a:buClr>
                <a:schemeClr val="dk1"/>
              </a:buClr>
              <a:buSzPts val="688"/>
              <a:buFont typeface="Arial"/>
              <a:buNone/>
            </a:pPr>
            <a:r>
              <a:rPr lang="en-GB" sz="1850">
                <a:solidFill>
                  <a:schemeClr val="dk1"/>
                </a:solidFill>
              </a:rPr>
              <a:t>•</a:t>
            </a:r>
            <a:r>
              <a:rPr lang="en-GB" sz="1850">
                <a:solidFill>
                  <a:schemeClr val="dk1"/>
                </a:solidFill>
                <a:latin typeface="Calibri"/>
                <a:ea typeface="Calibri"/>
                <a:cs typeface="Calibri"/>
                <a:sym typeface="Calibri"/>
              </a:rPr>
              <a:t>A description of a design pattern may also consider a set of design forces.</a:t>
            </a:r>
            <a:endParaRPr sz="1850">
              <a:solidFill>
                <a:schemeClr val="dk1"/>
              </a:solidFill>
              <a:latin typeface="Calibri"/>
              <a:ea typeface="Calibri"/>
              <a:cs typeface="Calibri"/>
              <a:sym typeface="Calibri"/>
            </a:endParaRPr>
          </a:p>
          <a:p>
            <a:pPr marL="0" lvl="0" indent="0" algn="just" rtl="0">
              <a:lnSpc>
                <a:spcPct val="80000"/>
              </a:lnSpc>
              <a:spcBef>
                <a:spcPts val="500"/>
              </a:spcBef>
              <a:spcAft>
                <a:spcPts val="0"/>
              </a:spcAft>
              <a:buClr>
                <a:schemeClr val="dk1"/>
              </a:buClr>
              <a:buSzPts val="688"/>
              <a:buFont typeface="Arial"/>
              <a:buNone/>
            </a:pPr>
            <a:r>
              <a:rPr lang="en-GB" sz="1600">
                <a:solidFill>
                  <a:schemeClr val="dk1"/>
                </a:solidFill>
              </a:rPr>
              <a:t>•</a:t>
            </a:r>
            <a:r>
              <a:rPr lang="en-GB" sz="1600" b="1" i="1">
                <a:solidFill>
                  <a:schemeClr val="dk1"/>
                </a:solidFill>
                <a:latin typeface="Calibri"/>
                <a:ea typeface="Calibri"/>
                <a:cs typeface="Calibri"/>
                <a:sym typeface="Calibri"/>
              </a:rPr>
              <a:t>Design forces</a:t>
            </a:r>
            <a:r>
              <a:rPr lang="en-GB" sz="1600" b="1">
                <a:solidFill>
                  <a:schemeClr val="dk1"/>
                </a:solidFill>
                <a:latin typeface="Calibri"/>
                <a:ea typeface="Calibri"/>
                <a:cs typeface="Calibri"/>
                <a:sym typeface="Calibri"/>
              </a:rPr>
              <a:t> describe non-functional requirements </a:t>
            </a:r>
            <a:r>
              <a:rPr lang="en-GB" sz="1600">
                <a:solidFill>
                  <a:schemeClr val="dk1"/>
                </a:solidFill>
                <a:latin typeface="Calibri"/>
                <a:ea typeface="Calibri"/>
                <a:cs typeface="Calibri"/>
                <a:sym typeface="Calibri"/>
              </a:rPr>
              <a:t>(e.g., ease of maintainability, portability) </a:t>
            </a:r>
            <a:r>
              <a:rPr lang="en-GB" sz="1600" b="1">
                <a:solidFill>
                  <a:schemeClr val="dk1"/>
                </a:solidFill>
                <a:latin typeface="Calibri"/>
                <a:ea typeface="Calibri"/>
                <a:cs typeface="Calibri"/>
                <a:sym typeface="Calibri"/>
              </a:rPr>
              <a:t>associated with the software</a:t>
            </a:r>
            <a:r>
              <a:rPr lang="en-GB" sz="1600">
                <a:solidFill>
                  <a:schemeClr val="dk1"/>
                </a:solidFill>
                <a:latin typeface="Calibri"/>
                <a:ea typeface="Calibri"/>
                <a:cs typeface="Calibri"/>
                <a:sym typeface="Calibri"/>
              </a:rPr>
              <a:t> for which the pattern is to be applied.</a:t>
            </a:r>
            <a:endParaRPr sz="1600">
              <a:solidFill>
                <a:schemeClr val="dk1"/>
              </a:solidFill>
              <a:latin typeface="Calibri"/>
              <a:ea typeface="Calibri"/>
              <a:cs typeface="Calibri"/>
              <a:sym typeface="Calibri"/>
            </a:endParaRPr>
          </a:p>
          <a:p>
            <a:pPr marL="0" lvl="0" indent="0" algn="just" rtl="0">
              <a:lnSpc>
                <a:spcPct val="80000"/>
              </a:lnSpc>
              <a:spcBef>
                <a:spcPts val="1000"/>
              </a:spcBef>
              <a:spcAft>
                <a:spcPts val="0"/>
              </a:spcAft>
              <a:buClr>
                <a:schemeClr val="dk1"/>
              </a:buClr>
              <a:buSzPts val="688"/>
              <a:buFont typeface="Arial"/>
              <a:buNone/>
            </a:pPr>
            <a:r>
              <a:rPr lang="en-GB" sz="1850">
                <a:solidFill>
                  <a:schemeClr val="dk1"/>
                </a:solidFill>
              </a:rPr>
              <a:t>•</a:t>
            </a:r>
            <a:r>
              <a:rPr lang="en-GB" sz="1850">
                <a:solidFill>
                  <a:schemeClr val="dk1"/>
                </a:solidFill>
                <a:latin typeface="Calibri"/>
                <a:ea typeface="Calibri"/>
                <a:cs typeface="Calibri"/>
                <a:sym typeface="Calibri"/>
              </a:rPr>
              <a:t>The pattern characteristics (classes, responsibilities, and collaborations) indicate the attributes of the design that may be adjusted to enable the pattern to accommodate a </a:t>
            </a:r>
            <a:r>
              <a:rPr lang="en-GB" sz="1850" b="1">
                <a:solidFill>
                  <a:schemeClr val="dk1"/>
                </a:solidFill>
                <a:latin typeface="Calibri"/>
                <a:ea typeface="Calibri"/>
                <a:cs typeface="Calibri"/>
                <a:sym typeface="Calibri"/>
              </a:rPr>
              <a:t>variety of problems (problem solving)</a:t>
            </a:r>
            <a:r>
              <a:rPr lang="en-GB" sz="1850">
                <a:solidFill>
                  <a:schemeClr val="dk1"/>
                </a:solidFill>
                <a:latin typeface="Calibri"/>
                <a:ea typeface="Calibri"/>
                <a:cs typeface="Calibri"/>
                <a:sym typeface="Calibri"/>
              </a:rPr>
              <a:t>.</a:t>
            </a:r>
            <a:endParaRPr sz="1850">
              <a:solidFill>
                <a:schemeClr val="dk1"/>
              </a:solidFill>
              <a:latin typeface="Calibri"/>
              <a:ea typeface="Calibri"/>
              <a:cs typeface="Calibri"/>
              <a:sym typeface="Calibri"/>
            </a:endParaRPr>
          </a:p>
          <a:p>
            <a:pPr marL="0" lvl="0" indent="0" algn="just" rtl="0">
              <a:lnSpc>
                <a:spcPct val="80000"/>
              </a:lnSpc>
              <a:spcBef>
                <a:spcPts val="1000"/>
              </a:spcBef>
              <a:spcAft>
                <a:spcPts val="0"/>
              </a:spcAft>
              <a:buClr>
                <a:schemeClr val="dk1"/>
              </a:buClr>
              <a:buSzPts val="688"/>
              <a:buFont typeface="Arial"/>
              <a:buNone/>
            </a:pPr>
            <a:r>
              <a:rPr lang="en-GB" sz="1850">
                <a:solidFill>
                  <a:schemeClr val="dk1"/>
                </a:solidFill>
              </a:rPr>
              <a:t>•</a:t>
            </a:r>
            <a:r>
              <a:rPr lang="en-GB" sz="1850">
                <a:solidFill>
                  <a:schemeClr val="dk1"/>
                </a:solidFill>
                <a:latin typeface="Calibri"/>
                <a:ea typeface="Calibri"/>
                <a:cs typeface="Calibri"/>
                <a:sym typeface="Calibri"/>
              </a:rPr>
              <a:t>Throughout the design process, one should look for every opportunity to </a:t>
            </a:r>
            <a:r>
              <a:rPr lang="en-GB" sz="1850" b="1">
                <a:solidFill>
                  <a:schemeClr val="dk1"/>
                </a:solidFill>
                <a:latin typeface="Calibri"/>
                <a:ea typeface="Calibri"/>
                <a:cs typeface="Calibri"/>
                <a:sym typeface="Calibri"/>
              </a:rPr>
              <a:t>apply existing design patterns</a:t>
            </a:r>
            <a:r>
              <a:rPr lang="en-GB" sz="1850">
                <a:solidFill>
                  <a:schemeClr val="dk1"/>
                </a:solidFill>
                <a:latin typeface="Calibri"/>
                <a:ea typeface="Calibri"/>
                <a:cs typeface="Calibri"/>
                <a:sym typeface="Calibri"/>
              </a:rPr>
              <a:t> rather than creating new ones.</a:t>
            </a:r>
            <a:endParaRPr sz="1850">
              <a:solidFill>
                <a:schemeClr val="dk1"/>
              </a:solidFill>
              <a:latin typeface="Calibri"/>
              <a:ea typeface="Calibri"/>
              <a:cs typeface="Calibri"/>
              <a:sym typeface="Calibri"/>
            </a:endParaRPr>
          </a:p>
          <a:p>
            <a:pPr marL="0" lvl="0" indent="0" algn="l" rtl="0">
              <a:lnSpc>
                <a:spcPct val="80000"/>
              </a:lnSpc>
              <a:spcBef>
                <a:spcPts val="800"/>
              </a:spcBef>
              <a:spcAft>
                <a:spcPts val="1200"/>
              </a:spcAft>
              <a:buSzPts val="688"/>
              <a:buNone/>
            </a:pPr>
            <a:endParaRPr sz="1225"/>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53"/>
          <p:cNvSpPr txBox="1">
            <a:spLocks noGrp="1"/>
          </p:cNvSpPr>
          <p:nvPr>
            <p:ph type="title"/>
          </p:nvPr>
        </p:nvSpPr>
        <p:spPr>
          <a:xfrm>
            <a:off x="628650" y="-3"/>
            <a:ext cx="7886700" cy="574200"/>
          </a:xfrm>
          <a:prstGeom prst="rect">
            <a:avLst/>
          </a:prstGeom>
        </p:spPr>
        <p:txBody>
          <a:bodyPr spcFirstLastPara="1" wrap="square" lIns="68575" tIns="34275" rIns="68575" bIns="34275" anchor="ctr" anchorCtr="0">
            <a:normAutofit/>
          </a:bodyPr>
          <a:lstStyle/>
          <a:p>
            <a:pPr marL="0" lvl="0" indent="0" algn="ctr" rtl="0">
              <a:spcBef>
                <a:spcPts val="0"/>
              </a:spcBef>
              <a:spcAft>
                <a:spcPts val="0"/>
              </a:spcAft>
              <a:buNone/>
            </a:pPr>
            <a:r>
              <a:rPr lang="en-GB"/>
              <a:t>Pattern Based Software Design</a:t>
            </a:r>
            <a:endParaRPr/>
          </a:p>
        </p:txBody>
      </p:sp>
      <p:sp>
        <p:nvSpPr>
          <p:cNvPr id="376" name="Google Shape;376;p53"/>
          <p:cNvSpPr txBox="1">
            <a:spLocks noGrp="1"/>
          </p:cNvSpPr>
          <p:nvPr>
            <p:ph type="body" idx="1"/>
          </p:nvPr>
        </p:nvSpPr>
        <p:spPr>
          <a:xfrm>
            <a:off x="628650" y="689275"/>
            <a:ext cx="8178600" cy="4006200"/>
          </a:xfrm>
          <a:prstGeom prst="rect">
            <a:avLst/>
          </a:prstGeom>
        </p:spPr>
        <p:txBody>
          <a:bodyPr spcFirstLastPara="1" wrap="square" lIns="68575" tIns="34275" rIns="68575" bIns="34275" anchor="t" anchorCtr="0">
            <a:noAutofit/>
          </a:bodyPr>
          <a:lstStyle/>
          <a:p>
            <a:pPr marL="0" lvl="0" indent="0" algn="l" rtl="0">
              <a:spcBef>
                <a:spcPts val="1000"/>
              </a:spcBef>
              <a:spcAft>
                <a:spcPts val="0"/>
              </a:spcAft>
              <a:buSzPts val="1100"/>
              <a:buNone/>
            </a:pPr>
            <a:r>
              <a:rPr lang="en-GB" sz="2800" b="1">
                <a:solidFill>
                  <a:srgbClr val="0070C0"/>
                </a:solidFill>
                <a:latin typeface="Calibri"/>
                <a:ea typeface="Calibri"/>
                <a:cs typeface="Calibri"/>
                <a:sym typeface="Calibri"/>
              </a:rPr>
              <a:t>1. Pattern-Based Design in Context</a:t>
            </a:r>
            <a:endParaRPr sz="2800" b="1">
              <a:solidFill>
                <a:srgbClr val="0070C0"/>
              </a:solidFill>
              <a:latin typeface="Calibri"/>
              <a:ea typeface="Calibri"/>
              <a:cs typeface="Calibri"/>
              <a:sym typeface="Calibri"/>
            </a:endParaRPr>
          </a:p>
          <a:p>
            <a:pPr marL="0" lvl="0" indent="0" algn="just" rtl="0">
              <a:lnSpc>
                <a:spcPct val="80000"/>
              </a:lnSpc>
              <a:spcBef>
                <a:spcPts val="1000"/>
              </a:spcBef>
              <a:spcAft>
                <a:spcPts val="0"/>
              </a:spcAft>
              <a:buSzPts val="688"/>
              <a:buNone/>
            </a:pPr>
            <a:endParaRPr sz="1850">
              <a:solidFill>
                <a:schemeClr val="dk1"/>
              </a:solidFill>
            </a:endParaRPr>
          </a:p>
        </p:txBody>
      </p:sp>
      <p:pic>
        <p:nvPicPr>
          <p:cNvPr id="377" name="Google Shape;377;p53"/>
          <p:cNvPicPr preferRelativeResize="0"/>
          <p:nvPr/>
        </p:nvPicPr>
        <p:blipFill>
          <a:blip r:embed="rId3">
            <a:alphaModFix/>
          </a:blip>
          <a:stretch>
            <a:fillRect/>
          </a:stretch>
        </p:blipFill>
        <p:spPr>
          <a:xfrm>
            <a:off x="1531500" y="1431850"/>
            <a:ext cx="3246550" cy="3040675"/>
          </a:xfrm>
          <a:prstGeom prst="rect">
            <a:avLst/>
          </a:prstGeom>
          <a:noFill/>
          <a:ln>
            <a:noFill/>
          </a:ln>
        </p:spPr>
      </p:pic>
      <p:sp>
        <p:nvSpPr>
          <p:cNvPr id="378" name="Google Shape;378;p53"/>
          <p:cNvSpPr txBox="1"/>
          <p:nvPr/>
        </p:nvSpPr>
        <p:spPr>
          <a:xfrm>
            <a:off x="5136300" y="2490488"/>
            <a:ext cx="4007700" cy="92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GB" sz="1600" b="1">
                <a:solidFill>
                  <a:schemeClr val="dk1"/>
                </a:solidFill>
                <a:latin typeface="Calibri"/>
                <a:ea typeface="Calibri"/>
                <a:cs typeface="Calibri"/>
                <a:sym typeface="Calibri"/>
              </a:rPr>
              <a:t>Use methods and modeling tools available for architectural, component level, and interface design.</a:t>
            </a:r>
            <a:endParaRPr sz="1600" b="1">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54"/>
          <p:cNvSpPr txBox="1">
            <a:spLocks noGrp="1"/>
          </p:cNvSpPr>
          <p:nvPr>
            <p:ph type="title"/>
          </p:nvPr>
        </p:nvSpPr>
        <p:spPr>
          <a:xfrm>
            <a:off x="628650" y="-3"/>
            <a:ext cx="7886700" cy="574200"/>
          </a:xfrm>
          <a:prstGeom prst="rect">
            <a:avLst/>
          </a:prstGeom>
        </p:spPr>
        <p:txBody>
          <a:bodyPr spcFirstLastPara="1" wrap="square" lIns="68575" tIns="34275" rIns="68575" bIns="34275" anchor="ctr" anchorCtr="0">
            <a:normAutofit/>
          </a:bodyPr>
          <a:lstStyle/>
          <a:p>
            <a:pPr marL="0" lvl="0" indent="0" algn="ctr" rtl="0">
              <a:spcBef>
                <a:spcPts val="0"/>
              </a:spcBef>
              <a:spcAft>
                <a:spcPts val="0"/>
              </a:spcAft>
              <a:buNone/>
            </a:pPr>
            <a:r>
              <a:rPr lang="en-GB"/>
              <a:t>Pattern Based Software Design</a:t>
            </a:r>
            <a:endParaRPr/>
          </a:p>
        </p:txBody>
      </p:sp>
      <p:sp>
        <p:nvSpPr>
          <p:cNvPr id="384" name="Google Shape;384;p54"/>
          <p:cNvSpPr txBox="1">
            <a:spLocks noGrp="1"/>
          </p:cNvSpPr>
          <p:nvPr>
            <p:ph type="body" idx="1"/>
          </p:nvPr>
        </p:nvSpPr>
        <p:spPr>
          <a:xfrm>
            <a:off x="628650" y="689275"/>
            <a:ext cx="8178600" cy="4006200"/>
          </a:xfrm>
          <a:prstGeom prst="rect">
            <a:avLst/>
          </a:prstGeom>
        </p:spPr>
        <p:txBody>
          <a:bodyPr spcFirstLastPara="1" wrap="square" lIns="68575" tIns="34275" rIns="68575" bIns="34275" anchor="t" anchorCtr="0">
            <a:noAutofit/>
          </a:bodyPr>
          <a:lstStyle/>
          <a:p>
            <a:pPr marL="0" lvl="0" indent="0" algn="l" rtl="0">
              <a:spcBef>
                <a:spcPts val="1000"/>
              </a:spcBef>
              <a:spcAft>
                <a:spcPts val="0"/>
              </a:spcAft>
              <a:buSzPts val="1100"/>
              <a:buNone/>
            </a:pPr>
            <a:r>
              <a:rPr lang="en-GB" sz="2200" b="1">
                <a:solidFill>
                  <a:srgbClr val="0070C0"/>
                </a:solidFill>
                <a:latin typeface="Calibri"/>
                <a:ea typeface="Calibri"/>
                <a:cs typeface="Calibri"/>
                <a:sym typeface="Calibri"/>
              </a:rPr>
              <a:t>2. Thinking in Patterns</a:t>
            </a:r>
            <a:endParaRPr sz="2200" b="1">
              <a:solidFill>
                <a:srgbClr val="0070C0"/>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a:t>
            </a:r>
            <a:r>
              <a:rPr lang="en-GB" sz="2200" b="1">
                <a:solidFill>
                  <a:schemeClr val="dk1"/>
                </a:solidFill>
                <a:latin typeface="Calibri"/>
                <a:ea typeface="Calibri"/>
                <a:cs typeface="Calibri"/>
                <a:sym typeface="Calibri"/>
              </a:rPr>
              <a:t>new way of thinking</a:t>
            </a:r>
            <a:r>
              <a:rPr lang="en-GB" sz="2200">
                <a:solidFill>
                  <a:schemeClr val="dk1"/>
                </a:solidFill>
                <a:latin typeface="Calibri"/>
                <a:ea typeface="Calibri"/>
                <a:cs typeface="Calibri"/>
                <a:sym typeface="Calibri"/>
              </a:rPr>
              <a:t>” when one </a:t>
            </a:r>
            <a:r>
              <a:rPr lang="en-GB" sz="2200" b="1">
                <a:solidFill>
                  <a:schemeClr val="dk1"/>
                </a:solidFill>
                <a:latin typeface="Calibri"/>
                <a:ea typeface="Calibri"/>
                <a:cs typeface="Calibri"/>
                <a:sym typeface="Calibri"/>
              </a:rPr>
              <a:t>uses</a:t>
            </a:r>
            <a:r>
              <a:rPr lang="en-GB" sz="2200">
                <a:solidFill>
                  <a:schemeClr val="dk1"/>
                </a:solidFill>
                <a:latin typeface="Calibri"/>
                <a:ea typeface="Calibri"/>
                <a:cs typeface="Calibri"/>
                <a:sym typeface="Calibri"/>
              </a:rPr>
              <a:t> </a:t>
            </a:r>
            <a:r>
              <a:rPr lang="en-GB" sz="2200" b="1">
                <a:solidFill>
                  <a:schemeClr val="dk1"/>
                </a:solidFill>
                <a:latin typeface="Calibri"/>
                <a:ea typeface="Calibri"/>
                <a:cs typeface="Calibri"/>
                <a:sym typeface="Calibri"/>
              </a:rPr>
              <a:t>patterns</a:t>
            </a:r>
            <a:r>
              <a:rPr lang="en-GB" sz="2200">
                <a:solidFill>
                  <a:schemeClr val="dk1"/>
                </a:solidFill>
                <a:latin typeface="Calibri"/>
                <a:ea typeface="Calibri"/>
                <a:cs typeface="Calibri"/>
                <a:sym typeface="Calibri"/>
              </a:rPr>
              <a:t> as part of the design activity.</a:t>
            </a:r>
            <a:endParaRPr sz="2200">
              <a:solidFill>
                <a:schemeClr val="dk1"/>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Good design begins by considering context—the big picture.</a:t>
            </a:r>
            <a:endParaRPr sz="2200">
              <a:solidFill>
                <a:schemeClr val="dk1"/>
              </a:solidFill>
              <a:latin typeface="Calibri"/>
              <a:ea typeface="Calibri"/>
              <a:cs typeface="Calibri"/>
              <a:sym typeface="Calibri"/>
            </a:endParaRPr>
          </a:p>
          <a:p>
            <a:pPr marL="0" lvl="0" indent="0" algn="l" rtl="0">
              <a:spcBef>
                <a:spcPts val="0"/>
              </a:spcBef>
              <a:spcAft>
                <a:spcPts val="0"/>
              </a:spcAft>
              <a:buNone/>
            </a:pPr>
            <a:r>
              <a:rPr lang="en-GB" sz="2100" b="1">
                <a:solidFill>
                  <a:schemeClr val="dk1"/>
                </a:solidFill>
                <a:latin typeface="Calibri"/>
                <a:ea typeface="Calibri"/>
                <a:cs typeface="Calibri"/>
                <a:sym typeface="Calibri"/>
              </a:rPr>
              <a:t>Approach that enables a designer to think in patterns:</a:t>
            </a:r>
            <a:endParaRPr sz="2100" b="1">
              <a:solidFill>
                <a:schemeClr val="dk1"/>
              </a:solidFill>
              <a:latin typeface="Calibri"/>
              <a:ea typeface="Calibri"/>
              <a:cs typeface="Calibri"/>
              <a:sym typeface="Calibri"/>
            </a:endParaRPr>
          </a:p>
          <a:p>
            <a:pPr marL="457200" lvl="0" indent="-355600" algn="l" rtl="0">
              <a:spcBef>
                <a:spcPts val="0"/>
              </a:spcBef>
              <a:spcAft>
                <a:spcPts val="0"/>
              </a:spcAft>
              <a:buClr>
                <a:schemeClr val="dk1"/>
              </a:buClr>
              <a:buSzPts val="2000"/>
              <a:buFont typeface="Calibri"/>
              <a:buAutoNum type="arabicPeriod"/>
            </a:pPr>
            <a:r>
              <a:rPr lang="en-GB" sz="2000">
                <a:solidFill>
                  <a:schemeClr val="dk1"/>
                </a:solidFill>
                <a:latin typeface="Calibri"/>
                <a:ea typeface="Calibri"/>
                <a:cs typeface="Calibri"/>
                <a:sym typeface="Calibri"/>
              </a:rPr>
              <a:t>Context of </a:t>
            </a:r>
            <a:r>
              <a:rPr lang="en-GB" sz="2000" b="1">
                <a:solidFill>
                  <a:schemeClr val="dk1"/>
                </a:solidFill>
                <a:latin typeface="Calibri"/>
                <a:ea typeface="Calibri"/>
                <a:cs typeface="Calibri"/>
                <a:sym typeface="Calibri"/>
              </a:rPr>
              <a:t>software build and requirements</a:t>
            </a:r>
            <a:r>
              <a:rPr lang="en-GB" sz="2000">
                <a:solidFill>
                  <a:schemeClr val="dk1"/>
                </a:solidFill>
                <a:latin typeface="Calibri"/>
                <a:ea typeface="Calibri"/>
                <a:cs typeface="Calibri"/>
                <a:sym typeface="Calibri"/>
              </a:rPr>
              <a:t> to be understood.</a:t>
            </a:r>
            <a:endParaRPr sz="2000">
              <a:solidFill>
                <a:schemeClr val="dk1"/>
              </a:solidFill>
              <a:latin typeface="Calibri"/>
              <a:ea typeface="Calibri"/>
              <a:cs typeface="Calibri"/>
              <a:sym typeface="Calibri"/>
            </a:endParaRPr>
          </a:p>
          <a:p>
            <a:pPr marL="457200" lvl="0" indent="-355600" algn="l" rtl="0">
              <a:spcBef>
                <a:spcPts val="0"/>
              </a:spcBef>
              <a:spcAft>
                <a:spcPts val="0"/>
              </a:spcAft>
              <a:buClr>
                <a:schemeClr val="dk1"/>
              </a:buClr>
              <a:buSzPts val="2000"/>
              <a:buFont typeface="Calibri"/>
              <a:buAutoNum type="arabicPeriod"/>
            </a:pPr>
            <a:r>
              <a:rPr lang="en-GB" sz="2000">
                <a:solidFill>
                  <a:schemeClr val="dk1"/>
                </a:solidFill>
                <a:latin typeface="Calibri"/>
                <a:ea typeface="Calibri"/>
                <a:cs typeface="Calibri"/>
                <a:sym typeface="Calibri"/>
              </a:rPr>
              <a:t>extract the </a:t>
            </a:r>
            <a:r>
              <a:rPr lang="en-GB" sz="2000" b="1">
                <a:solidFill>
                  <a:schemeClr val="dk1"/>
                </a:solidFill>
                <a:latin typeface="Calibri"/>
                <a:ea typeface="Calibri"/>
                <a:cs typeface="Calibri"/>
                <a:sym typeface="Calibri"/>
              </a:rPr>
              <a:t>patterns</a:t>
            </a:r>
            <a:r>
              <a:rPr lang="en-GB" sz="2000">
                <a:solidFill>
                  <a:schemeClr val="dk1"/>
                </a:solidFill>
                <a:latin typeface="Calibri"/>
                <a:ea typeface="Calibri"/>
                <a:cs typeface="Calibri"/>
                <a:sym typeface="Calibri"/>
              </a:rPr>
              <a:t> that are </a:t>
            </a:r>
            <a:r>
              <a:rPr lang="en-GB" sz="2000" b="1">
                <a:solidFill>
                  <a:schemeClr val="dk1"/>
                </a:solidFill>
                <a:latin typeface="Calibri"/>
                <a:ea typeface="Calibri"/>
                <a:cs typeface="Calibri"/>
                <a:sym typeface="Calibri"/>
              </a:rPr>
              <a:t>present</a:t>
            </a:r>
            <a:r>
              <a:rPr lang="en-GB" sz="2000">
                <a:solidFill>
                  <a:schemeClr val="dk1"/>
                </a:solidFill>
                <a:latin typeface="Calibri"/>
                <a:ea typeface="Calibri"/>
                <a:cs typeface="Calibri"/>
                <a:sym typeface="Calibri"/>
              </a:rPr>
              <a:t> at </a:t>
            </a:r>
            <a:r>
              <a:rPr lang="en-GB" sz="2000" b="1">
                <a:solidFill>
                  <a:schemeClr val="dk1"/>
                </a:solidFill>
                <a:latin typeface="Calibri"/>
                <a:ea typeface="Calibri"/>
                <a:cs typeface="Calibri"/>
                <a:sym typeface="Calibri"/>
              </a:rPr>
              <a:t>level of abstraction.</a:t>
            </a:r>
            <a:endParaRPr sz="2000" b="1">
              <a:solidFill>
                <a:schemeClr val="dk1"/>
              </a:solidFill>
              <a:latin typeface="Calibri"/>
              <a:ea typeface="Calibri"/>
              <a:cs typeface="Calibri"/>
              <a:sym typeface="Calibri"/>
            </a:endParaRPr>
          </a:p>
          <a:p>
            <a:pPr marL="457200" lvl="0" indent="-355600" algn="l" rtl="0">
              <a:spcBef>
                <a:spcPts val="0"/>
              </a:spcBef>
              <a:spcAft>
                <a:spcPts val="0"/>
              </a:spcAft>
              <a:buClr>
                <a:schemeClr val="dk1"/>
              </a:buClr>
              <a:buSzPts val="2000"/>
              <a:buFont typeface="Calibri"/>
              <a:buAutoNum type="arabicPeriod"/>
            </a:pPr>
            <a:r>
              <a:rPr lang="en-GB" sz="2000">
                <a:solidFill>
                  <a:schemeClr val="dk1"/>
                </a:solidFill>
                <a:latin typeface="Calibri"/>
                <a:ea typeface="Calibri"/>
                <a:cs typeface="Calibri"/>
                <a:sym typeface="Calibri"/>
              </a:rPr>
              <a:t>Begin design with “</a:t>
            </a:r>
            <a:r>
              <a:rPr lang="en-GB" sz="2000" b="1">
                <a:solidFill>
                  <a:schemeClr val="dk1"/>
                </a:solidFill>
                <a:latin typeface="Calibri"/>
                <a:ea typeface="Calibri"/>
                <a:cs typeface="Calibri"/>
                <a:sym typeface="Calibri"/>
              </a:rPr>
              <a:t>big picture</a:t>
            </a:r>
            <a:r>
              <a:rPr lang="en-GB" sz="2000">
                <a:solidFill>
                  <a:schemeClr val="dk1"/>
                </a:solidFill>
                <a:latin typeface="Calibri"/>
                <a:ea typeface="Calibri"/>
                <a:cs typeface="Calibri"/>
                <a:sym typeface="Calibri"/>
              </a:rPr>
              <a:t>” patterns that establish a </a:t>
            </a:r>
            <a:r>
              <a:rPr lang="en-GB" sz="2000" b="1">
                <a:solidFill>
                  <a:schemeClr val="dk1"/>
                </a:solidFill>
                <a:latin typeface="Calibri"/>
                <a:ea typeface="Calibri"/>
                <a:cs typeface="Calibri"/>
                <a:sym typeface="Calibri"/>
              </a:rPr>
              <a:t>context or skeleton </a:t>
            </a:r>
            <a:r>
              <a:rPr lang="en-GB" sz="2000">
                <a:solidFill>
                  <a:schemeClr val="dk1"/>
                </a:solidFill>
                <a:latin typeface="Calibri"/>
                <a:ea typeface="Calibri"/>
                <a:cs typeface="Calibri"/>
                <a:sym typeface="Calibri"/>
              </a:rPr>
              <a:t>for further design work.</a:t>
            </a:r>
            <a:endParaRPr sz="2000">
              <a:solidFill>
                <a:schemeClr val="dk1"/>
              </a:solidFill>
              <a:latin typeface="Calibri"/>
              <a:ea typeface="Calibri"/>
              <a:cs typeface="Calibri"/>
              <a:sym typeface="Calibri"/>
            </a:endParaRPr>
          </a:p>
          <a:p>
            <a:pPr marL="457200" lvl="0" indent="-355600" algn="just" rtl="0">
              <a:spcBef>
                <a:spcPts val="0"/>
              </a:spcBef>
              <a:spcAft>
                <a:spcPts val="0"/>
              </a:spcAft>
              <a:buClr>
                <a:schemeClr val="dk1"/>
              </a:buClr>
              <a:buSzPts val="2000"/>
              <a:buFont typeface="Calibri"/>
              <a:buAutoNum type="arabicPeriod"/>
            </a:pPr>
            <a:r>
              <a:rPr lang="en-GB" sz="2000">
                <a:solidFill>
                  <a:schemeClr val="dk1"/>
                </a:solidFill>
                <a:latin typeface="Calibri"/>
                <a:ea typeface="Calibri"/>
                <a:cs typeface="Calibri"/>
                <a:sym typeface="Calibri"/>
              </a:rPr>
              <a:t>“</a:t>
            </a:r>
            <a:r>
              <a:rPr lang="en-GB" sz="2000" b="1">
                <a:solidFill>
                  <a:schemeClr val="dk1"/>
                </a:solidFill>
                <a:latin typeface="Calibri"/>
                <a:ea typeface="Calibri"/>
                <a:cs typeface="Calibri"/>
                <a:sym typeface="Calibri"/>
              </a:rPr>
              <a:t>Work inward from the context</a:t>
            </a:r>
            <a:r>
              <a:rPr lang="en-GB" sz="2000">
                <a:solidFill>
                  <a:schemeClr val="dk1"/>
                </a:solidFill>
                <a:latin typeface="Calibri"/>
                <a:ea typeface="Calibri"/>
                <a:cs typeface="Calibri"/>
                <a:sym typeface="Calibri"/>
              </a:rPr>
              <a:t>” lower levels of abstraction that contribute to the design solution.</a:t>
            </a:r>
            <a:endParaRPr sz="2000">
              <a:solidFill>
                <a:schemeClr val="dk1"/>
              </a:solidFill>
              <a:latin typeface="Calibri"/>
              <a:ea typeface="Calibri"/>
              <a:cs typeface="Calibri"/>
              <a:sym typeface="Calibri"/>
            </a:endParaRPr>
          </a:p>
          <a:p>
            <a:pPr marL="457200" lvl="0" indent="-355600" algn="just" rtl="0">
              <a:spcBef>
                <a:spcPts val="0"/>
              </a:spcBef>
              <a:spcAft>
                <a:spcPts val="0"/>
              </a:spcAft>
              <a:buClr>
                <a:schemeClr val="dk1"/>
              </a:buClr>
              <a:buSzPts val="2000"/>
              <a:buFont typeface="Calibri"/>
              <a:buAutoNum type="arabicPeriod"/>
            </a:pPr>
            <a:r>
              <a:rPr lang="en-GB" sz="2000" b="1">
                <a:solidFill>
                  <a:schemeClr val="dk1"/>
                </a:solidFill>
                <a:latin typeface="Calibri"/>
                <a:ea typeface="Calibri"/>
                <a:cs typeface="Calibri"/>
                <a:sym typeface="Calibri"/>
              </a:rPr>
              <a:t>Repeat steps 1 to 4 </a:t>
            </a:r>
            <a:r>
              <a:rPr lang="en-GB" sz="2000">
                <a:solidFill>
                  <a:schemeClr val="dk1"/>
                </a:solidFill>
                <a:latin typeface="Calibri"/>
                <a:ea typeface="Calibri"/>
                <a:cs typeface="Calibri"/>
                <a:sym typeface="Calibri"/>
              </a:rPr>
              <a:t>until the complete design is fleshed out.</a:t>
            </a:r>
            <a:endParaRPr sz="2000">
              <a:solidFill>
                <a:schemeClr val="dk1"/>
              </a:solidFill>
              <a:latin typeface="Calibri"/>
              <a:ea typeface="Calibri"/>
              <a:cs typeface="Calibri"/>
              <a:sym typeface="Calibri"/>
            </a:endParaRPr>
          </a:p>
          <a:p>
            <a:pPr marL="457200" lvl="0" indent="-355600" algn="just" rtl="0">
              <a:spcBef>
                <a:spcPts val="0"/>
              </a:spcBef>
              <a:spcAft>
                <a:spcPts val="0"/>
              </a:spcAft>
              <a:buClr>
                <a:schemeClr val="dk1"/>
              </a:buClr>
              <a:buSzPts val="2000"/>
              <a:buFont typeface="Calibri"/>
              <a:buAutoNum type="arabicPeriod"/>
            </a:pPr>
            <a:r>
              <a:rPr lang="en-GB" sz="2000" b="1">
                <a:solidFill>
                  <a:schemeClr val="dk1"/>
                </a:solidFill>
                <a:latin typeface="Calibri"/>
                <a:ea typeface="Calibri"/>
                <a:cs typeface="Calibri"/>
                <a:sym typeface="Calibri"/>
              </a:rPr>
              <a:t>Refine the design</a:t>
            </a:r>
            <a:r>
              <a:rPr lang="en-GB" sz="2000">
                <a:solidFill>
                  <a:schemeClr val="dk1"/>
                </a:solidFill>
                <a:latin typeface="Calibri"/>
                <a:ea typeface="Calibri"/>
                <a:cs typeface="Calibri"/>
                <a:sym typeface="Calibri"/>
              </a:rPr>
              <a:t> by adapting each pattern to the specifics of the software</a:t>
            </a:r>
            <a:endParaRPr sz="2000">
              <a:solidFill>
                <a:schemeClr val="dk1"/>
              </a:solidFill>
              <a:latin typeface="Calibri"/>
              <a:ea typeface="Calibri"/>
              <a:cs typeface="Calibri"/>
              <a:sym typeface="Calibri"/>
            </a:endParaRPr>
          </a:p>
          <a:p>
            <a:pPr marL="0" lvl="0" indent="0" algn="just" rtl="0">
              <a:lnSpc>
                <a:spcPct val="80000"/>
              </a:lnSpc>
              <a:spcBef>
                <a:spcPts val="1000"/>
              </a:spcBef>
              <a:spcAft>
                <a:spcPts val="0"/>
              </a:spcAft>
              <a:buSzPts val="688"/>
              <a:buNone/>
            </a:pPr>
            <a:endParaRPr sz="2800" b="1">
              <a:solidFill>
                <a:srgbClr val="0070C0"/>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55"/>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Model</a:t>
            </a:r>
            <a:endParaRPr b="1"/>
          </a:p>
        </p:txBody>
      </p:sp>
      <p:sp>
        <p:nvSpPr>
          <p:cNvPr id="390" name="Google Shape;390;p55"/>
          <p:cNvSpPr txBox="1">
            <a:spLocks noGrp="1"/>
          </p:cNvSpPr>
          <p:nvPr>
            <p:ph type="body" idx="1"/>
          </p:nvPr>
        </p:nvSpPr>
        <p:spPr>
          <a:xfrm>
            <a:off x="0" y="595325"/>
            <a:ext cx="8871600" cy="2475300"/>
          </a:xfrm>
          <a:prstGeom prst="rect">
            <a:avLst/>
          </a:prstGeom>
          <a:noFill/>
          <a:ln>
            <a:noFill/>
          </a:ln>
        </p:spPr>
        <p:txBody>
          <a:bodyPr spcFirstLastPara="1" wrap="square" lIns="68575" tIns="34275" rIns="68575" bIns="34275" anchor="t" anchorCtr="0">
            <a:noAutofit/>
          </a:bodyPr>
          <a:lstStyle/>
          <a:p>
            <a:pPr marL="0" lvl="0" indent="0" algn="l" rtl="0">
              <a:spcBef>
                <a:spcPts val="1000"/>
              </a:spcBef>
              <a:spcAft>
                <a:spcPts val="0"/>
              </a:spcAft>
              <a:buNone/>
            </a:pPr>
            <a:r>
              <a:rPr lang="en-GB" sz="2100" b="1">
                <a:solidFill>
                  <a:srgbClr val="0070C0"/>
                </a:solidFill>
                <a:latin typeface="Calibri"/>
                <a:ea typeface="Calibri"/>
                <a:cs typeface="Calibri"/>
                <a:sym typeface="Calibri"/>
              </a:rPr>
              <a:t>3. Design Tasks</a:t>
            </a:r>
            <a:endParaRPr sz="2100" b="1">
              <a:solidFill>
                <a:srgbClr val="0070C0"/>
              </a:solidFill>
              <a:latin typeface="Calibri"/>
              <a:ea typeface="Calibri"/>
              <a:cs typeface="Calibri"/>
              <a:sym typeface="Calibri"/>
            </a:endParaRPr>
          </a:p>
          <a:p>
            <a:pPr marL="0" lvl="0" indent="0" algn="l" rtl="0">
              <a:spcBef>
                <a:spcPts val="1000"/>
              </a:spcBef>
              <a:spcAft>
                <a:spcPts val="0"/>
              </a:spcAft>
              <a:buNone/>
            </a:pPr>
            <a:r>
              <a:rPr lang="en-GB" sz="2100" b="1">
                <a:solidFill>
                  <a:schemeClr val="dk1"/>
                </a:solidFill>
                <a:latin typeface="Calibri"/>
                <a:ea typeface="Calibri"/>
                <a:cs typeface="Calibri"/>
                <a:sym typeface="Calibri"/>
              </a:rPr>
              <a:t>The following design tasks are applied when a pattern-based design philosophy is used:</a:t>
            </a:r>
            <a:endParaRPr sz="2100" b="1">
              <a:solidFill>
                <a:schemeClr val="dk1"/>
              </a:solidFill>
              <a:latin typeface="Calibri"/>
              <a:ea typeface="Calibri"/>
              <a:cs typeface="Calibri"/>
              <a:sym typeface="Calibri"/>
            </a:endParaRPr>
          </a:p>
          <a:p>
            <a:pPr marL="457200" lvl="0" indent="-361950" algn="l" rtl="0">
              <a:spcBef>
                <a:spcPts val="1000"/>
              </a:spcBef>
              <a:spcAft>
                <a:spcPts val="0"/>
              </a:spcAft>
              <a:buClr>
                <a:schemeClr val="dk1"/>
              </a:buClr>
              <a:buSzPts val="2100"/>
              <a:buFont typeface="Calibri"/>
              <a:buAutoNum type="arabicPeriod"/>
            </a:pPr>
            <a:r>
              <a:rPr lang="en-GB" sz="2100">
                <a:solidFill>
                  <a:schemeClr val="dk1"/>
                </a:solidFill>
                <a:latin typeface="Calibri"/>
                <a:ea typeface="Calibri"/>
                <a:cs typeface="Calibri"/>
                <a:sym typeface="Calibri"/>
              </a:rPr>
              <a:t>Examine the requirements model and develop a problem hierarchy.</a:t>
            </a:r>
            <a:endParaRPr sz="2100">
              <a:solidFill>
                <a:schemeClr val="dk1"/>
              </a:solidFill>
              <a:latin typeface="Calibri"/>
              <a:ea typeface="Calibri"/>
              <a:cs typeface="Calibri"/>
              <a:sym typeface="Calibri"/>
            </a:endParaRPr>
          </a:p>
          <a:p>
            <a:pPr marL="457200" lvl="0" indent="-361950" algn="l" rtl="0">
              <a:spcBef>
                <a:spcPts val="0"/>
              </a:spcBef>
              <a:spcAft>
                <a:spcPts val="0"/>
              </a:spcAft>
              <a:buClr>
                <a:schemeClr val="dk1"/>
              </a:buClr>
              <a:buSzPts val="2100"/>
              <a:buFont typeface="Calibri"/>
              <a:buAutoNum type="arabicPeriod"/>
            </a:pPr>
            <a:r>
              <a:rPr lang="en-GB" sz="2100">
                <a:solidFill>
                  <a:schemeClr val="dk1"/>
                </a:solidFill>
                <a:latin typeface="Calibri"/>
                <a:ea typeface="Calibri"/>
                <a:cs typeface="Calibri"/>
                <a:sym typeface="Calibri"/>
              </a:rPr>
              <a:t>Determine if a </a:t>
            </a:r>
            <a:r>
              <a:rPr lang="en-GB" sz="2100" b="1">
                <a:solidFill>
                  <a:schemeClr val="dk1"/>
                </a:solidFill>
                <a:latin typeface="Calibri"/>
                <a:ea typeface="Calibri"/>
                <a:cs typeface="Calibri"/>
                <a:sym typeface="Calibri"/>
              </a:rPr>
              <a:t>reliable pattern language </a:t>
            </a:r>
            <a:r>
              <a:rPr lang="en-GB" sz="2100">
                <a:solidFill>
                  <a:schemeClr val="dk1"/>
                </a:solidFill>
                <a:latin typeface="Calibri"/>
                <a:ea typeface="Calibri"/>
                <a:cs typeface="Calibri"/>
                <a:sym typeface="Calibri"/>
              </a:rPr>
              <a:t>has been</a:t>
            </a:r>
            <a:r>
              <a:rPr lang="en-GB" sz="2100" b="1">
                <a:solidFill>
                  <a:schemeClr val="dk1"/>
                </a:solidFill>
                <a:latin typeface="Calibri"/>
                <a:ea typeface="Calibri"/>
                <a:cs typeface="Calibri"/>
                <a:sym typeface="Calibri"/>
              </a:rPr>
              <a:t> developed </a:t>
            </a:r>
            <a:r>
              <a:rPr lang="en-GB" sz="2100">
                <a:solidFill>
                  <a:schemeClr val="dk1"/>
                </a:solidFill>
                <a:latin typeface="Calibri"/>
                <a:ea typeface="Calibri"/>
                <a:cs typeface="Calibri"/>
                <a:sym typeface="Calibri"/>
              </a:rPr>
              <a:t>for the problem domain.</a:t>
            </a:r>
            <a:endParaRPr sz="2100">
              <a:solidFill>
                <a:schemeClr val="dk1"/>
              </a:solidFill>
              <a:latin typeface="Calibri"/>
              <a:ea typeface="Calibri"/>
              <a:cs typeface="Calibri"/>
              <a:sym typeface="Calibri"/>
            </a:endParaRPr>
          </a:p>
          <a:p>
            <a:pPr marL="457200" lvl="0" indent="-361950" algn="l" rtl="0">
              <a:spcBef>
                <a:spcPts val="0"/>
              </a:spcBef>
              <a:spcAft>
                <a:spcPts val="0"/>
              </a:spcAft>
              <a:buClr>
                <a:schemeClr val="dk1"/>
              </a:buClr>
              <a:buSzPts val="2100"/>
              <a:buFont typeface="Calibri"/>
              <a:buAutoNum type="arabicPeriod"/>
            </a:pPr>
            <a:r>
              <a:rPr lang="en-GB" sz="2100">
                <a:solidFill>
                  <a:schemeClr val="dk1"/>
                </a:solidFill>
                <a:latin typeface="Calibri"/>
                <a:ea typeface="Calibri"/>
                <a:cs typeface="Calibri"/>
                <a:sym typeface="Calibri"/>
              </a:rPr>
              <a:t>Beginning with a broad problem, determine </a:t>
            </a:r>
            <a:r>
              <a:rPr lang="en-GB" sz="2100" b="1">
                <a:solidFill>
                  <a:schemeClr val="dk1"/>
                </a:solidFill>
                <a:latin typeface="Calibri"/>
                <a:ea typeface="Calibri"/>
                <a:cs typeface="Calibri"/>
                <a:sym typeface="Calibri"/>
              </a:rPr>
              <a:t>whether one or more architectural patterns </a:t>
            </a:r>
            <a:r>
              <a:rPr lang="en-GB" sz="2100">
                <a:solidFill>
                  <a:schemeClr val="dk1"/>
                </a:solidFill>
                <a:latin typeface="Calibri"/>
                <a:ea typeface="Calibri"/>
                <a:cs typeface="Calibri"/>
                <a:sym typeface="Calibri"/>
              </a:rPr>
              <a:t>is </a:t>
            </a:r>
            <a:r>
              <a:rPr lang="en-GB" sz="2100" b="1">
                <a:solidFill>
                  <a:schemeClr val="dk1"/>
                </a:solidFill>
                <a:latin typeface="Calibri"/>
                <a:ea typeface="Calibri"/>
                <a:cs typeface="Calibri"/>
                <a:sym typeface="Calibri"/>
              </a:rPr>
              <a:t>available</a:t>
            </a:r>
            <a:r>
              <a:rPr lang="en-GB" sz="2100">
                <a:solidFill>
                  <a:schemeClr val="dk1"/>
                </a:solidFill>
                <a:latin typeface="Calibri"/>
                <a:ea typeface="Calibri"/>
                <a:cs typeface="Calibri"/>
                <a:sym typeface="Calibri"/>
              </a:rPr>
              <a:t> for it.</a:t>
            </a:r>
            <a:endParaRPr sz="2100">
              <a:solidFill>
                <a:schemeClr val="dk1"/>
              </a:solidFill>
              <a:latin typeface="Calibri"/>
              <a:ea typeface="Calibri"/>
              <a:cs typeface="Calibri"/>
              <a:sym typeface="Calibri"/>
            </a:endParaRPr>
          </a:p>
          <a:p>
            <a:pPr marL="457200" lvl="0" indent="-361950" algn="just" rtl="0">
              <a:spcBef>
                <a:spcPts val="0"/>
              </a:spcBef>
              <a:spcAft>
                <a:spcPts val="0"/>
              </a:spcAft>
              <a:buClr>
                <a:schemeClr val="dk1"/>
              </a:buClr>
              <a:buSzPts val="2100"/>
              <a:buFont typeface="Calibri"/>
              <a:buAutoNum type="arabicPeriod"/>
            </a:pPr>
            <a:r>
              <a:rPr lang="en-GB" sz="2100">
                <a:solidFill>
                  <a:schemeClr val="dk1"/>
                </a:solidFill>
                <a:latin typeface="Calibri"/>
                <a:ea typeface="Calibri"/>
                <a:cs typeface="Calibri"/>
                <a:sym typeface="Calibri"/>
              </a:rPr>
              <a:t>Using the collaborations provided for the architectural pattern , </a:t>
            </a:r>
            <a:r>
              <a:rPr lang="en-GB" sz="2100" b="1">
                <a:solidFill>
                  <a:schemeClr val="dk1"/>
                </a:solidFill>
                <a:latin typeface="Calibri"/>
                <a:ea typeface="Calibri"/>
                <a:cs typeface="Calibri"/>
                <a:sym typeface="Calibri"/>
              </a:rPr>
              <a:t>examine subsystem or component-level problems and search for appropriate patterns</a:t>
            </a:r>
            <a:r>
              <a:rPr lang="en-GB" sz="2100">
                <a:solidFill>
                  <a:schemeClr val="dk1"/>
                </a:solidFill>
                <a:latin typeface="Calibri"/>
                <a:ea typeface="Calibri"/>
                <a:cs typeface="Calibri"/>
                <a:sym typeface="Calibri"/>
              </a:rPr>
              <a:t> to address them.</a:t>
            </a:r>
            <a:endParaRPr sz="2100">
              <a:solidFill>
                <a:schemeClr val="dk1"/>
              </a:solidFill>
              <a:latin typeface="Calibri"/>
              <a:ea typeface="Calibri"/>
              <a:cs typeface="Calibri"/>
              <a:sym typeface="Calibri"/>
            </a:endParaRPr>
          </a:p>
          <a:p>
            <a:pPr marL="0" lvl="0" indent="0" algn="just" rtl="0">
              <a:spcBef>
                <a:spcPts val="1000"/>
              </a:spcBef>
              <a:spcAft>
                <a:spcPts val="0"/>
              </a:spcAft>
              <a:buNone/>
            </a:pPr>
            <a:r>
              <a:rPr lang="en-GB" sz="2100" b="1">
                <a:solidFill>
                  <a:srgbClr val="1C4587"/>
                </a:solidFill>
                <a:latin typeface="Calibri"/>
                <a:ea typeface="Calibri"/>
                <a:cs typeface="Calibri"/>
                <a:sym typeface="Calibri"/>
              </a:rPr>
              <a:t>Repeat steps until all broad problems have been addressed</a:t>
            </a:r>
            <a:endParaRPr sz="2100" b="1">
              <a:solidFill>
                <a:srgbClr val="1C4587"/>
              </a:solidFill>
              <a:latin typeface="Calibri"/>
              <a:ea typeface="Calibri"/>
              <a:cs typeface="Calibri"/>
              <a:sym typeface="Calibri"/>
            </a:endParaRPr>
          </a:p>
          <a:p>
            <a:pPr marL="914400" lvl="0" indent="0" algn="just" rtl="0">
              <a:lnSpc>
                <a:spcPct val="100000"/>
              </a:lnSpc>
              <a:spcBef>
                <a:spcPts val="0"/>
              </a:spcBef>
              <a:spcAft>
                <a:spcPts val="0"/>
              </a:spcAft>
              <a:buNone/>
            </a:pPr>
            <a:endParaRPr sz="2400" b="1">
              <a:solidFill>
                <a:srgbClr val="0070C0"/>
              </a:solidFill>
              <a:latin typeface="Calibri"/>
              <a:ea typeface="Calibri"/>
              <a:cs typeface="Calibri"/>
              <a:sym typeface="Calibri"/>
            </a:endParaRPr>
          </a:p>
          <a:p>
            <a:pPr marL="0" lvl="0" indent="0" algn="just" rtl="0">
              <a:spcBef>
                <a:spcPts val="1000"/>
              </a:spcBef>
              <a:spcAft>
                <a:spcPts val="0"/>
              </a:spcAft>
              <a:buNone/>
            </a:pPr>
            <a:endParaRPr sz="2300">
              <a:solidFill>
                <a:schemeClr val="dk1"/>
              </a:solidFill>
              <a:latin typeface="Calibri"/>
              <a:ea typeface="Calibri"/>
              <a:cs typeface="Calibri"/>
              <a:sym typeface="Calibri"/>
            </a:endParaRPr>
          </a:p>
        </p:txBody>
      </p:sp>
      <p:sp>
        <p:nvSpPr>
          <p:cNvPr id="391" name="Google Shape;391;p5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392" name="Google Shape;392;p5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45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9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9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56"/>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Model</a:t>
            </a:r>
            <a:endParaRPr b="1"/>
          </a:p>
        </p:txBody>
      </p:sp>
      <p:sp>
        <p:nvSpPr>
          <p:cNvPr id="398" name="Google Shape;398;p56"/>
          <p:cNvSpPr txBox="1">
            <a:spLocks noGrp="1"/>
          </p:cNvSpPr>
          <p:nvPr>
            <p:ph type="body" idx="1"/>
          </p:nvPr>
        </p:nvSpPr>
        <p:spPr>
          <a:xfrm>
            <a:off x="719925" y="595325"/>
            <a:ext cx="8175300" cy="2475300"/>
          </a:xfrm>
          <a:prstGeom prst="rect">
            <a:avLst/>
          </a:prstGeom>
          <a:noFill/>
          <a:ln>
            <a:noFill/>
          </a:ln>
        </p:spPr>
        <p:txBody>
          <a:bodyPr spcFirstLastPara="1" wrap="square" lIns="68575" tIns="34275" rIns="68575" bIns="34275" anchor="t" anchorCtr="0">
            <a:noAutofit/>
          </a:bodyPr>
          <a:lstStyle/>
          <a:p>
            <a:pPr marL="0" lvl="0" indent="0" algn="l" rtl="0">
              <a:spcBef>
                <a:spcPts val="1000"/>
              </a:spcBef>
              <a:spcAft>
                <a:spcPts val="0"/>
              </a:spcAft>
              <a:buNone/>
            </a:pPr>
            <a:r>
              <a:rPr lang="en-GB" sz="2100" b="1">
                <a:solidFill>
                  <a:srgbClr val="0070C0"/>
                </a:solidFill>
                <a:latin typeface="Calibri"/>
                <a:ea typeface="Calibri"/>
                <a:cs typeface="Calibri"/>
                <a:sym typeface="Calibri"/>
              </a:rPr>
              <a:t>3. Design Tasks</a:t>
            </a:r>
            <a:endParaRPr sz="2100" b="1">
              <a:solidFill>
                <a:srgbClr val="0070C0"/>
              </a:solidFill>
              <a:latin typeface="Calibri"/>
              <a:ea typeface="Calibri"/>
              <a:cs typeface="Calibri"/>
              <a:sym typeface="Calibri"/>
            </a:endParaRPr>
          </a:p>
          <a:p>
            <a:pPr marL="0" lvl="0" indent="0" algn="l" rtl="0">
              <a:spcBef>
                <a:spcPts val="1000"/>
              </a:spcBef>
              <a:spcAft>
                <a:spcPts val="0"/>
              </a:spcAft>
              <a:buNone/>
            </a:pPr>
            <a:r>
              <a:rPr lang="en-GB" sz="2100" b="1">
                <a:solidFill>
                  <a:schemeClr val="dk1"/>
                </a:solidFill>
                <a:latin typeface="Calibri"/>
                <a:ea typeface="Calibri"/>
                <a:cs typeface="Calibri"/>
                <a:sym typeface="Calibri"/>
              </a:rPr>
              <a:t>The following design tasks are applied when a pattern-based design philosophy is used:</a:t>
            </a:r>
            <a:endParaRPr sz="2100" b="1">
              <a:solidFill>
                <a:schemeClr val="dk1"/>
              </a:solidFill>
              <a:latin typeface="Calibri"/>
              <a:ea typeface="Calibri"/>
              <a:cs typeface="Calibri"/>
              <a:sym typeface="Calibri"/>
            </a:endParaRPr>
          </a:p>
          <a:p>
            <a:pPr marL="0" lvl="0" indent="0" algn="just" rtl="0">
              <a:spcBef>
                <a:spcPts val="1000"/>
              </a:spcBef>
              <a:spcAft>
                <a:spcPts val="0"/>
              </a:spcAft>
              <a:buNone/>
            </a:pPr>
            <a:r>
              <a:rPr lang="en-GB" sz="2100" b="1">
                <a:solidFill>
                  <a:schemeClr val="dk1"/>
                </a:solidFill>
                <a:latin typeface="Calibri"/>
                <a:ea typeface="Calibri"/>
                <a:cs typeface="Calibri"/>
                <a:sym typeface="Calibri"/>
              </a:rPr>
              <a:t>5. user interface design problems</a:t>
            </a:r>
            <a:r>
              <a:rPr lang="en-GB" sz="2100">
                <a:solidFill>
                  <a:schemeClr val="dk1"/>
                </a:solidFill>
                <a:latin typeface="Calibri"/>
                <a:ea typeface="Calibri"/>
                <a:cs typeface="Calibri"/>
                <a:sym typeface="Calibri"/>
              </a:rPr>
              <a:t> have been -</a:t>
            </a:r>
            <a:r>
              <a:rPr lang="en-GB" sz="2100" b="1">
                <a:solidFill>
                  <a:schemeClr val="dk1"/>
                </a:solidFill>
                <a:latin typeface="Calibri"/>
                <a:ea typeface="Calibri"/>
                <a:cs typeface="Calibri"/>
                <a:sym typeface="Calibri"/>
              </a:rPr>
              <a:t>search</a:t>
            </a:r>
            <a:r>
              <a:rPr lang="en-GB" sz="2100">
                <a:solidFill>
                  <a:schemeClr val="dk1"/>
                </a:solidFill>
                <a:latin typeface="Calibri"/>
                <a:ea typeface="Calibri"/>
                <a:cs typeface="Calibri"/>
                <a:sym typeface="Calibri"/>
              </a:rPr>
              <a:t> the many user interface </a:t>
            </a:r>
            <a:r>
              <a:rPr lang="en-GB" sz="2100" b="1">
                <a:solidFill>
                  <a:schemeClr val="dk1"/>
                </a:solidFill>
                <a:latin typeface="Calibri"/>
                <a:ea typeface="Calibri"/>
                <a:cs typeface="Calibri"/>
                <a:sym typeface="Calibri"/>
              </a:rPr>
              <a:t>design pattern </a:t>
            </a:r>
            <a:r>
              <a:rPr lang="en-GB" sz="2100">
                <a:solidFill>
                  <a:schemeClr val="dk1"/>
                </a:solidFill>
                <a:latin typeface="Calibri"/>
                <a:ea typeface="Calibri"/>
                <a:cs typeface="Calibri"/>
                <a:sym typeface="Calibri"/>
              </a:rPr>
              <a:t>repositories for appropriate patterns.</a:t>
            </a:r>
            <a:endParaRPr sz="2100">
              <a:solidFill>
                <a:schemeClr val="dk1"/>
              </a:solidFill>
              <a:latin typeface="Calibri"/>
              <a:ea typeface="Calibri"/>
              <a:cs typeface="Calibri"/>
              <a:sym typeface="Calibri"/>
            </a:endParaRPr>
          </a:p>
          <a:p>
            <a:pPr marL="0" lvl="0" indent="0" algn="just" rtl="0">
              <a:spcBef>
                <a:spcPts val="1000"/>
              </a:spcBef>
              <a:spcAft>
                <a:spcPts val="0"/>
              </a:spcAft>
              <a:buNone/>
            </a:pPr>
            <a:r>
              <a:rPr lang="en-GB" sz="2100" b="1">
                <a:solidFill>
                  <a:schemeClr val="dk1"/>
                </a:solidFill>
                <a:latin typeface="Calibri"/>
                <a:ea typeface="Calibri"/>
                <a:cs typeface="Calibri"/>
                <a:sym typeface="Calibri"/>
              </a:rPr>
              <a:t>6. Compare various pattern </a:t>
            </a:r>
            <a:r>
              <a:rPr lang="en-GB" sz="2100">
                <a:solidFill>
                  <a:schemeClr val="dk1"/>
                </a:solidFill>
                <a:latin typeface="Calibri"/>
                <a:ea typeface="Calibri"/>
                <a:cs typeface="Calibri"/>
                <a:sym typeface="Calibri"/>
              </a:rPr>
              <a:t>against the existing ones for better designing.</a:t>
            </a:r>
            <a:endParaRPr sz="2100">
              <a:solidFill>
                <a:schemeClr val="dk1"/>
              </a:solidFill>
              <a:latin typeface="Calibri"/>
              <a:ea typeface="Calibri"/>
              <a:cs typeface="Calibri"/>
              <a:sym typeface="Calibri"/>
            </a:endParaRPr>
          </a:p>
          <a:p>
            <a:pPr marL="0" lvl="0" indent="0" algn="just" rtl="0">
              <a:spcBef>
                <a:spcPts val="1000"/>
              </a:spcBef>
              <a:spcAft>
                <a:spcPts val="0"/>
              </a:spcAft>
              <a:buNone/>
            </a:pPr>
            <a:r>
              <a:rPr lang="en-GB" sz="2100">
                <a:solidFill>
                  <a:schemeClr val="dk1"/>
                </a:solidFill>
                <a:latin typeface="Calibri"/>
                <a:ea typeface="Calibri"/>
                <a:cs typeface="Calibri"/>
                <a:sym typeface="Calibri"/>
              </a:rPr>
              <a:t>7. Be certain to refine the design as it is derived from patterns using </a:t>
            </a:r>
            <a:r>
              <a:rPr lang="en-GB" sz="2100" b="1">
                <a:solidFill>
                  <a:schemeClr val="dk1"/>
                </a:solidFill>
                <a:latin typeface="Calibri"/>
                <a:ea typeface="Calibri"/>
                <a:cs typeface="Calibri"/>
                <a:sym typeface="Calibri"/>
              </a:rPr>
              <a:t>design quality criteria </a:t>
            </a:r>
            <a:r>
              <a:rPr lang="en-GB" sz="2100">
                <a:solidFill>
                  <a:schemeClr val="dk1"/>
                </a:solidFill>
                <a:latin typeface="Calibri"/>
                <a:ea typeface="Calibri"/>
                <a:cs typeface="Calibri"/>
                <a:sym typeface="Calibri"/>
              </a:rPr>
              <a:t>as a guide.</a:t>
            </a:r>
            <a:endParaRPr sz="2100">
              <a:solidFill>
                <a:schemeClr val="dk1"/>
              </a:solidFill>
              <a:latin typeface="Calibri"/>
              <a:ea typeface="Calibri"/>
              <a:cs typeface="Calibri"/>
              <a:sym typeface="Calibri"/>
            </a:endParaRPr>
          </a:p>
          <a:p>
            <a:pPr marL="0" lvl="0" indent="0" algn="just" rtl="0">
              <a:spcBef>
                <a:spcPts val="1000"/>
              </a:spcBef>
              <a:spcAft>
                <a:spcPts val="0"/>
              </a:spcAft>
              <a:buNone/>
            </a:pPr>
            <a:endParaRPr sz="2100">
              <a:solidFill>
                <a:schemeClr val="dk1"/>
              </a:solidFill>
              <a:latin typeface="Calibri"/>
              <a:ea typeface="Calibri"/>
              <a:cs typeface="Calibri"/>
              <a:sym typeface="Calibri"/>
            </a:endParaRPr>
          </a:p>
          <a:p>
            <a:pPr marL="914400" lvl="0" indent="0" algn="just" rtl="0">
              <a:lnSpc>
                <a:spcPct val="100000"/>
              </a:lnSpc>
              <a:spcBef>
                <a:spcPts val="0"/>
              </a:spcBef>
              <a:spcAft>
                <a:spcPts val="0"/>
              </a:spcAft>
              <a:buNone/>
            </a:pPr>
            <a:endParaRPr sz="2400" b="1">
              <a:solidFill>
                <a:srgbClr val="0070C0"/>
              </a:solidFill>
              <a:latin typeface="Calibri"/>
              <a:ea typeface="Calibri"/>
              <a:cs typeface="Calibri"/>
              <a:sym typeface="Calibri"/>
            </a:endParaRPr>
          </a:p>
          <a:p>
            <a:pPr marL="0" lvl="0" indent="0" algn="just" rtl="0">
              <a:spcBef>
                <a:spcPts val="1000"/>
              </a:spcBef>
              <a:spcAft>
                <a:spcPts val="0"/>
              </a:spcAft>
              <a:buNone/>
            </a:pPr>
            <a:endParaRPr sz="2300">
              <a:solidFill>
                <a:schemeClr val="dk1"/>
              </a:solidFill>
              <a:latin typeface="Calibri"/>
              <a:ea typeface="Calibri"/>
              <a:cs typeface="Calibri"/>
              <a:sym typeface="Calibri"/>
            </a:endParaRPr>
          </a:p>
        </p:txBody>
      </p:sp>
      <p:sp>
        <p:nvSpPr>
          <p:cNvPr id="399" name="Google Shape;399;p5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400" name="Google Shape;400;p5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46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9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57"/>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Design Model</a:t>
            </a:r>
            <a:endParaRPr b="1"/>
          </a:p>
        </p:txBody>
      </p:sp>
      <p:sp>
        <p:nvSpPr>
          <p:cNvPr id="406" name="Google Shape;406;p57"/>
          <p:cNvSpPr txBox="1">
            <a:spLocks noGrp="1"/>
          </p:cNvSpPr>
          <p:nvPr>
            <p:ph type="body" idx="1"/>
          </p:nvPr>
        </p:nvSpPr>
        <p:spPr>
          <a:xfrm>
            <a:off x="0" y="595325"/>
            <a:ext cx="8871600" cy="2475300"/>
          </a:xfrm>
          <a:prstGeom prst="rect">
            <a:avLst/>
          </a:prstGeom>
          <a:noFill/>
          <a:ln>
            <a:noFill/>
          </a:ln>
        </p:spPr>
        <p:txBody>
          <a:bodyPr spcFirstLastPara="1" wrap="square" lIns="68575" tIns="34275" rIns="68575" bIns="34275" anchor="t" anchorCtr="0">
            <a:noAutofit/>
          </a:bodyPr>
          <a:lstStyle/>
          <a:p>
            <a:pPr marL="0" lvl="0" indent="0" algn="l" rtl="0">
              <a:spcBef>
                <a:spcPts val="1000"/>
              </a:spcBef>
              <a:spcAft>
                <a:spcPts val="0"/>
              </a:spcAft>
              <a:buClr>
                <a:schemeClr val="dk1"/>
              </a:buClr>
              <a:buSzPts val="1100"/>
              <a:buFont typeface="Arial"/>
              <a:buNone/>
            </a:pPr>
            <a:r>
              <a:rPr lang="en-GB" sz="2100" b="1">
                <a:solidFill>
                  <a:srgbClr val="0070C0"/>
                </a:solidFill>
                <a:latin typeface="Calibri"/>
                <a:ea typeface="Calibri"/>
                <a:cs typeface="Calibri"/>
                <a:sym typeface="Calibri"/>
              </a:rPr>
              <a:t>4. Building a Pattern-Organizing Table</a:t>
            </a:r>
            <a:endParaRPr sz="2100" b="1">
              <a:solidFill>
                <a:srgbClr val="0070C0"/>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n-GB" sz="2100">
                <a:solidFill>
                  <a:schemeClr val="dk1"/>
                </a:solidFill>
              </a:rPr>
              <a:t>•</a:t>
            </a:r>
            <a:r>
              <a:rPr lang="en-GB" sz="2100">
                <a:solidFill>
                  <a:schemeClr val="dk1"/>
                </a:solidFill>
                <a:latin typeface="Calibri"/>
                <a:ea typeface="Calibri"/>
                <a:cs typeface="Calibri"/>
                <a:sym typeface="Calibri"/>
              </a:rPr>
              <a:t>As pattern based design proceeds organizing and categorizing problem may occur.</a:t>
            </a:r>
            <a:endParaRPr sz="21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n-GB" sz="2100">
                <a:solidFill>
                  <a:schemeClr val="dk1"/>
                </a:solidFill>
              </a:rPr>
              <a:t>•</a:t>
            </a:r>
            <a:r>
              <a:rPr lang="en-GB" sz="2100">
                <a:solidFill>
                  <a:schemeClr val="dk1"/>
                </a:solidFill>
                <a:latin typeface="Calibri"/>
                <a:ea typeface="Calibri"/>
                <a:cs typeface="Calibri"/>
                <a:sym typeface="Calibri"/>
              </a:rPr>
              <a:t>Solution: A pattern-organizing table can be implemented as a spreadsheet model</a:t>
            </a:r>
            <a:endParaRPr sz="2100">
              <a:solidFill>
                <a:schemeClr val="dk1"/>
              </a:solidFill>
              <a:latin typeface="Calibri"/>
              <a:ea typeface="Calibri"/>
              <a:cs typeface="Calibri"/>
              <a:sym typeface="Calibri"/>
            </a:endParaRPr>
          </a:p>
          <a:p>
            <a:pPr marL="0" lvl="0" indent="0" algn="just" rtl="0">
              <a:spcBef>
                <a:spcPts val="1000"/>
              </a:spcBef>
              <a:spcAft>
                <a:spcPts val="0"/>
              </a:spcAft>
              <a:buNone/>
            </a:pPr>
            <a:endParaRPr sz="2100" b="1">
              <a:solidFill>
                <a:srgbClr val="0070C0"/>
              </a:solidFill>
              <a:latin typeface="Calibri"/>
              <a:ea typeface="Calibri"/>
              <a:cs typeface="Calibri"/>
              <a:sym typeface="Calibri"/>
            </a:endParaRPr>
          </a:p>
          <a:p>
            <a:pPr marL="0" lvl="0" indent="0" algn="just" rtl="0">
              <a:spcBef>
                <a:spcPts val="1000"/>
              </a:spcBef>
              <a:spcAft>
                <a:spcPts val="0"/>
              </a:spcAft>
              <a:buNone/>
            </a:pPr>
            <a:endParaRPr sz="2100">
              <a:solidFill>
                <a:schemeClr val="dk1"/>
              </a:solidFill>
              <a:latin typeface="Calibri"/>
              <a:ea typeface="Calibri"/>
              <a:cs typeface="Calibri"/>
              <a:sym typeface="Calibri"/>
            </a:endParaRPr>
          </a:p>
          <a:p>
            <a:pPr marL="914400" lvl="0" indent="0" algn="just" rtl="0">
              <a:lnSpc>
                <a:spcPct val="100000"/>
              </a:lnSpc>
              <a:spcBef>
                <a:spcPts val="0"/>
              </a:spcBef>
              <a:spcAft>
                <a:spcPts val="0"/>
              </a:spcAft>
              <a:buNone/>
            </a:pPr>
            <a:endParaRPr sz="2400" b="1">
              <a:solidFill>
                <a:srgbClr val="0070C0"/>
              </a:solidFill>
              <a:latin typeface="Calibri"/>
              <a:ea typeface="Calibri"/>
              <a:cs typeface="Calibri"/>
              <a:sym typeface="Calibri"/>
            </a:endParaRPr>
          </a:p>
          <a:p>
            <a:pPr marL="0" lvl="0" indent="0" algn="just" rtl="0">
              <a:spcBef>
                <a:spcPts val="1000"/>
              </a:spcBef>
              <a:spcAft>
                <a:spcPts val="0"/>
              </a:spcAft>
              <a:buNone/>
            </a:pPr>
            <a:endParaRPr sz="2300">
              <a:solidFill>
                <a:schemeClr val="dk1"/>
              </a:solidFill>
              <a:latin typeface="Calibri"/>
              <a:ea typeface="Calibri"/>
              <a:cs typeface="Calibri"/>
              <a:sym typeface="Calibri"/>
            </a:endParaRPr>
          </a:p>
        </p:txBody>
      </p:sp>
      <p:sp>
        <p:nvSpPr>
          <p:cNvPr id="407" name="Google Shape;407;p5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408" name="Google Shape;408;p5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47</a:t>
            </a:fld>
            <a:endParaRPr/>
          </a:p>
        </p:txBody>
      </p:sp>
      <p:pic>
        <p:nvPicPr>
          <p:cNvPr id="409" name="Google Shape;409;p57"/>
          <p:cNvPicPr preferRelativeResize="0"/>
          <p:nvPr/>
        </p:nvPicPr>
        <p:blipFill>
          <a:blip r:embed="rId3">
            <a:alphaModFix/>
          </a:blip>
          <a:stretch>
            <a:fillRect/>
          </a:stretch>
        </p:blipFill>
        <p:spPr>
          <a:xfrm>
            <a:off x="1745800" y="2078888"/>
            <a:ext cx="5124450" cy="29622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09"/>
                                        </p:tgtEl>
                                        <p:attrNameLst>
                                          <p:attrName>style.visibility</p:attrName>
                                        </p:attrNameLst>
                                      </p:cBhvr>
                                      <p:to>
                                        <p:strVal val="visible"/>
                                      </p:to>
                                    </p:set>
                                    <p:animEffect transition="in" filter="fade">
                                      <p:cBhvr>
                                        <p:cTn id="35" dur="1000"/>
                                        <p:tgtEl>
                                          <p:spTgt spid="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68"/>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Issued related to Architectural Patterns</a:t>
            </a:r>
            <a:endParaRPr b="1"/>
          </a:p>
        </p:txBody>
      </p:sp>
      <p:sp>
        <p:nvSpPr>
          <p:cNvPr id="499" name="Google Shape;499;p68"/>
          <p:cNvSpPr txBox="1">
            <a:spLocks noGrp="1"/>
          </p:cNvSpPr>
          <p:nvPr>
            <p:ph type="body" idx="1"/>
          </p:nvPr>
        </p:nvSpPr>
        <p:spPr>
          <a:xfrm>
            <a:off x="719925" y="671525"/>
            <a:ext cx="7927200" cy="2628300"/>
          </a:xfrm>
          <a:prstGeom prst="rect">
            <a:avLst/>
          </a:prstGeom>
          <a:noFill/>
          <a:ln>
            <a:noFill/>
          </a:ln>
        </p:spPr>
        <p:txBody>
          <a:bodyPr spcFirstLastPara="1" wrap="square" lIns="68575" tIns="34275" rIns="68575" bIns="34275" anchor="t" anchorCtr="0">
            <a:noAutofit/>
          </a:bodyPr>
          <a:lstStyle/>
          <a:p>
            <a:pPr marL="457200" lvl="0" indent="-361950" algn="just" rtl="0">
              <a:spcBef>
                <a:spcPts val="1000"/>
              </a:spcBef>
              <a:spcAft>
                <a:spcPts val="0"/>
              </a:spcAft>
              <a:buSzPts val="2100"/>
              <a:buFont typeface="Calibri"/>
              <a:buChar char="●"/>
            </a:pPr>
            <a:r>
              <a:rPr lang="en-GB" sz="2100" b="1">
                <a:solidFill>
                  <a:srgbClr val="0070C0"/>
                </a:solidFill>
                <a:latin typeface="Calibri"/>
                <a:ea typeface="Calibri"/>
                <a:cs typeface="Calibri"/>
                <a:sym typeface="Calibri"/>
              </a:rPr>
              <a:t>Concurrency</a:t>
            </a:r>
            <a:r>
              <a:rPr lang="en-GB" sz="2100">
                <a:solidFill>
                  <a:schemeClr val="dk1"/>
                </a:solidFill>
                <a:latin typeface="Calibri"/>
                <a:ea typeface="Calibri"/>
                <a:cs typeface="Calibri"/>
                <a:sym typeface="Calibri"/>
              </a:rPr>
              <a:t>—applications must </a:t>
            </a:r>
            <a:r>
              <a:rPr lang="en-GB" sz="2100" b="1">
                <a:solidFill>
                  <a:schemeClr val="dk1"/>
                </a:solidFill>
                <a:latin typeface="Calibri"/>
                <a:ea typeface="Calibri"/>
                <a:cs typeface="Calibri"/>
                <a:sym typeface="Calibri"/>
              </a:rPr>
              <a:t>handle multiple tasks</a:t>
            </a:r>
            <a:r>
              <a:rPr lang="en-GB" sz="2100">
                <a:solidFill>
                  <a:schemeClr val="dk1"/>
                </a:solidFill>
                <a:latin typeface="Calibri"/>
                <a:ea typeface="Calibri"/>
                <a:cs typeface="Calibri"/>
                <a:sym typeface="Calibri"/>
              </a:rPr>
              <a:t> in a manner that simulates parallelism.</a:t>
            </a:r>
            <a:endParaRPr sz="2100">
              <a:solidFill>
                <a:schemeClr val="dk1"/>
              </a:solidFill>
              <a:latin typeface="Calibri"/>
              <a:ea typeface="Calibri"/>
              <a:cs typeface="Calibri"/>
              <a:sym typeface="Calibri"/>
            </a:endParaRPr>
          </a:p>
          <a:p>
            <a:pPr marL="914400" lvl="1" indent="-361950" algn="just" rtl="0">
              <a:spcBef>
                <a:spcPts val="0"/>
              </a:spcBef>
              <a:spcAft>
                <a:spcPts val="0"/>
              </a:spcAft>
              <a:buClr>
                <a:schemeClr val="dk1"/>
              </a:buClr>
              <a:buSzPts val="2100"/>
              <a:buFont typeface="Calibri"/>
              <a:buChar char="○"/>
            </a:pPr>
            <a:r>
              <a:rPr lang="en-GB" sz="2100">
                <a:solidFill>
                  <a:schemeClr val="dk1"/>
                </a:solidFill>
                <a:latin typeface="Calibri"/>
                <a:ea typeface="Calibri"/>
                <a:cs typeface="Calibri"/>
                <a:sym typeface="Calibri"/>
              </a:rPr>
              <a:t>Example 1: </a:t>
            </a:r>
            <a:r>
              <a:rPr lang="en-GB" sz="2100" b="1">
                <a:solidFill>
                  <a:schemeClr val="dk1"/>
                </a:solidFill>
                <a:latin typeface="Calibri"/>
                <a:ea typeface="Calibri"/>
                <a:cs typeface="Calibri"/>
                <a:sym typeface="Calibri"/>
              </a:rPr>
              <a:t>Operating System Process Management pattern</a:t>
            </a:r>
            <a:r>
              <a:rPr lang="en-GB" sz="2100">
                <a:solidFill>
                  <a:schemeClr val="dk1"/>
                </a:solidFill>
                <a:latin typeface="Calibri"/>
                <a:ea typeface="Calibri"/>
                <a:cs typeface="Calibri"/>
                <a:sym typeface="Calibri"/>
              </a:rPr>
              <a:t> that provides built-in OS features that allow components to execute concurrently.</a:t>
            </a:r>
            <a:endParaRPr sz="2100">
              <a:solidFill>
                <a:schemeClr val="dk1"/>
              </a:solidFill>
              <a:latin typeface="Calibri"/>
              <a:ea typeface="Calibri"/>
              <a:cs typeface="Calibri"/>
              <a:sym typeface="Calibri"/>
            </a:endParaRPr>
          </a:p>
          <a:p>
            <a:pPr marL="914400" lvl="1" indent="-361950" algn="just" rtl="0">
              <a:spcBef>
                <a:spcPts val="0"/>
              </a:spcBef>
              <a:spcAft>
                <a:spcPts val="0"/>
              </a:spcAft>
              <a:buClr>
                <a:schemeClr val="dk1"/>
              </a:buClr>
              <a:buSzPts val="2100"/>
              <a:buFont typeface="Calibri"/>
              <a:buChar char="○"/>
            </a:pPr>
            <a:r>
              <a:rPr lang="en-GB" sz="2100">
                <a:solidFill>
                  <a:schemeClr val="dk1"/>
                </a:solidFill>
                <a:latin typeface="Calibri"/>
                <a:ea typeface="Calibri"/>
                <a:cs typeface="Calibri"/>
                <a:sym typeface="Calibri"/>
              </a:rPr>
              <a:t>Example 2: </a:t>
            </a:r>
            <a:r>
              <a:rPr lang="en-GB" sz="2100" b="1">
                <a:solidFill>
                  <a:schemeClr val="dk1"/>
                </a:solidFill>
                <a:latin typeface="Calibri"/>
                <a:ea typeface="Calibri"/>
                <a:cs typeface="Calibri"/>
                <a:sym typeface="Calibri"/>
              </a:rPr>
              <a:t>Task Scheduler pattern </a:t>
            </a:r>
            <a:r>
              <a:rPr lang="en-GB" sz="2100">
                <a:solidFill>
                  <a:schemeClr val="dk1"/>
                </a:solidFill>
                <a:latin typeface="Calibri"/>
                <a:ea typeface="Calibri"/>
                <a:cs typeface="Calibri"/>
                <a:sym typeface="Calibri"/>
              </a:rPr>
              <a:t>invokes the next concurrent object</a:t>
            </a:r>
            <a:endParaRPr sz="2100">
              <a:solidFill>
                <a:schemeClr val="dk1"/>
              </a:solidFill>
              <a:latin typeface="Calibri"/>
              <a:ea typeface="Calibri"/>
              <a:cs typeface="Calibri"/>
              <a:sym typeface="Calibri"/>
            </a:endParaRPr>
          </a:p>
          <a:p>
            <a:pPr marL="457200" lvl="0" indent="-361950" algn="just" rtl="0">
              <a:spcBef>
                <a:spcPts val="0"/>
              </a:spcBef>
              <a:spcAft>
                <a:spcPts val="0"/>
              </a:spcAft>
              <a:buSzPts val="2100"/>
              <a:buFont typeface="Calibri"/>
              <a:buChar char="●"/>
            </a:pPr>
            <a:r>
              <a:rPr lang="en-GB" sz="2100" b="1">
                <a:solidFill>
                  <a:srgbClr val="0070C0"/>
                </a:solidFill>
                <a:latin typeface="Calibri"/>
                <a:ea typeface="Calibri"/>
                <a:cs typeface="Calibri"/>
                <a:sym typeface="Calibri"/>
              </a:rPr>
              <a:t>Distribution - </a:t>
            </a:r>
            <a:r>
              <a:rPr lang="en-GB" sz="2100">
                <a:solidFill>
                  <a:schemeClr val="dk1"/>
                </a:solidFill>
                <a:latin typeface="Calibri"/>
                <a:ea typeface="Calibri"/>
                <a:cs typeface="Calibri"/>
                <a:sym typeface="Calibri"/>
              </a:rPr>
              <a:t>The distribution problem </a:t>
            </a:r>
            <a:r>
              <a:rPr lang="en-GB" sz="2100" b="1">
                <a:solidFill>
                  <a:schemeClr val="dk1"/>
                </a:solidFill>
                <a:latin typeface="Calibri"/>
                <a:ea typeface="Calibri"/>
                <a:cs typeface="Calibri"/>
                <a:sym typeface="Calibri"/>
              </a:rPr>
              <a:t>addresses the manner in which systems or components </a:t>
            </a:r>
            <a:r>
              <a:rPr lang="en-GB" sz="2100">
                <a:solidFill>
                  <a:schemeClr val="dk1"/>
                </a:solidFill>
                <a:latin typeface="Calibri"/>
                <a:ea typeface="Calibri"/>
                <a:cs typeface="Calibri"/>
                <a:sym typeface="Calibri"/>
              </a:rPr>
              <a:t>within systems </a:t>
            </a:r>
            <a:r>
              <a:rPr lang="en-GB" sz="2100" b="1">
                <a:solidFill>
                  <a:schemeClr val="dk1"/>
                </a:solidFill>
                <a:latin typeface="Calibri"/>
                <a:ea typeface="Calibri"/>
                <a:cs typeface="Calibri"/>
                <a:sym typeface="Calibri"/>
              </a:rPr>
              <a:t>communicate</a:t>
            </a:r>
            <a:r>
              <a:rPr lang="en-GB" sz="2100">
                <a:solidFill>
                  <a:schemeClr val="dk1"/>
                </a:solidFill>
                <a:latin typeface="Calibri"/>
                <a:ea typeface="Calibri"/>
                <a:cs typeface="Calibri"/>
                <a:sym typeface="Calibri"/>
              </a:rPr>
              <a:t> with one another in a </a:t>
            </a:r>
            <a:r>
              <a:rPr lang="en-GB" sz="2100" b="1">
                <a:solidFill>
                  <a:schemeClr val="dk1"/>
                </a:solidFill>
                <a:latin typeface="Calibri"/>
                <a:ea typeface="Calibri"/>
                <a:cs typeface="Calibri"/>
                <a:sym typeface="Calibri"/>
              </a:rPr>
              <a:t>distributed environment.</a:t>
            </a:r>
            <a:endParaRPr sz="2100" b="1">
              <a:solidFill>
                <a:schemeClr val="dk1"/>
              </a:solidFill>
              <a:latin typeface="Calibri"/>
              <a:ea typeface="Calibri"/>
              <a:cs typeface="Calibri"/>
              <a:sym typeface="Calibri"/>
            </a:endParaRPr>
          </a:p>
          <a:p>
            <a:pPr marL="914400" lvl="1" indent="-361950" algn="l" rtl="0">
              <a:spcBef>
                <a:spcPts val="0"/>
              </a:spcBef>
              <a:spcAft>
                <a:spcPts val="0"/>
              </a:spcAft>
              <a:buClr>
                <a:schemeClr val="dk1"/>
              </a:buClr>
              <a:buSzPts val="2100"/>
              <a:buFont typeface="Calibri"/>
              <a:buChar char="○"/>
            </a:pPr>
            <a:r>
              <a:rPr lang="en-GB" sz="2100">
                <a:solidFill>
                  <a:schemeClr val="dk1"/>
                </a:solidFill>
                <a:latin typeface="Calibri"/>
                <a:ea typeface="Calibri"/>
                <a:cs typeface="Calibri"/>
                <a:sym typeface="Calibri"/>
              </a:rPr>
              <a:t>Example 1: </a:t>
            </a:r>
            <a:r>
              <a:rPr lang="en-GB" sz="2100" b="1">
                <a:solidFill>
                  <a:schemeClr val="dk1"/>
                </a:solidFill>
                <a:latin typeface="Calibri"/>
                <a:ea typeface="Calibri"/>
                <a:cs typeface="Calibri"/>
                <a:sym typeface="Calibri"/>
              </a:rPr>
              <a:t>Broker pattern: </a:t>
            </a:r>
            <a:r>
              <a:rPr lang="en-GB" sz="2100">
                <a:solidFill>
                  <a:schemeClr val="dk1"/>
                </a:solidFill>
                <a:latin typeface="Calibri"/>
                <a:ea typeface="Calibri"/>
                <a:cs typeface="Calibri"/>
                <a:sym typeface="Calibri"/>
              </a:rPr>
              <a:t>broker acts as a middle man to constitute communication. </a:t>
            </a:r>
            <a:endParaRPr sz="2100">
              <a:solidFill>
                <a:schemeClr val="dk1"/>
              </a:solidFill>
              <a:latin typeface="Calibri"/>
              <a:ea typeface="Calibri"/>
              <a:cs typeface="Calibri"/>
              <a:sym typeface="Calibri"/>
            </a:endParaRPr>
          </a:p>
          <a:p>
            <a:pPr marL="457200" lvl="0" indent="0" algn="just" rtl="0">
              <a:spcBef>
                <a:spcPts val="0"/>
              </a:spcBef>
              <a:spcAft>
                <a:spcPts val="0"/>
              </a:spcAft>
              <a:buNone/>
            </a:pPr>
            <a:endParaRPr sz="2100" b="1">
              <a:solidFill>
                <a:srgbClr val="0070C0"/>
              </a:solidFill>
              <a:latin typeface="Calibri"/>
              <a:ea typeface="Calibri"/>
              <a:cs typeface="Calibri"/>
              <a:sym typeface="Calibri"/>
            </a:endParaRPr>
          </a:p>
          <a:p>
            <a:pPr marL="457200" lvl="0" indent="0" algn="just" rtl="0">
              <a:spcBef>
                <a:spcPts val="0"/>
              </a:spcBef>
              <a:spcAft>
                <a:spcPts val="0"/>
              </a:spcAft>
              <a:buNone/>
            </a:pPr>
            <a:endParaRPr sz="2100">
              <a:solidFill>
                <a:schemeClr val="dk1"/>
              </a:solidFill>
            </a:endParaRPr>
          </a:p>
          <a:p>
            <a:pPr marL="457200" lvl="0" indent="0" algn="just" rtl="0">
              <a:spcBef>
                <a:spcPts val="0"/>
              </a:spcBef>
              <a:spcAft>
                <a:spcPts val="0"/>
              </a:spcAft>
              <a:buNone/>
            </a:pPr>
            <a:endParaRPr sz="2100">
              <a:solidFill>
                <a:schemeClr val="dk1"/>
              </a:solidFill>
              <a:latin typeface="Calibri"/>
              <a:ea typeface="Calibri"/>
              <a:cs typeface="Calibri"/>
              <a:sym typeface="Calibri"/>
            </a:endParaRPr>
          </a:p>
          <a:p>
            <a:pPr marL="914400" lvl="0" indent="0" algn="just" rtl="0">
              <a:lnSpc>
                <a:spcPct val="100000"/>
              </a:lnSpc>
              <a:spcBef>
                <a:spcPts val="0"/>
              </a:spcBef>
              <a:spcAft>
                <a:spcPts val="0"/>
              </a:spcAft>
              <a:buNone/>
            </a:pPr>
            <a:endParaRPr sz="2100" b="1">
              <a:solidFill>
                <a:srgbClr val="0070C0"/>
              </a:solidFill>
              <a:latin typeface="Calibri"/>
              <a:ea typeface="Calibri"/>
              <a:cs typeface="Calibri"/>
              <a:sym typeface="Calibri"/>
            </a:endParaRPr>
          </a:p>
          <a:p>
            <a:pPr marL="0" lvl="0" indent="0" algn="just" rtl="0">
              <a:spcBef>
                <a:spcPts val="1000"/>
              </a:spcBef>
              <a:spcAft>
                <a:spcPts val="0"/>
              </a:spcAft>
              <a:buNone/>
            </a:pPr>
            <a:endParaRPr sz="2200">
              <a:solidFill>
                <a:schemeClr val="dk1"/>
              </a:solidFill>
              <a:latin typeface="Calibri"/>
              <a:ea typeface="Calibri"/>
              <a:cs typeface="Calibri"/>
              <a:sym typeface="Calibri"/>
            </a:endParaRPr>
          </a:p>
        </p:txBody>
      </p:sp>
      <p:sp>
        <p:nvSpPr>
          <p:cNvPr id="500" name="Google Shape;500;p68"/>
          <p:cNvSpPr txBox="1">
            <a:spLocks noGrp="1"/>
          </p:cNvSpPr>
          <p:nvPr>
            <p:ph type="ftr" idx="11"/>
          </p:nvPr>
        </p:nvSpPr>
        <p:spPr>
          <a:xfrm>
            <a:off x="3028950" y="46910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501" name="Google Shape;501;p6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48</a:t>
            </a:fld>
            <a:endParaRPr/>
          </a:p>
        </p:txBody>
      </p:sp>
    </p:spTree>
    <p:extLst>
      <p:ext uri="{BB962C8B-B14F-4D97-AF65-F5344CB8AC3E}">
        <p14:creationId xmlns:p14="http://schemas.microsoft.com/office/powerpoint/2010/main" val="29349937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69"/>
          <p:cNvSpPr txBox="1">
            <a:spLocks noGrp="1"/>
          </p:cNvSpPr>
          <p:nvPr>
            <p:ph type="title"/>
          </p:nvPr>
        </p:nvSpPr>
        <p:spPr>
          <a:xfrm>
            <a:off x="136325" y="75548"/>
            <a:ext cx="8871600" cy="5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Issued related to Architectural Patterns</a:t>
            </a:r>
            <a:endParaRPr b="1"/>
          </a:p>
        </p:txBody>
      </p:sp>
      <p:sp>
        <p:nvSpPr>
          <p:cNvPr id="507" name="Google Shape;507;p69"/>
          <p:cNvSpPr txBox="1">
            <a:spLocks noGrp="1"/>
          </p:cNvSpPr>
          <p:nvPr>
            <p:ph type="body" idx="1"/>
          </p:nvPr>
        </p:nvSpPr>
        <p:spPr>
          <a:xfrm>
            <a:off x="719925" y="671525"/>
            <a:ext cx="7927200" cy="2628300"/>
          </a:xfrm>
          <a:prstGeom prst="rect">
            <a:avLst/>
          </a:prstGeom>
          <a:noFill/>
          <a:ln>
            <a:noFill/>
          </a:ln>
        </p:spPr>
        <p:txBody>
          <a:bodyPr spcFirstLastPara="1" wrap="square" lIns="68575" tIns="34275" rIns="68575" bIns="34275" anchor="t" anchorCtr="0">
            <a:noAutofit/>
          </a:bodyPr>
          <a:lstStyle/>
          <a:p>
            <a:pPr marL="457200" lvl="0" indent="-361950" algn="just" rtl="0">
              <a:spcBef>
                <a:spcPts val="1000"/>
              </a:spcBef>
              <a:spcAft>
                <a:spcPts val="0"/>
              </a:spcAft>
              <a:buSzPts val="2100"/>
              <a:buFont typeface="Calibri"/>
              <a:buChar char="●"/>
            </a:pPr>
            <a:r>
              <a:rPr lang="en-GB" sz="2100" b="1">
                <a:solidFill>
                  <a:srgbClr val="0070C0"/>
                </a:solidFill>
                <a:latin typeface="Calibri"/>
                <a:ea typeface="Calibri"/>
                <a:cs typeface="Calibri"/>
                <a:sym typeface="Calibri"/>
              </a:rPr>
              <a:t>Persistence </a:t>
            </a:r>
            <a:r>
              <a:rPr lang="en-GB" sz="2100" b="1">
                <a:solidFill>
                  <a:schemeClr val="dk1"/>
                </a:solidFill>
                <a:latin typeface="Calibri"/>
                <a:ea typeface="Calibri"/>
                <a:cs typeface="Calibri"/>
                <a:sym typeface="Calibri"/>
              </a:rPr>
              <a:t>- Data persists if it survives past the execution</a:t>
            </a:r>
            <a:r>
              <a:rPr lang="en-GB" sz="2100">
                <a:solidFill>
                  <a:schemeClr val="dk1"/>
                </a:solidFill>
                <a:latin typeface="Calibri"/>
                <a:ea typeface="Calibri"/>
                <a:cs typeface="Calibri"/>
                <a:sym typeface="Calibri"/>
              </a:rPr>
              <a:t> of the process that created it.</a:t>
            </a:r>
            <a:endParaRPr sz="2100">
              <a:solidFill>
                <a:schemeClr val="dk1"/>
              </a:solidFill>
              <a:latin typeface="Calibri"/>
              <a:ea typeface="Calibri"/>
              <a:cs typeface="Calibri"/>
              <a:sym typeface="Calibri"/>
            </a:endParaRPr>
          </a:p>
          <a:p>
            <a:pPr marL="457200" lvl="0" indent="-361950" algn="just" rtl="0">
              <a:spcBef>
                <a:spcPts val="0"/>
              </a:spcBef>
              <a:spcAft>
                <a:spcPts val="0"/>
              </a:spcAft>
              <a:buClr>
                <a:schemeClr val="dk1"/>
              </a:buClr>
              <a:buSzPts val="2100"/>
              <a:buFont typeface="Calibri"/>
              <a:buChar char="●"/>
            </a:pPr>
            <a:r>
              <a:rPr lang="en-GB" sz="2100" b="1">
                <a:solidFill>
                  <a:schemeClr val="dk1"/>
                </a:solidFill>
                <a:latin typeface="Calibri"/>
                <a:ea typeface="Calibri"/>
                <a:cs typeface="Calibri"/>
                <a:sym typeface="Calibri"/>
              </a:rPr>
              <a:t>Persistent data are stored </a:t>
            </a:r>
            <a:r>
              <a:rPr lang="en-GB" sz="2100">
                <a:solidFill>
                  <a:schemeClr val="dk1"/>
                </a:solidFill>
                <a:latin typeface="Calibri"/>
                <a:ea typeface="Calibri"/>
                <a:cs typeface="Calibri"/>
                <a:sym typeface="Calibri"/>
              </a:rPr>
              <a:t>in a database or file and </a:t>
            </a:r>
            <a:r>
              <a:rPr lang="en-GB" sz="2100" b="1">
                <a:solidFill>
                  <a:schemeClr val="dk1"/>
                </a:solidFill>
                <a:latin typeface="Calibri"/>
                <a:ea typeface="Calibri"/>
                <a:cs typeface="Calibri"/>
                <a:sym typeface="Calibri"/>
              </a:rPr>
              <a:t>modified later</a:t>
            </a:r>
            <a:r>
              <a:rPr lang="en-GB" sz="2100">
                <a:solidFill>
                  <a:schemeClr val="dk1"/>
                </a:solidFill>
                <a:latin typeface="Calibri"/>
                <a:ea typeface="Calibri"/>
                <a:cs typeface="Calibri"/>
                <a:sym typeface="Calibri"/>
              </a:rPr>
              <a:t>.</a:t>
            </a:r>
            <a:endParaRPr sz="2100">
              <a:solidFill>
                <a:schemeClr val="dk1"/>
              </a:solidFill>
              <a:latin typeface="Calibri"/>
              <a:ea typeface="Calibri"/>
              <a:cs typeface="Calibri"/>
              <a:sym typeface="Calibri"/>
            </a:endParaRPr>
          </a:p>
          <a:p>
            <a:pPr marL="914400" lvl="1" indent="-361950" algn="just" rtl="0">
              <a:spcBef>
                <a:spcPts val="0"/>
              </a:spcBef>
              <a:spcAft>
                <a:spcPts val="0"/>
              </a:spcAft>
              <a:buClr>
                <a:schemeClr val="dk1"/>
              </a:buClr>
              <a:buSzPts val="2100"/>
              <a:buFont typeface="Calibri"/>
              <a:buChar char="○"/>
            </a:pPr>
            <a:r>
              <a:rPr lang="en-GB" sz="2100">
                <a:solidFill>
                  <a:schemeClr val="dk1"/>
                </a:solidFill>
                <a:latin typeface="Calibri"/>
                <a:ea typeface="Calibri"/>
                <a:cs typeface="Calibri"/>
                <a:sym typeface="Calibri"/>
              </a:rPr>
              <a:t>Example 1: </a:t>
            </a:r>
            <a:r>
              <a:rPr lang="en-GB" sz="2100" b="1">
                <a:solidFill>
                  <a:schemeClr val="dk1"/>
                </a:solidFill>
                <a:latin typeface="Calibri"/>
                <a:ea typeface="Calibri"/>
                <a:cs typeface="Calibri"/>
                <a:sym typeface="Calibri"/>
              </a:rPr>
              <a:t>Database management system pattern</a:t>
            </a:r>
            <a:r>
              <a:rPr lang="en-GB" sz="2100">
                <a:solidFill>
                  <a:schemeClr val="dk1"/>
                </a:solidFill>
                <a:latin typeface="Calibri"/>
                <a:ea typeface="Calibri"/>
                <a:cs typeface="Calibri"/>
                <a:sym typeface="Calibri"/>
              </a:rPr>
              <a:t> which stores and retrieves data.</a:t>
            </a:r>
            <a:endParaRPr sz="2100" b="1">
              <a:solidFill>
                <a:srgbClr val="0070C0"/>
              </a:solidFill>
              <a:latin typeface="Calibri"/>
              <a:ea typeface="Calibri"/>
              <a:cs typeface="Calibri"/>
              <a:sym typeface="Calibri"/>
            </a:endParaRPr>
          </a:p>
          <a:p>
            <a:pPr marL="457200" lvl="0" indent="0" algn="just" rtl="0">
              <a:spcBef>
                <a:spcPts val="0"/>
              </a:spcBef>
              <a:spcAft>
                <a:spcPts val="0"/>
              </a:spcAft>
              <a:buNone/>
            </a:pPr>
            <a:endParaRPr sz="2100" b="1">
              <a:solidFill>
                <a:srgbClr val="0070C0"/>
              </a:solidFill>
              <a:latin typeface="Calibri"/>
              <a:ea typeface="Calibri"/>
              <a:cs typeface="Calibri"/>
              <a:sym typeface="Calibri"/>
            </a:endParaRPr>
          </a:p>
          <a:p>
            <a:pPr marL="457200" lvl="0" indent="0" algn="just" rtl="0">
              <a:spcBef>
                <a:spcPts val="0"/>
              </a:spcBef>
              <a:spcAft>
                <a:spcPts val="0"/>
              </a:spcAft>
              <a:buNone/>
            </a:pPr>
            <a:endParaRPr sz="2100">
              <a:solidFill>
                <a:schemeClr val="dk1"/>
              </a:solidFill>
            </a:endParaRPr>
          </a:p>
          <a:p>
            <a:pPr marL="457200" lvl="0" indent="0" algn="just" rtl="0">
              <a:spcBef>
                <a:spcPts val="0"/>
              </a:spcBef>
              <a:spcAft>
                <a:spcPts val="0"/>
              </a:spcAft>
              <a:buNone/>
            </a:pPr>
            <a:endParaRPr sz="2100">
              <a:solidFill>
                <a:schemeClr val="dk1"/>
              </a:solidFill>
              <a:latin typeface="Calibri"/>
              <a:ea typeface="Calibri"/>
              <a:cs typeface="Calibri"/>
              <a:sym typeface="Calibri"/>
            </a:endParaRPr>
          </a:p>
          <a:p>
            <a:pPr marL="914400" lvl="0" indent="0" algn="just" rtl="0">
              <a:lnSpc>
                <a:spcPct val="100000"/>
              </a:lnSpc>
              <a:spcBef>
                <a:spcPts val="0"/>
              </a:spcBef>
              <a:spcAft>
                <a:spcPts val="0"/>
              </a:spcAft>
              <a:buNone/>
            </a:pPr>
            <a:endParaRPr sz="2100" b="1">
              <a:solidFill>
                <a:srgbClr val="0070C0"/>
              </a:solidFill>
              <a:latin typeface="Calibri"/>
              <a:ea typeface="Calibri"/>
              <a:cs typeface="Calibri"/>
              <a:sym typeface="Calibri"/>
            </a:endParaRPr>
          </a:p>
          <a:p>
            <a:pPr marL="0" lvl="0" indent="0" algn="just" rtl="0">
              <a:spcBef>
                <a:spcPts val="1000"/>
              </a:spcBef>
              <a:spcAft>
                <a:spcPts val="0"/>
              </a:spcAft>
              <a:buNone/>
            </a:pPr>
            <a:endParaRPr sz="2200">
              <a:solidFill>
                <a:schemeClr val="dk1"/>
              </a:solidFill>
              <a:latin typeface="Calibri"/>
              <a:ea typeface="Calibri"/>
              <a:cs typeface="Calibri"/>
              <a:sym typeface="Calibri"/>
            </a:endParaRPr>
          </a:p>
        </p:txBody>
      </p:sp>
      <p:sp>
        <p:nvSpPr>
          <p:cNvPr id="508" name="Google Shape;508;p69"/>
          <p:cNvSpPr txBox="1">
            <a:spLocks noGrp="1"/>
          </p:cNvSpPr>
          <p:nvPr>
            <p:ph type="ftr" idx="11"/>
          </p:nvPr>
        </p:nvSpPr>
        <p:spPr>
          <a:xfrm>
            <a:off x="3028950" y="46910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509" name="Google Shape;509;p6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49</a:t>
            </a:fld>
            <a:endParaRPr/>
          </a:p>
        </p:txBody>
      </p:sp>
    </p:spTree>
    <p:extLst>
      <p:ext uri="{BB962C8B-B14F-4D97-AF65-F5344CB8AC3E}">
        <p14:creationId xmlns:p14="http://schemas.microsoft.com/office/powerpoint/2010/main" val="167675682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1106</TotalTime>
  <Words>3461</Words>
  <Application>Microsoft Office PowerPoint</Application>
  <PresentationFormat>On-screen Show (16:9)</PresentationFormat>
  <Paragraphs>371</Paragraphs>
  <Slides>49</Slides>
  <Notes>39</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Simple Light</vt:lpstr>
      <vt:lpstr>Software Engineering</vt:lpstr>
      <vt:lpstr>MODULE 3 : System Design Engineering</vt:lpstr>
      <vt:lpstr>PowerPoint Presentation</vt:lpstr>
      <vt:lpstr>PowerPoint Presentation</vt:lpstr>
      <vt:lpstr>Translating the requirement model in to Design Model</vt:lpstr>
      <vt:lpstr>Translating the requirement model in to Design Model</vt:lpstr>
      <vt:lpstr>Design Quality</vt:lpstr>
      <vt:lpstr>Design </vt:lpstr>
      <vt:lpstr>Quality Guidelines</vt:lpstr>
      <vt:lpstr>Quality Guidelines</vt:lpstr>
      <vt:lpstr>Implementation </vt:lpstr>
      <vt:lpstr>Design Processes</vt:lpstr>
      <vt:lpstr>Design Processes</vt:lpstr>
      <vt:lpstr>Design Processes</vt:lpstr>
      <vt:lpstr>PowerPoint Presentation</vt:lpstr>
      <vt:lpstr>Design Activities</vt:lpstr>
      <vt:lpstr>Design Activities</vt:lpstr>
      <vt:lpstr>Design Activities</vt:lpstr>
      <vt:lpstr>Software design concept</vt:lpstr>
      <vt:lpstr>Design Concepts</vt:lpstr>
      <vt:lpstr>PowerPoint Presentation</vt:lpstr>
      <vt:lpstr>Design Concepts</vt:lpstr>
      <vt:lpstr>Design Concepts</vt:lpstr>
      <vt:lpstr>Design Concepts</vt:lpstr>
      <vt:lpstr>Design Concepts</vt:lpstr>
      <vt:lpstr>Design Concepts</vt:lpstr>
      <vt:lpstr>Design Concepts</vt:lpstr>
      <vt:lpstr>Design Concepts</vt:lpstr>
      <vt:lpstr>PowerPoint Presentation</vt:lpstr>
      <vt:lpstr>Design Concepts</vt:lpstr>
      <vt:lpstr>PowerPoint Presentation</vt:lpstr>
      <vt:lpstr>Design Concepts</vt:lpstr>
      <vt:lpstr>Design Concepts</vt:lpstr>
      <vt:lpstr>Design Concepts</vt:lpstr>
      <vt:lpstr>Design Concepts</vt:lpstr>
      <vt:lpstr>Object Oriented Design</vt:lpstr>
      <vt:lpstr>PowerPoint Presentation</vt:lpstr>
      <vt:lpstr>Modularity and layered architecture</vt:lpstr>
      <vt:lpstr>PowerPoint Presentation</vt:lpstr>
      <vt:lpstr>Design Model</vt:lpstr>
      <vt:lpstr>Design Model</vt:lpstr>
      <vt:lpstr>Pattern Based Software Design</vt:lpstr>
      <vt:lpstr>Pattern Based Software Design</vt:lpstr>
      <vt:lpstr>Pattern Based Software Design</vt:lpstr>
      <vt:lpstr>Design Model</vt:lpstr>
      <vt:lpstr>Design Model</vt:lpstr>
      <vt:lpstr>Design Model</vt:lpstr>
      <vt:lpstr>Issued related to Architectural Patterns</vt:lpstr>
      <vt:lpstr>Issued related to Architectural Patterns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kjscecomp</dc:creator>
  <cp:lastModifiedBy>kjscecomp</cp:lastModifiedBy>
  <cp:revision>135</cp:revision>
  <dcterms:modified xsi:type="dcterms:W3CDTF">2024-09-03T06:00:00Z</dcterms:modified>
</cp:coreProperties>
</file>
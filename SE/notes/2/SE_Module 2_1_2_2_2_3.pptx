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83" roundtripDataSignature="AMtx7mg7U5mlmJMzUFg2ZzDsT+rbOeGZ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DE4038-D77D-44B2-B627-7FD2DB003FAB}">
  <a:tblStyle styleId="{8BDE4038-D77D-44B2-B627-7FD2DB003FA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C7ED822-DE81-4C64-AE2C-652BFD902161}"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customschemas.google.com/relationships/presentationmetadata" Target="meta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1" name="Google Shape;37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9" name="Google Shape;41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 name="Google Shape;44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5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4" name="Google Shape;51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6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8" name="Google Shape;53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6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3" name="Google Shape;563;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6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0" name="Google Shape;58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6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6" name="Google Shape;60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5" name="Google Shape;61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7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0" name="Google Shape;63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7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8" name="Google Shape;638;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7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6" name="Google Shape;64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5" name="Google Shape;655;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7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4" name="Google Shape;664;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7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4" name="Google Shape;674;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7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7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7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6" name="Google Shape;16;p7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7" name="Google Shape;17;p7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 name="Google Shape;18;p7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8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8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8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8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8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8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8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8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8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8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8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8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8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7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685800" y="1949521"/>
            <a:ext cx="7315200" cy="6828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86538"/>
              <a:buFont typeface="Arial"/>
              <a:buNone/>
            </a:pPr>
            <a:r>
              <a:rPr lang="en-GB"/>
              <a:t>Software Engineering</a:t>
            </a:r>
            <a:endParaRPr/>
          </a:p>
        </p:txBody>
      </p:sp>
      <p:sp>
        <p:nvSpPr>
          <p:cNvPr id="61" name="Google Shape;61;p1"/>
          <p:cNvSpPr txBox="1"/>
          <p:nvPr>
            <p:ph idx="1" type="subTitle"/>
          </p:nvPr>
        </p:nvSpPr>
        <p:spPr>
          <a:xfrm>
            <a:off x="1143000" y="2894192"/>
            <a:ext cx="6858000" cy="1431600"/>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1100"/>
              <a:buNone/>
            </a:pPr>
            <a:r>
              <a:rPr lang="en-GB"/>
              <a:t>116U01C501</a:t>
            </a:r>
            <a:endParaRPr/>
          </a:p>
          <a:p>
            <a:pPr indent="0" lvl="0" marL="0" rtl="0" algn="ctr">
              <a:lnSpc>
                <a:spcPct val="90000"/>
              </a:lnSpc>
              <a:spcBef>
                <a:spcPts val="0"/>
              </a:spcBef>
              <a:spcAft>
                <a:spcPts val="0"/>
              </a:spcAft>
              <a:buClr>
                <a:schemeClr val="dk1"/>
              </a:buClr>
              <a:buSzPts val="1800"/>
              <a:buNone/>
            </a:pPr>
            <a:r>
              <a:t/>
            </a:r>
            <a:endParaRPr/>
          </a:p>
        </p:txBody>
      </p:sp>
      <p:sp>
        <p:nvSpPr>
          <p:cNvPr id="62" name="Google Shape;62;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MODULE 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255955"/>
              <a:buFont typeface="Arial"/>
              <a:buNone/>
            </a:pPr>
            <a:r>
              <a:rPr lang="en-GB"/>
              <a:t>MODULE 2: </a:t>
            </a:r>
            <a:r>
              <a:rPr b="1" lang="en-GB" sz="4400"/>
              <a:t>Requirement Engineering</a:t>
            </a:r>
            <a:endParaRPr b="1" sz="1900"/>
          </a:p>
        </p:txBody>
      </p:sp>
      <p:sp>
        <p:nvSpPr>
          <p:cNvPr id="68" name="Google Shape;68;p2"/>
          <p:cNvSpPr txBox="1"/>
          <p:nvPr>
            <p:ph idx="1" type="body"/>
          </p:nvPr>
        </p:nvSpPr>
        <p:spPr>
          <a:xfrm>
            <a:off x="272675" y="1024750"/>
            <a:ext cx="8526600" cy="35109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Clr>
                <a:schemeClr val="dk1"/>
              </a:buClr>
              <a:buSzPts val="523"/>
              <a:buFont typeface="Arial"/>
              <a:buNone/>
            </a:pPr>
            <a:r>
              <a:rPr lang="en-GB" sz="1829">
                <a:solidFill>
                  <a:srgbClr val="91A000"/>
                </a:solidFill>
                <a:latin typeface="Calibri"/>
                <a:ea typeface="Calibri"/>
                <a:cs typeface="Calibri"/>
                <a:sym typeface="Calibri"/>
              </a:rPr>
              <a:t>2.1 Introduction to Object Oriented Methodologies :Booch, Rumbaugh and Jacobson</a:t>
            </a:r>
            <a:endParaRPr sz="1829">
              <a:solidFill>
                <a:srgbClr val="91A000"/>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523"/>
              <a:buFont typeface="Arial"/>
              <a:buNone/>
            </a:pPr>
            <a:r>
              <a:rPr lang="en-GB" sz="1829">
                <a:solidFill>
                  <a:schemeClr val="dk2"/>
                </a:solidFill>
                <a:latin typeface="Calibri"/>
                <a:ea typeface="Calibri"/>
                <a:cs typeface="Calibri"/>
                <a:sym typeface="Calibri"/>
              </a:rPr>
              <a:t>2.2 Requirements Engineering Tasks, Requirement Elicitation Techniques, Software Requirements: Functional, Non- Functional</a:t>
            </a:r>
            <a:endParaRPr sz="1829">
              <a:solidFill>
                <a:schemeClr val="dk2"/>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523"/>
              <a:buFont typeface="Arial"/>
              <a:buNone/>
            </a:pPr>
            <a:r>
              <a:rPr lang="en-GB" sz="1829">
                <a:solidFill>
                  <a:schemeClr val="dk2"/>
                </a:solidFill>
                <a:latin typeface="Calibri"/>
                <a:ea typeface="Calibri"/>
                <a:cs typeface="Calibri"/>
                <a:sym typeface="Calibri"/>
              </a:rPr>
              <a:t>2.3 Requirements Characteristics, Requirement qualities, Requirement Specification, Requirement Traceability, System Analysis Model Generation, Documentation :Use Case Diagram, Activity Diagram</a:t>
            </a:r>
            <a:endParaRPr sz="1829">
              <a:solidFill>
                <a:schemeClr val="dk2"/>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523"/>
              <a:buFont typeface="Arial"/>
              <a:buNone/>
            </a:pPr>
            <a:r>
              <a:rPr lang="en-GB" sz="1829">
                <a:solidFill>
                  <a:schemeClr val="dk2"/>
                </a:solidFill>
                <a:latin typeface="Calibri"/>
                <a:ea typeface="Calibri"/>
                <a:cs typeface="Calibri"/>
                <a:sym typeface="Calibri"/>
              </a:rPr>
              <a:t>2.4 Categorizing classes: entity, boundary and control, Modelling associations and collections-Class Diagram</a:t>
            </a:r>
            <a:endParaRPr sz="1829">
              <a:solidFill>
                <a:schemeClr val="dk2"/>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523"/>
              <a:buFont typeface="Arial"/>
              <a:buNone/>
            </a:pPr>
            <a:r>
              <a:rPr lang="en-GB" sz="1829">
                <a:solidFill>
                  <a:schemeClr val="dk2"/>
                </a:solidFill>
                <a:latin typeface="Calibri"/>
                <a:ea typeface="Calibri"/>
                <a:cs typeface="Calibri"/>
                <a:sym typeface="Calibri"/>
              </a:rPr>
              <a:t>2.5 Dynamic Analysis - Identifying Interaction – Sequence and Collaboration diagrams, State chart diagram</a:t>
            </a:r>
            <a:endParaRPr sz="1829">
              <a:solidFill>
                <a:schemeClr val="dk2"/>
              </a:solidFill>
              <a:latin typeface="Calibri"/>
              <a:ea typeface="Calibri"/>
              <a:cs typeface="Calibri"/>
              <a:sym typeface="Calibri"/>
            </a:endParaRPr>
          </a:p>
          <a:p>
            <a:pPr indent="0" lvl="0" marL="139700" rtl="0" algn="l">
              <a:lnSpc>
                <a:spcPct val="90000"/>
              </a:lnSpc>
              <a:spcBef>
                <a:spcPts val="800"/>
              </a:spcBef>
              <a:spcAft>
                <a:spcPts val="1200"/>
              </a:spcAft>
              <a:buClr>
                <a:schemeClr val="dk1"/>
              </a:buClr>
              <a:buSzPts val="998"/>
              <a:buNone/>
            </a:pPr>
            <a:r>
              <a:t/>
            </a:r>
            <a:endParaRPr sz="1355"/>
          </a:p>
        </p:txBody>
      </p:sp>
      <p:sp>
        <p:nvSpPr>
          <p:cNvPr id="69" name="Google Shape;69;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70" name="Google Shape;70;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970"/>
              <a:buFont typeface="Arial"/>
              <a:buNone/>
            </a:pPr>
            <a:r>
              <a:rPr lang="en-GB"/>
              <a:t>Introduction to Object Oriented Methodologies :Booch, Rumbaugh and Jacobson</a:t>
            </a:r>
            <a:endParaRPr b="1" sz="2700"/>
          </a:p>
        </p:txBody>
      </p:sp>
      <p:sp>
        <p:nvSpPr>
          <p:cNvPr id="76" name="Google Shape;76;p3"/>
          <p:cNvSpPr txBox="1"/>
          <p:nvPr>
            <p:ph idx="1" type="body"/>
          </p:nvPr>
        </p:nvSpPr>
        <p:spPr>
          <a:xfrm>
            <a:off x="261475" y="1268246"/>
            <a:ext cx="8103900" cy="33873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1000"/>
              </a:spcBef>
              <a:spcAft>
                <a:spcPts val="0"/>
              </a:spcAft>
              <a:buClr>
                <a:schemeClr val="dk1"/>
              </a:buClr>
              <a:buSzPts val="1100"/>
              <a:buFont typeface="Arial"/>
              <a:buNone/>
            </a:pPr>
            <a:r>
              <a:rPr lang="en-GB" sz="2100">
                <a:solidFill>
                  <a:schemeClr val="dk1"/>
                </a:solidFill>
              </a:rPr>
              <a:t>•</a:t>
            </a:r>
            <a:r>
              <a:rPr lang="en-GB" sz="2100">
                <a:solidFill>
                  <a:schemeClr val="dk1"/>
                </a:solidFill>
                <a:latin typeface="Calibri"/>
                <a:ea typeface="Calibri"/>
                <a:cs typeface="Calibri"/>
                <a:sym typeface="Calibri"/>
              </a:rPr>
              <a:t>Engineering is a problem-solving activity. Engineers search for an appropriate solution, often by trial and error, evaluating alternatives empirically, with limited resources and incomplete knowledge</a:t>
            </a:r>
            <a:endParaRPr sz="2100">
              <a:solidFill>
                <a:schemeClr val="dk1"/>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1100"/>
              <a:buFont typeface="Arial"/>
              <a:buNone/>
            </a:pPr>
            <a:r>
              <a:rPr lang="en-GB" sz="2100">
                <a:solidFill>
                  <a:schemeClr val="dk1"/>
                </a:solidFill>
              </a:rPr>
              <a:t>•</a:t>
            </a:r>
            <a:r>
              <a:rPr lang="en-GB" sz="2100">
                <a:solidFill>
                  <a:schemeClr val="dk1"/>
                </a:solidFill>
                <a:latin typeface="Calibri"/>
                <a:ea typeface="Calibri"/>
                <a:cs typeface="Calibri"/>
                <a:sym typeface="Calibri"/>
              </a:rPr>
              <a:t>Engineering method includes five steps:</a:t>
            </a:r>
            <a:endParaRPr sz="2100">
              <a:solidFill>
                <a:schemeClr val="dk1"/>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lang="en-GB" sz="1700">
                <a:solidFill>
                  <a:schemeClr val="dk1"/>
                </a:solidFill>
                <a:latin typeface="Calibri"/>
                <a:ea typeface="Calibri"/>
                <a:cs typeface="Calibri"/>
                <a:sym typeface="Calibri"/>
              </a:rPr>
              <a:t>1. Formulate the problem.</a:t>
            </a:r>
            <a:endParaRPr sz="1700">
              <a:solidFill>
                <a:schemeClr val="dk1"/>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lang="en-GB" sz="1700">
                <a:solidFill>
                  <a:schemeClr val="dk1"/>
                </a:solidFill>
                <a:latin typeface="Calibri"/>
                <a:ea typeface="Calibri"/>
                <a:cs typeface="Calibri"/>
                <a:sym typeface="Calibri"/>
              </a:rPr>
              <a:t>2. Analyse the problem.</a:t>
            </a:r>
            <a:endParaRPr sz="1700">
              <a:solidFill>
                <a:schemeClr val="dk1"/>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lang="en-GB" sz="1700">
                <a:solidFill>
                  <a:schemeClr val="dk1"/>
                </a:solidFill>
                <a:latin typeface="Calibri"/>
                <a:ea typeface="Calibri"/>
                <a:cs typeface="Calibri"/>
                <a:sym typeface="Calibri"/>
              </a:rPr>
              <a:t>3. Search for solutions.</a:t>
            </a:r>
            <a:endParaRPr sz="1700">
              <a:solidFill>
                <a:schemeClr val="dk1"/>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lang="en-GB" sz="1700">
                <a:solidFill>
                  <a:schemeClr val="dk1"/>
                </a:solidFill>
                <a:latin typeface="Calibri"/>
                <a:ea typeface="Calibri"/>
                <a:cs typeface="Calibri"/>
                <a:sym typeface="Calibri"/>
              </a:rPr>
              <a:t>4. Decide on the appropriate solution.</a:t>
            </a:r>
            <a:endParaRPr sz="1700">
              <a:solidFill>
                <a:schemeClr val="dk1"/>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lang="en-GB" sz="1700">
                <a:solidFill>
                  <a:schemeClr val="dk1"/>
                </a:solidFill>
                <a:latin typeface="Calibri"/>
                <a:ea typeface="Calibri"/>
                <a:cs typeface="Calibri"/>
                <a:sym typeface="Calibri"/>
              </a:rPr>
              <a:t>5. Specify the solution.</a:t>
            </a:r>
            <a:endParaRPr sz="1700">
              <a:solidFill>
                <a:schemeClr val="dk1"/>
              </a:solidFill>
              <a:latin typeface="Calibri"/>
              <a:ea typeface="Calibri"/>
              <a:cs typeface="Calibri"/>
              <a:sym typeface="Calibri"/>
            </a:endParaRPr>
          </a:p>
        </p:txBody>
      </p:sp>
      <p:sp>
        <p:nvSpPr>
          <p:cNvPr id="77" name="Google Shape;77;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78" name="Google Shape;78;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4"/>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970"/>
              <a:buFont typeface="Arial"/>
              <a:buNone/>
            </a:pPr>
            <a:r>
              <a:rPr lang="en-GB"/>
              <a:t>Introduction to Object Oriented Methodologies </a:t>
            </a:r>
            <a:endParaRPr b="1" sz="2700"/>
          </a:p>
        </p:txBody>
      </p:sp>
      <p:sp>
        <p:nvSpPr>
          <p:cNvPr id="84" name="Google Shape;84;p4"/>
          <p:cNvSpPr txBox="1"/>
          <p:nvPr>
            <p:ph idx="1" type="body"/>
          </p:nvPr>
        </p:nvSpPr>
        <p:spPr>
          <a:xfrm>
            <a:off x="261475" y="1268250"/>
            <a:ext cx="8689800" cy="3387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600">
                <a:solidFill>
                  <a:schemeClr val="dk1"/>
                </a:solidFill>
              </a:rPr>
              <a:t>•</a:t>
            </a:r>
            <a:r>
              <a:rPr lang="en-GB" sz="2600">
                <a:solidFill>
                  <a:schemeClr val="dk1"/>
                </a:solidFill>
                <a:latin typeface="Calibri"/>
                <a:ea typeface="Calibri"/>
                <a:cs typeface="Calibri"/>
                <a:sym typeface="Calibri"/>
              </a:rPr>
              <a:t>Object-oriented software development typically includes activities:</a:t>
            </a:r>
            <a:endParaRPr sz="2600">
              <a:solidFill>
                <a:schemeClr val="dk1"/>
              </a:solidFill>
              <a:latin typeface="Calibri"/>
              <a:ea typeface="Calibri"/>
              <a:cs typeface="Calibri"/>
              <a:sym typeface="Calibri"/>
            </a:endParaRPr>
          </a:p>
          <a:p>
            <a:pPr indent="-234950" lvl="0" marL="630000" rtl="0" algn="l">
              <a:lnSpc>
                <a:spcPct val="90000"/>
              </a:lnSpc>
              <a:spcBef>
                <a:spcPts val="50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Requirements gathering</a:t>
            </a:r>
            <a:endParaRPr sz="2200">
              <a:solidFill>
                <a:schemeClr val="dk1"/>
              </a:solidFill>
              <a:latin typeface="Calibri"/>
              <a:ea typeface="Calibri"/>
              <a:cs typeface="Calibri"/>
              <a:sym typeface="Calibri"/>
            </a:endParaRPr>
          </a:p>
          <a:p>
            <a:pPr indent="-234950" lvl="0" marL="630000" rtl="0" algn="l">
              <a:lnSpc>
                <a:spcPct val="90000"/>
              </a:lnSpc>
              <a:spcBef>
                <a:spcPts val="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Analysis</a:t>
            </a:r>
            <a:endParaRPr sz="2200">
              <a:solidFill>
                <a:schemeClr val="dk1"/>
              </a:solidFill>
              <a:latin typeface="Calibri"/>
              <a:ea typeface="Calibri"/>
              <a:cs typeface="Calibri"/>
              <a:sym typeface="Calibri"/>
            </a:endParaRPr>
          </a:p>
          <a:p>
            <a:pPr indent="-234950" lvl="0" marL="630000" rtl="0" algn="l">
              <a:lnSpc>
                <a:spcPct val="90000"/>
              </a:lnSpc>
              <a:spcBef>
                <a:spcPts val="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System design</a:t>
            </a:r>
            <a:endParaRPr sz="2200">
              <a:solidFill>
                <a:schemeClr val="dk1"/>
              </a:solidFill>
              <a:latin typeface="Calibri"/>
              <a:ea typeface="Calibri"/>
              <a:cs typeface="Calibri"/>
              <a:sym typeface="Calibri"/>
            </a:endParaRPr>
          </a:p>
          <a:p>
            <a:pPr indent="-234950" lvl="0" marL="630000" rtl="0" algn="l">
              <a:lnSpc>
                <a:spcPct val="90000"/>
              </a:lnSpc>
              <a:spcBef>
                <a:spcPts val="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Object design</a:t>
            </a:r>
            <a:endParaRPr sz="2200">
              <a:solidFill>
                <a:schemeClr val="dk1"/>
              </a:solidFill>
              <a:latin typeface="Calibri"/>
              <a:ea typeface="Calibri"/>
              <a:cs typeface="Calibri"/>
              <a:sym typeface="Calibri"/>
            </a:endParaRPr>
          </a:p>
          <a:p>
            <a:pPr indent="-234950" lvl="0" marL="630000" rtl="0" algn="l">
              <a:lnSpc>
                <a:spcPct val="90000"/>
              </a:lnSpc>
              <a:spcBef>
                <a:spcPts val="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Implementation</a:t>
            </a:r>
            <a:endParaRPr sz="2200">
              <a:solidFill>
                <a:schemeClr val="dk1"/>
              </a:solidFill>
              <a:latin typeface="Calibri"/>
              <a:ea typeface="Calibri"/>
              <a:cs typeface="Calibri"/>
              <a:sym typeface="Calibri"/>
            </a:endParaRPr>
          </a:p>
          <a:p>
            <a:pPr indent="-234950" lvl="0" marL="630000" rtl="0" algn="l">
              <a:lnSpc>
                <a:spcPct val="90000"/>
              </a:lnSpc>
              <a:spcBef>
                <a:spcPts val="0"/>
              </a:spcBef>
              <a:spcAft>
                <a:spcPts val="0"/>
              </a:spcAft>
              <a:buClr>
                <a:schemeClr val="dk1"/>
              </a:buClr>
              <a:buSzPts val="2200"/>
              <a:buFont typeface="Calibri"/>
              <a:buAutoNum type="arabicPeriod"/>
            </a:pPr>
            <a:r>
              <a:rPr lang="en-GB" sz="2200">
                <a:solidFill>
                  <a:schemeClr val="dk1"/>
                </a:solidFill>
                <a:latin typeface="Calibri"/>
                <a:ea typeface="Calibri"/>
                <a:cs typeface="Calibri"/>
                <a:sym typeface="Calibri"/>
              </a:rPr>
              <a:t>Testing</a:t>
            </a:r>
            <a:endParaRPr sz="22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sz="1100">
              <a:solidFill>
                <a:schemeClr val="dk1"/>
              </a:solidFill>
            </a:endParaRPr>
          </a:p>
        </p:txBody>
      </p:sp>
      <p:sp>
        <p:nvSpPr>
          <p:cNvPr id="85" name="Google Shape;85;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86" name="Google Shape;86;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idx="1" type="body"/>
          </p:nvPr>
        </p:nvSpPr>
        <p:spPr>
          <a:xfrm>
            <a:off x="475861" y="1558212"/>
            <a:ext cx="7283710" cy="2887794"/>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lang="en-GB"/>
              <a:t>Booch Methodology –Object  Oriented Analysis and Design (OOAD)- </a:t>
            </a:r>
            <a:r>
              <a:rPr b="1" lang="en-GB"/>
              <a:t>Grady Booch</a:t>
            </a:r>
            <a:endParaRPr/>
          </a:p>
          <a:p>
            <a:pPr indent="-317500" lvl="0" marL="457200" rtl="0" algn="l">
              <a:lnSpc>
                <a:spcPct val="90000"/>
              </a:lnSpc>
              <a:spcBef>
                <a:spcPts val="800"/>
              </a:spcBef>
              <a:spcAft>
                <a:spcPts val="0"/>
              </a:spcAft>
              <a:buClr>
                <a:schemeClr val="dk1"/>
              </a:buClr>
              <a:buSzPts val="1400"/>
              <a:buChar char="●"/>
            </a:pPr>
            <a:r>
              <a:rPr lang="en-GB"/>
              <a:t>Rumbaugh- Object Modeling Technique (OMT)- </a:t>
            </a:r>
            <a:r>
              <a:rPr b="1" lang="en-GB"/>
              <a:t>James Rambaugh</a:t>
            </a:r>
            <a:endParaRPr b="1"/>
          </a:p>
          <a:p>
            <a:pPr indent="-317500" lvl="0" marL="457200" rtl="0" algn="l">
              <a:lnSpc>
                <a:spcPct val="90000"/>
              </a:lnSpc>
              <a:spcBef>
                <a:spcPts val="800"/>
              </a:spcBef>
              <a:spcAft>
                <a:spcPts val="0"/>
              </a:spcAft>
              <a:buClr>
                <a:schemeClr val="dk1"/>
              </a:buClr>
              <a:buSzPts val="1400"/>
              <a:buChar char="●"/>
            </a:pPr>
            <a:r>
              <a:rPr lang="en-GB"/>
              <a:t>The Jacobson methodology – OOSE,OOBE- </a:t>
            </a:r>
            <a:r>
              <a:rPr b="1" lang="en-GB"/>
              <a:t>Ivar Hjalmar Jacobson</a:t>
            </a:r>
            <a:endParaRPr b="1"/>
          </a:p>
        </p:txBody>
      </p:sp>
      <p:sp>
        <p:nvSpPr>
          <p:cNvPr id="92" name="Google Shape;92;p5"/>
          <p:cNvSpPr txBox="1"/>
          <p:nvPr/>
        </p:nvSpPr>
        <p:spPr>
          <a:xfrm>
            <a:off x="272400" y="308809"/>
            <a:ext cx="8871600" cy="994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2970"/>
              <a:buFont typeface="Arial"/>
              <a:buNone/>
            </a:pPr>
            <a:r>
              <a:rPr b="0" i="0" lang="en-GB" sz="2800" u="none" cap="none" strike="noStrike">
                <a:solidFill>
                  <a:schemeClr val="dk1"/>
                </a:solidFill>
                <a:latin typeface="Arial"/>
                <a:ea typeface="Arial"/>
                <a:cs typeface="Arial"/>
                <a:sym typeface="Arial"/>
              </a:rPr>
              <a:t>Introduction to Object Oriented Methodologies </a:t>
            </a:r>
            <a:endParaRPr b="1" i="0" sz="27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 Software Engineering </a:t>
            </a:r>
            <a:endParaRPr b="1" sz="2700"/>
          </a:p>
        </p:txBody>
      </p:sp>
      <p:sp>
        <p:nvSpPr>
          <p:cNvPr id="98" name="Google Shape;98;p6"/>
          <p:cNvSpPr txBox="1"/>
          <p:nvPr>
            <p:ph idx="1" type="body"/>
          </p:nvPr>
        </p:nvSpPr>
        <p:spPr>
          <a:xfrm>
            <a:off x="173475" y="929630"/>
            <a:ext cx="8689800" cy="3387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200">
                <a:solidFill>
                  <a:schemeClr val="dk1"/>
                </a:solidFill>
              </a:rPr>
              <a:t>•</a:t>
            </a:r>
            <a:r>
              <a:rPr b="1" lang="en-GB" sz="2200">
                <a:solidFill>
                  <a:srgbClr val="0070C0"/>
                </a:solidFill>
                <a:latin typeface="Calibri"/>
                <a:ea typeface="Calibri"/>
                <a:cs typeface="Calibri"/>
                <a:sym typeface="Calibri"/>
              </a:rPr>
              <a:t>Requirement Elicitation &amp; Analysis</a:t>
            </a:r>
            <a:endParaRPr b="1"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000">
                <a:solidFill>
                  <a:schemeClr val="dk1"/>
                </a:solidFill>
                <a:latin typeface="Calibri"/>
                <a:ea typeface="Calibri"/>
                <a:cs typeface="Calibri"/>
                <a:sym typeface="Calibri"/>
              </a:rPr>
              <a:t>Formulate the problem with the client and build the application domain model.</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Requirements elicitation and analysis correspond to steps 1 and 2 of the engineering method (formulate &amp; analyse the problem )</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b="1" lang="en-GB" sz="2000">
                <a:solidFill>
                  <a:srgbClr val="0070C0"/>
                </a:solidFill>
                <a:latin typeface="Calibri"/>
                <a:ea typeface="Calibri"/>
                <a:cs typeface="Calibri"/>
                <a:sym typeface="Calibri"/>
              </a:rPr>
              <a:t>System design</a:t>
            </a:r>
            <a:endParaRPr b="1" sz="20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Analyse the problem, break it down into smaller pieces, and select general strategies for designing the System</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b="1" lang="en-GB" sz="2000">
                <a:solidFill>
                  <a:srgbClr val="0070C0"/>
                </a:solidFill>
                <a:latin typeface="Calibri"/>
                <a:ea typeface="Calibri"/>
                <a:cs typeface="Calibri"/>
                <a:sym typeface="Calibri"/>
              </a:rPr>
              <a:t>Object design</a:t>
            </a:r>
            <a:endParaRPr b="1" sz="20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select detail solutions for each piece and decide on the most appropriate solution.</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System design and object design result in the solution domain model.</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System and object design correspond to steps 3 and 4 of the engineering method (search for solutions &amp; decide upon appropriate solution)</a:t>
            </a:r>
            <a:endParaRPr sz="20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sz="2200">
              <a:solidFill>
                <a:schemeClr val="dk1"/>
              </a:solidFill>
            </a:endParaRPr>
          </a:p>
        </p:txBody>
      </p:sp>
      <p:sp>
        <p:nvSpPr>
          <p:cNvPr id="99" name="Google Shape;9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00" name="Google Shape;10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 Software Engineering </a:t>
            </a:r>
            <a:endParaRPr b="1" sz="2700"/>
          </a:p>
        </p:txBody>
      </p:sp>
      <p:sp>
        <p:nvSpPr>
          <p:cNvPr id="106" name="Google Shape;106;p7"/>
          <p:cNvSpPr txBox="1"/>
          <p:nvPr>
            <p:ph idx="1" type="body"/>
          </p:nvPr>
        </p:nvSpPr>
        <p:spPr>
          <a:xfrm>
            <a:off x="173475" y="1004275"/>
            <a:ext cx="8689800" cy="3387300"/>
          </a:xfrm>
          <a:prstGeom prst="rect">
            <a:avLst/>
          </a:prstGeom>
          <a:noFill/>
          <a:ln>
            <a:noFill/>
          </a:ln>
        </p:spPr>
        <p:txBody>
          <a:bodyPr anchorCtr="0" anchor="t" bIns="34275" lIns="68575" spcFirstLastPara="1" rIns="68575" wrap="square" tIns="34275">
            <a:noAutofit/>
          </a:bodyPr>
          <a:lstStyle/>
          <a:p>
            <a:pPr indent="-355600" lvl="0" marL="457200" rtl="0" algn="l">
              <a:lnSpc>
                <a:spcPct val="90000"/>
              </a:lnSpc>
              <a:spcBef>
                <a:spcPts val="0"/>
              </a:spcBef>
              <a:spcAft>
                <a:spcPts val="0"/>
              </a:spcAft>
              <a:buClr>
                <a:srgbClr val="0070C0"/>
              </a:buClr>
              <a:buSzPts val="2000"/>
              <a:buFont typeface="Calibri"/>
              <a:buChar char="●"/>
            </a:pPr>
            <a:r>
              <a:rPr b="1" lang="en-GB" sz="2000">
                <a:solidFill>
                  <a:srgbClr val="0070C0"/>
                </a:solidFill>
                <a:latin typeface="Calibri"/>
                <a:ea typeface="Calibri"/>
                <a:cs typeface="Calibri"/>
                <a:sym typeface="Calibri"/>
              </a:rPr>
              <a:t>Implementation</a:t>
            </a:r>
            <a:endParaRPr b="1" sz="2000">
              <a:solidFill>
                <a:srgbClr val="0070C0"/>
              </a:solidFill>
              <a:latin typeface="Calibri"/>
              <a:ea typeface="Calibri"/>
              <a:cs typeface="Calibri"/>
              <a:sym typeface="Calibri"/>
            </a:endParaRPr>
          </a:p>
          <a:p>
            <a:pPr indent="-355600" lvl="1" marL="914400" rtl="0" algn="l">
              <a:lnSpc>
                <a:spcPct val="90000"/>
              </a:lnSpc>
              <a:spcBef>
                <a:spcPts val="0"/>
              </a:spcBef>
              <a:spcAft>
                <a:spcPts val="0"/>
              </a:spcAft>
              <a:buClr>
                <a:schemeClr val="dk1"/>
              </a:buClr>
              <a:buSzPts val="2000"/>
              <a:buFont typeface="Calibri"/>
              <a:buChar char="○"/>
            </a:pPr>
            <a:r>
              <a:rPr lang="en-GB" sz="2000">
                <a:solidFill>
                  <a:schemeClr val="dk1"/>
                </a:solidFill>
                <a:latin typeface="Calibri"/>
                <a:ea typeface="Calibri"/>
                <a:cs typeface="Calibri"/>
                <a:sym typeface="Calibri"/>
              </a:rPr>
              <a:t>Realize the system by translating the solution domain model into an executable representation</a:t>
            </a:r>
            <a:endParaRPr sz="2000">
              <a:solidFill>
                <a:schemeClr val="dk1"/>
              </a:solidFill>
              <a:latin typeface="Calibri"/>
              <a:ea typeface="Calibri"/>
              <a:cs typeface="Calibri"/>
              <a:sym typeface="Calibri"/>
            </a:endParaRPr>
          </a:p>
          <a:p>
            <a:pPr indent="-355600" lvl="1" marL="914400" rtl="0" algn="l">
              <a:lnSpc>
                <a:spcPct val="90000"/>
              </a:lnSpc>
              <a:spcBef>
                <a:spcPts val="0"/>
              </a:spcBef>
              <a:spcAft>
                <a:spcPts val="0"/>
              </a:spcAft>
              <a:buClr>
                <a:schemeClr val="dk1"/>
              </a:buClr>
              <a:buSzPts val="2000"/>
              <a:buFont typeface="Calibri"/>
              <a:buChar char="○"/>
            </a:pPr>
            <a:r>
              <a:rPr lang="en-GB" sz="2000">
                <a:solidFill>
                  <a:schemeClr val="dk1"/>
                </a:solidFill>
                <a:latin typeface="Calibri"/>
                <a:ea typeface="Calibri"/>
                <a:cs typeface="Calibri"/>
                <a:sym typeface="Calibri"/>
              </a:rPr>
              <a:t>Implementation corresponds to step 5 of the engineering method (Specify solution)</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000">
              <a:solidFill>
                <a:schemeClr val="dk1"/>
              </a:solidFill>
            </a:endParaRPr>
          </a:p>
          <a:p>
            <a:pPr indent="0" lvl="0" marL="0" rtl="0" algn="l">
              <a:lnSpc>
                <a:spcPct val="90000"/>
              </a:lnSpc>
              <a:spcBef>
                <a:spcPts val="0"/>
              </a:spcBef>
              <a:spcAft>
                <a:spcPts val="0"/>
              </a:spcAft>
              <a:buSzPts val="1400"/>
              <a:buNone/>
            </a:pPr>
            <a:r>
              <a:rPr lang="en-GB" sz="2000">
                <a:solidFill>
                  <a:schemeClr val="dk1"/>
                </a:solidFill>
                <a:latin typeface="Calibri"/>
                <a:ea typeface="Calibri"/>
                <a:cs typeface="Calibri"/>
                <a:sym typeface="Calibri"/>
              </a:rPr>
              <a:t>What makes software engineering different from problem solving in other sciences is that change occurs in the application and the solution domain while the problem is being solved.</a:t>
            </a:r>
            <a:endParaRPr sz="2000">
              <a:solidFill>
                <a:schemeClr val="dk1"/>
              </a:solidFill>
              <a:latin typeface="Calibri"/>
              <a:ea typeface="Calibri"/>
              <a:cs typeface="Calibri"/>
              <a:sym typeface="Calibri"/>
            </a:endParaRPr>
          </a:p>
          <a:p>
            <a:pPr indent="0" lvl="0" marL="0" rtl="0" algn="l">
              <a:lnSpc>
                <a:spcPct val="90000"/>
              </a:lnSpc>
              <a:spcBef>
                <a:spcPts val="500"/>
              </a:spcBef>
              <a:spcAft>
                <a:spcPts val="0"/>
              </a:spcAft>
              <a:buSzPts val="1400"/>
              <a:buNone/>
            </a:pPr>
            <a:r>
              <a:t/>
            </a:r>
            <a:endParaRPr sz="2200">
              <a:solidFill>
                <a:schemeClr val="dk1"/>
              </a:solidFill>
            </a:endParaRPr>
          </a:p>
        </p:txBody>
      </p:sp>
      <p:sp>
        <p:nvSpPr>
          <p:cNvPr id="107" name="Google Shape;107;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08" name="Google Shape;108;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 Software Engineering </a:t>
            </a:r>
            <a:endParaRPr b="1" sz="2700"/>
          </a:p>
        </p:txBody>
      </p:sp>
      <p:sp>
        <p:nvSpPr>
          <p:cNvPr id="114" name="Google Shape;114;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15" name="Google Shape;115;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16" name="Google Shape;116;p8"/>
          <p:cNvPicPr preferRelativeResize="0"/>
          <p:nvPr/>
        </p:nvPicPr>
        <p:blipFill rotWithShape="1">
          <a:blip r:embed="rId3">
            <a:alphaModFix/>
          </a:blip>
          <a:srcRect b="0" l="0" r="0" t="0"/>
          <a:stretch/>
        </p:blipFill>
        <p:spPr>
          <a:xfrm>
            <a:off x="1536275" y="1110169"/>
            <a:ext cx="5952139" cy="33927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 Software Engineering </a:t>
            </a:r>
            <a:endParaRPr b="1" sz="2700"/>
          </a:p>
        </p:txBody>
      </p:sp>
      <p:sp>
        <p:nvSpPr>
          <p:cNvPr id="122" name="Google Shape;122;p9"/>
          <p:cNvSpPr txBox="1"/>
          <p:nvPr>
            <p:ph idx="1" type="body"/>
          </p:nvPr>
        </p:nvSpPr>
        <p:spPr>
          <a:xfrm>
            <a:off x="173475" y="1004275"/>
            <a:ext cx="8689800" cy="3715200"/>
          </a:xfrm>
          <a:prstGeom prst="rect">
            <a:avLst/>
          </a:prstGeom>
          <a:noFill/>
          <a:ln>
            <a:noFill/>
          </a:ln>
        </p:spPr>
        <p:txBody>
          <a:bodyPr anchorCtr="0" anchor="t" bIns="34275" lIns="68575" spcFirstLastPara="1" rIns="68575" wrap="square" tIns="34275">
            <a:noAutofit/>
          </a:bodyPr>
          <a:lstStyle/>
          <a:p>
            <a:pPr indent="-368300" lvl="0" marL="457200" rtl="0" algn="l">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Each rectangle represents a </a:t>
            </a:r>
            <a:r>
              <a:rPr b="1" lang="en-GB" sz="2200">
                <a:solidFill>
                  <a:srgbClr val="0070C0"/>
                </a:solidFill>
                <a:latin typeface="Calibri"/>
                <a:ea typeface="Calibri"/>
                <a:cs typeface="Calibri"/>
                <a:sym typeface="Calibri"/>
              </a:rPr>
              <a:t>concept</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The lines among the rectangles represent different relationships between the concepts. </a:t>
            </a:r>
            <a:endParaRPr sz="2200">
              <a:solidFill>
                <a:schemeClr val="dk1"/>
              </a:solidFill>
              <a:latin typeface="Calibri"/>
              <a:ea typeface="Calibri"/>
              <a:cs typeface="Calibri"/>
              <a:sym typeface="Calibri"/>
            </a:endParaRPr>
          </a:p>
          <a:p>
            <a:pPr indent="-368300" lvl="1" marL="914400" rtl="0" algn="just">
              <a:lnSpc>
                <a:spcPct val="90000"/>
              </a:lnSpc>
              <a:spcBef>
                <a:spcPts val="0"/>
              </a:spcBef>
              <a:spcAft>
                <a:spcPts val="0"/>
              </a:spcAft>
              <a:buSzPts val="2200"/>
              <a:buFont typeface="Calibri"/>
              <a:buChar char="●"/>
            </a:pPr>
            <a:r>
              <a:rPr lang="en-GB">
                <a:solidFill>
                  <a:schemeClr val="dk1"/>
                </a:solidFill>
                <a:latin typeface="Calibri"/>
                <a:ea typeface="Calibri"/>
                <a:cs typeface="Calibri"/>
                <a:sym typeface="Calibri"/>
              </a:rPr>
              <a:t>For example, the </a:t>
            </a:r>
            <a:r>
              <a:rPr b="1" lang="en-GB">
                <a:solidFill>
                  <a:srgbClr val="0070C0"/>
                </a:solidFill>
                <a:latin typeface="Calibri"/>
                <a:ea typeface="Calibri"/>
                <a:cs typeface="Calibri"/>
                <a:sym typeface="Calibri"/>
              </a:rPr>
              <a:t>diamond shape indicates aggregation</a:t>
            </a:r>
            <a:r>
              <a:rPr b="1" lang="en-GB">
                <a:solidFill>
                  <a:schemeClr val="dk1"/>
                </a:solidFill>
                <a:latin typeface="Calibri"/>
                <a:ea typeface="Calibri"/>
                <a:cs typeface="Calibri"/>
                <a:sym typeface="Calibri"/>
              </a:rPr>
              <a:t>: </a:t>
            </a:r>
            <a:r>
              <a:rPr lang="en-GB">
                <a:solidFill>
                  <a:schemeClr val="dk1"/>
                </a:solidFill>
                <a:latin typeface="Calibri"/>
                <a:ea typeface="Calibri"/>
                <a:cs typeface="Calibri"/>
                <a:sym typeface="Calibri"/>
              </a:rPr>
              <a:t>a Project includes a number of Activities, which includes a number of Tasks.</a:t>
            </a:r>
            <a:endParaRPr>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The triangle shape indicates a generalization relationship; Participants, Time, and Equipment are specific kinds of Resources</a:t>
            </a:r>
            <a:endParaRPr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Persons involved (client, project manager, developers, end users) in the project as </a:t>
            </a:r>
            <a:r>
              <a:rPr b="1" lang="en-GB" sz="2200">
                <a:solidFill>
                  <a:srgbClr val="0070C0"/>
                </a:solidFill>
                <a:latin typeface="Calibri"/>
                <a:ea typeface="Calibri"/>
                <a:cs typeface="Calibri"/>
                <a:sym typeface="Calibri"/>
              </a:rPr>
              <a:t>participants</a:t>
            </a:r>
            <a:endParaRPr b="1" sz="2200">
              <a:solidFill>
                <a:srgbClr val="0070C0"/>
              </a:solidFill>
              <a:latin typeface="Calibri"/>
              <a:ea typeface="Calibri"/>
              <a:cs typeface="Calibri"/>
              <a:sym typeface="Calibri"/>
            </a:endParaRPr>
          </a:p>
          <a:p>
            <a:pPr indent="-368300" lvl="0" marL="457200" rtl="0" algn="l">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A set of responsibilities in the project or the system as a </a:t>
            </a:r>
            <a:r>
              <a:rPr b="1" lang="en-GB" sz="2200">
                <a:solidFill>
                  <a:srgbClr val="0070C0"/>
                </a:solidFill>
                <a:latin typeface="Calibri"/>
                <a:ea typeface="Calibri"/>
                <a:cs typeface="Calibri"/>
                <a:sym typeface="Calibri"/>
              </a:rPr>
              <a:t>role</a:t>
            </a:r>
            <a:endParaRPr b="1" sz="2200">
              <a:solidFill>
                <a:srgbClr val="0070C0"/>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A role is associated with a set of </a:t>
            </a:r>
            <a:r>
              <a:rPr b="1" lang="en-GB" sz="2200">
                <a:solidFill>
                  <a:srgbClr val="0070C0"/>
                </a:solidFill>
                <a:latin typeface="Calibri"/>
                <a:ea typeface="Calibri"/>
                <a:cs typeface="Calibri"/>
                <a:sym typeface="Calibri"/>
              </a:rPr>
              <a:t>tasks</a:t>
            </a:r>
            <a:r>
              <a:rPr lang="en-GB" sz="2200">
                <a:solidFill>
                  <a:schemeClr val="dk1"/>
                </a:solidFill>
                <a:latin typeface="Calibri"/>
                <a:ea typeface="Calibri"/>
                <a:cs typeface="Calibri"/>
                <a:sym typeface="Calibri"/>
              </a:rPr>
              <a:t> and is assigned to a participant</a:t>
            </a:r>
            <a:endParaRPr sz="2200">
              <a:solidFill>
                <a:schemeClr val="dk1"/>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23" name="Google Shape;123;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24" name="Google Shape;124;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ph type="title"/>
          </p:nvPr>
        </p:nvSpPr>
        <p:spPr>
          <a:xfrm>
            <a:off x="136331" y="75544"/>
            <a:ext cx="8871600" cy="9942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 Software Engineering </a:t>
            </a:r>
            <a:endParaRPr b="1" sz="2700"/>
          </a:p>
        </p:txBody>
      </p:sp>
      <p:sp>
        <p:nvSpPr>
          <p:cNvPr id="130" name="Google Shape;130;p10"/>
          <p:cNvSpPr txBox="1"/>
          <p:nvPr>
            <p:ph idx="1" type="body"/>
          </p:nvPr>
        </p:nvSpPr>
        <p:spPr>
          <a:xfrm>
            <a:off x="186611" y="951722"/>
            <a:ext cx="8676663" cy="3767753"/>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2000" u="sng">
                <a:solidFill>
                  <a:srgbClr val="0070C0"/>
                </a:solidFill>
                <a:latin typeface="Calibri"/>
                <a:ea typeface="Calibri"/>
                <a:cs typeface="Calibri"/>
                <a:sym typeface="Calibri"/>
              </a:rPr>
              <a:t>Terminology</a:t>
            </a:r>
            <a:endParaRPr b="1" sz="2000" u="sng">
              <a:solidFill>
                <a:srgbClr val="0070C0"/>
              </a:solidFill>
              <a:latin typeface="Calibri"/>
              <a:ea typeface="Calibri"/>
              <a:cs typeface="Calibri"/>
              <a:sym typeface="Calibri"/>
            </a:endParaRPr>
          </a:p>
          <a:p>
            <a:pPr indent="-355600" lvl="0" marL="457200" rtl="0" algn="l">
              <a:lnSpc>
                <a:spcPct val="90000"/>
              </a:lnSpc>
              <a:spcBef>
                <a:spcPts val="1000"/>
              </a:spcBef>
              <a:spcAft>
                <a:spcPts val="0"/>
              </a:spcAft>
              <a:buSzPts val="2000"/>
              <a:buFont typeface="Calibri"/>
              <a:buChar char="●"/>
            </a:pPr>
            <a:r>
              <a:rPr b="1" lang="en-GB" sz="2000">
                <a:solidFill>
                  <a:srgbClr val="0070C0"/>
                </a:solidFill>
                <a:latin typeface="Calibri"/>
                <a:ea typeface="Calibri"/>
                <a:cs typeface="Calibri"/>
                <a:sym typeface="Calibri"/>
              </a:rPr>
              <a:t>System</a:t>
            </a:r>
            <a:r>
              <a:rPr lang="en-GB" sz="2000">
                <a:solidFill>
                  <a:schemeClr val="dk1"/>
                </a:solidFill>
                <a:latin typeface="Calibri"/>
                <a:ea typeface="Calibri"/>
                <a:cs typeface="Calibri"/>
                <a:sym typeface="Calibri"/>
              </a:rPr>
              <a:t> as a collection of interconnected parts</a:t>
            </a:r>
            <a:endParaRPr sz="2000">
              <a:solidFill>
                <a:schemeClr val="dk1"/>
              </a:solidFill>
              <a:latin typeface="Calibri"/>
              <a:ea typeface="Calibri"/>
              <a:cs typeface="Calibri"/>
              <a:sym typeface="Calibri"/>
            </a:endParaRPr>
          </a:p>
          <a:p>
            <a:pPr indent="-355600" lvl="0" marL="457200" rtl="0" algn="l">
              <a:lnSpc>
                <a:spcPct val="90000"/>
              </a:lnSpc>
              <a:spcBef>
                <a:spcPts val="0"/>
              </a:spcBef>
              <a:spcAft>
                <a:spcPts val="0"/>
              </a:spcAft>
              <a:buSzPts val="2000"/>
              <a:buFont typeface="Calibri"/>
              <a:buChar char="●"/>
            </a:pPr>
            <a:r>
              <a:rPr b="1" lang="en-GB" sz="2000">
                <a:solidFill>
                  <a:srgbClr val="0070C0"/>
                </a:solidFill>
                <a:latin typeface="Calibri"/>
                <a:ea typeface="Calibri"/>
                <a:cs typeface="Calibri"/>
                <a:sym typeface="Calibri"/>
              </a:rPr>
              <a:t>Model </a:t>
            </a:r>
            <a:r>
              <a:rPr lang="en-GB" sz="2000">
                <a:solidFill>
                  <a:schemeClr val="dk1"/>
                </a:solidFill>
                <a:latin typeface="Calibri"/>
                <a:ea typeface="Calibri"/>
                <a:cs typeface="Calibri"/>
                <a:sym typeface="Calibri"/>
              </a:rPr>
              <a:t>refers to any abstraction of the system (Modelling is a way to deal with complexity by ignoring irrelevant details).</a:t>
            </a:r>
            <a:endParaRPr sz="2000">
              <a:solidFill>
                <a:schemeClr val="dk1"/>
              </a:solidFill>
              <a:latin typeface="Calibri"/>
              <a:ea typeface="Calibri"/>
              <a:cs typeface="Calibri"/>
              <a:sym typeface="Calibri"/>
            </a:endParaRPr>
          </a:p>
          <a:p>
            <a:pPr indent="-355600" lvl="0" marL="457200" rtl="0" algn="l">
              <a:lnSpc>
                <a:spcPct val="90000"/>
              </a:lnSpc>
              <a:spcBef>
                <a:spcPts val="0"/>
              </a:spcBef>
              <a:spcAft>
                <a:spcPts val="0"/>
              </a:spcAft>
              <a:buSzPts val="2000"/>
              <a:buFont typeface="Calibri"/>
              <a:buChar char="●"/>
            </a:pPr>
            <a:r>
              <a:rPr b="1" lang="en-GB" sz="2000">
                <a:solidFill>
                  <a:srgbClr val="0070C0"/>
                </a:solidFill>
                <a:latin typeface="Calibri"/>
                <a:ea typeface="Calibri"/>
                <a:cs typeface="Calibri"/>
                <a:sym typeface="Calibri"/>
              </a:rPr>
              <a:t>A work product </a:t>
            </a:r>
            <a:r>
              <a:rPr lang="en-GB" sz="2000">
                <a:solidFill>
                  <a:schemeClr val="dk1"/>
                </a:solidFill>
                <a:latin typeface="Calibri"/>
                <a:ea typeface="Calibri"/>
                <a:cs typeface="Calibri"/>
                <a:sym typeface="Calibri"/>
              </a:rPr>
              <a:t>is an artefact that is produced during the development, such as a document or a piece of software for other developers or for the client.</a:t>
            </a:r>
            <a:endParaRPr sz="2000">
              <a:solidFill>
                <a:schemeClr val="dk1"/>
              </a:solidFill>
              <a:latin typeface="Calibri"/>
              <a:ea typeface="Calibri"/>
              <a:cs typeface="Calibri"/>
              <a:sym typeface="Calibri"/>
            </a:endParaRPr>
          </a:p>
          <a:p>
            <a:pPr indent="-342900" lvl="1" marL="914400" rtl="0" algn="l">
              <a:lnSpc>
                <a:spcPct val="90000"/>
              </a:lnSpc>
              <a:spcBef>
                <a:spcPts val="0"/>
              </a:spcBef>
              <a:spcAft>
                <a:spcPts val="0"/>
              </a:spcAft>
              <a:buSzPts val="1800"/>
              <a:buFont typeface="Calibri"/>
              <a:buChar char="○"/>
            </a:pPr>
            <a:r>
              <a:rPr b="1" lang="en-GB" sz="1800">
                <a:solidFill>
                  <a:srgbClr val="0070C0"/>
                </a:solidFill>
                <a:latin typeface="Calibri"/>
                <a:ea typeface="Calibri"/>
                <a:cs typeface="Calibri"/>
                <a:sym typeface="Calibri"/>
              </a:rPr>
              <a:t>Internal work product: </a:t>
            </a:r>
            <a:r>
              <a:rPr lang="en-GB" sz="1800">
                <a:solidFill>
                  <a:schemeClr val="dk1"/>
                </a:solidFill>
                <a:latin typeface="Calibri"/>
                <a:ea typeface="Calibri"/>
                <a:cs typeface="Calibri"/>
                <a:sym typeface="Calibri"/>
              </a:rPr>
              <a:t>A work product for the project’s internal consumption</a:t>
            </a:r>
            <a:endParaRPr sz="1800">
              <a:solidFill>
                <a:schemeClr val="dk1"/>
              </a:solidFill>
              <a:latin typeface="Calibri"/>
              <a:ea typeface="Calibri"/>
              <a:cs typeface="Calibri"/>
              <a:sym typeface="Calibri"/>
            </a:endParaRPr>
          </a:p>
          <a:p>
            <a:pPr indent="-342900" lvl="1" marL="914400" rtl="0" algn="l">
              <a:lnSpc>
                <a:spcPct val="90000"/>
              </a:lnSpc>
              <a:spcBef>
                <a:spcPts val="0"/>
              </a:spcBef>
              <a:spcAft>
                <a:spcPts val="0"/>
              </a:spcAft>
              <a:buSzPts val="1800"/>
              <a:buFont typeface="Calibri"/>
              <a:buChar char="○"/>
            </a:pPr>
            <a:r>
              <a:rPr b="1" lang="en-GB" sz="1800">
                <a:solidFill>
                  <a:srgbClr val="0070C0"/>
                </a:solidFill>
                <a:latin typeface="Calibri"/>
                <a:ea typeface="Calibri"/>
                <a:cs typeface="Calibri"/>
                <a:sym typeface="Calibri"/>
              </a:rPr>
              <a:t>A deliverable</a:t>
            </a:r>
            <a:r>
              <a:rPr lang="en-GB" sz="1800">
                <a:solidFill>
                  <a:schemeClr val="dk1"/>
                </a:solidFill>
                <a:latin typeface="Calibri"/>
                <a:ea typeface="Calibri"/>
                <a:cs typeface="Calibri"/>
                <a:sym typeface="Calibri"/>
              </a:rPr>
              <a:t>: a work product that must be delivered to a client</a:t>
            </a:r>
            <a:endParaRPr sz="1800">
              <a:solidFill>
                <a:schemeClr val="dk1"/>
              </a:solidFill>
              <a:latin typeface="Calibri"/>
              <a:ea typeface="Calibri"/>
              <a:cs typeface="Calibri"/>
              <a:sym typeface="Calibri"/>
            </a:endParaRPr>
          </a:p>
          <a:p>
            <a:pPr indent="-342900" lvl="1" marL="914400" rtl="0" algn="l">
              <a:lnSpc>
                <a:spcPct val="90000"/>
              </a:lnSpc>
              <a:spcBef>
                <a:spcPts val="0"/>
              </a:spcBef>
              <a:spcAft>
                <a:spcPts val="0"/>
              </a:spcAft>
              <a:buClr>
                <a:schemeClr val="dk1"/>
              </a:buClr>
              <a:buSzPts val="1800"/>
              <a:buFont typeface="Calibri"/>
              <a:buChar char="○"/>
            </a:pPr>
            <a:r>
              <a:rPr lang="en-GB" sz="1800">
                <a:solidFill>
                  <a:schemeClr val="dk1"/>
                </a:solidFill>
                <a:latin typeface="Calibri"/>
                <a:ea typeface="Calibri"/>
                <a:cs typeface="Calibri"/>
                <a:sym typeface="Calibri"/>
              </a:rPr>
              <a:t>Deliverables are generally defined prior to the start of the project and specified by a contract binding the developers with the client</a:t>
            </a:r>
            <a:endParaRPr sz="1800">
              <a:solidFill>
                <a:schemeClr val="dk1"/>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31" name="Google Shape;131;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32" name="Google Shape;132;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600"/>
              <a:t>OO Software Engineering </a:t>
            </a:r>
            <a:endParaRPr b="1" sz="3600"/>
          </a:p>
        </p:txBody>
      </p:sp>
      <p:sp>
        <p:nvSpPr>
          <p:cNvPr id="138" name="Google Shape;138;p11"/>
          <p:cNvSpPr txBox="1"/>
          <p:nvPr>
            <p:ph idx="1" type="body"/>
          </p:nvPr>
        </p:nvSpPr>
        <p:spPr>
          <a:xfrm>
            <a:off x="181475" y="615850"/>
            <a:ext cx="8689800" cy="3715200"/>
          </a:xfrm>
          <a:prstGeom prst="rect">
            <a:avLst/>
          </a:prstGeom>
          <a:noFill/>
          <a:ln>
            <a:noFill/>
          </a:ln>
        </p:spPr>
        <p:txBody>
          <a:bodyPr anchorCtr="0" anchor="t" bIns="34275" lIns="68575" spcFirstLastPara="1" rIns="68575" wrap="square" tIns="34275">
            <a:noAutofit/>
          </a:bodyPr>
          <a:lstStyle/>
          <a:p>
            <a:pPr indent="-355600" lvl="0" marL="457200" rtl="0" algn="l">
              <a:lnSpc>
                <a:spcPct val="90000"/>
              </a:lnSpc>
              <a:spcBef>
                <a:spcPts val="1000"/>
              </a:spcBef>
              <a:spcAft>
                <a:spcPts val="0"/>
              </a:spcAft>
              <a:buSzPts val="2000"/>
              <a:buFont typeface="Calibri"/>
              <a:buChar char="●"/>
            </a:pPr>
            <a:r>
              <a:rPr b="1" lang="en-GB" sz="2000">
                <a:solidFill>
                  <a:srgbClr val="0070C0"/>
                </a:solidFill>
                <a:latin typeface="Calibri"/>
                <a:ea typeface="Calibri"/>
                <a:cs typeface="Calibri"/>
                <a:sym typeface="Calibri"/>
              </a:rPr>
              <a:t>An activity/</a:t>
            </a:r>
            <a:r>
              <a:rPr lang="en-GB" sz="2000">
                <a:solidFill>
                  <a:srgbClr val="0070C0"/>
                </a:solidFill>
                <a:latin typeface="Calibri"/>
                <a:ea typeface="Calibri"/>
                <a:cs typeface="Calibri"/>
                <a:sym typeface="Calibri"/>
              </a:rPr>
              <a:t> </a:t>
            </a:r>
            <a:r>
              <a:rPr b="1" lang="en-GB" sz="2000">
                <a:solidFill>
                  <a:srgbClr val="0070C0"/>
                </a:solidFill>
                <a:latin typeface="Calibri"/>
                <a:ea typeface="Calibri"/>
                <a:cs typeface="Calibri"/>
                <a:sym typeface="Calibri"/>
              </a:rPr>
              <a:t>phases </a:t>
            </a:r>
            <a:r>
              <a:rPr lang="en-GB" sz="2000">
                <a:solidFill>
                  <a:schemeClr val="dk1"/>
                </a:solidFill>
                <a:latin typeface="Calibri"/>
                <a:ea typeface="Calibri"/>
                <a:cs typeface="Calibri"/>
                <a:sym typeface="Calibri"/>
              </a:rPr>
              <a:t>is a set of tasks that is performed toward a specific purpose</a:t>
            </a:r>
            <a:endParaRPr sz="2000">
              <a:solidFill>
                <a:schemeClr val="dk1"/>
              </a:solidFill>
              <a:latin typeface="Calibri"/>
              <a:ea typeface="Calibri"/>
              <a:cs typeface="Calibri"/>
              <a:sym typeface="Calibri"/>
            </a:endParaRPr>
          </a:p>
          <a:p>
            <a:pPr indent="-330200" lvl="1" marL="914400" rtl="0" algn="l">
              <a:lnSpc>
                <a:spcPct val="90000"/>
              </a:lnSpc>
              <a:spcBef>
                <a:spcPts val="0"/>
              </a:spcBef>
              <a:spcAft>
                <a:spcPts val="0"/>
              </a:spcAft>
              <a:buClr>
                <a:schemeClr val="dk1"/>
              </a:buClr>
              <a:buSzPts val="1600"/>
              <a:buFont typeface="Calibri"/>
              <a:buChar char="○"/>
            </a:pPr>
            <a:r>
              <a:rPr b="1" lang="en-GB" sz="1600">
                <a:solidFill>
                  <a:schemeClr val="dk1"/>
                </a:solidFill>
                <a:latin typeface="Calibri"/>
                <a:ea typeface="Calibri"/>
                <a:cs typeface="Calibri"/>
                <a:sym typeface="Calibri"/>
              </a:rPr>
              <a:t>Requirements elicitation </a:t>
            </a:r>
            <a:r>
              <a:rPr lang="en-GB" sz="1600">
                <a:solidFill>
                  <a:schemeClr val="dk1"/>
                </a:solidFill>
                <a:latin typeface="Calibri"/>
                <a:ea typeface="Calibri"/>
                <a:cs typeface="Calibri"/>
                <a:sym typeface="Calibri"/>
              </a:rPr>
              <a:t>is an activity whose purpose is to define with the client what the system will do.</a:t>
            </a:r>
            <a:endParaRPr sz="1600">
              <a:solidFill>
                <a:schemeClr val="dk1"/>
              </a:solidFill>
              <a:latin typeface="Calibri"/>
              <a:ea typeface="Calibri"/>
              <a:cs typeface="Calibri"/>
              <a:sym typeface="Calibri"/>
            </a:endParaRPr>
          </a:p>
          <a:p>
            <a:pPr indent="-330200" lvl="1" marL="914400" rtl="0" algn="l">
              <a:lnSpc>
                <a:spcPct val="90000"/>
              </a:lnSpc>
              <a:spcBef>
                <a:spcPts val="0"/>
              </a:spcBef>
              <a:spcAft>
                <a:spcPts val="0"/>
              </a:spcAft>
              <a:buClr>
                <a:schemeClr val="dk1"/>
              </a:buClr>
              <a:buSzPts val="1600"/>
              <a:buFont typeface="Calibri"/>
              <a:buChar char="○"/>
            </a:pPr>
            <a:r>
              <a:rPr b="1" lang="en-GB" sz="1600">
                <a:solidFill>
                  <a:schemeClr val="dk1"/>
                </a:solidFill>
                <a:latin typeface="Calibri"/>
                <a:ea typeface="Calibri"/>
                <a:cs typeface="Calibri"/>
                <a:sym typeface="Calibri"/>
              </a:rPr>
              <a:t>Delivery </a:t>
            </a:r>
            <a:r>
              <a:rPr lang="en-GB" sz="1600">
                <a:solidFill>
                  <a:schemeClr val="dk1"/>
                </a:solidFill>
                <a:latin typeface="Calibri"/>
                <a:ea typeface="Calibri"/>
                <a:cs typeface="Calibri"/>
                <a:sym typeface="Calibri"/>
              </a:rPr>
              <a:t>is an activity whose purpose is to install the system at an operational location.</a:t>
            </a:r>
            <a:endParaRPr sz="1600">
              <a:solidFill>
                <a:schemeClr val="dk1"/>
              </a:solidFill>
              <a:latin typeface="Calibri"/>
              <a:ea typeface="Calibri"/>
              <a:cs typeface="Calibri"/>
              <a:sym typeface="Calibri"/>
            </a:endParaRPr>
          </a:p>
          <a:p>
            <a:pPr indent="-330200" lvl="1" marL="914400" rtl="0" algn="l">
              <a:lnSpc>
                <a:spcPct val="90000"/>
              </a:lnSpc>
              <a:spcBef>
                <a:spcPts val="0"/>
              </a:spcBef>
              <a:spcAft>
                <a:spcPts val="0"/>
              </a:spcAft>
              <a:buClr>
                <a:schemeClr val="dk1"/>
              </a:buClr>
              <a:buSzPts val="1600"/>
              <a:buFont typeface="Calibri"/>
              <a:buChar char="○"/>
            </a:pPr>
            <a:r>
              <a:rPr b="1" lang="en-GB" sz="1600">
                <a:solidFill>
                  <a:schemeClr val="dk1"/>
                </a:solidFill>
                <a:latin typeface="Calibri"/>
                <a:ea typeface="Calibri"/>
                <a:cs typeface="Calibri"/>
                <a:sym typeface="Calibri"/>
              </a:rPr>
              <a:t>Management</a:t>
            </a:r>
            <a:r>
              <a:rPr lang="en-GB" sz="1600">
                <a:solidFill>
                  <a:schemeClr val="dk1"/>
                </a:solidFill>
                <a:latin typeface="Calibri"/>
                <a:ea typeface="Calibri"/>
                <a:cs typeface="Calibri"/>
                <a:sym typeface="Calibri"/>
              </a:rPr>
              <a:t> is an activity whose purpose is to monitor and control the project such that it meets its goals (e.g., deadline, quality, budget). Activities can be composed of other activities.</a:t>
            </a:r>
            <a:endParaRPr sz="1600">
              <a:solidFill>
                <a:schemeClr val="dk1"/>
              </a:solidFill>
              <a:latin typeface="Calibri"/>
              <a:ea typeface="Calibri"/>
              <a:cs typeface="Calibri"/>
              <a:sym typeface="Calibri"/>
            </a:endParaRPr>
          </a:p>
          <a:p>
            <a:pPr indent="-349250" lvl="0" marL="457200" rtl="0" algn="l">
              <a:lnSpc>
                <a:spcPct val="90000"/>
              </a:lnSpc>
              <a:spcBef>
                <a:spcPts val="0"/>
              </a:spcBef>
              <a:spcAft>
                <a:spcPts val="0"/>
              </a:spcAft>
              <a:buSzPts val="1900"/>
              <a:buFont typeface="Calibri"/>
              <a:buChar char="●"/>
            </a:pPr>
            <a:r>
              <a:rPr b="1" lang="en-GB" sz="1900">
                <a:solidFill>
                  <a:srgbClr val="0070C0"/>
                </a:solidFill>
                <a:latin typeface="Calibri"/>
                <a:ea typeface="Calibri"/>
                <a:cs typeface="Calibri"/>
                <a:sym typeface="Calibri"/>
              </a:rPr>
              <a:t>A task </a:t>
            </a:r>
            <a:r>
              <a:rPr lang="en-GB" sz="1900">
                <a:solidFill>
                  <a:schemeClr val="dk1"/>
                </a:solidFill>
                <a:latin typeface="Calibri"/>
                <a:ea typeface="Calibri"/>
                <a:cs typeface="Calibri"/>
                <a:sym typeface="Calibri"/>
              </a:rPr>
              <a:t>represents an atomic unit of work that can be managed: A manager assigns it to a developer, the developer carries it out, and the manager monitors the progress and completion of the task.</a:t>
            </a:r>
            <a:endParaRPr sz="1900">
              <a:solidFill>
                <a:schemeClr val="dk1"/>
              </a:solidFill>
              <a:latin typeface="Calibri"/>
              <a:ea typeface="Calibri"/>
              <a:cs typeface="Calibri"/>
              <a:sym typeface="Calibri"/>
            </a:endParaRPr>
          </a:p>
          <a:p>
            <a:pPr indent="-330200" lvl="1" marL="914400" rtl="0" algn="l">
              <a:lnSpc>
                <a:spcPct val="90000"/>
              </a:lnSpc>
              <a:spcBef>
                <a:spcPts val="0"/>
              </a:spcBef>
              <a:spcAft>
                <a:spcPts val="0"/>
              </a:spcAft>
              <a:buClr>
                <a:schemeClr val="dk1"/>
              </a:buClr>
              <a:buSzPts val="1600"/>
              <a:buFont typeface="Calibri"/>
              <a:buChar char="○"/>
            </a:pPr>
            <a:r>
              <a:rPr lang="en-GB" sz="1600">
                <a:solidFill>
                  <a:schemeClr val="dk1"/>
                </a:solidFill>
                <a:latin typeface="Calibri"/>
                <a:ea typeface="Calibri"/>
                <a:cs typeface="Calibri"/>
                <a:sym typeface="Calibri"/>
              </a:rPr>
              <a:t>Tasks consume resources, result in work products, and depend on work products produced by other tasks.</a:t>
            </a:r>
            <a:endParaRPr sz="1600">
              <a:solidFill>
                <a:schemeClr val="dk1"/>
              </a:solidFill>
              <a:latin typeface="Calibri"/>
              <a:ea typeface="Calibri"/>
              <a:cs typeface="Calibri"/>
              <a:sym typeface="Calibri"/>
            </a:endParaRPr>
          </a:p>
          <a:p>
            <a:pPr indent="-349250" lvl="0" marL="457200" rtl="0" algn="l">
              <a:lnSpc>
                <a:spcPct val="90000"/>
              </a:lnSpc>
              <a:spcBef>
                <a:spcPts val="0"/>
              </a:spcBef>
              <a:spcAft>
                <a:spcPts val="0"/>
              </a:spcAft>
              <a:buSzPts val="1900"/>
              <a:buFont typeface="Calibri"/>
              <a:buChar char="●"/>
            </a:pPr>
            <a:r>
              <a:rPr b="1" lang="en-GB" sz="1900">
                <a:solidFill>
                  <a:srgbClr val="0070C0"/>
                </a:solidFill>
                <a:latin typeface="Calibri"/>
                <a:ea typeface="Calibri"/>
                <a:cs typeface="Calibri"/>
                <a:sym typeface="Calibri"/>
              </a:rPr>
              <a:t>Resources </a:t>
            </a:r>
            <a:r>
              <a:rPr lang="en-GB" sz="1900">
                <a:solidFill>
                  <a:schemeClr val="dk1"/>
                </a:solidFill>
                <a:latin typeface="Calibri"/>
                <a:ea typeface="Calibri"/>
                <a:cs typeface="Calibri"/>
                <a:sym typeface="Calibri"/>
              </a:rPr>
              <a:t>are assets that are used to accomplish work.</a:t>
            </a:r>
            <a:endParaRPr sz="1900">
              <a:solidFill>
                <a:schemeClr val="dk1"/>
              </a:solidFill>
              <a:latin typeface="Calibri"/>
              <a:ea typeface="Calibri"/>
              <a:cs typeface="Calibri"/>
              <a:sym typeface="Calibri"/>
            </a:endParaRPr>
          </a:p>
          <a:p>
            <a:pPr indent="-330200" lvl="1" marL="914400" rtl="0" algn="l">
              <a:lnSpc>
                <a:spcPct val="90000"/>
              </a:lnSpc>
              <a:spcBef>
                <a:spcPts val="0"/>
              </a:spcBef>
              <a:spcAft>
                <a:spcPts val="0"/>
              </a:spcAft>
              <a:buClr>
                <a:schemeClr val="dk1"/>
              </a:buClr>
              <a:buSzPts val="1600"/>
              <a:buFont typeface="Calibri"/>
              <a:buChar char="○"/>
            </a:pPr>
            <a:r>
              <a:rPr lang="en-GB" sz="1600">
                <a:solidFill>
                  <a:schemeClr val="dk1"/>
                </a:solidFill>
                <a:latin typeface="Calibri"/>
                <a:ea typeface="Calibri"/>
                <a:cs typeface="Calibri"/>
                <a:sym typeface="Calibri"/>
              </a:rPr>
              <a:t>Resources include time, equipment, and labour. When planning a project, a manager breaks down the work into tasks and assigns them to resources</a:t>
            </a:r>
            <a:endParaRPr sz="16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39" name="Google Shape;139;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40" name="Google Shape;140;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146" name="Google Shape;146;p12"/>
          <p:cNvSpPr txBox="1"/>
          <p:nvPr>
            <p:ph idx="1" type="body"/>
          </p:nvPr>
        </p:nvSpPr>
        <p:spPr>
          <a:xfrm>
            <a:off x="173475" y="935800"/>
            <a:ext cx="8689800" cy="3715200"/>
          </a:xfrm>
          <a:prstGeom prst="rect">
            <a:avLst/>
          </a:prstGeom>
          <a:noFill/>
          <a:ln>
            <a:noFill/>
          </a:ln>
        </p:spPr>
        <p:txBody>
          <a:bodyPr anchorCtr="0" anchor="t" bIns="34275" lIns="68575" spcFirstLastPara="1" rIns="68575" wrap="square" tIns="34275">
            <a:noAutofit/>
          </a:bodyPr>
          <a:lstStyle/>
          <a:p>
            <a:pPr indent="-368300" lvl="0" marL="457200" rtl="0" algn="just">
              <a:lnSpc>
                <a:spcPct val="90000"/>
              </a:lnSpc>
              <a:spcBef>
                <a:spcPts val="1000"/>
              </a:spcBef>
              <a:spcAft>
                <a:spcPts val="0"/>
              </a:spcAft>
              <a:buSzPts val="2200"/>
              <a:buFont typeface="Calibri"/>
              <a:buChar char="●"/>
            </a:pPr>
            <a:r>
              <a:rPr lang="en-GB" sz="2200">
                <a:solidFill>
                  <a:srgbClr val="0070C0"/>
                </a:solidFill>
                <a:latin typeface="Calibri"/>
                <a:ea typeface="Calibri"/>
                <a:cs typeface="Calibri"/>
                <a:sym typeface="Calibri"/>
              </a:rPr>
              <a:t>TicketDistributor</a:t>
            </a:r>
            <a:r>
              <a:rPr lang="en-GB" sz="2200">
                <a:solidFill>
                  <a:schemeClr val="dk1"/>
                </a:solidFill>
                <a:latin typeface="Calibri"/>
                <a:ea typeface="Calibri"/>
                <a:cs typeface="Calibri"/>
                <a:sym typeface="Calibri"/>
              </a:rPr>
              <a:t> is a machine that distributes tickets for trains.</a:t>
            </a:r>
            <a:endParaRPr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rgbClr val="0070C0"/>
                </a:solidFill>
                <a:latin typeface="Calibri"/>
                <a:ea typeface="Calibri"/>
                <a:cs typeface="Calibri"/>
                <a:sym typeface="Calibri"/>
              </a:rPr>
              <a:t>Travelers</a:t>
            </a:r>
            <a:r>
              <a:rPr lang="en-GB" sz="2200">
                <a:solidFill>
                  <a:schemeClr val="dk1"/>
                </a:solidFill>
                <a:latin typeface="Calibri"/>
                <a:ea typeface="Calibri"/>
                <a:cs typeface="Calibri"/>
                <a:sym typeface="Calibri"/>
              </a:rPr>
              <a:t> have the option of selecting a ticket for a single trip or for multiple trips, or selecting a time card for a day or a week. </a:t>
            </a:r>
            <a:endParaRPr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The </a:t>
            </a:r>
            <a:r>
              <a:rPr lang="en-GB" sz="2200">
                <a:solidFill>
                  <a:srgbClr val="0070C0"/>
                </a:solidFill>
                <a:latin typeface="Calibri"/>
                <a:ea typeface="Calibri"/>
                <a:cs typeface="Calibri"/>
                <a:sym typeface="Calibri"/>
              </a:rPr>
              <a:t>TicketDistributor</a:t>
            </a:r>
            <a:r>
              <a:rPr lang="en-GB" sz="2200">
                <a:solidFill>
                  <a:schemeClr val="dk1"/>
                </a:solidFill>
                <a:latin typeface="Calibri"/>
                <a:ea typeface="Calibri"/>
                <a:cs typeface="Calibri"/>
                <a:sym typeface="Calibri"/>
              </a:rPr>
              <a:t> computes the price of the requested ticket based on the area in which the trip will take place and whether the traveller is a child or an adult.</a:t>
            </a:r>
            <a:endParaRPr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The </a:t>
            </a:r>
            <a:r>
              <a:rPr lang="en-GB" sz="2200">
                <a:solidFill>
                  <a:srgbClr val="0070C0"/>
                </a:solidFill>
                <a:latin typeface="Calibri"/>
                <a:ea typeface="Calibri"/>
                <a:cs typeface="Calibri"/>
                <a:sym typeface="Calibri"/>
              </a:rPr>
              <a:t>TicketDistributor</a:t>
            </a:r>
            <a:r>
              <a:rPr lang="en-GB" sz="2200">
                <a:solidFill>
                  <a:schemeClr val="dk1"/>
                </a:solidFill>
                <a:latin typeface="Calibri"/>
                <a:ea typeface="Calibri"/>
                <a:cs typeface="Calibri"/>
                <a:sym typeface="Calibri"/>
              </a:rPr>
              <a:t> must be able to handle several exceptions, such as travellers who do not complete the transaction, travellers who attempt to pay with large bills, and resource outages, such as running out of tickets, change, or power.</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47" name="Google Shape;147;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48" name="Google Shape;148;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600"/>
              <a:t>OO Software Engineering </a:t>
            </a:r>
            <a:endParaRPr b="1" sz="3600"/>
          </a:p>
        </p:txBody>
      </p:sp>
      <p:sp>
        <p:nvSpPr>
          <p:cNvPr id="154" name="Google Shape;154;p13"/>
          <p:cNvSpPr txBox="1"/>
          <p:nvPr>
            <p:ph idx="1" type="body"/>
          </p:nvPr>
        </p:nvSpPr>
        <p:spPr>
          <a:xfrm>
            <a:off x="312104" y="839784"/>
            <a:ext cx="8689800" cy="3715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3000">
                <a:solidFill>
                  <a:srgbClr val="0070C0"/>
                </a:solidFill>
                <a:latin typeface="Calibri"/>
                <a:ea typeface="Calibri"/>
                <a:cs typeface="Calibri"/>
                <a:sym typeface="Calibri"/>
              </a:rPr>
              <a:t>Steps to be followed while designing the system requirements</a:t>
            </a:r>
            <a:endParaRPr b="1" sz="3000">
              <a:solidFill>
                <a:srgbClr val="0070C0"/>
              </a:solidFill>
              <a:latin typeface="Calibri"/>
              <a:ea typeface="Calibri"/>
              <a:cs typeface="Calibri"/>
              <a:sym typeface="Calibri"/>
            </a:endParaRPr>
          </a:p>
          <a:p>
            <a:pPr indent="-381000" lvl="0" marL="457200" rtl="0" algn="l">
              <a:lnSpc>
                <a:spcPct val="90000"/>
              </a:lnSpc>
              <a:spcBef>
                <a:spcPts val="500"/>
              </a:spcBef>
              <a:spcAft>
                <a:spcPts val="0"/>
              </a:spcAft>
              <a:buClr>
                <a:srgbClr val="0070C0"/>
              </a:buClr>
              <a:buSzPts val="2400"/>
              <a:buFont typeface="Calibri"/>
              <a:buChar char="●"/>
            </a:pPr>
            <a:r>
              <a:rPr b="1" lang="en-GB" sz="2400">
                <a:solidFill>
                  <a:srgbClr val="0070C0"/>
                </a:solidFill>
                <a:latin typeface="Calibri"/>
                <a:ea typeface="Calibri"/>
                <a:cs typeface="Calibri"/>
                <a:sym typeface="Calibri"/>
              </a:rPr>
              <a:t>Identify roles &amp; responsibilities of various stakeholders</a:t>
            </a:r>
            <a:endParaRPr b="1" sz="2400">
              <a:solidFill>
                <a:srgbClr val="0070C0"/>
              </a:solidFill>
              <a:latin typeface="Calibri"/>
              <a:ea typeface="Calibri"/>
              <a:cs typeface="Calibri"/>
              <a:sym typeface="Calibri"/>
            </a:endParaRPr>
          </a:p>
          <a:p>
            <a:pPr indent="-387350" lvl="0" marL="457200" rtl="0" algn="l">
              <a:lnSpc>
                <a:spcPct val="90000"/>
              </a:lnSpc>
              <a:spcBef>
                <a:spcPts val="0"/>
              </a:spcBef>
              <a:spcAft>
                <a:spcPts val="0"/>
              </a:spcAft>
              <a:buClr>
                <a:srgbClr val="0070C0"/>
              </a:buClr>
              <a:buSzPts val="2500"/>
              <a:buFont typeface="Calibri"/>
              <a:buChar char="●"/>
            </a:pPr>
            <a:r>
              <a:rPr b="1" lang="en-GB" sz="2500">
                <a:solidFill>
                  <a:srgbClr val="0070C0"/>
                </a:solidFill>
                <a:latin typeface="Calibri"/>
                <a:ea typeface="Calibri"/>
                <a:cs typeface="Calibri"/>
                <a:sym typeface="Calibri"/>
              </a:rPr>
              <a:t>Identify the various work products </a:t>
            </a:r>
            <a:endParaRPr b="1" sz="2500">
              <a:solidFill>
                <a:srgbClr val="0070C0"/>
              </a:solidFill>
              <a:latin typeface="Calibri"/>
              <a:ea typeface="Calibri"/>
              <a:cs typeface="Calibri"/>
              <a:sym typeface="Calibri"/>
            </a:endParaRPr>
          </a:p>
          <a:p>
            <a:pPr indent="-387350" lvl="0" marL="457200" rtl="0" algn="l">
              <a:lnSpc>
                <a:spcPct val="90000"/>
              </a:lnSpc>
              <a:spcBef>
                <a:spcPts val="0"/>
              </a:spcBef>
              <a:spcAft>
                <a:spcPts val="0"/>
              </a:spcAft>
              <a:buClr>
                <a:srgbClr val="0070C0"/>
              </a:buClr>
              <a:buSzPts val="2500"/>
              <a:buFont typeface="Calibri"/>
              <a:buChar char="●"/>
            </a:pPr>
            <a:r>
              <a:rPr b="1" lang="en-GB" sz="2500">
                <a:solidFill>
                  <a:srgbClr val="0070C0"/>
                </a:solidFill>
                <a:latin typeface="Calibri"/>
                <a:ea typeface="Calibri"/>
                <a:cs typeface="Calibri"/>
                <a:sym typeface="Calibri"/>
              </a:rPr>
              <a:t>Identify various activities, tasks &amp; resources</a:t>
            </a:r>
            <a:endParaRPr b="1" sz="2500">
              <a:solidFill>
                <a:srgbClr val="0070C0"/>
              </a:solidFill>
              <a:latin typeface="Calibri"/>
              <a:ea typeface="Calibri"/>
              <a:cs typeface="Calibri"/>
              <a:sym typeface="Calibri"/>
            </a:endParaRPr>
          </a:p>
          <a:p>
            <a:pPr indent="-387350" lvl="0" marL="457200" rtl="0" algn="l">
              <a:lnSpc>
                <a:spcPct val="90000"/>
              </a:lnSpc>
              <a:spcBef>
                <a:spcPts val="0"/>
              </a:spcBef>
              <a:spcAft>
                <a:spcPts val="0"/>
              </a:spcAft>
              <a:buClr>
                <a:srgbClr val="0070C0"/>
              </a:buClr>
              <a:buSzPts val="2500"/>
              <a:buFont typeface="Calibri"/>
              <a:buChar char="●"/>
            </a:pPr>
            <a:r>
              <a:rPr b="1" lang="en-GB" sz="2500">
                <a:solidFill>
                  <a:srgbClr val="0070C0"/>
                </a:solidFill>
                <a:latin typeface="Calibri"/>
                <a:ea typeface="Calibri"/>
                <a:cs typeface="Calibri"/>
                <a:sym typeface="Calibri"/>
              </a:rPr>
              <a:t>Identify Requirements</a:t>
            </a:r>
            <a:endParaRPr b="1" sz="2500">
              <a:solidFill>
                <a:srgbClr val="0070C0"/>
              </a:solidFill>
              <a:latin typeface="Calibri"/>
              <a:ea typeface="Calibri"/>
              <a:cs typeface="Calibri"/>
              <a:sym typeface="Calibri"/>
            </a:endParaRPr>
          </a:p>
          <a:p>
            <a:pPr indent="0" lvl="0" marL="457200" rtl="0" algn="l">
              <a:lnSpc>
                <a:spcPct val="90000"/>
              </a:lnSpc>
              <a:spcBef>
                <a:spcPts val="1000"/>
              </a:spcBef>
              <a:spcAft>
                <a:spcPts val="0"/>
              </a:spcAft>
              <a:buSzPts val="1400"/>
              <a:buNone/>
            </a:pPr>
            <a:r>
              <a:t/>
            </a:r>
            <a:endParaRPr b="1" sz="20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55" name="Google Shape;155;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56" name="Google Shape;156;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sample</a:t>
            </a:r>
            <a:r>
              <a:rPr lang="en-GB" sz="3600"/>
              <a:t> </a:t>
            </a:r>
            <a:endParaRPr b="1" sz="3600"/>
          </a:p>
        </p:txBody>
      </p:sp>
      <p:sp>
        <p:nvSpPr>
          <p:cNvPr id="162" name="Google Shape;162;p14"/>
          <p:cNvSpPr txBox="1"/>
          <p:nvPr>
            <p:ph idx="1" type="body"/>
          </p:nvPr>
        </p:nvSpPr>
        <p:spPr>
          <a:xfrm>
            <a:off x="173475" y="935800"/>
            <a:ext cx="8689800" cy="3715200"/>
          </a:xfrm>
          <a:prstGeom prst="rect">
            <a:avLst/>
          </a:prstGeom>
          <a:noFill/>
          <a:ln>
            <a:noFill/>
          </a:ln>
        </p:spPr>
        <p:txBody>
          <a:bodyPr anchorCtr="0" anchor="t" bIns="34275" lIns="68575" spcFirstLastPara="1" rIns="68575" wrap="square" tIns="34275">
            <a:noAutofit/>
          </a:bodyPr>
          <a:lstStyle/>
          <a:p>
            <a:pPr indent="-368300" lvl="0" marL="457200" rtl="0" algn="just">
              <a:lnSpc>
                <a:spcPct val="90000"/>
              </a:lnSpc>
              <a:spcBef>
                <a:spcPts val="1000"/>
              </a:spcBef>
              <a:spcAft>
                <a:spcPts val="0"/>
              </a:spcAft>
              <a:buSzPts val="2200"/>
              <a:buFont typeface="Calibri"/>
              <a:buChar char="●"/>
            </a:pPr>
            <a:r>
              <a:rPr lang="en-GB" sz="2200">
                <a:solidFill>
                  <a:srgbClr val="0070C0"/>
                </a:solidFill>
                <a:latin typeface="Calibri"/>
                <a:ea typeface="Calibri"/>
                <a:cs typeface="Calibri"/>
                <a:sym typeface="Calibri"/>
              </a:rPr>
              <a:t>Write the different people and their roles &amp; responsibilities in the TicketDistributor system</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63" name="Google Shape;163;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64" name="Google Shape;164;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170" name="Google Shape;170;p15"/>
          <p:cNvSpPr txBox="1"/>
          <p:nvPr>
            <p:ph idx="1" type="body"/>
          </p:nvPr>
        </p:nvSpPr>
        <p:spPr>
          <a:xfrm>
            <a:off x="136325" y="615850"/>
            <a:ext cx="8689800" cy="3715200"/>
          </a:xfrm>
          <a:prstGeom prst="rect">
            <a:avLst/>
          </a:prstGeom>
          <a:noFill/>
          <a:ln>
            <a:noFill/>
          </a:ln>
        </p:spPr>
        <p:txBody>
          <a:bodyPr anchorCtr="0" anchor="t" bIns="34275" lIns="68575" spcFirstLastPara="1" rIns="68575" wrap="square" tIns="34275">
            <a:noAutofit/>
          </a:bodyPr>
          <a:lstStyle/>
          <a:p>
            <a:pPr indent="-368300" lvl="0" marL="457200" rtl="0" algn="just">
              <a:lnSpc>
                <a:spcPct val="90000"/>
              </a:lnSpc>
              <a:spcBef>
                <a:spcPts val="1000"/>
              </a:spcBef>
              <a:spcAft>
                <a:spcPts val="0"/>
              </a:spcAft>
              <a:buSzPts val="2200"/>
              <a:buFont typeface="Calibri"/>
              <a:buChar char="●"/>
            </a:pPr>
            <a:r>
              <a:rPr lang="en-GB" sz="2200">
                <a:solidFill>
                  <a:srgbClr val="0070C0"/>
                </a:solidFill>
                <a:latin typeface="Calibri"/>
                <a:ea typeface="Calibri"/>
                <a:cs typeface="Calibri"/>
                <a:sym typeface="Calibri"/>
              </a:rPr>
              <a:t>The different people and their roles &amp; responsibilities in the TicketDistributor system</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71" name="Google Shape;171;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72" name="Google Shape;172;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173" name="Google Shape;173;p15"/>
          <p:cNvGraphicFramePr/>
          <p:nvPr/>
        </p:nvGraphicFramePr>
        <p:xfrm>
          <a:off x="504100" y="1372175"/>
          <a:ext cx="3000000" cy="3000000"/>
        </p:xfrm>
        <a:graphic>
          <a:graphicData uri="http://schemas.openxmlformats.org/drawingml/2006/table">
            <a:tbl>
              <a:tblPr>
                <a:noFill/>
                <a:tableStyleId>{8BDE4038-D77D-44B2-B627-7FD2DB003FAB}</a:tableStyleId>
              </a:tblPr>
              <a:tblGrid>
                <a:gridCol w="2084875"/>
                <a:gridCol w="1432275"/>
                <a:gridCol w="4618900"/>
              </a:tblGrid>
              <a:tr h="327550">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Role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Example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Responsibility</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Client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Train company</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client is responsible for providing the high-level requirements on the system and for defining the scope of the project (delivery date, budget, quality criteria).</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r>
              <a:tr h="10887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User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Travelers</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user is responsible for providing domain knowledge about current user tasks. Note that the client and the user are usually filled by different persons.</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r>
              <a:tr h="7487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Human factors specialist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HCI specialist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A human factors specialist is responsible for the usability of the system.</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179" name="Google Shape;179;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80" name="Google Shape;180;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181" name="Google Shape;181;p16"/>
          <p:cNvGraphicFramePr/>
          <p:nvPr/>
        </p:nvGraphicFramePr>
        <p:xfrm>
          <a:off x="474050" y="671875"/>
          <a:ext cx="3000000" cy="3000000"/>
        </p:xfrm>
        <a:graphic>
          <a:graphicData uri="http://schemas.openxmlformats.org/drawingml/2006/table">
            <a:tbl>
              <a:tblPr>
                <a:noFill/>
                <a:tableStyleId>{8BDE4038-D77D-44B2-B627-7FD2DB003FAB}</a:tableStyleId>
              </a:tblPr>
              <a:tblGrid>
                <a:gridCol w="1858675"/>
                <a:gridCol w="1604525"/>
                <a:gridCol w="5014625"/>
              </a:tblGrid>
              <a:tr h="327550">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Role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Example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Responsibility</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137935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Manager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Project manager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A manager is responsible for the work organization. This includes hiring staff, assigning them tasks, monitoring their progress, providing for their training, and generally managing the</a:t>
                      </a:r>
                      <a:endParaRPr sz="1600" u="none" cap="none" strike="noStrike">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resources provided by the client for a successful delivery.</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r>
              <a:tr h="12000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Developer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Analyst, tester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A developer is responsible for the construction of the system, including specification, design, implementation, and testing. In large projects, the developer role is further specialized.</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D5EA"/>
                    </a:solidFill>
                  </a:tcPr>
                </a:tc>
              </a:tr>
              <a:tr h="12000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Technical writer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technical writer is responsible for the documentation delivered to the client. A technical writer interviews developers, managers, and users to understand the system.</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187" name="Google Shape;187;p17"/>
          <p:cNvSpPr txBox="1"/>
          <p:nvPr>
            <p:ph idx="1" type="body"/>
          </p:nvPr>
        </p:nvSpPr>
        <p:spPr>
          <a:xfrm>
            <a:off x="136325" y="714150"/>
            <a:ext cx="8689800" cy="3715200"/>
          </a:xfrm>
          <a:prstGeom prst="rect">
            <a:avLst/>
          </a:prstGeom>
          <a:noFill/>
          <a:ln>
            <a:noFill/>
          </a:ln>
        </p:spPr>
        <p:txBody>
          <a:bodyPr anchorCtr="0" anchor="t" bIns="34275" lIns="68575" spcFirstLastPara="1" rIns="68575" wrap="square" tIns="34275">
            <a:noAutofit/>
          </a:bodyPr>
          <a:lstStyle/>
          <a:p>
            <a:pPr indent="-368300" lvl="0" marL="457200" rtl="0" algn="just">
              <a:lnSpc>
                <a:spcPct val="90000"/>
              </a:lnSpc>
              <a:spcBef>
                <a:spcPts val="1000"/>
              </a:spcBef>
              <a:spcAft>
                <a:spcPts val="0"/>
              </a:spcAft>
              <a:buSzPts val="2200"/>
              <a:buFont typeface="Calibri"/>
              <a:buChar char="●"/>
            </a:pPr>
            <a:r>
              <a:rPr lang="en-GB" sz="2200">
                <a:solidFill>
                  <a:srgbClr val="0070C0"/>
                </a:solidFill>
                <a:latin typeface="Calibri"/>
                <a:ea typeface="Calibri"/>
                <a:cs typeface="Calibri"/>
                <a:sym typeface="Calibri"/>
              </a:rPr>
              <a:t>Some sample work products</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88" name="Google Shape;18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89" name="Google Shape;189;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190" name="Google Shape;190;p17"/>
          <p:cNvGraphicFramePr/>
          <p:nvPr/>
        </p:nvGraphicFramePr>
        <p:xfrm>
          <a:off x="322875" y="1183275"/>
          <a:ext cx="3000000" cy="3000000"/>
        </p:xfrm>
        <a:graphic>
          <a:graphicData uri="http://schemas.openxmlformats.org/drawingml/2006/table">
            <a:tbl>
              <a:tblPr>
                <a:noFill/>
                <a:tableStyleId>{8BDE4038-D77D-44B2-B627-7FD2DB003FAB}</a:tableStyleId>
              </a:tblPr>
              <a:tblGrid>
                <a:gridCol w="1989350"/>
                <a:gridCol w="1477500"/>
                <a:gridCol w="5127875"/>
              </a:tblGrid>
              <a:tr h="3275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Work product</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Type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Description</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Specifications</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Deliverable</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specification describes the system from the user’s point of view. It is used as a contractual document between the project and the client. The TicketDistributor specification describes in detail how the system should appear to the traveler</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r>
              <a:tr h="1088775">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Operation Manual</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Deliverable</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operation manual for the TicketDistributor is used by the staff of the train company responsible for installing and configuring the TicketDistributor. Such a manual describes, for example, how to change the price of tickets and the structure of the network into zones.</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9EBF5"/>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196" name="Google Shape;196;p18"/>
          <p:cNvSpPr txBox="1"/>
          <p:nvPr>
            <p:ph idx="1" type="body"/>
          </p:nvPr>
        </p:nvSpPr>
        <p:spPr>
          <a:xfrm>
            <a:off x="136325" y="714150"/>
            <a:ext cx="8689800" cy="37152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1000"/>
              </a:spcBef>
              <a:spcAft>
                <a:spcPts val="0"/>
              </a:spcAft>
              <a:buSzPts val="1400"/>
              <a:buNone/>
            </a:pPr>
            <a:r>
              <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197" name="Google Shape;197;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98" name="Google Shape;198;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199" name="Google Shape;199;p18"/>
          <p:cNvGraphicFramePr/>
          <p:nvPr/>
        </p:nvGraphicFramePr>
        <p:xfrm>
          <a:off x="322875" y="1183275"/>
          <a:ext cx="3000000" cy="3000000"/>
        </p:xfrm>
        <a:graphic>
          <a:graphicData uri="http://schemas.openxmlformats.org/drawingml/2006/table">
            <a:tbl>
              <a:tblPr>
                <a:noFill/>
                <a:tableStyleId>{8BDE4038-D77D-44B2-B627-7FD2DB003FAB}</a:tableStyleId>
              </a:tblPr>
              <a:tblGrid>
                <a:gridCol w="1989350"/>
                <a:gridCol w="1477500"/>
                <a:gridCol w="5127875"/>
              </a:tblGrid>
              <a:tr h="3275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Work product</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Type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Description</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r>
              <a:tr h="1088775">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Status Report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E2F3"/>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Internal work</a:t>
                      </a:r>
                      <a:endParaRPr sz="16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product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E2F3"/>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A status report describes at a given time the tasks that have been completed and the tasks that are still in progress. The status report is produced for the manager, Alice, and is usually not seen by the train company.</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CFE2F3"/>
                    </a:solidFill>
                  </a:tcPr>
                </a:tc>
              </a:tr>
              <a:tr h="1088775">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Test A</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Internal work</a:t>
                      </a:r>
                      <a:endParaRPr sz="1600" u="none" cap="none" strike="noStrike">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product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just">
                        <a:lnSpc>
                          <a:spcPct val="100000"/>
                        </a:lnSpc>
                        <a:spcBef>
                          <a:spcPts val="0"/>
                        </a:spcBef>
                        <a:spcAft>
                          <a:spcPts val="0"/>
                        </a:spcAft>
                        <a:buClr>
                          <a:srgbClr val="000000"/>
                        </a:buClr>
                        <a:buSzPts val="1600"/>
                        <a:buFont typeface="Arial"/>
                        <a:buNone/>
                      </a:pPr>
                      <a:r>
                        <a:rPr lang="en-GB" sz="1600" u="none" cap="none" strike="noStrike">
                          <a:latin typeface="Calibri"/>
                          <a:ea typeface="Calibri"/>
                          <a:cs typeface="Calibri"/>
                          <a:sym typeface="Calibri"/>
                        </a:rPr>
                        <a:t>The test plans and results are produced by the tester, Zoe. These documents track the known defects in the prototype TicketDistributor and their state of repair. These documents are usually not shared with the client.</a:t>
                      </a:r>
                      <a:endParaRPr sz="16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205" name="Google Shape;205;p19"/>
          <p:cNvSpPr txBox="1"/>
          <p:nvPr>
            <p:ph idx="1" type="body"/>
          </p:nvPr>
        </p:nvSpPr>
        <p:spPr>
          <a:xfrm>
            <a:off x="136325" y="714150"/>
            <a:ext cx="8689800" cy="3715200"/>
          </a:xfrm>
          <a:prstGeom prst="rect">
            <a:avLst/>
          </a:prstGeom>
          <a:noFill/>
          <a:ln>
            <a:noFill/>
          </a:ln>
        </p:spPr>
        <p:txBody>
          <a:bodyPr anchorCtr="0" anchor="t" bIns="34275" lIns="68575" spcFirstLastPara="1" rIns="68575" wrap="square" tIns="34275">
            <a:noAutofit/>
          </a:bodyPr>
          <a:lstStyle/>
          <a:p>
            <a:pPr indent="-368300" lvl="0" marL="457200" rtl="0" algn="just">
              <a:lnSpc>
                <a:spcPct val="90000"/>
              </a:lnSpc>
              <a:spcBef>
                <a:spcPts val="0"/>
              </a:spcBef>
              <a:spcAft>
                <a:spcPts val="0"/>
              </a:spcAft>
              <a:buSzPts val="2200"/>
              <a:buFont typeface="Calibri"/>
              <a:buChar char="●"/>
            </a:pPr>
            <a:r>
              <a:rPr lang="en-GB" sz="2200">
                <a:solidFill>
                  <a:srgbClr val="0070C0"/>
                </a:solidFill>
                <a:latin typeface="Calibri"/>
                <a:ea typeface="Calibri"/>
                <a:cs typeface="Calibri"/>
                <a:sym typeface="Calibri"/>
              </a:rPr>
              <a:t>Activities, tasks, and resources for the TicketDistributor project.</a:t>
            </a:r>
            <a:endParaRPr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206" name="Google Shape;206;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07" name="Google Shape;207;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208" name="Google Shape;208;p19"/>
          <p:cNvGraphicFramePr/>
          <p:nvPr/>
        </p:nvGraphicFramePr>
        <p:xfrm>
          <a:off x="318138" y="1504200"/>
          <a:ext cx="3000000" cy="3000000"/>
        </p:xfrm>
        <a:graphic>
          <a:graphicData uri="http://schemas.openxmlformats.org/drawingml/2006/table">
            <a:tbl>
              <a:tblPr>
                <a:noFill/>
                <a:tableStyleId>{8BDE4038-D77D-44B2-B627-7FD2DB003FAB}</a:tableStyleId>
              </a:tblPr>
              <a:tblGrid>
                <a:gridCol w="1989350"/>
                <a:gridCol w="1477500"/>
                <a:gridCol w="5127875"/>
              </a:tblGrid>
              <a:tr h="3275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Work product</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Type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Description</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Requirements elicitation</a:t>
                      </a:r>
                      <a:endParaRPr b="1"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just">
                        <a:lnSpc>
                          <a:spcPct val="115000"/>
                        </a:lnSpc>
                        <a:spcBef>
                          <a:spcPts val="0"/>
                        </a:spcBef>
                        <a:spcAft>
                          <a:spcPts val="0"/>
                        </a:spcAft>
                        <a:buClr>
                          <a:srgbClr val="000000"/>
                        </a:buClr>
                        <a:buSzPts val="1400"/>
                        <a:buFont typeface="Arial"/>
                        <a:buNone/>
                      </a:pPr>
                      <a:r>
                        <a:rPr b="1" lang="en-GB" sz="1400" u="none" cap="none" strike="noStrike">
                          <a:solidFill>
                            <a:srgbClr val="FFFFFF"/>
                          </a:solidFill>
                          <a:latin typeface="Calibri"/>
                          <a:ea typeface="Calibri"/>
                          <a:cs typeface="Calibri"/>
                          <a:sym typeface="Calibri"/>
                        </a:rPr>
                        <a:t>Activity</a:t>
                      </a:r>
                      <a:endParaRPr b="1" sz="14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The requirements elicitation activity includes obtaining and validating requirements and domain knowledge from the client and the users. </a:t>
                      </a:r>
                      <a:endParaRPr b="1" sz="14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The requirements elicitation activity produces the specification work product</a:t>
                      </a:r>
                      <a:endParaRPr b="1"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Develop “Out of Change”</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test case for</a:t>
                      </a:r>
                      <a:endParaRPr sz="14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TicketDistributor</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just">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Task</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This task, assigned to the tester focuses on verifying the behaviour of the ticket distributor when it runs out of money and cannot give the correct change back to the user. This activity includes specifying the environment of the test, the sequence of inputs to be entered, and the expected outputs.</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TicketDistributor a case study</a:t>
            </a:r>
            <a:endParaRPr b="1" sz="3600"/>
          </a:p>
        </p:txBody>
      </p:sp>
      <p:sp>
        <p:nvSpPr>
          <p:cNvPr id="214" name="Google Shape;214;p20"/>
          <p:cNvSpPr txBox="1"/>
          <p:nvPr>
            <p:ph idx="1" type="body"/>
          </p:nvPr>
        </p:nvSpPr>
        <p:spPr>
          <a:xfrm>
            <a:off x="136325" y="714150"/>
            <a:ext cx="8689800" cy="37152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lang="en-GB" sz="2200">
                <a:solidFill>
                  <a:srgbClr val="0070C0"/>
                </a:solidFill>
                <a:latin typeface="Calibri"/>
                <a:ea typeface="Calibri"/>
                <a:cs typeface="Calibri"/>
                <a:sym typeface="Calibri"/>
              </a:rPr>
              <a:t>Activities, tasks, and resources for the TicketDistributor project.:</a:t>
            </a:r>
            <a:endParaRPr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215" name="Google Shape;215;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16" name="Google Shape;216;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217" name="Google Shape;217;p20"/>
          <p:cNvGraphicFramePr/>
          <p:nvPr/>
        </p:nvGraphicFramePr>
        <p:xfrm>
          <a:off x="296174" y="1410358"/>
          <a:ext cx="3000000" cy="3000000"/>
        </p:xfrm>
        <a:graphic>
          <a:graphicData uri="http://schemas.openxmlformats.org/drawingml/2006/table">
            <a:tbl>
              <a:tblPr>
                <a:noFill/>
                <a:tableStyleId>{8BDE4038-D77D-44B2-B627-7FD2DB003FAB}</a:tableStyleId>
              </a:tblPr>
              <a:tblGrid>
                <a:gridCol w="1989350"/>
                <a:gridCol w="1477500"/>
                <a:gridCol w="5127875"/>
              </a:tblGrid>
              <a:tr h="32755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Work product</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Type</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solidFill>
                            <a:srgbClr val="FFFFFF"/>
                          </a:solidFill>
                          <a:latin typeface="Calibri"/>
                          <a:ea typeface="Calibri"/>
                          <a:cs typeface="Calibri"/>
                          <a:sym typeface="Calibri"/>
                        </a:rPr>
                        <a:t>Description</a:t>
                      </a:r>
                      <a:endParaRPr b="1" sz="16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Review “Access Online</a:t>
                      </a:r>
                      <a:endParaRPr b="1" sz="14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Help” use case for usability</a:t>
                      </a:r>
                      <a:endParaRPr b="1"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just">
                        <a:lnSpc>
                          <a:spcPct val="115000"/>
                        </a:lnSpc>
                        <a:spcBef>
                          <a:spcPts val="0"/>
                        </a:spcBef>
                        <a:spcAft>
                          <a:spcPts val="0"/>
                        </a:spcAft>
                        <a:buClr>
                          <a:srgbClr val="000000"/>
                        </a:buClr>
                        <a:buSzPts val="1400"/>
                        <a:buFont typeface="Arial"/>
                        <a:buNone/>
                      </a:pPr>
                      <a:r>
                        <a:rPr b="1" lang="en-GB" sz="1400" u="none" cap="none" strike="noStrike">
                          <a:solidFill>
                            <a:srgbClr val="FFFFFF"/>
                          </a:solidFill>
                          <a:latin typeface="Calibri"/>
                          <a:ea typeface="Calibri"/>
                          <a:cs typeface="Calibri"/>
                          <a:sym typeface="Calibri"/>
                        </a:rPr>
                        <a:t>Task</a:t>
                      </a:r>
                      <a:endParaRPr b="1" sz="1400" u="none" cap="none" strike="noStrike">
                        <a:solidFill>
                          <a:srgbClr val="FFFFFF"/>
                        </a:solidFill>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This task, assigned to the human factors specialist focuses on detecting usability issues in accessing the online help features of the system.</a:t>
                      </a:r>
                      <a:endParaRPr b="1" sz="1400" u="none" cap="none" strike="noStrike">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400"/>
                        <a:buFont typeface="Arial"/>
                        <a:buNone/>
                      </a:pPr>
                      <a:r>
                        <a:rPr b="1" lang="en-GB" sz="1400" u="none" cap="none" strike="noStrike">
                          <a:latin typeface="Calibri"/>
                          <a:ea typeface="Calibri"/>
                          <a:cs typeface="Calibri"/>
                          <a:sym typeface="Calibri"/>
                        </a:rPr>
                        <a:t>The tariff database includes an example of tariff structure with a train network plan. This example is a resource provided by the client for requirements and testing.</a:t>
                      </a:r>
                      <a:endParaRPr b="1"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1088775">
                <a:tc>
                  <a:txBody>
                    <a:bodyPr/>
                    <a:lstStyle/>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Tariff Database</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just">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Resource</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c>
                  <a:txBody>
                    <a:bodyPr/>
                    <a:lstStyle/>
                    <a:p>
                      <a:pPr indent="0" lvl="0" marL="0" marR="0" rtl="0" algn="l">
                        <a:lnSpc>
                          <a:spcPct val="115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The tariff database includes an example of tariff structure with a train network plan. This example is a resource provided by the client for requirements and testing.</a:t>
                      </a:r>
                      <a:endParaRPr sz="1400" u="none" cap="none" strike="noStrike">
                        <a:latin typeface="Calibri"/>
                        <a:ea typeface="Calibri"/>
                        <a:cs typeface="Calibri"/>
                        <a:sym typeface="Calibri"/>
                      </a:endParaRPr>
                    </a:p>
                  </a:txBody>
                  <a:tcPr marT="45725" marB="45725" marR="91450" marL="91450">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FD5EA"/>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a:t>
            </a:r>
            <a:endParaRPr b="1" sz="3600"/>
          </a:p>
        </p:txBody>
      </p:sp>
      <p:sp>
        <p:nvSpPr>
          <p:cNvPr id="223" name="Google Shape;223;p21"/>
          <p:cNvSpPr txBox="1"/>
          <p:nvPr>
            <p:ph idx="1" type="body"/>
          </p:nvPr>
        </p:nvSpPr>
        <p:spPr>
          <a:xfrm>
            <a:off x="136325" y="714150"/>
            <a:ext cx="8689800" cy="3715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Clr>
                <a:schemeClr val="dk1"/>
              </a:buClr>
              <a:buSzPts val="1100"/>
              <a:buFont typeface="Arial"/>
              <a:buNone/>
            </a:pPr>
            <a:r>
              <a:rPr b="1" lang="en-GB" sz="3000">
                <a:solidFill>
                  <a:srgbClr val="0070C0"/>
                </a:solidFill>
                <a:latin typeface="Calibri"/>
                <a:ea typeface="Calibri"/>
                <a:cs typeface="Calibri"/>
                <a:sym typeface="Calibri"/>
              </a:rPr>
              <a:t>Steps while designing the system requirements</a:t>
            </a:r>
            <a:endParaRPr b="1" sz="3000">
              <a:solidFill>
                <a:srgbClr val="0070C0"/>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b="1" lang="en-GB" sz="2400">
                <a:solidFill>
                  <a:srgbClr val="548235"/>
                </a:solidFill>
                <a:latin typeface="Calibri"/>
                <a:ea typeface="Calibri"/>
                <a:cs typeface="Calibri"/>
                <a:sym typeface="Calibri"/>
              </a:rPr>
              <a:t>Identify roles &amp; responsibilities of various stakeholders</a:t>
            </a:r>
            <a:endParaRPr b="1" sz="2400">
              <a:solidFill>
                <a:srgbClr val="548235"/>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b="1" lang="en-GB" sz="2500">
                <a:solidFill>
                  <a:srgbClr val="548235"/>
                </a:solidFill>
                <a:latin typeface="Calibri"/>
                <a:ea typeface="Calibri"/>
                <a:cs typeface="Calibri"/>
                <a:sym typeface="Calibri"/>
              </a:rPr>
              <a:t>Identify the various work products </a:t>
            </a:r>
            <a:endParaRPr b="1" sz="2500">
              <a:solidFill>
                <a:srgbClr val="548235"/>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b="1" lang="en-GB" sz="2500">
                <a:solidFill>
                  <a:srgbClr val="548235"/>
                </a:solidFill>
                <a:latin typeface="Calibri"/>
                <a:ea typeface="Calibri"/>
                <a:cs typeface="Calibri"/>
                <a:sym typeface="Calibri"/>
              </a:rPr>
              <a:t>Identify various activities, tasks &amp; resources</a:t>
            </a:r>
            <a:endParaRPr b="1" sz="2500">
              <a:solidFill>
                <a:srgbClr val="548235"/>
              </a:solidFill>
              <a:latin typeface="Calibri"/>
              <a:ea typeface="Calibri"/>
              <a:cs typeface="Calibri"/>
              <a:sym typeface="Calibri"/>
            </a:endParaRPr>
          </a:p>
          <a:p>
            <a:pPr indent="0" lvl="0" marL="457200" rtl="0" algn="l">
              <a:lnSpc>
                <a:spcPct val="90000"/>
              </a:lnSpc>
              <a:spcBef>
                <a:spcPts val="500"/>
              </a:spcBef>
              <a:spcAft>
                <a:spcPts val="0"/>
              </a:spcAft>
              <a:buClr>
                <a:schemeClr val="dk1"/>
              </a:buClr>
              <a:buSzPts val="1100"/>
              <a:buFont typeface="Arial"/>
              <a:buNone/>
            </a:pPr>
            <a:r>
              <a:rPr b="1" lang="en-GB" sz="2500">
                <a:solidFill>
                  <a:srgbClr val="0070C0"/>
                </a:solidFill>
                <a:latin typeface="Calibri"/>
                <a:ea typeface="Calibri"/>
                <a:cs typeface="Calibri"/>
                <a:sym typeface="Calibri"/>
              </a:rPr>
              <a:t>Identify Requirements</a:t>
            </a:r>
            <a:endParaRPr b="1" sz="25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224" name="Google Shape;224;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25" name="Google Shape;225;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a:t>
            </a:r>
            <a:endParaRPr b="1" sz="3600"/>
          </a:p>
        </p:txBody>
      </p:sp>
      <p:sp>
        <p:nvSpPr>
          <p:cNvPr id="231" name="Google Shape;231;p22"/>
          <p:cNvSpPr txBox="1"/>
          <p:nvPr>
            <p:ph idx="1" type="body"/>
          </p:nvPr>
        </p:nvSpPr>
        <p:spPr>
          <a:xfrm>
            <a:off x="318125" y="639505"/>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3000">
                <a:solidFill>
                  <a:srgbClr val="0070C0"/>
                </a:solidFill>
                <a:latin typeface="Calibri"/>
                <a:ea typeface="Calibri"/>
                <a:cs typeface="Calibri"/>
                <a:sym typeface="Calibri"/>
              </a:rPr>
              <a:t>Steps while designing the system requirements</a:t>
            </a:r>
            <a:endParaRPr b="1" sz="3000">
              <a:solidFill>
                <a:srgbClr val="0070C0"/>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1100"/>
              <a:buFont typeface="Arial"/>
              <a:buNone/>
            </a:pPr>
            <a:r>
              <a:rPr b="1" lang="en-GB" sz="2600">
                <a:solidFill>
                  <a:srgbClr val="0070C0"/>
                </a:solidFill>
                <a:latin typeface="Calibri"/>
                <a:ea typeface="Calibri"/>
                <a:cs typeface="Calibri"/>
                <a:sym typeface="Calibri"/>
              </a:rPr>
              <a:t>Identify requirements:</a:t>
            </a:r>
            <a:endParaRPr b="1" sz="26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rPr lang="en-GB" sz="2200">
                <a:solidFill>
                  <a:schemeClr val="dk1"/>
                </a:solidFill>
              </a:rPr>
              <a:t>•</a:t>
            </a:r>
            <a:r>
              <a:rPr lang="en-GB">
                <a:solidFill>
                  <a:schemeClr val="dk1"/>
                </a:solidFill>
                <a:latin typeface="Calibri"/>
                <a:ea typeface="Calibri"/>
                <a:cs typeface="Calibri"/>
                <a:sym typeface="Calibri"/>
              </a:rPr>
              <a:t>Requirements specify a set of features that the system must have.</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a:t>
            </a:r>
            <a:r>
              <a:rPr lang="en-GB">
                <a:solidFill>
                  <a:schemeClr val="dk1"/>
                </a:solidFill>
                <a:latin typeface="Calibri"/>
                <a:ea typeface="Calibri"/>
                <a:cs typeface="Calibri"/>
                <a:sym typeface="Calibri"/>
              </a:rPr>
              <a:t>A </a:t>
            </a:r>
            <a:r>
              <a:rPr b="1" lang="en-GB">
                <a:solidFill>
                  <a:srgbClr val="002060"/>
                </a:solidFill>
                <a:latin typeface="Calibri"/>
                <a:ea typeface="Calibri"/>
                <a:cs typeface="Calibri"/>
                <a:sym typeface="Calibri"/>
              </a:rPr>
              <a:t>functional requirement </a:t>
            </a:r>
            <a:r>
              <a:rPr lang="en-GB">
                <a:solidFill>
                  <a:schemeClr val="dk1"/>
                </a:solidFill>
                <a:latin typeface="Calibri"/>
                <a:ea typeface="Calibri"/>
                <a:cs typeface="Calibri"/>
                <a:sym typeface="Calibri"/>
              </a:rPr>
              <a:t>is a specification of a function that the system </a:t>
            </a:r>
            <a:r>
              <a:rPr b="1" lang="en-GB">
                <a:solidFill>
                  <a:srgbClr val="002060"/>
                </a:solidFill>
                <a:latin typeface="Calibri"/>
                <a:ea typeface="Calibri"/>
                <a:cs typeface="Calibri"/>
                <a:sym typeface="Calibri"/>
              </a:rPr>
              <a:t>must support</a:t>
            </a:r>
            <a:endParaRPr b="1">
              <a:solidFill>
                <a:srgbClr val="002060"/>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a:t>
            </a:r>
            <a:r>
              <a:rPr lang="en-GB">
                <a:solidFill>
                  <a:schemeClr val="dk1"/>
                </a:solidFill>
                <a:latin typeface="Calibri"/>
                <a:ea typeface="Calibri"/>
                <a:cs typeface="Calibri"/>
                <a:sym typeface="Calibri"/>
              </a:rPr>
              <a:t>A </a:t>
            </a:r>
            <a:r>
              <a:rPr b="1" lang="en-GB">
                <a:solidFill>
                  <a:srgbClr val="002060"/>
                </a:solidFill>
                <a:latin typeface="Calibri"/>
                <a:ea typeface="Calibri"/>
                <a:cs typeface="Calibri"/>
                <a:sym typeface="Calibri"/>
              </a:rPr>
              <a:t>nonfunctional requirement </a:t>
            </a:r>
            <a:r>
              <a:rPr lang="en-GB">
                <a:solidFill>
                  <a:schemeClr val="dk1"/>
                </a:solidFill>
                <a:latin typeface="Calibri"/>
                <a:ea typeface="Calibri"/>
                <a:cs typeface="Calibri"/>
                <a:sym typeface="Calibri"/>
              </a:rPr>
              <a:t>is </a:t>
            </a:r>
            <a:r>
              <a:rPr b="1" lang="en-GB">
                <a:solidFill>
                  <a:srgbClr val="002060"/>
                </a:solidFill>
                <a:latin typeface="Calibri"/>
                <a:ea typeface="Calibri"/>
                <a:cs typeface="Calibri"/>
                <a:sym typeface="Calibri"/>
              </a:rPr>
              <a:t>a constraint </a:t>
            </a:r>
            <a:r>
              <a:rPr lang="en-GB">
                <a:solidFill>
                  <a:schemeClr val="dk1"/>
                </a:solidFill>
                <a:latin typeface="Calibri"/>
                <a:ea typeface="Calibri"/>
                <a:cs typeface="Calibri"/>
                <a:sym typeface="Calibri"/>
              </a:rPr>
              <a:t>on the operation of the system that is not related directly to a function of the system.</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t/>
            </a:r>
            <a:endParaRPr>
              <a:solidFill>
                <a:schemeClr val="dk1"/>
              </a:solidFill>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a:t>
            </a:r>
            <a:r>
              <a:rPr lang="en-GB">
                <a:solidFill>
                  <a:schemeClr val="dk1"/>
                </a:solidFill>
                <a:latin typeface="Calibri"/>
                <a:ea typeface="Calibri"/>
                <a:cs typeface="Calibri"/>
                <a:sym typeface="Calibri"/>
              </a:rPr>
              <a:t>E.g. classify into functional requirements</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	1.</a:t>
            </a:r>
            <a:r>
              <a:rPr lang="en-GB">
                <a:solidFill>
                  <a:schemeClr val="dk1"/>
                </a:solidFill>
                <a:latin typeface="Calibri"/>
                <a:ea typeface="Calibri"/>
                <a:cs typeface="Calibri"/>
                <a:sym typeface="Calibri"/>
              </a:rPr>
              <a:t>The user must be able to purchase tickets</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	2.</a:t>
            </a:r>
            <a:r>
              <a:rPr lang="en-GB">
                <a:solidFill>
                  <a:schemeClr val="dk1"/>
                </a:solidFill>
                <a:latin typeface="Calibri"/>
                <a:ea typeface="Calibri"/>
                <a:cs typeface="Calibri"/>
                <a:sym typeface="Calibri"/>
              </a:rPr>
              <a:t>The user must be able to access tariff information</a:t>
            </a:r>
            <a:endParaRPr/>
          </a:p>
          <a:p>
            <a:pPr indent="-179999" lvl="0" marL="179999" rtl="0" algn="l">
              <a:lnSpc>
                <a:spcPct val="90000"/>
              </a:lnSpc>
              <a:spcBef>
                <a:spcPts val="0"/>
              </a:spcBef>
              <a:spcAft>
                <a:spcPts val="0"/>
              </a:spcAft>
              <a:buSzPts val="1100"/>
              <a:buNone/>
            </a:pPr>
            <a:r>
              <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SzPts val="1100"/>
              <a:buNone/>
            </a:pPr>
            <a:r>
              <a:rPr lang="en-GB">
                <a:solidFill>
                  <a:schemeClr val="dk1"/>
                </a:solidFill>
                <a:latin typeface="Calibri"/>
                <a:ea typeface="Calibri"/>
                <a:cs typeface="Calibri"/>
                <a:sym typeface="Calibri"/>
              </a:rPr>
              <a:t>non functional requirements</a:t>
            </a:r>
            <a:endParaRPr/>
          </a:p>
          <a:p>
            <a:pPr indent="-179999" lvl="0" marL="179999" rtl="0" algn="l">
              <a:lnSpc>
                <a:spcPct val="90000"/>
              </a:lnSpc>
              <a:spcBef>
                <a:spcPts val="0"/>
              </a:spcBef>
              <a:spcAft>
                <a:spcPts val="0"/>
              </a:spcAft>
              <a:buClr>
                <a:schemeClr val="dk1"/>
              </a:buClr>
              <a:buSzPts val="1100"/>
              <a:buFont typeface="Arial"/>
              <a:buNone/>
            </a:pPr>
            <a:r>
              <a:rPr lang="en-GB">
                <a:solidFill>
                  <a:schemeClr val="dk1"/>
                </a:solidFill>
              </a:rPr>
              <a:t>	3.</a:t>
            </a:r>
            <a:r>
              <a:rPr lang="en-GB">
                <a:solidFill>
                  <a:schemeClr val="dk1"/>
                </a:solidFill>
                <a:latin typeface="Calibri"/>
                <a:ea typeface="Calibri"/>
                <a:cs typeface="Calibri"/>
                <a:sym typeface="Calibri"/>
              </a:rPr>
              <a:t>The user must be provided feedback in less than one second</a:t>
            </a:r>
            <a:endParaRPr>
              <a:solidFill>
                <a:schemeClr val="dk1"/>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rPr lang="en-GB">
                <a:solidFill>
                  <a:schemeClr val="dk1"/>
                </a:solidFill>
              </a:rPr>
              <a:t>	4.</a:t>
            </a:r>
            <a:r>
              <a:rPr lang="en-GB">
                <a:solidFill>
                  <a:schemeClr val="dk1"/>
                </a:solidFill>
                <a:latin typeface="Calibri"/>
                <a:ea typeface="Calibri"/>
                <a:cs typeface="Calibri"/>
                <a:sym typeface="Calibri"/>
              </a:rPr>
              <a:t>The colours used in the interface should be consistent with the company</a:t>
            </a:r>
            <a:endParaRPr>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232" name="Google Shape;232;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33" name="Google Shape;233;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a:t>
            </a:r>
            <a:endParaRPr b="1" sz="3600"/>
          </a:p>
        </p:txBody>
      </p:sp>
      <p:sp>
        <p:nvSpPr>
          <p:cNvPr id="239" name="Google Shape;239;p23"/>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100"/>
              <a:buFont typeface="Arial"/>
              <a:buNone/>
            </a:pPr>
            <a:r>
              <a:rPr b="1" lang="en-GB" sz="2300">
                <a:solidFill>
                  <a:srgbClr val="0070C0"/>
                </a:solidFill>
                <a:latin typeface="Calibri"/>
                <a:ea typeface="Calibri"/>
                <a:cs typeface="Calibri"/>
                <a:sym typeface="Calibri"/>
              </a:rPr>
              <a:t>Notations, Methods &amp; Methodology</a:t>
            </a:r>
            <a:endParaRPr b="1" sz="2300">
              <a:solidFill>
                <a:srgbClr val="0070C0"/>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2300">
                <a:solidFill>
                  <a:schemeClr val="dk1"/>
                </a:solidFill>
              </a:rPr>
              <a:t>•</a:t>
            </a:r>
            <a:r>
              <a:rPr lang="en-GB" sz="2300">
                <a:solidFill>
                  <a:schemeClr val="dk1"/>
                </a:solidFill>
                <a:latin typeface="Calibri"/>
                <a:ea typeface="Calibri"/>
                <a:cs typeface="Calibri"/>
                <a:sym typeface="Calibri"/>
              </a:rPr>
              <a:t>A </a:t>
            </a:r>
            <a:r>
              <a:rPr b="1" lang="en-GB" sz="2300">
                <a:solidFill>
                  <a:srgbClr val="0070C0"/>
                </a:solidFill>
                <a:latin typeface="Calibri"/>
                <a:ea typeface="Calibri"/>
                <a:cs typeface="Calibri"/>
                <a:sym typeface="Calibri"/>
              </a:rPr>
              <a:t>notation</a:t>
            </a:r>
            <a:r>
              <a:rPr lang="en-GB" sz="2300">
                <a:solidFill>
                  <a:srgbClr val="0070C0"/>
                </a:solidFill>
                <a:latin typeface="Calibri"/>
                <a:ea typeface="Calibri"/>
                <a:cs typeface="Calibri"/>
                <a:sym typeface="Calibri"/>
              </a:rPr>
              <a:t> </a:t>
            </a:r>
            <a:r>
              <a:rPr lang="en-GB" sz="2300">
                <a:solidFill>
                  <a:schemeClr val="dk1"/>
                </a:solidFill>
                <a:latin typeface="Calibri"/>
                <a:ea typeface="Calibri"/>
                <a:cs typeface="Calibri"/>
                <a:sym typeface="Calibri"/>
              </a:rPr>
              <a:t>is a graphical or textual set of rules for representing a model.</a:t>
            </a:r>
            <a:endParaRPr sz="23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2300">
                <a:solidFill>
                  <a:schemeClr val="dk1"/>
                </a:solidFill>
              </a:rPr>
              <a:t>•</a:t>
            </a:r>
            <a:r>
              <a:rPr lang="en-GB" sz="2300">
                <a:solidFill>
                  <a:schemeClr val="dk1"/>
                </a:solidFill>
                <a:latin typeface="Calibri"/>
                <a:ea typeface="Calibri"/>
                <a:cs typeface="Calibri"/>
                <a:sym typeface="Calibri"/>
              </a:rPr>
              <a:t>A </a:t>
            </a:r>
            <a:r>
              <a:rPr b="1" lang="en-GB" sz="2300">
                <a:solidFill>
                  <a:srgbClr val="0070C0"/>
                </a:solidFill>
                <a:latin typeface="Calibri"/>
                <a:ea typeface="Calibri"/>
                <a:cs typeface="Calibri"/>
                <a:sym typeface="Calibri"/>
              </a:rPr>
              <a:t>method</a:t>
            </a:r>
            <a:r>
              <a:rPr lang="en-GB" sz="2300">
                <a:solidFill>
                  <a:schemeClr val="dk1"/>
                </a:solidFill>
                <a:latin typeface="Calibri"/>
                <a:ea typeface="Calibri"/>
                <a:cs typeface="Calibri"/>
                <a:sym typeface="Calibri"/>
              </a:rPr>
              <a:t> is a repeatable technique that specifies the steps involved in solving a specific problem.</a:t>
            </a:r>
            <a:endParaRPr sz="23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2300">
                <a:solidFill>
                  <a:schemeClr val="dk1"/>
                </a:solidFill>
              </a:rPr>
              <a:t>•</a:t>
            </a:r>
            <a:r>
              <a:rPr lang="en-GB" sz="2300">
                <a:solidFill>
                  <a:schemeClr val="dk1"/>
                </a:solidFill>
                <a:latin typeface="Calibri"/>
                <a:ea typeface="Calibri"/>
                <a:cs typeface="Calibri"/>
                <a:sym typeface="Calibri"/>
              </a:rPr>
              <a:t>A </a:t>
            </a:r>
            <a:r>
              <a:rPr b="1" lang="en-GB" sz="2300">
                <a:solidFill>
                  <a:srgbClr val="0070C0"/>
                </a:solidFill>
                <a:latin typeface="Calibri"/>
                <a:ea typeface="Calibri"/>
                <a:cs typeface="Calibri"/>
                <a:sym typeface="Calibri"/>
              </a:rPr>
              <a:t>methodology</a:t>
            </a:r>
            <a:r>
              <a:rPr lang="en-GB" sz="2300">
                <a:solidFill>
                  <a:schemeClr val="dk1"/>
                </a:solidFill>
                <a:latin typeface="Calibri"/>
                <a:ea typeface="Calibri"/>
                <a:cs typeface="Calibri"/>
                <a:sym typeface="Calibri"/>
              </a:rPr>
              <a:t> is a collection of methods for solving a class of problems and specifies how and when each method should be used.</a:t>
            </a:r>
            <a:endParaRPr sz="23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b="1" lang="en-GB" sz="2300">
                <a:solidFill>
                  <a:srgbClr val="0070C0"/>
                </a:solidFill>
                <a:latin typeface="Calibri"/>
                <a:ea typeface="Calibri"/>
                <a:cs typeface="Calibri"/>
                <a:sym typeface="Calibri"/>
              </a:rPr>
              <a:t>Different object-oriented methodologies  </a:t>
            </a:r>
            <a:endParaRPr b="1" sz="2300">
              <a:solidFill>
                <a:srgbClr val="0070C0"/>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Royce’s methodology</a:t>
            </a:r>
            <a:endParaRPr sz="19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The Object Modelling Technique (OMT)  Rumbaugh et al.</a:t>
            </a:r>
            <a:endParaRPr sz="19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The Booch methodology</a:t>
            </a:r>
            <a:endParaRPr sz="19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Catalysis </a:t>
            </a:r>
            <a:endParaRPr b="1" sz="30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2200">
              <a:solidFill>
                <a:srgbClr val="0070C0"/>
              </a:solidFill>
              <a:latin typeface="Calibri"/>
              <a:ea typeface="Calibri"/>
              <a:cs typeface="Calibri"/>
              <a:sym typeface="Calibri"/>
            </a:endParaRPr>
          </a:p>
        </p:txBody>
      </p:sp>
      <p:sp>
        <p:nvSpPr>
          <p:cNvPr id="240" name="Google Shape;240;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41" name="Google Shape;241;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47" name="Google Shape;247;p24"/>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a:solidFill>
                  <a:schemeClr val="dk1"/>
                </a:solidFill>
                <a:latin typeface="Calibri"/>
                <a:ea typeface="Calibri"/>
                <a:cs typeface="Calibri"/>
                <a:sym typeface="Calibri"/>
              </a:rPr>
              <a:t>Technical activities associated with object-oriented software engineering.</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Development activities deal with the complexity by constructing and validating models of the application domain or the system</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Development activities:</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Requirements Elicitation </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Analysis</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System Design</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Object Design</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Implementation</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Testing</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a:solidFill>
                <a:srgbClr val="0070C0"/>
              </a:solidFill>
              <a:latin typeface="Calibri"/>
              <a:ea typeface="Calibri"/>
              <a:cs typeface="Calibri"/>
              <a:sym typeface="Calibri"/>
            </a:endParaRPr>
          </a:p>
        </p:txBody>
      </p:sp>
      <p:sp>
        <p:nvSpPr>
          <p:cNvPr id="248" name="Google Shape;248;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49" name="Google Shape;249;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OMT (Rambaugh)</a:t>
            </a:r>
            <a:endParaRPr b="1" sz="3600"/>
          </a:p>
        </p:txBody>
      </p:sp>
      <p:sp>
        <p:nvSpPr>
          <p:cNvPr id="255" name="Google Shape;255;p25"/>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1600">
                <a:solidFill>
                  <a:srgbClr val="0070C0"/>
                </a:solidFill>
                <a:latin typeface="Calibri"/>
                <a:ea typeface="Calibri"/>
                <a:cs typeface="Calibri"/>
                <a:sym typeface="Calibri"/>
              </a:rPr>
              <a:t>OMT provides methods for three activities:</a:t>
            </a:r>
            <a:endParaRPr sz="16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b="1" lang="en-GB" sz="1600">
                <a:solidFill>
                  <a:srgbClr val="0070C0"/>
                </a:solidFill>
                <a:latin typeface="Calibri"/>
                <a:ea typeface="Calibri"/>
                <a:cs typeface="Calibri"/>
                <a:sym typeface="Calibri"/>
              </a:rPr>
              <a:t>Analysis</a:t>
            </a:r>
            <a:r>
              <a:rPr lang="en-GB" sz="1600">
                <a:solidFill>
                  <a:schemeClr val="dk1"/>
                </a:solidFill>
                <a:latin typeface="Calibri"/>
                <a:ea typeface="Calibri"/>
                <a:cs typeface="Calibri"/>
                <a:sym typeface="Calibri"/>
              </a:rPr>
              <a:t>, which focuses on formalizing the system requirements into an object model</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b="1" lang="en-GB" sz="1600">
                <a:solidFill>
                  <a:srgbClr val="0070C0"/>
                </a:solidFill>
                <a:latin typeface="Calibri"/>
                <a:ea typeface="Calibri"/>
                <a:cs typeface="Calibri"/>
                <a:sym typeface="Calibri"/>
              </a:rPr>
              <a:t>System Design</a:t>
            </a:r>
            <a:r>
              <a:rPr lang="en-GB" sz="1600">
                <a:solidFill>
                  <a:schemeClr val="dk1"/>
                </a:solidFill>
                <a:latin typeface="Calibri"/>
                <a:ea typeface="Calibri"/>
                <a:cs typeface="Calibri"/>
                <a:sym typeface="Calibri"/>
              </a:rPr>
              <a:t>, which focuses on strategic decisions, and</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b="1" lang="en-GB" sz="1600">
                <a:solidFill>
                  <a:srgbClr val="0070C0"/>
                </a:solidFill>
                <a:latin typeface="Calibri"/>
                <a:ea typeface="Calibri"/>
                <a:cs typeface="Calibri"/>
                <a:sym typeface="Calibri"/>
              </a:rPr>
              <a:t>Object Design</a:t>
            </a:r>
            <a:r>
              <a:rPr lang="en-GB" sz="1600">
                <a:solidFill>
                  <a:schemeClr val="dk1"/>
                </a:solidFill>
                <a:latin typeface="Calibri"/>
                <a:ea typeface="Calibri"/>
                <a:cs typeface="Calibri"/>
                <a:sym typeface="Calibri"/>
              </a:rPr>
              <a:t>, which transforms the analysis model into an object model that can be implemented.</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The OMT methodology </a:t>
            </a:r>
            <a:r>
              <a:rPr lang="en-GB" sz="1600" u="sng">
                <a:solidFill>
                  <a:schemeClr val="dk1"/>
                </a:solidFill>
                <a:latin typeface="Calibri"/>
                <a:ea typeface="Calibri"/>
                <a:cs typeface="Calibri"/>
                <a:sym typeface="Calibri"/>
              </a:rPr>
              <a:t>assumes that requirements have already been defined </a:t>
            </a:r>
            <a:r>
              <a:rPr lang="en-GB" sz="1600">
                <a:solidFill>
                  <a:schemeClr val="dk1"/>
                </a:solidFill>
                <a:latin typeface="Calibri"/>
                <a:ea typeface="Calibri"/>
                <a:cs typeface="Calibri"/>
                <a:sym typeface="Calibri"/>
              </a:rPr>
              <a:t>and does not provide methods for eliciting requirements.</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rgbClr val="0070C0"/>
                </a:solidFill>
                <a:latin typeface="Calibri"/>
                <a:ea typeface="Calibri"/>
                <a:cs typeface="Calibri"/>
                <a:sym typeface="Calibri"/>
              </a:rPr>
              <a:t>The Unified Software Development Process includes TWO activities:</a:t>
            </a:r>
            <a:endParaRPr sz="16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Analysis activity</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Design activity which includes System Design and Object Design</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Includes a Requirements Capture activity for eliciting and modelling requirements.</a:t>
            </a:r>
            <a:endParaRPr sz="1600">
              <a:solidFill>
                <a:schemeClr val="dk1"/>
              </a:solidFill>
            </a:endParaRPr>
          </a:p>
          <a:p>
            <a:pPr indent="0" lvl="0" marL="0" rtl="0" algn="l">
              <a:lnSpc>
                <a:spcPct val="90000"/>
              </a:lnSpc>
              <a:spcBef>
                <a:spcPts val="0"/>
              </a:spcBef>
              <a:spcAft>
                <a:spcPts val="0"/>
              </a:spcAft>
              <a:buSzPts val="1400"/>
              <a:buNone/>
            </a:pPr>
            <a:r>
              <a:rPr lang="en-GB" sz="1600">
                <a:solidFill>
                  <a:srgbClr val="0070C0"/>
                </a:solidFill>
                <a:latin typeface="Calibri"/>
                <a:ea typeface="Calibri"/>
                <a:cs typeface="Calibri"/>
                <a:sym typeface="Calibri"/>
              </a:rPr>
              <a:t>Catalysis:</a:t>
            </a:r>
            <a:endParaRPr sz="16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while using the same notations as the Unified Process, focuses more on reuse of design and code using patterns and frameworks.</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00">
              <a:solidFill>
                <a:schemeClr val="dk1"/>
              </a:solidFill>
            </a:endParaRPr>
          </a:p>
          <a:p>
            <a:pPr indent="0" lvl="0" marL="0" rtl="0" algn="l">
              <a:lnSpc>
                <a:spcPct val="90000"/>
              </a:lnSpc>
              <a:spcBef>
                <a:spcPts val="0"/>
              </a:spcBef>
              <a:spcAft>
                <a:spcPts val="0"/>
              </a:spcAft>
              <a:buSzPts val="1400"/>
              <a:buNone/>
            </a:pPr>
            <a:r>
              <a:rPr lang="en-GB" sz="1600">
                <a:solidFill>
                  <a:schemeClr val="dk1"/>
                </a:solidFill>
                <a:latin typeface="Calibri"/>
                <a:ea typeface="Calibri"/>
                <a:cs typeface="Calibri"/>
                <a:sym typeface="Calibri"/>
              </a:rPr>
              <a:t> All of these methodologies focus on dealing with complex systems</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6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6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6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6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1600">
              <a:solidFill>
                <a:srgbClr val="0070C0"/>
              </a:solidFill>
              <a:latin typeface="Calibri"/>
              <a:ea typeface="Calibri"/>
              <a:cs typeface="Calibri"/>
              <a:sym typeface="Calibri"/>
            </a:endParaRPr>
          </a:p>
        </p:txBody>
      </p:sp>
      <p:sp>
        <p:nvSpPr>
          <p:cNvPr id="256" name="Google Shape;256;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57" name="Google Shape;257;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58" name="Google Shape;258;p2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64" name="Google Shape;264;p26"/>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800">
                <a:solidFill>
                  <a:schemeClr val="dk1"/>
                </a:solidFill>
              </a:rPr>
              <a:t>•</a:t>
            </a:r>
            <a:r>
              <a:rPr lang="en-GB" sz="2800">
                <a:solidFill>
                  <a:schemeClr val="dk1"/>
                </a:solidFill>
                <a:latin typeface="Calibri"/>
                <a:ea typeface="Calibri"/>
                <a:cs typeface="Calibri"/>
                <a:sym typeface="Calibri"/>
              </a:rPr>
              <a:t>Development activities:</a:t>
            </a:r>
            <a:endParaRPr sz="2800">
              <a:solidFill>
                <a:schemeClr val="dk1"/>
              </a:solidFill>
              <a:latin typeface="Calibri"/>
              <a:ea typeface="Calibri"/>
              <a:cs typeface="Calibri"/>
              <a:sym typeface="Calibri"/>
            </a:endParaRPr>
          </a:p>
          <a:p>
            <a:pPr indent="0" lvl="0" marL="0" rtl="0" algn="l">
              <a:lnSpc>
                <a:spcPct val="90000"/>
              </a:lnSpc>
              <a:spcBef>
                <a:spcPts val="500"/>
              </a:spcBef>
              <a:spcAft>
                <a:spcPts val="0"/>
              </a:spcAft>
              <a:buSzPts val="1400"/>
              <a:buNone/>
            </a:pPr>
            <a:r>
              <a:rPr lang="en-GB" sz="2000">
                <a:solidFill>
                  <a:srgbClr val="0070C0"/>
                </a:solidFill>
                <a:latin typeface="Calibri"/>
                <a:ea typeface="Calibri"/>
                <a:cs typeface="Calibri"/>
                <a:sym typeface="Calibri"/>
              </a:rPr>
              <a:t>•</a:t>
            </a:r>
            <a:r>
              <a:rPr lang="en-GB" sz="2000">
                <a:solidFill>
                  <a:schemeClr val="dk1"/>
                </a:solidFill>
                <a:latin typeface="Calibri"/>
                <a:ea typeface="Calibri"/>
                <a:cs typeface="Calibri"/>
                <a:sym typeface="Calibri"/>
              </a:rPr>
              <a:t> </a:t>
            </a:r>
            <a:r>
              <a:rPr b="1" lang="en-GB" sz="2400">
                <a:solidFill>
                  <a:srgbClr val="0070C0"/>
                </a:solidFill>
                <a:latin typeface="Calibri"/>
                <a:ea typeface="Calibri"/>
                <a:cs typeface="Calibri"/>
                <a:sym typeface="Calibri"/>
              </a:rPr>
              <a:t>Requirements Elicitation </a:t>
            </a:r>
            <a:endParaRPr b="1" sz="2400">
              <a:solidFill>
                <a:srgbClr val="0070C0"/>
              </a:solidFill>
              <a:latin typeface="Calibri"/>
              <a:ea typeface="Calibri"/>
              <a:cs typeface="Calibri"/>
              <a:sym typeface="Calibri"/>
            </a:endParaRPr>
          </a:p>
          <a:p>
            <a:pPr indent="-359999" lvl="0" marL="540000" rtl="0" algn="just">
              <a:lnSpc>
                <a:spcPct val="90000"/>
              </a:lnSpc>
              <a:spcBef>
                <a:spcPts val="50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The client and developers define the purpose of the system.</a:t>
            </a:r>
            <a:endParaRPr sz="2000">
              <a:solidFill>
                <a:schemeClr val="dk1"/>
              </a:solidFill>
              <a:latin typeface="Calibri"/>
              <a:ea typeface="Calibri"/>
              <a:cs typeface="Calibri"/>
              <a:sym typeface="Calibri"/>
            </a:endParaRPr>
          </a:p>
          <a:p>
            <a:pPr indent="-359999" lvl="0" marL="540000" rtl="0" algn="just">
              <a:lnSpc>
                <a:spcPct val="90000"/>
              </a:lnSpc>
              <a:spcBef>
                <a:spcPts val="50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The result of this activity is a description of the system in terms of actors and use cases.</a:t>
            </a:r>
            <a:endParaRPr sz="2000">
              <a:solidFill>
                <a:schemeClr val="dk1"/>
              </a:solidFill>
              <a:latin typeface="Calibri"/>
              <a:ea typeface="Calibri"/>
              <a:cs typeface="Calibri"/>
              <a:sym typeface="Calibri"/>
            </a:endParaRPr>
          </a:p>
          <a:p>
            <a:pPr indent="-359999" lvl="0" marL="540000" rtl="0" algn="just">
              <a:lnSpc>
                <a:spcPct val="90000"/>
              </a:lnSpc>
              <a:spcBef>
                <a:spcPts val="50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Actors represent the external entities that interact with the system. </a:t>
            </a:r>
            <a:endParaRPr sz="2000">
              <a:solidFill>
                <a:schemeClr val="dk1"/>
              </a:solidFill>
              <a:latin typeface="Calibri"/>
              <a:ea typeface="Calibri"/>
              <a:cs typeface="Calibri"/>
              <a:sym typeface="Calibri"/>
            </a:endParaRPr>
          </a:p>
          <a:p>
            <a:pPr indent="-359999" lvl="0" marL="540000" rtl="0" algn="just">
              <a:lnSpc>
                <a:spcPct val="90000"/>
              </a:lnSpc>
              <a:spcBef>
                <a:spcPts val="500"/>
              </a:spcBef>
              <a:spcAft>
                <a:spcPts val="0"/>
              </a:spcAft>
              <a:buSzPts val="1400"/>
              <a:buNone/>
            </a:pPr>
            <a:r>
              <a:rPr lang="en-GB" sz="2000">
                <a:solidFill>
                  <a:schemeClr val="dk1"/>
                </a:solidFill>
                <a:latin typeface="Calibri"/>
                <a:ea typeface="Calibri"/>
                <a:cs typeface="Calibri"/>
                <a:sym typeface="Calibri"/>
              </a:rPr>
              <a:t>  Actors include roles such as end users, other computers the system needs to deal with (e.g., a central bank computer, a network), and the environment (e.g., a chemical process).</a:t>
            </a:r>
            <a:endParaRPr sz="2000">
              <a:solidFill>
                <a:schemeClr val="dk1"/>
              </a:solidFill>
              <a:latin typeface="Calibri"/>
              <a:ea typeface="Calibri"/>
              <a:cs typeface="Calibri"/>
              <a:sym typeface="Calibri"/>
            </a:endParaRPr>
          </a:p>
          <a:p>
            <a:pPr indent="-359999" lvl="0" marL="540000" rtl="0" algn="just">
              <a:lnSpc>
                <a:spcPct val="90000"/>
              </a:lnSpc>
              <a:spcBef>
                <a:spcPts val="50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Use cases are general sequences of events that describe all the possible actions between an actor and the system for a given piece of functionality. </a:t>
            </a:r>
            <a:endParaRPr sz="20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a:solidFill>
                <a:srgbClr val="0070C0"/>
              </a:solidFill>
              <a:latin typeface="Calibri"/>
              <a:ea typeface="Calibri"/>
              <a:cs typeface="Calibri"/>
              <a:sym typeface="Calibri"/>
            </a:endParaRPr>
          </a:p>
        </p:txBody>
      </p:sp>
      <p:sp>
        <p:nvSpPr>
          <p:cNvPr id="265" name="Google Shape;265;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66" name="Google Shape;266;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72" name="Google Shape;272;p27"/>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800">
                <a:solidFill>
                  <a:schemeClr val="dk1"/>
                </a:solidFill>
              </a:rPr>
              <a:t>•</a:t>
            </a:r>
            <a:r>
              <a:rPr lang="en-GB" sz="2800">
                <a:solidFill>
                  <a:schemeClr val="dk1"/>
                </a:solidFill>
                <a:latin typeface="Calibri"/>
                <a:ea typeface="Calibri"/>
                <a:cs typeface="Calibri"/>
                <a:sym typeface="Calibri"/>
              </a:rPr>
              <a:t>Development activities:</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rgbClr val="385723"/>
                </a:solidFill>
                <a:latin typeface="Calibri"/>
                <a:ea typeface="Calibri"/>
                <a:cs typeface="Calibri"/>
                <a:sym typeface="Calibri"/>
              </a:rPr>
              <a:t>•</a:t>
            </a:r>
            <a:r>
              <a:rPr lang="en-GB" sz="2000">
                <a:solidFill>
                  <a:srgbClr val="0070C0"/>
                </a:solidFill>
                <a:latin typeface="Calibri"/>
                <a:ea typeface="Calibri"/>
                <a:cs typeface="Calibri"/>
                <a:sym typeface="Calibri"/>
              </a:rPr>
              <a:t> </a:t>
            </a:r>
            <a:r>
              <a:rPr b="1" lang="en-GB" sz="2000">
                <a:solidFill>
                  <a:srgbClr val="385723"/>
                </a:solidFill>
                <a:latin typeface="Calibri"/>
                <a:ea typeface="Calibri"/>
                <a:cs typeface="Calibri"/>
                <a:sym typeface="Calibri"/>
              </a:rPr>
              <a:t>Requirement Elicitation</a:t>
            </a:r>
            <a:endParaRPr b="1" sz="20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400">
                <a:solidFill>
                  <a:schemeClr val="dk1"/>
                </a:solidFill>
              </a:rPr>
              <a:t>•</a:t>
            </a:r>
            <a:r>
              <a:rPr b="1" lang="en-GB" sz="2400">
                <a:solidFill>
                  <a:srgbClr val="0070C0"/>
                </a:solidFill>
                <a:latin typeface="Calibri"/>
                <a:ea typeface="Calibri"/>
                <a:cs typeface="Calibri"/>
                <a:sym typeface="Calibri"/>
              </a:rPr>
              <a:t>Analysis</a:t>
            </a:r>
            <a:endParaRPr b="1" sz="24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aim to produce a model of the system that is correct, complete, consistent, and unambiguous</a:t>
            </a:r>
            <a:endParaRPr sz="20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transform the use cases produced during requirements elicitation into an object model that completely describes the system</a:t>
            </a:r>
            <a:endParaRPr sz="20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discover ambiguities and inconsistencies in the use case model that they resolve with the client</a:t>
            </a:r>
            <a:endParaRPr sz="20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The result of analysis is a system model annotated with attributes, operations, and associations.</a:t>
            </a:r>
            <a:endParaRPr sz="20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The system model can be described in terms of its structure and its dynamic interoperation. </a:t>
            </a:r>
            <a:endParaRPr sz="20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t/>
            </a:r>
            <a:endParaRPr sz="28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a:solidFill>
                <a:srgbClr val="0070C0"/>
              </a:solidFill>
              <a:latin typeface="Calibri"/>
              <a:ea typeface="Calibri"/>
              <a:cs typeface="Calibri"/>
              <a:sym typeface="Calibri"/>
            </a:endParaRPr>
          </a:p>
        </p:txBody>
      </p:sp>
      <p:sp>
        <p:nvSpPr>
          <p:cNvPr id="273" name="Google Shape;273;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74" name="Google Shape;274;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80" name="Google Shape;280;p28"/>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Development activities:</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rgbClr val="385723"/>
                </a:solidFill>
                <a:latin typeface="Calibri"/>
                <a:ea typeface="Calibri"/>
                <a:cs typeface="Calibri"/>
                <a:sym typeface="Calibri"/>
              </a:rPr>
              <a:t>•</a:t>
            </a:r>
            <a:r>
              <a:rPr lang="en-GB" sz="2000">
                <a:solidFill>
                  <a:srgbClr val="0070C0"/>
                </a:solidFill>
                <a:latin typeface="Calibri"/>
                <a:ea typeface="Calibri"/>
                <a:cs typeface="Calibri"/>
                <a:sym typeface="Calibri"/>
              </a:rPr>
              <a:t> </a:t>
            </a:r>
            <a:r>
              <a:rPr b="1" lang="en-GB" sz="2000">
                <a:solidFill>
                  <a:srgbClr val="385723"/>
                </a:solidFill>
                <a:latin typeface="Calibri"/>
                <a:ea typeface="Calibri"/>
                <a:cs typeface="Calibri"/>
                <a:sym typeface="Calibri"/>
              </a:rPr>
              <a:t>Requirement Elicitation</a:t>
            </a:r>
            <a:endParaRPr b="1" sz="20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rgbClr val="385723"/>
                </a:solidFill>
                <a:latin typeface="Calibri"/>
                <a:ea typeface="Calibri"/>
                <a:cs typeface="Calibri"/>
                <a:sym typeface="Calibri"/>
              </a:rPr>
              <a:t>•</a:t>
            </a:r>
            <a:r>
              <a:rPr lang="en-GB" sz="2000">
                <a:solidFill>
                  <a:srgbClr val="0070C0"/>
                </a:solidFill>
                <a:latin typeface="Calibri"/>
                <a:ea typeface="Calibri"/>
                <a:cs typeface="Calibri"/>
                <a:sym typeface="Calibri"/>
              </a:rPr>
              <a:t> </a:t>
            </a:r>
            <a:r>
              <a:rPr b="1" lang="en-GB" sz="2000">
                <a:solidFill>
                  <a:srgbClr val="385723"/>
                </a:solidFill>
                <a:latin typeface="Calibri"/>
                <a:ea typeface="Calibri"/>
                <a:cs typeface="Calibri"/>
                <a:sym typeface="Calibri"/>
              </a:rPr>
              <a:t>Analysis </a:t>
            </a:r>
            <a:endParaRPr b="1" sz="20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rgbClr val="0070C0"/>
                </a:solidFill>
                <a:latin typeface="Calibri"/>
                <a:ea typeface="Calibri"/>
                <a:cs typeface="Calibri"/>
                <a:sym typeface="Calibri"/>
              </a:rPr>
              <a:t>•</a:t>
            </a:r>
            <a:r>
              <a:rPr lang="en-GB" sz="1600">
                <a:solidFill>
                  <a:schemeClr val="dk1"/>
                </a:solidFill>
                <a:latin typeface="Calibri"/>
                <a:ea typeface="Calibri"/>
                <a:cs typeface="Calibri"/>
                <a:sym typeface="Calibri"/>
              </a:rPr>
              <a:t> </a:t>
            </a:r>
            <a:r>
              <a:rPr b="1" lang="en-GB" sz="2000">
                <a:solidFill>
                  <a:srgbClr val="0070C0"/>
                </a:solidFill>
                <a:latin typeface="Calibri"/>
                <a:ea typeface="Calibri"/>
                <a:cs typeface="Calibri"/>
                <a:sym typeface="Calibri"/>
              </a:rPr>
              <a:t>System Design</a:t>
            </a:r>
            <a:endParaRPr b="1" sz="20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Developers define the design goals of the project and decompose the system into smaller subsystems that can be realized by individual teams.</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Developers also </a:t>
            </a:r>
            <a:r>
              <a:rPr b="1" lang="en-GB" sz="1600">
                <a:solidFill>
                  <a:schemeClr val="dk1"/>
                </a:solidFill>
                <a:latin typeface="Calibri"/>
                <a:ea typeface="Calibri"/>
                <a:cs typeface="Calibri"/>
                <a:sym typeface="Calibri"/>
              </a:rPr>
              <a:t>select strategies </a:t>
            </a:r>
            <a:r>
              <a:rPr lang="en-GB" sz="1600">
                <a:solidFill>
                  <a:schemeClr val="dk1"/>
                </a:solidFill>
                <a:latin typeface="Calibri"/>
                <a:ea typeface="Calibri"/>
                <a:cs typeface="Calibri"/>
                <a:sym typeface="Calibri"/>
              </a:rPr>
              <a:t>for building the system, such as the hardware/software platform on which the system will run, the persistent data management strategy, the global control flow, the access control policy, and the handling of boundary conditions.</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The result of system design is a clear description of each of these strategies, a subsystem decomposition, and a </a:t>
            </a:r>
            <a:r>
              <a:rPr b="1" lang="en-GB" sz="1600">
                <a:solidFill>
                  <a:schemeClr val="dk1"/>
                </a:solidFill>
                <a:latin typeface="Calibri"/>
                <a:ea typeface="Calibri"/>
                <a:cs typeface="Calibri"/>
                <a:sym typeface="Calibri"/>
              </a:rPr>
              <a:t>deployment diagram </a:t>
            </a:r>
            <a:r>
              <a:rPr lang="en-GB" sz="1600">
                <a:solidFill>
                  <a:schemeClr val="dk1"/>
                </a:solidFill>
                <a:latin typeface="Calibri"/>
                <a:ea typeface="Calibri"/>
                <a:cs typeface="Calibri"/>
                <a:sym typeface="Calibri"/>
              </a:rPr>
              <a:t>representing the hardware/software mapping of the system.</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Whereas both analysis and system design produce models of the system under construction, only analysis deals with entities that the client can understand.</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00">
                <a:solidFill>
                  <a:schemeClr val="dk1"/>
                </a:solidFill>
              </a:rPr>
              <a:t>•</a:t>
            </a:r>
            <a:r>
              <a:rPr lang="en-GB" sz="1600">
                <a:solidFill>
                  <a:schemeClr val="dk1"/>
                </a:solidFill>
                <a:latin typeface="Calibri"/>
                <a:ea typeface="Calibri"/>
                <a:cs typeface="Calibri"/>
                <a:sym typeface="Calibri"/>
              </a:rPr>
              <a:t>System design deals with a much more refined model that includes many entities that are beyond the comprehension (and interest) of the client. </a:t>
            </a:r>
            <a:endParaRPr sz="16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endParaRPr>
          </a:p>
          <a:p>
            <a:pPr indent="0" lvl="0" marL="0" rtl="0" algn="l">
              <a:lnSpc>
                <a:spcPct val="90000"/>
              </a:lnSpc>
              <a:spcBef>
                <a:spcPts val="1000"/>
              </a:spcBef>
              <a:spcAft>
                <a:spcPts val="0"/>
              </a:spcAft>
              <a:buSzPts val="1400"/>
              <a:buNone/>
            </a:pPr>
            <a:r>
              <a:t/>
            </a:r>
            <a:endParaRPr sz="22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1200">
              <a:solidFill>
                <a:srgbClr val="0070C0"/>
              </a:solidFill>
              <a:latin typeface="Calibri"/>
              <a:ea typeface="Calibri"/>
              <a:cs typeface="Calibri"/>
              <a:sym typeface="Calibri"/>
            </a:endParaRPr>
          </a:p>
        </p:txBody>
      </p:sp>
      <p:sp>
        <p:nvSpPr>
          <p:cNvPr id="281" name="Google Shape;281;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82" name="Google Shape;282;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88" name="Google Shape;288;p29"/>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Development activities:</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b="1" lang="en-GB" sz="2200">
                <a:solidFill>
                  <a:srgbClr val="385723"/>
                </a:solidFill>
                <a:latin typeface="Calibri"/>
                <a:ea typeface="Calibri"/>
                <a:cs typeface="Calibri"/>
                <a:sym typeface="Calibri"/>
              </a:rPr>
              <a:t>Requirement Elicitation</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385723"/>
                </a:solidFill>
                <a:latin typeface="Calibri"/>
                <a:ea typeface="Calibri"/>
                <a:cs typeface="Calibri"/>
                <a:sym typeface="Calibri"/>
              </a:rPr>
              <a:t>•</a:t>
            </a:r>
            <a:r>
              <a:rPr lang="en-GB" sz="2200">
                <a:solidFill>
                  <a:srgbClr val="0070C0"/>
                </a:solidFill>
                <a:latin typeface="Calibri"/>
                <a:ea typeface="Calibri"/>
                <a:cs typeface="Calibri"/>
                <a:sym typeface="Calibri"/>
              </a:rPr>
              <a:t> </a:t>
            </a:r>
            <a:r>
              <a:rPr b="1" lang="en-GB" sz="2200">
                <a:solidFill>
                  <a:srgbClr val="385723"/>
                </a:solidFill>
                <a:latin typeface="Calibri"/>
                <a:ea typeface="Calibri"/>
                <a:cs typeface="Calibri"/>
                <a:sym typeface="Calibri"/>
              </a:rPr>
              <a:t>Analysis </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rgbClr val="385723"/>
                </a:solidFill>
                <a:latin typeface="Calibri"/>
                <a:ea typeface="Calibri"/>
                <a:cs typeface="Calibri"/>
                <a:sym typeface="Calibri"/>
              </a:rPr>
              <a:t>•</a:t>
            </a:r>
            <a:r>
              <a:rPr lang="en-GB">
                <a:solidFill>
                  <a:schemeClr val="dk1"/>
                </a:solidFill>
                <a:latin typeface="Calibri"/>
                <a:ea typeface="Calibri"/>
                <a:cs typeface="Calibri"/>
                <a:sym typeface="Calibri"/>
              </a:rPr>
              <a:t> </a:t>
            </a:r>
            <a:r>
              <a:rPr b="1" lang="en-GB" sz="2200">
                <a:solidFill>
                  <a:srgbClr val="385723"/>
                </a:solidFill>
                <a:latin typeface="Calibri"/>
                <a:ea typeface="Calibri"/>
                <a:cs typeface="Calibri"/>
                <a:sym typeface="Calibri"/>
              </a:rPr>
              <a:t>System Design</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rgbClr val="0070C0"/>
                </a:solidFill>
                <a:latin typeface="Calibri"/>
                <a:ea typeface="Calibri"/>
                <a:cs typeface="Calibri"/>
                <a:sym typeface="Calibri"/>
              </a:rPr>
              <a:t>•</a:t>
            </a:r>
            <a:r>
              <a:rPr lang="en-GB">
                <a:solidFill>
                  <a:schemeClr val="dk1"/>
                </a:solidFill>
                <a:latin typeface="Calibri"/>
                <a:ea typeface="Calibri"/>
                <a:cs typeface="Calibri"/>
                <a:sym typeface="Calibri"/>
              </a:rPr>
              <a:t> </a:t>
            </a:r>
            <a:r>
              <a:rPr b="1" lang="en-GB" sz="2200">
                <a:solidFill>
                  <a:srgbClr val="0070C0"/>
                </a:solidFill>
                <a:latin typeface="Calibri"/>
                <a:ea typeface="Calibri"/>
                <a:cs typeface="Calibri"/>
                <a:sym typeface="Calibri"/>
              </a:rPr>
              <a:t>Object Design</a:t>
            </a:r>
            <a:endParaRPr b="1"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Developers define solution domain objects to bridge the gap between the analysis model and the hardware/software platform defined during system design.</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Precisely describing object and subsystem interfaces, selecting off-the-shelf components, restructuring the </a:t>
            </a:r>
            <a:r>
              <a:rPr b="1" lang="en-GB">
                <a:solidFill>
                  <a:schemeClr val="dk1"/>
                </a:solidFill>
                <a:latin typeface="Calibri"/>
                <a:ea typeface="Calibri"/>
                <a:cs typeface="Calibri"/>
                <a:sym typeface="Calibri"/>
              </a:rPr>
              <a:t>object model </a:t>
            </a:r>
            <a:r>
              <a:rPr lang="en-GB">
                <a:solidFill>
                  <a:schemeClr val="dk1"/>
                </a:solidFill>
                <a:latin typeface="Calibri"/>
                <a:ea typeface="Calibri"/>
                <a:cs typeface="Calibri"/>
                <a:sym typeface="Calibri"/>
              </a:rPr>
              <a:t>to attain design goals such as extensibility or understandability, and optimizing the object model for performance.</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A detailed object model annotated </a:t>
            </a:r>
            <a:r>
              <a:rPr b="1" lang="en-GB">
                <a:solidFill>
                  <a:schemeClr val="dk1"/>
                </a:solidFill>
                <a:latin typeface="Calibri"/>
                <a:ea typeface="Calibri"/>
                <a:cs typeface="Calibri"/>
                <a:sym typeface="Calibri"/>
              </a:rPr>
              <a:t>with constraints and precise descriptions</a:t>
            </a:r>
            <a:r>
              <a:rPr lang="en-GB">
                <a:solidFill>
                  <a:schemeClr val="dk1"/>
                </a:solidFill>
                <a:latin typeface="Calibri"/>
                <a:ea typeface="Calibri"/>
                <a:cs typeface="Calibri"/>
                <a:sym typeface="Calibri"/>
              </a:rPr>
              <a:t> for each element. </a:t>
            </a:r>
            <a:endParaRPr sz="22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200">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sz="1200">
              <a:solidFill>
                <a:srgbClr val="0070C0"/>
              </a:solidFill>
              <a:latin typeface="Calibri"/>
              <a:ea typeface="Calibri"/>
              <a:cs typeface="Calibri"/>
              <a:sym typeface="Calibri"/>
            </a:endParaRPr>
          </a:p>
        </p:txBody>
      </p:sp>
      <p:sp>
        <p:nvSpPr>
          <p:cNvPr id="289" name="Google Shape;289;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90" name="Google Shape;290;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296" name="Google Shape;296;p30"/>
          <p:cNvSpPr txBox="1"/>
          <p:nvPr>
            <p:ph idx="1" type="body"/>
          </p:nvPr>
        </p:nvSpPr>
        <p:spPr>
          <a:xfrm>
            <a:off x="318125" y="7141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Development activities:</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 </a:t>
            </a:r>
            <a:r>
              <a:rPr b="1" lang="en-GB" sz="2200">
                <a:solidFill>
                  <a:srgbClr val="385723"/>
                </a:solidFill>
                <a:latin typeface="Calibri"/>
                <a:ea typeface="Calibri"/>
                <a:cs typeface="Calibri"/>
                <a:sym typeface="Calibri"/>
              </a:rPr>
              <a:t>Requirement Elicitation</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385723"/>
                </a:solidFill>
                <a:latin typeface="Calibri"/>
                <a:ea typeface="Calibri"/>
                <a:cs typeface="Calibri"/>
                <a:sym typeface="Calibri"/>
              </a:rPr>
              <a:t>•</a:t>
            </a:r>
            <a:r>
              <a:rPr lang="en-GB" sz="2200">
                <a:solidFill>
                  <a:srgbClr val="0070C0"/>
                </a:solidFill>
                <a:latin typeface="Calibri"/>
                <a:ea typeface="Calibri"/>
                <a:cs typeface="Calibri"/>
                <a:sym typeface="Calibri"/>
              </a:rPr>
              <a:t> </a:t>
            </a:r>
            <a:r>
              <a:rPr b="1" lang="en-GB" sz="2200">
                <a:solidFill>
                  <a:srgbClr val="385723"/>
                </a:solidFill>
                <a:latin typeface="Calibri"/>
                <a:ea typeface="Calibri"/>
                <a:cs typeface="Calibri"/>
                <a:sym typeface="Calibri"/>
              </a:rPr>
              <a:t>Analysis </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385723"/>
                </a:solidFill>
                <a:latin typeface="Calibri"/>
                <a:ea typeface="Calibri"/>
                <a:cs typeface="Calibri"/>
                <a:sym typeface="Calibri"/>
              </a:rPr>
              <a:t>•</a:t>
            </a:r>
            <a:r>
              <a:rPr lang="en-GB" sz="2200">
                <a:solidFill>
                  <a:schemeClr val="dk1"/>
                </a:solidFill>
                <a:latin typeface="Calibri"/>
                <a:ea typeface="Calibri"/>
                <a:cs typeface="Calibri"/>
                <a:sym typeface="Calibri"/>
              </a:rPr>
              <a:t> </a:t>
            </a:r>
            <a:r>
              <a:rPr b="1" lang="en-GB" sz="2200">
                <a:solidFill>
                  <a:srgbClr val="385723"/>
                </a:solidFill>
                <a:latin typeface="Calibri"/>
                <a:ea typeface="Calibri"/>
                <a:cs typeface="Calibri"/>
                <a:sym typeface="Calibri"/>
              </a:rPr>
              <a:t>System Design</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b="1" lang="en-GB" sz="2200">
                <a:solidFill>
                  <a:srgbClr val="385723"/>
                </a:solidFill>
                <a:latin typeface="Calibri"/>
                <a:ea typeface="Calibri"/>
                <a:cs typeface="Calibri"/>
                <a:sym typeface="Calibri"/>
              </a:rPr>
              <a:t>Object Design</a:t>
            </a:r>
            <a:endParaRPr b="1"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0070C0"/>
                </a:solidFill>
                <a:latin typeface="Calibri"/>
                <a:ea typeface="Calibri"/>
                <a:cs typeface="Calibri"/>
                <a:sym typeface="Calibri"/>
              </a:rPr>
              <a:t>•</a:t>
            </a:r>
            <a:r>
              <a:rPr lang="en-GB" sz="2200">
                <a:solidFill>
                  <a:schemeClr val="dk1"/>
                </a:solidFill>
                <a:latin typeface="Calibri"/>
                <a:ea typeface="Calibri"/>
                <a:cs typeface="Calibri"/>
                <a:sym typeface="Calibri"/>
              </a:rPr>
              <a:t> </a:t>
            </a:r>
            <a:r>
              <a:rPr b="1" lang="en-GB" sz="2200">
                <a:solidFill>
                  <a:srgbClr val="0070C0"/>
                </a:solidFill>
                <a:latin typeface="Calibri"/>
                <a:ea typeface="Calibri"/>
                <a:cs typeface="Calibri"/>
                <a:sym typeface="Calibri"/>
              </a:rPr>
              <a:t>Implementation</a:t>
            </a:r>
            <a:endParaRPr b="1"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Developers translate the solution domain model into </a:t>
            </a:r>
            <a:r>
              <a:rPr b="1" lang="en-GB" sz="2200">
                <a:solidFill>
                  <a:schemeClr val="dk1"/>
                </a:solidFill>
                <a:latin typeface="Calibri"/>
                <a:ea typeface="Calibri"/>
                <a:cs typeface="Calibri"/>
                <a:sym typeface="Calibri"/>
              </a:rPr>
              <a:t>source code</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Includes implementing the attributes and methods of each object and </a:t>
            </a:r>
            <a:r>
              <a:rPr b="1" lang="en-GB" sz="2200">
                <a:solidFill>
                  <a:schemeClr val="dk1"/>
                </a:solidFill>
                <a:latin typeface="Calibri"/>
                <a:ea typeface="Calibri"/>
                <a:cs typeface="Calibri"/>
                <a:sym typeface="Calibri"/>
              </a:rPr>
              <a:t>integrating all the objects </a:t>
            </a:r>
            <a:r>
              <a:rPr lang="en-GB" sz="2200">
                <a:solidFill>
                  <a:schemeClr val="dk1"/>
                </a:solidFill>
                <a:latin typeface="Calibri"/>
                <a:ea typeface="Calibri"/>
                <a:cs typeface="Calibri"/>
                <a:sym typeface="Calibri"/>
              </a:rPr>
              <a:t>such that they function as a single system.</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implementation activity </a:t>
            </a:r>
            <a:r>
              <a:rPr b="1" lang="en-GB" sz="2200">
                <a:solidFill>
                  <a:schemeClr val="dk1"/>
                </a:solidFill>
                <a:latin typeface="Calibri"/>
                <a:ea typeface="Calibri"/>
                <a:cs typeface="Calibri"/>
                <a:sym typeface="Calibri"/>
              </a:rPr>
              <a:t>spans the gap between the detailed object design model and a complete set of source code files </a:t>
            </a:r>
            <a:r>
              <a:rPr lang="en-GB" sz="2200">
                <a:solidFill>
                  <a:schemeClr val="dk1"/>
                </a:solidFill>
                <a:latin typeface="Calibri"/>
                <a:ea typeface="Calibri"/>
                <a:cs typeface="Calibri"/>
                <a:sym typeface="Calibri"/>
              </a:rPr>
              <a:t>that can be compiled.</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chemeClr val="dk1"/>
              </a:solidFill>
            </a:endParaRPr>
          </a:p>
          <a:p>
            <a:pPr indent="0" lvl="0" marL="457200" rtl="0" algn="l">
              <a:lnSpc>
                <a:spcPct val="90000"/>
              </a:lnSpc>
              <a:spcBef>
                <a:spcPts val="50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1000"/>
              </a:spcBef>
              <a:spcAft>
                <a:spcPts val="0"/>
              </a:spcAft>
              <a:buSzPts val="1400"/>
              <a:buNone/>
            </a:pPr>
            <a:r>
              <a:t/>
            </a:r>
            <a:endParaRPr b="1">
              <a:solidFill>
                <a:srgbClr val="0070C0"/>
              </a:solidFill>
              <a:latin typeface="Calibri"/>
              <a:ea typeface="Calibri"/>
              <a:cs typeface="Calibri"/>
              <a:sym typeface="Calibri"/>
            </a:endParaRPr>
          </a:p>
        </p:txBody>
      </p:sp>
      <p:sp>
        <p:nvSpPr>
          <p:cNvPr id="297" name="Google Shape;297;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98" name="Google Shape;298;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1"/>
          <p:cNvSpPr txBox="1"/>
          <p:nvPr>
            <p:ph type="title"/>
          </p:nvPr>
        </p:nvSpPr>
        <p:spPr>
          <a:xfrm>
            <a:off x="136325" y="178184"/>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4000"/>
              <a:t>OOSE activities</a:t>
            </a:r>
            <a:endParaRPr b="1" sz="3600"/>
          </a:p>
        </p:txBody>
      </p:sp>
      <p:sp>
        <p:nvSpPr>
          <p:cNvPr id="304" name="Google Shape;304;p31"/>
          <p:cNvSpPr txBox="1"/>
          <p:nvPr>
            <p:ph idx="1" type="body"/>
          </p:nvPr>
        </p:nvSpPr>
        <p:spPr>
          <a:xfrm>
            <a:off x="336786" y="74497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Development activities: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385723"/>
                </a:solidFill>
                <a:latin typeface="Calibri"/>
                <a:ea typeface="Calibri"/>
                <a:cs typeface="Calibri"/>
                <a:sym typeface="Calibri"/>
              </a:rPr>
              <a:t>Requirement Elicitation  </a:t>
            </a:r>
            <a:r>
              <a:rPr lang="en-GB" sz="1700">
                <a:solidFill>
                  <a:srgbClr val="385723"/>
                </a:solidFill>
                <a:latin typeface="Calibri"/>
                <a:ea typeface="Calibri"/>
                <a:cs typeface="Calibri"/>
                <a:sym typeface="Calibri"/>
              </a:rPr>
              <a:t>•</a:t>
            </a:r>
            <a:r>
              <a:rPr lang="en-GB" sz="1700">
                <a:solidFill>
                  <a:srgbClr val="0070C0"/>
                </a:solidFill>
                <a:latin typeface="Calibri"/>
                <a:ea typeface="Calibri"/>
                <a:cs typeface="Calibri"/>
                <a:sym typeface="Calibri"/>
              </a:rPr>
              <a:t> </a:t>
            </a:r>
            <a:r>
              <a:rPr b="1" lang="en-GB" sz="1700">
                <a:solidFill>
                  <a:srgbClr val="385723"/>
                </a:solidFill>
                <a:latin typeface="Calibri"/>
                <a:ea typeface="Calibri"/>
                <a:cs typeface="Calibri"/>
                <a:sym typeface="Calibri"/>
              </a:rPr>
              <a:t>Analysis  </a:t>
            </a:r>
            <a:r>
              <a:rPr lang="en-GB" sz="1700">
                <a:solidFill>
                  <a:srgbClr val="385723"/>
                </a:solidFill>
                <a:latin typeface="Calibri"/>
                <a:ea typeface="Calibri"/>
                <a:cs typeface="Calibri"/>
                <a:sym typeface="Calibri"/>
              </a:rPr>
              <a:t>•</a:t>
            </a:r>
            <a:r>
              <a:rPr lang="en-GB" sz="1700">
                <a:solidFill>
                  <a:schemeClr val="dk1"/>
                </a:solidFill>
                <a:latin typeface="Calibri"/>
                <a:ea typeface="Calibri"/>
                <a:cs typeface="Calibri"/>
                <a:sym typeface="Calibri"/>
              </a:rPr>
              <a:t> </a:t>
            </a:r>
            <a:r>
              <a:rPr b="1" lang="en-GB" sz="1700">
                <a:solidFill>
                  <a:srgbClr val="385723"/>
                </a:solidFill>
                <a:latin typeface="Calibri"/>
                <a:ea typeface="Calibri"/>
                <a:cs typeface="Calibri"/>
                <a:sym typeface="Calibri"/>
              </a:rPr>
              <a:t>System Design </a:t>
            </a:r>
            <a:r>
              <a:rPr lang="en-GB" sz="1700">
                <a:solidFill>
                  <a:schemeClr val="dk1"/>
                </a:solidFill>
              </a:rPr>
              <a:t>• </a:t>
            </a:r>
            <a:r>
              <a:rPr b="1" lang="en-GB" sz="1700">
                <a:solidFill>
                  <a:srgbClr val="385723"/>
                </a:solidFill>
                <a:latin typeface="Calibri"/>
                <a:ea typeface="Calibri"/>
                <a:cs typeface="Calibri"/>
                <a:sym typeface="Calibri"/>
              </a:rPr>
              <a:t>Object Design </a:t>
            </a:r>
            <a:r>
              <a:rPr lang="en-GB" sz="1700">
                <a:solidFill>
                  <a:schemeClr val="dk1"/>
                </a:solidFill>
              </a:rPr>
              <a:t>•</a:t>
            </a:r>
            <a:r>
              <a:rPr b="1" lang="en-GB" sz="1700">
                <a:solidFill>
                  <a:srgbClr val="385723"/>
                </a:solidFill>
                <a:latin typeface="Calibri"/>
                <a:ea typeface="Calibri"/>
                <a:cs typeface="Calibri"/>
                <a:sym typeface="Calibri"/>
              </a:rPr>
              <a:t>Implementation</a:t>
            </a:r>
            <a:endParaRPr b="1" sz="17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rgbClr val="0070C0"/>
                </a:solidFill>
                <a:latin typeface="Calibri"/>
                <a:ea typeface="Calibri"/>
                <a:cs typeface="Calibri"/>
                <a:sym typeface="Calibri"/>
              </a:rPr>
              <a:t>•</a:t>
            </a:r>
            <a:r>
              <a:rPr lang="en-GB" sz="1700">
                <a:solidFill>
                  <a:schemeClr val="dk1"/>
                </a:solidFill>
                <a:latin typeface="Calibri"/>
                <a:ea typeface="Calibri"/>
                <a:cs typeface="Calibri"/>
                <a:sym typeface="Calibri"/>
              </a:rPr>
              <a:t> </a:t>
            </a:r>
            <a:r>
              <a:rPr b="1" lang="en-GB" sz="1700">
                <a:solidFill>
                  <a:srgbClr val="0070C0"/>
                </a:solidFill>
                <a:latin typeface="Calibri"/>
                <a:ea typeface="Calibri"/>
                <a:cs typeface="Calibri"/>
                <a:sym typeface="Calibri"/>
              </a:rPr>
              <a:t>Testing</a:t>
            </a:r>
            <a:endParaRPr b="1" sz="17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Developers find differences between the system and its models by </a:t>
            </a:r>
            <a:r>
              <a:rPr b="1" lang="en-GB" sz="1700">
                <a:solidFill>
                  <a:schemeClr val="dk1"/>
                </a:solidFill>
                <a:latin typeface="Calibri"/>
                <a:ea typeface="Calibri"/>
                <a:cs typeface="Calibri"/>
                <a:sym typeface="Calibri"/>
              </a:rPr>
              <a:t>executing the system</a:t>
            </a:r>
            <a:r>
              <a:rPr lang="en-GB" sz="1700">
                <a:solidFill>
                  <a:schemeClr val="dk1"/>
                </a:solidFill>
                <a:latin typeface="Calibri"/>
                <a:ea typeface="Calibri"/>
                <a:cs typeface="Calibri"/>
                <a:sym typeface="Calibri"/>
              </a:rPr>
              <a:t> (or parts of it) with sample input data sets.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Developers compare the object design model with each object and subsystem.</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During integration testing, combinations of subsystems are integrated together and compared with the system design model.</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During system testing, typical and exception cases are run through the system and compared with the requirements model.</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The goal of testing is to discover as many faults as possible such that they can be repaired before the delivery of the system.</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The planning of test phases occurs in parallel to the other development activities: System tests are planned during requirements elicitation and analysis, integration tests are planned during system design, and unit tests are planned during object design. </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700">
              <a:solidFill>
                <a:schemeClr val="dk1"/>
              </a:solidFill>
            </a:endParaRPr>
          </a:p>
          <a:p>
            <a:pPr indent="0" lvl="0" marL="457200" rtl="0" algn="l">
              <a:lnSpc>
                <a:spcPct val="90000"/>
              </a:lnSpc>
              <a:spcBef>
                <a:spcPts val="0"/>
              </a:spcBef>
              <a:spcAft>
                <a:spcPts val="0"/>
              </a:spcAft>
              <a:buSzPts val="1400"/>
              <a:buNone/>
            </a:pPr>
            <a:r>
              <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7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7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7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7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7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1700">
              <a:solidFill>
                <a:srgbClr val="0070C0"/>
              </a:solidFill>
              <a:latin typeface="Calibri"/>
              <a:ea typeface="Calibri"/>
              <a:cs typeface="Calibri"/>
              <a:sym typeface="Calibri"/>
            </a:endParaRPr>
          </a:p>
        </p:txBody>
      </p:sp>
      <p:sp>
        <p:nvSpPr>
          <p:cNvPr id="305" name="Google Shape;305;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06" name="Google Shape;306;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GB"/>
              <a:t>Question </a:t>
            </a:r>
            <a:endParaRPr/>
          </a:p>
        </p:txBody>
      </p:sp>
      <p:sp>
        <p:nvSpPr>
          <p:cNvPr id="312" name="Google Shape;312;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1200"/>
              </a:spcAft>
              <a:buSzPts val="1400"/>
              <a:buNone/>
            </a:pPr>
            <a:r>
              <a:rPr lang="en-GB"/>
              <a:t>Compare </a:t>
            </a:r>
            <a:r>
              <a:rPr lang="en-GB" sz="1829">
                <a:solidFill>
                  <a:schemeClr val="dk1"/>
                </a:solidFill>
                <a:latin typeface="Calibri"/>
                <a:ea typeface="Calibri"/>
                <a:cs typeface="Calibri"/>
                <a:sym typeface="Calibri"/>
              </a:rPr>
              <a:t>Booch, Rumbaugh and Jacobson</a:t>
            </a:r>
            <a:r>
              <a:rPr lang="en-GB"/>
              <a:t> approaches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700"/>
              <a:t>Module 2: Requirement Engineering</a:t>
            </a:r>
            <a:endParaRPr b="1" sz="3300"/>
          </a:p>
        </p:txBody>
      </p:sp>
      <p:sp>
        <p:nvSpPr>
          <p:cNvPr id="318" name="Google Shape;318;p33"/>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2200">
                <a:solidFill>
                  <a:schemeClr val="dk1"/>
                </a:solidFill>
              </a:rPr>
              <a:t>•</a:t>
            </a:r>
            <a:r>
              <a:rPr lang="en-GB" sz="2200">
                <a:solidFill>
                  <a:srgbClr val="385723"/>
                </a:solidFill>
                <a:latin typeface="Calibri"/>
                <a:ea typeface="Calibri"/>
                <a:cs typeface="Calibri"/>
                <a:sym typeface="Calibri"/>
              </a:rPr>
              <a:t>2.1 Introduction to Object Oriented Methodologies :Booch, Rumbaugh and Jacobson</a:t>
            </a:r>
            <a:endParaRPr sz="2200">
              <a:solidFill>
                <a:srgbClr val="385723"/>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latin typeface="Calibri"/>
                <a:ea typeface="Calibri"/>
                <a:cs typeface="Calibri"/>
                <a:sym typeface="Calibri"/>
              </a:rPr>
              <a:t>2.2 Requirements Engineering Tasks, Requirement Elicitation Techniques, Software Requirements: Functional, Non- Functional</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BFBFBF"/>
                </a:solidFill>
                <a:latin typeface="Calibri"/>
                <a:ea typeface="Calibri"/>
                <a:cs typeface="Calibri"/>
                <a:sym typeface="Calibri"/>
              </a:rPr>
              <a:t>2.3 Requirements Characteristics, Requirement qualities, Requirement Specification, Requirement Traceability, System Analysis Model Generation, Documentation :Use Case Diagram, Activity Diagram</a:t>
            </a:r>
            <a:endParaRPr sz="2200">
              <a:solidFill>
                <a:srgbClr val="BFBFBF"/>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BFBFBF"/>
                </a:solidFill>
                <a:latin typeface="Calibri"/>
                <a:ea typeface="Calibri"/>
                <a:cs typeface="Calibri"/>
                <a:sym typeface="Calibri"/>
              </a:rPr>
              <a:t>2.4 Categorizing classes: entity, boundary and control, Modelling associations and collections-Class Diagram</a:t>
            </a:r>
            <a:endParaRPr sz="2200">
              <a:solidFill>
                <a:srgbClr val="BFBFBF"/>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BFBFBF"/>
                </a:solidFill>
                <a:latin typeface="Calibri"/>
                <a:ea typeface="Calibri"/>
                <a:cs typeface="Calibri"/>
                <a:sym typeface="Calibri"/>
              </a:rPr>
              <a:t>2.5 Dynamic Analysis - Identifying Interaction – Sequence and Collaboration diagrams, State chart diagram</a:t>
            </a:r>
            <a:endParaRPr sz="2200">
              <a:solidFill>
                <a:srgbClr val="BFBFBF"/>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45720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p:txBody>
      </p:sp>
      <p:sp>
        <p:nvSpPr>
          <p:cNvPr id="319" name="Google Shape;319;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20" name="Google Shape;320;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Engineering Tasks</a:t>
            </a:r>
            <a:endParaRPr b="1"/>
          </a:p>
        </p:txBody>
      </p:sp>
      <p:sp>
        <p:nvSpPr>
          <p:cNvPr id="326" name="Google Shape;326;p34"/>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800">
                <a:solidFill>
                  <a:schemeClr val="dk1"/>
                </a:solidFill>
              </a:rPr>
              <a:t>•</a:t>
            </a:r>
            <a:r>
              <a:rPr lang="en-GB" sz="2800">
                <a:solidFill>
                  <a:schemeClr val="dk1"/>
                </a:solidFill>
                <a:latin typeface="Calibri"/>
                <a:ea typeface="Calibri"/>
                <a:cs typeface="Calibri"/>
                <a:sym typeface="Calibri"/>
              </a:rPr>
              <a:t>Requirements Engineering includes two main activities:</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1.</a:t>
            </a:r>
            <a:r>
              <a:rPr b="1" lang="en-GB" sz="2800">
                <a:solidFill>
                  <a:srgbClr val="002060"/>
                </a:solidFill>
                <a:latin typeface="Calibri"/>
                <a:ea typeface="Calibri"/>
                <a:cs typeface="Calibri"/>
                <a:sym typeface="Calibri"/>
              </a:rPr>
              <a:t>Requirements elicitation</a:t>
            </a:r>
            <a:r>
              <a:rPr lang="en-GB" sz="2800">
                <a:solidFill>
                  <a:schemeClr val="dk1"/>
                </a:solidFill>
                <a:latin typeface="Calibri"/>
                <a:ea typeface="Calibri"/>
                <a:cs typeface="Calibri"/>
                <a:sym typeface="Calibri"/>
              </a:rPr>
              <a:t>, which results in the specification of the system that the client understands</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2.</a:t>
            </a:r>
            <a:r>
              <a:rPr b="1" lang="en-GB" sz="2800">
                <a:solidFill>
                  <a:srgbClr val="002060"/>
                </a:solidFill>
                <a:latin typeface="Calibri"/>
                <a:ea typeface="Calibri"/>
                <a:cs typeface="Calibri"/>
                <a:sym typeface="Calibri"/>
              </a:rPr>
              <a:t>Analysis</a:t>
            </a:r>
            <a:r>
              <a:rPr lang="en-GB" sz="2800">
                <a:solidFill>
                  <a:schemeClr val="dk1"/>
                </a:solidFill>
                <a:latin typeface="Calibri"/>
                <a:ea typeface="Calibri"/>
                <a:cs typeface="Calibri"/>
                <a:sym typeface="Calibri"/>
              </a:rPr>
              <a:t>, which results in an analysis model that the developers can unambiguously interpret.</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45720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p:txBody>
      </p:sp>
      <p:sp>
        <p:nvSpPr>
          <p:cNvPr id="327" name="Google Shape;327;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28" name="Google Shape;328;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Engineering Tasks</a:t>
            </a:r>
            <a:endParaRPr b="1"/>
          </a:p>
        </p:txBody>
      </p:sp>
      <p:sp>
        <p:nvSpPr>
          <p:cNvPr id="334" name="Google Shape;334;p35"/>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Requirements Engineering includes two main activities: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1.</a:t>
            </a:r>
            <a:r>
              <a:rPr b="1" lang="en-GB">
                <a:solidFill>
                  <a:srgbClr val="002060"/>
                </a:solidFill>
                <a:latin typeface="Calibri"/>
                <a:ea typeface="Calibri"/>
                <a:cs typeface="Calibri"/>
                <a:sym typeface="Calibri"/>
              </a:rPr>
              <a:t>Requirements elicitation</a:t>
            </a:r>
            <a:r>
              <a:rPr lang="en-GB">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285750" lvl="0" marL="285750" rtl="0" algn="l">
              <a:lnSpc>
                <a:spcPct val="90000"/>
              </a:lnSpc>
              <a:spcBef>
                <a:spcPts val="0"/>
              </a:spcBef>
              <a:spcAft>
                <a:spcPts val="0"/>
              </a:spcAft>
              <a:buSzPts val="1400"/>
              <a:buChar char="●"/>
            </a:pPr>
            <a:r>
              <a:rPr lang="en-GB">
                <a:solidFill>
                  <a:schemeClr val="dk1"/>
                </a:solidFill>
                <a:latin typeface="Calibri"/>
                <a:ea typeface="Calibri"/>
                <a:cs typeface="Calibri"/>
                <a:sym typeface="Calibri"/>
              </a:rPr>
              <a:t>Challenging of the because it requires the collaboration of several groups of participants with different backgrounds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u="sng">
                <a:solidFill>
                  <a:schemeClr val="dk1"/>
                </a:solidFill>
                <a:latin typeface="Calibri"/>
                <a:ea typeface="Calibri"/>
                <a:cs typeface="Calibri"/>
                <a:sym typeface="Calibri"/>
              </a:rPr>
              <a:t>The client and the users </a:t>
            </a:r>
            <a:r>
              <a:rPr lang="en-GB">
                <a:solidFill>
                  <a:schemeClr val="dk1"/>
                </a:solidFill>
                <a:latin typeface="Calibri"/>
                <a:ea typeface="Calibri"/>
                <a:cs typeface="Calibri"/>
                <a:sym typeface="Calibri"/>
              </a:rPr>
              <a:t>are experts in their domain and have a general idea of what the system should do, but they often have little experience in software development</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u="sng">
                <a:solidFill>
                  <a:schemeClr val="dk1"/>
                </a:solidFill>
                <a:latin typeface="Calibri"/>
                <a:ea typeface="Calibri"/>
                <a:cs typeface="Calibri"/>
                <a:sym typeface="Calibri"/>
              </a:rPr>
              <a:t>The developers </a:t>
            </a:r>
            <a:r>
              <a:rPr lang="en-GB">
                <a:solidFill>
                  <a:schemeClr val="dk1"/>
                </a:solidFill>
                <a:latin typeface="Calibri"/>
                <a:ea typeface="Calibri"/>
                <a:cs typeface="Calibri"/>
                <a:sym typeface="Calibri"/>
              </a:rPr>
              <a:t>have experience in building systems, but often have little knowledge of the everyday environment of the users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Scenarios and use cases provide tools for bridging this gap.</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A scenario </a:t>
            </a:r>
            <a:r>
              <a:rPr lang="en-GB">
                <a:solidFill>
                  <a:schemeClr val="dk1"/>
                </a:solidFill>
                <a:latin typeface="Calibri"/>
                <a:ea typeface="Calibri"/>
                <a:cs typeface="Calibri"/>
                <a:sym typeface="Calibri"/>
              </a:rPr>
              <a:t>describes an example of system use in terms of a series of interactions between the user and the system</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A use case </a:t>
            </a:r>
            <a:r>
              <a:rPr lang="en-GB">
                <a:solidFill>
                  <a:schemeClr val="dk1"/>
                </a:solidFill>
                <a:latin typeface="Calibri"/>
                <a:ea typeface="Calibri"/>
                <a:cs typeface="Calibri"/>
                <a:sym typeface="Calibri"/>
              </a:rPr>
              <a:t>is an abstraction that describes a class of scenarios.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Both scenarios and use cases are written in natural language, a form that is understandable to the user.</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chemeClr val="dk1"/>
              </a:solidFill>
            </a:endParaRPr>
          </a:p>
          <a:p>
            <a:pPr indent="0" lvl="0" marL="457200" rtl="0" algn="l">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a:solidFill>
                <a:srgbClr val="0070C0"/>
              </a:solidFill>
              <a:latin typeface="Calibri"/>
              <a:ea typeface="Calibri"/>
              <a:cs typeface="Calibri"/>
              <a:sym typeface="Calibri"/>
            </a:endParaRPr>
          </a:p>
        </p:txBody>
      </p:sp>
      <p:sp>
        <p:nvSpPr>
          <p:cNvPr id="335" name="Google Shape;335;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36" name="Google Shape;336;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42" name="Google Shape;342;p36"/>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b="1" lang="en-GB" sz="1650">
                <a:solidFill>
                  <a:srgbClr val="002060"/>
                </a:solidFill>
                <a:latin typeface="Calibri"/>
                <a:ea typeface="Calibri"/>
                <a:cs typeface="Calibri"/>
                <a:sym typeface="Calibri"/>
              </a:rPr>
              <a:t>Requirements elicitation</a:t>
            </a:r>
            <a:r>
              <a:rPr lang="en-GB" sz="1650">
                <a:solidFill>
                  <a:schemeClr val="dk1"/>
                </a:solidFill>
                <a:latin typeface="Calibri"/>
                <a:ea typeface="Calibri"/>
                <a:cs typeface="Calibri"/>
                <a:sym typeface="Calibri"/>
              </a:rPr>
              <a:t>: communication among developers, clients, and users to define a new system.</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Failure to communicate and understand each others’ domains results in a system that is difficult to use or that simply fails to support the user’s work.</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b="1" lang="en-GB" sz="1650" u="sng">
                <a:solidFill>
                  <a:schemeClr val="dk1"/>
                </a:solidFill>
                <a:latin typeface="Calibri"/>
                <a:ea typeface="Calibri"/>
                <a:cs typeface="Calibri"/>
                <a:sym typeface="Calibri"/>
              </a:rPr>
              <a:t>Errors</a:t>
            </a:r>
            <a:r>
              <a:rPr lang="en-GB" sz="1650">
                <a:solidFill>
                  <a:schemeClr val="dk1"/>
                </a:solidFill>
                <a:latin typeface="Calibri"/>
                <a:ea typeface="Calibri"/>
                <a:cs typeface="Calibri"/>
                <a:sym typeface="Calibri"/>
              </a:rPr>
              <a:t> introduced during requirements elicitation are </a:t>
            </a:r>
            <a:r>
              <a:rPr b="1" lang="en-GB" sz="1650" u="sng">
                <a:solidFill>
                  <a:srgbClr val="002060"/>
                </a:solidFill>
                <a:latin typeface="Calibri"/>
                <a:ea typeface="Calibri"/>
                <a:cs typeface="Calibri"/>
                <a:sym typeface="Calibri"/>
              </a:rPr>
              <a:t>expensive to correct</a:t>
            </a:r>
            <a:endParaRPr b="1" sz="1650" u="sng">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Errors include missing functionality that the system should have supported, functionality that was incorrectly specified, user interfaces that are misleading or unusable, and obsolete functionality</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b="1" lang="en-GB" sz="1650" u="sng">
                <a:solidFill>
                  <a:schemeClr val="dk1"/>
                </a:solidFill>
                <a:latin typeface="Calibri"/>
                <a:ea typeface="Calibri"/>
                <a:cs typeface="Calibri"/>
                <a:sym typeface="Calibri"/>
              </a:rPr>
              <a:t>Requirements elicitation methods aim</a:t>
            </a:r>
            <a:r>
              <a:rPr lang="en-GB" sz="1650">
                <a:solidFill>
                  <a:schemeClr val="dk1"/>
                </a:solidFill>
                <a:latin typeface="Calibri"/>
                <a:ea typeface="Calibri"/>
                <a:cs typeface="Calibri"/>
                <a:sym typeface="Calibri"/>
              </a:rPr>
              <a:t> at improving communication among developers, clients, and users</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Developers construct a model of the application domain by observing users in their environment.</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Developers select a representation that is understandable by the clients and users</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Developers validate the application domain model by constructing simple prototypes of the user interface and collecting feedback from potential users.</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b="1" lang="en-GB" sz="1650">
                <a:solidFill>
                  <a:srgbClr val="002060"/>
                </a:solidFill>
                <a:latin typeface="Calibri"/>
                <a:ea typeface="Calibri"/>
                <a:cs typeface="Calibri"/>
                <a:sym typeface="Calibri"/>
              </a:rPr>
              <a:t>A use case </a:t>
            </a:r>
            <a:r>
              <a:rPr lang="en-GB" sz="1650">
                <a:solidFill>
                  <a:schemeClr val="dk1"/>
                </a:solidFill>
                <a:latin typeface="Calibri"/>
                <a:ea typeface="Calibri"/>
                <a:cs typeface="Calibri"/>
                <a:sym typeface="Calibri"/>
              </a:rPr>
              <a:t>is an abstraction that describes a class of scenarios.</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650">
                <a:solidFill>
                  <a:schemeClr val="dk1"/>
                </a:solidFill>
              </a:rPr>
              <a:t>•</a:t>
            </a:r>
            <a:r>
              <a:rPr lang="en-GB" sz="1650">
                <a:solidFill>
                  <a:schemeClr val="dk1"/>
                </a:solidFill>
                <a:latin typeface="Calibri"/>
                <a:ea typeface="Calibri"/>
                <a:cs typeface="Calibri"/>
                <a:sym typeface="Calibri"/>
              </a:rPr>
              <a:t>Both scenarios and use cases are written in natural language, a form that is understandable to the user.</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chemeClr val="dk1"/>
              </a:solidFill>
            </a:endParaRPr>
          </a:p>
          <a:p>
            <a:pPr indent="0" lvl="0" marL="0" rtl="0" algn="l">
              <a:lnSpc>
                <a:spcPct val="90000"/>
              </a:lnSpc>
              <a:spcBef>
                <a:spcPts val="0"/>
              </a:spcBef>
              <a:spcAft>
                <a:spcPts val="0"/>
              </a:spcAft>
              <a:buSzPts val="1400"/>
              <a:buNone/>
            </a:pPr>
            <a:r>
              <a:t/>
            </a:r>
            <a:endParaRPr b="1" sz="165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chemeClr val="dk1"/>
              </a:solidFill>
            </a:endParaRPr>
          </a:p>
          <a:p>
            <a:pPr indent="0" lvl="0" marL="457200" rtl="0" algn="l">
              <a:lnSpc>
                <a:spcPct val="90000"/>
              </a:lnSpc>
              <a:spcBef>
                <a:spcPts val="0"/>
              </a:spcBef>
              <a:spcAft>
                <a:spcPts val="0"/>
              </a:spcAft>
              <a:buSzPts val="1400"/>
              <a:buNone/>
            </a:pPr>
            <a:r>
              <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65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p:txBody>
      </p:sp>
      <p:sp>
        <p:nvSpPr>
          <p:cNvPr id="343" name="Google Shape;343;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44" name="Google Shape;344;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xEl>
                                              <p:pRg end="19" st="1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 </a:t>
            </a:r>
            <a:endParaRPr b="1"/>
          </a:p>
        </p:txBody>
      </p:sp>
      <p:sp>
        <p:nvSpPr>
          <p:cNvPr id="350" name="Google Shape;350;p37"/>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Requirements elicitation</a:t>
            </a:r>
            <a:r>
              <a:rPr lang="en-GB" sz="1700">
                <a:solidFill>
                  <a:schemeClr val="dk1"/>
                </a:solidFill>
                <a:latin typeface="Calibri"/>
                <a:ea typeface="Calibri"/>
                <a:cs typeface="Calibri"/>
                <a:sym typeface="Calibri"/>
              </a:rPr>
              <a:t> focuses on describing the purpose of the system.</a:t>
            </a:r>
            <a:endParaRPr sz="17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The client, the developers, and the users identify a problem area and define a system that addresses the problem.</a:t>
            </a:r>
            <a:endParaRPr sz="17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Thus a </a:t>
            </a:r>
            <a:r>
              <a:rPr b="1" lang="en-GB" sz="1700">
                <a:solidFill>
                  <a:srgbClr val="002060"/>
                </a:solidFill>
                <a:latin typeface="Calibri"/>
                <a:ea typeface="Calibri"/>
                <a:cs typeface="Calibri"/>
                <a:sym typeface="Calibri"/>
              </a:rPr>
              <a:t>requirements specification </a:t>
            </a:r>
            <a:r>
              <a:rPr lang="en-GB" sz="1700">
                <a:solidFill>
                  <a:schemeClr val="dk1"/>
                </a:solidFill>
                <a:latin typeface="Calibri"/>
                <a:ea typeface="Calibri"/>
                <a:cs typeface="Calibri"/>
                <a:sym typeface="Calibri"/>
              </a:rPr>
              <a:t>is created and used as a contract between the client and the developers.</a:t>
            </a:r>
            <a:endParaRPr sz="17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The </a:t>
            </a:r>
            <a:r>
              <a:rPr lang="en-GB" sz="1700" u="sng">
                <a:solidFill>
                  <a:schemeClr val="dk1"/>
                </a:solidFill>
                <a:latin typeface="Calibri"/>
                <a:ea typeface="Calibri"/>
                <a:cs typeface="Calibri"/>
                <a:sym typeface="Calibri"/>
              </a:rPr>
              <a:t>requirements specification </a:t>
            </a:r>
            <a:r>
              <a:rPr lang="en-GB" sz="1700">
                <a:solidFill>
                  <a:schemeClr val="dk1"/>
                </a:solidFill>
                <a:latin typeface="Calibri"/>
                <a:ea typeface="Calibri"/>
                <a:cs typeface="Calibri"/>
                <a:sym typeface="Calibri"/>
              </a:rPr>
              <a:t>supports the </a:t>
            </a:r>
            <a:r>
              <a:rPr lang="en-GB" sz="1700" u="sng">
                <a:solidFill>
                  <a:schemeClr val="dk1"/>
                </a:solidFill>
                <a:latin typeface="Calibri"/>
                <a:ea typeface="Calibri"/>
                <a:cs typeface="Calibri"/>
                <a:sym typeface="Calibri"/>
              </a:rPr>
              <a:t>communication with the client and users</a:t>
            </a:r>
            <a:endParaRPr sz="1700" u="sng">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The </a:t>
            </a:r>
            <a:r>
              <a:rPr lang="en-GB" sz="1700" u="sng">
                <a:solidFill>
                  <a:schemeClr val="dk1"/>
                </a:solidFill>
                <a:latin typeface="Calibri"/>
                <a:ea typeface="Calibri"/>
                <a:cs typeface="Calibri"/>
                <a:sym typeface="Calibri"/>
              </a:rPr>
              <a:t>analysis model </a:t>
            </a:r>
            <a:r>
              <a:rPr lang="en-GB" sz="1700">
                <a:solidFill>
                  <a:schemeClr val="dk1"/>
                </a:solidFill>
                <a:latin typeface="Calibri"/>
                <a:ea typeface="Calibri"/>
                <a:cs typeface="Calibri"/>
                <a:sym typeface="Calibri"/>
              </a:rPr>
              <a:t>supports the </a:t>
            </a:r>
            <a:r>
              <a:rPr lang="en-GB" sz="1700" u="sng">
                <a:solidFill>
                  <a:schemeClr val="dk1"/>
                </a:solidFill>
                <a:latin typeface="Calibri"/>
                <a:ea typeface="Calibri"/>
                <a:cs typeface="Calibri"/>
                <a:sym typeface="Calibri"/>
              </a:rPr>
              <a:t>communication among developers</a:t>
            </a:r>
            <a:endParaRPr sz="1700" u="sng">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 Requirements elicitation and analysis occur concurrently and iteratively</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chemeClr val="dk1"/>
              </a:solidFill>
            </a:endParaRPr>
          </a:p>
          <a:p>
            <a:pPr indent="0" lvl="0" marL="0" rtl="0" algn="l">
              <a:lnSpc>
                <a:spcPct val="90000"/>
              </a:lnSpc>
              <a:spcBef>
                <a:spcPts val="0"/>
              </a:spcBef>
              <a:spcAft>
                <a:spcPts val="0"/>
              </a:spcAft>
              <a:buSzPts val="1400"/>
              <a:buNone/>
            </a:pPr>
            <a:r>
              <a:t/>
            </a:r>
            <a:endParaRPr sz="1650">
              <a:solidFill>
                <a:schemeClr val="dk1"/>
              </a:solidFill>
            </a:endParaRPr>
          </a:p>
          <a:p>
            <a:pPr indent="0" lvl="0" marL="0" rtl="0" algn="l">
              <a:lnSpc>
                <a:spcPct val="90000"/>
              </a:lnSpc>
              <a:spcBef>
                <a:spcPts val="0"/>
              </a:spcBef>
              <a:spcAft>
                <a:spcPts val="0"/>
              </a:spcAft>
              <a:buSzPts val="1400"/>
              <a:buNone/>
            </a:pPr>
            <a:r>
              <a:t/>
            </a:r>
            <a:endParaRPr b="1" sz="165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chemeClr val="dk1"/>
              </a:solidFill>
            </a:endParaRPr>
          </a:p>
          <a:p>
            <a:pPr indent="0" lvl="0" marL="457200" rtl="0" algn="l">
              <a:lnSpc>
                <a:spcPct val="90000"/>
              </a:lnSpc>
              <a:spcBef>
                <a:spcPts val="0"/>
              </a:spcBef>
              <a:spcAft>
                <a:spcPts val="0"/>
              </a:spcAft>
              <a:buSzPts val="1400"/>
              <a:buNone/>
            </a:pPr>
            <a:r>
              <a:t/>
            </a:r>
            <a:endParaRPr sz="165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65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65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1650">
              <a:solidFill>
                <a:srgbClr val="0070C0"/>
              </a:solidFill>
              <a:latin typeface="Calibri"/>
              <a:ea typeface="Calibri"/>
              <a:cs typeface="Calibri"/>
              <a:sym typeface="Calibri"/>
            </a:endParaRPr>
          </a:p>
        </p:txBody>
      </p:sp>
      <p:sp>
        <p:nvSpPr>
          <p:cNvPr id="351" name="Google Shape;351;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52" name="Google Shape;352;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58" name="Google Shape;358;p38"/>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1500">
                <a:solidFill>
                  <a:schemeClr val="dk1"/>
                </a:solidFill>
              </a:rPr>
              <a:t>•</a:t>
            </a:r>
            <a:r>
              <a:rPr b="1" lang="en-GB" sz="1500">
                <a:solidFill>
                  <a:srgbClr val="002060"/>
                </a:solidFill>
                <a:latin typeface="Calibri"/>
                <a:ea typeface="Calibri"/>
                <a:cs typeface="Calibri"/>
                <a:sym typeface="Calibri"/>
              </a:rPr>
              <a:t>Requirement elicitation Activities :</a:t>
            </a:r>
            <a:endParaRPr b="1" sz="15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 Identifying actors</a:t>
            </a:r>
            <a:r>
              <a:rPr lang="en-GB" sz="1500">
                <a:solidFill>
                  <a:schemeClr val="dk1"/>
                </a:solidFill>
                <a:latin typeface="Calibri"/>
                <a:ea typeface="Calibri"/>
                <a:cs typeface="Calibri"/>
                <a:sym typeface="Calibri"/>
              </a:rPr>
              <a:t> : developers identify the different types of users the future system will support.</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Identifying scenarios</a:t>
            </a:r>
            <a:r>
              <a:rPr lang="en-GB" sz="1500">
                <a:solidFill>
                  <a:schemeClr val="dk1"/>
                </a:solidFill>
                <a:latin typeface="Calibri"/>
                <a:ea typeface="Calibri"/>
                <a:cs typeface="Calibri"/>
                <a:sym typeface="Calibri"/>
              </a:rPr>
              <a:t>: developers observe users and develop a set of detailed scenarios for typical functionality provided by the future system.</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Scenarios</a:t>
            </a:r>
            <a:r>
              <a:rPr lang="en-GB" sz="1500">
                <a:solidFill>
                  <a:schemeClr val="dk1"/>
                </a:solidFill>
                <a:latin typeface="Calibri"/>
                <a:ea typeface="Calibri"/>
                <a:cs typeface="Calibri"/>
                <a:sym typeface="Calibri"/>
              </a:rPr>
              <a:t> : concrete examples of the future system in use, used by the developers to communicate with the user and deepen their understanding of the application domain.</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Identifying use cases  </a:t>
            </a:r>
            <a:r>
              <a:rPr lang="en-GB" sz="1500">
                <a:solidFill>
                  <a:schemeClr val="dk1"/>
                </a:solidFill>
                <a:latin typeface="Calibri"/>
                <a:ea typeface="Calibri"/>
                <a:cs typeface="Calibri"/>
                <a:sym typeface="Calibri"/>
              </a:rPr>
              <a:t>derived from the scenarios:  a set of use cases that completely represent the future system which is abstractions describing all possible cases.</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a:solidFill>
                  <a:schemeClr val="dk1"/>
                </a:solidFill>
                <a:latin typeface="Calibri"/>
                <a:ea typeface="Calibri"/>
                <a:cs typeface="Calibri"/>
                <a:sym typeface="Calibri"/>
              </a:rPr>
              <a:t>Use cases are used to determine the scope of the system.</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Refining use cases</a:t>
            </a:r>
            <a:r>
              <a:rPr lang="en-GB" sz="1500">
                <a:solidFill>
                  <a:schemeClr val="dk1"/>
                </a:solidFill>
                <a:latin typeface="Calibri"/>
                <a:ea typeface="Calibri"/>
                <a:cs typeface="Calibri"/>
                <a:sym typeface="Calibri"/>
              </a:rPr>
              <a:t> : developers ensure that the requirements specification is complete by detailing each use case and describing the behaviour of the system in the presence of errors and exceptional conditions.</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Identifying relationships </a:t>
            </a:r>
            <a:r>
              <a:rPr lang="en-GB" sz="1500">
                <a:solidFill>
                  <a:schemeClr val="dk1"/>
                </a:solidFill>
                <a:latin typeface="Calibri"/>
                <a:ea typeface="Calibri"/>
                <a:cs typeface="Calibri"/>
                <a:sym typeface="Calibri"/>
              </a:rPr>
              <a:t>among use cases.</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Identify dependencies</a:t>
            </a:r>
            <a:r>
              <a:rPr lang="en-GB" sz="1500">
                <a:solidFill>
                  <a:schemeClr val="dk1"/>
                </a:solidFill>
                <a:latin typeface="Calibri"/>
                <a:ea typeface="Calibri"/>
                <a:cs typeface="Calibri"/>
                <a:sym typeface="Calibri"/>
              </a:rPr>
              <a:t> among use cases.</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Consolidate the use case</a:t>
            </a:r>
            <a:r>
              <a:rPr lang="en-GB" sz="1500">
                <a:solidFill>
                  <a:schemeClr val="dk1"/>
                </a:solidFill>
                <a:latin typeface="Calibri"/>
                <a:ea typeface="Calibri"/>
                <a:cs typeface="Calibri"/>
                <a:sym typeface="Calibri"/>
              </a:rPr>
              <a:t> model by factoring out common </a:t>
            </a:r>
            <a:r>
              <a:rPr lang="en-GB" sz="1500" u="sng">
                <a:solidFill>
                  <a:schemeClr val="dk1"/>
                </a:solidFill>
                <a:latin typeface="Calibri"/>
                <a:ea typeface="Calibri"/>
                <a:cs typeface="Calibri"/>
                <a:sym typeface="Calibri"/>
              </a:rPr>
              <a:t>functionality e</a:t>
            </a:r>
            <a:r>
              <a:rPr lang="en-GB" sz="1500">
                <a:solidFill>
                  <a:schemeClr val="dk1"/>
                </a:solidFill>
                <a:latin typeface="Calibri"/>
                <a:ea typeface="Calibri"/>
                <a:cs typeface="Calibri"/>
                <a:sym typeface="Calibri"/>
              </a:rPr>
              <a:t>nsuring the requirements specification is consistent.</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500">
                <a:solidFill>
                  <a:schemeClr val="dk1"/>
                </a:solidFill>
              </a:rPr>
              <a:t>•</a:t>
            </a:r>
            <a:r>
              <a:rPr lang="en-GB" sz="1500" u="sng">
                <a:solidFill>
                  <a:schemeClr val="dk1"/>
                </a:solidFill>
                <a:latin typeface="Calibri"/>
                <a:ea typeface="Calibri"/>
                <a:cs typeface="Calibri"/>
                <a:sym typeface="Calibri"/>
              </a:rPr>
              <a:t>Identifying nonfunctional requirements</a:t>
            </a:r>
            <a:r>
              <a:rPr lang="en-GB" sz="1500">
                <a:solidFill>
                  <a:schemeClr val="dk1"/>
                </a:solidFill>
                <a:latin typeface="Calibri"/>
                <a:ea typeface="Calibri"/>
                <a:cs typeface="Calibri"/>
                <a:sym typeface="Calibri"/>
              </a:rPr>
              <a:t>.  aspects that are visible to the user, but not directly related to functionality which includes constraints on the performance of the system, its documentation, the resources it consumes, its security, and its quality.</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chemeClr val="dk1"/>
              </a:solidFill>
            </a:endParaRPr>
          </a:p>
          <a:p>
            <a:pPr indent="0" lvl="0" marL="0" rtl="0" algn="l">
              <a:lnSpc>
                <a:spcPct val="90000"/>
              </a:lnSpc>
              <a:spcBef>
                <a:spcPts val="0"/>
              </a:spcBef>
              <a:spcAft>
                <a:spcPts val="0"/>
              </a:spcAft>
              <a:buSzPts val="1400"/>
              <a:buNone/>
            </a:pPr>
            <a:r>
              <a:t/>
            </a:r>
            <a:endParaRPr b="1" sz="15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chemeClr val="dk1"/>
              </a:solidFill>
            </a:endParaRPr>
          </a:p>
          <a:p>
            <a:pPr indent="0" lvl="0" marL="457200" rtl="0" algn="l">
              <a:lnSpc>
                <a:spcPct val="90000"/>
              </a:lnSpc>
              <a:spcBef>
                <a:spcPts val="0"/>
              </a:spcBef>
              <a:spcAft>
                <a:spcPts val="0"/>
              </a:spcAft>
              <a:buSzPts val="1400"/>
              <a:buNone/>
            </a:pPr>
            <a:r>
              <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5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p:txBody>
      </p:sp>
      <p:sp>
        <p:nvSpPr>
          <p:cNvPr id="359" name="Google Shape;359;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60" name="Google Shape;360;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xEl>
                                              <p:pRg end="20" st="2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66" name="Google Shape;366;p39"/>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u="sng">
                <a:solidFill>
                  <a:schemeClr val="dk1"/>
                </a:solidFill>
                <a:latin typeface="Calibri"/>
                <a:ea typeface="Calibri"/>
                <a:cs typeface="Calibri"/>
                <a:sym typeface="Calibri"/>
              </a:rPr>
              <a:t>Sources for Requirements </a:t>
            </a:r>
            <a:r>
              <a:rPr lang="en-GB">
                <a:solidFill>
                  <a:schemeClr val="dk1"/>
                </a:solidFill>
                <a:latin typeface="Calibri"/>
                <a:ea typeface="Calibri"/>
                <a:cs typeface="Calibri"/>
                <a:sym typeface="Calibri"/>
              </a:rPr>
              <a:t>Developers access many different sources of information such as :</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Client-supplied documents about the application domain, manuals and technical documentation of legacy systems that the future system will replace</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users and clients themselves. Developers interact the most with users and clients during requirements elicitation.</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latin typeface="Calibri"/>
                <a:ea typeface="Calibri"/>
                <a:cs typeface="Calibri"/>
                <a:sym typeface="Calibri"/>
              </a:rPr>
              <a:t>Two methods for eliciting information, making decisions with users and clients, and managing dependencies among requirements and other artefacts:</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Joint Application Design (JAD) </a:t>
            </a:r>
            <a:r>
              <a:rPr lang="en-GB">
                <a:solidFill>
                  <a:schemeClr val="dk1"/>
                </a:solidFill>
                <a:latin typeface="Calibri"/>
                <a:ea typeface="Calibri"/>
                <a:cs typeface="Calibri"/>
                <a:sym typeface="Calibri"/>
              </a:rPr>
              <a:t>focuses on building consensus among developers, users, and clients by jointly developing the requirements specification.</a:t>
            </a:r>
            <a:endParaRPr>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Traceability</a:t>
            </a:r>
            <a:r>
              <a:rPr lang="en-GB">
                <a:solidFill>
                  <a:schemeClr val="dk1"/>
                </a:solidFill>
                <a:latin typeface="Calibri"/>
                <a:ea typeface="Calibri"/>
                <a:cs typeface="Calibri"/>
                <a:sym typeface="Calibri"/>
              </a:rPr>
              <a:t> focuses on recording, structuring, linking, grouping, and maintaining dependencies among requirements and between requirements and other work products.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chemeClr val="dk1"/>
              </a:solidFill>
            </a:endParaRPr>
          </a:p>
          <a:p>
            <a:pPr indent="0" lvl="0" marL="0" rtl="0" algn="l">
              <a:lnSpc>
                <a:spcPct val="90000"/>
              </a:lnSpc>
              <a:spcBef>
                <a:spcPts val="0"/>
              </a:spcBef>
              <a:spcAft>
                <a:spcPts val="0"/>
              </a:spcAft>
              <a:buSzPts val="1400"/>
              <a:buNone/>
            </a:pPr>
            <a:r>
              <a:t/>
            </a:r>
            <a:endParaRPr sz="1500">
              <a:solidFill>
                <a:schemeClr val="dk1"/>
              </a:solidFill>
            </a:endParaRPr>
          </a:p>
          <a:p>
            <a:pPr indent="0" lvl="0" marL="0" rtl="0" algn="l">
              <a:lnSpc>
                <a:spcPct val="90000"/>
              </a:lnSpc>
              <a:spcBef>
                <a:spcPts val="0"/>
              </a:spcBef>
              <a:spcAft>
                <a:spcPts val="0"/>
              </a:spcAft>
              <a:buSzPts val="1400"/>
              <a:buNone/>
            </a:pPr>
            <a:r>
              <a:t/>
            </a:r>
            <a:endParaRPr b="1" sz="15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chemeClr val="dk1"/>
              </a:solidFill>
            </a:endParaRPr>
          </a:p>
          <a:p>
            <a:pPr indent="0" lvl="0" marL="457200" rtl="0" algn="l">
              <a:lnSpc>
                <a:spcPct val="90000"/>
              </a:lnSpc>
              <a:spcBef>
                <a:spcPts val="0"/>
              </a:spcBef>
              <a:spcAft>
                <a:spcPts val="0"/>
              </a:spcAft>
              <a:buSzPts val="1400"/>
              <a:buNone/>
            </a:pPr>
            <a:r>
              <a:t/>
            </a:r>
            <a:endParaRPr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5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15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1500">
              <a:solidFill>
                <a:srgbClr val="0070C0"/>
              </a:solidFill>
              <a:latin typeface="Calibri"/>
              <a:ea typeface="Calibri"/>
              <a:cs typeface="Calibri"/>
              <a:sym typeface="Calibri"/>
            </a:endParaRPr>
          </a:p>
        </p:txBody>
      </p:sp>
      <p:sp>
        <p:nvSpPr>
          <p:cNvPr id="367" name="Google Shape;367;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68" name="Google Shape;368;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74" name="Google Shape;374;p40"/>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Clr>
                <a:schemeClr val="dk1"/>
              </a:buClr>
              <a:buSzPts val="1100"/>
              <a:buFont typeface="Arial"/>
              <a:buNone/>
            </a:pPr>
            <a:r>
              <a:rPr lang="en-GB" sz="2800">
                <a:solidFill>
                  <a:schemeClr val="dk1"/>
                </a:solidFill>
                <a:latin typeface="Calibri"/>
                <a:ea typeface="Calibri"/>
                <a:cs typeface="Calibri"/>
                <a:sym typeface="Calibri"/>
              </a:rPr>
              <a:t>Functional Requirements:</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1100"/>
              <a:buFont typeface="Arial"/>
              <a:buNone/>
            </a:pPr>
            <a:r>
              <a:rPr lang="en-GB" sz="2800">
                <a:solidFill>
                  <a:schemeClr val="dk1"/>
                </a:solidFill>
              </a:rPr>
              <a:t>•</a:t>
            </a:r>
            <a:r>
              <a:rPr lang="en-GB" sz="2800">
                <a:solidFill>
                  <a:schemeClr val="dk1"/>
                </a:solidFill>
                <a:latin typeface="Calibri"/>
                <a:ea typeface="Calibri"/>
                <a:cs typeface="Calibri"/>
                <a:sym typeface="Calibri"/>
              </a:rPr>
              <a:t>Describe the interactions between the system and its environment independent of its implementation.</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1100"/>
              <a:buFont typeface="Arial"/>
              <a:buNone/>
            </a:pPr>
            <a:r>
              <a:rPr lang="en-GB" sz="2800">
                <a:solidFill>
                  <a:schemeClr val="dk1"/>
                </a:solidFill>
              </a:rPr>
              <a:t>•</a:t>
            </a:r>
            <a:r>
              <a:rPr lang="en-GB" sz="2800">
                <a:solidFill>
                  <a:schemeClr val="dk1"/>
                </a:solidFill>
                <a:latin typeface="Calibri"/>
                <a:ea typeface="Calibri"/>
                <a:cs typeface="Calibri"/>
                <a:sym typeface="Calibri"/>
              </a:rPr>
              <a:t>The environment includes the user and any other external system with which the system interacts. </a:t>
            </a:r>
            <a:endParaRPr sz="28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u="sng">
              <a:solidFill>
                <a:schemeClr val="dk1"/>
              </a:solidFill>
              <a:latin typeface="Calibri"/>
              <a:ea typeface="Calibri"/>
              <a:cs typeface="Calibri"/>
              <a:sym typeface="Calibri"/>
            </a:endParaRPr>
          </a:p>
        </p:txBody>
      </p:sp>
      <p:sp>
        <p:nvSpPr>
          <p:cNvPr id="375" name="Google Shape;375;p4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76" name="Google Shape;376;p4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82" name="Google Shape;382;p41"/>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100"/>
              <a:buFont typeface="Arial"/>
              <a:buNone/>
            </a:pPr>
            <a:r>
              <a:rPr b="1" lang="en-GB" sz="1700">
                <a:solidFill>
                  <a:srgbClr val="1C4587"/>
                </a:solidFill>
                <a:latin typeface="Calibri"/>
                <a:ea typeface="Calibri"/>
                <a:cs typeface="Calibri"/>
                <a:sym typeface="Calibri"/>
              </a:rPr>
              <a:t>Non- Functional Requirements:</a:t>
            </a:r>
            <a:endParaRPr b="1" sz="1700">
              <a:solidFill>
                <a:srgbClr val="1C4587"/>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lang="en-GB" sz="1700">
                <a:solidFill>
                  <a:schemeClr val="dk1"/>
                </a:solidFill>
                <a:latin typeface="Calibri"/>
                <a:ea typeface="Calibri"/>
                <a:cs typeface="Calibri"/>
                <a:sym typeface="Calibri"/>
              </a:rPr>
              <a:t>Describe aspects of the system that are not directly related to the functional behaviour of the system.</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lang="en-GB" sz="1700">
                <a:solidFill>
                  <a:schemeClr val="dk1"/>
                </a:solidFill>
                <a:latin typeface="Calibri"/>
                <a:ea typeface="Calibri"/>
                <a:cs typeface="Calibri"/>
                <a:sym typeface="Calibri"/>
              </a:rPr>
              <a:t>Include a broad variety of requirements that apply to many different aspects of the system, such as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b="1" lang="en-GB" sz="1700">
                <a:solidFill>
                  <a:srgbClr val="002060"/>
                </a:solidFill>
                <a:latin typeface="Calibri"/>
                <a:ea typeface="Calibri"/>
                <a:cs typeface="Calibri"/>
                <a:sym typeface="Calibri"/>
              </a:rPr>
              <a:t>Usability</a:t>
            </a:r>
            <a:r>
              <a:rPr lang="en-GB" sz="1700">
                <a:solidFill>
                  <a:schemeClr val="dk1"/>
                </a:solidFill>
                <a:latin typeface="Calibri"/>
                <a:ea typeface="Calibri"/>
                <a:cs typeface="Calibri"/>
                <a:sym typeface="Calibri"/>
              </a:rPr>
              <a:t> is the ease with which a user can learn to operate, prepare inputs for, and interpret outputs of a system or component.</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lang="en-GB" sz="1700">
                <a:solidFill>
                  <a:schemeClr val="dk1"/>
                </a:solidFill>
                <a:latin typeface="Calibri"/>
                <a:ea typeface="Calibri"/>
                <a:cs typeface="Calibri"/>
                <a:sym typeface="Calibri"/>
              </a:rPr>
              <a:t>Usability requirements include, conventions adopted by the user interface, the scope of online help, and the level of user documentation.</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lang="en-GB" sz="1700">
                <a:solidFill>
                  <a:schemeClr val="dk1"/>
                </a:solidFill>
                <a:latin typeface="Calibri"/>
                <a:ea typeface="Calibri"/>
                <a:cs typeface="Calibri"/>
                <a:sym typeface="Calibri"/>
              </a:rPr>
              <a:t>Clients address usability issues by requiring the developer to follow user interface guidelines on colour schemes, logos, and fonts.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GB" sz="1700">
                <a:solidFill>
                  <a:schemeClr val="dk1"/>
                </a:solidFill>
              </a:rPr>
              <a:t>•</a:t>
            </a:r>
            <a:r>
              <a:rPr b="1" lang="en-GB" sz="1700">
                <a:solidFill>
                  <a:srgbClr val="002060"/>
                </a:solidFill>
                <a:latin typeface="Calibri"/>
                <a:ea typeface="Calibri"/>
                <a:cs typeface="Calibri"/>
                <a:sym typeface="Calibri"/>
              </a:rPr>
              <a:t>Reliability</a:t>
            </a:r>
            <a:r>
              <a:rPr lang="en-GB" sz="1700">
                <a:solidFill>
                  <a:schemeClr val="dk1"/>
                </a:solidFill>
                <a:latin typeface="Calibri"/>
                <a:ea typeface="Calibri"/>
                <a:cs typeface="Calibri"/>
                <a:sym typeface="Calibri"/>
              </a:rPr>
              <a:t> is the ability of a system or component to perform its required functions under stated conditions for a specified period of time.</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Include, an acceptable mean time to failure and the ability to detect specified faults or to withstand specified security attacks.</a:t>
            </a:r>
            <a:endParaRPr sz="2900">
              <a:solidFill>
                <a:schemeClr val="dk1"/>
              </a:solidFill>
              <a:latin typeface="Calibri"/>
              <a:ea typeface="Calibri"/>
              <a:cs typeface="Calibri"/>
              <a:sym typeface="Calibri"/>
            </a:endParaRPr>
          </a:p>
        </p:txBody>
      </p:sp>
      <p:sp>
        <p:nvSpPr>
          <p:cNvPr id="383" name="Google Shape;383;p4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84" name="Google Shape;384;p4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90" name="Google Shape;390;p42"/>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b="1" lang="en-GB" sz="2000">
                <a:solidFill>
                  <a:srgbClr val="1C4587"/>
                </a:solidFill>
                <a:latin typeface="Calibri"/>
                <a:ea typeface="Calibri"/>
                <a:cs typeface="Calibri"/>
                <a:sym typeface="Calibri"/>
              </a:rPr>
              <a:t>Non- Functional Requirements:</a:t>
            </a:r>
            <a:endParaRPr b="1" sz="2000">
              <a:solidFill>
                <a:srgbClr val="1C4587"/>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b="1" lang="en-GB" sz="2000">
                <a:solidFill>
                  <a:srgbClr val="002060"/>
                </a:solidFill>
                <a:latin typeface="Calibri"/>
                <a:ea typeface="Calibri"/>
                <a:cs typeface="Calibri"/>
                <a:sym typeface="Calibri"/>
              </a:rPr>
              <a:t>Reliability</a:t>
            </a:r>
            <a:r>
              <a:rPr lang="en-GB" sz="2000">
                <a:solidFill>
                  <a:schemeClr val="dk1"/>
                </a:solidFill>
                <a:latin typeface="Calibri"/>
                <a:ea typeface="Calibri"/>
                <a:cs typeface="Calibri"/>
                <a:sym typeface="Calibri"/>
              </a:rPr>
              <a:t> is the ability of a system or component to perform its required functions under stated conditions for a specified period of time.</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Include, an acceptable mean time to failure and the ability to detect specified faults or to withstand specified security attacks.</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b="1" lang="en-GB" sz="2000">
                <a:solidFill>
                  <a:srgbClr val="002060"/>
                </a:solidFill>
                <a:latin typeface="Calibri"/>
                <a:ea typeface="Calibri"/>
                <a:cs typeface="Calibri"/>
                <a:sym typeface="Calibri"/>
              </a:rPr>
              <a:t>Dependability</a:t>
            </a:r>
            <a:r>
              <a:rPr lang="en-GB" sz="2000">
                <a:solidFill>
                  <a:schemeClr val="dk1"/>
                </a:solidFill>
                <a:latin typeface="Calibri"/>
                <a:ea typeface="Calibri"/>
                <a:cs typeface="Calibri"/>
                <a:sym typeface="Calibri"/>
              </a:rPr>
              <a:t>, which is the property of a computer system such that reliance can justifiably be placed on the service it delivers.</a:t>
            </a:r>
            <a:endParaRPr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000">
                <a:solidFill>
                  <a:schemeClr val="dk1"/>
                </a:solidFill>
              </a:rPr>
              <a:t>•</a:t>
            </a:r>
            <a:r>
              <a:rPr lang="en-GB" sz="2000" u="sng">
                <a:solidFill>
                  <a:schemeClr val="dk1"/>
                </a:solidFill>
                <a:latin typeface="Calibri"/>
                <a:ea typeface="Calibri"/>
                <a:cs typeface="Calibri"/>
                <a:sym typeface="Calibri"/>
              </a:rPr>
              <a:t>Includes reliability, robustness </a:t>
            </a:r>
            <a:r>
              <a:rPr lang="en-GB" sz="2000">
                <a:solidFill>
                  <a:schemeClr val="dk1"/>
                </a:solidFill>
                <a:latin typeface="Calibri"/>
                <a:ea typeface="Calibri"/>
                <a:cs typeface="Calibri"/>
                <a:sym typeface="Calibri"/>
              </a:rPr>
              <a:t>(the degree to which a system or component can function correctly in the presence of invalid inputs or stressful environment conditions), and safety (a measure of the absence of catastrophic consequences to the environment).</a:t>
            </a:r>
            <a:endParaRPr sz="20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3200">
              <a:solidFill>
                <a:schemeClr val="dk1"/>
              </a:solidFill>
              <a:latin typeface="Calibri"/>
              <a:ea typeface="Calibri"/>
              <a:cs typeface="Calibri"/>
              <a:sym typeface="Calibri"/>
            </a:endParaRPr>
          </a:p>
        </p:txBody>
      </p:sp>
      <p:sp>
        <p:nvSpPr>
          <p:cNvPr id="391" name="Google Shape;391;p4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92" name="Google Shape;392;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398" name="Google Shape;398;p43"/>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2000">
                <a:solidFill>
                  <a:schemeClr val="dk1"/>
                </a:solidFill>
                <a:latin typeface="Calibri"/>
                <a:ea typeface="Calibri"/>
                <a:cs typeface="Calibri"/>
                <a:sym typeface="Calibri"/>
              </a:rPr>
              <a:t>Non- Functional Requirements:</a:t>
            </a:r>
            <a:endParaRPr b="1"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Performance requirements </a:t>
            </a:r>
            <a:r>
              <a:rPr lang="en-GB" sz="1700">
                <a:solidFill>
                  <a:schemeClr val="dk1"/>
                </a:solidFill>
                <a:latin typeface="Calibri"/>
                <a:ea typeface="Calibri"/>
                <a:cs typeface="Calibri"/>
                <a:sym typeface="Calibri"/>
              </a:rPr>
              <a:t>are concerned with quantifiable attributes of the system, such as </a:t>
            </a:r>
            <a:r>
              <a:rPr lang="en-GB" sz="1700" u="sng">
                <a:solidFill>
                  <a:schemeClr val="dk1"/>
                </a:solidFill>
                <a:latin typeface="Calibri"/>
                <a:ea typeface="Calibri"/>
                <a:cs typeface="Calibri"/>
                <a:sym typeface="Calibri"/>
              </a:rPr>
              <a:t>response time </a:t>
            </a:r>
            <a:r>
              <a:rPr lang="en-GB" sz="1700">
                <a:solidFill>
                  <a:schemeClr val="dk1"/>
                </a:solidFill>
                <a:latin typeface="Calibri"/>
                <a:ea typeface="Calibri"/>
                <a:cs typeface="Calibri"/>
                <a:sym typeface="Calibri"/>
              </a:rPr>
              <a:t>(how quickly the system reacts to a user input), </a:t>
            </a:r>
            <a:r>
              <a:rPr lang="en-GB" sz="1700" u="sng">
                <a:solidFill>
                  <a:schemeClr val="dk1"/>
                </a:solidFill>
                <a:latin typeface="Calibri"/>
                <a:ea typeface="Calibri"/>
                <a:cs typeface="Calibri"/>
                <a:sym typeface="Calibri"/>
              </a:rPr>
              <a:t>throughput</a:t>
            </a:r>
            <a:r>
              <a:rPr lang="en-GB" sz="1700">
                <a:solidFill>
                  <a:schemeClr val="dk1"/>
                </a:solidFill>
                <a:latin typeface="Calibri"/>
                <a:ea typeface="Calibri"/>
                <a:cs typeface="Calibri"/>
                <a:sym typeface="Calibri"/>
              </a:rPr>
              <a:t> (how much work the system can accomplish within a specified amount of time), </a:t>
            </a:r>
            <a:r>
              <a:rPr lang="en-GB" sz="1700" u="sng">
                <a:solidFill>
                  <a:schemeClr val="dk1"/>
                </a:solidFill>
                <a:latin typeface="Calibri"/>
                <a:ea typeface="Calibri"/>
                <a:cs typeface="Calibri"/>
                <a:sym typeface="Calibri"/>
              </a:rPr>
              <a:t>availability</a:t>
            </a:r>
            <a:r>
              <a:rPr lang="en-GB" sz="1700">
                <a:solidFill>
                  <a:schemeClr val="dk1"/>
                </a:solidFill>
                <a:latin typeface="Calibri"/>
                <a:ea typeface="Calibri"/>
                <a:cs typeface="Calibri"/>
                <a:sym typeface="Calibri"/>
              </a:rPr>
              <a:t> (the degree to which a system or component is operational and accessible when required for use), and </a:t>
            </a:r>
            <a:r>
              <a:rPr lang="en-GB" sz="1700" u="sng">
                <a:solidFill>
                  <a:schemeClr val="dk1"/>
                </a:solidFill>
                <a:latin typeface="Calibri"/>
                <a:ea typeface="Calibri"/>
                <a:cs typeface="Calibri"/>
                <a:sym typeface="Calibri"/>
              </a:rPr>
              <a:t>accuracy</a:t>
            </a:r>
            <a:r>
              <a:rPr lang="en-GB" sz="1700">
                <a:solidFill>
                  <a:schemeClr val="dk1"/>
                </a:solidFill>
                <a:latin typeface="Calibri"/>
                <a:ea typeface="Calibri"/>
                <a:cs typeface="Calibri"/>
                <a:sym typeface="Calibri"/>
              </a:rPr>
              <a:t>.</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Supportability </a:t>
            </a:r>
            <a:r>
              <a:rPr lang="en-GB" sz="1700">
                <a:solidFill>
                  <a:schemeClr val="dk1"/>
                </a:solidFill>
                <a:latin typeface="Calibri"/>
                <a:ea typeface="Calibri"/>
                <a:cs typeface="Calibri"/>
                <a:sym typeface="Calibri"/>
              </a:rPr>
              <a:t>requirements are concerned with the </a:t>
            </a:r>
            <a:r>
              <a:rPr lang="en-GB" sz="1700" u="sng">
                <a:solidFill>
                  <a:schemeClr val="dk1"/>
                </a:solidFill>
                <a:latin typeface="Calibri"/>
                <a:ea typeface="Calibri"/>
                <a:cs typeface="Calibri"/>
                <a:sym typeface="Calibri"/>
              </a:rPr>
              <a:t>ease of changes </a:t>
            </a:r>
            <a:r>
              <a:rPr lang="en-GB" sz="1700">
                <a:solidFill>
                  <a:schemeClr val="dk1"/>
                </a:solidFill>
                <a:latin typeface="Calibri"/>
                <a:ea typeface="Calibri"/>
                <a:cs typeface="Calibri"/>
                <a:sym typeface="Calibri"/>
              </a:rPr>
              <a:t>to the system after deployment</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Includes </a:t>
            </a:r>
            <a:r>
              <a:rPr lang="en-GB" sz="1700" u="sng">
                <a:solidFill>
                  <a:schemeClr val="dk1"/>
                </a:solidFill>
                <a:latin typeface="Calibri"/>
                <a:ea typeface="Calibri"/>
                <a:cs typeface="Calibri"/>
                <a:sym typeface="Calibri"/>
              </a:rPr>
              <a:t>adaptability </a:t>
            </a:r>
            <a:r>
              <a:rPr lang="en-GB" sz="1700">
                <a:solidFill>
                  <a:schemeClr val="dk1"/>
                </a:solidFill>
                <a:latin typeface="Calibri"/>
                <a:ea typeface="Calibri"/>
                <a:cs typeface="Calibri"/>
                <a:sym typeface="Calibri"/>
              </a:rPr>
              <a:t>(the ability to change the system to deal with additional application domain concepts), </a:t>
            </a:r>
            <a:r>
              <a:rPr lang="en-GB" sz="1700" u="sng">
                <a:solidFill>
                  <a:schemeClr val="dk1"/>
                </a:solidFill>
                <a:latin typeface="Calibri"/>
                <a:ea typeface="Calibri"/>
                <a:cs typeface="Calibri"/>
                <a:sym typeface="Calibri"/>
              </a:rPr>
              <a:t>maintainability</a:t>
            </a:r>
            <a:r>
              <a:rPr lang="en-GB" sz="1700">
                <a:solidFill>
                  <a:schemeClr val="dk1"/>
                </a:solidFill>
                <a:latin typeface="Calibri"/>
                <a:ea typeface="Calibri"/>
                <a:cs typeface="Calibri"/>
                <a:sym typeface="Calibri"/>
              </a:rPr>
              <a:t> (the ability to change the system to deal with new technology or to fix defects), and </a:t>
            </a:r>
            <a:r>
              <a:rPr lang="en-GB" sz="1700" u="sng">
                <a:solidFill>
                  <a:schemeClr val="dk1"/>
                </a:solidFill>
                <a:latin typeface="Calibri"/>
                <a:ea typeface="Calibri"/>
                <a:cs typeface="Calibri"/>
                <a:sym typeface="Calibri"/>
              </a:rPr>
              <a:t>internationalization</a:t>
            </a:r>
            <a:r>
              <a:rPr lang="en-GB" sz="1700">
                <a:solidFill>
                  <a:schemeClr val="dk1"/>
                </a:solidFill>
                <a:latin typeface="Calibri"/>
                <a:ea typeface="Calibri"/>
                <a:cs typeface="Calibri"/>
                <a:sym typeface="Calibri"/>
              </a:rPr>
              <a:t> (the ability to change the system to deal with additional international conventions, such as languages, units, and number formats).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Implementation requirements </a:t>
            </a:r>
            <a:r>
              <a:rPr lang="en-GB" sz="1700">
                <a:solidFill>
                  <a:schemeClr val="dk1"/>
                </a:solidFill>
                <a:latin typeface="Calibri"/>
                <a:ea typeface="Calibri"/>
                <a:cs typeface="Calibri"/>
                <a:sym typeface="Calibri"/>
              </a:rPr>
              <a:t>are constraints on the implementation of the system, including the use of specific tools, programming languages, or hardware platforms.</a:t>
            </a:r>
            <a:endParaRPr sz="2800">
              <a:solidFill>
                <a:schemeClr val="dk1"/>
              </a:solidFill>
              <a:latin typeface="Calibri"/>
              <a:ea typeface="Calibri"/>
              <a:cs typeface="Calibri"/>
              <a:sym typeface="Calibri"/>
            </a:endParaRPr>
          </a:p>
        </p:txBody>
      </p:sp>
      <p:sp>
        <p:nvSpPr>
          <p:cNvPr id="399" name="Google Shape;399;p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00" name="Google Shape;400;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Elicitation</a:t>
            </a:r>
            <a:endParaRPr b="1"/>
          </a:p>
        </p:txBody>
      </p:sp>
      <p:sp>
        <p:nvSpPr>
          <p:cNvPr id="406" name="Google Shape;406;p44"/>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2000">
                <a:solidFill>
                  <a:schemeClr val="dk1"/>
                </a:solidFill>
                <a:latin typeface="Calibri"/>
                <a:ea typeface="Calibri"/>
                <a:cs typeface="Calibri"/>
                <a:sym typeface="Calibri"/>
              </a:rPr>
              <a:t>Non- Functional Requirements:</a:t>
            </a:r>
            <a:endParaRPr b="1" sz="20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Interface requirements </a:t>
            </a:r>
            <a:r>
              <a:rPr lang="en-GB" sz="1700">
                <a:solidFill>
                  <a:schemeClr val="dk1"/>
                </a:solidFill>
                <a:latin typeface="Calibri"/>
                <a:ea typeface="Calibri"/>
                <a:cs typeface="Calibri"/>
                <a:sym typeface="Calibri"/>
              </a:rPr>
              <a:t>are constraints imposed by external systems, including legacy systems and interchange formats.</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Operations requirements </a:t>
            </a:r>
            <a:r>
              <a:rPr lang="en-GB" sz="1700">
                <a:solidFill>
                  <a:schemeClr val="dk1"/>
                </a:solidFill>
                <a:latin typeface="Calibri"/>
                <a:ea typeface="Calibri"/>
                <a:cs typeface="Calibri"/>
                <a:sym typeface="Calibri"/>
              </a:rPr>
              <a:t>are constraints on the administration and management of the system in the operational setting.</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Packaging requirements </a:t>
            </a:r>
            <a:r>
              <a:rPr lang="en-GB" sz="1700">
                <a:solidFill>
                  <a:schemeClr val="dk1"/>
                </a:solidFill>
                <a:latin typeface="Calibri"/>
                <a:ea typeface="Calibri"/>
                <a:cs typeface="Calibri"/>
                <a:sym typeface="Calibri"/>
              </a:rPr>
              <a:t>are constraints on the actual delivery of the system (e.g., constraints on the installation media for setting up the software).</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Legal requirements </a:t>
            </a:r>
            <a:r>
              <a:rPr lang="en-GB" sz="1700">
                <a:solidFill>
                  <a:schemeClr val="dk1"/>
                </a:solidFill>
                <a:latin typeface="Calibri"/>
                <a:ea typeface="Calibri"/>
                <a:cs typeface="Calibri"/>
                <a:sym typeface="Calibri"/>
              </a:rPr>
              <a:t>are concerned with licensing, regulation, and certification issues. systems must be accessible to people with disabilities etc.</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6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800">
              <a:solidFill>
                <a:schemeClr val="dk1"/>
              </a:solidFill>
              <a:latin typeface="Calibri"/>
              <a:ea typeface="Calibri"/>
              <a:cs typeface="Calibri"/>
              <a:sym typeface="Calibri"/>
            </a:endParaRPr>
          </a:p>
        </p:txBody>
      </p:sp>
      <p:sp>
        <p:nvSpPr>
          <p:cNvPr id="407" name="Google Shape;407;p4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08" name="Google Shape;408;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700"/>
              <a:t>Module 2: Requirement Engineering</a:t>
            </a:r>
            <a:endParaRPr b="1" sz="3300"/>
          </a:p>
        </p:txBody>
      </p:sp>
      <p:sp>
        <p:nvSpPr>
          <p:cNvPr id="414" name="Google Shape;414;p45"/>
          <p:cNvSpPr txBox="1"/>
          <p:nvPr>
            <p:ph idx="1" type="body"/>
          </p:nvPr>
        </p:nvSpPr>
        <p:spPr>
          <a:xfrm>
            <a:off x="318125" y="586350"/>
            <a:ext cx="86898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lang="en-GB" sz="2200">
                <a:solidFill>
                  <a:srgbClr val="548235"/>
                </a:solidFill>
              </a:rPr>
              <a:t>•</a:t>
            </a:r>
            <a:r>
              <a:rPr lang="en-GB" sz="2200">
                <a:solidFill>
                  <a:srgbClr val="548235"/>
                </a:solidFill>
                <a:latin typeface="Calibri"/>
                <a:ea typeface="Calibri"/>
                <a:cs typeface="Calibri"/>
                <a:sym typeface="Calibri"/>
              </a:rPr>
              <a:t>2.1 Introduction to Object Oriented Methodologies :Booch, Rumbaugh and Jacobson</a:t>
            </a:r>
            <a:endParaRPr sz="2200">
              <a:solidFill>
                <a:srgbClr val="548235"/>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548235"/>
                </a:solidFill>
                <a:latin typeface="Calibri"/>
                <a:ea typeface="Calibri"/>
                <a:cs typeface="Calibri"/>
                <a:sym typeface="Calibri"/>
              </a:rPr>
              <a:t>2.2 Requirements Engineering Tasks, Requirement Elicitation Techniques, Software Requirements: Functional, Non- Functional</a:t>
            </a:r>
            <a:endParaRPr sz="2200">
              <a:solidFill>
                <a:srgbClr val="548235"/>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latin typeface="Calibri"/>
                <a:ea typeface="Calibri"/>
                <a:cs typeface="Calibri"/>
                <a:sym typeface="Calibri"/>
              </a:rPr>
              <a:t>2.3 Requirements Characteristics, Requirement qualities, Requirement Specification, Requirement Traceability, System Analysis Model Generation, Documentation :Use Case Diagram, Activity Diagram</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BFBFBF"/>
                </a:solidFill>
                <a:latin typeface="Calibri"/>
                <a:ea typeface="Calibri"/>
                <a:cs typeface="Calibri"/>
                <a:sym typeface="Calibri"/>
              </a:rPr>
              <a:t>2.4 Categorizing classes: entity, boundary and control, Modelling associations and collections-Class Diagram</a:t>
            </a:r>
            <a:endParaRPr sz="2200">
              <a:solidFill>
                <a:srgbClr val="BFBFBF"/>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rgbClr val="BFBFBF"/>
                </a:solidFill>
                <a:latin typeface="Calibri"/>
                <a:ea typeface="Calibri"/>
                <a:cs typeface="Calibri"/>
                <a:sym typeface="Calibri"/>
              </a:rPr>
              <a:t>2.5 Dynamic Analysis - Identifying Interaction – Sequence and Collaboration diagrams, State chart diagram</a:t>
            </a:r>
            <a:endParaRPr sz="2200">
              <a:solidFill>
                <a:srgbClr val="BFBFBF"/>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457200" rtl="0" algn="l">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179999" lvl="0" marL="179999" rtl="0" algn="l">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rgbClr val="0070C0"/>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rgbClr val="0070C0"/>
              </a:solidFill>
              <a:latin typeface="Calibri"/>
              <a:ea typeface="Calibri"/>
              <a:cs typeface="Calibri"/>
              <a:sym typeface="Calibri"/>
            </a:endParaRPr>
          </a:p>
        </p:txBody>
      </p:sp>
      <p:sp>
        <p:nvSpPr>
          <p:cNvPr id="415" name="Google Shape;415;p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16" name="Google Shape;416;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Characteristics</a:t>
            </a:r>
            <a:endParaRPr b="1"/>
          </a:p>
        </p:txBody>
      </p:sp>
      <p:sp>
        <p:nvSpPr>
          <p:cNvPr id="422" name="Google Shape;422;p46"/>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2300">
                <a:solidFill>
                  <a:srgbClr val="002060"/>
                </a:solidFill>
                <a:latin typeface="Calibri"/>
                <a:ea typeface="Calibri"/>
                <a:cs typeface="Calibri"/>
                <a:sym typeface="Calibri"/>
              </a:rPr>
              <a:t>Requirement Characteristics:</a:t>
            </a:r>
            <a:endParaRPr b="1" sz="23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Complete:</a:t>
            </a:r>
            <a:endParaRPr b="1" sz="17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400">
                <a:solidFill>
                  <a:schemeClr val="dk1"/>
                </a:solidFill>
              </a:rPr>
              <a:t>•</a:t>
            </a:r>
            <a:r>
              <a:rPr lang="en-GB" sz="1400">
                <a:solidFill>
                  <a:schemeClr val="dk1"/>
                </a:solidFill>
                <a:latin typeface="Calibri"/>
                <a:ea typeface="Calibri"/>
                <a:cs typeface="Calibri"/>
                <a:sym typeface="Calibri"/>
              </a:rPr>
              <a:t>All possible scenarios through the system are described</a:t>
            </a:r>
            <a:endParaRPr sz="1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400">
                <a:solidFill>
                  <a:schemeClr val="dk1"/>
                </a:solidFill>
              </a:rPr>
              <a:t>•</a:t>
            </a:r>
            <a:r>
              <a:rPr lang="en-GB" sz="1400">
                <a:solidFill>
                  <a:schemeClr val="dk1"/>
                </a:solidFill>
                <a:latin typeface="Calibri"/>
                <a:ea typeface="Calibri"/>
                <a:cs typeface="Calibri"/>
                <a:sym typeface="Calibri"/>
              </a:rPr>
              <a:t>All exceptional behaviour are mentioned (i.e., all aspects of the system are represented in the requirements model)</a:t>
            </a:r>
            <a:endParaRPr sz="1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Consistent:</a:t>
            </a:r>
            <a:endParaRPr b="1" sz="17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400">
                <a:solidFill>
                  <a:schemeClr val="dk1"/>
                </a:solidFill>
              </a:rPr>
              <a:t>•</a:t>
            </a:r>
            <a:r>
              <a:rPr lang="en-GB" sz="1400">
                <a:solidFill>
                  <a:schemeClr val="dk1"/>
                </a:solidFill>
                <a:latin typeface="Calibri"/>
                <a:ea typeface="Calibri"/>
                <a:cs typeface="Calibri"/>
                <a:sym typeface="Calibri"/>
              </a:rPr>
              <a:t>Not contradicting itself</a:t>
            </a:r>
            <a:endParaRPr sz="1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Unambiguous:</a:t>
            </a:r>
            <a:endParaRPr b="1" sz="17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400">
                <a:solidFill>
                  <a:schemeClr val="dk1"/>
                </a:solidFill>
              </a:rPr>
              <a:t>•</a:t>
            </a:r>
            <a:r>
              <a:rPr lang="en-GB" sz="1400">
                <a:solidFill>
                  <a:schemeClr val="dk1"/>
                </a:solidFill>
                <a:latin typeface="Calibri"/>
                <a:ea typeface="Calibri"/>
                <a:cs typeface="Calibri"/>
                <a:sym typeface="Calibri"/>
              </a:rPr>
              <a:t>one system is defined (i.e., it is not possible to interpret the specification two or more different ways)</a:t>
            </a:r>
            <a:endParaRPr sz="1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700">
                <a:solidFill>
                  <a:schemeClr val="dk1"/>
                </a:solidFill>
              </a:rPr>
              <a:t>•</a:t>
            </a:r>
            <a:r>
              <a:rPr b="1" lang="en-GB" sz="1700">
                <a:solidFill>
                  <a:srgbClr val="002060"/>
                </a:solidFill>
                <a:latin typeface="Calibri"/>
                <a:ea typeface="Calibri"/>
                <a:cs typeface="Calibri"/>
                <a:sym typeface="Calibri"/>
              </a:rPr>
              <a:t>Correct:</a:t>
            </a:r>
            <a:endParaRPr b="1" sz="17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1400">
                <a:solidFill>
                  <a:schemeClr val="dk1"/>
                </a:solidFill>
              </a:rPr>
              <a:t>•</a:t>
            </a:r>
            <a:r>
              <a:rPr lang="en-GB" sz="1400">
                <a:solidFill>
                  <a:schemeClr val="dk1"/>
                </a:solidFill>
                <a:latin typeface="Calibri"/>
                <a:ea typeface="Calibri"/>
                <a:cs typeface="Calibri"/>
                <a:sym typeface="Calibri"/>
              </a:rPr>
              <a:t>Represents accurately the system that the client needs and that the developers intend to build (i.e., everything in the requirements model accurately represents an aspect of the system to the satisfaction of both client and developer)</a:t>
            </a:r>
            <a:endParaRPr sz="1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23" name="Google Shape;423;p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24" name="Google Shape;424;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Characteristics</a:t>
            </a:r>
            <a:endParaRPr b="1"/>
          </a:p>
        </p:txBody>
      </p:sp>
      <p:sp>
        <p:nvSpPr>
          <p:cNvPr id="430" name="Google Shape;430;p47"/>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b="1" lang="en-GB" sz="2300">
                <a:solidFill>
                  <a:srgbClr val="002060"/>
                </a:solidFill>
                <a:latin typeface="Calibri"/>
                <a:ea typeface="Calibri"/>
                <a:cs typeface="Calibri"/>
                <a:sym typeface="Calibri"/>
              </a:rPr>
              <a:t>Requirement Characteristics:</a:t>
            </a:r>
            <a:endParaRPr b="1" sz="23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Realistic:</a:t>
            </a:r>
            <a:endParaRPr b="1">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 Check if The system can be implemented within constraints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Verifiable:</a:t>
            </a:r>
            <a:endParaRPr b="1">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 Once the system is built, repeatable tests can be designed to demonstrate that the system fulfils the requirements specification</a:t>
            </a:r>
            <a:endParaRPr>
              <a:solidFill>
                <a:schemeClr val="dk1"/>
              </a:solidFill>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Traceable:</a:t>
            </a:r>
            <a:endParaRPr b="1">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Each requirement can be traced throughout the software development to its corresponding system functions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Each system function can be traced back to its corresponding set of requirements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Enables a tester to assess the coverage of a test case, that is, to identify which requirements are tested and which are not.</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Enables the analyst and the developers to identify all components and system functions that the change would impact</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1700">
              <a:solidFill>
                <a:schemeClr val="dk1"/>
              </a:solidFill>
            </a:endParaRPr>
          </a:p>
          <a:p>
            <a:pPr indent="0" lvl="0" marL="0" rtl="0" algn="l">
              <a:lnSpc>
                <a:spcPct val="9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31" name="Google Shape;431;p4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32" name="Google Shape;432;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chemeClr val="dk1"/>
              </a:buClr>
              <a:buSzPts val="2970"/>
              <a:buFont typeface="Arial"/>
              <a:buNone/>
            </a:pPr>
            <a:r>
              <a:rPr lang="en-GB" sz="3500"/>
              <a:t>Requirement Characteristics</a:t>
            </a:r>
            <a:endParaRPr b="1"/>
          </a:p>
        </p:txBody>
      </p:sp>
      <p:sp>
        <p:nvSpPr>
          <p:cNvPr id="438" name="Google Shape;438;p48"/>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sz="2800">
                <a:solidFill>
                  <a:schemeClr val="dk1"/>
                </a:solidFill>
                <a:latin typeface="Calibri"/>
                <a:ea typeface="Calibri"/>
                <a:cs typeface="Calibri"/>
                <a:sym typeface="Calibri"/>
              </a:rPr>
              <a:t>Write down requirements of TicketDispenser</a:t>
            </a:r>
            <a:endParaRPr sz="28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a:t>
            </a:r>
            <a:r>
              <a:rPr b="1" lang="en-GB" sz="2800">
                <a:solidFill>
                  <a:srgbClr val="002060"/>
                </a:solidFill>
                <a:latin typeface="Calibri"/>
                <a:ea typeface="Calibri"/>
                <a:cs typeface="Calibri"/>
                <a:sym typeface="Calibri"/>
              </a:rPr>
              <a:t>Complete:</a:t>
            </a:r>
            <a:endParaRPr b="1" sz="2800">
              <a:solidFill>
                <a:srgbClr val="002060"/>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a:t>
            </a:r>
            <a:r>
              <a:rPr b="1" lang="en-GB" sz="2800">
                <a:solidFill>
                  <a:srgbClr val="002060"/>
                </a:solidFill>
                <a:latin typeface="Calibri"/>
                <a:ea typeface="Calibri"/>
                <a:cs typeface="Calibri"/>
                <a:sym typeface="Calibri"/>
              </a:rPr>
              <a:t>Consistent:</a:t>
            </a:r>
            <a:endParaRPr b="1" sz="2800">
              <a:solidFill>
                <a:srgbClr val="002060"/>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a:t>
            </a:r>
            <a:r>
              <a:rPr b="1" lang="en-GB" sz="2800">
                <a:solidFill>
                  <a:srgbClr val="002060"/>
                </a:solidFill>
                <a:latin typeface="Calibri"/>
                <a:ea typeface="Calibri"/>
                <a:cs typeface="Calibri"/>
                <a:sym typeface="Calibri"/>
              </a:rPr>
              <a:t>Unambiguous:</a:t>
            </a:r>
            <a:endParaRPr b="1" sz="2800">
              <a:solidFill>
                <a:srgbClr val="002060"/>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800">
                <a:solidFill>
                  <a:schemeClr val="dk1"/>
                </a:solidFill>
              </a:rPr>
              <a:t>•</a:t>
            </a:r>
            <a:r>
              <a:rPr b="1" lang="en-GB" sz="2800">
                <a:solidFill>
                  <a:srgbClr val="002060"/>
                </a:solidFill>
                <a:latin typeface="Calibri"/>
                <a:ea typeface="Calibri"/>
                <a:cs typeface="Calibri"/>
                <a:sym typeface="Calibri"/>
              </a:rPr>
              <a:t>Correct:</a:t>
            </a:r>
            <a:endParaRPr b="1" sz="28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chemeClr val="dk1"/>
              </a:solidFill>
            </a:endParaRPr>
          </a:p>
          <a:p>
            <a:pPr indent="0" lvl="0" marL="0" rtl="0" algn="l">
              <a:lnSpc>
                <a:spcPct val="90000"/>
              </a:lnSpc>
              <a:spcBef>
                <a:spcPts val="0"/>
              </a:spcBef>
              <a:spcAft>
                <a:spcPts val="0"/>
              </a:spcAft>
              <a:buSzPts val="1400"/>
              <a:buNone/>
            </a:pPr>
            <a:r>
              <a:t/>
            </a:r>
            <a:endParaRPr sz="1700">
              <a:solidFill>
                <a:schemeClr val="dk1"/>
              </a:solidFill>
            </a:endParaRPr>
          </a:p>
          <a:p>
            <a:pPr indent="0" lvl="0" marL="0" rtl="0" algn="l">
              <a:lnSpc>
                <a:spcPct val="9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39" name="Google Shape;439;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40" name="Google Shape;440;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2600">
                <a:solidFill>
                  <a:srgbClr val="002060"/>
                </a:solidFill>
                <a:latin typeface="Calibri"/>
                <a:ea typeface="Calibri"/>
                <a:cs typeface="Calibri"/>
                <a:sym typeface="Calibri"/>
              </a:rPr>
              <a:t>Requirements Elicitation Activities</a:t>
            </a:r>
            <a:endParaRPr b="1"/>
          </a:p>
        </p:txBody>
      </p:sp>
      <p:sp>
        <p:nvSpPr>
          <p:cNvPr id="446" name="Google Shape;446;p49"/>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b="1" lang="en-GB" sz="2100">
                <a:solidFill>
                  <a:schemeClr val="dk1"/>
                </a:solidFill>
              </a:rPr>
              <a:t>•</a:t>
            </a:r>
            <a:r>
              <a:rPr b="1" lang="en-GB" sz="2100">
                <a:solidFill>
                  <a:schemeClr val="dk1"/>
                </a:solidFill>
                <a:latin typeface="Calibri"/>
                <a:ea typeface="Calibri"/>
                <a:cs typeface="Calibri"/>
                <a:sym typeface="Calibri"/>
              </a:rPr>
              <a:t>Identifying Actors:</a:t>
            </a:r>
            <a:endParaRPr b="1" sz="21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Actors represent external entities that interact with the system. An actor can be human or an external system</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b="1" lang="en-GB" sz="2100">
                <a:solidFill>
                  <a:schemeClr val="dk1"/>
                </a:solidFill>
              </a:rPr>
              <a:t>•</a:t>
            </a:r>
            <a:r>
              <a:rPr b="1" lang="en-GB" sz="2100">
                <a:solidFill>
                  <a:schemeClr val="dk1"/>
                </a:solidFill>
                <a:latin typeface="Calibri"/>
                <a:ea typeface="Calibri"/>
                <a:cs typeface="Calibri"/>
                <a:sym typeface="Calibri"/>
              </a:rPr>
              <a:t>Identifying Scenarios:</a:t>
            </a:r>
            <a:endParaRPr b="1" sz="21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Developers observe users and develop a set of detailed scenarios for typical functionality provided by the future system.</a:t>
            </a:r>
            <a:endParaRPr sz="17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Scenarios are concrete examples of the future system in use.</a:t>
            </a:r>
            <a:endParaRPr sz="17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Developers use these scenarios to communicate with the user and deepen their understanding of the application domain.</a:t>
            </a:r>
            <a:endParaRPr sz="17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b="1" lang="en-GB" sz="2100">
                <a:solidFill>
                  <a:schemeClr val="dk1"/>
                </a:solidFill>
              </a:rPr>
              <a:t>•</a:t>
            </a:r>
            <a:r>
              <a:rPr b="1" lang="en-GB" sz="2100">
                <a:solidFill>
                  <a:schemeClr val="dk1"/>
                </a:solidFill>
                <a:latin typeface="Calibri"/>
                <a:ea typeface="Calibri"/>
                <a:cs typeface="Calibri"/>
                <a:sym typeface="Calibri"/>
              </a:rPr>
              <a:t>Identifying Use Cases:</a:t>
            </a:r>
            <a:endParaRPr b="1" sz="21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Developers derive from the scenarios a set of use cases that completely represent the future system.</a:t>
            </a:r>
            <a:endParaRPr sz="17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Use cases are abstractions describing all possible cases.</a:t>
            </a:r>
            <a:endParaRPr sz="17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sz="1700">
                <a:solidFill>
                  <a:schemeClr val="dk1"/>
                </a:solidFill>
              </a:rPr>
              <a:t>•</a:t>
            </a:r>
            <a:r>
              <a:rPr lang="en-GB" sz="1700">
                <a:solidFill>
                  <a:schemeClr val="dk1"/>
                </a:solidFill>
                <a:latin typeface="Calibri"/>
                <a:ea typeface="Calibri"/>
                <a:cs typeface="Calibri"/>
                <a:sym typeface="Calibri"/>
              </a:rPr>
              <a:t>When describing use cases, developers determine the scope of the system.</a:t>
            </a:r>
            <a:endParaRPr sz="17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chemeClr val="dk1"/>
              </a:solidFill>
            </a:endParaRPr>
          </a:p>
          <a:p>
            <a:pPr indent="0" lvl="0" marL="0" rtl="0" algn="l">
              <a:lnSpc>
                <a:spcPct val="90000"/>
              </a:lnSpc>
              <a:spcBef>
                <a:spcPts val="0"/>
              </a:spcBef>
              <a:spcAft>
                <a:spcPts val="0"/>
              </a:spcAft>
              <a:buSzPts val="1400"/>
              <a:buNone/>
            </a:pPr>
            <a:r>
              <a:t/>
            </a:r>
            <a:endParaRPr sz="1700">
              <a:solidFill>
                <a:schemeClr val="dk1"/>
              </a:solidFill>
            </a:endParaRPr>
          </a:p>
          <a:p>
            <a:pPr indent="0" lvl="0" marL="0" rtl="0" algn="l">
              <a:lnSpc>
                <a:spcPct val="9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47" name="Google Shape;447;p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48" name="Google Shape;448;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2600">
                <a:solidFill>
                  <a:srgbClr val="002060"/>
                </a:solidFill>
                <a:latin typeface="Calibri"/>
                <a:ea typeface="Calibri"/>
                <a:cs typeface="Calibri"/>
                <a:sym typeface="Calibri"/>
              </a:rPr>
              <a:t>Requirements Elicitation Activities</a:t>
            </a:r>
            <a:endParaRPr b="1"/>
          </a:p>
        </p:txBody>
      </p:sp>
      <p:sp>
        <p:nvSpPr>
          <p:cNvPr id="454" name="Google Shape;454;p50"/>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SzPts val="1400"/>
              <a:buNone/>
            </a:pPr>
            <a:r>
              <a:rPr lang="en-GB" sz="2000">
                <a:solidFill>
                  <a:schemeClr val="dk1"/>
                </a:solidFill>
              </a:rPr>
              <a:t>•</a:t>
            </a:r>
            <a:r>
              <a:rPr b="1" lang="en-GB" sz="2000">
                <a:solidFill>
                  <a:schemeClr val="dk1"/>
                </a:solidFill>
                <a:latin typeface="Calibri"/>
                <a:ea typeface="Calibri"/>
                <a:cs typeface="Calibri"/>
                <a:sym typeface="Calibri"/>
              </a:rPr>
              <a:t>Refining Use Cases:</a:t>
            </a:r>
            <a:endParaRPr b="1" sz="2000">
              <a:solidFill>
                <a:schemeClr val="dk1"/>
              </a:solidFill>
              <a:latin typeface="Calibri"/>
              <a:ea typeface="Calibri"/>
              <a:cs typeface="Calibri"/>
              <a:sym typeface="Calibri"/>
            </a:endParaRPr>
          </a:p>
          <a:p>
            <a:pPr indent="0" lvl="0" marL="457200" rtl="0" algn="l">
              <a:lnSpc>
                <a:spcPct val="8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ensure that the requirements specification is complete by detailing each use case and describing the behaviour of the system in the presence of errors and exceptional conditions.</a:t>
            </a:r>
            <a:endParaRPr sz="2000">
              <a:solidFill>
                <a:schemeClr val="dk1"/>
              </a:solidFill>
              <a:latin typeface="Calibri"/>
              <a:ea typeface="Calibri"/>
              <a:cs typeface="Calibri"/>
              <a:sym typeface="Calibri"/>
            </a:endParaRPr>
          </a:p>
          <a:p>
            <a:pPr indent="0" lvl="0" marL="0" rtl="0" algn="l">
              <a:lnSpc>
                <a:spcPct val="80000"/>
              </a:lnSpc>
              <a:spcBef>
                <a:spcPts val="0"/>
              </a:spcBef>
              <a:spcAft>
                <a:spcPts val="0"/>
              </a:spcAft>
              <a:buSzPts val="1400"/>
              <a:buNone/>
            </a:pPr>
            <a:r>
              <a:rPr lang="en-GB" sz="2000">
                <a:solidFill>
                  <a:schemeClr val="dk1"/>
                </a:solidFill>
              </a:rPr>
              <a:t>•</a:t>
            </a:r>
            <a:r>
              <a:rPr b="1" lang="en-GB" sz="2000">
                <a:solidFill>
                  <a:schemeClr val="dk1"/>
                </a:solidFill>
                <a:latin typeface="Calibri"/>
                <a:ea typeface="Calibri"/>
                <a:cs typeface="Calibri"/>
                <a:sym typeface="Calibri"/>
              </a:rPr>
              <a:t>Identifying Relationships Among Actors and Use Cases:</a:t>
            </a:r>
            <a:endParaRPr b="1" sz="2000">
              <a:solidFill>
                <a:schemeClr val="dk1"/>
              </a:solidFill>
              <a:latin typeface="Calibri"/>
              <a:ea typeface="Calibri"/>
              <a:cs typeface="Calibri"/>
              <a:sym typeface="Calibri"/>
            </a:endParaRPr>
          </a:p>
          <a:p>
            <a:pPr indent="0" lvl="0" marL="457200" rtl="0" algn="l">
              <a:lnSpc>
                <a:spcPct val="8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identify dependencies among use cases.</a:t>
            </a:r>
            <a:endParaRPr sz="2000">
              <a:solidFill>
                <a:schemeClr val="dk1"/>
              </a:solidFill>
              <a:latin typeface="Calibri"/>
              <a:ea typeface="Calibri"/>
              <a:cs typeface="Calibri"/>
              <a:sym typeface="Calibri"/>
            </a:endParaRPr>
          </a:p>
          <a:p>
            <a:pPr indent="0" lvl="0" marL="457200" rtl="0" algn="l">
              <a:lnSpc>
                <a:spcPct val="8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Consolidate the use case model by factoring out common functionality to ensures that the requirements specification is consistent.</a:t>
            </a:r>
            <a:endParaRPr sz="2000">
              <a:solidFill>
                <a:schemeClr val="dk1"/>
              </a:solidFill>
              <a:latin typeface="Calibri"/>
              <a:ea typeface="Calibri"/>
              <a:cs typeface="Calibri"/>
              <a:sym typeface="Calibri"/>
            </a:endParaRPr>
          </a:p>
          <a:p>
            <a:pPr indent="0" lvl="0" marL="0" rtl="0" algn="l">
              <a:lnSpc>
                <a:spcPct val="80000"/>
              </a:lnSpc>
              <a:spcBef>
                <a:spcPts val="0"/>
              </a:spcBef>
              <a:spcAft>
                <a:spcPts val="0"/>
              </a:spcAft>
              <a:buSzPts val="1400"/>
              <a:buNone/>
            </a:pPr>
            <a:r>
              <a:rPr lang="en-GB" sz="2000">
                <a:solidFill>
                  <a:schemeClr val="dk1"/>
                </a:solidFill>
              </a:rPr>
              <a:t>•</a:t>
            </a:r>
            <a:r>
              <a:rPr b="1" lang="en-GB" sz="2000">
                <a:solidFill>
                  <a:schemeClr val="dk1"/>
                </a:solidFill>
                <a:latin typeface="Calibri"/>
                <a:ea typeface="Calibri"/>
                <a:cs typeface="Calibri"/>
                <a:sym typeface="Calibri"/>
              </a:rPr>
              <a:t>Identifying Nonfunctional Requirements: </a:t>
            </a:r>
            <a:endParaRPr b="1" sz="2000">
              <a:solidFill>
                <a:schemeClr val="dk1"/>
              </a:solidFill>
              <a:latin typeface="Calibri"/>
              <a:ea typeface="Calibri"/>
              <a:cs typeface="Calibri"/>
              <a:sym typeface="Calibri"/>
            </a:endParaRPr>
          </a:p>
          <a:p>
            <a:pPr indent="0" lvl="0" marL="457200" rtl="0" algn="l">
              <a:lnSpc>
                <a:spcPct val="8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Developers, users, and clients agree on aspects that are visible to the user, but not directly related to functionality.</a:t>
            </a:r>
            <a:endParaRPr sz="2000">
              <a:solidFill>
                <a:schemeClr val="dk1"/>
              </a:solidFill>
              <a:latin typeface="Calibri"/>
              <a:ea typeface="Calibri"/>
              <a:cs typeface="Calibri"/>
              <a:sym typeface="Calibri"/>
            </a:endParaRPr>
          </a:p>
          <a:p>
            <a:pPr indent="0" lvl="0" marL="457200" rtl="0" algn="l">
              <a:lnSpc>
                <a:spcPct val="80000"/>
              </a:lnSpc>
              <a:spcBef>
                <a:spcPts val="0"/>
              </a:spcBef>
              <a:spcAft>
                <a:spcPts val="0"/>
              </a:spcAft>
              <a:buSzPts val="1400"/>
              <a:buNone/>
            </a:pPr>
            <a:r>
              <a:rPr lang="en-GB" sz="2000">
                <a:solidFill>
                  <a:schemeClr val="dk1"/>
                </a:solidFill>
              </a:rPr>
              <a:t>•</a:t>
            </a:r>
            <a:r>
              <a:rPr lang="en-GB" sz="2000">
                <a:solidFill>
                  <a:schemeClr val="dk1"/>
                </a:solidFill>
                <a:latin typeface="Calibri"/>
                <a:ea typeface="Calibri"/>
                <a:cs typeface="Calibri"/>
                <a:sym typeface="Calibri"/>
              </a:rPr>
              <a:t>These include constraints on the performance of the system, its documentation, the resources it consumes, its security, and its quality.</a:t>
            </a:r>
            <a:endParaRPr sz="20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t/>
            </a:r>
            <a:endParaRPr sz="2100">
              <a:solidFill>
                <a:schemeClr val="dk1"/>
              </a:solidFill>
            </a:endParaRPr>
          </a:p>
          <a:p>
            <a:pPr indent="0" lvl="0" marL="0" rtl="0" algn="l">
              <a:lnSpc>
                <a:spcPct val="90000"/>
              </a:lnSpc>
              <a:spcBef>
                <a:spcPts val="1000"/>
              </a:spcBef>
              <a:spcAft>
                <a:spcPts val="0"/>
              </a:spcAft>
              <a:buSzPts val="1400"/>
              <a:buNone/>
            </a:pPr>
            <a:r>
              <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a:solidFill>
                <a:schemeClr val="dk1"/>
              </a:solidFill>
            </a:endParaRPr>
          </a:p>
          <a:p>
            <a:pPr indent="0" lvl="0" marL="0" rtl="0" algn="l">
              <a:lnSpc>
                <a:spcPct val="90000"/>
              </a:lnSpc>
              <a:spcBef>
                <a:spcPts val="0"/>
              </a:spcBef>
              <a:spcAft>
                <a:spcPts val="0"/>
              </a:spcAft>
              <a:buSzPts val="1400"/>
              <a:buNone/>
            </a:pPr>
            <a:r>
              <a:t/>
            </a:r>
            <a:endParaRPr sz="1700">
              <a:solidFill>
                <a:schemeClr val="dk1"/>
              </a:solidFill>
            </a:endParaRPr>
          </a:p>
          <a:p>
            <a:pPr indent="0" lvl="0" marL="0" rtl="0" algn="l">
              <a:lnSpc>
                <a:spcPct val="9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55" name="Google Shape;455;p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56" name="Google Shape;456;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1000"/>
              </a:spcBef>
              <a:spcAft>
                <a:spcPts val="0"/>
              </a:spcAft>
              <a:buClr>
                <a:schemeClr val="dk1"/>
              </a:buClr>
              <a:buSzPts val="1100"/>
              <a:buFont typeface="Arial"/>
              <a:buNone/>
            </a:pPr>
            <a:r>
              <a:rPr b="1" lang="en-GB" sz="3200">
                <a:solidFill>
                  <a:srgbClr val="002060"/>
                </a:solidFill>
                <a:latin typeface="Calibri"/>
                <a:ea typeface="Calibri"/>
                <a:cs typeface="Calibri"/>
                <a:sym typeface="Calibri"/>
              </a:rPr>
              <a:t>Requirements Analysis Document</a:t>
            </a:r>
            <a:endParaRPr b="1"/>
          </a:p>
        </p:txBody>
      </p:sp>
      <p:sp>
        <p:nvSpPr>
          <p:cNvPr id="462" name="Google Shape;462;p51"/>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 Introduction</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1.1 Purpose of the system</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1.2 Scope of the system</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1.3 Objectives and success criteria of the project</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1.4 Definitions, acronyms, and abbreviations</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1.5 References</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1.6 Overview</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a:solidFill>
                  <a:schemeClr val="dk1"/>
                </a:solidFill>
                <a:latin typeface="Calibri"/>
                <a:ea typeface="Calibri"/>
                <a:cs typeface="Calibri"/>
                <a:sym typeface="Calibri"/>
              </a:rPr>
              <a:t>2. Current system</a:t>
            </a:r>
            <a:endParaRPr>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63" name="Google Shape;463;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64" name="Google Shape;464;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Analysis Document</a:t>
            </a:r>
            <a:endParaRPr b="1"/>
          </a:p>
        </p:txBody>
      </p:sp>
      <p:sp>
        <p:nvSpPr>
          <p:cNvPr id="470" name="Google Shape;470;p52"/>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1700">
                <a:solidFill>
                  <a:schemeClr val="dk1"/>
                </a:solidFill>
                <a:latin typeface="Calibri"/>
                <a:ea typeface="Calibri"/>
                <a:cs typeface="Calibri"/>
                <a:sym typeface="Calibri"/>
              </a:rPr>
              <a:t>3. Proposed system</a:t>
            </a:r>
            <a:endParaRPr b="1" sz="17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3.1 Overview</a:t>
            </a:r>
            <a:endParaRPr sz="1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3.2 Functional requirements</a:t>
            </a:r>
            <a:endParaRPr sz="1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 Nonfunctional requirements</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3.3.1 Usability</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3.3.2 Reliability</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3.3.3 Performance</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3.3.4 Supportability</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3.3.5 Implementation</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3.3.6 Interface</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3.3.7 Packaging</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3.3.8 Legal</a:t>
            </a:r>
            <a:endParaRPr sz="1400">
              <a:solidFill>
                <a:schemeClr val="dk1"/>
              </a:solidFill>
              <a:latin typeface="Calibri"/>
              <a:ea typeface="Calibri"/>
              <a:cs typeface="Calibri"/>
              <a:sym typeface="Calibri"/>
            </a:endParaRPr>
          </a:p>
          <a:p>
            <a:pPr indent="457200" lvl="0" marL="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 System models</a:t>
            </a:r>
            <a:endParaRPr b="1" sz="17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3.4.1 Scenarios</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3.4.2 Use case model</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3.4.3 Object model</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3.4.4 Dynamic model</a:t>
            </a:r>
            <a:endParaRPr sz="1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1400">
                <a:solidFill>
                  <a:schemeClr val="dk1"/>
                </a:solidFill>
                <a:latin typeface="Calibri"/>
                <a:ea typeface="Calibri"/>
                <a:cs typeface="Calibri"/>
                <a:sym typeface="Calibri"/>
              </a:rPr>
              <a:t>3.4.5 User interface—navigational paths and screen mock-ups</a:t>
            </a:r>
            <a:endParaRPr sz="1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b="1" lang="en-GB" sz="1700">
                <a:solidFill>
                  <a:schemeClr val="dk1"/>
                </a:solidFill>
                <a:latin typeface="Calibri"/>
                <a:ea typeface="Calibri"/>
                <a:cs typeface="Calibri"/>
                <a:sym typeface="Calibri"/>
              </a:rPr>
              <a:t>4. Glossary</a:t>
            </a:r>
            <a:endParaRPr b="1" sz="17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000">
              <a:solidFill>
                <a:schemeClr val="dk1"/>
              </a:solidFill>
            </a:endParaRPr>
          </a:p>
          <a:p>
            <a:pPr indent="0" lvl="0" marL="457200" rtl="0" algn="l">
              <a:lnSpc>
                <a:spcPct val="100000"/>
              </a:lnSpc>
              <a:spcBef>
                <a:spcPts val="0"/>
              </a:spcBef>
              <a:spcAft>
                <a:spcPts val="0"/>
              </a:spcAft>
              <a:buSzPts val="1400"/>
              <a:buNone/>
            </a:pPr>
            <a:r>
              <a:t/>
            </a:r>
            <a:endParaRPr sz="2100">
              <a:solidFill>
                <a:schemeClr val="dk1"/>
              </a:solidFill>
            </a:endParaRPr>
          </a:p>
          <a:p>
            <a:pPr indent="0" lvl="0" marL="0" rtl="0" algn="l">
              <a:lnSpc>
                <a:spcPct val="100000"/>
              </a:lnSpc>
              <a:spcBef>
                <a:spcPts val="0"/>
              </a:spcBef>
              <a:spcAft>
                <a:spcPts val="0"/>
              </a:spcAft>
              <a:buSzPts val="1400"/>
              <a:buNone/>
            </a:pPr>
            <a:r>
              <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71" name="Google Shape;471;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72" name="Google Shape;472;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0" st="2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1" st="2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2" st="2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3" st="2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4" st="2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5" st="2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6" st="2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7" st="2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0">
                                            <p:txEl>
                                              <p:pRg end="28" st="2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478" name="Google Shape;478;p53"/>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Actors</a:t>
            </a:r>
            <a:endParaRPr b="1" sz="17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Questions for identifying actors:</a:t>
            </a:r>
            <a:endParaRPr b="1">
              <a:solidFill>
                <a:srgbClr val="002060"/>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Which user groups are supported by the system to perform their work?</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Which user groups execute the system’s main functions?</a:t>
            </a:r>
            <a:endParaRPr>
              <a:solidFill>
                <a:schemeClr val="dk1"/>
              </a:solidFill>
              <a:latin typeface="Calibri"/>
              <a:ea typeface="Calibri"/>
              <a:cs typeface="Calibri"/>
              <a:sym typeface="Calibri"/>
            </a:endParaRPr>
          </a:p>
          <a:p>
            <a:pPr indent="0" lvl="0" marL="6731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Which user groups perform secondary functions, such as maintenance and administration?</a:t>
            </a:r>
            <a:endParaRPr>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a:solidFill>
                  <a:schemeClr val="dk1"/>
                </a:solidFill>
                <a:latin typeface="Calibri"/>
                <a:ea typeface="Calibri"/>
                <a:cs typeface="Calibri"/>
                <a:sym typeface="Calibri"/>
              </a:rPr>
              <a:t>• With what external hardware or software system will the system interact?</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000">
              <a:solidFill>
                <a:schemeClr val="dk1"/>
              </a:solidFill>
            </a:endParaRPr>
          </a:p>
          <a:p>
            <a:pPr indent="0" lvl="0" marL="457200" rtl="0" algn="l">
              <a:lnSpc>
                <a:spcPct val="100000"/>
              </a:lnSpc>
              <a:spcBef>
                <a:spcPts val="0"/>
              </a:spcBef>
              <a:spcAft>
                <a:spcPts val="0"/>
              </a:spcAft>
              <a:buSzPts val="1400"/>
              <a:buNone/>
            </a:pPr>
            <a:r>
              <a:t/>
            </a:r>
            <a:endParaRPr sz="2100">
              <a:solidFill>
                <a:schemeClr val="dk1"/>
              </a:solidFill>
            </a:endParaRPr>
          </a:p>
          <a:p>
            <a:pPr indent="0" lvl="0" marL="0" rtl="0" algn="l">
              <a:lnSpc>
                <a:spcPct val="100000"/>
              </a:lnSpc>
              <a:spcBef>
                <a:spcPts val="0"/>
              </a:spcBef>
              <a:spcAft>
                <a:spcPts val="0"/>
              </a:spcAft>
              <a:buSzPts val="1400"/>
              <a:buNone/>
            </a:pPr>
            <a:r>
              <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79" name="Google Shape;479;p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80" name="Google Shape;480;p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486" name="Google Shape;486;p54"/>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Scenarios</a:t>
            </a:r>
            <a:endParaRPr b="1" sz="28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As-is scenarios </a:t>
            </a:r>
            <a:r>
              <a:rPr lang="en-GB">
                <a:solidFill>
                  <a:schemeClr val="dk1"/>
                </a:solidFill>
                <a:latin typeface="Calibri"/>
                <a:ea typeface="Calibri"/>
                <a:cs typeface="Calibri"/>
                <a:sym typeface="Calibri"/>
              </a:rPr>
              <a:t>describe a current situation. The current system is understood by observing users and describing their actions as scenarios.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These scenarios can then be validated for correctness and accuracy with the users.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Visionary scenarios </a:t>
            </a:r>
            <a:r>
              <a:rPr lang="en-GB">
                <a:solidFill>
                  <a:schemeClr val="dk1"/>
                </a:solidFill>
                <a:latin typeface="Calibri"/>
                <a:ea typeface="Calibri"/>
                <a:cs typeface="Calibri"/>
                <a:sym typeface="Calibri"/>
              </a:rPr>
              <a:t>describe a future system.</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Visionary scenarios are used both as a point in the modelling space by developers as they refine their ideas of the future system and as a communication medium to elicit requirements from users.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Visionary scenarios can be viewed as an inexpensive prototype.</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Evaluation scenarios</a:t>
            </a:r>
            <a:r>
              <a:rPr lang="en-GB">
                <a:solidFill>
                  <a:schemeClr val="dk1"/>
                </a:solidFill>
                <a:latin typeface="Calibri"/>
                <a:ea typeface="Calibri"/>
                <a:cs typeface="Calibri"/>
                <a:sym typeface="Calibri"/>
              </a:rPr>
              <a:t> describe user tasks against which the system is to be evaluated.</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The collaborative development of evaluation scenarios by users and developers also improves the definition of the functionality tested by these scenarios.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Training scenarios </a:t>
            </a:r>
            <a:r>
              <a:rPr lang="en-GB">
                <a:solidFill>
                  <a:schemeClr val="dk1"/>
                </a:solidFill>
                <a:latin typeface="Calibri"/>
                <a:ea typeface="Calibri"/>
                <a:cs typeface="Calibri"/>
                <a:sym typeface="Calibri"/>
              </a:rPr>
              <a:t>are tutorials used for introducing new users to the system.</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These are step-by-step instructions designed to hand-hold the user through common tasks.</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000">
              <a:solidFill>
                <a:schemeClr val="dk1"/>
              </a:solidFill>
            </a:endParaRPr>
          </a:p>
          <a:p>
            <a:pPr indent="0" lvl="0" marL="457200" rtl="0" algn="l">
              <a:lnSpc>
                <a:spcPct val="100000"/>
              </a:lnSpc>
              <a:spcBef>
                <a:spcPts val="0"/>
              </a:spcBef>
              <a:spcAft>
                <a:spcPts val="0"/>
              </a:spcAft>
              <a:buSzPts val="1400"/>
              <a:buNone/>
            </a:pPr>
            <a:r>
              <a:t/>
            </a:r>
            <a:endParaRPr sz="2100">
              <a:solidFill>
                <a:schemeClr val="dk1"/>
              </a:solidFill>
            </a:endParaRPr>
          </a:p>
          <a:p>
            <a:pPr indent="0" lvl="0" marL="0" rtl="0" algn="l">
              <a:lnSpc>
                <a:spcPct val="100000"/>
              </a:lnSpc>
              <a:spcBef>
                <a:spcPts val="0"/>
              </a:spcBef>
              <a:spcAft>
                <a:spcPts val="0"/>
              </a:spcAft>
              <a:buSzPts val="1400"/>
              <a:buNone/>
            </a:pPr>
            <a:r>
              <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87" name="Google Shape;487;p5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88" name="Google Shape;488;p5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xEl>
                                              <p:pRg end="18" st="1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494" name="Google Shape;494;p55"/>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Questions to identify Scenarios</a:t>
            </a:r>
            <a:endParaRPr b="1" sz="2800">
              <a:solidFill>
                <a:srgbClr val="002060"/>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What are the tasks that the actor wants the system to perform?</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What information does the actor access? Who creates that data? Can it be modified or removed? By whom?</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Which external changes does the actor need to inform the system about? How often? When?</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Which events does the system need to inform the actor about? With what latency?</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495" name="Google Shape;495;p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96" name="Google Shape;496;p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t/>
            </a:r>
            <a:endParaRPr/>
          </a:p>
        </p:txBody>
      </p:sp>
      <p:sp>
        <p:nvSpPr>
          <p:cNvPr id="502" name="Google Shape;502;p5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28600" lvl="0" marL="457200" rtl="0" algn="l">
              <a:lnSpc>
                <a:spcPct val="90000"/>
              </a:lnSpc>
              <a:spcBef>
                <a:spcPts val="800"/>
              </a:spcBef>
              <a:spcAft>
                <a:spcPts val="0"/>
              </a:spcAft>
              <a:buClr>
                <a:schemeClr val="dk1"/>
              </a:buClr>
              <a:buSzPts val="1400"/>
              <a:buNone/>
            </a:pPr>
            <a:r>
              <a:t/>
            </a:r>
            <a:endParaRPr/>
          </a:p>
        </p:txBody>
      </p:sp>
      <p:pic>
        <p:nvPicPr>
          <p:cNvPr id="503" name="Google Shape;503;p56"/>
          <p:cNvPicPr preferRelativeResize="0"/>
          <p:nvPr/>
        </p:nvPicPr>
        <p:blipFill rotWithShape="1">
          <a:blip r:embed="rId3">
            <a:alphaModFix/>
          </a:blip>
          <a:srcRect b="0" l="0" r="0" t="0"/>
          <a:stretch/>
        </p:blipFill>
        <p:spPr>
          <a:xfrm>
            <a:off x="1253607" y="914594"/>
            <a:ext cx="6076950" cy="32956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09" name="Google Shape;509;p57"/>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Use Cases</a:t>
            </a:r>
            <a:endParaRPr b="1" sz="2800">
              <a:solidFill>
                <a:srgbClr val="002060"/>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A scenario is an instance of a use case; that is, a use case specifies all possible scenarios for a given piece of functionality.</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A use case is initiated by an actor.</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After its initiation, a use case may interact with other actors, as well.</a:t>
            </a:r>
            <a:endParaRPr>
              <a:solidFill>
                <a:schemeClr val="dk1"/>
              </a:solidFill>
              <a:latin typeface="Calibri"/>
              <a:ea typeface="Calibri"/>
              <a:cs typeface="Calibri"/>
              <a:sym typeface="Calibri"/>
            </a:endParaRPr>
          </a:p>
          <a:p>
            <a:pPr indent="-317500" lvl="0" marL="457200" rtl="0" algn="l">
              <a:lnSpc>
                <a:spcPct val="100000"/>
              </a:lnSpc>
              <a:spcBef>
                <a:spcPts val="0"/>
              </a:spcBef>
              <a:spcAft>
                <a:spcPts val="0"/>
              </a:spcAft>
              <a:buClr>
                <a:schemeClr val="dk1"/>
              </a:buClr>
              <a:buSzPts val="1400"/>
              <a:buFont typeface="Calibri"/>
              <a:buChar char="●"/>
            </a:pPr>
            <a:r>
              <a:rPr lang="en-GB">
                <a:solidFill>
                  <a:schemeClr val="dk1"/>
                </a:solidFill>
                <a:latin typeface="Calibri"/>
                <a:ea typeface="Calibri"/>
                <a:cs typeface="Calibri"/>
                <a:sym typeface="Calibri"/>
              </a:rPr>
              <a:t>A use case represents a complete flow of events through the system in the sense that it describes a series of related interactions that result from its initiation.</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10" name="Google Shape;510;p5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11" name="Google Shape;511;p5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17" name="Google Shape;517;p58"/>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Guidelines for Use Cases</a:t>
            </a:r>
            <a:endParaRPr b="1" sz="2800">
              <a:solidFill>
                <a:srgbClr val="002060"/>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Use cases should be named with verb phrases. The name of the use case should indicate what the user is trying to accomplish</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Actors should be named with noun phrases</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The boundary of the system should be clear. Steps accomplished by the actor and steps accomplished by the system should be distinguished (system actions are indented to the right).</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Use case steps in the flow of events should be phrased in the active voice to explicitly represent  who accomplished the step.</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The causal relationship between successive steps should be clear.</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A use case should describe a complete user transaction</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Exceptions should be described separately.</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A use case should not describe the user interface of the system.</a:t>
            </a:r>
            <a:endParaRPr>
              <a:solidFill>
                <a:schemeClr val="dk1"/>
              </a:solidFill>
              <a:latin typeface="Calibri"/>
              <a:ea typeface="Calibri"/>
              <a:cs typeface="Calibri"/>
              <a:sym typeface="Calibri"/>
            </a:endParaRPr>
          </a:p>
          <a:p>
            <a:pPr indent="-342900" lvl="0" marL="457200" rtl="0" algn="l">
              <a:lnSpc>
                <a:spcPct val="90000"/>
              </a:lnSpc>
              <a:spcBef>
                <a:spcPts val="0"/>
              </a:spcBef>
              <a:spcAft>
                <a:spcPts val="0"/>
              </a:spcAft>
              <a:buSzPts val="1800"/>
              <a:buFont typeface="Calibri"/>
              <a:buChar char="●"/>
            </a:pPr>
            <a:r>
              <a:rPr lang="en-GB">
                <a:solidFill>
                  <a:schemeClr val="dk1"/>
                </a:solidFill>
                <a:latin typeface="Calibri"/>
                <a:ea typeface="Calibri"/>
                <a:cs typeface="Calibri"/>
                <a:sym typeface="Calibri"/>
              </a:rPr>
              <a:t>A use case should not exceed two or three pages in length. Otherwise, use include and extend relationships to decompose it in smaller use cases</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18" name="Google Shape;518;p5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19" name="Google Shape;519;p5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9"/>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25" name="Google Shape;525;p59"/>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Use Cases</a:t>
            </a:r>
            <a:endParaRPr b="1" sz="2800">
              <a:solidFill>
                <a:srgbClr val="002060"/>
              </a:solidFill>
              <a:latin typeface="Calibri"/>
              <a:ea typeface="Calibri"/>
              <a:cs typeface="Calibri"/>
              <a:sym typeface="Calibri"/>
            </a:endParaRPr>
          </a:p>
          <a:p>
            <a:pPr indent="0" lvl="0" marL="0" rtl="0" algn="l">
              <a:lnSpc>
                <a:spcPct val="115000"/>
              </a:lnSpc>
              <a:spcBef>
                <a:spcPts val="700"/>
              </a:spcBef>
              <a:spcAft>
                <a:spcPts val="0"/>
              </a:spcAft>
              <a:buSzPts val="1400"/>
              <a:buNone/>
            </a:pPr>
            <a:r>
              <a:rPr b="1" lang="en-GB" sz="2200">
                <a:solidFill>
                  <a:schemeClr val="dk1"/>
                </a:solidFill>
                <a:latin typeface="Calibri"/>
                <a:ea typeface="Calibri"/>
                <a:cs typeface="Calibri"/>
                <a:sym typeface="Calibri"/>
              </a:rPr>
              <a:t>Identifying Use Cases</a:t>
            </a:r>
            <a:endParaRPr b="1"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Use cases represent what the actors want your system to do for them.</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use case represents a complete flow of events through the system.</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A Use Case captures some actor-visible function</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 - Achieves some discrete (business-level) goal for that actor</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 May be read, write, or read-modify-write in nature </a:t>
            </a:r>
            <a:endParaRPr sz="2200">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26" name="Google Shape;526;p5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27" name="Google Shape;527;p5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0"/>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33" name="Google Shape;533;p60"/>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Use Cases</a:t>
            </a:r>
            <a:endParaRPr b="1" sz="2800">
              <a:solidFill>
                <a:srgbClr val="002060"/>
              </a:solidFill>
              <a:latin typeface="Calibri"/>
              <a:ea typeface="Calibri"/>
              <a:cs typeface="Calibri"/>
              <a:sym typeface="Calibri"/>
            </a:endParaRPr>
          </a:p>
          <a:p>
            <a:pPr indent="0" lvl="0" marL="0" rtl="0" algn="l">
              <a:lnSpc>
                <a:spcPct val="100000"/>
              </a:lnSpc>
              <a:spcBef>
                <a:spcPts val="700"/>
              </a:spcBef>
              <a:spcAft>
                <a:spcPts val="0"/>
              </a:spcAft>
              <a:buSzPts val="1400"/>
              <a:buNone/>
            </a:pPr>
            <a:r>
              <a:rPr b="1" lang="en-GB" sz="2000">
                <a:solidFill>
                  <a:schemeClr val="dk1"/>
                </a:solidFill>
                <a:latin typeface="Calibri"/>
                <a:ea typeface="Calibri"/>
                <a:cs typeface="Calibri"/>
                <a:sym typeface="Calibri"/>
              </a:rPr>
              <a:t>Names begin with a verb</a:t>
            </a:r>
            <a:r>
              <a:rPr lang="en-GB" sz="2000">
                <a:solidFill>
                  <a:schemeClr val="dk1"/>
                </a:solidFill>
                <a:latin typeface="Calibri"/>
                <a:ea typeface="Calibri"/>
                <a:cs typeface="Calibri"/>
                <a:sym typeface="Calibri"/>
              </a:rPr>
              <a:t> – An use case models an action so the name should begin with a verb.</a:t>
            </a:r>
            <a:endParaRPr sz="2000">
              <a:solidFill>
                <a:schemeClr val="dk1"/>
              </a:solidFill>
              <a:latin typeface="Calibri"/>
              <a:ea typeface="Calibri"/>
              <a:cs typeface="Calibri"/>
              <a:sym typeface="Calibri"/>
            </a:endParaRPr>
          </a:p>
          <a:p>
            <a:pPr indent="0" lvl="0" marL="0" rtl="0" algn="just">
              <a:lnSpc>
                <a:spcPct val="100000"/>
              </a:lnSpc>
              <a:spcBef>
                <a:spcPts val="500"/>
              </a:spcBef>
              <a:spcAft>
                <a:spcPts val="0"/>
              </a:spcAft>
              <a:buSzPts val="1400"/>
              <a:buNone/>
            </a:pPr>
            <a:r>
              <a:rPr b="1" lang="en-GB" sz="2000">
                <a:solidFill>
                  <a:schemeClr val="dk1"/>
                </a:solidFill>
                <a:latin typeface="Calibri"/>
                <a:ea typeface="Calibri"/>
                <a:cs typeface="Calibri"/>
                <a:sym typeface="Calibri"/>
              </a:rPr>
              <a:t>Make the name descriptive</a:t>
            </a:r>
            <a:r>
              <a:rPr lang="en-GB" sz="2000">
                <a:solidFill>
                  <a:schemeClr val="dk1"/>
                </a:solidFill>
                <a:latin typeface="Calibri"/>
                <a:ea typeface="Calibri"/>
                <a:cs typeface="Calibri"/>
                <a:sym typeface="Calibri"/>
              </a:rPr>
              <a:t> – This is to give more information for others who are looking at the diagram. For example “Print Invoice”  is better than “Print”.</a:t>
            </a:r>
            <a:endParaRPr sz="2000">
              <a:solidFill>
                <a:schemeClr val="dk1"/>
              </a:solidFill>
              <a:latin typeface="Calibri"/>
              <a:ea typeface="Calibri"/>
              <a:cs typeface="Calibri"/>
              <a:sym typeface="Calibri"/>
            </a:endParaRPr>
          </a:p>
          <a:p>
            <a:pPr indent="0" lvl="0" marL="0" rtl="0" algn="just">
              <a:lnSpc>
                <a:spcPct val="100000"/>
              </a:lnSpc>
              <a:spcBef>
                <a:spcPts val="500"/>
              </a:spcBef>
              <a:spcAft>
                <a:spcPts val="0"/>
              </a:spcAft>
              <a:buClr>
                <a:schemeClr val="dk1"/>
              </a:buClr>
              <a:buSzPts val="1100"/>
              <a:buFont typeface="Arial"/>
              <a:buNone/>
            </a:pPr>
            <a:r>
              <a:rPr b="1" lang="en-GB" sz="2000">
                <a:solidFill>
                  <a:schemeClr val="dk1"/>
                </a:solidFill>
                <a:latin typeface="Calibri"/>
                <a:ea typeface="Calibri"/>
                <a:cs typeface="Calibri"/>
                <a:sym typeface="Calibri"/>
              </a:rPr>
              <a:t>Highlight the logical order</a:t>
            </a:r>
            <a:r>
              <a:rPr lang="en-GB" sz="2000">
                <a:solidFill>
                  <a:schemeClr val="dk1"/>
                </a:solidFill>
                <a:latin typeface="Calibri"/>
                <a:ea typeface="Calibri"/>
                <a:cs typeface="Calibri"/>
                <a:sym typeface="Calibri"/>
              </a:rPr>
              <a:t> – For example if you’re analyzing a bank customer typical use cases include open account, deposit and withdraw. Showing them in the logical order makes more sense.</a:t>
            </a:r>
            <a:endParaRPr sz="2000">
              <a:solidFill>
                <a:schemeClr val="dk1"/>
              </a:solidFill>
              <a:latin typeface="Calibri"/>
              <a:ea typeface="Calibri"/>
              <a:cs typeface="Calibri"/>
              <a:sym typeface="Calibri"/>
            </a:endParaRPr>
          </a:p>
          <a:p>
            <a:pPr indent="0" lvl="0" marL="0" rtl="0" algn="just">
              <a:lnSpc>
                <a:spcPct val="100000"/>
              </a:lnSpc>
              <a:spcBef>
                <a:spcPts val="500"/>
              </a:spcBef>
              <a:spcAft>
                <a:spcPts val="0"/>
              </a:spcAft>
              <a:buClr>
                <a:schemeClr val="dk1"/>
              </a:buClr>
              <a:buSzPts val="1100"/>
              <a:buFont typeface="Arial"/>
              <a:buNone/>
            </a:pPr>
            <a:r>
              <a:rPr b="1" lang="en-GB" sz="2000">
                <a:solidFill>
                  <a:schemeClr val="dk1"/>
                </a:solidFill>
                <a:latin typeface="Calibri"/>
                <a:ea typeface="Calibri"/>
                <a:cs typeface="Calibri"/>
                <a:sym typeface="Calibri"/>
              </a:rPr>
              <a:t>Place included use cases to the right of the invoking use case</a:t>
            </a:r>
            <a:r>
              <a:rPr lang="en-GB" sz="2000">
                <a:solidFill>
                  <a:schemeClr val="dk1"/>
                </a:solidFill>
                <a:latin typeface="Calibri"/>
                <a:ea typeface="Calibri"/>
                <a:cs typeface="Calibri"/>
                <a:sym typeface="Calibri"/>
              </a:rPr>
              <a:t> – This is done to improve readability and add clarity.</a:t>
            </a:r>
            <a:endParaRPr sz="2000">
              <a:solidFill>
                <a:schemeClr val="dk1"/>
              </a:solidFill>
              <a:latin typeface="Calibri"/>
              <a:ea typeface="Calibri"/>
              <a:cs typeface="Calibri"/>
              <a:sym typeface="Calibri"/>
            </a:endParaRPr>
          </a:p>
          <a:p>
            <a:pPr indent="0" lvl="0" marL="0" rtl="0" algn="just">
              <a:lnSpc>
                <a:spcPct val="100000"/>
              </a:lnSpc>
              <a:spcBef>
                <a:spcPts val="500"/>
              </a:spcBef>
              <a:spcAft>
                <a:spcPts val="0"/>
              </a:spcAft>
              <a:buSzPts val="1400"/>
              <a:buNone/>
            </a:pPr>
            <a:r>
              <a:rPr lang="en-GB" sz="2000">
                <a:solidFill>
                  <a:schemeClr val="dk1"/>
                </a:solidFill>
              </a:rPr>
              <a:t>•</a:t>
            </a:r>
            <a:r>
              <a:rPr b="1" lang="en-GB" sz="2000">
                <a:solidFill>
                  <a:schemeClr val="dk1"/>
                </a:solidFill>
                <a:latin typeface="Calibri"/>
                <a:ea typeface="Calibri"/>
                <a:cs typeface="Calibri"/>
                <a:sym typeface="Calibri"/>
              </a:rPr>
              <a:t>Place inheriting use case below parent use case</a:t>
            </a:r>
            <a:r>
              <a:rPr lang="en-GB" sz="2000">
                <a:solidFill>
                  <a:schemeClr val="dk1"/>
                </a:solidFill>
                <a:latin typeface="Calibri"/>
                <a:ea typeface="Calibri"/>
                <a:cs typeface="Calibri"/>
                <a:sym typeface="Calibri"/>
              </a:rPr>
              <a:t> – Again this is done to improve the readability of the diagram.</a:t>
            </a:r>
            <a:endParaRPr b="1" sz="20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34" name="Google Shape;534;p6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35" name="Google Shape;535;p6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1"/>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41" name="Google Shape;541;p61"/>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Elements of Use Case</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42" name="Google Shape;542;p6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43" name="Google Shape;543;p6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544" name="Google Shape;544;p61"/>
          <p:cNvPicPr preferRelativeResize="0"/>
          <p:nvPr/>
        </p:nvPicPr>
        <p:blipFill rotWithShape="1">
          <a:blip r:embed="rId3">
            <a:alphaModFix/>
          </a:blip>
          <a:srcRect b="0" l="0" r="0" t="0"/>
          <a:stretch/>
        </p:blipFill>
        <p:spPr>
          <a:xfrm>
            <a:off x="399975" y="1143250"/>
            <a:ext cx="759900" cy="759900"/>
          </a:xfrm>
          <a:prstGeom prst="rect">
            <a:avLst/>
          </a:prstGeom>
          <a:noFill/>
          <a:ln>
            <a:noFill/>
          </a:ln>
        </p:spPr>
      </p:pic>
      <p:sp>
        <p:nvSpPr>
          <p:cNvPr id="545" name="Google Shape;545;p61"/>
          <p:cNvSpPr txBox="1"/>
          <p:nvPr/>
        </p:nvSpPr>
        <p:spPr>
          <a:xfrm>
            <a:off x="399975" y="1991800"/>
            <a:ext cx="759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Actor</a:t>
            </a:r>
            <a:endParaRPr b="0" i="0" sz="1400" u="none" cap="none" strike="noStrike">
              <a:solidFill>
                <a:srgbClr val="000000"/>
              </a:solidFill>
              <a:latin typeface="Arial"/>
              <a:ea typeface="Arial"/>
              <a:cs typeface="Arial"/>
              <a:sym typeface="Arial"/>
            </a:endParaRPr>
          </a:p>
        </p:txBody>
      </p:sp>
      <p:sp>
        <p:nvSpPr>
          <p:cNvPr id="546" name="Google Shape;546;p61"/>
          <p:cNvSpPr txBox="1"/>
          <p:nvPr/>
        </p:nvSpPr>
        <p:spPr>
          <a:xfrm>
            <a:off x="136200" y="4231600"/>
            <a:ext cx="401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Calibri"/>
                <a:ea typeface="Calibri"/>
                <a:cs typeface="Calibri"/>
                <a:sym typeface="Calibri"/>
              </a:rPr>
              <a:t>System function (process – automated or manual).</a:t>
            </a:r>
            <a:endParaRPr b="0" i="0" sz="1400" u="none" cap="none" strike="noStrike">
              <a:solidFill>
                <a:schemeClr val="dk1"/>
              </a:solidFill>
              <a:latin typeface="Calibri"/>
              <a:ea typeface="Calibri"/>
              <a:cs typeface="Calibri"/>
              <a:sym typeface="Calibri"/>
            </a:endParaRPr>
          </a:p>
        </p:txBody>
      </p:sp>
      <p:pic>
        <p:nvPicPr>
          <p:cNvPr id="547" name="Google Shape;547;p61"/>
          <p:cNvPicPr preferRelativeResize="0"/>
          <p:nvPr/>
        </p:nvPicPr>
        <p:blipFill rotWithShape="1">
          <a:blip r:embed="rId4">
            <a:alphaModFix/>
          </a:blip>
          <a:srcRect b="0" l="0" r="0" t="0"/>
          <a:stretch/>
        </p:blipFill>
        <p:spPr>
          <a:xfrm>
            <a:off x="616350" y="3311550"/>
            <a:ext cx="1959400" cy="709700"/>
          </a:xfrm>
          <a:prstGeom prst="rect">
            <a:avLst/>
          </a:prstGeom>
          <a:noFill/>
          <a:ln>
            <a:noFill/>
          </a:ln>
        </p:spPr>
      </p:pic>
      <p:pic>
        <p:nvPicPr>
          <p:cNvPr id="548" name="Google Shape;548;p61"/>
          <p:cNvPicPr preferRelativeResize="0"/>
          <p:nvPr/>
        </p:nvPicPr>
        <p:blipFill rotWithShape="1">
          <a:blip r:embed="rId5">
            <a:alphaModFix/>
          </a:blip>
          <a:srcRect b="0" l="0" r="0" t="0"/>
          <a:stretch/>
        </p:blipFill>
        <p:spPr>
          <a:xfrm>
            <a:off x="4711960" y="1143250"/>
            <a:ext cx="3502738" cy="1971230"/>
          </a:xfrm>
          <a:prstGeom prst="rect">
            <a:avLst/>
          </a:prstGeom>
          <a:noFill/>
          <a:ln>
            <a:noFill/>
          </a:ln>
        </p:spPr>
      </p:pic>
      <p:cxnSp>
        <p:nvCxnSpPr>
          <p:cNvPr id="549" name="Google Shape;549;p61"/>
          <p:cNvCxnSpPr/>
          <p:nvPr/>
        </p:nvCxnSpPr>
        <p:spPr>
          <a:xfrm>
            <a:off x="4917233" y="3666400"/>
            <a:ext cx="1129004" cy="0"/>
          </a:xfrm>
          <a:prstGeom prst="straightConnector1">
            <a:avLst/>
          </a:prstGeom>
          <a:noFill/>
          <a:ln cap="flat" cmpd="sng" w="28575">
            <a:solidFill>
              <a:schemeClr val="dk1"/>
            </a:solidFill>
            <a:prstDash val="dash"/>
            <a:round/>
            <a:headEnd len="sm" w="sm" type="none"/>
            <a:tailEnd len="sm" w="sm" type="none"/>
          </a:ln>
        </p:spPr>
      </p:cxnSp>
      <p:sp>
        <p:nvSpPr>
          <p:cNvPr id="550" name="Google Shape;550;p61"/>
          <p:cNvSpPr txBox="1"/>
          <p:nvPr/>
        </p:nvSpPr>
        <p:spPr>
          <a:xfrm>
            <a:off x="6335486" y="3539972"/>
            <a:ext cx="201529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Stereotype relationship</a:t>
            </a:r>
            <a:endParaRPr b="0" i="0" sz="1400" u="none" cap="none" strike="noStrike">
              <a:solidFill>
                <a:srgbClr val="000000"/>
              </a:solidFill>
              <a:latin typeface="Arial"/>
              <a:ea typeface="Arial"/>
              <a:cs typeface="Arial"/>
              <a:sym typeface="Arial"/>
            </a:endParaRPr>
          </a:p>
        </p:txBody>
      </p:sp>
      <p:sp>
        <p:nvSpPr>
          <p:cNvPr id="551" name="Google Shape;551;p61"/>
          <p:cNvSpPr txBox="1"/>
          <p:nvPr/>
        </p:nvSpPr>
        <p:spPr>
          <a:xfrm>
            <a:off x="6382080" y="3923823"/>
            <a:ext cx="165782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400" u="none" cap="none" strike="noStrike">
                <a:solidFill>
                  <a:srgbClr val="000000"/>
                </a:solidFill>
                <a:latin typeface="Arial"/>
                <a:ea typeface="Arial"/>
                <a:cs typeface="Arial"/>
                <a:sym typeface="Arial"/>
              </a:rPr>
              <a:t>(implicit or explicit)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2"/>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557" name="Google Shape;557;p62"/>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Use Case</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58" name="Google Shape;55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59" name="Google Shape;55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560" name="Google Shape;560;p62"/>
          <p:cNvPicPr preferRelativeResize="0"/>
          <p:nvPr/>
        </p:nvPicPr>
        <p:blipFill rotWithShape="1">
          <a:blip r:embed="rId3">
            <a:alphaModFix/>
          </a:blip>
          <a:srcRect b="0" l="0" r="0" t="0"/>
          <a:stretch/>
        </p:blipFill>
        <p:spPr>
          <a:xfrm>
            <a:off x="1943000" y="1028700"/>
            <a:ext cx="4840326" cy="3653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3"/>
          <p:cNvSpPr txBox="1"/>
          <p:nvPr>
            <p:ph idx="1" type="body"/>
          </p:nvPr>
        </p:nvSpPr>
        <p:spPr>
          <a:xfrm>
            <a:off x="96925" y="799550"/>
            <a:ext cx="8826000" cy="2725200"/>
          </a:xfrm>
          <a:prstGeom prst="rect">
            <a:avLst/>
          </a:prstGeom>
          <a:noFill/>
          <a:ln>
            <a:noFill/>
          </a:ln>
        </p:spPr>
        <p:txBody>
          <a:bodyPr anchorCtr="0" anchor="t" bIns="34275" lIns="68575" spcFirstLastPara="1" rIns="68575" wrap="square" tIns="34275">
            <a:noAutofit/>
          </a:bodyPr>
          <a:lstStyle/>
          <a:p>
            <a:pPr indent="-431800" lvl="0" marL="457200" rtl="0" algn="l">
              <a:lnSpc>
                <a:spcPct val="100000"/>
              </a:lnSpc>
              <a:spcBef>
                <a:spcPts val="0"/>
              </a:spcBef>
              <a:spcAft>
                <a:spcPts val="0"/>
              </a:spcAft>
              <a:buClr>
                <a:schemeClr val="dk1"/>
              </a:buClr>
              <a:buSzPts val="3200"/>
              <a:buFont typeface="Calibri"/>
              <a:buAutoNum type="arabicPeriod"/>
            </a:pPr>
            <a:r>
              <a:rPr lang="en-GB" sz="3200">
                <a:solidFill>
                  <a:schemeClr val="dk1"/>
                </a:solidFill>
                <a:latin typeface="Calibri"/>
                <a:ea typeface="Calibri"/>
                <a:cs typeface="Calibri"/>
                <a:sym typeface="Calibri"/>
              </a:rPr>
              <a:t>Association between actor and use case</a:t>
            </a:r>
            <a:endParaRPr sz="3200">
              <a:solidFill>
                <a:schemeClr val="dk1"/>
              </a:solidFill>
              <a:latin typeface="Calibri"/>
              <a:ea typeface="Calibri"/>
              <a:cs typeface="Calibri"/>
              <a:sym typeface="Calibri"/>
            </a:endParaRPr>
          </a:p>
          <a:p>
            <a:pPr indent="-431800" lvl="0" marL="457200" rtl="0" algn="l">
              <a:lnSpc>
                <a:spcPct val="100000"/>
              </a:lnSpc>
              <a:spcBef>
                <a:spcPts val="0"/>
              </a:spcBef>
              <a:spcAft>
                <a:spcPts val="0"/>
              </a:spcAft>
              <a:buClr>
                <a:schemeClr val="dk1"/>
              </a:buClr>
              <a:buSzPts val="3200"/>
              <a:buFont typeface="Calibri"/>
              <a:buAutoNum type="arabicPeriod"/>
            </a:pPr>
            <a:r>
              <a:rPr lang="en-GB" sz="3200">
                <a:solidFill>
                  <a:schemeClr val="dk1"/>
                </a:solidFill>
                <a:latin typeface="Calibri"/>
                <a:ea typeface="Calibri"/>
                <a:cs typeface="Calibri"/>
                <a:sym typeface="Calibri"/>
              </a:rPr>
              <a:t>Generalization of an actor</a:t>
            </a:r>
            <a:endParaRPr sz="3200">
              <a:solidFill>
                <a:schemeClr val="dk1"/>
              </a:solidFill>
              <a:latin typeface="Calibri"/>
              <a:ea typeface="Calibri"/>
              <a:cs typeface="Calibri"/>
              <a:sym typeface="Calibri"/>
            </a:endParaRPr>
          </a:p>
          <a:p>
            <a:pPr indent="-431800" lvl="0" marL="457200" rtl="0" algn="l">
              <a:lnSpc>
                <a:spcPct val="100000"/>
              </a:lnSpc>
              <a:spcBef>
                <a:spcPts val="0"/>
              </a:spcBef>
              <a:spcAft>
                <a:spcPts val="0"/>
              </a:spcAft>
              <a:buClr>
                <a:schemeClr val="dk1"/>
              </a:buClr>
              <a:buSzPts val="3200"/>
              <a:buFont typeface="Calibri"/>
              <a:buAutoNum type="arabicPeriod"/>
            </a:pPr>
            <a:r>
              <a:rPr lang="en-GB" sz="3200">
                <a:solidFill>
                  <a:schemeClr val="dk1"/>
                </a:solidFill>
                <a:latin typeface="Calibri"/>
                <a:ea typeface="Calibri"/>
                <a:cs typeface="Calibri"/>
                <a:sym typeface="Calibri"/>
              </a:rPr>
              <a:t>Extend between two use cases</a:t>
            </a:r>
            <a:endParaRPr sz="3200">
              <a:solidFill>
                <a:schemeClr val="dk1"/>
              </a:solidFill>
              <a:latin typeface="Calibri"/>
              <a:ea typeface="Calibri"/>
              <a:cs typeface="Calibri"/>
              <a:sym typeface="Calibri"/>
            </a:endParaRPr>
          </a:p>
          <a:p>
            <a:pPr indent="-431800" lvl="0" marL="457200" rtl="0" algn="l">
              <a:lnSpc>
                <a:spcPct val="100000"/>
              </a:lnSpc>
              <a:spcBef>
                <a:spcPts val="0"/>
              </a:spcBef>
              <a:spcAft>
                <a:spcPts val="0"/>
              </a:spcAft>
              <a:buClr>
                <a:schemeClr val="dk1"/>
              </a:buClr>
              <a:buSzPts val="3200"/>
              <a:buFont typeface="Calibri"/>
              <a:buAutoNum type="arabicPeriod"/>
            </a:pPr>
            <a:r>
              <a:rPr lang="en-GB" sz="3200">
                <a:solidFill>
                  <a:schemeClr val="dk1"/>
                </a:solidFill>
                <a:latin typeface="Calibri"/>
                <a:ea typeface="Calibri"/>
                <a:cs typeface="Calibri"/>
                <a:sym typeface="Calibri"/>
              </a:rPr>
              <a:t>Include between two use cases</a:t>
            </a:r>
            <a:endParaRPr sz="3200">
              <a:solidFill>
                <a:schemeClr val="dk1"/>
              </a:solidFill>
              <a:latin typeface="Calibri"/>
              <a:ea typeface="Calibri"/>
              <a:cs typeface="Calibri"/>
              <a:sym typeface="Calibri"/>
            </a:endParaRPr>
          </a:p>
          <a:p>
            <a:pPr indent="-431800" lvl="0" marL="457200" rtl="0" algn="l">
              <a:lnSpc>
                <a:spcPct val="100000"/>
              </a:lnSpc>
              <a:spcBef>
                <a:spcPts val="0"/>
              </a:spcBef>
              <a:spcAft>
                <a:spcPts val="0"/>
              </a:spcAft>
              <a:buClr>
                <a:schemeClr val="dk1"/>
              </a:buClr>
              <a:buSzPts val="3200"/>
              <a:buFont typeface="Calibri"/>
              <a:buAutoNum type="arabicPeriod"/>
            </a:pPr>
            <a:r>
              <a:rPr lang="en-GB" sz="3200">
                <a:solidFill>
                  <a:schemeClr val="dk1"/>
                </a:solidFill>
                <a:latin typeface="Calibri"/>
                <a:ea typeface="Calibri"/>
                <a:cs typeface="Calibri"/>
                <a:sym typeface="Calibri"/>
              </a:rPr>
              <a:t>Generalization of a use case</a:t>
            </a:r>
            <a:endParaRPr sz="3200">
              <a:solidFill>
                <a:schemeClr val="dk1"/>
              </a:solidFill>
              <a:latin typeface="Calibri"/>
              <a:ea typeface="Calibri"/>
              <a:cs typeface="Calibri"/>
              <a:sym typeface="Calibri"/>
            </a:endParaRPr>
          </a:p>
          <a:p>
            <a:pPr indent="0" lvl="0" marL="914400" rtl="0" algn="l">
              <a:lnSpc>
                <a:spcPct val="115000"/>
              </a:lnSpc>
              <a:spcBef>
                <a:spcPts val="800"/>
              </a:spcBef>
              <a:spcAft>
                <a:spcPts val="0"/>
              </a:spcAft>
              <a:buSzPts val="1400"/>
              <a:buNone/>
            </a:pPr>
            <a:r>
              <a:t/>
            </a:r>
            <a:endParaRPr sz="28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66" name="Google Shape;566;p63"/>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Relationship types in Use Case Diagram</a:t>
            </a:r>
            <a:endParaRPr b="1"/>
          </a:p>
        </p:txBody>
      </p:sp>
      <p:sp>
        <p:nvSpPr>
          <p:cNvPr id="567" name="Google Shape;567;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68" name="Google Shape;568;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64"/>
          <p:cNvPicPr preferRelativeResize="0"/>
          <p:nvPr/>
        </p:nvPicPr>
        <p:blipFill rotWithShape="1">
          <a:blip r:embed="rId3">
            <a:alphaModFix/>
          </a:blip>
          <a:srcRect b="0" l="0" r="0" t="0"/>
          <a:stretch/>
        </p:blipFill>
        <p:spPr>
          <a:xfrm>
            <a:off x="1481425" y="2698025"/>
            <a:ext cx="5429250" cy="2343150"/>
          </a:xfrm>
          <a:prstGeom prst="rect">
            <a:avLst/>
          </a:prstGeom>
          <a:noFill/>
          <a:ln>
            <a:noFill/>
          </a:ln>
        </p:spPr>
      </p:pic>
      <p:sp>
        <p:nvSpPr>
          <p:cNvPr id="574" name="Google Shape;574;p64"/>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406400" lvl="0" marL="457200" rtl="0" algn="l">
              <a:lnSpc>
                <a:spcPct val="115000"/>
              </a:lnSpc>
              <a:spcBef>
                <a:spcPts val="800"/>
              </a:spcBef>
              <a:spcAft>
                <a:spcPts val="0"/>
              </a:spcAft>
              <a:buClr>
                <a:srgbClr val="0B5394"/>
              </a:buClr>
              <a:buSzPts val="2800"/>
              <a:buFont typeface="Calibri"/>
              <a:buAutoNum type="arabicPeriod"/>
            </a:pPr>
            <a:r>
              <a:rPr lang="en-GB" sz="2800">
                <a:solidFill>
                  <a:srgbClr val="0B5394"/>
                </a:solidFill>
                <a:latin typeface="Calibri"/>
                <a:ea typeface="Calibri"/>
                <a:cs typeface="Calibri"/>
                <a:sym typeface="Calibri"/>
              </a:rPr>
              <a:t>Association between actor and use case</a:t>
            </a:r>
            <a:endParaRPr b="1" sz="2400">
              <a:solidFill>
                <a:srgbClr val="0B5394"/>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This one is straightforward and present in every use case diagram.</a:t>
            </a:r>
            <a:endParaRPr sz="2400">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An actor must be </a:t>
            </a:r>
            <a:r>
              <a:rPr b="1" lang="en-GB" sz="2400">
                <a:solidFill>
                  <a:schemeClr val="dk1"/>
                </a:solidFill>
                <a:latin typeface="Calibri"/>
                <a:ea typeface="Calibri"/>
                <a:cs typeface="Calibri"/>
                <a:sym typeface="Calibri"/>
              </a:rPr>
              <a:t>associated with at least one use case.</a:t>
            </a:r>
            <a:endParaRPr b="1" sz="2400">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An actor can be </a:t>
            </a:r>
            <a:r>
              <a:rPr b="1" lang="en-GB" sz="2400">
                <a:solidFill>
                  <a:schemeClr val="dk1"/>
                </a:solidFill>
                <a:latin typeface="Calibri"/>
                <a:ea typeface="Calibri"/>
                <a:cs typeface="Calibri"/>
                <a:sym typeface="Calibri"/>
              </a:rPr>
              <a:t>associated with multiple use cases.</a:t>
            </a:r>
            <a:endParaRPr b="1" sz="2400">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b="1" lang="en-GB" sz="2400">
                <a:solidFill>
                  <a:schemeClr val="dk1"/>
                </a:solidFill>
                <a:latin typeface="Calibri"/>
                <a:ea typeface="Calibri"/>
                <a:cs typeface="Calibri"/>
                <a:sym typeface="Calibri"/>
              </a:rPr>
              <a:t>Multiple</a:t>
            </a:r>
            <a:r>
              <a:rPr lang="en-GB" sz="2400">
                <a:solidFill>
                  <a:schemeClr val="dk1"/>
                </a:solidFill>
                <a:latin typeface="Calibri"/>
                <a:ea typeface="Calibri"/>
                <a:cs typeface="Calibri"/>
                <a:sym typeface="Calibri"/>
              </a:rPr>
              <a:t> actors can be </a:t>
            </a:r>
            <a:r>
              <a:rPr b="1" lang="en-GB" sz="2400">
                <a:solidFill>
                  <a:schemeClr val="dk1"/>
                </a:solidFill>
                <a:latin typeface="Calibri"/>
                <a:ea typeface="Calibri"/>
                <a:cs typeface="Calibri"/>
                <a:sym typeface="Calibri"/>
              </a:rPr>
              <a:t>associated with a single use case.</a:t>
            </a:r>
            <a:endParaRPr b="1" sz="2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75" name="Google Shape;575;p64"/>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576" name="Google Shape;576;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77" name="Google Shape;577;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5"/>
          <p:cNvSpPr txBox="1"/>
          <p:nvPr>
            <p:ph idx="1" type="body"/>
          </p:nvPr>
        </p:nvSpPr>
        <p:spPr>
          <a:xfrm>
            <a:off x="318125" y="586350"/>
            <a:ext cx="8826000" cy="1377000"/>
          </a:xfrm>
          <a:prstGeom prst="rect">
            <a:avLst/>
          </a:prstGeom>
          <a:noFill/>
          <a:ln>
            <a:noFill/>
          </a:ln>
        </p:spPr>
        <p:txBody>
          <a:bodyPr anchorCtr="0" anchor="t" bIns="34275" lIns="68575" spcFirstLastPara="1" rIns="68575" wrap="square" tIns="34275">
            <a:noAutofit/>
          </a:bodyPr>
          <a:lstStyle/>
          <a:p>
            <a:pPr indent="0" lvl="0" marL="457200" rtl="0" algn="l">
              <a:lnSpc>
                <a:spcPct val="115000"/>
              </a:lnSpc>
              <a:spcBef>
                <a:spcPts val="800"/>
              </a:spcBef>
              <a:spcAft>
                <a:spcPts val="0"/>
              </a:spcAft>
              <a:buSzPts val="1400"/>
              <a:buNone/>
            </a:pPr>
            <a:r>
              <a:rPr b="1" lang="en-GB" sz="2800">
                <a:solidFill>
                  <a:srgbClr val="0B5394"/>
                </a:solidFill>
                <a:latin typeface="Calibri"/>
                <a:ea typeface="Calibri"/>
                <a:cs typeface="Calibri"/>
                <a:sym typeface="Calibri"/>
              </a:rPr>
              <a:t>2. Generalization of  actor and use case</a:t>
            </a:r>
            <a:endParaRPr b="1" sz="2400">
              <a:solidFill>
                <a:srgbClr val="0B5394"/>
              </a:solidFill>
              <a:latin typeface="Calibri"/>
              <a:ea typeface="Calibri"/>
              <a:cs typeface="Calibri"/>
              <a:sym typeface="Calibri"/>
            </a:endParaRPr>
          </a:p>
          <a:p>
            <a:pPr indent="-368300" lvl="0" marL="457200" rtl="0" algn="l">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Generalization of an actor means that one actor can inherit the role of other actor.</a:t>
            </a:r>
            <a:endParaRPr b="1"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83" name="Google Shape;583;p65"/>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584" name="Google Shape;584;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85" name="Google Shape;585;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586" name="Google Shape;586;p65"/>
          <p:cNvPicPr preferRelativeResize="0"/>
          <p:nvPr/>
        </p:nvPicPr>
        <p:blipFill rotWithShape="1">
          <a:blip r:embed="rId3">
            <a:alphaModFix/>
          </a:blip>
          <a:srcRect b="0" l="0" r="0" t="0"/>
          <a:stretch/>
        </p:blipFill>
        <p:spPr>
          <a:xfrm>
            <a:off x="2852975" y="2115750"/>
            <a:ext cx="3311708" cy="24991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6"/>
          <p:cNvSpPr txBox="1"/>
          <p:nvPr>
            <p:ph idx="1" type="body"/>
          </p:nvPr>
        </p:nvSpPr>
        <p:spPr>
          <a:xfrm>
            <a:off x="318125" y="586350"/>
            <a:ext cx="8826000" cy="1377000"/>
          </a:xfrm>
          <a:prstGeom prst="rect">
            <a:avLst/>
          </a:prstGeom>
          <a:noFill/>
          <a:ln>
            <a:noFill/>
          </a:ln>
        </p:spPr>
        <p:txBody>
          <a:bodyPr anchorCtr="0" anchor="t" bIns="34275" lIns="68575" spcFirstLastPara="1" rIns="68575" wrap="square" tIns="34275">
            <a:noAutofit/>
          </a:bodyPr>
          <a:lstStyle/>
          <a:p>
            <a:pPr indent="0" lvl="0" marL="457200" rtl="0" algn="l">
              <a:lnSpc>
                <a:spcPct val="115000"/>
              </a:lnSpc>
              <a:spcBef>
                <a:spcPts val="800"/>
              </a:spcBef>
              <a:spcAft>
                <a:spcPts val="0"/>
              </a:spcAft>
              <a:buSzPts val="1400"/>
              <a:buNone/>
            </a:pPr>
            <a:r>
              <a:rPr b="1" lang="en-GB" sz="2800">
                <a:solidFill>
                  <a:srgbClr val="0B5394"/>
                </a:solidFill>
                <a:latin typeface="Calibri"/>
                <a:ea typeface="Calibri"/>
                <a:cs typeface="Calibri"/>
                <a:sym typeface="Calibri"/>
              </a:rPr>
              <a:t>3. Extend between two use case</a:t>
            </a:r>
            <a:endParaRPr b="1" sz="2400">
              <a:solidFill>
                <a:srgbClr val="0B5394"/>
              </a:solidFill>
              <a:latin typeface="Calibri"/>
              <a:ea typeface="Calibri"/>
              <a:cs typeface="Calibri"/>
              <a:sym typeface="Calibri"/>
            </a:endParaRPr>
          </a:p>
          <a:p>
            <a:pPr indent="-368300" lvl="0" marL="457200" rtl="0" algn="just">
              <a:lnSpc>
                <a:spcPct val="100000"/>
              </a:lnSpc>
              <a:spcBef>
                <a:spcPts val="70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It extends the base use case and adds more functionality to the system. </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The extending use case is dependent on the extended (base) use case</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The extending use case is usually optional and can be triggered conditionally.</a:t>
            </a:r>
            <a:endParaRPr b="1"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The extended (base) use case must be meaningful on its own</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Arrow points to the base use case when using &lt;&lt;extend&gt;&gt;</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Extending use case is optional</a:t>
            </a:r>
            <a:endParaRPr sz="22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2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92" name="Google Shape;592;p66"/>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593" name="Google Shape;593;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94" name="Google Shape;594;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7"/>
          <p:cNvSpPr txBox="1"/>
          <p:nvPr>
            <p:ph idx="1" type="body"/>
          </p:nvPr>
        </p:nvSpPr>
        <p:spPr>
          <a:xfrm>
            <a:off x="318125" y="586350"/>
            <a:ext cx="8826000" cy="1377000"/>
          </a:xfrm>
          <a:prstGeom prst="rect">
            <a:avLst/>
          </a:prstGeom>
          <a:noFill/>
          <a:ln>
            <a:noFill/>
          </a:ln>
        </p:spPr>
        <p:txBody>
          <a:bodyPr anchorCtr="0" anchor="t" bIns="34275" lIns="68575" spcFirstLastPara="1" rIns="68575" wrap="square" tIns="34275">
            <a:noAutofit/>
          </a:bodyPr>
          <a:lstStyle/>
          <a:p>
            <a:pPr indent="0" lvl="0" marL="457200" rtl="0" algn="l">
              <a:lnSpc>
                <a:spcPct val="115000"/>
              </a:lnSpc>
              <a:spcBef>
                <a:spcPts val="800"/>
              </a:spcBef>
              <a:spcAft>
                <a:spcPts val="0"/>
              </a:spcAft>
              <a:buSzPts val="1400"/>
              <a:buNone/>
            </a:pPr>
            <a:r>
              <a:rPr b="1" lang="en-GB" sz="2800">
                <a:solidFill>
                  <a:srgbClr val="0B5394"/>
                </a:solidFill>
                <a:latin typeface="Calibri"/>
                <a:ea typeface="Calibri"/>
                <a:cs typeface="Calibri"/>
                <a:sym typeface="Calibri"/>
              </a:rPr>
              <a:t>3. Extend between two use case</a:t>
            </a:r>
            <a:endParaRPr b="1" sz="2400">
              <a:solidFill>
                <a:srgbClr val="0B5394"/>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2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00" name="Google Shape;600;p67"/>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601" name="Google Shape;601;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02" name="Google Shape;602;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03" name="Google Shape;603;p67"/>
          <p:cNvPicPr preferRelativeResize="0"/>
          <p:nvPr/>
        </p:nvPicPr>
        <p:blipFill rotWithShape="1">
          <a:blip r:embed="rId3">
            <a:alphaModFix/>
          </a:blip>
          <a:srcRect b="0" l="0" r="0" t="0"/>
          <a:stretch/>
        </p:blipFill>
        <p:spPr>
          <a:xfrm>
            <a:off x="2064271" y="1271825"/>
            <a:ext cx="4393675" cy="32853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id="608" name="Google Shape;608;p68"/>
          <p:cNvPicPr preferRelativeResize="0"/>
          <p:nvPr/>
        </p:nvPicPr>
        <p:blipFill rotWithShape="1">
          <a:blip r:embed="rId3">
            <a:alphaModFix/>
          </a:blip>
          <a:srcRect b="0" l="0" r="0" t="0"/>
          <a:stretch/>
        </p:blipFill>
        <p:spPr>
          <a:xfrm>
            <a:off x="2657525" y="2670324"/>
            <a:ext cx="3161126" cy="2370850"/>
          </a:xfrm>
          <a:prstGeom prst="rect">
            <a:avLst/>
          </a:prstGeom>
          <a:noFill/>
          <a:ln>
            <a:noFill/>
          </a:ln>
        </p:spPr>
      </p:pic>
      <p:sp>
        <p:nvSpPr>
          <p:cNvPr id="609" name="Google Shape;609;p68"/>
          <p:cNvSpPr txBox="1"/>
          <p:nvPr>
            <p:ph idx="1" type="body"/>
          </p:nvPr>
        </p:nvSpPr>
        <p:spPr>
          <a:xfrm>
            <a:off x="224819" y="427703"/>
            <a:ext cx="8826000" cy="1377000"/>
          </a:xfrm>
          <a:prstGeom prst="rect">
            <a:avLst/>
          </a:prstGeom>
          <a:noFill/>
          <a:ln>
            <a:noFill/>
          </a:ln>
        </p:spPr>
        <p:txBody>
          <a:bodyPr anchorCtr="0" anchor="t" bIns="34275" lIns="68575" spcFirstLastPara="1" rIns="68575" wrap="square" tIns="34275">
            <a:noAutofit/>
          </a:bodyPr>
          <a:lstStyle/>
          <a:p>
            <a:pPr indent="0" lvl="0" marL="457200" rtl="0" algn="l">
              <a:lnSpc>
                <a:spcPct val="115000"/>
              </a:lnSpc>
              <a:spcBef>
                <a:spcPts val="800"/>
              </a:spcBef>
              <a:spcAft>
                <a:spcPts val="0"/>
              </a:spcAft>
              <a:buSzPts val="1400"/>
              <a:buNone/>
            </a:pPr>
            <a:r>
              <a:rPr b="1" lang="en-GB" sz="2800">
                <a:solidFill>
                  <a:srgbClr val="0B5394"/>
                </a:solidFill>
                <a:latin typeface="Calibri"/>
                <a:ea typeface="Calibri"/>
                <a:cs typeface="Calibri"/>
                <a:sym typeface="Calibri"/>
              </a:rPr>
              <a:t>4. Include between two use case</a:t>
            </a:r>
            <a:endParaRPr b="1" sz="2400">
              <a:solidFill>
                <a:srgbClr val="0B5394"/>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000">
                <a:solidFill>
                  <a:schemeClr val="dk1"/>
                </a:solidFill>
                <a:latin typeface="Calibri"/>
                <a:ea typeface="Calibri"/>
                <a:cs typeface="Calibri"/>
                <a:sym typeface="Calibri"/>
              </a:rPr>
              <a:t>Include relationship show that the behavior of the included use case is part of the including (base) use case. </a:t>
            </a:r>
            <a:endParaRPr sz="20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000">
                <a:solidFill>
                  <a:schemeClr val="dk1"/>
                </a:solidFill>
                <a:latin typeface="Calibri"/>
                <a:ea typeface="Calibri"/>
                <a:cs typeface="Calibri"/>
                <a:sym typeface="Calibri"/>
              </a:rPr>
              <a:t>The base use case is incomplete without the included use case.</a:t>
            </a:r>
            <a:endParaRPr sz="20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000">
                <a:solidFill>
                  <a:schemeClr val="dk1"/>
                </a:solidFill>
                <a:latin typeface="Calibri"/>
                <a:ea typeface="Calibri"/>
                <a:cs typeface="Calibri"/>
                <a:sym typeface="Calibri"/>
              </a:rPr>
              <a:t>The included use case is mandatory and not optional.</a:t>
            </a:r>
            <a:endParaRPr sz="20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000">
                <a:solidFill>
                  <a:schemeClr val="dk1"/>
                </a:solidFill>
                <a:latin typeface="Calibri"/>
                <a:ea typeface="Calibri"/>
                <a:cs typeface="Calibri"/>
                <a:sym typeface="Calibri"/>
              </a:rPr>
              <a:t>Like a “use case subroutine” </a:t>
            </a:r>
            <a:endParaRPr sz="20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2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10" name="Google Shape;610;p68"/>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611" name="Google Shape;611;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12" name="Google Shape;612;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9">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9"/>
          <p:cNvSpPr txBox="1"/>
          <p:nvPr>
            <p:ph idx="1" type="body"/>
          </p:nvPr>
        </p:nvSpPr>
        <p:spPr>
          <a:xfrm>
            <a:off x="318125" y="586350"/>
            <a:ext cx="7632600" cy="1377000"/>
          </a:xfrm>
          <a:prstGeom prst="rect">
            <a:avLst/>
          </a:prstGeom>
          <a:noFill/>
          <a:ln>
            <a:noFill/>
          </a:ln>
        </p:spPr>
        <p:txBody>
          <a:bodyPr anchorCtr="0" anchor="t" bIns="34275" lIns="68575" spcFirstLastPara="1" rIns="68575" wrap="square" tIns="34275">
            <a:noAutofit/>
          </a:bodyPr>
          <a:lstStyle/>
          <a:p>
            <a:pPr indent="0" lvl="0" marL="457200" rtl="0" algn="l">
              <a:lnSpc>
                <a:spcPct val="115000"/>
              </a:lnSpc>
              <a:spcBef>
                <a:spcPts val="800"/>
              </a:spcBef>
              <a:spcAft>
                <a:spcPts val="0"/>
              </a:spcAft>
              <a:buSzPts val="1400"/>
              <a:buNone/>
            </a:pPr>
            <a:r>
              <a:rPr b="1" lang="en-GB" sz="2800">
                <a:solidFill>
                  <a:srgbClr val="0B5394"/>
                </a:solidFill>
                <a:latin typeface="Calibri"/>
                <a:ea typeface="Calibri"/>
                <a:cs typeface="Calibri"/>
                <a:sym typeface="Calibri"/>
              </a:rPr>
              <a:t>5. Generalisation of a  use case</a:t>
            </a:r>
            <a:endParaRPr b="1" sz="2400">
              <a:solidFill>
                <a:srgbClr val="0B5394"/>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This is similar to the generalization of an actor. </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This is used when there are common behavior between two use cases and also specialized behavior specific to each use case.</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sz="2200">
              <a:solidFill>
                <a:schemeClr val="dk1"/>
              </a:solidFill>
            </a:endParaRPr>
          </a:p>
          <a:p>
            <a:pPr indent="0" lvl="0" marL="0" rtl="0" algn="l">
              <a:lnSpc>
                <a:spcPct val="10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2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18" name="Google Shape;618;p69"/>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 Diagram</a:t>
            </a:r>
            <a:endParaRPr b="1"/>
          </a:p>
        </p:txBody>
      </p:sp>
      <p:sp>
        <p:nvSpPr>
          <p:cNvPr id="619" name="Google Shape;619;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20" name="Google Shape;620;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21" name="Google Shape;621;p69"/>
          <p:cNvPicPr preferRelativeResize="0"/>
          <p:nvPr/>
        </p:nvPicPr>
        <p:blipFill rotWithShape="1">
          <a:blip r:embed="rId3">
            <a:alphaModFix/>
          </a:blip>
          <a:srcRect b="0" l="0" r="0" t="0"/>
          <a:stretch/>
        </p:blipFill>
        <p:spPr>
          <a:xfrm>
            <a:off x="2373250" y="2417800"/>
            <a:ext cx="4324350" cy="223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627" name="Google Shape;627;p7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fontScale="77500" lnSpcReduction="20000"/>
          </a:bodyPr>
          <a:lstStyle/>
          <a:p>
            <a:pPr indent="0" lvl="0" marL="0" rtl="0" algn="just">
              <a:lnSpc>
                <a:spcPct val="115000"/>
              </a:lnSpc>
              <a:spcBef>
                <a:spcPts val="600"/>
              </a:spcBef>
              <a:spcAft>
                <a:spcPts val="0"/>
              </a:spcAft>
              <a:buSzPct val="66905"/>
              <a:buNone/>
            </a:pPr>
            <a:r>
              <a:rPr b="1" lang="en-GB" sz="2700">
                <a:solidFill>
                  <a:schemeClr val="dk1"/>
                </a:solidFill>
                <a:latin typeface="Calibri"/>
                <a:ea typeface="Calibri"/>
                <a:cs typeface="Calibri"/>
                <a:sym typeface="Calibri"/>
              </a:rPr>
              <a:t>Draw use case diagram.</a:t>
            </a:r>
            <a:endParaRPr b="1" sz="2700">
              <a:solidFill>
                <a:schemeClr val="dk1"/>
              </a:solidFill>
            </a:endParaRPr>
          </a:p>
          <a:p>
            <a:pPr indent="0" lvl="0" marL="0" rtl="0" algn="just">
              <a:lnSpc>
                <a:spcPct val="115000"/>
              </a:lnSpc>
              <a:spcBef>
                <a:spcPts val="600"/>
              </a:spcBef>
              <a:spcAft>
                <a:spcPts val="0"/>
              </a:spcAft>
              <a:buSzPct val="66905"/>
              <a:buNone/>
            </a:pPr>
            <a:r>
              <a:rPr lang="en-GB" sz="2700">
                <a:solidFill>
                  <a:schemeClr val="dk1"/>
                </a:solidFill>
                <a:latin typeface="Calibri"/>
                <a:ea typeface="Calibri"/>
                <a:cs typeface="Calibri"/>
                <a:sym typeface="Calibri"/>
              </a:rPr>
              <a:t>A vending machine accepts coins for a  variety of products. The user selects the drink from products available through the selection panel. If the drink is available the price of the product is displayed. The user the deposits the coins depending on the price of the product. Coin collector collects the coins. After stipulated time, the controller will compare the deposited coins with the price, If the amount deposited is less than the price then error message will be displayed and all deposited coins will be dispensed by coin dispenser else the drink will be dispensed by the product dispenser.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1"/>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lang="en-GB" sz="4000">
                <a:latin typeface="Calibri"/>
                <a:ea typeface="Calibri"/>
                <a:cs typeface="Calibri"/>
                <a:sym typeface="Calibri"/>
              </a:rPr>
              <a:t>Use Case Diagram for Vending Machine</a:t>
            </a:r>
            <a:endParaRPr b="1"/>
          </a:p>
        </p:txBody>
      </p:sp>
      <p:sp>
        <p:nvSpPr>
          <p:cNvPr id="633" name="Google Shape;633;p71"/>
          <p:cNvSpPr txBox="1"/>
          <p:nvPr>
            <p:ph idx="1" type="body"/>
          </p:nvPr>
        </p:nvSpPr>
        <p:spPr>
          <a:xfrm>
            <a:off x="318125" y="586350"/>
            <a:ext cx="8826000" cy="27252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8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Actor- User</a:t>
            </a:r>
            <a:endParaRPr sz="2400">
              <a:solidFill>
                <a:schemeClr val="dk1"/>
              </a:solidFill>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Processes involved in the system</a:t>
            </a:r>
            <a:endParaRPr sz="2400">
              <a:solidFill>
                <a:schemeClr val="dk1"/>
              </a:solidFill>
              <a:latin typeface="Calibri"/>
              <a:ea typeface="Calibri"/>
              <a:cs typeface="Calibri"/>
              <a:sym typeface="Calibri"/>
            </a:endParaRPr>
          </a:p>
          <a:p>
            <a:pPr indent="0" lvl="0" marL="457200" rtl="0" algn="l">
              <a:lnSpc>
                <a:spcPct val="115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Select product</a:t>
            </a:r>
            <a:endParaRPr sz="2400">
              <a:solidFill>
                <a:schemeClr val="dk1"/>
              </a:solidFill>
              <a:latin typeface="Calibri"/>
              <a:ea typeface="Calibri"/>
              <a:cs typeface="Calibri"/>
              <a:sym typeface="Calibri"/>
            </a:endParaRPr>
          </a:p>
          <a:p>
            <a:pPr indent="0" lvl="0" marL="457200" rtl="0" algn="l">
              <a:lnSpc>
                <a:spcPct val="115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Deposit coins</a:t>
            </a:r>
            <a:endParaRPr sz="2400">
              <a:solidFill>
                <a:schemeClr val="dk1"/>
              </a:solidFill>
              <a:latin typeface="Calibri"/>
              <a:ea typeface="Calibri"/>
              <a:cs typeface="Calibri"/>
              <a:sym typeface="Calibri"/>
            </a:endParaRPr>
          </a:p>
          <a:p>
            <a:pPr indent="0" lvl="0" marL="457200" rtl="0" algn="l">
              <a:lnSpc>
                <a:spcPct val="115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Verify the deposited amount</a:t>
            </a:r>
            <a:endParaRPr sz="2400">
              <a:solidFill>
                <a:schemeClr val="dk1"/>
              </a:solidFill>
              <a:latin typeface="Calibri"/>
              <a:ea typeface="Calibri"/>
              <a:cs typeface="Calibri"/>
              <a:sym typeface="Calibri"/>
            </a:endParaRPr>
          </a:p>
          <a:p>
            <a:pPr indent="0" lvl="0" marL="457200" rtl="0" algn="l">
              <a:lnSpc>
                <a:spcPct val="115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Dispense product</a:t>
            </a:r>
            <a:endParaRPr sz="2400">
              <a:solidFill>
                <a:schemeClr val="dk1"/>
              </a:solidFill>
              <a:latin typeface="Calibri"/>
              <a:ea typeface="Calibri"/>
              <a:cs typeface="Calibri"/>
              <a:sym typeface="Calibri"/>
            </a:endParaRPr>
          </a:p>
          <a:p>
            <a:pPr indent="0" lvl="0" marL="457200" rtl="0" algn="l">
              <a:lnSpc>
                <a:spcPct val="115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Dispense coins</a:t>
            </a:r>
            <a:endParaRPr sz="2400">
              <a:solidFill>
                <a:schemeClr val="dk1"/>
              </a:solidFill>
              <a:latin typeface="Calibri"/>
              <a:ea typeface="Calibri"/>
              <a:cs typeface="Calibri"/>
              <a:sym typeface="Calibri"/>
            </a:endParaRPr>
          </a:p>
          <a:p>
            <a:pPr indent="0" lvl="0" marL="457200" rtl="0" algn="l">
              <a:lnSpc>
                <a:spcPct val="115000"/>
              </a:lnSpc>
              <a:spcBef>
                <a:spcPts val="800"/>
              </a:spcBef>
              <a:spcAft>
                <a:spcPts val="0"/>
              </a:spcAft>
              <a:buSzPts val="1400"/>
              <a:buNone/>
            </a:pPr>
            <a:r>
              <a:t/>
            </a:r>
            <a:endParaRPr b="1" sz="2400">
              <a:solidFill>
                <a:srgbClr val="002060"/>
              </a:solidFill>
              <a:latin typeface="Calibri"/>
              <a:ea typeface="Calibri"/>
              <a:cs typeface="Calibri"/>
              <a:sym typeface="Calibri"/>
            </a:endParaRPr>
          </a:p>
          <a:p>
            <a:pPr indent="0" lvl="0" marL="0" rtl="0" algn="just">
              <a:lnSpc>
                <a:spcPct val="100000"/>
              </a:lnSpc>
              <a:spcBef>
                <a:spcPts val="500"/>
              </a:spcBef>
              <a:spcAft>
                <a:spcPts val="0"/>
              </a:spcAft>
              <a:buSzPts val="1400"/>
              <a:buNone/>
            </a:pPr>
            <a:r>
              <a:t/>
            </a:r>
            <a:endParaRPr b="1" sz="20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34" name="Google Shape;634;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35" name="Google Shape;635;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2"/>
          <p:cNvSpPr txBox="1"/>
          <p:nvPr>
            <p:ph type="title"/>
          </p:nvPr>
        </p:nvSpPr>
        <p:spPr>
          <a:xfrm>
            <a:off x="136200" y="91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lang="en-GB" sz="4000">
                <a:latin typeface="Calibri"/>
                <a:ea typeface="Calibri"/>
                <a:cs typeface="Calibri"/>
                <a:sym typeface="Calibri"/>
              </a:rPr>
              <a:t>Use Case Diagram for Vending Machine</a:t>
            </a:r>
            <a:endParaRPr b="1"/>
          </a:p>
        </p:txBody>
      </p:sp>
      <p:sp>
        <p:nvSpPr>
          <p:cNvPr id="641" name="Google Shape;641;p7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42" name="Google Shape;642;p7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43" name="Google Shape;643;p72"/>
          <p:cNvPicPr preferRelativeResize="0"/>
          <p:nvPr/>
        </p:nvPicPr>
        <p:blipFill rotWithShape="1">
          <a:blip r:embed="rId3">
            <a:alphaModFix/>
          </a:blip>
          <a:srcRect b="0" l="0" r="0" t="0"/>
          <a:stretch/>
        </p:blipFill>
        <p:spPr>
          <a:xfrm>
            <a:off x="1892725" y="784247"/>
            <a:ext cx="5358558" cy="383061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7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Use Cases</a:t>
            </a:r>
            <a:endParaRPr b="1"/>
          </a:p>
        </p:txBody>
      </p:sp>
      <p:sp>
        <p:nvSpPr>
          <p:cNvPr id="649" name="Google Shape;649;p73"/>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b="1" lang="en-GB" sz="2800">
                <a:solidFill>
                  <a:srgbClr val="002060"/>
                </a:solidFill>
                <a:latin typeface="Calibri"/>
                <a:ea typeface="Calibri"/>
                <a:cs typeface="Calibri"/>
                <a:sym typeface="Calibri"/>
              </a:rPr>
              <a:t>Template for Use Cases</a:t>
            </a:r>
            <a:endParaRPr b="1" sz="2800">
              <a:solidFill>
                <a:srgbClr val="002060"/>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50" name="Google Shape;650;p7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51" name="Google Shape;651;p7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graphicFrame>
        <p:nvGraphicFramePr>
          <p:cNvPr id="652" name="Google Shape;652;p73"/>
          <p:cNvGraphicFramePr/>
          <p:nvPr/>
        </p:nvGraphicFramePr>
        <p:xfrm>
          <a:off x="712650" y="1209625"/>
          <a:ext cx="3000000" cy="3000000"/>
        </p:xfrm>
        <a:graphic>
          <a:graphicData uri="http://schemas.openxmlformats.org/drawingml/2006/table">
            <a:tbl>
              <a:tblPr>
                <a:noFill/>
                <a:tableStyleId>{2C7ED822-DE81-4C64-AE2C-652BFD902161}</a:tableStyleId>
              </a:tblPr>
              <a:tblGrid>
                <a:gridCol w="3619500"/>
                <a:gridCol w="36195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Use Case name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&lt;variable used to identify the use case&gt;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Participating actors instances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&lt;mention who will be a part of this event&gt;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Flow of event</a:t>
                      </a:r>
                      <a:endParaRPr sz="1400" u="none" cap="none" strike="noStrike"/>
                    </a:p>
                  </a:txBody>
                  <a:tcPr marT="91425" marB="91425" marR="91425" marL="91425"/>
                </a:tc>
                <a:tc>
                  <a:txBody>
                    <a:bodyPr/>
                    <a:lstStyle/>
                    <a:p>
                      <a:pPr indent="-317500" lvl="0" marL="457200" marR="0" rtl="0" algn="l">
                        <a:lnSpc>
                          <a:spcPct val="100000"/>
                        </a:lnSpc>
                        <a:spcBef>
                          <a:spcPts val="0"/>
                        </a:spcBef>
                        <a:spcAft>
                          <a:spcPts val="0"/>
                        </a:spcAft>
                        <a:buClr>
                          <a:srgbClr val="000000"/>
                        </a:buClr>
                        <a:buSzPts val="1400"/>
                        <a:buFont typeface="Arial"/>
                        <a:buChar char="●"/>
                      </a:pPr>
                      <a:r>
                        <a:rPr lang="en-GB" sz="1400" u="none" cap="none" strike="noStrike"/>
                        <a:t>Step 1</a:t>
                      </a:r>
                      <a:endParaRPr sz="1400" u="none" cap="none" strike="noStrike"/>
                    </a:p>
                    <a:p>
                      <a:pPr indent="-317500" lvl="0" marL="457200" marR="0" rtl="0" algn="l">
                        <a:lnSpc>
                          <a:spcPct val="100000"/>
                        </a:lnSpc>
                        <a:spcBef>
                          <a:spcPts val="0"/>
                        </a:spcBef>
                        <a:spcAft>
                          <a:spcPts val="0"/>
                        </a:spcAft>
                        <a:buClr>
                          <a:srgbClr val="000000"/>
                        </a:buClr>
                        <a:buSzPts val="1400"/>
                        <a:buFont typeface="Arial"/>
                        <a:buChar char="●"/>
                      </a:pPr>
                      <a:r>
                        <a:rPr lang="en-GB" sz="1400" u="none" cap="none" strike="noStrike"/>
                        <a:t>Step 2</a:t>
                      </a:r>
                      <a:endParaRPr sz="1400" u="none" cap="none" strike="noStrike"/>
                    </a:p>
                    <a:p>
                      <a:pPr indent="-317500" lvl="0" marL="457200" marR="0" rtl="0" algn="l">
                        <a:lnSpc>
                          <a:spcPct val="100000"/>
                        </a:lnSpc>
                        <a:spcBef>
                          <a:spcPts val="0"/>
                        </a:spcBef>
                        <a:spcAft>
                          <a:spcPts val="0"/>
                        </a:spcAft>
                        <a:buClr>
                          <a:srgbClr val="000000"/>
                        </a:buClr>
                        <a:buSzPts val="1400"/>
                        <a:buFont typeface="Arial"/>
                        <a:buChar char="●"/>
                      </a:pPr>
                      <a:r>
                        <a:rPr lang="en-GB" sz="14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Entry Condition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chemeClr val="dk1"/>
                        </a:buClr>
                        <a:buSzPts val="1100"/>
                        <a:buFont typeface="Arial"/>
                        <a:buNone/>
                      </a:pPr>
                      <a:r>
                        <a:rPr lang="en-GB" sz="1400" u="none" cap="none" strike="noStrike">
                          <a:solidFill>
                            <a:schemeClr val="dk1"/>
                          </a:solidFill>
                        </a:rPr>
                        <a:t>Exit Condition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solidFill>
                            <a:schemeClr val="dk1"/>
                          </a:solidFill>
                        </a:rPr>
                        <a:t>Quality Requirements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658" name="Google Shape;658;p74"/>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400"/>
              <a:buNone/>
            </a:pPr>
            <a:r>
              <a:rPr b="1" lang="en-GB" sz="1600">
                <a:solidFill>
                  <a:srgbClr val="002060"/>
                </a:solidFill>
                <a:latin typeface="Calibri"/>
                <a:ea typeface="Calibri"/>
                <a:cs typeface="Calibri"/>
                <a:sym typeface="Calibri"/>
              </a:rPr>
              <a:t>Sample Use Case: TicketDistributor</a:t>
            </a:r>
            <a:endParaRPr b="1" sz="1600">
              <a:solidFill>
                <a:srgbClr val="002060"/>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59" name="Google Shape;659;p7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60" name="Google Shape;660;p7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61" name="Google Shape;661;p74"/>
          <p:cNvPicPr preferRelativeResize="0"/>
          <p:nvPr/>
        </p:nvPicPr>
        <p:blipFill rotWithShape="1">
          <a:blip r:embed="rId3">
            <a:alphaModFix/>
          </a:blip>
          <a:srcRect b="9844" l="17657" r="6785" t="26598"/>
          <a:stretch/>
        </p:blipFill>
        <p:spPr>
          <a:xfrm>
            <a:off x="711879" y="868350"/>
            <a:ext cx="7416446" cy="3898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67" name="Google Shape;667;p75"/>
          <p:cNvSpPr txBox="1"/>
          <p:nvPr>
            <p:ph idx="1" type="body"/>
          </p:nvPr>
        </p:nvSpPr>
        <p:spPr>
          <a:xfrm>
            <a:off x="318125" y="586350"/>
            <a:ext cx="8826000" cy="5403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Use Case Diagram</a:t>
            </a:r>
            <a:endParaRPr b="1" sz="3200">
              <a:solidFill>
                <a:srgbClr val="00206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668" name="Google Shape;668;p7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69" name="Google Shape;669;p7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70" name="Google Shape;670;p75"/>
          <p:cNvPicPr preferRelativeResize="0"/>
          <p:nvPr/>
        </p:nvPicPr>
        <p:blipFill rotWithShape="1">
          <a:blip r:embed="rId3">
            <a:alphaModFix/>
          </a:blip>
          <a:srcRect b="0" l="0" r="0" t="0"/>
          <a:stretch/>
        </p:blipFill>
        <p:spPr>
          <a:xfrm>
            <a:off x="1288275" y="1191050"/>
            <a:ext cx="6095902" cy="3335813"/>
          </a:xfrm>
          <a:prstGeom prst="rect">
            <a:avLst/>
          </a:prstGeom>
          <a:noFill/>
          <a:ln>
            <a:noFill/>
          </a:ln>
        </p:spPr>
      </p:pic>
      <p:sp>
        <p:nvSpPr>
          <p:cNvPr id="671" name="Google Shape;671;p75"/>
          <p:cNvSpPr txBox="1"/>
          <p:nvPr/>
        </p:nvSpPr>
        <p:spPr>
          <a:xfrm>
            <a:off x="1039900" y="4428575"/>
            <a:ext cx="1343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Maintenance Staff</a:t>
            </a:r>
            <a:endParaRPr b="0" i="0" sz="1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Requirements Elicitation Activities</a:t>
            </a:r>
            <a:endParaRPr b="1"/>
          </a:p>
        </p:txBody>
      </p:sp>
      <p:sp>
        <p:nvSpPr>
          <p:cNvPr id="677" name="Google Shape;677;p76"/>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lang="en-GB" sz="1900">
                <a:solidFill>
                  <a:schemeClr val="dk1"/>
                </a:solidFill>
              </a:rPr>
              <a:t>•</a:t>
            </a:r>
            <a:r>
              <a:rPr lang="en-GB" sz="1900">
                <a:solidFill>
                  <a:schemeClr val="dk1"/>
                </a:solidFill>
                <a:latin typeface="Calibri"/>
                <a:ea typeface="Calibri"/>
                <a:cs typeface="Calibri"/>
                <a:sym typeface="Calibri"/>
              </a:rPr>
              <a:t>During this Covid-19 pandemic, government was to regulate permission to organize </a:t>
            </a:r>
            <a:r>
              <a:rPr i="1" lang="en-GB" sz="1900">
                <a:solidFill>
                  <a:schemeClr val="dk1"/>
                </a:solidFill>
                <a:latin typeface="Calibri"/>
                <a:ea typeface="Calibri"/>
                <a:cs typeface="Calibri"/>
                <a:sym typeface="Calibri"/>
              </a:rPr>
              <a:t>Ganpati Utsav</a:t>
            </a:r>
            <a:r>
              <a:rPr lang="en-GB" sz="1900">
                <a:solidFill>
                  <a:schemeClr val="dk1"/>
                </a:solidFill>
                <a:latin typeface="Calibri"/>
                <a:ea typeface="Calibri"/>
                <a:cs typeface="Calibri"/>
                <a:sym typeface="Calibri"/>
              </a:rPr>
              <a:t>, </a:t>
            </a:r>
            <a:r>
              <a:rPr i="1" lang="en-GB" sz="1900">
                <a:solidFill>
                  <a:schemeClr val="dk1"/>
                </a:solidFill>
                <a:latin typeface="Calibri"/>
                <a:ea typeface="Calibri"/>
                <a:cs typeface="Calibri"/>
                <a:sym typeface="Calibri"/>
              </a:rPr>
              <a:t>Navaratri Mandals</a:t>
            </a:r>
            <a:r>
              <a:rPr lang="en-GB" sz="1900">
                <a:solidFill>
                  <a:schemeClr val="dk1"/>
                </a:solidFill>
                <a:latin typeface="Calibri"/>
                <a:ea typeface="Calibri"/>
                <a:cs typeface="Calibri"/>
                <a:sym typeface="Calibri"/>
              </a:rPr>
              <a:t> etc. the authority is interested in setting up a computerised system. It should be an end to end solution providing a facility for various</a:t>
            </a:r>
            <a:r>
              <a:rPr i="1" lang="en-GB" sz="1900">
                <a:solidFill>
                  <a:schemeClr val="dk1"/>
                </a:solidFill>
                <a:latin typeface="Calibri"/>
                <a:ea typeface="Calibri"/>
                <a:cs typeface="Calibri"/>
                <a:sym typeface="Calibri"/>
              </a:rPr>
              <a:t> Mandals </a:t>
            </a:r>
            <a:r>
              <a:rPr lang="en-GB" sz="1900">
                <a:solidFill>
                  <a:schemeClr val="dk1"/>
                </a:solidFill>
                <a:latin typeface="Calibri"/>
                <a:ea typeface="Calibri"/>
                <a:cs typeface="Calibri"/>
                <a:sym typeface="Calibri"/>
              </a:rPr>
              <a:t>such as applying for permission rom municipality, electricity board, local police station, firebrigade etc. allocating/ allowing inspection by the officers. Arranging for </a:t>
            </a:r>
            <a:r>
              <a:rPr i="1" lang="en-GB" sz="1900">
                <a:solidFill>
                  <a:schemeClr val="dk1"/>
                </a:solidFill>
                <a:latin typeface="Calibri"/>
                <a:ea typeface="Calibri"/>
                <a:cs typeface="Calibri"/>
                <a:sym typeface="Calibri"/>
              </a:rPr>
              <a:t>visarjan</a:t>
            </a:r>
            <a:r>
              <a:rPr lang="en-GB" sz="1900">
                <a:solidFill>
                  <a:schemeClr val="dk1"/>
                </a:solidFill>
                <a:latin typeface="Calibri"/>
                <a:ea typeface="Calibri"/>
                <a:cs typeface="Calibri"/>
                <a:sym typeface="Calibri"/>
              </a:rPr>
              <a:t> of the idols.</a:t>
            </a:r>
            <a:endParaRPr sz="19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b="1" lang="en-GB" sz="1900">
                <a:solidFill>
                  <a:srgbClr val="1155CC"/>
                </a:solidFill>
              </a:rPr>
              <a:t>•</a:t>
            </a:r>
            <a:r>
              <a:rPr b="1" lang="en-GB" sz="1900">
                <a:solidFill>
                  <a:srgbClr val="1155CC"/>
                </a:solidFill>
                <a:latin typeface="Calibri"/>
                <a:ea typeface="Calibri"/>
                <a:cs typeface="Calibri"/>
                <a:sym typeface="Calibri"/>
              </a:rPr>
              <a:t>Write down</a:t>
            </a:r>
            <a:endParaRPr b="1" sz="1900">
              <a:solidFill>
                <a:srgbClr val="1155CC"/>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Stakeholders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Functional requirements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Nonfunctional requirements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Actors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Scenarios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Activities</a:t>
            </a:r>
            <a:endParaRPr sz="1900">
              <a:solidFill>
                <a:schemeClr val="dk1"/>
              </a:solidFill>
              <a:latin typeface="Calibri"/>
              <a:ea typeface="Calibri"/>
              <a:cs typeface="Calibri"/>
              <a:sym typeface="Calibri"/>
            </a:endParaRPr>
          </a:p>
          <a:p>
            <a:pPr indent="0" lvl="0" marL="457200" rtl="0" algn="l">
              <a:lnSpc>
                <a:spcPct val="90000"/>
              </a:lnSpc>
              <a:spcBef>
                <a:spcPts val="0"/>
              </a:spcBef>
              <a:spcAft>
                <a:spcPts val="0"/>
              </a:spcAft>
              <a:buClr>
                <a:schemeClr val="dk1"/>
              </a:buClr>
              <a:buSzPts val="1100"/>
              <a:buFont typeface="Arial"/>
              <a:buNone/>
            </a:pPr>
            <a:r>
              <a:rPr lang="en-GB" sz="1900">
                <a:solidFill>
                  <a:schemeClr val="dk1"/>
                </a:solidFill>
              </a:rPr>
              <a:t>•</a:t>
            </a:r>
            <a:r>
              <a:rPr lang="en-GB" sz="1900">
                <a:solidFill>
                  <a:schemeClr val="dk1"/>
                </a:solidFill>
                <a:latin typeface="Calibri"/>
                <a:ea typeface="Calibri"/>
                <a:cs typeface="Calibri"/>
                <a:sym typeface="Calibri"/>
              </a:rPr>
              <a:t>Use cases</a:t>
            </a:r>
            <a:endParaRPr sz="19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b="1" sz="1900">
              <a:solidFill>
                <a:srgbClr val="002060"/>
              </a:solidFill>
              <a:latin typeface="Calibri"/>
              <a:ea typeface="Calibri"/>
              <a:cs typeface="Calibri"/>
              <a:sym typeface="Calibri"/>
            </a:endParaRPr>
          </a:p>
          <a:p>
            <a:pPr indent="0" lvl="0" marL="457200" rtl="0" algn="l">
              <a:lnSpc>
                <a:spcPct val="100000"/>
              </a:lnSpc>
              <a:spcBef>
                <a:spcPts val="0"/>
              </a:spcBef>
              <a:spcAft>
                <a:spcPts val="0"/>
              </a:spcAft>
              <a:buSzPts val="1400"/>
              <a:buNone/>
            </a:pPr>
            <a:r>
              <a:t/>
            </a:r>
            <a:endParaRPr sz="19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900">
              <a:solidFill>
                <a:schemeClr val="dk1"/>
              </a:solidFill>
            </a:endParaRPr>
          </a:p>
          <a:p>
            <a:pPr indent="0" lvl="0" marL="0" rtl="0" algn="l">
              <a:lnSpc>
                <a:spcPct val="100000"/>
              </a:lnSpc>
              <a:spcBef>
                <a:spcPts val="0"/>
              </a:spcBef>
              <a:spcAft>
                <a:spcPts val="0"/>
              </a:spcAft>
              <a:buSzPts val="1400"/>
              <a:buNone/>
            </a:pPr>
            <a:r>
              <a:t/>
            </a:r>
            <a:endParaRPr sz="19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1900">
              <a:solidFill>
                <a:schemeClr val="dk1"/>
              </a:solidFill>
            </a:endParaRPr>
          </a:p>
          <a:p>
            <a:pPr indent="0" lvl="0" marL="0" rtl="0" algn="l">
              <a:lnSpc>
                <a:spcPct val="100000"/>
              </a:lnSpc>
              <a:spcBef>
                <a:spcPts val="0"/>
              </a:spcBef>
              <a:spcAft>
                <a:spcPts val="0"/>
              </a:spcAft>
              <a:buSzPts val="1400"/>
              <a:buNone/>
            </a:pPr>
            <a:r>
              <a:t/>
            </a:r>
            <a:endParaRPr sz="1900">
              <a:solidFill>
                <a:schemeClr val="dk1"/>
              </a:solidFill>
            </a:endParaRPr>
          </a:p>
          <a:p>
            <a:pPr indent="0" lvl="0" marL="0" rtl="0" algn="l">
              <a:lnSpc>
                <a:spcPct val="100000"/>
              </a:lnSpc>
              <a:spcBef>
                <a:spcPts val="0"/>
              </a:spcBef>
              <a:spcAft>
                <a:spcPts val="0"/>
              </a:spcAft>
              <a:buSzPts val="1400"/>
              <a:buNone/>
            </a:pPr>
            <a:r>
              <a:t/>
            </a:r>
            <a:endParaRPr b="1" sz="19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9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1900">
              <a:solidFill>
                <a:schemeClr val="dk1"/>
              </a:solidFill>
              <a:latin typeface="Calibri"/>
              <a:ea typeface="Calibri"/>
              <a:cs typeface="Calibri"/>
              <a:sym typeface="Calibri"/>
            </a:endParaRPr>
          </a:p>
        </p:txBody>
      </p:sp>
      <p:sp>
        <p:nvSpPr>
          <p:cNvPr id="678" name="Google Shape;678;p7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79" name="Google Shape;679;p7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xEl>
                                              <p:pRg end="17" st="1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kjscecomp</dc:creator>
</cp:coreProperties>
</file>
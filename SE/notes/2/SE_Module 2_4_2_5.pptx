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83" roundtripDataSignature="AMtx7mgZf2fLwFi1GRmo7T11+E8Cd72kk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83" Type="http://customschemas.google.com/relationships/presentationmetadata" Target="metadata"/><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31" Type="http://schemas.openxmlformats.org/officeDocument/2006/relationships/slide" Target="slides/slide26.xml"/><Relationship Id="rId75" Type="http://schemas.openxmlformats.org/officeDocument/2006/relationships/slide" Target="slides/slide70.xml"/><Relationship Id="rId30" Type="http://schemas.openxmlformats.org/officeDocument/2006/relationships/slide" Target="slides/slide25.xml"/><Relationship Id="rId74" Type="http://schemas.openxmlformats.org/officeDocument/2006/relationships/slide" Target="slides/slide69.xml"/><Relationship Id="rId33" Type="http://schemas.openxmlformats.org/officeDocument/2006/relationships/slide" Target="slides/slide28.xml"/><Relationship Id="rId77" Type="http://schemas.openxmlformats.org/officeDocument/2006/relationships/slide" Target="slides/slide72.xml"/><Relationship Id="rId32" Type="http://schemas.openxmlformats.org/officeDocument/2006/relationships/slide" Target="slides/slide27.xml"/><Relationship Id="rId76" Type="http://schemas.openxmlformats.org/officeDocument/2006/relationships/slide" Target="slides/slide71.xml"/><Relationship Id="rId35" Type="http://schemas.openxmlformats.org/officeDocument/2006/relationships/slide" Target="slides/slide30.xml"/><Relationship Id="rId79" Type="http://schemas.openxmlformats.org/officeDocument/2006/relationships/slide" Target="slides/slide74.xml"/><Relationship Id="rId34" Type="http://schemas.openxmlformats.org/officeDocument/2006/relationships/slide" Target="slides/slide29.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slide" Target="slides/slide59.xml"/><Relationship Id="rId63" Type="http://schemas.openxmlformats.org/officeDocument/2006/relationships/slide" Target="slides/slide58.xml"/><Relationship Id="rId22" Type="http://schemas.openxmlformats.org/officeDocument/2006/relationships/slide" Target="slides/slide17.xml"/><Relationship Id="rId66" Type="http://schemas.openxmlformats.org/officeDocument/2006/relationships/slide" Target="slides/slide61.xml"/><Relationship Id="rId21" Type="http://schemas.openxmlformats.org/officeDocument/2006/relationships/slide" Target="slides/slide16.xml"/><Relationship Id="rId65" Type="http://schemas.openxmlformats.org/officeDocument/2006/relationships/slide" Target="slides/slide60.xml"/><Relationship Id="rId24" Type="http://schemas.openxmlformats.org/officeDocument/2006/relationships/slide" Target="slides/slide19.xml"/><Relationship Id="rId68" Type="http://schemas.openxmlformats.org/officeDocument/2006/relationships/slide" Target="slides/slide63.xml"/><Relationship Id="rId23" Type="http://schemas.openxmlformats.org/officeDocument/2006/relationships/slide" Target="slides/slide18.xml"/><Relationship Id="rId67" Type="http://schemas.openxmlformats.org/officeDocument/2006/relationships/slide" Target="slides/slide62.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69" Type="http://schemas.openxmlformats.org/officeDocument/2006/relationships/slide" Target="slides/slide64.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1: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 name="Google Shape;54;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2: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2" name="Google Shape;6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3: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0" name="Google Shape;7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4: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8" name="Google Shape;7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5: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8" name="Google Shape;8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6: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7" name="Google Shape;9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7: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6" name="Google Shape;10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8: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4" name="Google Shape;11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9: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2" name="Google Shape;12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1" name="Google Shape;13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11: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0" name="Google Shape;14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2: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1" name="Google Shape;15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3: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9" name="Google Shape;15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4: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8" name="Google Shape;16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5: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7" name="Google Shape;17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6: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6" name="Google Shape;186;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7: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5" name="Google Shape;195;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8: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3" name="Google Shape;203;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20: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8" name="Google Shape;218;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1: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6" name="Google Shape;226;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22: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4" name="Google Shape;234;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3: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2" name="Google Shape;242;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4: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0" name="Google Shape;250;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25: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9" name="Google Shape;259;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26: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9" name="Google Shape;269;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7: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8" name="Google Shape;278;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8: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7" name="Google Shape;287;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29: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6" name="Google Shape;296;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30: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5" name="Google Shape;305;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31: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5" name="Google Shape;315;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32: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4" name="Google Shape;324;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33: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3" name="Google Shape;333;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34: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2" name="Google Shape;342;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35: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1" name="Google Shape;351;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36: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0" name="Google Shape;360;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p37: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9" name="Google Shape;369;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38: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8" name="Google Shape;378;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39: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7" name="Google Shape;387;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4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4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42: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0" name="Google Shape;410;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43: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8" name="Google Shape;418;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44: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6" name="Google Shape;426;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45: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5" name="Google Shape;435;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p46: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4" name="Google Shape;444;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p47: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3" name="Google Shape;453;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48: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3" name="Google Shape;463;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p49: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4" name="Google Shape;474;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p50: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82" name="Google Shape;482;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p51: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92" name="Google Shape;492;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p52: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02" name="Google Shape;502;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53: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12" name="Google Shape;512;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54: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23" name="Google Shape;523;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55: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33" name="Google Shape;533;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p56: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3" name="Google Shape;543;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p57: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53" name="Google Shape;553;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p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3" name="Google Shape;563;p5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p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5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3" name="Shape 573"/>
        <p:cNvGrpSpPr/>
        <p:nvPr/>
      </p:nvGrpSpPr>
      <p:grpSpPr>
        <a:xfrm>
          <a:off x="0" y="0"/>
          <a:ext cx="0" cy="0"/>
          <a:chOff x="0" y="0"/>
          <a:chExt cx="0" cy="0"/>
        </a:xfrm>
      </p:grpSpPr>
      <p:sp>
        <p:nvSpPr>
          <p:cNvPr id="574" name="Google Shape;574;p60: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75" name="Google Shape;575;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p61: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87" name="Google Shape;587;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p62: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97" name="Google Shape;597;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6" name="Shape 606"/>
        <p:cNvGrpSpPr/>
        <p:nvPr/>
      </p:nvGrpSpPr>
      <p:grpSpPr>
        <a:xfrm>
          <a:off x="0" y="0"/>
          <a:ext cx="0" cy="0"/>
          <a:chOff x="0" y="0"/>
          <a:chExt cx="0" cy="0"/>
        </a:xfrm>
      </p:grpSpPr>
      <p:sp>
        <p:nvSpPr>
          <p:cNvPr id="607" name="Google Shape;607;p63: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08" name="Google Shape;608;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p64: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18" name="Google Shape;618;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p65: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27" name="Google Shape;627;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p66: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34" name="Google Shape;634;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p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6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p68: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54" name="Google Shape;654;p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p69: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63" name="Google Shape;663;p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0" name="Shape 670"/>
        <p:cNvGrpSpPr/>
        <p:nvPr/>
      </p:nvGrpSpPr>
      <p:grpSpPr>
        <a:xfrm>
          <a:off x="0" y="0"/>
          <a:ext cx="0" cy="0"/>
          <a:chOff x="0" y="0"/>
          <a:chExt cx="0" cy="0"/>
        </a:xfrm>
      </p:grpSpPr>
      <p:sp>
        <p:nvSpPr>
          <p:cNvPr id="671" name="Google Shape;671;p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7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p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7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p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7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p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7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p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7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p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7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p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7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7" name="Shape 717"/>
        <p:cNvGrpSpPr/>
        <p:nvPr/>
      </p:nvGrpSpPr>
      <p:grpSpPr>
        <a:xfrm>
          <a:off x="0" y="0"/>
          <a:ext cx="0" cy="0"/>
          <a:chOff x="0" y="0"/>
          <a:chExt cx="0" cy="0"/>
        </a:xfrm>
      </p:grpSpPr>
      <p:sp>
        <p:nvSpPr>
          <p:cNvPr id="718" name="Google Shape;718;p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7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 name="Shape 9"/>
        <p:cNvGrpSpPr/>
        <p:nvPr/>
      </p:nvGrpSpPr>
      <p:grpSpPr>
        <a:xfrm>
          <a:off x="0" y="0"/>
          <a:ext cx="0" cy="0"/>
          <a:chOff x="0" y="0"/>
          <a:chExt cx="0" cy="0"/>
        </a:xfrm>
      </p:grpSpPr>
      <p:sp>
        <p:nvSpPr>
          <p:cNvPr id="10" name="Google Shape;10;p79"/>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 name="Google Shape;11;p79"/>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1200"/>
              </a:spcBef>
              <a:spcAft>
                <a:spcPts val="0"/>
              </a:spcAft>
              <a:buClr>
                <a:schemeClr val="dk1"/>
              </a:buClr>
              <a:buSzPts val="1400"/>
              <a:buChar char="○"/>
              <a:defRPr/>
            </a:lvl2pPr>
            <a:lvl3pPr indent="-317500" lvl="2" marL="1371600" algn="l">
              <a:lnSpc>
                <a:spcPct val="90000"/>
              </a:lnSpc>
              <a:spcBef>
                <a:spcPts val="1200"/>
              </a:spcBef>
              <a:spcAft>
                <a:spcPts val="0"/>
              </a:spcAft>
              <a:buClr>
                <a:schemeClr val="dk1"/>
              </a:buClr>
              <a:buSzPts val="1400"/>
              <a:buChar char="■"/>
              <a:defRPr/>
            </a:lvl3pPr>
            <a:lvl4pPr indent="-317500" lvl="3" marL="1828800" algn="l">
              <a:lnSpc>
                <a:spcPct val="90000"/>
              </a:lnSpc>
              <a:spcBef>
                <a:spcPts val="1200"/>
              </a:spcBef>
              <a:spcAft>
                <a:spcPts val="0"/>
              </a:spcAft>
              <a:buClr>
                <a:schemeClr val="dk1"/>
              </a:buClr>
              <a:buSzPts val="1400"/>
              <a:buChar char="●"/>
              <a:defRPr/>
            </a:lvl4pPr>
            <a:lvl5pPr indent="-317500" lvl="4" marL="2286000" algn="l">
              <a:lnSpc>
                <a:spcPct val="90000"/>
              </a:lnSpc>
              <a:spcBef>
                <a:spcPts val="1200"/>
              </a:spcBef>
              <a:spcAft>
                <a:spcPts val="0"/>
              </a:spcAft>
              <a:buClr>
                <a:schemeClr val="dk1"/>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12" name="Google Shape;12;p7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13" name="Google Shape;13;p7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1"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14" name="Google Shape;14;p7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lvl1pPr indent="0" lvl="0"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1"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80"/>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7" name="Google Shape;17;p8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8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0" name="Google Shape;20;p8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1" name="Google Shape;21;p8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8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 name="Google Shape;24;p82"/>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5" name="Google Shape;25;p82"/>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6" name="Google Shape;26;p8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8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 name="Google Shape;29;p8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84"/>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2" name="Google Shape;32;p84"/>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3" name="Google Shape;33;p8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85"/>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6" name="Google Shape;36;p8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86"/>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86"/>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0" name="Google Shape;40;p86"/>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1" name="Google Shape;41;p86"/>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2" name="Google Shape;42;p8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87"/>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5" name="Google Shape;45;p8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88"/>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8" name="Google Shape;48;p88"/>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9" name="Google Shape;49;p8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8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7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7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7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2.png"/><Relationship Id="rId4"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5.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2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27.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5.png"/><Relationship Id="rId4" Type="http://schemas.openxmlformats.org/officeDocument/2006/relationships/image" Target="../media/image14.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3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2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2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2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38.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2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3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4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3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3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36.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4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46.png"/><Relationship Id="rId4" Type="http://schemas.openxmlformats.org/officeDocument/2006/relationships/image" Target="../media/image44.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3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3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 Id="rId3" Type="http://schemas.openxmlformats.org/officeDocument/2006/relationships/image" Target="../media/image56.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5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39.png"/><Relationship Id="rId4" Type="http://schemas.openxmlformats.org/officeDocument/2006/relationships/image" Target="../media/image5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40.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 Id="rId3" Type="http://schemas.openxmlformats.org/officeDocument/2006/relationships/image" Target="../media/image47.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 Id="rId3" Type="http://schemas.openxmlformats.org/officeDocument/2006/relationships/image" Target="../media/image4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4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 Id="rId3" Type="http://schemas.openxmlformats.org/officeDocument/2006/relationships/image" Target="../media/image58.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 Id="rId3" Type="http://schemas.openxmlformats.org/officeDocument/2006/relationships/image" Target="../media/image45.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 Id="rId3" Type="http://schemas.openxmlformats.org/officeDocument/2006/relationships/image" Target="../media/image43.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 Id="rId3" Type="http://schemas.openxmlformats.org/officeDocument/2006/relationships/image" Target="../media/image50.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 Id="rId3" Type="http://schemas.openxmlformats.org/officeDocument/2006/relationships/image" Target="../media/image55.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 Id="rId3" Type="http://schemas.openxmlformats.org/officeDocument/2006/relationships/image" Target="../media/image53.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 Id="rId3" Type="http://schemas.openxmlformats.org/officeDocument/2006/relationships/image" Target="../media/image54.png"/><Relationship Id="rId4" Type="http://schemas.openxmlformats.org/officeDocument/2006/relationships/image" Target="../media/image61.png"/><Relationship Id="rId5" Type="http://schemas.openxmlformats.org/officeDocument/2006/relationships/image" Target="../media/image59.png"/><Relationship Id="rId6" Type="http://schemas.openxmlformats.org/officeDocument/2006/relationships/image" Target="../media/image67.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 Id="rId3" Type="http://schemas.openxmlformats.org/officeDocument/2006/relationships/image" Target="../media/image63.png"/><Relationship Id="rId4" Type="http://schemas.openxmlformats.org/officeDocument/2006/relationships/image" Target="../media/image62.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 Id="rId3" Type="http://schemas.openxmlformats.org/officeDocument/2006/relationships/image" Target="../media/image68.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 Id="rId3" Type="http://schemas.openxmlformats.org/officeDocument/2006/relationships/image" Target="../media/image69.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 Id="rId3" Type="http://schemas.openxmlformats.org/officeDocument/2006/relationships/image" Target="../media/image60.png"/><Relationship Id="rId4" Type="http://schemas.openxmlformats.org/officeDocument/2006/relationships/image" Target="../media/image57.png"/><Relationship Id="rId5" Type="http://schemas.openxmlformats.org/officeDocument/2006/relationships/image" Target="../media/image66.png"/><Relationship Id="rId6" Type="http://schemas.openxmlformats.org/officeDocument/2006/relationships/image" Target="../media/image65.png"/><Relationship Id="rId7" Type="http://schemas.openxmlformats.org/officeDocument/2006/relationships/image" Target="../media/image6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Analysis Model</a:t>
            </a:r>
            <a:endParaRPr b="1"/>
          </a:p>
        </p:txBody>
      </p:sp>
      <p:sp>
        <p:nvSpPr>
          <p:cNvPr id="57" name="Google Shape;57;p1"/>
          <p:cNvSpPr txBox="1"/>
          <p:nvPr>
            <p:ph idx="1" type="body"/>
          </p:nvPr>
        </p:nvSpPr>
        <p:spPr>
          <a:xfrm>
            <a:off x="318125" y="586350"/>
            <a:ext cx="8826000" cy="3970800"/>
          </a:xfrm>
          <a:prstGeom prst="rect">
            <a:avLst/>
          </a:prstGeom>
          <a:noFill/>
          <a:ln>
            <a:noFill/>
          </a:ln>
        </p:spPr>
        <p:txBody>
          <a:bodyPr anchorCtr="0" anchor="t" bIns="34275" lIns="68575" spcFirstLastPara="1" rIns="68575" wrap="square" tIns="34275">
            <a:noAutofit/>
          </a:bodyPr>
          <a:lstStyle/>
          <a:p>
            <a:pPr indent="0" lvl="0" marL="0" rtl="0" algn="just">
              <a:lnSpc>
                <a:spcPct val="90000"/>
              </a:lnSpc>
              <a:spcBef>
                <a:spcPts val="0"/>
              </a:spcBef>
              <a:spcAft>
                <a:spcPts val="0"/>
              </a:spcAft>
              <a:buSzPts val="1400"/>
              <a:buNone/>
            </a:pPr>
            <a:r>
              <a:rPr b="1" lang="en-GB" sz="3200">
                <a:solidFill>
                  <a:srgbClr val="002060"/>
                </a:solidFill>
                <a:latin typeface="Calibri"/>
                <a:ea typeface="Calibri"/>
                <a:cs typeface="Calibri"/>
                <a:sym typeface="Calibri"/>
              </a:rPr>
              <a:t>Analysis Model</a:t>
            </a:r>
            <a:endParaRPr b="1" sz="3200">
              <a:solidFill>
                <a:srgbClr val="002060"/>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2200">
                <a:solidFill>
                  <a:schemeClr val="dk1"/>
                </a:solidFill>
              </a:rPr>
              <a:t>•</a:t>
            </a:r>
            <a:r>
              <a:rPr lang="en-GB" sz="2200">
                <a:solidFill>
                  <a:schemeClr val="dk1"/>
                </a:solidFill>
                <a:latin typeface="Calibri"/>
                <a:ea typeface="Calibri"/>
                <a:cs typeface="Calibri"/>
                <a:sym typeface="Calibri"/>
              </a:rPr>
              <a:t>Analysis results in a model of the system that aims to be </a:t>
            </a:r>
            <a:r>
              <a:rPr lang="en-GB" sz="2200" u="sng">
                <a:solidFill>
                  <a:schemeClr val="dk1"/>
                </a:solidFill>
                <a:latin typeface="Calibri"/>
                <a:ea typeface="Calibri"/>
                <a:cs typeface="Calibri"/>
                <a:sym typeface="Calibri"/>
              </a:rPr>
              <a:t>correct, complete, consistent,</a:t>
            </a:r>
            <a:r>
              <a:rPr lang="en-GB" sz="2200">
                <a:solidFill>
                  <a:schemeClr val="dk1"/>
                </a:solidFill>
                <a:latin typeface="Calibri"/>
                <a:ea typeface="Calibri"/>
                <a:cs typeface="Calibri"/>
                <a:sym typeface="Calibri"/>
              </a:rPr>
              <a:t> and </a:t>
            </a:r>
            <a:r>
              <a:rPr lang="en-GB" sz="2200" u="sng">
                <a:solidFill>
                  <a:schemeClr val="dk1"/>
                </a:solidFill>
                <a:latin typeface="Calibri"/>
                <a:ea typeface="Calibri"/>
                <a:cs typeface="Calibri"/>
                <a:sym typeface="Calibri"/>
              </a:rPr>
              <a:t>unambiguous</a:t>
            </a:r>
            <a:endParaRPr sz="2200" u="sng">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2200">
                <a:solidFill>
                  <a:schemeClr val="dk1"/>
                </a:solidFill>
              </a:rPr>
              <a:t>•</a:t>
            </a:r>
            <a:r>
              <a:rPr lang="en-GB" sz="2200">
                <a:solidFill>
                  <a:schemeClr val="dk1"/>
                </a:solidFill>
                <a:latin typeface="Calibri"/>
                <a:ea typeface="Calibri"/>
                <a:cs typeface="Calibri"/>
                <a:sym typeface="Calibri"/>
              </a:rPr>
              <a:t>Developers formalize the requirements specification produced during requirements elicitation and examine in more detail boundary conditions and exceptional cases.</a:t>
            </a:r>
            <a:endParaRPr sz="22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2200">
                <a:solidFill>
                  <a:schemeClr val="dk1"/>
                </a:solidFill>
              </a:rPr>
              <a:t>•</a:t>
            </a:r>
            <a:r>
              <a:rPr lang="en-GB" sz="2200">
                <a:solidFill>
                  <a:schemeClr val="dk1"/>
                </a:solidFill>
                <a:latin typeface="Calibri"/>
                <a:ea typeface="Calibri"/>
                <a:cs typeface="Calibri"/>
                <a:sym typeface="Calibri"/>
              </a:rPr>
              <a:t>Developers validate, correct and clarify the requirements specification if any errors or ambiguities are found.</a:t>
            </a:r>
            <a:endParaRPr sz="22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2200">
                <a:solidFill>
                  <a:schemeClr val="dk1"/>
                </a:solidFill>
              </a:rPr>
              <a:t>•</a:t>
            </a:r>
            <a:r>
              <a:rPr lang="en-GB" sz="2200">
                <a:solidFill>
                  <a:schemeClr val="dk1"/>
                </a:solidFill>
                <a:latin typeface="Calibri"/>
                <a:ea typeface="Calibri"/>
                <a:cs typeface="Calibri"/>
                <a:sym typeface="Calibri"/>
              </a:rPr>
              <a:t>The client and the user are usually involved in this activity when the requirements specification must be changed and when additional information must be gathered.</a:t>
            </a:r>
            <a:endParaRPr sz="2200">
              <a:solidFill>
                <a:schemeClr val="dk1"/>
              </a:solidFill>
              <a:latin typeface="Calibri"/>
              <a:ea typeface="Calibri"/>
              <a:cs typeface="Calibri"/>
              <a:sym typeface="Calibri"/>
            </a:endParaRPr>
          </a:p>
          <a:p>
            <a:pPr indent="0" lvl="0" marL="0" rtl="0" algn="just">
              <a:lnSpc>
                <a:spcPct val="90000"/>
              </a:lnSpc>
              <a:spcBef>
                <a:spcPts val="0"/>
              </a:spcBef>
              <a:spcAft>
                <a:spcPts val="0"/>
              </a:spcAft>
              <a:buSzPts val="1400"/>
              <a:buNone/>
            </a:pPr>
            <a:r>
              <a:t/>
            </a:r>
            <a:endParaRPr>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b="1" sz="2800">
              <a:solidFill>
                <a:srgbClr val="002060"/>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a:solidFill>
                <a:schemeClr val="dk1"/>
              </a:solidFill>
            </a:endParaRPr>
          </a:p>
          <a:p>
            <a:pPr indent="0" lvl="0" marL="0" rtl="0" algn="l">
              <a:lnSpc>
                <a:spcPct val="100000"/>
              </a:lnSpc>
              <a:spcBef>
                <a:spcPts val="0"/>
              </a:spcBef>
              <a:spcAft>
                <a:spcPts val="0"/>
              </a:spcAft>
              <a:buSzPts val="1400"/>
              <a:buNone/>
            </a:pPr>
            <a:r>
              <a:t/>
            </a:r>
            <a:endParaRPr sz="1700">
              <a:solidFill>
                <a:schemeClr val="dk1"/>
              </a:solidFill>
            </a:endParaRPr>
          </a:p>
          <a:p>
            <a:pPr indent="0" lvl="0" marL="0" rtl="0" algn="l">
              <a:lnSpc>
                <a:spcPct val="100000"/>
              </a:lnSpc>
              <a:spcBef>
                <a:spcPts val="0"/>
              </a:spcBef>
              <a:spcAft>
                <a:spcPts val="0"/>
              </a:spcAft>
              <a:buSzPts val="1400"/>
              <a:buNone/>
            </a:pPr>
            <a:r>
              <a:t/>
            </a:r>
            <a:endParaRPr b="1" sz="15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b="1" sz="1100">
              <a:solidFill>
                <a:srgbClr val="1C4587"/>
              </a:solidFill>
              <a:latin typeface="Calibri"/>
              <a:ea typeface="Calibri"/>
              <a:cs typeface="Calibri"/>
              <a:sym typeface="Calibri"/>
            </a:endParaRPr>
          </a:p>
          <a:p>
            <a:pPr indent="0" lvl="0" marL="0" rtl="0" algn="just">
              <a:lnSpc>
                <a:spcPct val="100000"/>
              </a:lnSpc>
              <a:spcBef>
                <a:spcPts val="0"/>
              </a:spcBef>
              <a:spcAft>
                <a:spcPts val="0"/>
              </a:spcAft>
              <a:buSzPts val="1400"/>
              <a:buNone/>
            </a:pPr>
            <a:r>
              <a:t/>
            </a:r>
            <a:endParaRPr sz="2300">
              <a:solidFill>
                <a:schemeClr val="dk1"/>
              </a:solidFill>
              <a:latin typeface="Calibri"/>
              <a:ea typeface="Calibri"/>
              <a:cs typeface="Calibri"/>
              <a:sym typeface="Calibri"/>
            </a:endParaRPr>
          </a:p>
        </p:txBody>
      </p:sp>
      <p:sp>
        <p:nvSpPr>
          <p:cNvPr id="58" name="Google Shape;58;p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59" name="Google Shape;59;p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
                                            <p:txEl>
                                              <p:pRg end="12" st="1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2"/>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Analysis Model</a:t>
            </a:r>
            <a:endParaRPr b="1"/>
          </a:p>
        </p:txBody>
      </p:sp>
      <p:sp>
        <p:nvSpPr>
          <p:cNvPr id="65" name="Google Shape;65;p2"/>
          <p:cNvSpPr txBox="1"/>
          <p:nvPr>
            <p:ph idx="1" type="body"/>
          </p:nvPr>
        </p:nvSpPr>
        <p:spPr>
          <a:xfrm>
            <a:off x="318125" y="586350"/>
            <a:ext cx="8826000" cy="3970800"/>
          </a:xfrm>
          <a:prstGeom prst="rect">
            <a:avLst/>
          </a:prstGeom>
          <a:noFill/>
          <a:ln>
            <a:noFill/>
          </a:ln>
        </p:spPr>
        <p:txBody>
          <a:bodyPr anchorCtr="0" anchor="t" bIns="34275" lIns="68575" spcFirstLastPara="1" rIns="68575" wrap="square" tIns="34275">
            <a:noAutofit/>
          </a:bodyPr>
          <a:lstStyle/>
          <a:p>
            <a:pPr indent="0" lvl="0" marL="0" rtl="0" algn="just">
              <a:lnSpc>
                <a:spcPct val="90000"/>
              </a:lnSpc>
              <a:spcBef>
                <a:spcPts val="0"/>
              </a:spcBef>
              <a:spcAft>
                <a:spcPts val="0"/>
              </a:spcAft>
              <a:buSzPts val="1400"/>
              <a:buNone/>
            </a:pPr>
            <a:r>
              <a:rPr b="1" lang="en-GB" sz="3200">
                <a:solidFill>
                  <a:srgbClr val="002060"/>
                </a:solidFill>
                <a:latin typeface="Calibri"/>
                <a:ea typeface="Calibri"/>
                <a:cs typeface="Calibri"/>
                <a:sym typeface="Calibri"/>
              </a:rPr>
              <a:t>Analysis Model</a:t>
            </a:r>
            <a:endParaRPr b="1" sz="3200">
              <a:solidFill>
                <a:srgbClr val="002060"/>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2200">
                <a:solidFill>
                  <a:schemeClr val="dk1"/>
                </a:solidFill>
              </a:rPr>
              <a:t>•</a:t>
            </a:r>
            <a:r>
              <a:rPr lang="en-GB" sz="2200">
                <a:solidFill>
                  <a:schemeClr val="dk1"/>
                </a:solidFill>
                <a:latin typeface="Calibri"/>
                <a:ea typeface="Calibri"/>
                <a:cs typeface="Calibri"/>
                <a:sym typeface="Calibri"/>
              </a:rPr>
              <a:t>In object-oriented analysis, developers build a model describing the application domain</a:t>
            </a:r>
            <a:endParaRPr sz="22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2200">
                <a:solidFill>
                  <a:schemeClr val="dk1"/>
                </a:solidFill>
              </a:rPr>
              <a:t>•</a:t>
            </a:r>
            <a:r>
              <a:rPr lang="en-GB" sz="2200">
                <a:solidFill>
                  <a:schemeClr val="dk1"/>
                </a:solidFill>
                <a:latin typeface="Calibri"/>
                <a:ea typeface="Calibri"/>
                <a:cs typeface="Calibri"/>
                <a:sym typeface="Calibri"/>
              </a:rPr>
              <a:t>The analysis model is then extended to describe how the actors and the system interact to manipulate the application domain model</a:t>
            </a:r>
            <a:endParaRPr sz="22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sz="2200">
                <a:solidFill>
                  <a:schemeClr val="dk1"/>
                </a:solidFill>
              </a:rPr>
              <a:t>•</a:t>
            </a:r>
            <a:r>
              <a:rPr lang="en-GB" sz="2200">
                <a:solidFill>
                  <a:schemeClr val="dk1"/>
                </a:solidFill>
                <a:latin typeface="Calibri"/>
                <a:ea typeface="Calibri"/>
                <a:cs typeface="Calibri"/>
                <a:sym typeface="Calibri"/>
              </a:rPr>
              <a:t>Developers use the analysis model, together with nonfunctional requirements, to prepare for the architecture of the system developed during high-level design</a:t>
            </a:r>
            <a:endParaRPr sz="22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t/>
            </a:r>
            <a:endParaRPr sz="2200">
              <a:solidFill>
                <a:schemeClr val="dk1"/>
              </a:solidFill>
            </a:endParaRPr>
          </a:p>
          <a:p>
            <a:pPr indent="0" lvl="0" marL="0" rtl="0" algn="just">
              <a:lnSpc>
                <a:spcPct val="90000"/>
              </a:lnSpc>
              <a:spcBef>
                <a:spcPts val="0"/>
              </a:spcBef>
              <a:spcAft>
                <a:spcPts val="0"/>
              </a:spcAft>
              <a:buSzPts val="1400"/>
              <a:buNone/>
            </a:pPr>
            <a:r>
              <a:t/>
            </a:r>
            <a:endParaRPr>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b="1" sz="2800">
              <a:solidFill>
                <a:srgbClr val="002060"/>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a:solidFill>
                <a:schemeClr val="dk1"/>
              </a:solidFill>
            </a:endParaRPr>
          </a:p>
          <a:p>
            <a:pPr indent="0" lvl="0" marL="0" rtl="0" algn="l">
              <a:lnSpc>
                <a:spcPct val="100000"/>
              </a:lnSpc>
              <a:spcBef>
                <a:spcPts val="0"/>
              </a:spcBef>
              <a:spcAft>
                <a:spcPts val="0"/>
              </a:spcAft>
              <a:buSzPts val="1400"/>
              <a:buNone/>
            </a:pPr>
            <a:r>
              <a:t/>
            </a:r>
            <a:endParaRPr sz="1700">
              <a:solidFill>
                <a:schemeClr val="dk1"/>
              </a:solidFill>
            </a:endParaRPr>
          </a:p>
          <a:p>
            <a:pPr indent="0" lvl="0" marL="0" rtl="0" algn="l">
              <a:lnSpc>
                <a:spcPct val="100000"/>
              </a:lnSpc>
              <a:spcBef>
                <a:spcPts val="0"/>
              </a:spcBef>
              <a:spcAft>
                <a:spcPts val="0"/>
              </a:spcAft>
              <a:buSzPts val="1400"/>
              <a:buNone/>
            </a:pPr>
            <a:r>
              <a:t/>
            </a:r>
            <a:endParaRPr b="1" sz="15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b="1" sz="1100">
              <a:solidFill>
                <a:srgbClr val="1C4587"/>
              </a:solidFill>
              <a:latin typeface="Calibri"/>
              <a:ea typeface="Calibri"/>
              <a:cs typeface="Calibri"/>
              <a:sym typeface="Calibri"/>
            </a:endParaRPr>
          </a:p>
          <a:p>
            <a:pPr indent="0" lvl="0" marL="0" rtl="0" algn="just">
              <a:lnSpc>
                <a:spcPct val="100000"/>
              </a:lnSpc>
              <a:spcBef>
                <a:spcPts val="0"/>
              </a:spcBef>
              <a:spcAft>
                <a:spcPts val="0"/>
              </a:spcAft>
              <a:buSzPts val="1400"/>
              <a:buNone/>
            </a:pPr>
            <a:r>
              <a:t/>
            </a:r>
            <a:endParaRPr sz="2300">
              <a:solidFill>
                <a:schemeClr val="dk1"/>
              </a:solidFill>
              <a:latin typeface="Calibri"/>
              <a:ea typeface="Calibri"/>
              <a:cs typeface="Calibri"/>
              <a:sym typeface="Calibri"/>
            </a:endParaRPr>
          </a:p>
        </p:txBody>
      </p:sp>
      <p:sp>
        <p:nvSpPr>
          <p:cNvPr id="66" name="Google Shape;66;p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67" name="Google Shape;67;p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
                                            <p:txEl>
                                              <p:pRg end="12" st="1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3"/>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Analysis Model</a:t>
            </a:r>
            <a:endParaRPr b="1"/>
          </a:p>
        </p:txBody>
      </p:sp>
      <p:sp>
        <p:nvSpPr>
          <p:cNvPr id="73" name="Google Shape;73;p3"/>
          <p:cNvSpPr txBox="1"/>
          <p:nvPr>
            <p:ph idx="1" type="body"/>
          </p:nvPr>
        </p:nvSpPr>
        <p:spPr>
          <a:xfrm>
            <a:off x="318125" y="586350"/>
            <a:ext cx="8826000" cy="3970800"/>
          </a:xfrm>
          <a:prstGeom prst="rect">
            <a:avLst/>
          </a:prstGeom>
          <a:noFill/>
          <a:ln>
            <a:noFill/>
          </a:ln>
        </p:spPr>
        <p:txBody>
          <a:bodyPr anchorCtr="0" anchor="t" bIns="34275" lIns="68575" spcFirstLastPara="1" rIns="68575" wrap="square" tIns="34275">
            <a:noAutofit/>
          </a:bodyPr>
          <a:lstStyle/>
          <a:p>
            <a:pPr indent="0" lvl="0" marL="0" rtl="0" algn="just">
              <a:lnSpc>
                <a:spcPct val="90000"/>
              </a:lnSpc>
              <a:spcBef>
                <a:spcPts val="0"/>
              </a:spcBef>
              <a:spcAft>
                <a:spcPts val="0"/>
              </a:spcAft>
              <a:buSzPts val="1400"/>
              <a:buNone/>
            </a:pPr>
            <a:r>
              <a:rPr b="1" lang="en-GB" sz="3200">
                <a:solidFill>
                  <a:srgbClr val="002060"/>
                </a:solidFill>
                <a:latin typeface="Calibri"/>
                <a:ea typeface="Calibri"/>
                <a:cs typeface="Calibri"/>
                <a:sym typeface="Calibri"/>
              </a:rPr>
              <a:t>Analysis Activities</a:t>
            </a:r>
            <a:endParaRPr b="1" sz="3200">
              <a:solidFill>
                <a:srgbClr val="002060"/>
              </a:solidFill>
              <a:latin typeface="Calibri"/>
              <a:ea typeface="Calibri"/>
              <a:cs typeface="Calibri"/>
              <a:sym typeface="Calibri"/>
            </a:endParaRPr>
          </a:p>
          <a:p>
            <a:pPr indent="0" lvl="0" marL="457200" rtl="0" algn="l">
              <a:lnSpc>
                <a:spcPct val="90000"/>
              </a:lnSpc>
              <a:spcBef>
                <a:spcPts val="500"/>
              </a:spcBef>
              <a:spcAft>
                <a:spcPts val="0"/>
              </a:spcAft>
              <a:buSzPts val="1400"/>
              <a:buNone/>
            </a:pPr>
            <a:r>
              <a:rPr lang="en-GB" sz="2400">
                <a:solidFill>
                  <a:schemeClr val="dk1"/>
                </a:solidFill>
              </a:rPr>
              <a:t>•</a:t>
            </a:r>
            <a:r>
              <a:rPr lang="en-GB" sz="2400">
                <a:solidFill>
                  <a:schemeClr val="dk1"/>
                </a:solidFill>
                <a:latin typeface="Calibri"/>
                <a:ea typeface="Calibri"/>
                <a:cs typeface="Calibri"/>
                <a:sym typeface="Calibri"/>
              </a:rPr>
              <a:t>Identification of objects</a:t>
            </a:r>
            <a:endParaRPr sz="2400">
              <a:solidFill>
                <a:schemeClr val="dk1"/>
              </a:solidFill>
              <a:latin typeface="Calibri"/>
              <a:ea typeface="Calibri"/>
              <a:cs typeface="Calibri"/>
              <a:sym typeface="Calibri"/>
            </a:endParaRPr>
          </a:p>
          <a:p>
            <a:pPr indent="0" lvl="0" marL="457200" rtl="0" algn="l">
              <a:lnSpc>
                <a:spcPct val="90000"/>
              </a:lnSpc>
              <a:spcBef>
                <a:spcPts val="500"/>
              </a:spcBef>
              <a:spcAft>
                <a:spcPts val="0"/>
              </a:spcAft>
              <a:buSzPts val="1400"/>
              <a:buNone/>
            </a:pPr>
            <a:r>
              <a:rPr lang="en-GB" sz="2400">
                <a:solidFill>
                  <a:schemeClr val="dk1"/>
                </a:solidFill>
              </a:rPr>
              <a:t>•</a:t>
            </a:r>
            <a:r>
              <a:rPr lang="en-GB" sz="2400">
                <a:solidFill>
                  <a:schemeClr val="dk1"/>
                </a:solidFill>
                <a:latin typeface="Calibri"/>
                <a:ea typeface="Calibri"/>
                <a:cs typeface="Calibri"/>
                <a:sym typeface="Calibri"/>
              </a:rPr>
              <a:t>Their behaviour</a:t>
            </a:r>
            <a:endParaRPr sz="2400">
              <a:solidFill>
                <a:schemeClr val="dk1"/>
              </a:solidFill>
              <a:latin typeface="Calibri"/>
              <a:ea typeface="Calibri"/>
              <a:cs typeface="Calibri"/>
              <a:sym typeface="Calibri"/>
            </a:endParaRPr>
          </a:p>
          <a:p>
            <a:pPr indent="0" lvl="0" marL="457200" rtl="0" algn="l">
              <a:lnSpc>
                <a:spcPct val="90000"/>
              </a:lnSpc>
              <a:spcBef>
                <a:spcPts val="500"/>
              </a:spcBef>
              <a:spcAft>
                <a:spcPts val="0"/>
              </a:spcAft>
              <a:buSzPts val="1400"/>
              <a:buNone/>
            </a:pPr>
            <a:r>
              <a:rPr lang="en-GB" sz="2400">
                <a:solidFill>
                  <a:schemeClr val="dk1"/>
                </a:solidFill>
              </a:rPr>
              <a:t>•</a:t>
            </a:r>
            <a:r>
              <a:rPr lang="en-GB" sz="2400">
                <a:solidFill>
                  <a:schemeClr val="dk1"/>
                </a:solidFill>
                <a:latin typeface="Calibri"/>
                <a:ea typeface="Calibri"/>
                <a:cs typeface="Calibri"/>
                <a:sym typeface="Calibri"/>
              </a:rPr>
              <a:t>Their relationships</a:t>
            </a:r>
            <a:endParaRPr sz="2400">
              <a:solidFill>
                <a:schemeClr val="dk1"/>
              </a:solidFill>
              <a:latin typeface="Calibri"/>
              <a:ea typeface="Calibri"/>
              <a:cs typeface="Calibri"/>
              <a:sym typeface="Calibri"/>
            </a:endParaRPr>
          </a:p>
          <a:p>
            <a:pPr indent="0" lvl="0" marL="457200" rtl="0" algn="l">
              <a:lnSpc>
                <a:spcPct val="90000"/>
              </a:lnSpc>
              <a:spcBef>
                <a:spcPts val="500"/>
              </a:spcBef>
              <a:spcAft>
                <a:spcPts val="0"/>
              </a:spcAft>
              <a:buSzPts val="1400"/>
              <a:buNone/>
            </a:pPr>
            <a:r>
              <a:rPr lang="en-GB" sz="2400">
                <a:solidFill>
                  <a:schemeClr val="dk1"/>
                </a:solidFill>
              </a:rPr>
              <a:t>•</a:t>
            </a:r>
            <a:r>
              <a:rPr lang="en-GB" sz="2400">
                <a:solidFill>
                  <a:schemeClr val="dk1"/>
                </a:solidFill>
                <a:latin typeface="Calibri"/>
                <a:ea typeface="Calibri"/>
                <a:cs typeface="Calibri"/>
                <a:sym typeface="Calibri"/>
              </a:rPr>
              <a:t>Their classification</a:t>
            </a:r>
            <a:endParaRPr sz="2400">
              <a:solidFill>
                <a:schemeClr val="dk1"/>
              </a:solidFill>
              <a:latin typeface="Calibri"/>
              <a:ea typeface="Calibri"/>
              <a:cs typeface="Calibri"/>
              <a:sym typeface="Calibri"/>
            </a:endParaRPr>
          </a:p>
          <a:p>
            <a:pPr indent="0" lvl="0" marL="457200" rtl="0" algn="l">
              <a:lnSpc>
                <a:spcPct val="90000"/>
              </a:lnSpc>
              <a:spcBef>
                <a:spcPts val="500"/>
              </a:spcBef>
              <a:spcAft>
                <a:spcPts val="0"/>
              </a:spcAft>
              <a:buSzPts val="1400"/>
              <a:buNone/>
            </a:pPr>
            <a:r>
              <a:rPr lang="en-GB" sz="2400">
                <a:solidFill>
                  <a:schemeClr val="dk1"/>
                </a:solidFill>
              </a:rPr>
              <a:t>•</a:t>
            </a:r>
            <a:r>
              <a:rPr lang="en-GB" sz="2400">
                <a:solidFill>
                  <a:schemeClr val="dk1"/>
                </a:solidFill>
                <a:latin typeface="Calibri"/>
                <a:ea typeface="Calibri"/>
                <a:cs typeface="Calibri"/>
                <a:sym typeface="Calibri"/>
              </a:rPr>
              <a:t>Their organization</a:t>
            </a:r>
            <a:endParaRPr sz="2400">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t/>
            </a:r>
            <a:endParaRPr sz="2200">
              <a:solidFill>
                <a:schemeClr val="dk1"/>
              </a:solidFill>
            </a:endParaRPr>
          </a:p>
          <a:p>
            <a:pPr indent="0" lvl="0" marL="0" rtl="0" algn="l">
              <a:lnSpc>
                <a:spcPct val="90000"/>
              </a:lnSpc>
              <a:spcBef>
                <a:spcPts val="0"/>
              </a:spcBef>
              <a:spcAft>
                <a:spcPts val="0"/>
              </a:spcAft>
              <a:buSzPts val="1400"/>
              <a:buNone/>
            </a:pPr>
            <a:r>
              <a:t/>
            </a:r>
            <a:endParaRPr sz="2200">
              <a:solidFill>
                <a:schemeClr val="dk1"/>
              </a:solidFill>
            </a:endParaRPr>
          </a:p>
          <a:p>
            <a:pPr indent="0" lvl="0" marL="0" rtl="0" algn="just">
              <a:lnSpc>
                <a:spcPct val="90000"/>
              </a:lnSpc>
              <a:spcBef>
                <a:spcPts val="0"/>
              </a:spcBef>
              <a:spcAft>
                <a:spcPts val="0"/>
              </a:spcAft>
              <a:buSzPts val="1400"/>
              <a:buNone/>
            </a:pPr>
            <a:r>
              <a:t/>
            </a:r>
            <a:endParaRPr>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b="1" sz="2800">
              <a:solidFill>
                <a:srgbClr val="002060"/>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a:solidFill>
                <a:schemeClr val="dk1"/>
              </a:solidFill>
            </a:endParaRPr>
          </a:p>
          <a:p>
            <a:pPr indent="0" lvl="0" marL="0" rtl="0" algn="l">
              <a:lnSpc>
                <a:spcPct val="100000"/>
              </a:lnSpc>
              <a:spcBef>
                <a:spcPts val="0"/>
              </a:spcBef>
              <a:spcAft>
                <a:spcPts val="0"/>
              </a:spcAft>
              <a:buSzPts val="1400"/>
              <a:buNone/>
            </a:pPr>
            <a:r>
              <a:t/>
            </a:r>
            <a:endParaRPr sz="1700">
              <a:solidFill>
                <a:schemeClr val="dk1"/>
              </a:solidFill>
            </a:endParaRPr>
          </a:p>
          <a:p>
            <a:pPr indent="0" lvl="0" marL="0" rtl="0" algn="l">
              <a:lnSpc>
                <a:spcPct val="100000"/>
              </a:lnSpc>
              <a:spcBef>
                <a:spcPts val="0"/>
              </a:spcBef>
              <a:spcAft>
                <a:spcPts val="0"/>
              </a:spcAft>
              <a:buSzPts val="1400"/>
              <a:buNone/>
            </a:pPr>
            <a:r>
              <a:t/>
            </a:r>
            <a:endParaRPr b="1" sz="15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b="1" sz="1100">
              <a:solidFill>
                <a:srgbClr val="1C4587"/>
              </a:solidFill>
              <a:latin typeface="Calibri"/>
              <a:ea typeface="Calibri"/>
              <a:cs typeface="Calibri"/>
              <a:sym typeface="Calibri"/>
            </a:endParaRPr>
          </a:p>
          <a:p>
            <a:pPr indent="0" lvl="0" marL="0" rtl="0" algn="just">
              <a:lnSpc>
                <a:spcPct val="100000"/>
              </a:lnSpc>
              <a:spcBef>
                <a:spcPts val="0"/>
              </a:spcBef>
              <a:spcAft>
                <a:spcPts val="0"/>
              </a:spcAft>
              <a:buSzPts val="1400"/>
              <a:buNone/>
            </a:pPr>
            <a:r>
              <a:t/>
            </a:r>
            <a:endParaRPr sz="2300">
              <a:solidFill>
                <a:schemeClr val="dk1"/>
              </a:solidFill>
              <a:latin typeface="Calibri"/>
              <a:ea typeface="Calibri"/>
              <a:cs typeface="Calibri"/>
              <a:sym typeface="Calibri"/>
            </a:endParaRPr>
          </a:p>
        </p:txBody>
      </p:sp>
      <p:sp>
        <p:nvSpPr>
          <p:cNvPr id="74" name="Google Shape;74;p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75" name="Google Shape;75;p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
                                            <p:txEl>
                                              <p:pRg end="14" st="1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
                                            <p:txEl>
                                              <p:pRg end="15" st="1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4"/>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Analysis Model</a:t>
            </a:r>
            <a:endParaRPr b="1"/>
          </a:p>
        </p:txBody>
      </p:sp>
      <p:sp>
        <p:nvSpPr>
          <p:cNvPr id="81" name="Google Shape;81;p4"/>
          <p:cNvSpPr txBox="1"/>
          <p:nvPr>
            <p:ph idx="1" type="body"/>
          </p:nvPr>
        </p:nvSpPr>
        <p:spPr>
          <a:xfrm>
            <a:off x="318125" y="586350"/>
            <a:ext cx="8826000" cy="668700"/>
          </a:xfrm>
          <a:prstGeom prst="rect">
            <a:avLst/>
          </a:prstGeom>
          <a:noFill/>
          <a:ln>
            <a:noFill/>
          </a:ln>
        </p:spPr>
        <p:txBody>
          <a:bodyPr anchorCtr="0" anchor="t" bIns="34275" lIns="68575" spcFirstLastPara="1" rIns="68575" wrap="square" tIns="34275">
            <a:noAutofit/>
          </a:bodyPr>
          <a:lstStyle/>
          <a:p>
            <a:pPr indent="0" lvl="0" marL="0" rtl="0" algn="just">
              <a:lnSpc>
                <a:spcPct val="90000"/>
              </a:lnSpc>
              <a:spcBef>
                <a:spcPts val="0"/>
              </a:spcBef>
              <a:spcAft>
                <a:spcPts val="0"/>
              </a:spcAft>
              <a:buSzPts val="1400"/>
              <a:buNone/>
            </a:pPr>
            <a:r>
              <a:rPr b="1" lang="en-GB" sz="3200">
                <a:solidFill>
                  <a:srgbClr val="002060"/>
                </a:solidFill>
                <a:latin typeface="Calibri"/>
                <a:ea typeface="Calibri"/>
                <a:cs typeface="Calibri"/>
                <a:sym typeface="Calibri"/>
              </a:rPr>
              <a:t>Analysis </a:t>
            </a:r>
            <a:endParaRPr sz="2200">
              <a:solidFill>
                <a:schemeClr val="dk1"/>
              </a:solidFill>
            </a:endParaRPr>
          </a:p>
          <a:p>
            <a:pPr indent="0" lvl="0" marL="0" rtl="0" algn="l">
              <a:lnSpc>
                <a:spcPct val="90000"/>
              </a:lnSpc>
              <a:spcBef>
                <a:spcPts val="0"/>
              </a:spcBef>
              <a:spcAft>
                <a:spcPts val="0"/>
              </a:spcAft>
              <a:buSzPts val="1400"/>
              <a:buNone/>
            </a:pPr>
            <a:r>
              <a:t/>
            </a:r>
            <a:endParaRPr sz="2200">
              <a:solidFill>
                <a:schemeClr val="dk1"/>
              </a:solidFill>
            </a:endParaRPr>
          </a:p>
          <a:p>
            <a:pPr indent="0" lvl="0" marL="0" rtl="0" algn="just">
              <a:lnSpc>
                <a:spcPct val="90000"/>
              </a:lnSpc>
              <a:spcBef>
                <a:spcPts val="0"/>
              </a:spcBef>
              <a:spcAft>
                <a:spcPts val="0"/>
              </a:spcAft>
              <a:buSzPts val="1400"/>
              <a:buNone/>
            </a:pPr>
            <a:r>
              <a:t/>
            </a:r>
            <a:endParaRPr>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b="1" sz="2800">
              <a:solidFill>
                <a:srgbClr val="002060"/>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a:solidFill>
                <a:schemeClr val="dk1"/>
              </a:solidFill>
            </a:endParaRPr>
          </a:p>
          <a:p>
            <a:pPr indent="0" lvl="0" marL="0" rtl="0" algn="l">
              <a:lnSpc>
                <a:spcPct val="100000"/>
              </a:lnSpc>
              <a:spcBef>
                <a:spcPts val="0"/>
              </a:spcBef>
              <a:spcAft>
                <a:spcPts val="0"/>
              </a:spcAft>
              <a:buSzPts val="1400"/>
              <a:buNone/>
            </a:pPr>
            <a:r>
              <a:t/>
            </a:r>
            <a:endParaRPr sz="1700">
              <a:solidFill>
                <a:schemeClr val="dk1"/>
              </a:solidFill>
            </a:endParaRPr>
          </a:p>
          <a:p>
            <a:pPr indent="0" lvl="0" marL="0" rtl="0" algn="l">
              <a:lnSpc>
                <a:spcPct val="100000"/>
              </a:lnSpc>
              <a:spcBef>
                <a:spcPts val="0"/>
              </a:spcBef>
              <a:spcAft>
                <a:spcPts val="0"/>
              </a:spcAft>
              <a:buSzPts val="1400"/>
              <a:buNone/>
            </a:pPr>
            <a:r>
              <a:t/>
            </a:r>
            <a:endParaRPr b="1" sz="15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b="1" sz="1100">
              <a:solidFill>
                <a:srgbClr val="1C4587"/>
              </a:solidFill>
              <a:latin typeface="Calibri"/>
              <a:ea typeface="Calibri"/>
              <a:cs typeface="Calibri"/>
              <a:sym typeface="Calibri"/>
            </a:endParaRPr>
          </a:p>
          <a:p>
            <a:pPr indent="0" lvl="0" marL="0" rtl="0" algn="just">
              <a:lnSpc>
                <a:spcPct val="100000"/>
              </a:lnSpc>
              <a:spcBef>
                <a:spcPts val="0"/>
              </a:spcBef>
              <a:spcAft>
                <a:spcPts val="0"/>
              </a:spcAft>
              <a:buSzPts val="1400"/>
              <a:buNone/>
            </a:pPr>
            <a:r>
              <a:t/>
            </a:r>
            <a:endParaRPr sz="2300">
              <a:solidFill>
                <a:schemeClr val="dk1"/>
              </a:solidFill>
              <a:latin typeface="Calibri"/>
              <a:ea typeface="Calibri"/>
              <a:cs typeface="Calibri"/>
              <a:sym typeface="Calibri"/>
            </a:endParaRPr>
          </a:p>
        </p:txBody>
      </p:sp>
      <p:sp>
        <p:nvSpPr>
          <p:cNvPr id="82" name="Google Shape;82;p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83" name="Google Shape;83;p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pic>
        <p:nvPicPr>
          <p:cNvPr id="84" name="Google Shape;84;p4"/>
          <p:cNvPicPr preferRelativeResize="0"/>
          <p:nvPr/>
        </p:nvPicPr>
        <p:blipFill rotWithShape="1">
          <a:blip r:embed="rId3">
            <a:alphaModFix/>
          </a:blip>
          <a:srcRect b="0" l="0" r="0" t="0"/>
          <a:stretch/>
        </p:blipFill>
        <p:spPr>
          <a:xfrm>
            <a:off x="2316325" y="826172"/>
            <a:ext cx="1208350" cy="1318875"/>
          </a:xfrm>
          <a:prstGeom prst="rect">
            <a:avLst/>
          </a:prstGeom>
          <a:noFill/>
          <a:ln>
            <a:noFill/>
          </a:ln>
        </p:spPr>
      </p:pic>
      <p:sp>
        <p:nvSpPr>
          <p:cNvPr id="85" name="Google Shape;85;p4"/>
          <p:cNvSpPr txBox="1"/>
          <p:nvPr/>
        </p:nvSpPr>
        <p:spPr>
          <a:xfrm>
            <a:off x="459450" y="2145050"/>
            <a:ext cx="8225100" cy="2478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1" i="0" lang="en-GB" sz="2000" u="none" cap="none" strike="noStrike">
                <a:solidFill>
                  <a:srgbClr val="1155CC"/>
                </a:solidFill>
                <a:latin typeface="Arial"/>
                <a:ea typeface="Arial"/>
                <a:cs typeface="Arial"/>
                <a:sym typeface="Arial"/>
              </a:rPr>
              <a:t>What you See?</a:t>
            </a:r>
            <a:endParaRPr b="1" i="0" sz="2000" u="none" cap="none" strike="noStrike">
              <a:solidFill>
                <a:srgbClr val="1155CC"/>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1100"/>
              <a:buFont typeface="Arial"/>
              <a:buNone/>
            </a:pPr>
            <a:r>
              <a:rPr b="0" i="0" lang="en-GB" sz="2800" u="none" cap="none" strike="noStrike">
                <a:solidFill>
                  <a:schemeClr val="dk1"/>
                </a:solidFill>
                <a:latin typeface="Arial"/>
                <a:ea typeface="Arial"/>
                <a:cs typeface="Arial"/>
                <a:sym typeface="Arial"/>
              </a:rPr>
              <a:t>•</a:t>
            </a:r>
            <a:r>
              <a:rPr b="0" i="0" lang="en-GB" sz="2800" u="none" cap="none" strike="noStrike">
                <a:solidFill>
                  <a:schemeClr val="dk1"/>
                </a:solidFill>
                <a:latin typeface="Calibri"/>
                <a:ea typeface="Calibri"/>
                <a:cs typeface="Calibri"/>
                <a:sym typeface="Calibri"/>
              </a:rPr>
              <a:t>Specifications may contain ambiguities caused by</a:t>
            </a:r>
            <a:endParaRPr b="0" i="0" sz="2800" u="none" cap="none" strike="noStrike">
              <a:solidFill>
                <a:schemeClr val="dk1"/>
              </a:solidFill>
              <a:latin typeface="Calibri"/>
              <a:ea typeface="Calibri"/>
              <a:cs typeface="Calibri"/>
              <a:sym typeface="Calibri"/>
            </a:endParaRPr>
          </a:p>
          <a:p>
            <a:pPr indent="0" lvl="0" marL="457200" marR="0" rtl="0" algn="l">
              <a:lnSpc>
                <a:spcPct val="90000"/>
              </a:lnSpc>
              <a:spcBef>
                <a:spcPts val="500"/>
              </a:spcBef>
              <a:spcAft>
                <a:spcPts val="0"/>
              </a:spcAft>
              <a:buClr>
                <a:schemeClr val="dk1"/>
              </a:buClr>
              <a:buSzPts val="1100"/>
              <a:buFont typeface="Arial"/>
              <a:buNone/>
            </a:pPr>
            <a:r>
              <a:rPr b="0" i="0" lang="en-GB" sz="2400" u="none" cap="none" strike="noStrike">
                <a:solidFill>
                  <a:schemeClr val="dk1"/>
                </a:solidFill>
                <a:latin typeface="Arial"/>
                <a:ea typeface="Arial"/>
                <a:cs typeface="Arial"/>
                <a:sym typeface="Arial"/>
              </a:rPr>
              <a:t>•</a:t>
            </a:r>
            <a:r>
              <a:rPr b="0" i="0" lang="en-GB" sz="2400" u="none" cap="none" strike="noStrike">
                <a:solidFill>
                  <a:schemeClr val="dk1"/>
                </a:solidFill>
                <a:latin typeface="Calibri"/>
                <a:ea typeface="Calibri"/>
                <a:cs typeface="Calibri"/>
                <a:sym typeface="Calibri"/>
              </a:rPr>
              <a:t>The inaccuracies inherent to natural language</a:t>
            </a:r>
            <a:endParaRPr b="0" i="0" sz="2400" u="none" cap="none" strike="noStrike">
              <a:solidFill>
                <a:schemeClr val="dk1"/>
              </a:solidFill>
              <a:latin typeface="Calibri"/>
              <a:ea typeface="Calibri"/>
              <a:cs typeface="Calibri"/>
              <a:sym typeface="Calibri"/>
            </a:endParaRPr>
          </a:p>
          <a:p>
            <a:pPr indent="0" lvl="0" marL="457200" marR="0" rtl="0" algn="l">
              <a:lnSpc>
                <a:spcPct val="90000"/>
              </a:lnSpc>
              <a:spcBef>
                <a:spcPts val="500"/>
              </a:spcBef>
              <a:spcAft>
                <a:spcPts val="0"/>
              </a:spcAft>
              <a:buClr>
                <a:schemeClr val="dk1"/>
              </a:buClr>
              <a:buSzPts val="1100"/>
              <a:buFont typeface="Arial"/>
              <a:buNone/>
            </a:pPr>
            <a:r>
              <a:rPr b="0" i="0" lang="en-GB" sz="2400" u="none" cap="none" strike="noStrike">
                <a:solidFill>
                  <a:schemeClr val="dk1"/>
                </a:solidFill>
                <a:latin typeface="Arial"/>
                <a:ea typeface="Arial"/>
                <a:cs typeface="Arial"/>
                <a:sym typeface="Arial"/>
              </a:rPr>
              <a:t>•</a:t>
            </a:r>
            <a:r>
              <a:rPr b="0" i="0" lang="en-GB" sz="2400" u="none" cap="none" strike="noStrike">
                <a:solidFill>
                  <a:schemeClr val="dk1"/>
                </a:solidFill>
                <a:latin typeface="Calibri"/>
                <a:ea typeface="Calibri"/>
                <a:cs typeface="Calibri"/>
                <a:sym typeface="Calibri"/>
              </a:rPr>
              <a:t>The assumptions of the specification authors</a:t>
            </a:r>
            <a:endParaRPr b="0" i="0" sz="2400" u="none" cap="none" strike="noStrike">
              <a:solidFill>
                <a:schemeClr val="dk1"/>
              </a:solidFill>
              <a:latin typeface="Calibri"/>
              <a:ea typeface="Calibri"/>
              <a:cs typeface="Calibri"/>
              <a:sym typeface="Calibri"/>
            </a:endParaRPr>
          </a:p>
          <a:p>
            <a:pPr indent="0" lvl="0" marL="0" marR="0" rtl="0" algn="l">
              <a:lnSpc>
                <a:spcPct val="90000"/>
              </a:lnSpc>
              <a:spcBef>
                <a:spcPts val="10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1">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5"/>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Analysis Model</a:t>
            </a:r>
            <a:endParaRPr b="1"/>
          </a:p>
        </p:txBody>
      </p:sp>
      <p:sp>
        <p:nvSpPr>
          <p:cNvPr id="91" name="Google Shape;91;p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92" name="Google Shape;92;p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
        <p:nvSpPr>
          <p:cNvPr id="93" name="Google Shape;93;p5"/>
          <p:cNvSpPr txBox="1"/>
          <p:nvPr/>
        </p:nvSpPr>
        <p:spPr>
          <a:xfrm>
            <a:off x="339475" y="833175"/>
            <a:ext cx="8225100" cy="1262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n-GB" sz="2800" u="none" cap="none" strike="noStrike">
                <a:solidFill>
                  <a:schemeClr val="dk1"/>
                </a:solidFill>
                <a:latin typeface="Calibri"/>
                <a:ea typeface="Calibri"/>
                <a:cs typeface="Calibri"/>
                <a:sym typeface="Calibri"/>
              </a:rPr>
              <a:t>Analysis focuses to prepare Analysis model, which is </a:t>
            </a:r>
            <a:r>
              <a:rPr b="0" i="0" lang="en-GB" sz="2800" u="sng" cap="none" strike="noStrike">
                <a:solidFill>
                  <a:schemeClr val="dk1"/>
                </a:solidFill>
                <a:latin typeface="Calibri"/>
                <a:ea typeface="Calibri"/>
                <a:cs typeface="Calibri"/>
                <a:sym typeface="Calibri"/>
              </a:rPr>
              <a:t>correct, complete, consistent</a:t>
            </a:r>
            <a:r>
              <a:rPr b="0" i="0" lang="en-GB" sz="2800" u="none" cap="none" strike="noStrike">
                <a:solidFill>
                  <a:schemeClr val="dk1"/>
                </a:solidFill>
                <a:latin typeface="Calibri"/>
                <a:ea typeface="Calibri"/>
                <a:cs typeface="Calibri"/>
                <a:sym typeface="Calibri"/>
              </a:rPr>
              <a:t>, and </a:t>
            </a:r>
            <a:r>
              <a:rPr b="0" i="0" lang="en-GB" sz="2800" u="sng" cap="none" strike="noStrike">
                <a:solidFill>
                  <a:schemeClr val="dk1"/>
                </a:solidFill>
                <a:latin typeface="Calibri"/>
                <a:ea typeface="Calibri"/>
                <a:cs typeface="Calibri"/>
                <a:sym typeface="Calibri"/>
              </a:rPr>
              <a:t>verifiable</a:t>
            </a:r>
            <a:r>
              <a:rPr b="0" i="0" lang="en-GB" sz="2800" u="none" cap="none" strike="noStrike">
                <a:solidFill>
                  <a:schemeClr val="dk1"/>
                </a:solidFill>
                <a:latin typeface="Calibri"/>
                <a:ea typeface="Calibri"/>
                <a:cs typeface="Calibri"/>
                <a:sym typeface="Calibri"/>
              </a:rPr>
              <a:t>.</a:t>
            </a:r>
            <a:endParaRPr b="0" i="0" sz="2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94" name="Google Shape;94;p5"/>
          <p:cNvPicPr preferRelativeResize="0"/>
          <p:nvPr/>
        </p:nvPicPr>
        <p:blipFill rotWithShape="1">
          <a:blip r:embed="rId3">
            <a:alphaModFix/>
          </a:blip>
          <a:srcRect b="0" l="0" r="0" t="0"/>
          <a:stretch/>
        </p:blipFill>
        <p:spPr>
          <a:xfrm>
            <a:off x="1672250" y="1931502"/>
            <a:ext cx="5255075" cy="26993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pic>
        <p:nvPicPr>
          <p:cNvPr id="99" name="Google Shape;99;p6"/>
          <p:cNvPicPr preferRelativeResize="0"/>
          <p:nvPr/>
        </p:nvPicPr>
        <p:blipFill rotWithShape="1">
          <a:blip r:embed="rId3">
            <a:alphaModFix/>
          </a:blip>
          <a:srcRect b="0" l="0" r="0" t="0"/>
          <a:stretch/>
        </p:blipFill>
        <p:spPr>
          <a:xfrm>
            <a:off x="2272175" y="2697420"/>
            <a:ext cx="4853354" cy="2261400"/>
          </a:xfrm>
          <a:prstGeom prst="rect">
            <a:avLst/>
          </a:prstGeom>
          <a:noFill/>
          <a:ln>
            <a:noFill/>
          </a:ln>
        </p:spPr>
      </p:pic>
      <p:sp>
        <p:nvSpPr>
          <p:cNvPr id="100" name="Google Shape;100;p6"/>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Analysis Model</a:t>
            </a:r>
            <a:endParaRPr b="1"/>
          </a:p>
        </p:txBody>
      </p:sp>
      <p:sp>
        <p:nvSpPr>
          <p:cNvPr id="101" name="Google Shape;101;p6"/>
          <p:cNvSpPr txBox="1"/>
          <p:nvPr>
            <p:ph idx="1" type="body"/>
          </p:nvPr>
        </p:nvSpPr>
        <p:spPr>
          <a:xfrm>
            <a:off x="318125" y="586350"/>
            <a:ext cx="8826000" cy="2261400"/>
          </a:xfrm>
          <a:prstGeom prst="rect">
            <a:avLst/>
          </a:prstGeom>
          <a:noFill/>
          <a:ln>
            <a:noFill/>
          </a:ln>
        </p:spPr>
        <p:txBody>
          <a:bodyPr anchorCtr="0" anchor="t" bIns="34275" lIns="68575" spcFirstLastPara="1" rIns="68575" wrap="square" tIns="34275">
            <a:noAutofit/>
          </a:bodyPr>
          <a:lstStyle/>
          <a:p>
            <a:pPr indent="0" lvl="0" marL="0" rtl="0" algn="just">
              <a:lnSpc>
                <a:spcPct val="90000"/>
              </a:lnSpc>
              <a:spcBef>
                <a:spcPts val="0"/>
              </a:spcBef>
              <a:spcAft>
                <a:spcPts val="0"/>
              </a:spcAft>
              <a:buSzPts val="1400"/>
              <a:buNone/>
            </a:pPr>
            <a:r>
              <a:rPr b="1" lang="en-GB" sz="3200">
                <a:solidFill>
                  <a:srgbClr val="002060"/>
                </a:solidFill>
                <a:latin typeface="Calibri"/>
                <a:ea typeface="Calibri"/>
                <a:cs typeface="Calibri"/>
                <a:sym typeface="Calibri"/>
              </a:rPr>
              <a:t>Types of Analysis Models</a:t>
            </a:r>
            <a:endParaRPr b="1" sz="3200">
              <a:solidFill>
                <a:srgbClr val="002060"/>
              </a:solidFill>
              <a:latin typeface="Calibri"/>
              <a:ea typeface="Calibri"/>
              <a:cs typeface="Calibri"/>
              <a:sym typeface="Calibri"/>
            </a:endParaRPr>
          </a:p>
          <a:p>
            <a:pPr indent="0" lvl="0" marL="0" rtl="0" algn="l">
              <a:lnSpc>
                <a:spcPct val="90000"/>
              </a:lnSpc>
              <a:spcBef>
                <a:spcPts val="1000"/>
              </a:spcBef>
              <a:spcAft>
                <a:spcPts val="0"/>
              </a:spcAft>
              <a:buSzPts val="1400"/>
              <a:buNone/>
            </a:pPr>
            <a:r>
              <a:rPr lang="en-GB" sz="2200">
                <a:solidFill>
                  <a:schemeClr val="dk1"/>
                </a:solidFill>
              </a:rPr>
              <a:t>a)</a:t>
            </a:r>
            <a:r>
              <a:rPr lang="en-GB" sz="2200">
                <a:solidFill>
                  <a:schemeClr val="dk1"/>
                </a:solidFill>
                <a:latin typeface="Calibri"/>
                <a:ea typeface="Calibri"/>
                <a:cs typeface="Calibri"/>
                <a:sym typeface="Calibri"/>
              </a:rPr>
              <a:t>The functional model :represented by use cases and scenarios</a:t>
            </a:r>
            <a:endParaRPr sz="2200">
              <a:solidFill>
                <a:schemeClr val="dk1"/>
              </a:solidFill>
              <a:latin typeface="Calibri"/>
              <a:ea typeface="Calibri"/>
              <a:cs typeface="Calibri"/>
              <a:sym typeface="Calibri"/>
            </a:endParaRPr>
          </a:p>
          <a:p>
            <a:pPr indent="0" lvl="0" marL="0" rtl="0" algn="l">
              <a:lnSpc>
                <a:spcPct val="90000"/>
              </a:lnSpc>
              <a:spcBef>
                <a:spcPts val="1000"/>
              </a:spcBef>
              <a:spcAft>
                <a:spcPts val="0"/>
              </a:spcAft>
              <a:buSzPts val="1400"/>
              <a:buNone/>
            </a:pPr>
            <a:r>
              <a:rPr lang="en-GB" sz="2200">
                <a:solidFill>
                  <a:schemeClr val="dk1"/>
                </a:solidFill>
              </a:rPr>
              <a:t>b)</a:t>
            </a:r>
            <a:r>
              <a:rPr lang="en-GB" sz="2200">
                <a:solidFill>
                  <a:schemeClr val="dk1"/>
                </a:solidFill>
                <a:latin typeface="Calibri"/>
                <a:ea typeface="Calibri"/>
                <a:cs typeface="Calibri"/>
                <a:sym typeface="Calibri"/>
              </a:rPr>
              <a:t>The analysis object model: represented by class and object diagrams</a:t>
            </a:r>
            <a:endParaRPr sz="2200">
              <a:solidFill>
                <a:schemeClr val="dk1"/>
              </a:solidFill>
              <a:latin typeface="Calibri"/>
              <a:ea typeface="Calibri"/>
              <a:cs typeface="Calibri"/>
              <a:sym typeface="Calibri"/>
            </a:endParaRPr>
          </a:p>
          <a:p>
            <a:pPr indent="0" lvl="0" marL="0" rtl="0" algn="l">
              <a:lnSpc>
                <a:spcPct val="90000"/>
              </a:lnSpc>
              <a:spcBef>
                <a:spcPts val="1000"/>
              </a:spcBef>
              <a:spcAft>
                <a:spcPts val="0"/>
              </a:spcAft>
              <a:buSzPts val="1400"/>
              <a:buNone/>
            </a:pPr>
            <a:r>
              <a:rPr lang="en-GB" sz="2200">
                <a:solidFill>
                  <a:schemeClr val="dk1"/>
                </a:solidFill>
              </a:rPr>
              <a:t>c)</a:t>
            </a:r>
            <a:r>
              <a:rPr lang="en-GB" sz="2200">
                <a:solidFill>
                  <a:schemeClr val="dk1"/>
                </a:solidFill>
                <a:latin typeface="Calibri"/>
                <a:ea typeface="Calibri"/>
                <a:cs typeface="Calibri"/>
                <a:sym typeface="Calibri"/>
              </a:rPr>
              <a:t>The dynamic model: represented by state machine and sequence diagrams</a:t>
            </a:r>
            <a:endParaRPr sz="2200">
              <a:solidFill>
                <a:schemeClr val="dk1"/>
              </a:solidFill>
            </a:endParaRPr>
          </a:p>
          <a:p>
            <a:pPr indent="0" lvl="0" marL="457200" rtl="0" algn="l">
              <a:lnSpc>
                <a:spcPct val="90000"/>
              </a:lnSpc>
              <a:spcBef>
                <a:spcPts val="500"/>
              </a:spcBef>
              <a:spcAft>
                <a:spcPts val="0"/>
              </a:spcAft>
              <a:buSzPts val="1400"/>
              <a:buNone/>
            </a:pPr>
            <a:r>
              <a:t/>
            </a:r>
            <a:endParaRPr sz="2400">
              <a:solidFill>
                <a:schemeClr val="dk1"/>
              </a:solidFill>
            </a:endParaRPr>
          </a:p>
          <a:p>
            <a:pPr indent="0" lvl="0" marL="0" rtl="0" algn="l">
              <a:lnSpc>
                <a:spcPct val="90000"/>
              </a:lnSpc>
              <a:spcBef>
                <a:spcPts val="0"/>
              </a:spcBef>
              <a:spcAft>
                <a:spcPts val="0"/>
              </a:spcAft>
              <a:buSzPts val="1400"/>
              <a:buNone/>
            </a:pPr>
            <a:r>
              <a:t/>
            </a:r>
            <a:endParaRPr sz="2200">
              <a:solidFill>
                <a:schemeClr val="dk1"/>
              </a:solidFill>
            </a:endParaRPr>
          </a:p>
          <a:p>
            <a:pPr indent="0" lvl="0" marL="0" rtl="0" algn="l">
              <a:lnSpc>
                <a:spcPct val="90000"/>
              </a:lnSpc>
              <a:spcBef>
                <a:spcPts val="0"/>
              </a:spcBef>
              <a:spcAft>
                <a:spcPts val="0"/>
              </a:spcAft>
              <a:buSzPts val="1400"/>
              <a:buNone/>
            </a:pPr>
            <a:r>
              <a:t/>
            </a:r>
            <a:endParaRPr sz="2200">
              <a:solidFill>
                <a:schemeClr val="dk1"/>
              </a:solidFill>
            </a:endParaRPr>
          </a:p>
          <a:p>
            <a:pPr indent="0" lvl="0" marL="0" rtl="0" algn="just">
              <a:lnSpc>
                <a:spcPct val="90000"/>
              </a:lnSpc>
              <a:spcBef>
                <a:spcPts val="0"/>
              </a:spcBef>
              <a:spcAft>
                <a:spcPts val="0"/>
              </a:spcAft>
              <a:buSzPts val="1400"/>
              <a:buNone/>
            </a:pPr>
            <a:r>
              <a:t/>
            </a:r>
            <a:endParaRPr>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b="1" sz="2800">
              <a:solidFill>
                <a:srgbClr val="002060"/>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a:solidFill>
                <a:schemeClr val="dk1"/>
              </a:solidFill>
            </a:endParaRPr>
          </a:p>
          <a:p>
            <a:pPr indent="0" lvl="0" marL="0" rtl="0" algn="l">
              <a:lnSpc>
                <a:spcPct val="100000"/>
              </a:lnSpc>
              <a:spcBef>
                <a:spcPts val="0"/>
              </a:spcBef>
              <a:spcAft>
                <a:spcPts val="0"/>
              </a:spcAft>
              <a:buSzPts val="1400"/>
              <a:buNone/>
            </a:pPr>
            <a:r>
              <a:t/>
            </a:r>
            <a:endParaRPr sz="1700">
              <a:solidFill>
                <a:schemeClr val="dk1"/>
              </a:solidFill>
            </a:endParaRPr>
          </a:p>
          <a:p>
            <a:pPr indent="0" lvl="0" marL="0" rtl="0" algn="l">
              <a:lnSpc>
                <a:spcPct val="100000"/>
              </a:lnSpc>
              <a:spcBef>
                <a:spcPts val="0"/>
              </a:spcBef>
              <a:spcAft>
                <a:spcPts val="0"/>
              </a:spcAft>
              <a:buSzPts val="1400"/>
              <a:buNone/>
            </a:pPr>
            <a:r>
              <a:t/>
            </a:r>
            <a:endParaRPr b="1" sz="15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b="1" sz="1100">
              <a:solidFill>
                <a:srgbClr val="1C4587"/>
              </a:solidFill>
              <a:latin typeface="Calibri"/>
              <a:ea typeface="Calibri"/>
              <a:cs typeface="Calibri"/>
              <a:sym typeface="Calibri"/>
            </a:endParaRPr>
          </a:p>
          <a:p>
            <a:pPr indent="0" lvl="0" marL="0" rtl="0" algn="just">
              <a:lnSpc>
                <a:spcPct val="100000"/>
              </a:lnSpc>
              <a:spcBef>
                <a:spcPts val="0"/>
              </a:spcBef>
              <a:spcAft>
                <a:spcPts val="0"/>
              </a:spcAft>
              <a:buSzPts val="1400"/>
              <a:buNone/>
            </a:pPr>
            <a:r>
              <a:t/>
            </a:r>
            <a:endParaRPr sz="2300">
              <a:solidFill>
                <a:schemeClr val="dk1"/>
              </a:solidFill>
              <a:latin typeface="Calibri"/>
              <a:ea typeface="Calibri"/>
              <a:cs typeface="Calibri"/>
              <a:sym typeface="Calibri"/>
            </a:endParaRPr>
          </a:p>
        </p:txBody>
      </p:sp>
      <p:sp>
        <p:nvSpPr>
          <p:cNvPr id="102" name="Google Shape;102;p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103" name="Google Shape;103;p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7"/>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Analysis Model</a:t>
            </a:r>
            <a:endParaRPr b="1"/>
          </a:p>
        </p:txBody>
      </p:sp>
      <p:sp>
        <p:nvSpPr>
          <p:cNvPr id="109" name="Google Shape;109;p7"/>
          <p:cNvSpPr txBox="1"/>
          <p:nvPr>
            <p:ph idx="1" type="body"/>
          </p:nvPr>
        </p:nvSpPr>
        <p:spPr>
          <a:xfrm>
            <a:off x="318125" y="586350"/>
            <a:ext cx="8826000" cy="2261400"/>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1000"/>
              </a:spcBef>
              <a:spcAft>
                <a:spcPts val="0"/>
              </a:spcAft>
              <a:buSzPts val="1400"/>
              <a:buNone/>
            </a:pPr>
            <a:r>
              <a:rPr lang="en-GB">
                <a:solidFill>
                  <a:schemeClr val="dk1"/>
                </a:solidFill>
                <a:latin typeface="Calibri"/>
                <a:ea typeface="Calibri"/>
                <a:cs typeface="Calibri"/>
                <a:sym typeface="Calibri"/>
              </a:rPr>
              <a:t>These models represent user-level concepts, </a:t>
            </a:r>
            <a:r>
              <a:rPr lang="en-GB" u="sng">
                <a:solidFill>
                  <a:schemeClr val="dk1"/>
                </a:solidFill>
                <a:latin typeface="Calibri"/>
                <a:ea typeface="Calibri"/>
                <a:cs typeface="Calibri"/>
                <a:sym typeface="Calibri"/>
              </a:rPr>
              <a:t>not actual</a:t>
            </a:r>
            <a:r>
              <a:rPr lang="en-GB">
                <a:solidFill>
                  <a:schemeClr val="dk1"/>
                </a:solidFill>
                <a:latin typeface="Calibri"/>
                <a:ea typeface="Calibri"/>
                <a:cs typeface="Calibri"/>
                <a:sym typeface="Calibri"/>
              </a:rPr>
              <a:t> software classes components</a:t>
            </a:r>
            <a:endParaRPr>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a:solidFill>
                  <a:schemeClr val="dk1"/>
                </a:solidFill>
              </a:rPr>
              <a:t>•</a:t>
            </a:r>
            <a:r>
              <a:rPr b="1" lang="en-GB">
                <a:solidFill>
                  <a:srgbClr val="002060"/>
                </a:solidFill>
                <a:latin typeface="Calibri"/>
                <a:ea typeface="Calibri"/>
                <a:cs typeface="Calibri"/>
                <a:sym typeface="Calibri"/>
              </a:rPr>
              <a:t>Analysis Object Model</a:t>
            </a:r>
            <a:endParaRPr b="1">
              <a:solidFill>
                <a:srgbClr val="002060"/>
              </a:solidFill>
              <a:latin typeface="Calibri"/>
              <a:ea typeface="Calibri"/>
              <a:cs typeface="Calibri"/>
              <a:sym typeface="Calibri"/>
            </a:endParaRPr>
          </a:p>
          <a:p>
            <a:pPr indent="0" lvl="0" marL="457200" rtl="0" algn="l">
              <a:lnSpc>
                <a:spcPct val="90000"/>
              </a:lnSpc>
              <a:spcBef>
                <a:spcPts val="0"/>
              </a:spcBef>
              <a:spcAft>
                <a:spcPts val="0"/>
              </a:spcAft>
              <a:buSzPts val="1400"/>
              <a:buNone/>
            </a:pPr>
            <a:r>
              <a:rPr lang="en-GB">
                <a:solidFill>
                  <a:schemeClr val="dk1"/>
                </a:solidFill>
              </a:rPr>
              <a:t>•</a:t>
            </a:r>
            <a:r>
              <a:rPr lang="en-GB">
                <a:solidFill>
                  <a:schemeClr val="dk1"/>
                </a:solidFill>
                <a:latin typeface="Calibri"/>
                <a:ea typeface="Calibri"/>
                <a:cs typeface="Calibri"/>
                <a:sym typeface="Calibri"/>
              </a:rPr>
              <a:t>Focuses on the individual concepts that are manipulated by the system, their properties and their relationships.</a:t>
            </a:r>
            <a:endParaRPr>
              <a:solidFill>
                <a:schemeClr val="dk1"/>
              </a:solidFill>
              <a:latin typeface="Calibri"/>
              <a:ea typeface="Calibri"/>
              <a:cs typeface="Calibri"/>
              <a:sym typeface="Calibri"/>
            </a:endParaRPr>
          </a:p>
          <a:p>
            <a:pPr indent="0" lvl="0" marL="457200" rtl="0" algn="l">
              <a:lnSpc>
                <a:spcPct val="90000"/>
              </a:lnSpc>
              <a:spcBef>
                <a:spcPts val="0"/>
              </a:spcBef>
              <a:spcAft>
                <a:spcPts val="0"/>
              </a:spcAft>
              <a:buSzPts val="1400"/>
              <a:buNone/>
            </a:pPr>
            <a:r>
              <a:rPr lang="en-GB">
                <a:solidFill>
                  <a:schemeClr val="dk1"/>
                </a:solidFill>
              </a:rPr>
              <a:t>•</a:t>
            </a:r>
            <a:r>
              <a:rPr lang="en-GB">
                <a:solidFill>
                  <a:schemeClr val="dk1"/>
                </a:solidFill>
                <a:latin typeface="Calibri"/>
                <a:ea typeface="Calibri"/>
                <a:cs typeface="Calibri"/>
                <a:sym typeface="Calibri"/>
              </a:rPr>
              <a:t>Depicted with UML class diagrams, includes classes, attributes, and operations.</a:t>
            </a:r>
            <a:endParaRPr>
              <a:solidFill>
                <a:schemeClr val="dk1"/>
              </a:solidFill>
              <a:latin typeface="Calibri"/>
              <a:ea typeface="Calibri"/>
              <a:cs typeface="Calibri"/>
              <a:sym typeface="Calibri"/>
            </a:endParaRPr>
          </a:p>
          <a:p>
            <a:pPr indent="0" lvl="0" marL="457200" rtl="0" algn="l">
              <a:lnSpc>
                <a:spcPct val="90000"/>
              </a:lnSpc>
              <a:spcBef>
                <a:spcPts val="0"/>
              </a:spcBef>
              <a:spcAft>
                <a:spcPts val="0"/>
              </a:spcAft>
              <a:buSzPts val="1400"/>
              <a:buNone/>
            </a:pPr>
            <a:r>
              <a:rPr lang="en-GB">
                <a:solidFill>
                  <a:schemeClr val="dk1"/>
                </a:solidFill>
              </a:rPr>
              <a:t>•</a:t>
            </a:r>
            <a:r>
              <a:rPr lang="en-GB">
                <a:solidFill>
                  <a:schemeClr val="dk1"/>
                </a:solidFill>
                <a:latin typeface="Calibri"/>
                <a:ea typeface="Calibri"/>
                <a:cs typeface="Calibri"/>
                <a:sym typeface="Calibri"/>
              </a:rPr>
              <a:t>A visual dictionary of the main concepts visible to the user.</a:t>
            </a:r>
            <a:endParaRPr>
              <a:solidFill>
                <a:schemeClr val="dk1"/>
              </a:solidFill>
              <a:latin typeface="Calibri"/>
              <a:ea typeface="Calibri"/>
              <a:cs typeface="Calibri"/>
              <a:sym typeface="Calibri"/>
            </a:endParaRPr>
          </a:p>
          <a:p>
            <a:pPr indent="0" lvl="0" marL="0" rtl="0" algn="l">
              <a:lnSpc>
                <a:spcPct val="90000"/>
              </a:lnSpc>
              <a:spcBef>
                <a:spcPts val="0"/>
              </a:spcBef>
              <a:spcAft>
                <a:spcPts val="0"/>
              </a:spcAft>
              <a:buSzPts val="1400"/>
              <a:buNone/>
            </a:pPr>
            <a:r>
              <a:rPr lang="en-GB">
                <a:solidFill>
                  <a:schemeClr val="dk1"/>
                </a:solidFill>
              </a:rPr>
              <a:t>•</a:t>
            </a:r>
            <a:r>
              <a:rPr b="1" lang="en-GB">
                <a:solidFill>
                  <a:srgbClr val="002060"/>
                </a:solidFill>
                <a:latin typeface="Calibri"/>
                <a:ea typeface="Calibri"/>
                <a:cs typeface="Calibri"/>
                <a:sym typeface="Calibri"/>
              </a:rPr>
              <a:t>Dynamic model</a:t>
            </a:r>
            <a:endParaRPr b="1">
              <a:solidFill>
                <a:srgbClr val="002060"/>
              </a:solidFill>
              <a:latin typeface="Calibri"/>
              <a:ea typeface="Calibri"/>
              <a:cs typeface="Calibri"/>
              <a:sym typeface="Calibri"/>
            </a:endParaRPr>
          </a:p>
          <a:p>
            <a:pPr indent="0" lvl="0" marL="457200" rtl="0" algn="l">
              <a:lnSpc>
                <a:spcPct val="90000"/>
              </a:lnSpc>
              <a:spcBef>
                <a:spcPts val="0"/>
              </a:spcBef>
              <a:spcAft>
                <a:spcPts val="0"/>
              </a:spcAft>
              <a:buSzPts val="1400"/>
              <a:buNone/>
            </a:pPr>
            <a:r>
              <a:rPr lang="en-GB">
                <a:solidFill>
                  <a:schemeClr val="dk1"/>
                </a:solidFill>
              </a:rPr>
              <a:t>•</a:t>
            </a:r>
            <a:r>
              <a:rPr lang="en-GB">
                <a:solidFill>
                  <a:schemeClr val="dk1"/>
                </a:solidFill>
                <a:latin typeface="Calibri"/>
                <a:ea typeface="Calibri"/>
                <a:cs typeface="Calibri"/>
                <a:sym typeface="Calibri"/>
              </a:rPr>
              <a:t> Focuses on the behaviour of the system.</a:t>
            </a:r>
            <a:endParaRPr>
              <a:solidFill>
                <a:schemeClr val="dk1"/>
              </a:solidFill>
              <a:latin typeface="Calibri"/>
              <a:ea typeface="Calibri"/>
              <a:cs typeface="Calibri"/>
              <a:sym typeface="Calibri"/>
            </a:endParaRPr>
          </a:p>
          <a:p>
            <a:pPr indent="0" lvl="0" marL="457200" rtl="0" algn="l">
              <a:lnSpc>
                <a:spcPct val="90000"/>
              </a:lnSpc>
              <a:spcBef>
                <a:spcPts val="0"/>
              </a:spcBef>
              <a:spcAft>
                <a:spcPts val="0"/>
              </a:spcAft>
              <a:buSzPts val="1400"/>
              <a:buNone/>
            </a:pPr>
            <a:r>
              <a:rPr lang="en-GB">
                <a:solidFill>
                  <a:schemeClr val="dk1"/>
                </a:solidFill>
              </a:rPr>
              <a:t>•</a:t>
            </a:r>
            <a:r>
              <a:rPr lang="en-GB">
                <a:solidFill>
                  <a:schemeClr val="dk1"/>
                </a:solidFill>
                <a:latin typeface="Calibri"/>
                <a:ea typeface="Calibri"/>
                <a:cs typeface="Calibri"/>
                <a:sym typeface="Calibri"/>
              </a:rPr>
              <a:t>Depicted with sequence diagrams and with state machines.</a:t>
            </a:r>
            <a:endParaRPr>
              <a:solidFill>
                <a:schemeClr val="dk1"/>
              </a:solidFill>
              <a:latin typeface="Calibri"/>
              <a:ea typeface="Calibri"/>
              <a:cs typeface="Calibri"/>
              <a:sym typeface="Calibri"/>
            </a:endParaRPr>
          </a:p>
          <a:p>
            <a:pPr indent="0" lvl="0" marL="457200" rtl="0" algn="l">
              <a:lnSpc>
                <a:spcPct val="90000"/>
              </a:lnSpc>
              <a:spcBef>
                <a:spcPts val="0"/>
              </a:spcBef>
              <a:spcAft>
                <a:spcPts val="0"/>
              </a:spcAft>
              <a:buSzPts val="1400"/>
              <a:buNone/>
            </a:pPr>
            <a:r>
              <a:rPr lang="en-GB">
                <a:solidFill>
                  <a:schemeClr val="dk1"/>
                </a:solidFill>
              </a:rPr>
              <a:t>•</a:t>
            </a:r>
            <a:r>
              <a:rPr lang="en-GB">
                <a:solidFill>
                  <a:schemeClr val="dk1"/>
                </a:solidFill>
                <a:latin typeface="Calibri"/>
                <a:ea typeface="Calibri"/>
                <a:cs typeface="Calibri"/>
                <a:sym typeface="Calibri"/>
              </a:rPr>
              <a:t>Sequence diagrams represent the interactions among a set of objects during a single use case.</a:t>
            </a:r>
            <a:endParaRPr>
              <a:solidFill>
                <a:schemeClr val="dk1"/>
              </a:solidFill>
              <a:latin typeface="Calibri"/>
              <a:ea typeface="Calibri"/>
              <a:cs typeface="Calibri"/>
              <a:sym typeface="Calibri"/>
            </a:endParaRPr>
          </a:p>
          <a:p>
            <a:pPr indent="0" lvl="0" marL="457200" rtl="0" algn="l">
              <a:lnSpc>
                <a:spcPct val="90000"/>
              </a:lnSpc>
              <a:spcBef>
                <a:spcPts val="0"/>
              </a:spcBef>
              <a:spcAft>
                <a:spcPts val="0"/>
              </a:spcAft>
              <a:buSzPts val="1400"/>
              <a:buNone/>
            </a:pPr>
            <a:r>
              <a:rPr lang="en-GB">
                <a:solidFill>
                  <a:schemeClr val="dk1"/>
                </a:solidFill>
              </a:rPr>
              <a:t>•</a:t>
            </a:r>
            <a:r>
              <a:rPr lang="en-GB">
                <a:solidFill>
                  <a:schemeClr val="dk1"/>
                </a:solidFill>
                <a:latin typeface="Calibri"/>
                <a:ea typeface="Calibri"/>
                <a:cs typeface="Calibri"/>
                <a:sym typeface="Calibri"/>
              </a:rPr>
              <a:t>State machines represent the behaviour of a single object (or a group of very tightly coupled objects).</a:t>
            </a:r>
            <a:endParaRPr>
              <a:solidFill>
                <a:schemeClr val="dk1"/>
              </a:solidFill>
              <a:latin typeface="Calibri"/>
              <a:ea typeface="Calibri"/>
              <a:cs typeface="Calibri"/>
              <a:sym typeface="Calibri"/>
            </a:endParaRPr>
          </a:p>
          <a:p>
            <a:pPr indent="0" lvl="0" marL="457200" rtl="0" algn="l">
              <a:lnSpc>
                <a:spcPct val="90000"/>
              </a:lnSpc>
              <a:spcBef>
                <a:spcPts val="0"/>
              </a:spcBef>
              <a:spcAft>
                <a:spcPts val="0"/>
              </a:spcAft>
              <a:buSzPts val="1400"/>
              <a:buNone/>
            </a:pPr>
            <a:r>
              <a:rPr lang="en-GB">
                <a:solidFill>
                  <a:schemeClr val="dk1"/>
                </a:solidFill>
              </a:rPr>
              <a:t>•</a:t>
            </a:r>
            <a:r>
              <a:rPr lang="en-GB">
                <a:solidFill>
                  <a:schemeClr val="dk1"/>
                </a:solidFill>
                <a:latin typeface="Calibri"/>
                <a:ea typeface="Calibri"/>
                <a:cs typeface="Calibri"/>
                <a:sym typeface="Calibri"/>
              </a:rPr>
              <a:t>Serves to assign responsibilities to individual classes and, in the process, to identify new classes, associations, and attributes to be added to the analysis object model.</a:t>
            </a:r>
            <a:endParaRPr>
              <a:solidFill>
                <a:schemeClr val="dk1"/>
              </a:solidFill>
              <a:latin typeface="Calibri"/>
              <a:ea typeface="Calibri"/>
              <a:cs typeface="Calibri"/>
              <a:sym typeface="Calibri"/>
            </a:endParaRPr>
          </a:p>
          <a:p>
            <a:pPr indent="0" lvl="0" marL="0" rtl="0" algn="just">
              <a:lnSpc>
                <a:spcPct val="90000"/>
              </a:lnSpc>
              <a:spcBef>
                <a:spcPts val="0"/>
              </a:spcBef>
              <a:spcAft>
                <a:spcPts val="0"/>
              </a:spcAft>
              <a:buSzPts val="1400"/>
              <a:buNone/>
            </a:pPr>
            <a:r>
              <a:t/>
            </a:r>
            <a:endParaRPr b="1" sz="3200">
              <a:solidFill>
                <a:srgbClr val="002060"/>
              </a:solidFill>
              <a:latin typeface="Calibri"/>
              <a:ea typeface="Calibri"/>
              <a:cs typeface="Calibri"/>
              <a:sym typeface="Calibri"/>
            </a:endParaRPr>
          </a:p>
        </p:txBody>
      </p:sp>
      <p:sp>
        <p:nvSpPr>
          <p:cNvPr id="110" name="Google Shape;110;p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111" name="Google Shape;111;p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8"/>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Analysis Model</a:t>
            </a:r>
            <a:endParaRPr b="1"/>
          </a:p>
        </p:txBody>
      </p:sp>
      <p:sp>
        <p:nvSpPr>
          <p:cNvPr id="117" name="Google Shape;117;p8"/>
          <p:cNvSpPr txBox="1"/>
          <p:nvPr>
            <p:ph idx="1" type="body"/>
          </p:nvPr>
        </p:nvSpPr>
        <p:spPr>
          <a:xfrm>
            <a:off x="318125" y="586350"/>
            <a:ext cx="8826000" cy="2261400"/>
          </a:xfrm>
          <a:prstGeom prst="rect">
            <a:avLst/>
          </a:prstGeom>
          <a:noFill/>
          <a:ln>
            <a:noFill/>
          </a:ln>
        </p:spPr>
        <p:txBody>
          <a:bodyPr anchorCtr="0" anchor="t" bIns="34275" lIns="68575" spcFirstLastPara="1" rIns="68575" wrap="square" tIns="34275">
            <a:noAutofit/>
          </a:bodyPr>
          <a:lstStyle/>
          <a:p>
            <a:pPr indent="0" lvl="0" marL="0" rtl="0" algn="just">
              <a:lnSpc>
                <a:spcPct val="90000"/>
              </a:lnSpc>
              <a:spcBef>
                <a:spcPts val="0"/>
              </a:spcBef>
              <a:spcAft>
                <a:spcPts val="0"/>
              </a:spcAft>
              <a:buSzPts val="1400"/>
              <a:buNone/>
            </a:pPr>
            <a:r>
              <a:rPr b="1" lang="en-GB" sz="3200">
                <a:solidFill>
                  <a:srgbClr val="002060"/>
                </a:solidFill>
                <a:latin typeface="Calibri"/>
                <a:ea typeface="Calibri"/>
                <a:cs typeface="Calibri"/>
                <a:sym typeface="Calibri"/>
              </a:rPr>
              <a:t>Activity Diagram</a:t>
            </a:r>
            <a:endParaRPr b="1" sz="3200">
              <a:solidFill>
                <a:srgbClr val="002060"/>
              </a:solidFill>
              <a:latin typeface="Calibri"/>
              <a:ea typeface="Calibri"/>
              <a:cs typeface="Calibri"/>
              <a:sym typeface="Calibri"/>
            </a:endParaRPr>
          </a:p>
          <a:p>
            <a:pPr indent="-393700" lvl="0" marL="457200" rtl="0" algn="just">
              <a:lnSpc>
                <a:spcPct val="100000"/>
              </a:lnSpc>
              <a:spcBef>
                <a:spcPts val="0"/>
              </a:spcBef>
              <a:spcAft>
                <a:spcPts val="0"/>
              </a:spcAft>
              <a:buClr>
                <a:schemeClr val="dk1"/>
              </a:buClr>
              <a:buSzPts val="2600"/>
              <a:buFont typeface="Calibri"/>
              <a:buChar char="●"/>
            </a:pPr>
            <a:r>
              <a:rPr lang="en-GB" sz="2600">
                <a:solidFill>
                  <a:schemeClr val="dk1"/>
                </a:solidFill>
                <a:latin typeface="Calibri"/>
                <a:ea typeface="Calibri"/>
                <a:cs typeface="Calibri"/>
                <a:sym typeface="Calibri"/>
              </a:rPr>
              <a:t>An activity diagram describes the </a:t>
            </a:r>
            <a:r>
              <a:rPr b="1" lang="en-GB" sz="2600">
                <a:solidFill>
                  <a:schemeClr val="dk1"/>
                </a:solidFill>
                <a:latin typeface="Calibri"/>
                <a:ea typeface="Calibri"/>
                <a:cs typeface="Calibri"/>
                <a:sym typeface="Calibri"/>
              </a:rPr>
              <a:t>behavior of a system in terms of activities.</a:t>
            </a:r>
            <a:endParaRPr sz="2600">
              <a:solidFill>
                <a:schemeClr val="dk1"/>
              </a:solidFill>
            </a:endParaRPr>
          </a:p>
          <a:p>
            <a:pPr indent="-393700" lvl="0" marL="457200" rtl="0" algn="just">
              <a:lnSpc>
                <a:spcPct val="100000"/>
              </a:lnSpc>
              <a:spcBef>
                <a:spcPts val="0"/>
              </a:spcBef>
              <a:spcAft>
                <a:spcPts val="0"/>
              </a:spcAft>
              <a:buClr>
                <a:schemeClr val="dk1"/>
              </a:buClr>
              <a:buSzPts val="2600"/>
              <a:buFont typeface="Calibri"/>
              <a:buChar char="●"/>
            </a:pPr>
            <a:r>
              <a:rPr b="1" lang="en-GB" sz="2600">
                <a:solidFill>
                  <a:schemeClr val="dk1"/>
                </a:solidFill>
                <a:latin typeface="Calibri"/>
                <a:ea typeface="Calibri"/>
                <a:cs typeface="Calibri"/>
                <a:sym typeface="Calibri"/>
              </a:rPr>
              <a:t>Activity diagram</a:t>
            </a:r>
            <a:r>
              <a:rPr lang="en-GB" sz="2600">
                <a:solidFill>
                  <a:schemeClr val="dk1"/>
                </a:solidFill>
                <a:latin typeface="Calibri"/>
                <a:ea typeface="Calibri"/>
                <a:cs typeface="Calibri"/>
                <a:sym typeface="Calibri"/>
              </a:rPr>
              <a:t> is basically a </a:t>
            </a:r>
            <a:r>
              <a:rPr b="1" lang="en-GB" sz="2600">
                <a:solidFill>
                  <a:schemeClr val="dk1"/>
                </a:solidFill>
                <a:latin typeface="Calibri"/>
                <a:ea typeface="Calibri"/>
                <a:cs typeface="Calibri"/>
                <a:sym typeface="Calibri"/>
              </a:rPr>
              <a:t>flowchart</a:t>
            </a:r>
            <a:r>
              <a:rPr lang="en-GB" sz="2600">
                <a:solidFill>
                  <a:schemeClr val="dk1"/>
                </a:solidFill>
                <a:latin typeface="Calibri"/>
                <a:ea typeface="Calibri"/>
                <a:cs typeface="Calibri"/>
                <a:sym typeface="Calibri"/>
              </a:rPr>
              <a:t> to represent the flow form </a:t>
            </a:r>
            <a:r>
              <a:rPr b="1" lang="en-GB" sz="2600">
                <a:solidFill>
                  <a:schemeClr val="dk1"/>
                </a:solidFill>
                <a:latin typeface="Calibri"/>
                <a:ea typeface="Calibri"/>
                <a:cs typeface="Calibri"/>
                <a:sym typeface="Calibri"/>
              </a:rPr>
              <a:t>one activity to another activity.</a:t>
            </a:r>
            <a:endParaRPr sz="2600">
              <a:solidFill>
                <a:schemeClr val="dk1"/>
              </a:solidFill>
            </a:endParaRPr>
          </a:p>
          <a:p>
            <a:pPr indent="-393700" lvl="0" marL="457200" rtl="0" algn="just">
              <a:lnSpc>
                <a:spcPct val="100000"/>
              </a:lnSpc>
              <a:spcBef>
                <a:spcPts val="0"/>
              </a:spcBef>
              <a:spcAft>
                <a:spcPts val="0"/>
              </a:spcAft>
              <a:buClr>
                <a:schemeClr val="dk1"/>
              </a:buClr>
              <a:buSzPts val="2600"/>
              <a:buFont typeface="Calibri"/>
              <a:buChar char="●"/>
            </a:pPr>
            <a:r>
              <a:rPr lang="en-GB" sz="2600">
                <a:solidFill>
                  <a:schemeClr val="dk1"/>
                </a:solidFill>
                <a:latin typeface="Calibri"/>
                <a:ea typeface="Calibri"/>
                <a:cs typeface="Calibri"/>
                <a:sym typeface="Calibri"/>
              </a:rPr>
              <a:t>Activity diagram: </a:t>
            </a:r>
            <a:r>
              <a:rPr b="1" lang="en-GB" sz="2600">
                <a:solidFill>
                  <a:schemeClr val="dk1"/>
                </a:solidFill>
                <a:latin typeface="Calibri"/>
                <a:ea typeface="Calibri"/>
                <a:cs typeface="Calibri"/>
                <a:sym typeface="Calibri"/>
              </a:rPr>
              <a:t>operation of a system</a:t>
            </a:r>
            <a:r>
              <a:rPr lang="en-GB" sz="2600">
                <a:solidFill>
                  <a:schemeClr val="dk1"/>
                </a:solidFill>
                <a:latin typeface="Calibri"/>
                <a:ea typeface="Calibri"/>
                <a:cs typeface="Calibri"/>
                <a:sym typeface="Calibri"/>
              </a:rPr>
              <a:t>.</a:t>
            </a:r>
            <a:endParaRPr sz="2600">
              <a:solidFill>
                <a:schemeClr val="dk1"/>
              </a:solidFill>
            </a:endParaRPr>
          </a:p>
          <a:p>
            <a:pPr indent="-393700" lvl="0" marL="457200" rtl="0" algn="just">
              <a:lnSpc>
                <a:spcPct val="100000"/>
              </a:lnSpc>
              <a:spcBef>
                <a:spcPts val="0"/>
              </a:spcBef>
              <a:spcAft>
                <a:spcPts val="0"/>
              </a:spcAft>
              <a:buClr>
                <a:schemeClr val="dk1"/>
              </a:buClr>
              <a:buSzPts val="2600"/>
              <a:buFont typeface="Calibri"/>
              <a:buChar char="●"/>
            </a:pPr>
            <a:r>
              <a:rPr lang="en-GB" sz="2600">
                <a:solidFill>
                  <a:schemeClr val="dk1"/>
                </a:solidFill>
                <a:latin typeface="Calibri"/>
                <a:ea typeface="Calibri"/>
                <a:cs typeface="Calibri"/>
                <a:sym typeface="Calibri"/>
              </a:rPr>
              <a:t>This flow can be </a:t>
            </a:r>
            <a:r>
              <a:rPr b="1" lang="en-GB" sz="2600">
                <a:solidFill>
                  <a:schemeClr val="dk1"/>
                </a:solidFill>
                <a:latin typeface="Calibri"/>
                <a:ea typeface="Calibri"/>
                <a:cs typeface="Calibri"/>
                <a:sym typeface="Calibri"/>
              </a:rPr>
              <a:t>sequential, branched or concurrent.</a:t>
            </a:r>
            <a:endParaRPr b="1" sz="2600">
              <a:solidFill>
                <a:schemeClr val="dk1"/>
              </a:solidFill>
              <a:latin typeface="Calibri"/>
              <a:ea typeface="Calibri"/>
              <a:cs typeface="Calibri"/>
              <a:sym typeface="Calibri"/>
            </a:endParaRPr>
          </a:p>
          <a:p>
            <a:pPr indent="0" lvl="0" marL="0" rtl="0" algn="just">
              <a:lnSpc>
                <a:spcPct val="90000"/>
              </a:lnSpc>
              <a:spcBef>
                <a:spcPts val="0"/>
              </a:spcBef>
              <a:spcAft>
                <a:spcPts val="0"/>
              </a:spcAft>
              <a:buSzPts val="1400"/>
              <a:buNone/>
            </a:pPr>
            <a:r>
              <a:t/>
            </a:r>
            <a:endParaRPr sz="2200">
              <a:solidFill>
                <a:schemeClr val="dk1"/>
              </a:solidFill>
              <a:latin typeface="Calibri"/>
              <a:ea typeface="Calibri"/>
              <a:cs typeface="Calibri"/>
              <a:sym typeface="Calibri"/>
            </a:endParaRPr>
          </a:p>
        </p:txBody>
      </p:sp>
      <p:sp>
        <p:nvSpPr>
          <p:cNvPr id="118" name="Google Shape;118;p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119" name="Google Shape;119;p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9"/>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Analysis Model</a:t>
            </a:r>
            <a:endParaRPr b="1"/>
          </a:p>
        </p:txBody>
      </p:sp>
      <p:sp>
        <p:nvSpPr>
          <p:cNvPr id="125" name="Google Shape;125;p9"/>
          <p:cNvSpPr txBox="1"/>
          <p:nvPr>
            <p:ph idx="1" type="body"/>
          </p:nvPr>
        </p:nvSpPr>
        <p:spPr>
          <a:xfrm>
            <a:off x="318125" y="586350"/>
            <a:ext cx="8826000" cy="2261400"/>
          </a:xfrm>
          <a:prstGeom prst="rect">
            <a:avLst/>
          </a:prstGeom>
          <a:noFill/>
          <a:ln>
            <a:noFill/>
          </a:ln>
        </p:spPr>
        <p:txBody>
          <a:bodyPr anchorCtr="0" anchor="t" bIns="34275" lIns="68575" spcFirstLastPara="1" rIns="68575" wrap="square" tIns="34275">
            <a:noAutofit/>
          </a:bodyPr>
          <a:lstStyle/>
          <a:p>
            <a:pPr indent="0" lvl="0" marL="0" rtl="0" algn="just">
              <a:lnSpc>
                <a:spcPct val="90000"/>
              </a:lnSpc>
              <a:spcBef>
                <a:spcPts val="0"/>
              </a:spcBef>
              <a:spcAft>
                <a:spcPts val="0"/>
              </a:spcAft>
              <a:buSzPts val="1400"/>
              <a:buNone/>
            </a:pPr>
            <a:r>
              <a:rPr b="1" lang="en-GB" sz="3200">
                <a:solidFill>
                  <a:srgbClr val="002060"/>
                </a:solidFill>
                <a:latin typeface="Calibri"/>
                <a:ea typeface="Calibri"/>
                <a:cs typeface="Calibri"/>
                <a:sym typeface="Calibri"/>
              </a:rPr>
              <a:t>Activity Diagram Basic Notations</a:t>
            </a:r>
            <a:endParaRPr b="1" sz="3200">
              <a:solidFill>
                <a:srgbClr val="002060"/>
              </a:solidFill>
              <a:latin typeface="Calibri"/>
              <a:ea typeface="Calibri"/>
              <a:cs typeface="Calibri"/>
              <a:sym typeface="Calibri"/>
            </a:endParaRPr>
          </a:p>
          <a:p>
            <a:pPr indent="0" lvl="0" marL="0" rtl="0" algn="l">
              <a:lnSpc>
                <a:spcPct val="115000"/>
              </a:lnSpc>
              <a:spcBef>
                <a:spcPts val="800"/>
              </a:spcBef>
              <a:spcAft>
                <a:spcPts val="0"/>
              </a:spcAft>
              <a:buSzPts val="1400"/>
              <a:buNone/>
            </a:pPr>
            <a:r>
              <a:rPr lang="en-GB" sz="3200">
                <a:solidFill>
                  <a:schemeClr val="dk1"/>
                </a:solidFill>
              </a:rPr>
              <a:t>•</a:t>
            </a:r>
            <a:r>
              <a:rPr b="1" lang="en-GB" sz="3200">
                <a:solidFill>
                  <a:schemeClr val="dk1"/>
                </a:solidFill>
                <a:latin typeface="Calibri"/>
                <a:ea typeface="Calibri"/>
                <a:cs typeface="Calibri"/>
                <a:sym typeface="Calibri"/>
              </a:rPr>
              <a:t>Initial node</a:t>
            </a:r>
            <a:r>
              <a:rPr lang="en-GB" sz="3200">
                <a:solidFill>
                  <a:schemeClr val="dk1"/>
                </a:solidFill>
                <a:latin typeface="Calibri"/>
                <a:ea typeface="Calibri"/>
                <a:cs typeface="Calibri"/>
                <a:sym typeface="Calibri"/>
              </a:rPr>
              <a:t>.</a:t>
            </a:r>
            <a:endParaRPr sz="3200">
              <a:solidFill>
                <a:schemeClr val="dk1"/>
              </a:solidFill>
              <a:latin typeface="Calibri"/>
              <a:ea typeface="Calibri"/>
              <a:cs typeface="Calibri"/>
              <a:sym typeface="Calibri"/>
            </a:endParaRPr>
          </a:p>
          <a:p>
            <a:pPr indent="-393700" lvl="0" marL="457200" rtl="0" algn="l">
              <a:lnSpc>
                <a:spcPct val="115000"/>
              </a:lnSpc>
              <a:spcBef>
                <a:spcPts val="800"/>
              </a:spcBef>
              <a:spcAft>
                <a:spcPts val="0"/>
              </a:spcAft>
              <a:buClr>
                <a:schemeClr val="dk1"/>
              </a:buClr>
              <a:buSzPts val="2600"/>
              <a:buFont typeface="Calibri"/>
              <a:buChar char="●"/>
            </a:pPr>
            <a:r>
              <a:rPr lang="en-GB" sz="2600">
                <a:solidFill>
                  <a:schemeClr val="dk1"/>
                </a:solidFill>
                <a:latin typeface="Calibri"/>
                <a:ea typeface="Calibri"/>
                <a:cs typeface="Calibri"/>
                <a:sym typeface="Calibri"/>
              </a:rPr>
              <a:t>The filled in circle is the starting point of the diagram.</a:t>
            </a:r>
            <a:endParaRPr sz="2600">
              <a:solidFill>
                <a:schemeClr val="dk1"/>
              </a:solidFill>
              <a:latin typeface="Calibri"/>
              <a:ea typeface="Calibri"/>
              <a:cs typeface="Calibri"/>
              <a:sym typeface="Calibri"/>
            </a:endParaRPr>
          </a:p>
          <a:p>
            <a:pPr indent="-393700" lvl="0" marL="457200" rtl="0" algn="l">
              <a:lnSpc>
                <a:spcPct val="115000"/>
              </a:lnSpc>
              <a:spcBef>
                <a:spcPts val="0"/>
              </a:spcBef>
              <a:spcAft>
                <a:spcPts val="0"/>
              </a:spcAft>
              <a:buClr>
                <a:schemeClr val="dk1"/>
              </a:buClr>
              <a:buSzPts val="2600"/>
              <a:buFont typeface="Calibri"/>
              <a:buChar char="●"/>
            </a:pPr>
            <a:r>
              <a:rPr lang="en-GB" sz="2600">
                <a:solidFill>
                  <a:schemeClr val="dk1"/>
                </a:solidFill>
                <a:latin typeface="Calibri"/>
                <a:ea typeface="Calibri"/>
                <a:cs typeface="Calibri"/>
                <a:sym typeface="Calibri"/>
              </a:rPr>
              <a:t>It is shown as filled circle.</a:t>
            </a:r>
            <a:endParaRPr sz="2600">
              <a:solidFill>
                <a:schemeClr val="dk1"/>
              </a:solidFill>
              <a:latin typeface="Calibri"/>
              <a:ea typeface="Calibri"/>
              <a:cs typeface="Calibri"/>
              <a:sym typeface="Calibri"/>
            </a:endParaRPr>
          </a:p>
          <a:p>
            <a:pPr indent="0" lvl="0" marL="0" rtl="0" algn="just">
              <a:lnSpc>
                <a:spcPct val="90000"/>
              </a:lnSpc>
              <a:spcBef>
                <a:spcPts val="0"/>
              </a:spcBef>
              <a:spcAft>
                <a:spcPts val="0"/>
              </a:spcAft>
              <a:buSzPts val="1400"/>
              <a:buNone/>
            </a:pPr>
            <a:r>
              <a:t/>
            </a:r>
            <a:endParaRPr sz="2600">
              <a:solidFill>
                <a:schemeClr val="dk1"/>
              </a:solidFill>
              <a:latin typeface="Calibri"/>
              <a:ea typeface="Calibri"/>
              <a:cs typeface="Calibri"/>
              <a:sym typeface="Calibri"/>
            </a:endParaRPr>
          </a:p>
        </p:txBody>
      </p:sp>
      <p:sp>
        <p:nvSpPr>
          <p:cNvPr id="126" name="Google Shape;126;p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127" name="Google Shape;127;p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pic>
        <p:nvPicPr>
          <p:cNvPr id="128" name="Google Shape;128;p9"/>
          <p:cNvPicPr preferRelativeResize="0"/>
          <p:nvPr/>
        </p:nvPicPr>
        <p:blipFill rotWithShape="1">
          <a:blip r:embed="rId3">
            <a:alphaModFix/>
          </a:blip>
          <a:srcRect b="0" l="0" r="1380" t="1729"/>
          <a:stretch/>
        </p:blipFill>
        <p:spPr>
          <a:xfrm>
            <a:off x="2524275" y="2912525"/>
            <a:ext cx="2876550" cy="15868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Analysis Model</a:t>
            </a:r>
            <a:endParaRPr b="1"/>
          </a:p>
        </p:txBody>
      </p:sp>
      <p:sp>
        <p:nvSpPr>
          <p:cNvPr id="134" name="Google Shape;134;p10"/>
          <p:cNvSpPr txBox="1"/>
          <p:nvPr>
            <p:ph idx="1" type="body"/>
          </p:nvPr>
        </p:nvSpPr>
        <p:spPr>
          <a:xfrm>
            <a:off x="318125" y="586350"/>
            <a:ext cx="8826000" cy="2261400"/>
          </a:xfrm>
          <a:prstGeom prst="rect">
            <a:avLst/>
          </a:prstGeom>
          <a:noFill/>
          <a:ln>
            <a:noFill/>
          </a:ln>
        </p:spPr>
        <p:txBody>
          <a:bodyPr anchorCtr="0" anchor="t" bIns="34275" lIns="68575" spcFirstLastPara="1" rIns="68575" wrap="square" tIns="34275">
            <a:noAutofit/>
          </a:bodyPr>
          <a:lstStyle/>
          <a:p>
            <a:pPr indent="0" lvl="0" marL="0" rtl="0" algn="just">
              <a:lnSpc>
                <a:spcPct val="90000"/>
              </a:lnSpc>
              <a:spcBef>
                <a:spcPts val="0"/>
              </a:spcBef>
              <a:spcAft>
                <a:spcPts val="0"/>
              </a:spcAft>
              <a:buSzPts val="1400"/>
              <a:buNone/>
            </a:pPr>
            <a:r>
              <a:rPr b="1" lang="en-GB" sz="3200">
                <a:solidFill>
                  <a:srgbClr val="002060"/>
                </a:solidFill>
                <a:latin typeface="Calibri"/>
                <a:ea typeface="Calibri"/>
                <a:cs typeface="Calibri"/>
                <a:sym typeface="Calibri"/>
              </a:rPr>
              <a:t>Activity Diagram Basic Notations</a:t>
            </a:r>
            <a:endParaRPr b="1" sz="3200">
              <a:solidFill>
                <a:srgbClr val="002060"/>
              </a:solidFill>
              <a:latin typeface="Calibri"/>
              <a:ea typeface="Calibri"/>
              <a:cs typeface="Calibri"/>
              <a:sym typeface="Calibri"/>
            </a:endParaRPr>
          </a:p>
          <a:p>
            <a:pPr indent="0" lvl="0" marL="0" rtl="0" algn="l">
              <a:lnSpc>
                <a:spcPct val="115000"/>
              </a:lnSpc>
              <a:spcBef>
                <a:spcPts val="800"/>
              </a:spcBef>
              <a:spcAft>
                <a:spcPts val="0"/>
              </a:spcAft>
              <a:buSzPts val="1400"/>
              <a:buNone/>
            </a:pPr>
            <a:r>
              <a:rPr lang="en-GB" sz="3200">
                <a:solidFill>
                  <a:schemeClr val="dk1"/>
                </a:solidFill>
              </a:rPr>
              <a:t>•</a:t>
            </a:r>
            <a:r>
              <a:rPr b="1" lang="en-GB" sz="3200">
                <a:solidFill>
                  <a:schemeClr val="dk1"/>
                </a:solidFill>
                <a:latin typeface="Calibri"/>
                <a:ea typeface="Calibri"/>
                <a:cs typeface="Calibri"/>
                <a:sym typeface="Calibri"/>
              </a:rPr>
              <a:t>Final node</a:t>
            </a:r>
            <a:r>
              <a:rPr lang="en-GB" sz="3200">
                <a:solidFill>
                  <a:schemeClr val="dk1"/>
                </a:solidFill>
                <a:latin typeface="Calibri"/>
                <a:ea typeface="Calibri"/>
                <a:cs typeface="Calibri"/>
                <a:sym typeface="Calibri"/>
              </a:rPr>
              <a:t>.</a:t>
            </a:r>
            <a:endParaRPr sz="3200">
              <a:solidFill>
                <a:schemeClr val="dk1"/>
              </a:solidFill>
              <a:latin typeface="Calibri"/>
              <a:ea typeface="Calibri"/>
              <a:cs typeface="Calibri"/>
              <a:sym typeface="Calibri"/>
            </a:endParaRPr>
          </a:p>
          <a:p>
            <a:pPr indent="-393700" lvl="0" marL="457200" rtl="0" algn="l">
              <a:lnSpc>
                <a:spcPct val="100000"/>
              </a:lnSpc>
              <a:spcBef>
                <a:spcPts val="800"/>
              </a:spcBef>
              <a:spcAft>
                <a:spcPts val="0"/>
              </a:spcAft>
              <a:buClr>
                <a:schemeClr val="dk1"/>
              </a:buClr>
              <a:buSzPts val="2600"/>
              <a:buFont typeface="Calibri"/>
              <a:buChar char="●"/>
            </a:pPr>
            <a:r>
              <a:rPr lang="en-GB" sz="2600">
                <a:solidFill>
                  <a:schemeClr val="dk1"/>
                </a:solidFill>
                <a:latin typeface="Calibri"/>
                <a:ea typeface="Calibri"/>
                <a:cs typeface="Calibri"/>
                <a:sym typeface="Calibri"/>
              </a:rPr>
              <a:t>The filled in circle with a border at the end  point of the diagram.</a:t>
            </a:r>
            <a:endParaRPr sz="2600">
              <a:solidFill>
                <a:schemeClr val="dk1"/>
              </a:solidFill>
              <a:latin typeface="Calibri"/>
              <a:ea typeface="Calibri"/>
              <a:cs typeface="Calibri"/>
              <a:sym typeface="Calibri"/>
            </a:endParaRPr>
          </a:p>
          <a:p>
            <a:pPr indent="-393700" lvl="0" marL="457200" rtl="0" algn="l">
              <a:lnSpc>
                <a:spcPct val="115000"/>
              </a:lnSpc>
              <a:spcBef>
                <a:spcPts val="0"/>
              </a:spcBef>
              <a:spcAft>
                <a:spcPts val="0"/>
              </a:spcAft>
              <a:buClr>
                <a:schemeClr val="dk1"/>
              </a:buClr>
              <a:buSzPts val="2600"/>
              <a:buFont typeface="Calibri"/>
              <a:buChar char="●"/>
            </a:pPr>
            <a:r>
              <a:rPr lang="en-GB" sz="2600">
                <a:solidFill>
                  <a:schemeClr val="dk1"/>
                </a:solidFill>
                <a:latin typeface="Calibri"/>
                <a:ea typeface="Calibri"/>
                <a:cs typeface="Calibri"/>
                <a:sym typeface="Calibri"/>
              </a:rPr>
              <a:t>It is optional</a:t>
            </a:r>
            <a:endParaRPr sz="2600">
              <a:solidFill>
                <a:schemeClr val="dk1"/>
              </a:solidFill>
              <a:latin typeface="Calibri"/>
              <a:ea typeface="Calibri"/>
              <a:cs typeface="Calibri"/>
              <a:sym typeface="Calibri"/>
            </a:endParaRPr>
          </a:p>
          <a:p>
            <a:pPr indent="0" lvl="0" marL="0" rtl="0" algn="just">
              <a:lnSpc>
                <a:spcPct val="90000"/>
              </a:lnSpc>
              <a:spcBef>
                <a:spcPts val="0"/>
              </a:spcBef>
              <a:spcAft>
                <a:spcPts val="0"/>
              </a:spcAft>
              <a:buSzPts val="1400"/>
              <a:buNone/>
            </a:pPr>
            <a:r>
              <a:t/>
            </a:r>
            <a:endParaRPr sz="2600">
              <a:solidFill>
                <a:schemeClr val="dk1"/>
              </a:solidFill>
              <a:latin typeface="Calibri"/>
              <a:ea typeface="Calibri"/>
              <a:cs typeface="Calibri"/>
              <a:sym typeface="Calibri"/>
            </a:endParaRPr>
          </a:p>
        </p:txBody>
      </p:sp>
      <p:sp>
        <p:nvSpPr>
          <p:cNvPr id="135" name="Google Shape;135;p1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136" name="Google Shape;136;p1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pic>
        <p:nvPicPr>
          <p:cNvPr id="137" name="Google Shape;137;p10"/>
          <p:cNvPicPr preferRelativeResize="0"/>
          <p:nvPr/>
        </p:nvPicPr>
        <p:blipFill rotWithShape="1">
          <a:blip r:embed="rId3">
            <a:alphaModFix/>
          </a:blip>
          <a:srcRect b="0" l="0" r="0" t="0"/>
          <a:stretch/>
        </p:blipFill>
        <p:spPr>
          <a:xfrm>
            <a:off x="3501450" y="3160050"/>
            <a:ext cx="2343150" cy="15430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1"/>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Analysis Model</a:t>
            </a:r>
            <a:endParaRPr b="1"/>
          </a:p>
        </p:txBody>
      </p:sp>
      <p:sp>
        <p:nvSpPr>
          <p:cNvPr id="143" name="Google Shape;143;p11"/>
          <p:cNvSpPr txBox="1"/>
          <p:nvPr>
            <p:ph idx="1" type="body"/>
          </p:nvPr>
        </p:nvSpPr>
        <p:spPr>
          <a:xfrm>
            <a:off x="318125" y="586350"/>
            <a:ext cx="8826000" cy="2261400"/>
          </a:xfrm>
          <a:prstGeom prst="rect">
            <a:avLst/>
          </a:prstGeom>
          <a:noFill/>
          <a:ln>
            <a:noFill/>
          </a:ln>
        </p:spPr>
        <p:txBody>
          <a:bodyPr anchorCtr="0" anchor="t" bIns="34275" lIns="68575" spcFirstLastPara="1" rIns="68575" wrap="square" tIns="34275">
            <a:noAutofit/>
          </a:bodyPr>
          <a:lstStyle/>
          <a:p>
            <a:pPr indent="0" lvl="0" marL="0" rtl="0" algn="just">
              <a:lnSpc>
                <a:spcPct val="90000"/>
              </a:lnSpc>
              <a:spcBef>
                <a:spcPts val="0"/>
              </a:spcBef>
              <a:spcAft>
                <a:spcPts val="0"/>
              </a:spcAft>
              <a:buSzPts val="1400"/>
              <a:buNone/>
            </a:pPr>
            <a:r>
              <a:rPr b="1" lang="en-GB" sz="3200">
                <a:solidFill>
                  <a:srgbClr val="002060"/>
                </a:solidFill>
                <a:latin typeface="Calibri"/>
                <a:ea typeface="Calibri"/>
                <a:cs typeface="Calibri"/>
                <a:sym typeface="Calibri"/>
              </a:rPr>
              <a:t>Activity Diagram Basic Notations</a:t>
            </a:r>
            <a:endParaRPr b="1" sz="3200">
              <a:solidFill>
                <a:srgbClr val="002060"/>
              </a:solidFill>
              <a:latin typeface="Calibri"/>
              <a:ea typeface="Calibri"/>
              <a:cs typeface="Calibri"/>
              <a:sym typeface="Calibri"/>
            </a:endParaRPr>
          </a:p>
          <a:p>
            <a:pPr indent="0" lvl="0" marL="0" rtl="0" algn="l">
              <a:lnSpc>
                <a:spcPct val="115000"/>
              </a:lnSpc>
              <a:spcBef>
                <a:spcPts val="800"/>
              </a:spcBef>
              <a:spcAft>
                <a:spcPts val="0"/>
              </a:spcAft>
              <a:buSzPts val="1400"/>
              <a:buNone/>
            </a:pPr>
            <a:r>
              <a:rPr lang="en-GB" sz="2600">
                <a:solidFill>
                  <a:schemeClr val="dk1"/>
                </a:solidFill>
              </a:rPr>
              <a:t>•</a:t>
            </a:r>
            <a:r>
              <a:rPr b="1" lang="en-GB" sz="2600">
                <a:solidFill>
                  <a:schemeClr val="dk1"/>
                </a:solidFill>
                <a:latin typeface="Calibri"/>
                <a:ea typeface="Calibri"/>
                <a:cs typeface="Calibri"/>
                <a:sym typeface="Calibri"/>
              </a:rPr>
              <a:t>Activity</a:t>
            </a:r>
            <a:r>
              <a:rPr lang="en-GB" sz="2600">
                <a:solidFill>
                  <a:schemeClr val="dk1"/>
                </a:solidFill>
                <a:latin typeface="Calibri"/>
                <a:ea typeface="Calibri"/>
                <a:cs typeface="Calibri"/>
                <a:sym typeface="Calibri"/>
              </a:rPr>
              <a:t>. The rounded rectangles represent activities that occur</a:t>
            </a:r>
            <a:endParaRPr sz="2600">
              <a:solidFill>
                <a:schemeClr val="dk1"/>
              </a:solidFill>
              <a:latin typeface="Calibri"/>
              <a:ea typeface="Calibri"/>
              <a:cs typeface="Calibri"/>
              <a:sym typeface="Calibri"/>
            </a:endParaRPr>
          </a:p>
          <a:p>
            <a:pPr indent="0" lvl="0" marL="0" rtl="0" algn="just">
              <a:lnSpc>
                <a:spcPct val="90000"/>
              </a:lnSpc>
              <a:spcBef>
                <a:spcPts val="0"/>
              </a:spcBef>
              <a:spcAft>
                <a:spcPts val="0"/>
              </a:spcAft>
              <a:buSzPts val="1400"/>
              <a:buNone/>
            </a:pPr>
            <a:r>
              <a:t/>
            </a:r>
            <a:endParaRPr sz="2600">
              <a:solidFill>
                <a:schemeClr val="dk1"/>
              </a:solidFill>
              <a:latin typeface="Calibri"/>
              <a:ea typeface="Calibri"/>
              <a:cs typeface="Calibri"/>
              <a:sym typeface="Calibri"/>
            </a:endParaRPr>
          </a:p>
        </p:txBody>
      </p:sp>
      <p:sp>
        <p:nvSpPr>
          <p:cNvPr id="144" name="Google Shape;144;p1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145" name="Google Shape;145;p1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pic>
        <p:nvPicPr>
          <p:cNvPr id="146" name="Google Shape;146;p11"/>
          <p:cNvPicPr preferRelativeResize="0"/>
          <p:nvPr/>
        </p:nvPicPr>
        <p:blipFill rotWithShape="1">
          <a:blip r:embed="rId3">
            <a:alphaModFix/>
          </a:blip>
          <a:srcRect b="0" l="0" r="0" t="0"/>
          <a:stretch/>
        </p:blipFill>
        <p:spPr>
          <a:xfrm>
            <a:off x="2861850" y="1738700"/>
            <a:ext cx="2543175" cy="742950"/>
          </a:xfrm>
          <a:prstGeom prst="rect">
            <a:avLst/>
          </a:prstGeom>
          <a:noFill/>
          <a:ln>
            <a:noFill/>
          </a:ln>
        </p:spPr>
      </p:pic>
      <p:sp>
        <p:nvSpPr>
          <p:cNvPr id="147" name="Google Shape;147;p11"/>
          <p:cNvSpPr txBox="1"/>
          <p:nvPr/>
        </p:nvSpPr>
        <p:spPr>
          <a:xfrm>
            <a:off x="181925" y="2571750"/>
            <a:ext cx="8826000" cy="17856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600"/>
              <a:buFont typeface="Arial"/>
              <a:buNone/>
            </a:pPr>
            <a:r>
              <a:rPr b="0" i="0" lang="en-GB" sz="2600" u="none" cap="none" strike="noStrike">
                <a:solidFill>
                  <a:schemeClr val="dk1"/>
                </a:solidFill>
                <a:latin typeface="Arial"/>
                <a:ea typeface="Arial"/>
                <a:cs typeface="Arial"/>
                <a:sym typeface="Arial"/>
              </a:rPr>
              <a:t>•</a:t>
            </a:r>
            <a:r>
              <a:rPr b="1" i="0" lang="en-GB" sz="2600" u="none" cap="none" strike="noStrike">
                <a:solidFill>
                  <a:schemeClr val="dk1"/>
                </a:solidFill>
                <a:latin typeface="Calibri"/>
                <a:ea typeface="Calibri"/>
                <a:cs typeface="Calibri"/>
                <a:sym typeface="Calibri"/>
              </a:rPr>
              <a:t>Flow/edge (Control Flow)</a:t>
            </a:r>
            <a:endParaRPr b="1" i="0" sz="2600" u="none" cap="none" strike="noStrike">
              <a:solidFill>
                <a:schemeClr val="dk1"/>
              </a:solidFill>
              <a:latin typeface="Calibri"/>
              <a:ea typeface="Calibri"/>
              <a:cs typeface="Calibri"/>
              <a:sym typeface="Calibri"/>
            </a:endParaRPr>
          </a:p>
          <a:p>
            <a:pPr indent="0" lvl="0" marL="0" marR="0" rtl="0" algn="just">
              <a:lnSpc>
                <a:spcPct val="100000"/>
              </a:lnSpc>
              <a:spcBef>
                <a:spcPts val="0"/>
              </a:spcBef>
              <a:spcAft>
                <a:spcPts val="0"/>
              </a:spcAft>
              <a:buClr>
                <a:srgbClr val="000000"/>
              </a:buClr>
              <a:buSzPts val="2600"/>
              <a:buFont typeface="Arial"/>
              <a:buNone/>
            </a:pPr>
            <a:r>
              <a:rPr b="0" i="0" lang="en-GB" sz="2600" u="none" cap="none" strike="noStrike">
                <a:solidFill>
                  <a:schemeClr val="dk1"/>
                </a:solidFill>
                <a:latin typeface="Calibri"/>
                <a:ea typeface="Calibri"/>
                <a:cs typeface="Calibri"/>
                <a:sym typeface="Calibri"/>
              </a:rPr>
              <a:t>The arrows on the diagram. Within the control flow an incoming arrow starts a single step of an activity; after the step is completed the flow continues along the outgoing arrow.</a:t>
            </a:r>
            <a:endParaRPr b="0" i="0" sz="2600" u="none" cap="none" strike="noStrike">
              <a:solidFill>
                <a:schemeClr val="dk1"/>
              </a:solidFill>
              <a:latin typeface="Calibri"/>
              <a:ea typeface="Calibri"/>
              <a:cs typeface="Calibri"/>
              <a:sym typeface="Calibri"/>
            </a:endParaRPr>
          </a:p>
        </p:txBody>
      </p:sp>
      <p:pic>
        <p:nvPicPr>
          <p:cNvPr id="148" name="Google Shape;148;p11"/>
          <p:cNvPicPr preferRelativeResize="0"/>
          <p:nvPr/>
        </p:nvPicPr>
        <p:blipFill rotWithShape="1">
          <a:blip r:embed="rId4">
            <a:alphaModFix/>
          </a:blip>
          <a:srcRect b="0" l="0" r="0" t="0"/>
          <a:stretch/>
        </p:blipFill>
        <p:spPr>
          <a:xfrm>
            <a:off x="2937575" y="4310075"/>
            <a:ext cx="3314700" cy="4572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2"/>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Analysis Model</a:t>
            </a:r>
            <a:endParaRPr b="1"/>
          </a:p>
        </p:txBody>
      </p:sp>
      <p:sp>
        <p:nvSpPr>
          <p:cNvPr id="154" name="Google Shape;154;p12"/>
          <p:cNvSpPr txBox="1"/>
          <p:nvPr>
            <p:ph idx="1" type="body"/>
          </p:nvPr>
        </p:nvSpPr>
        <p:spPr>
          <a:xfrm>
            <a:off x="318125" y="586350"/>
            <a:ext cx="8826000" cy="2261400"/>
          </a:xfrm>
          <a:prstGeom prst="rect">
            <a:avLst/>
          </a:prstGeom>
          <a:noFill/>
          <a:ln>
            <a:noFill/>
          </a:ln>
        </p:spPr>
        <p:txBody>
          <a:bodyPr anchorCtr="0" anchor="t" bIns="34275" lIns="68575" spcFirstLastPara="1" rIns="68575" wrap="square" tIns="34275">
            <a:noAutofit/>
          </a:bodyPr>
          <a:lstStyle/>
          <a:p>
            <a:pPr indent="0" lvl="0" marL="0" rtl="0" algn="just">
              <a:lnSpc>
                <a:spcPct val="90000"/>
              </a:lnSpc>
              <a:spcBef>
                <a:spcPts val="0"/>
              </a:spcBef>
              <a:spcAft>
                <a:spcPts val="0"/>
              </a:spcAft>
              <a:buSzPts val="1400"/>
              <a:buNone/>
            </a:pPr>
            <a:r>
              <a:rPr b="1" lang="en-GB" sz="3200">
                <a:solidFill>
                  <a:srgbClr val="002060"/>
                </a:solidFill>
                <a:latin typeface="Calibri"/>
                <a:ea typeface="Calibri"/>
                <a:cs typeface="Calibri"/>
                <a:sym typeface="Calibri"/>
              </a:rPr>
              <a:t>Activity Diagram Basic Notations</a:t>
            </a:r>
            <a:endParaRPr b="1" sz="3200">
              <a:solidFill>
                <a:srgbClr val="002060"/>
              </a:solidFill>
              <a:latin typeface="Calibri"/>
              <a:ea typeface="Calibri"/>
              <a:cs typeface="Calibri"/>
              <a:sym typeface="Calibri"/>
            </a:endParaRPr>
          </a:p>
          <a:p>
            <a:pPr indent="0" lvl="0" marL="0" rtl="0" algn="l">
              <a:lnSpc>
                <a:spcPct val="115000"/>
              </a:lnSpc>
              <a:spcBef>
                <a:spcPts val="800"/>
              </a:spcBef>
              <a:spcAft>
                <a:spcPts val="0"/>
              </a:spcAft>
              <a:buSzPts val="1400"/>
              <a:buNone/>
            </a:pPr>
            <a:r>
              <a:rPr lang="en-GB" sz="2600">
                <a:solidFill>
                  <a:schemeClr val="dk1"/>
                </a:solidFill>
              </a:rPr>
              <a:t>•</a:t>
            </a:r>
            <a:r>
              <a:rPr b="1" lang="en-GB" sz="2600">
                <a:solidFill>
                  <a:schemeClr val="dk1"/>
                </a:solidFill>
                <a:latin typeface="Calibri"/>
                <a:ea typeface="Calibri"/>
                <a:cs typeface="Calibri"/>
                <a:sym typeface="Calibri"/>
              </a:rPr>
              <a:t>Decision:</a:t>
            </a:r>
            <a:r>
              <a:rPr lang="en-GB" sz="2600">
                <a:solidFill>
                  <a:schemeClr val="dk1"/>
                </a:solidFill>
                <a:latin typeface="Calibri"/>
                <a:ea typeface="Calibri"/>
                <a:cs typeface="Calibri"/>
                <a:sym typeface="Calibri"/>
              </a:rPr>
              <a:t> are branches in the control flow.</a:t>
            </a:r>
            <a:endParaRPr sz="2600">
              <a:solidFill>
                <a:schemeClr val="dk1"/>
              </a:solidFill>
              <a:latin typeface="Calibri"/>
              <a:ea typeface="Calibri"/>
              <a:cs typeface="Calibri"/>
              <a:sym typeface="Calibri"/>
            </a:endParaRPr>
          </a:p>
          <a:p>
            <a:pPr indent="-368300" lvl="0" marL="457200" rtl="0" algn="just">
              <a:lnSpc>
                <a:spcPct val="100000"/>
              </a:lnSpc>
              <a:spcBef>
                <a:spcPts val="0"/>
              </a:spcBef>
              <a:spcAft>
                <a:spcPts val="0"/>
              </a:spcAft>
              <a:buClr>
                <a:schemeClr val="dk1"/>
              </a:buClr>
              <a:buSzPts val="2200"/>
              <a:buFont typeface="Calibri"/>
              <a:buChar char="●"/>
            </a:pPr>
            <a:r>
              <a:rPr lang="en-GB" sz="2200">
                <a:solidFill>
                  <a:schemeClr val="dk1"/>
                </a:solidFill>
                <a:latin typeface="Calibri"/>
                <a:ea typeface="Calibri"/>
                <a:cs typeface="Calibri"/>
                <a:sym typeface="Calibri"/>
              </a:rPr>
              <a:t>They denote alternatives based on a condition of the state of an object or a set of objects.</a:t>
            </a:r>
            <a:endParaRPr sz="2200">
              <a:solidFill>
                <a:schemeClr val="dk1"/>
              </a:solidFill>
              <a:latin typeface="Calibri"/>
              <a:ea typeface="Calibri"/>
              <a:cs typeface="Calibri"/>
              <a:sym typeface="Calibri"/>
            </a:endParaRPr>
          </a:p>
          <a:p>
            <a:pPr indent="-368300" lvl="0" marL="457200" rtl="0" algn="just">
              <a:lnSpc>
                <a:spcPct val="100000"/>
              </a:lnSpc>
              <a:spcBef>
                <a:spcPts val="0"/>
              </a:spcBef>
              <a:spcAft>
                <a:spcPts val="0"/>
              </a:spcAft>
              <a:buClr>
                <a:schemeClr val="dk1"/>
              </a:buClr>
              <a:buSzPts val="2200"/>
              <a:buFont typeface="Calibri"/>
              <a:buChar char="●"/>
            </a:pPr>
            <a:r>
              <a:rPr lang="en-GB" sz="2200">
                <a:solidFill>
                  <a:schemeClr val="dk1"/>
                </a:solidFill>
                <a:latin typeface="Calibri"/>
                <a:ea typeface="Calibri"/>
                <a:cs typeface="Calibri"/>
                <a:sym typeface="Calibri"/>
              </a:rPr>
              <a:t>Decisions are depicted by a diamond with one or more incoming open arrows and two or more outgoing arrows.</a:t>
            </a:r>
            <a:endParaRPr sz="2200">
              <a:solidFill>
                <a:schemeClr val="dk1"/>
              </a:solidFill>
              <a:latin typeface="Calibri"/>
              <a:ea typeface="Calibri"/>
              <a:cs typeface="Calibri"/>
              <a:sym typeface="Calibri"/>
            </a:endParaRPr>
          </a:p>
          <a:p>
            <a:pPr indent="-368300" lvl="0" marL="457200" rtl="0" algn="just">
              <a:lnSpc>
                <a:spcPct val="100000"/>
              </a:lnSpc>
              <a:spcBef>
                <a:spcPts val="0"/>
              </a:spcBef>
              <a:spcAft>
                <a:spcPts val="0"/>
              </a:spcAft>
              <a:buClr>
                <a:schemeClr val="dk1"/>
              </a:buClr>
              <a:buSzPts val="2200"/>
              <a:buFont typeface="Calibri"/>
              <a:buChar char="●"/>
            </a:pPr>
            <a:r>
              <a:rPr lang="en-GB" sz="2200">
                <a:solidFill>
                  <a:schemeClr val="dk1"/>
                </a:solidFill>
                <a:latin typeface="Calibri"/>
                <a:ea typeface="Calibri"/>
                <a:cs typeface="Calibri"/>
                <a:sym typeface="Calibri"/>
              </a:rPr>
              <a:t>The outgoing edges are labeled with the conditions that select a branch in the control flow.</a:t>
            </a:r>
            <a:endParaRPr sz="2200">
              <a:solidFill>
                <a:schemeClr val="dk1"/>
              </a:solidFill>
            </a:endParaRPr>
          </a:p>
          <a:p>
            <a:pPr indent="-368300" lvl="0" marL="457200" rtl="0" algn="just">
              <a:lnSpc>
                <a:spcPct val="100000"/>
              </a:lnSpc>
              <a:spcBef>
                <a:spcPts val="0"/>
              </a:spcBef>
              <a:spcAft>
                <a:spcPts val="0"/>
              </a:spcAft>
              <a:buClr>
                <a:schemeClr val="dk1"/>
              </a:buClr>
              <a:buSzPts val="2200"/>
              <a:buFont typeface="Calibri"/>
              <a:buChar char="●"/>
            </a:pPr>
            <a:r>
              <a:rPr lang="en-GB" sz="2200">
                <a:solidFill>
                  <a:schemeClr val="dk1"/>
                </a:solidFill>
                <a:latin typeface="Calibri"/>
                <a:ea typeface="Calibri"/>
                <a:cs typeface="Calibri"/>
                <a:sym typeface="Calibri"/>
              </a:rPr>
              <a:t>The set of all outgoing edges from a decision represents the set of all possible outcomes.</a:t>
            </a:r>
            <a:endParaRPr sz="2200">
              <a:solidFill>
                <a:schemeClr val="dk1"/>
              </a:solidFill>
              <a:latin typeface="Calibri"/>
              <a:ea typeface="Calibri"/>
              <a:cs typeface="Calibri"/>
              <a:sym typeface="Calibri"/>
            </a:endParaRPr>
          </a:p>
          <a:p>
            <a:pPr indent="0" lvl="0" marL="0" rtl="0" algn="just">
              <a:lnSpc>
                <a:spcPct val="100000"/>
              </a:lnSpc>
              <a:spcBef>
                <a:spcPts val="0"/>
              </a:spcBef>
              <a:spcAft>
                <a:spcPts val="0"/>
              </a:spcAft>
              <a:buSzPts val="1400"/>
              <a:buNone/>
            </a:pPr>
            <a:r>
              <a:t/>
            </a:r>
            <a:endParaRPr sz="2200">
              <a:solidFill>
                <a:schemeClr val="dk1"/>
              </a:solidFill>
              <a:latin typeface="Calibri"/>
              <a:ea typeface="Calibri"/>
              <a:cs typeface="Calibri"/>
              <a:sym typeface="Calibri"/>
            </a:endParaRPr>
          </a:p>
          <a:p>
            <a:pPr indent="0" lvl="0" marL="0" rtl="0" algn="l">
              <a:lnSpc>
                <a:spcPct val="115000"/>
              </a:lnSpc>
              <a:spcBef>
                <a:spcPts val="800"/>
              </a:spcBef>
              <a:spcAft>
                <a:spcPts val="0"/>
              </a:spcAft>
              <a:buSzPts val="1400"/>
              <a:buNone/>
            </a:pPr>
            <a:r>
              <a:t/>
            </a:r>
            <a:endParaRPr sz="2200">
              <a:solidFill>
                <a:schemeClr val="dk1"/>
              </a:solidFill>
              <a:latin typeface="Calibri"/>
              <a:ea typeface="Calibri"/>
              <a:cs typeface="Calibri"/>
              <a:sym typeface="Calibri"/>
            </a:endParaRPr>
          </a:p>
          <a:p>
            <a:pPr indent="0" lvl="0" marL="0" rtl="0" algn="just">
              <a:lnSpc>
                <a:spcPct val="90000"/>
              </a:lnSpc>
              <a:spcBef>
                <a:spcPts val="0"/>
              </a:spcBef>
              <a:spcAft>
                <a:spcPts val="0"/>
              </a:spcAft>
              <a:buSzPts val="1400"/>
              <a:buNone/>
            </a:pPr>
            <a:r>
              <a:t/>
            </a:r>
            <a:endParaRPr sz="2200">
              <a:solidFill>
                <a:schemeClr val="dk1"/>
              </a:solidFill>
              <a:latin typeface="Calibri"/>
              <a:ea typeface="Calibri"/>
              <a:cs typeface="Calibri"/>
              <a:sym typeface="Calibri"/>
            </a:endParaRPr>
          </a:p>
        </p:txBody>
      </p:sp>
      <p:sp>
        <p:nvSpPr>
          <p:cNvPr id="155" name="Google Shape;155;p1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156" name="Google Shape;156;p1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4">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3"/>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Analysis Model</a:t>
            </a:r>
            <a:endParaRPr b="1"/>
          </a:p>
        </p:txBody>
      </p:sp>
      <p:sp>
        <p:nvSpPr>
          <p:cNvPr id="162" name="Google Shape;162;p13"/>
          <p:cNvSpPr txBox="1"/>
          <p:nvPr>
            <p:ph idx="1" type="body"/>
          </p:nvPr>
        </p:nvSpPr>
        <p:spPr>
          <a:xfrm>
            <a:off x="318125" y="586350"/>
            <a:ext cx="8826000" cy="2261400"/>
          </a:xfrm>
          <a:prstGeom prst="rect">
            <a:avLst/>
          </a:prstGeom>
          <a:noFill/>
          <a:ln>
            <a:noFill/>
          </a:ln>
        </p:spPr>
        <p:txBody>
          <a:bodyPr anchorCtr="0" anchor="t" bIns="34275" lIns="68575" spcFirstLastPara="1" rIns="68575" wrap="square" tIns="34275">
            <a:noAutofit/>
          </a:bodyPr>
          <a:lstStyle/>
          <a:p>
            <a:pPr indent="0" lvl="0" marL="0" rtl="0" algn="just">
              <a:lnSpc>
                <a:spcPct val="90000"/>
              </a:lnSpc>
              <a:spcBef>
                <a:spcPts val="0"/>
              </a:spcBef>
              <a:spcAft>
                <a:spcPts val="0"/>
              </a:spcAft>
              <a:buSzPts val="1400"/>
              <a:buNone/>
            </a:pPr>
            <a:r>
              <a:rPr b="1" lang="en-GB" sz="3200">
                <a:solidFill>
                  <a:srgbClr val="002060"/>
                </a:solidFill>
                <a:latin typeface="Calibri"/>
                <a:ea typeface="Calibri"/>
                <a:cs typeface="Calibri"/>
                <a:sym typeface="Calibri"/>
              </a:rPr>
              <a:t>Activity Diagram Basic Notations</a:t>
            </a:r>
            <a:endParaRPr b="1" sz="3200">
              <a:solidFill>
                <a:srgbClr val="002060"/>
              </a:solidFill>
              <a:latin typeface="Calibri"/>
              <a:ea typeface="Calibri"/>
              <a:cs typeface="Calibri"/>
              <a:sym typeface="Calibri"/>
            </a:endParaRPr>
          </a:p>
          <a:p>
            <a:pPr indent="0" lvl="0" marL="0" rtl="0" algn="l">
              <a:lnSpc>
                <a:spcPct val="115000"/>
              </a:lnSpc>
              <a:spcBef>
                <a:spcPts val="800"/>
              </a:spcBef>
              <a:spcAft>
                <a:spcPts val="0"/>
              </a:spcAft>
              <a:buSzPts val="1400"/>
              <a:buNone/>
            </a:pPr>
            <a:r>
              <a:rPr lang="en-GB" sz="2600">
                <a:solidFill>
                  <a:schemeClr val="dk1"/>
                </a:solidFill>
              </a:rPr>
              <a:t>•</a:t>
            </a:r>
            <a:r>
              <a:rPr b="1" lang="en-GB" sz="2600">
                <a:solidFill>
                  <a:schemeClr val="dk1"/>
                </a:solidFill>
                <a:latin typeface="Calibri"/>
                <a:ea typeface="Calibri"/>
                <a:cs typeface="Calibri"/>
                <a:sym typeface="Calibri"/>
              </a:rPr>
              <a:t>Decision:</a:t>
            </a:r>
            <a:r>
              <a:rPr lang="en-GB" sz="2600">
                <a:solidFill>
                  <a:schemeClr val="dk1"/>
                </a:solidFill>
                <a:latin typeface="Calibri"/>
                <a:ea typeface="Calibri"/>
                <a:cs typeface="Calibri"/>
                <a:sym typeface="Calibri"/>
              </a:rPr>
              <a:t> </a:t>
            </a:r>
            <a:endParaRPr sz="2200">
              <a:solidFill>
                <a:schemeClr val="dk1"/>
              </a:solidFill>
              <a:latin typeface="Calibri"/>
              <a:ea typeface="Calibri"/>
              <a:cs typeface="Calibri"/>
              <a:sym typeface="Calibri"/>
            </a:endParaRPr>
          </a:p>
        </p:txBody>
      </p:sp>
      <p:sp>
        <p:nvSpPr>
          <p:cNvPr id="163" name="Google Shape;163;p1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164" name="Google Shape;164;p1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pic>
        <p:nvPicPr>
          <p:cNvPr id="165" name="Google Shape;165;p13"/>
          <p:cNvPicPr preferRelativeResize="0"/>
          <p:nvPr/>
        </p:nvPicPr>
        <p:blipFill rotWithShape="1">
          <a:blip r:embed="rId3">
            <a:alphaModFix/>
          </a:blip>
          <a:srcRect b="0" l="0" r="0" t="0"/>
          <a:stretch/>
        </p:blipFill>
        <p:spPr>
          <a:xfrm>
            <a:off x="2035675" y="1827525"/>
            <a:ext cx="3499729" cy="161471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4"/>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Analysis Model</a:t>
            </a:r>
            <a:endParaRPr b="1"/>
          </a:p>
        </p:txBody>
      </p:sp>
      <p:sp>
        <p:nvSpPr>
          <p:cNvPr id="171" name="Google Shape;171;p14"/>
          <p:cNvSpPr txBox="1"/>
          <p:nvPr>
            <p:ph idx="1" type="body"/>
          </p:nvPr>
        </p:nvSpPr>
        <p:spPr>
          <a:xfrm>
            <a:off x="318125" y="586350"/>
            <a:ext cx="8826000" cy="2261400"/>
          </a:xfrm>
          <a:prstGeom prst="rect">
            <a:avLst/>
          </a:prstGeom>
          <a:noFill/>
          <a:ln>
            <a:noFill/>
          </a:ln>
        </p:spPr>
        <p:txBody>
          <a:bodyPr anchorCtr="0" anchor="t" bIns="34275" lIns="68575" spcFirstLastPara="1" rIns="68575" wrap="square" tIns="34275">
            <a:noAutofit/>
          </a:bodyPr>
          <a:lstStyle/>
          <a:p>
            <a:pPr indent="0" lvl="0" marL="0" rtl="0" algn="just">
              <a:lnSpc>
                <a:spcPct val="90000"/>
              </a:lnSpc>
              <a:spcBef>
                <a:spcPts val="0"/>
              </a:spcBef>
              <a:spcAft>
                <a:spcPts val="0"/>
              </a:spcAft>
              <a:buSzPts val="1400"/>
              <a:buNone/>
            </a:pPr>
            <a:r>
              <a:rPr b="1" lang="en-GB" sz="3200">
                <a:solidFill>
                  <a:srgbClr val="002060"/>
                </a:solidFill>
                <a:latin typeface="Calibri"/>
                <a:ea typeface="Calibri"/>
                <a:cs typeface="Calibri"/>
                <a:sym typeface="Calibri"/>
              </a:rPr>
              <a:t>Activity Diagram Basic Notations</a:t>
            </a:r>
            <a:endParaRPr b="1" sz="3200">
              <a:solidFill>
                <a:srgbClr val="002060"/>
              </a:solidFill>
              <a:latin typeface="Calibri"/>
              <a:ea typeface="Calibri"/>
              <a:cs typeface="Calibri"/>
              <a:sym typeface="Calibri"/>
            </a:endParaRPr>
          </a:p>
          <a:p>
            <a:pPr indent="0" lvl="0" marL="0" rtl="0" algn="l">
              <a:lnSpc>
                <a:spcPct val="115000"/>
              </a:lnSpc>
              <a:spcBef>
                <a:spcPts val="800"/>
              </a:spcBef>
              <a:spcAft>
                <a:spcPts val="0"/>
              </a:spcAft>
              <a:buSzPts val="1400"/>
              <a:buNone/>
            </a:pPr>
            <a:r>
              <a:rPr lang="en-GB" sz="2600">
                <a:solidFill>
                  <a:schemeClr val="dk1"/>
                </a:solidFill>
              </a:rPr>
              <a:t>•</a:t>
            </a:r>
            <a:r>
              <a:rPr b="1" lang="en-GB" sz="2600">
                <a:solidFill>
                  <a:schemeClr val="dk1"/>
                </a:solidFill>
                <a:latin typeface="Calibri"/>
                <a:ea typeface="Calibri"/>
                <a:cs typeface="Calibri"/>
                <a:sym typeface="Calibri"/>
              </a:rPr>
              <a:t>Decision:</a:t>
            </a:r>
            <a:r>
              <a:rPr lang="en-GB" sz="2600">
                <a:solidFill>
                  <a:schemeClr val="dk1"/>
                </a:solidFill>
                <a:latin typeface="Calibri"/>
                <a:ea typeface="Calibri"/>
                <a:cs typeface="Calibri"/>
                <a:sym typeface="Calibri"/>
              </a:rPr>
              <a:t> </a:t>
            </a:r>
            <a:endParaRPr sz="2200">
              <a:solidFill>
                <a:schemeClr val="dk1"/>
              </a:solidFill>
              <a:latin typeface="Calibri"/>
              <a:ea typeface="Calibri"/>
              <a:cs typeface="Calibri"/>
              <a:sym typeface="Calibri"/>
            </a:endParaRPr>
          </a:p>
        </p:txBody>
      </p:sp>
      <p:sp>
        <p:nvSpPr>
          <p:cNvPr id="172" name="Google Shape;172;p1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173" name="Google Shape;173;p1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pic>
        <p:nvPicPr>
          <p:cNvPr id="174" name="Google Shape;174;p14"/>
          <p:cNvPicPr preferRelativeResize="0"/>
          <p:nvPr/>
        </p:nvPicPr>
        <p:blipFill rotWithShape="1">
          <a:blip r:embed="rId3">
            <a:alphaModFix/>
          </a:blip>
          <a:srcRect b="0" l="0" r="0" t="0"/>
          <a:stretch/>
        </p:blipFill>
        <p:spPr>
          <a:xfrm>
            <a:off x="1227275" y="1836425"/>
            <a:ext cx="6311624" cy="24720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1">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pic>
        <p:nvPicPr>
          <p:cNvPr id="179" name="Google Shape;179;p15"/>
          <p:cNvPicPr preferRelativeResize="0"/>
          <p:nvPr/>
        </p:nvPicPr>
        <p:blipFill rotWithShape="1">
          <a:blip r:embed="rId3">
            <a:alphaModFix/>
          </a:blip>
          <a:srcRect b="0" l="0" r="0" t="0"/>
          <a:stretch/>
        </p:blipFill>
        <p:spPr>
          <a:xfrm>
            <a:off x="2559800" y="3598352"/>
            <a:ext cx="3729650" cy="1371825"/>
          </a:xfrm>
          <a:prstGeom prst="rect">
            <a:avLst/>
          </a:prstGeom>
          <a:noFill/>
          <a:ln>
            <a:noFill/>
          </a:ln>
        </p:spPr>
      </p:pic>
      <p:sp>
        <p:nvSpPr>
          <p:cNvPr id="180" name="Google Shape;180;p15"/>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Analysis Model</a:t>
            </a:r>
            <a:endParaRPr b="1"/>
          </a:p>
        </p:txBody>
      </p:sp>
      <p:sp>
        <p:nvSpPr>
          <p:cNvPr id="181" name="Google Shape;181;p15"/>
          <p:cNvSpPr txBox="1"/>
          <p:nvPr>
            <p:ph idx="1" type="body"/>
          </p:nvPr>
        </p:nvSpPr>
        <p:spPr>
          <a:xfrm>
            <a:off x="318125" y="586350"/>
            <a:ext cx="8826000" cy="2261400"/>
          </a:xfrm>
          <a:prstGeom prst="rect">
            <a:avLst/>
          </a:prstGeom>
          <a:noFill/>
          <a:ln>
            <a:noFill/>
          </a:ln>
        </p:spPr>
        <p:txBody>
          <a:bodyPr anchorCtr="0" anchor="t" bIns="34275" lIns="68575" spcFirstLastPara="1" rIns="68575" wrap="square" tIns="34275">
            <a:noAutofit/>
          </a:bodyPr>
          <a:lstStyle/>
          <a:p>
            <a:pPr indent="0" lvl="0" marL="0" rtl="0" algn="just">
              <a:lnSpc>
                <a:spcPct val="90000"/>
              </a:lnSpc>
              <a:spcBef>
                <a:spcPts val="0"/>
              </a:spcBef>
              <a:spcAft>
                <a:spcPts val="0"/>
              </a:spcAft>
              <a:buSzPts val="1400"/>
              <a:buNone/>
            </a:pPr>
            <a:r>
              <a:rPr b="1" lang="en-GB" sz="3200">
                <a:solidFill>
                  <a:srgbClr val="002060"/>
                </a:solidFill>
                <a:latin typeface="Calibri"/>
                <a:ea typeface="Calibri"/>
                <a:cs typeface="Calibri"/>
                <a:sym typeface="Calibri"/>
              </a:rPr>
              <a:t>Activity Diagram Basic Notations</a:t>
            </a:r>
            <a:endParaRPr b="1" sz="3200">
              <a:solidFill>
                <a:srgbClr val="002060"/>
              </a:solidFill>
              <a:latin typeface="Calibri"/>
              <a:ea typeface="Calibri"/>
              <a:cs typeface="Calibri"/>
              <a:sym typeface="Calibri"/>
            </a:endParaRPr>
          </a:p>
          <a:p>
            <a:pPr indent="-368300" lvl="0" marL="457200" rtl="0" algn="l">
              <a:lnSpc>
                <a:spcPct val="100000"/>
              </a:lnSpc>
              <a:spcBef>
                <a:spcPts val="800"/>
              </a:spcBef>
              <a:spcAft>
                <a:spcPts val="0"/>
              </a:spcAft>
              <a:buClr>
                <a:schemeClr val="dk1"/>
              </a:buClr>
              <a:buSzPts val="2200"/>
              <a:buFont typeface="Calibri"/>
              <a:buChar char="●"/>
            </a:pPr>
            <a:r>
              <a:rPr lang="en-GB" sz="2200">
                <a:solidFill>
                  <a:schemeClr val="dk1"/>
                </a:solidFill>
                <a:latin typeface="Calibri"/>
                <a:ea typeface="Calibri"/>
                <a:cs typeface="Calibri"/>
                <a:sym typeface="Calibri"/>
              </a:rPr>
              <a:t>Some </a:t>
            </a:r>
            <a:r>
              <a:rPr b="1" lang="en-GB" sz="2200">
                <a:solidFill>
                  <a:schemeClr val="dk1"/>
                </a:solidFill>
                <a:latin typeface="Calibri"/>
                <a:ea typeface="Calibri"/>
                <a:cs typeface="Calibri"/>
                <a:sym typeface="Calibri"/>
              </a:rPr>
              <a:t>activities</a:t>
            </a:r>
            <a:r>
              <a:rPr lang="en-GB" sz="2200">
                <a:solidFill>
                  <a:schemeClr val="dk1"/>
                </a:solidFill>
                <a:latin typeface="Calibri"/>
                <a:ea typeface="Calibri"/>
                <a:cs typeface="Calibri"/>
                <a:sym typeface="Calibri"/>
              </a:rPr>
              <a:t> occur simultaneously or in </a:t>
            </a:r>
            <a:r>
              <a:rPr b="1" lang="en-GB" sz="2200">
                <a:solidFill>
                  <a:schemeClr val="dk1"/>
                </a:solidFill>
                <a:latin typeface="Calibri"/>
                <a:ea typeface="Calibri"/>
                <a:cs typeface="Calibri"/>
                <a:sym typeface="Calibri"/>
              </a:rPr>
              <a:t>parallel</a:t>
            </a:r>
            <a:r>
              <a:rPr lang="en-GB" sz="2200">
                <a:solidFill>
                  <a:schemeClr val="dk1"/>
                </a:solidFill>
                <a:latin typeface="Calibri"/>
                <a:ea typeface="Calibri"/>
                <a:cs typeface="Calibri"/>
                <a:sym typeface="Calibri"/>
              </a:rPr>
              <a:t>. Such activities are called </a:t>
            </a:r>
            <a:r>
              <a:rPr b="1" lang="en-GB" sz="2200">
                <a:solidFill>
                  <a:schemeClr val="dk1"/>
                </a:solidFill>
                <a:latin typeface="Calibri"/>
                <a:ea typeface="Calibri"/>
                <a:cs typeface="Calibri"/>
                <a:sym typeface="Calibri"/>
              </a:rPr>
              <a:t>concurrent activities.</a:t>
            </a:r>
            <a:endParaRPr sz="2200">
              <a:solidFill>
                <a:schemeClr val="dk1"/>
              </a:solidFill>
            </a:endParaRPr>
          </a:p>
          <a:p>
            <a:pPr indent="-368300" lvl="0" marL="457200" rtl="0" algn="just">
              <a:lnSpc>
                <a:spcPct val="100000"/>
              </a:lnSpc>
              <a:spcBef>
                <a:spcPts val="0"/>
              </a:spcBef>
              <a:spcAft>
                <a:spcPts val="0"/>
              </a:spcAft>
              <a:buClr>
                <a:schemeClr val="dk1"/>
              </a:buClr>
              <a:buSzPts val="2200"/>
              <a:buFont typeface="Calibri"/>
              <a:buChar char="●"/>
            </a:pPr>
            <a:r>
              <a:rPr b="1" lang="en-GB" sz="2200">
                <a:solidFill>
                  <a:schemeClr val="dk1"/>
                </a:solidFill>
                <a:latin typeface="Calibri"/>
                <a:ea typeface="Calibri"/>
                <a:cs typeface="Calibri"/>
                <a:sym typeface="Calibri"/>
              </a:rPr>
              <a:t>Fork nodes</a:t>
            </a:r>
            <a:r>
              <a:rPr lang="en-GB" sz="2200">
                <a:solidFill>
                  <a:schemeClr val="dk1"/>
                </a:solidFill>
                <a:latin typeface="Calibri"/>
                <a:ea typeface="Calibri"/>
                <a:cs typeface="Calibri"/>
                <a:sym typeface="Calibri"/>
              </a:rPr>
              <a:t> denote the </a:t>
            </a:r>
            <a:r>
              <a:rPr b="1" lang="en-GB" sz="2200">
                <a:solidFill>
                  <a:schemeClr val="dk1"/>
                </a:solidFill>
                <a:latin typeface="Calibri"/>
                <a:ea typeface="Calibri"/>
                <a:cs typeface="Calibri"/>
                <a:sym typeface="Calibri"/>
              </a:rPr>
              <a:t>splitting of the flow </a:t>
            </a:r>
            <a:r>
              <a:rPr lang="en-GB" sz="2200">
                <a:solidFill>
                  <a:schemeClr val="dk1"/>
                </a:solidFill>
                <a:latin typeface="Calibri"/>
                <a:ea typeface="Calibri"/>
                <a:cs typeface="Calibri"/>
                <a:sym typeface="Calibri"/>
              </a:rPr>
              <a:t>of control into multiple threads.</a:t>
            </a:r>
            <a:endParaRPr sz="2200">
              <a:solidFill>
                <a:schemeClr val="dk1"/>
              </a:solidFill>
              <a:latin typeface="Calibri"/>
              <a:ea typeface="Calibri"/>
              <a:cs typeface="Calibri"/>
              <a:sym typeface="Calibri"/>
            </a:endParaRPr>
          </a:p>
          <a:p>
            <a:pPr indent="-368300" lvl="0" marL="457200" rtl="0" algn="just">
              <a:lnSpc>
                <a:spcPct val="100000"/>
              </a:lnSpc>
              <a:spcBef>
                <a:spcPts val="0"/>
              </a:spcBef>
              <a:spcAft>
                <a:spcPts val="0"/>
              </a:spcAft>
              <a:buClr>
                <a:schemeClr val="dk1"/>
              </a:buClr>
              <a:buSzPts val="2200"/>
              <a:buFont typeface="Calibri"/>
              <a:buChar char="●"/>
            </a:pPr>
            <a:r>
              <a:rPr lang="en-GB" sz="2200">
                <a:solidFill>
                  <a:schemeClr val="dk1"/>
                </a:solidFill>
                <a:latin typeface="Calibri"/>
                <a:ea typeface="Calibri"/>
                <a:cs typeface="Calibri"/>
                <a:sym typeface="Calibri"/>
              </a:rPr>
              <a:t>Join nodes denotes the </a:t>
            </a:r>
            <a:r>
              <a:rPr b="1" lang="en-GB" sz="2200">
                <a:solidFill>
                  <a:schemeClr val="dk1"/>
                </a:solidFill>
                <a:latin typeface="Calibri"/>
                <a:ea typeface="Calibri"/>
                <a:cs typeface="Calibri"/>
                <a:sym typeface="Calibri"/>
              </a:rPr>
              <a:t>synchronization of multiple threads</a:t>
            </a:r>
            <a:r>
              <a:rPr lang="en-GB" sz="2200">
                <a:solidFill>
                  <a:schemeClr val="dk1"/>
                </a:solidFill>
                <a:latin typeface="Calibri"/>
                <a:ea typeface="Calibri"/>
                <a:cs typeface="Calibri"/>
                <a:sym typeface="Calibri"/>
              </a:rPr>
              <a:t> and their </a:t>
            </a:r>
            <a:r>
              <a:rPr b="1" lang="en-GB" sz="2200">
                <a:solidFill>
                  <a:schemeClr val="dk1"/>
                </a:solidFill>
                <a:latin typeface="Calibri"/>
                <a:ea typeface="Calibri"/>
                <a:cs typeface="Calibri"/>
                <a:sym typeface="Calibri"/>
              </a:rPr>
              <a:t>merging of the flow </a:t>
            </a:r>
            <a:r>
              <a:rPr lang="en-GB" sz="2200">
                <a:solidFill>
                  <a:schemeClr val="dk1"/>
                </a:solidFill>
                <a:latin typeface="Calibri"/>
                <a:ea typeface="Calibri"/>
                <a:cs typeface="Calibri"/>
                <a:sym typeface="Calibri"/>
              </a:rPr>
              <a:t>of control into a </a:t>
            </a:r>
            <a:r>
              <a:rPr b="1" lang="en-GB" sz="2200">
                <a:solidFill>
                  <a:schemeClr val="dk1"/>
                </a:solidFill>
                <a:latin typeface="Calibri"/>
                <a:ea typeface="Calibri"/>
                <a:cs typeface="Calibri"/>
                <a:sym typeface="Calibri"/>
              </a:rPr>
              <a:t>single thread</a:t>
            </a:r>
            <a:r>
              <a:rPr lang="en-GB" sz="2200">
                <a:solidFill>
                  <a:schemeClr val="dk1"/>
                </a:solidFill>
                <a:latin typeface="Calibri"/>
                <a:ea typeface="Calibri"/>
                <a:cs typeface="Calibri"/>
                <a:sym typeface="Calibri"/>
              </a:rPr>
              <a:t>.</a:t>
            </a:r>
            <a:endParaRPr sz="2200">
              <a:solidFill>
                <a:schemeClr val="dk1"/>
              </a:solidFill>
              <a:latin typeface="Calibri"/>
              <a:ea typeface="Calibri"/>
              <a:cs typeface="Calibri"/>
              <a:sym typeface="Calibri"/>
            </a:endParaRPr>
          </a:p>
          <a:p>
            <a:pPr indent="-368300" lvl="0" marL="457200" rtl="0" algn="just">
              <a:lnSpc>
                <a:spcPct val="100000"/>
              </a:lnSpc>
              <a:spcBef>
                <a:spcPts val="0"/>
              </a:spcBef>
              <a:spcAft>
                <a:spcPts val="0"/>
              </a:spcAft>
              <a:buSzPts val="2200"/>
              <a:buFont typeface="Calibri"/>
              <a:buChar char="●"/>
            </a:pPr>
            <a:r>
              <a:rPr b="1" lang="en-GB" sz="2200">
                <a:solidFill>
                  <a:schemeClr val="dk1"/>
                </a:solidFill>
                <a:latin typeface="Calibri"/>
                <a:ea typeface="Calibri"/>
                <a:cs typeface="Calibri"/>
                <a:sym typeface="Calibri"/>
              </a:rPr>
              <a:t>Fork nodes </a:t>
            </a:r>
            <a:r>
              <a:rPr lang="en-GB" sz="2200">
                <a:solidFill>
                  <a:schemeClr val="dk1"/>
                </a:solidFill>
                <a:latin typeface="Calibri"/>
                <a:ea typeface="Calibri"/>
                <a:cs typeface="Calibri"/>
                <a:sym typeface="Calibri"/>
              </a:rPr>
              <a:t>and </a:t>
            </a:r>
            <a:r>
              <a:rPr b="1" lang="en-GB" sz="2200">
                <a:solidFill>
                  <a:schemeClr val="dk1"/>
                </a:solidFill>
                <a:latin typeface="Calibri"/>
                <a:ea typeface="Calibri"/>
                <a:cs typeface="Calibri"/>
                <a:sym typeface="Calibri"/>
              </a:rPr>
              <a:t>join nodes </a:t>
            </a:r>
            <a:r>
              <a:rPr lang="en-GB" sz="2200">
                <a:solidFill>
                  <a:schemeClr val="dk1"/>
                </a:solidFill>
                <a:latin typeface="Calibri"/>
                <a:ea typeface="Calibri"/>
                <a:cs typeface="Calibri"/>
                <a:sym typeface="Calibri"/>
              </a:rPr>
              <a:t>represent concurrency.</a:t>
            </a:r>
            <a:endParaRPr b="1" sz="2200">
              <a:solidFill>
                <a:schemeClr val="dk1"/>
              </a:solidFill>
              <a:latin typeface="Calibri"/>
              <a:ea typeface="Calibri"/>
              <a:cs typeface="Calibri"/>
              <a:sym typeface="Calibri"/>
            </a:endParaRPr>
          </a:p>
          <a:p>
            <a:pPr indent="0" lvl="0" marL="0" rtl="0" algn="just">
              <a:lnSpc>
                <a:spcPct val="90000"/>
              </a:lnSpc>
              <a:spcBef>
                <a:spcPts val="0"/>
              </a:spcBef>
              <a:spcAft>
                <a:spcPts val="0"/>
              </a:spcAft>
              <a:buSzPts val="1400"/>
              <a:buNone/>
            </a:pPr>
            <a:r>
              <a:t/>
            </a:r>
            <a:endParaRPr sz="2200">
              <a:solidFill>
                <a:schemeClr val="dk1"/>
              </a:solidFill>
              <a:latin typeface="Calibri"/>
              <a:ea typeface="Calibri"/>
              <a:cs typeface="Calibri"/>
              <a:sym typeface="Calibri"/>
            </a:endParaRPr>
          </a:p>
        </p:txBody>
      </p:sp>
      <p:sp>
        <p:nvSpPr>
          <p:cNvPr id="182" name="Google Shape;182;p1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183" name="Google Shape;183;p1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6"/>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Analysis Model</a:t>
            </a:r>
            <a:endParaRPr b="1"/>
          </a:p>
        </p:txBody>
      </p:sp>
      <p:sp>
        <p:nvSpPr>
          <p:cNvPr id="189" name="Google Shape;189;p16"/>
          <p:cNvSpPr txBox="1"/>
          <p:nvPr>
            <p:ph idx="1" type="body"/>
          </p:nvPr>
        </p:nvSpPr>
        <p:spPr>
          <a:xfrm>
            <a:off x="318125" y="586350"/>
            <a:ext cx="8826000" cy="2261400"/>
          </a:xfrm>
          <a:prstGeom prst="rect">
            <a:avLst/>
          </a:prstGeom>
          <a:noFill/>
          <a:ln>
            <a:noFill/>
          </a:ln>
        </p:spPr>
        <p:txBody>
          <a:bodyPr anchorCtr="0" anchor="t" bIns="34275" lIns="68575" spcFirstLastPara="1" rIns="68575" wrap="square" tIns="34275">
            <a:noAutofit/>
          </a:bodyPr>
          <a:lstStyle/>
          <a:p>
            <a:pPr indent="0" lvl="0" marL="0" rtl="0" algn="just">
              <a:lnSpc>
                <a:spcPct val="90000"/>
              </a:lnSpc>
              <a:spcBef>
                <a:spcPts val="0"/>
              </a:spcBef>
              <a:spcAft>
                <a:spcPts val="0"/>
              </a:spcAft>
              <a:buSzPts val="1400"/>
              <a:buNone/>
            </a:pPr>
            <a:r>
              <a:t/>
            </a:r>
            <a:endParaRPr b="1" sz="3200">
              <a:solidFill>
                <a:srgbClr val="002060"/>
              </a:solidFill>
              <a:latin typeface="Calibri"/>
              <a:ea typeface="Calibri"/>
              <a:cs typeface="Calibri"/>
              <a:sym typeface="Calibri"/>
            </a:endParaRPr>
          </a:p>
          <a:p>
            <a:pPr indent="0" lvl="0" marL="0" rtl="0" algn="just">
              <a:lnSpc>
                <a:spcPct val="90000"/>
              </a:lnSpc>
              <a:spcBef>
                <a:spcPts val="0"/>
              </a:spcBef>
              <a:spcAft>
                <a:spcPts val="0"/>
              </a:spcAft>
              <a:buSzPts val="1400"/>
              <a:buNone/>
            </a:pPr>
            <a:r>
              <a:t/>
            </a:r>
            <a:endParaRPr sz="2200">
              <a:solidFill>
                <a:schemeClr val="dk1"/>
              </a:solidFill>
              <a:latin typeface="Calibri"/>
              <a:ea typeface="Calibri"/>
              <a:cs typeface="Calibri"/>
              <a:sym typeface="Calibri"/>
            </a:endParaRPr>
          </a:p>
        </p:txBody>
      </p:sp>
      <p:sp>
        <p:nvSpPr>
          <p:cNvPr id="190" name="Google Shape;190;p1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191" name="Google Shape;191;p1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pic>
        <p:nvPicPr>
          <p:cNvPr id="192" name="Google Shape;192;p16"/>
          <p:cNvPicPr preferRelativeResize="0"/>
          <p:nvPr/>
        </p:nvPicPr>
        <p:blipFill rotWithShape="1">
          <a:blip r:embed="rId3">
            <a:alphaModFix/>
          </a:blip>
          <a:srcRect b="18723" l="0" r="0" t="19361"/>
          <a:stretch/>
        </p:blipFill>
        <p:spPr>
          <a:xfrm>
            <a:off x="1040300" y="1094500"/>
            <a:ext cx="6519476" cy="302740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7"/>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Analysis Model</a:t>
            </a:r>
            <a:endParaRPr b="1"/>
          </a:p>
        </p:txBody>
      </p:sp>
      <p:sp>
        <p:nvSpPr>
          <p:cNvPr id="198" name="Google Shape;198;p17"/>
          <p:cNvSpPr txBox="1"/>
          <p:nvPr>
            <p:ph idx="1" type="body"/>
          </p:nvPr>
        </p:nvSpPr>
        <p:spPr>
          <a:xfrm>
            <a:off x="318125" y="586350"/>
            <a:ext cx="8826000" cy="2261400"/>
          </a:xfrm>
          <a:prstGeom prst="rect">
            <a:avLst/>
          </a:prstGeom>
          <a:noFill/>
          <a:ln>
            <a:noFill/>
          </a:ln>
        </p:spPr>
        <p:txBody>
          <a:bodyPr anchorCtr="0" anchor="t" bIns="34275" lIns="68575" spcFirstLastPara="1" rIns="68575" wrap="square" tIns="34275">
            <a:noAutofit/>
          </a:bodyPr>
          <a:lstStyle/>
          <a:p>
            <a:pPr indent="0" lvl="0" marL="0" rtl="0" algn="just">
              <a:lnSpc>
                <a:spcPct val="90000"/>
              </a:lnSpc>
              <a:spcBef>
                <a:spcPts val="0"/>
              </a:spcBef>
              <a:spcAft>
                <a:spcPts val="0"/>
              </a:spcAft>
              <a:buSzPts val="1400"/>
              <a:buNone/>
            </a:pPr>
            <a:r>
              <a:rPr b="1" lang="en-GB" sz="3200">
                <a:solidFill>
                  <a:srgbClr val="002060"/>
                </a:solidFill>
                <a:latin typeface="Calibri"/>
                <a:ea typeface="Calibri"/>
                <a:cs typeface="Calibri"/>
                <a:sym typeface="Calibri"/>
              </a:rPr>
              <a:t>Activity Diagram : Swimlane </a:t>
            </a:r>
            <a:endParaRPr b="1" sz="3200">
              <a:solidFill>
                <a:srgbClr val="002060"/>
              </a:solidFill>
              <a:latin typeface="Calibri"/>
              <a:ea typeface="Calibri"/>
              <a:cs typeface="Calibri"/>
              <a:sym typeface="Calibri"/>
            </a:endParaRPr>
          </a:p>
          <a:p>
            <a:pPr indent="-368300" lvl="0" marL="457200" rtl="0" algn="just">
              <a:lnSpc>
                <a:spcPct val="100000"/>
              </a:lnSpc>
              <a:spcBef>
                <a:spcPts val="0"/>
              </a:spcBef>
              <a:spcAft>
                <a:spcPts val="0"/>
              </a:spcAft>
              <a:buClr>
                <a:schemeClr val="dk1"/>
              </a:buClr>
              <a:buSzPts val="2200"/>
              <a:buFont typeface="Calibri"/>
              <a:buChar char="●"/>
            </a:pPr>
            <a:r>
              <a:rPr lang="en-GB" sz="2400">
                <a:solidFill>
                  <a:schemeClr val="dk1"/>
                </a:solidFill>
                <a:latin typeface="Calibri"/>
                <a:ea typeface="Calibri"/>
                <a:cs typeface="Calibri"/>
                <a:sym typeface="Calibri"/>
              </a:rPr>
              <a:t>The contents of an activity diagram may be organized into </a:t>
            </a:r>
            <a:r>
              <a:rPr i="1" lang="en-GB" sz="2400">
                <a:solidFill>
                  <a:schemeClr val="dk1"/>
                </a:solidFill>
                <a:latin typeface="Calibri"/>
                <a:ea typeface="Calibri"/>
                <a:cs typeface="Calibri"/>
                <a:sym typeface="Calibri"/>
              </a:rPr>
              <a:t>partitions</a:t>
            </a:r>
            <a:r>
              <a:rPr lang="en-GB" sz="2400">
                <a:solidFill>
                  <a:schemeClr val="dk1"/>
                </a:solidFill>
                <a:latin typeface="Calibri"/>
                <a:ea typeface="Calibri"/>
                <a:cs typeface="Calibri"/>
                <a:sym typeface="Calibri"/>
              </a:rPr>
              <a:t> (swimlanes) using solid vertical lines.</a:t>
            </a:r>
            <a:endParaRPr sz="2400">
              <a:solidFill>
                <a:schemeClr val="dk1"/>
              </a:solidFill>
            </a:endParaRPr>
          </a:p>
          <a:p>
            <a:pPr indent="-368300" lvl="0" marL="457200" rtl="0" algn="just">
              <a:lnSpc>
                <a:spcPct val="100000"/>
              </a:lnSpc>
              <a:spcBef>
                <a:spcPts val="0"/>
              </a:spcBef>
              <a:spcAft>
                <a:spcPts val="0"/>
              </a:spcAft>
              <a:buClr>
                <a:schemeClr val="dk1"/>
              </a:buClr>
              <a:buSzPts val="2200"/>
              <a:buFont typeface="Calibri"/>
              <a:buChar char="●"/>
            </a:pPr>
            <a:r>
              <a:rPr lang="en-GB" sz="2400">
                <a:solidFill>
                  <a:schemeClr val="dk1"/>
                </a:solidFill>
                <a:latin typeface="Calibri"/>
                <a:ea typeface="Calibri"/>
                <a:cs typeface="Calibri"/>
                <a:sym typeface="Calibri"/>
              </a:rPr>
              <a:t>A swim lane (or </a:t>
            </a:r>
            <a:r>
              <a:rPr b="1" lang="en-GB" sz="2400">
                <a:solidFill>
                  <a:schemeClr val="dk1"/>
                </a:solidFill>
                <a:latin typeface="Calibri"/>
                <a:ea typeface="Calibri"/>
                <a:cs typeface="Calibri"/>
                <a:sym typeface="Calibri"/>
              </a:rPr>
              <a:t>swimlane diagram</a:t>
            </a:r>
            <a:r>
              <a:rPr lang="en-GB" sz="2400">
                <a:solidFill>
                  <a:schemeClr val="dk1"/>
                </a:solidFill>
                <a:latin typeface="Calibri"/>
                <a:ea typeface="Calibri"/>
                <a:cs typeface="Calibri"/>
                <a:sym typeface="Calibri"/>
              </a:rPr>
              <a:t>) is a visual element used in process flow diagrams, or flowcharts, that visually distinguishes </a:t>
            </a:r>
            <a:r>
              <a:rPr b="1" lang="en-GB" sz="2400">
                <a:solidFill>
                  <a:schemeClr val="dk1"/>
                </a:solidFill>
                <a:latin typeface="Calibri"/>
                <a:ea typeface="Calibri"/>
                <a:cs typeface="Calibri"/>
                <a:sym typeface="Calibri"/>
              </a:rPr>
              <a:t>job sharing and responsibilities </a:t>
            </a:r>
            <a:r>
              <a:rPr lang="en-GB" sz="2400">
                <a:solidFill>
                  <a:schemeClr val="dk1"/>
                </a:solidFill>
                <a:latin typeface="Calibri"/>
                <a:ea typeface="Calibri"/>
                <a:cs typeface="Calibri"/>
                <a:sym typeface="Calibri"/>
              </a:rPr>
              <a:t>for sub-processes of a business process.</a:t>
            </a:r>
            <a:endParaRPr sz="2400">
              <a:solidFill>
                <a:schemeClr val="dk1"/>
              </a:solidFill>
              <a:latin typeface="Calibri"/>
              <a:ea typeface="Calibri"/>
              <a:cs typeface="Calibri"/>
              <a:sym typeface="Calibri"/>
            </a:endParaRPr>
          </a:p>
          <a:p>
            <a:pPr indent="-368300" lvl="0" marL="457200" rtl="0" algn="l">
              <a:lnSpc>
                <a:spcPct val="115000"/>
              </a:lnSpc>
              <a:spcBef>
                <a:spcPts val="0"/>
              </a:spcBef>
              <a:spcAft>
                <a:spcPts val="0"/>
              </a:spcAft>
              <a:buClr>
                <a:srgbClr val="002060"/>
              </a:buClr>
              <a:buSzPts val="2200"/>
              <a:buFont typeface="Calibri"/>
              <a:buChar char="●"/>
            </a:pPr>
            <a:r>
              <a:rPr lang="en-GB" sz="2200">
                <a:solidFill>
                  <a:schemeClr val="dk1"/>
                </a:solidFill>
                <a:latin typeface="Calibri"/>
                <a:ea typeface="Calibri"/>
                <a:cs typeface="Calibri"/>
                <a:sym typeface="Calibri"/>
              </a:rPr>
              <a:t>Order Swimlanes in a Logical Manner.</a:t>
            </a:r>
            <a:endParaRPr sz="2200">
              <a:solidFill>
                <a:schemeClr val="dk1"/>
              </a:solidFill>
              <a:latin typeface="Calibri"/>
              <a:ea typeface="Calibri"/>
              <a:cs typeface="Calibri"/>
              <a:sym typeface="Calibri"/>
            </a:endParaRPr>
          </a:p>
          <a:p>
            <a:pPr indent="-368300" lvl="0" marL="457200" rtl="0" algn="l">
              <a:lnSpc>
                <a:spcPct val="115000"/>
              </a:lnSpc>
              <a:spcBef>
                <a:spcPts val="0"/>
              </a:spcBef>
              <a:spcAft>
                <a:spcPts val="0"/>
              </a:spcAft>
              <a:buClr>
                <a:srgbClr val="002060"/>
              </a:buClr>
              <a:buSzPts val="2200"/>
              <a:buFont typeface="Calibri"/>
              <a:buChar char="●"/>
            </a:pPr>
            <a:r>
              <a:rPr lang="en-GB" sz="2200">
                <a:solidFill>
                  <a:schemeClr val="dk1"/>
                </a:solidFill>
                <a:latin typeface="Calibri"/>
                <a:ea typeface="Calibri"/>
                <a:cs typeface="Calibri"/>
                <a:sym typeface="Calibri"/>
              </a:rPr>
              <a:t>Apply Swimlanes To Linear Processes.</a:t>
            </a:r>
            <a:endParaRPr sz="2200">
              <a:solidFill>
                <a:schemeClr val="dk1"/>
              </a:solidFill>
              <a:latin typeface="Calibri"/>
              <a:ea typeface="Calibri"/>
              <a:cs typeface="Calibri"/>
              <a:sym typeface="Calibri"/>
            </a:endParaRPr>
          </a:p>
          <a:p>
            <a:pPr indent="-368300" lvl="0" marL="457200" rtl="0" algn="l">
              <a:lnSpc>
                <a:spcPct val="115000"/>
              </a:lnSpc>
              <a:spcBef>
                <a:spcPts val="0"/>
              </a:spcBef>
              <a:spcAft>
                <a:spcPts val="0"/>
              </a:spcAft>
              <a:buClr>
                <a:srgbClr val="002060"/>
              </a:buClr>
              <a:buSzPts val="2200"/>
              <a:buFont typeface="Calibri"/>
              <a:buChar char="●"/>
            </a:pPr>
            <a:r>
              <a:rPr lang="en-GB" sz="2200">
                <a:solidFill>
                  <a:schemeClr val="dk1"/>
                </a:solidFill>
                <a:latin typeface="Calibri"/>
                <a:ea typeface="Calibri"/>
                <a:cs typeface="Calibri"/>
                <a:sym typeface="Calibri"/>
              </a:rPr>
              <a:t>Have Less Than Five Swimlanes.</a:t>
            </a:r>
            <a:endParaRPr sz="2200">
              <a:solidFill>
                <a:schemeClr val="dk1"/>
              </a:solidFill>
              <a:latin typeface="Calibri"/>
              <a:ea typeface="Calibri"/>
              <a:cs typeface="Calibri"/>
              <a:sym typeface="Calibri"/>
            </a:endParaRPr>
          </a:p>
          <a:p>
            <a:pPr indent="-368300" lvl="0" marL="457200" rtl="0" algn="l">
              <a:lnSpc>
                <a:spcPct val="115000"/>
              </a:lnSpc>
              <a:spcBef>
                <a:spcPts val="0"/>
              </a:spcBef>
              <a:spcAft>
                <a:spcPts val="0"/>
              </a:spcAft>
              <a:buClr>
                <a:srgbClr val="002060"/>
              </a:buClr>
              <a:buSzPts val="2200"/>
              <a:buFont typeface="Calibri"/>
              <a:buChar char="●"/>
            </a:pPr>
            <a:r>
              <a:rPr lang="en-GB" sz="2200">
                <a:solidFill>
                  <a:schemeClr val="dk1"/>
                </a:solidFill>
                <a:latin typeface="Calibri"/>
                <a:ea typeface="Calibri"/>
                <a:cs typeface="Calibri"/>
                <a:sym typeface="Calibri"/>
              </a:rPr>
              <a:t>Consider Swim areas For Complex Diagrams.</a:t>
            </a:r>
            <a:endParaRPr sz="2200">
              <a:solidFill>
                <a:schemeClr val="dk1"/>
              </a:solidFill>
              <a:latin typeface="Calibri"/>
              <a:ea typeface="Calibri"/>
              <a:cs typeface="Calibri"/>
              <a:sym typeface="Calibri"/>
            </a:endParaRPr>
          </a:p>
          <a:p>
            <a:pPr indent="0" lvl="0" marL="457200" rtl="0" algn="just">
              <a:lnSpc>
                <a:spcPct val="90000"/>
              </a:lnSpc>
              <a:spcBef>
                <a:spcPts val="0"/>
              </a:spcBef>
              <a:spcAft>
                <a:spcPts val="0"/>
              </a:spcAft>
              <a:buSzPts val="1400"/>
              <a:buNone/>
            </a:pPr>
            <a:r>
              <a:t/>
            </a:r>
            <a:endParaRPr b="1" sz="3200">
              <a:solidFill>
                <a:srgbClr val="002060"/>
              </a:solidFill>
              <a:latin typeface="Calibri"/>
              <a:ea typeface="Calibri"/>
              <a:cs typeface="Calibri"/>
              <a:sym typeface="Calibri"/>
            </a:endParaRPr>
          </a:p>
        </p:txBody>
      </p:sp>
      <p:sp>
        <p:nvSpPr>
          <p:cNvPr id="199" name="Google Shape;199;p1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200" name="Google Shape;200;p1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8"/>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Analysis Model</a:t>
            </a:r>
            <a:endParaRPr b="1"/>
          </a:p>
        </p:txBody>
      </p:sp>
      <p:sp>
        <p:nvSpPr>
          <p:cNvPr id="206" name="Google Shape;206;p1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207" name="Google Shape;207;p1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pic>
        <p:nvPicPr>
          <p:cNvPr id="208" name="Google Shape;208;p18"/>
          <p:cNvPicPr preferRelativeResize="0"/>
          <p:nvPr/>
        </p:nvPicPr>
        <p:blipFill rotWithShape="1">
          <a:blip r:embed="rId3">
            <a:alphaModFix/>
          </a:blip>
          <a:srcRect b="0" l="0" r="0" t="0"/>
          <a:stretch/>
        </p:blipFill>
        <p:spPr>
          <a:xfrm>
            <a:off x="2124525" y="768260"/>
            <a:ext cx="5064249" cy="384661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19"/>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1400"/>
              <a:buNone/>
            </a:pPr>
            <a:r>
              <a:rPr lang="en-GB"/>
              <a:t>ATM Transaction System</a:t>
            </a:r>
            <a:endParaRPr/>
          </a:p>
        </p:txBody>
      </p:sp>
      <p:sp>
        <p:nvSpPr>
          <p:cNvPr id="214" name="Google Shape;214;p19"/>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228600" lvl="0" marL="457200" rtl="0" algn="l">
              <a:lnSpc>
                <a:spcPct val="90000"/>
              </a:lnSpc>
              <a:spcBef>
                <a:spcPts val="800"/>
              </a:spcBef>
              <a:spcAft>
                <a:spcPts val="0"/>
              </a:spcAft>
              <a:buClr>
                <a:schemeClr val="dk1"/>
              </a:buClr>
              <a:buSzPts val="1400"/>
              <a:buNone/>
            </a:pPr>
            <a:r>
              <a:t/>
            </a:r>
            <a:endParaRPr/>
          </a:p>
        </p:txBody>
      </p:sp>
      <p:pic>
        <p:nvPicPr>
          <p:cNvPr descr="UML Activity Diagram Example: ATM" id="215" name="Google Shape;215;p19"/>
          <p:cNvPicPr preferRelativeResize="0"/>
          <p:nvPr/>
        </p:nvPicPr>
        <p:blipFill rotWithShape="1">
          <a:blip r:embed="rId3">
            <a:alphaModFix/>
          </a:blip>
          <a:srcRect b="0" l="0" r="0" t="0"/>
          <a:stretch/>
        </p:blipFill>
        <p:spPr>
          <a:xfrm>
            <a:off x="4861247" y="129546"/>
            <a:ext cx="3340361" cy="490361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0"/>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Analysis Model- Ticket Vending Machine</a:t>
            </a:r>
            <a:endParaRPr b="1"/>
          </a:p>
        </p:txBody>
      </p:sp>
      <p:sp>
        <p:nvSpPr>
          <p:cNvPr id="221" name="Google Shape;221;p2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222" name="Google Shape;222;p2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pic>
        <p:nvPicPr>
          <p:cNvPr id="223" name="Google Shape;223;p20"/>
          <p:cNvPicPr preferRelativeResize="0"/>
          <p:nvPr/>
        </p:nvPicPr>
        <p:blipFill rotWithShape="1">
          <a:blip r:embed="rId3">
            <a:alphaModFix/>
          </a:blip>
          <a:srcRect b="0" l="0" r="0" t="0"/>
          <a:stretch/>
        </p:blipFill>
        <p:spPr>
          <a:xfrm>
            <a:off x="2260353" y="648424"/>
            <a:ext cx="4530722" cy="411885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1"/>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Analysis Model</a:t>
            </a:r>
            <a:endParaRPr b="1"/>
          </a:p>
        </p:txBody>
      </p:sp>
      <p:sp>
        <p:nvSpPr>
          <p:cNvPr id="229" name="Google Shape;229;p21"/>
          <p:cNvSpPr txBox="1"/>
          <p:nvPr>
            <p:ph idx="1" type="body"/>
          </p:nvPr>
        </p:nvSpPr>
        <p:spPr>
          <a:xfrm>
            <a:off x="318125" y="586350"/>
            <a:ext cx="8826000" cy="2261400"/>
          </a:xfrm>
          <a:prstGeom prst="rect">
            <a:avLst/>
          </a:prstGeom>
          <a:noFill/>
          <a:ln>
            <a:noFill/>
          </a:ln>
        </p:spPr>
        <p:txBody>
          <a:bodyPr anchorCtr="0" anchor="t" bIns="34275" lIns="68575" spcFirstLastPara="1" rIns="68575" wrap="square" tIns="34275">
            <a:noAutofit/>
          </a:bodyPr>
          <a:lstStyle/>
          <a:p>
            <a:pPr indent="0" lvl="0" marL="0" rtl="0" algn="just">
              <a:lnSpc>
                <a:spcPct val="90000"/>
              </a:lnSpc>
              <a:spcBef>
                <a:spcPts val="0"/>
              </a:spcBef>
              <a:spcAft>
                <a:spcPts val="0"/>
              </a:spcAft>
              <a:buSzPts val="1400"/>
              <a:buNone/>
            </a:pPr>
            <a:r>
              <a:rPr b="1" lang="en-GB" sz="3200">
                <a:solidFill>
                  <a:srgbClr val="002060"/>
                </a:solidFill>
                <a:latin typeface="Calibri"/>
                <a:ea typeface="Calibri"/>
                <a:cs typeface="Calibri"/>
                <a:sym typeface="Calibri"/>
              </a:rPr>
              <a:t>Sequence Diagram:</a:t>
            </a:r>
            <a:endParaRPr b="1" sz="3200">
              <a:solidFill>
                <a:srgbClr val="002060"/>
              </a:solidFill>
              <a:latin typeface="Calibri"/>
              <a:ea typeface="Calibri"/>
              <a:cs typeface="Calibri"/>
              <a:sym typeface="Calibri"/>
            </a:endParaRPr>
          </a:p>
          <a:p>
            <a:pPr indent="0" lvl="0" marL="0" rtl="0" algn="just">
              <a:lnSpc>
                <a:spcPct val="100000"/>
              </a:lnSpc>
              <a:spcBef>
                <a:spcPts val="0"/>
              </a:spcBef>
              <a:spcAft>
                <a:spcPts val="0"/>
              </a:spcAft>
              <a:buSzPts val="1400"/>
              <a:buNone/>
            </a:pPr>
            <a:r>
              <a:rPr lang="en-GB" sz="2400">
                <a:solidFill>
                  <a:schemeClr val="dk1"/>
                </a:solidFill>
              </a:rPr>
              <a:t>•</a:t>
            </a:r>
            <a:r>
              <a:rPr lang="en-GB" sz="2400">
                <a:solidFill>
                  <a:schemeClr val="dk1"/>
                </a:solidFill>
                <a:latin typeface="Calibri"/>
                <a:ea typeface="Calibri"/>
                <a:cs typeface="Calibri"/>
                <a:sym typeface="Calibri"/>
              </a:rPr>
              <a:t>The Sequence Diagram </a:t>
            </a:r>
            <a:r>
              <a:rPr b="1" lang="en-GB" sz="2400">
                <a:solidFill>
                  <a:schemeClr val="dk1"/>
                </a:solidFill>
                <a:latin typeface="Calibri"/>
                <a:ea typeface="Calibri"/>
                <a:cs typeface="Calibri"/>
                <a:sym typeface="Calibri"/>
              </a:rPr>
              <a:t>models the collaboration of objects based on a time sequence.</a:t>
            </a:r>
            <a:endParaRPr sz="2400">
              <a:solidFill>
                <a:schemeClr val="dk1"/>
              </a:solidFill>
            </a:endParaRPr>
          </a:p>
          <a:p>
            <a:pPr indent="0" lvl="0" marL="0" rtl="0" algn="just">
              <a:lnSpc>
                <a:spcPct val="100000"/>
              </a:lnSpc>
              <a:spcBef>
                <a:spcPts val="0"/>
              </a:spcBef>
              <a:spcAft>
                <a:spcPts val="0"/>
              </a:spcAft>
              <a:buSzPts val="1400"/>
              <a:buNone/>
            </a:pPr>
            <a:r>
              <a:rPr lang="en-GB" sz="2400">
                <a:solidFill>
                  <a:schemeClr val="dk1"/>
                </a:solidFill>
              </a:rPr>
              <a:t>•</a:t>
            </a:r>
            <a:r>
              <a:rPr b="1" lang="en-GB" sz="2400">
                <a:solidFill>
                  <a:schemeClr val="dk1"/>
                </a:solidFill>
                <a:latin typeface="Calibri"/>
                <a:ea typeface="Calibri"/>
                <a:cs typeface="Calibri"/>
                <a:sym typeface="Calibri"/>
              </a:rPr>
              <a:t>Sequence diagrams </a:t>
            </a:r>
            <a:r>
              <a:rPr lang="en-GB" sz="2400">
                <a:solidFill>
                  <a:schemeClr val="dk1"/>
                </a:solidFill>
                <a:latin typeface="Calibri"/>
                <a:ea typeface="Calibri"/>
                <a:cs typeface="Calibri"/>
                <a:sym typeface="Calibri"/>
              </a:rPr>
              <a:t>represent the objects participating in the interaction horizontally and time vertically.</a:t>
            </a:r>
            <a:endParaRPr sz="2400">
              <a:solidFill>
                <a:schemeClr val="dk1"/>
              </a:solidFill>
              <a:latin typeface="Calibri"/>
              <a:ea typeface="Calibri"/>
              <a:cs typeface="Calibri"/>
              <a:sym typeface="Calibri"/>
            </a:endParaRPr>
          </a:p>
          <a:p>
            <a:pPr indent="0" lvl="0" marL="0" rtl="0" algn="l">
              <a:lnSpc>
                <a:spcPct val="100000"/>
              </a:lnSpc>
              <a:spcBef>
                <a:spcPts val="800"/>
              </a:spcBef>
              <a:spcAft>
                <a:spcPts val="0"/>
              </a:spcAft>
              <a:buClr>
                <a:schemeClr val="dk1"/>
              </a:buClr>
              <a:buSzPts val="1100"/>
              <a:buFont typeface="Arial"/>
              <a:buNone/>
            </a:pPr>
            <a:r>
              <a:rPr lang="en-GB" sz="2400">
                <a:solidFill>
                  <a:schemeClr val="dk1"/>
                </a:solidFill>
              </a:rPr>
              <a:t>•</a:t>
            </a:r>
            <a:r>
              <a:rPr lang="en-GB" sz="2400">
                <a:solidFill>
                  <a:schemeClr val="dk1"/>
                </a:solidFill>
                <a:latin typeface="Calibri"/>
                <a:ea typeface="Calibri"/>
                <a:cs typeface="Calibri"/>
                <a:sym typeface="Calibri"/>
              </a:rPr>
              <a:t>Depicts sequence of actions that occur in a system</a:t>
            </a:r>
            <a:endParaRPr sz="2400">
              <a:solidFill>
                <a:schemeClr val="dk1"/>
              </a:solidFill>
              <a:latin typeface="Calibri"/>
              <a:ea typeface="Calibri"/>
              <a:cs typeface="Calibri"/>
              <a:sym typeface="Calibri"/>
            </a:endParaRPr>
          </a:p>
          <a:p>
            <a:pPr indent="0" lvl="0" marL="0" rtl="0" algn="l">
              <a:lnSpc>
                <a:spcPct val="100000"/>
              </a:lnSpc>
              <a:spcBef>
                <a:spcPts val="800"/>
              </a:spcBef>
              <a:spcAft>
                <a:spcPts val="0"/>
              </a:spcAft>
              <a:buClr>
                <a:schemeClr val="dk1"/>
              </a:buClr>
              <a:buSzPts val="1100"/>
              <a:buFont typeface="Arial"/>
              <a:buNone/>
            </a:pPr>
            <a:r>
              <a:rPr lang="en-GB" sz="2400">
                <a:solidFill>
                  <a:schemeClr val="dk1"/>
                </a:solidFill>
              </a:rPr>
              <a:t>•</a:t>
            </a:r>
            <a:r>
              <a:rPr lang="en-GB" sz="2400">
                <a:solidFill>
                  <a:schemeClr val="dk1"/>
                </a:solidFill>
                <a:latin typeface="Calibri"/>
                <a:ea typeface="Calibri"/>
                <a:cs typeface="Calibri"/>
                <a:sym typeface="Calibri"/>
              </a:rPr>
              <a:t>Useful tool to </a:t>
            </a:r>
            <a:r>
              <a:rPr b="1" lang="en-GB" sz="2400">
                <a:solidFill>
                  <a:schemeClr val="dk1"/>
                </a:solidFill>
                <a:latin typeface="Calibri"/>
                <a:ea typeface="Calibri"/>
                <a:cs typeface="Calibri"/>
                <a:sym typeface="Calibri"/>
              </a:rPr>
              <a:t>represent dynamic behavior </a:t>
            </a:r>
            <a:r>
              <a:rPr lang="en-GB" sz="2400">
                <a:solidFill>
                  <a:schemeClr val="dk1"/>
                </a:solidFill>
                <a:latin typeface="Calibri"/>
                <a:ea typeface="Calibri"/>
                <a:cs typeface="Calibri"/>
                <a:sym typeface="Calibri"/>
              </a:rPr>
              <a:t>of a system</a:t>
            </a:r>
            <a:endParaRPr sz="2400">
              <a:solidFill>
                <a:schemeClr val="dk1"/>
              </a:solidFill>
              <a:latin typeface="Calibri"/>
              <a:ea typeface="Calibri"/>
              <a:cs typeface="Calibri"/>
              <a:sym typeface="Calibri"/>
            </a:endParaRPr>
          </a:p>
          <a:p>
            <a:pPr indent="0" lvl="0" marL="0" rtl="0" algn="l">
              <a:lnSpc>
                <a:spcPct val="100000"/>
              </a:lnSpc>
              <a:spcBef>
                <a:spcPts val="800"/>
              </a:spcBef>
              <a:spcAft>
                <a:spcPts val="0"/>
              </a:spcAft>
              <a:buClr>
                <a:schemeClr val="dk1"/>
              </a:buClr>
              <a:buSzPts val="1100"/>
              <a:buFont typeface="Arial"/>
              <a:buNone/>
            </a:pPr>
            <a:r>
              <a:rPr lang="en-GB" sz="2400">
                <a:solidFill>
                  <a:schemeClr val="dk1"/>
                </a:solidFill>
              </a:rPr>
              <a:t>•</a:t>
            </a:r>
            <a:r>
              <a:rPr lang="en-GB" sz="2400">
                <a:solidFill>
                  <a:schemeClr val="dk1"/>
                </a:solidFill>
                <a:latin typeface="Calibri"/>
                <a:ea typeface="Calibri"/>
                <a:cs typeface="Calibri"/>
                <a:sym typeface="Calibri"/>
              </a:rPr>
              <a:t>2 dimensional :</a:t>
            </a:r>
            <a:endParaRPr sz="2400">
              <a:solidFill>
                <a:schemeClr val="dk1"/>
              </a:solidFill>
              <a:latin typeface="Calibri"/>
              <a:ea typeface="Calibri"/>
              <a:cs typeface="Calibri"/>
              <a:sym typeface="Calibri"/>
            </a:endParaRPr>
          </a:p>
          <a:p>
            <a:pPr indent="0" lvl="0" marL="457200" rtl="0" algn="l">
              <a:lnSpc>
                <a:spcPct val="100000"/>
              </a:lnSpc>
              <a:spcBef>
                <a:spcPts val="700"/>
              </a:spcBef>
              <a:spcAft>
                <a:spcPts val="0"/>
              </a:spcAft>
              <a:buClr>
                <a:schemeClr val="dk1"/>
              </a:buClr>
              <a:buSzPts val="1100"/>
              <a:buFont typeface="Arial"/>
              <a:buNone/>
            </a:pPr>
            <a:r>
              <a:rPr lang="en-GB" sz="2400">
                <a:solidFill>
                  <a:schemeClr val="dk1"/>
                </a:solidFill>
              </a:rPr>
              <a:t>-</a:t>
            </a:r>
            <a:r>
              <a:rPr lang="en-GB" sz="2400">
                <a:solidFill>
                  <a:schemeClr val="dk1"/>
                </a:solidFill>
                <a:latin typeface="Calibri"/>
                <a:ea typeface="Calibri"/>
                <a:cs typeface="Calibri"/>
                <a:sym typeface="Calibri"/>
              </a:rPr>
              <a:t>Horizontal axis</a:t>
            </a:r>
            <a:endParaRPr sz="2400">
              <a:solidFill>
                <a:schemeClr val="dk1"/>
              </a:solidFill>
              <a:latin typeface="Calibri"/>
              <a:ea typeface="Calibri"/>
              <a:cs typeface="Calibri"/>
              <a:sym typeface="Calibri"/>
            </a:endParaRPr>
          </a:p>
          <a:p>
            <a:pPr indent="0" lvl="0" marL="457200" rtl="0" algn="just">
              <a:lnSpc>
                <a:spcPct val="100000"/>
              </a:lnSpc>
              <a:spcBef>
                <a:spcPts val="0"/>
              </a:spcBef>
              <a:spcAft>
                <a:spcPts val="0"/>
              </a:spcAft>
              <a:buSzPts val="1400"/>
              <a:buNone/>
            </a:pPr>
            <a:r>
              <a:rPr lang="en-GB" sz="2400">
                <a:solidFill>
                  <a:schemeClr val="dk1"/>
                </a:solidFill>
                <a:latin typeface="Calibri"/>
                <a:ea typeface="Calibri"/>
                <a:cs typeface="Calibri"/>
                <a:sym typeface="Calibri"/>
              </a:rPr>
              <a:t>-Vertical axis</a:t>
            </a:r>
            <a:endParaRPr sz="2400">
              <a:solidFill>
                <a:schemeClr val="dk1"/>
              </a:solidFill>
              <a:latin typeface="Calibri"/>
              <a:ea typeface="Calibri"/>
              <a:cs typeface="Calibri"/>
              <a:sym typeface="Calibri"/>
            </a:endParaRPr>
          </a:p>
          <a:p>
            <a:pPr indent="0" lvl="0" marL="0" rtl="0" algn="just">
              <a:lnSpc>
                <a:spcPct val="90000"/>
              </a:lnSpc>
              <a:spcBef>
                <a:spcPts val="0"/>
              </a:spcBef>
              <a:spcAft>
                <a:spcPts val="0"/>
              </a:spcAft>
              <a:buSzPts val="1400"/>
              <a:buNone/>
            </a:pPr>
            <a:r>
              <a:rPr b="1" lang="en-GB" sz="3200">
                <a:solidFill>
                  <a:srgbClr val="002060"/>
                </a:solidFill>
                <a:latin typeface="Calibri"/>
                <a:ea typeface="Calibri"/>
                <a:cs typeface="Calibri"/>
                <a:sym typeface="Calibri"/>
              </a:rPr>
              <a:t> </a:t>
            </a:r>
            <a:endParaRPr sz="2400">
              <a:solidFill>
                <a:schemeClr val="dk1"/>
              </a:solidFill>
            </a:endParaRPr>
          </a:p>
          <a:p>
            <a:pPr indent="0" lvl="0" marL="457200" rtl="0" algn="just">
              <a:lnSpc>
                <a:spcPct val="90000"/>
              </a:lnSpc>
              <a:spcBef>
                <a:spcPts val="0"/>
              </a:spcBef>
              <a:spcAft>
                <a:spcPts val="0"/>
              </a:spcAft>
              <a:buSzPts val="1400"/>
              <a:buNone/>
            </a:pPr>
            <a:r>
              <a:t/>
            </a:r>
            <a:endParaRPr b="1" sz="3200">
              <a:solidFill>
                <a:srgbClr val="002060"/>
              </a:solidFill>
              <a:latin typeface="Calibri"/>
              <a:ea typeface="Calibri"/>
              <a:cs typeface="Calibri"/>
              <a:sym typeface="Calibri"/>
            </a:endParaRPr>
          </a:p>
        </p:txBody>
      </p:sp>
      <p:sp>
        <p:nvSpPr>
          <p:cNvPr id="230" name="Google Shape;230;p2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231" name="Google Shape;231;p2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9">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2"/>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Analysis Model</a:t>
            </a:r>
            <a:endParaRPr b="1"/>
          </a:p>
        </p:txBody>
      </p:sp>
      <p:sp>
        <p:nvSpPr>
          <p:cNvPr id="237" name="Google Shape;237;p22"/>
          <p:cNvSpPr txBox="1"/>
          <p:nvPr>
            <p:ph idx="1" type="body"/>
          </p:nvPr>
        </p:nvSpPr>
        <p:spPr>
          <a:xfrm>
            <a:off x="318125" y="586350"/>
            <a:ext cx="8826000" cy="2261400"/>
          </a:xfrm>
          <a:prstGeom prst="rect">
            <a:avLst/>
          </a:prstGeom>
          <a:noFill/>
          <a:ln>
            <a:noFill/>
          </a:ln>
        </p:spPr>
        <p:txBody>
          <a:bodyPr anchorCtr="0" anchor="t" bIns="34275" lIns="68575" spcFirstLastPara="1" rIns="68575" wrap="square" tIns="34275">
            <a:noAutofit/>
          </a:bodyPr>
          <a:lstStyle/>
          <a:p>
            <a:pPr indent="0" lvl="0" marL="0" rtl="0" algn="just">
              <a:lnSpc>
                <a:spcPct val="90000"/>
              </a:lnSpc>
              <a:spcBef>
                <a:spcPts val="0"/>
              </a:spcBef>
              <a:spcAft>
                <a:spcPts val="0"/>
              </a:spcAft>
              <a:buSzPts val="1400"/>
              <a:buNone/>
            </a:pPr>
            <a:r>
              <a:rPr b="1" lang="en-GB" sz="3200">
                <a:solidFill>
                  <a:srgbClr val="002060"/>
                </a:solidFill>
                <a:latin typeface="Calibri"/>
                <a:ea typeface="Calibri"/>
                <a:cs typeface="Calibri"/>
                <a:sym typeface="Calibri"/>
              </a:rPr>
              <a:t>Sequence Diagram:</a:t>
            </a:r>
            <a:endParaRPr b="1" sz="3200">
              <a:solidFill>
                <a:srgbClr val="002060"/>
              </a:solidFill>
              <a:latin typeface="Calibri"/>
              <a:ea typeface="Calibri"/>
              <a:cs typeface="Calibri"/>
              <a:sym typeface="Calibri"/>
            </a:endParaRPr>
          </a:p>
          <a:p>
            <a:pPr indent="0" lvl="0" marL="0" rtl="0" algn="just">
              <a:lnSpc>
                <a:spcPct val="100000"/>
              </a:lnSpc>
              <a:spcBef>
                <a:spcPts val="0"/>
              </a:spcBef>
              <a:spcAft>
                <a:spcPts val="0"/>
              </a:spcAft>
              <a:buSzPts val="1400"/>
              <a:buNone/>
            </a:pPr>
            <a:r>
              <a:rPr lang="en-GB" sz="2400">
                <a:solidFill>
                  <a:schemeClr val="dk1"/>
                </a:solidFill>
              </a:rPr>
              <a:t>•</a:t>
            </a:r>
            <a:r>
              <a:rPr lang="en-GB" sz="2400">
                <a:solidFill>
                  <a:schemeClr val="dk1"/>
                </a:solidFill>
                <a:latin typeface="Calibri"/>
                <a:ea typeface="Calibri"/>
                <a:cs typeface="Calibri"/>
                <a:sym typeface="Calibri"/>
              </a:rPr>
              <a:t>The focus is </a:t>
            </a:r>
            <a:r>
              <a:rPr b="1" lang="en-GB" sz="2400">
                <a:solidFill>
                  <a:schemeClr val="dk1"/>
                </a:solidFill>
                <a:latin typeface="Calibri"/>
                <a:ea typeface="Calibri"/>
                <a:cs typeface="Calibri"/>
                <a:sym typeface="Calibri"/>
              </a:rPr>
              <a:t>less on messages </a:t>
            </a:r>
            <a:r>
              <a:rPr lang="en-GB" sz="2400">
                <a:solidFill>
                  <a:schemeClr val="dk1"/>
                </a:solidFill>
                <a:latin typeface="Calibri"/>
                <a:ea typeface="Calibri"/>
                <a:cs typeface="Calibri"/>
                <a:sym typeface="Calibri"/>
              </a:rPr>
              <a:t>themselves and more on the </a:t>
            </a:r>
            <a:r>
              <a:rPr b="1" lang="en-GB" sz="2400">
                <a:solidFill>
                  <a:schemeClr val="dk1"/>
                </a:solidFill>
                <a:latin typeface="Calibri"/>
                <a:ea typeface="Calibri"/>
                <a:cs typeface="Calibri"/>
                <a:sym typeface="Calibri"/>
              </a:rPr>
              <a:t>order in which messages.</a:t>
            </a:r>
            <a:endParaRPr sz="2400">
              <a:solidFill>
                <a:schemeClr val="dk1"/>
              </a:solidFill>
            </a:endParaRPr>
          </a:p>
          <a:p>
            <a:pPr indent="0" lvl="0" marL="0" rtl="0" algn="just">
              <a:lnSpc>
                <a:spcPct val="100000"/>
              </a:lnSpc>
              <a:spcBef>
                <a:spcPts val="0"/>
              </a:spcBef>
              <a:spcAft>
                <a:spcPts val="0"/>
              </a:spcAft>
              <a:buClr>
                <a:schemeClr val="dk1"/>
              </a:buClr>
              <a:buSzPts val="1100"/>
              <a:buFont typeface="Arial"/>
              <a:buNone/>
            </a:pPr>
            <a:r>
              <a:rPr lang="en-GB" sz="2400">
                <a:solidFill>
                  <a:schemeClr val="dk1"/>
                </a:solidFill>
              </a:rPr>
              <a:t>•</a:t>
            </a:r>
            <a:r>
              <a:rPr lang="en-GB" sz="2400">
                <a:solidFill>
                  <a:schemeClr val="dk1"/>
                </a:solidFill>
                <a:latin typeface="Calibri"/>
                <a:ea typeface="Calibri"/>
                <a:cs typeface="Calibri"/>
                <a:sym typeface="Calibri"/>
              </a:rPr>
              <a:t>Sequence diagrams are good at showing </a:t>
            </a:r>
            <a:r>
              <a:rPr b="1" lang="en-GB" sz="2400">
                <a:solidFill>
                  <a:schemeClr val="dk1"/>
                </a:solidFill>
                <a:latin typeface="Calibri"/>
                <a:ea typeface="Calibri"/>
                <a:cs typeface="Calibri"/>
                <a:sym typeface="Calibri"/>
              </a:rPr>
              <a:t>which objects communicate </a:t>
            </a:r>
            <a:r>
              <a:rPr lang="en-GB" sz="2400">
                <a:solidFill>
                  <a:schemeClr val="dk1"/>
                </a:solidFill>
                <a:latin typeface="Calibri"/>
                <a:ea typeface="Calibri"/>
                <a:cs typeface="Calibri"/>
                <a:sym typeface="Calibri"/>
              </a:rPr>
              <a:t>with which other objects; and what messages </a:t>
            </a:r>
            <a:r>
              <a:rPr b="1" lang="en-GB" sz="2400">
                <a:solidFill>
                  <a:schemeClr val="dk1"/>
                </a:solidFill>
                <a:latin typeface="Calibri"/>
                <a:ea typeface="Calibri"/>
                <a:cs typeface="Calibri"/>
                <a:sym typeface="Calibri"/>
              </a:rPr>
              <a:t>trigger those communications.</a:t>
            </a:r>
            <a:endParaRPr b="1" sz="2400">
              <a:solidFill>
                <a:schemeClr val="dk1"/>
              </a:solidFill>
              <a:latin typeface="Calibri"/>
              <a:ea typeface="Calibri"/>
              <a:cs typeface="Calibri"/>
              <a:sym typeface="Calibri"/>
            </a:endParaRPr>
          </a:p>
          <a:p>
            <a:pPr indent="0" lvl="0" marL="0" rtl="0" algn="just">
              <a:lnSpc>
                <a:spcPct val="100000"/>
              </a:lnSpc>
              <a:spcBef>
                <a:spcPts val="0"/>
              </a:spcBef>
              <a:spcAft>
                <a:spcPts val="0"/>
              </a:spcAft>
              <a:buSzPts val="1400"/>
              <a:buNone/>
            </a:pPr>
            <a:r>
              <a:t/>
            </a:r>
            <a:endParaRPr sz="2400">
              <a:solidFill>
                <a:schemeClr val="dk1"/>
              </a:solidFill>
              <a:latin typeface="Calibri"/>
              <a:ea typeface="Calibri"/>
              <a:cs typeface="Calibri"/>
              <a:sym typeface="Calibri"/>
            </a:endParaRPr>
          </a:p>
          <a:p>
            <a:pPr indent="0" lvl="0" marL="0" rtl="0" algn="just">
              <a:lnSpc>
                <a:spcPct val="90000"/>
              </a:lnSpc>
              <a:spcBef>
                <a:spcPts val="0"/>
              </a:spcBef>
              <a:spcAft>
                <a:spcPts val="0"/>
              </a:spcAft>
              <a:buSzPts val="1400"/>
              <a:buNone/>
            </a:pPr>
            <a:r>
              <a:rPr b="1" lang="en-GB" sz="3200">
                <a:solidFill>
                  <a:srgbClr val="002060"/>
                </a:solidFill>
                <a:latin typeface="Calibri"/>
                <a:ea typeface="Calibri"/>
                <a:cs typeface="Calibri"/>
                <a:sym typeface="Calibri"/>
              </a:rPr>
              <a:t> </a:t>
            </a:r>
            <a:endParaRPr sz="2400">
              <a:solidFill>
                <a:schemeClr val="dk1"/>
              </a:solidFill>
            </a:endParaRPr>
          </a:p>
          <a:p>
            <a:pPr indent="0" lvl="0" marL="457200" rtl="0" algn="just">
              <a:lnSpc>
                <a:spcPct val="90000"/>
              </a:lnSpc>
              <a:spcBef>
                <a:spcPts val="0"/>
              </a:spcBef>
              <a:spcAft>
                <a:spcPts val="0"/>
              </a:spcAft>
              <a:buSzPts val="1400"/>
              <a:buNone/>
            </a:pPr>
            <a:r>
              <a:t/>
            </a:r>
            <a:endParaRPr b="1" sz="3200">
              <a:solidFill>
                <a:srgbClr val="002060"/>
              </a:solidFill>
              <a:latin typeface="Calibri"/>
              <a:ea typeface="Calibri"/>
              <a:cs typeface="Calibri"/>
              <a:sym typeface="Calibri"/>
            </a:endParaRPr>
          </a:p>
        </p:txBody>
      </p:sp>
      <p:sp>
        <p:nvSpPr>
          <p:cNvPr id="238" name="Google Shape;238;p2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239" name="Google Shape;239;p2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7">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23"/>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Analysis Model</a:t>
            </a:r>
            <a:endParaRPr b="1"/>
          </a:p>
        </p:txBody>
      </p:sp>
      <p:sp>
        <p:nvSpPr>
          <p:cNvPr id="245" name="Google Shape;245;p23"/>
          <p:cNvSpPr txBox="1"/>
          <p:nvPr>
            <p:ph idx="1" type="body"/>
          </p:nvPr>
        </p:nvSpPr>
        <p:spPr>
          <a:xfrm>
            <a:off x="318125" y="586350"/>
            <a:ext cx="8826000" cy="2261400"/>
          </a:xfrm>
          <a:prstGeom prst="rect">
            <a:avLst/>
          </a:prstGeom>
          <a:noFill/>
          <a:ln>
            <a:noFill/>
          </a:ln>
        </p:spPr>
        <p:txBody>
          <a:bodyPr anchorCtr="0" anchor="t" bIns="34275" lIns="68575" spcFirstLastPara="1" rIns="68575" wrap="square" tIns="34275">
            <a:noAutofit/>
          </a:bodyPr>
          <a:lstStyle/>
          <a:p>
            <a:pPr indent="0" lvl="0" marL="0" rtl="0" algn="just">
              <a:lnSpc>
                <a:spcPct val="90000"/>
              </a:lnSpc>
              <a:spcBef>
                <a:spcPts val="0"/>
              </a:spcBef>
              <a:spcAft>
                <a:spcPts val="0"/>
              </a:spcAft>
              <a:buSzPts val="1400"/>
              <a:buNone/>
            </a:pPr>
            <a:r>
              <a:rPr b="1" lang="en-GB" sz="3200">
                <a:solidFill>
                  <a:srgbClr val="002060"/>
                </a:solidFill>
                <a:latin typeface="Calibri"/>
                <a:ea typeface="Calibri"/>
                <a:cs typeface="Calibri"/>
                <a:sym typeface="Calibri"/>
              </a:rPr>
              <a:t>Participant in Sequence Diagram:</a:t>
            </a:r>
            <a:endParaRPr b="1" sz="3200">
              <a:solidFill>
                <a:srgbClr val="002060"/>
              </a:solidFill>
              <a:latin typeface="Calibri"/>
              <a:ea typeface="Calibri"/>
              <a:cs typeface="Calibri"/>
              <a:sym typeface="Calibri"/>
            </a:endParaRPr>
          </a:p>
          <a:p>
            <a:pPr indent="-381000" lvl="0" marL="457200" rtl="0" algn="just">
              <a:lnSpc>
                <a:spcPct val="100000"/>
              </a:lnSpc>
              <a:spcBef>
                <a:spcPts val="800"/>
              </a:spcBef>
              <a:spcAft>
                <a:spcPts val="0"/>
              </a:spcAft>
              <a:buClr>
                <a:schemeClr val="dk1"/>
              </a:buClr>
              <a:buSzPts val="2400"/>
              <a:buFont typeface="Calibri"/>
              <a:buChar char="●"/>
            </a:pPr>
            <a:r>
              <a:rPr lang="en-GB" sz="2400">
                <a:solidFill>
                  <a:schemeClr val="dk1"/>
                </a:solidFill>
                <a:latin typeface="Calibri"/>
                <a:ea typeface="Calibri"/>
                <a:cs typeface="Calibri"/>
                <a:sym typeface="Calibri"/>
              </a:rPr>
              <a:t>A sequence diagram is made up of a collection of participants.</a:t>
            </a:r>
            <a:endParaRPr sz="2400">
              <a:solidFill>
                <a:schemeClr val="dk1"/>
              </a:solidFill>
              <a:latin typeface="Calibri"/>
              <a:ea typeface="Calibri"/>
              <a:cs typeface="Calibri"/>
              <a:sym typeface="Calibri"/>
            </a:endParaRPr>
          </a:p>
          <a:p>
            <a:pPr indent="-381000" lvl="0" marL="457200" rtl="0" algn="just">
              <a:lnSpc>
                <a:spcPct val="100000"/>
              </a:lnSpc>
              <a:spcBef>
                <a:spcPts val="0"/>
              </a:spcBef>
              <a:spcAft>
                <a:spcPts val="0"/>
              </a:spcAft>
              <a:buClr>
                <a:schemeClr val="dk1"/>
              </a:buClr>
              <a:buSzPts val="2400"/>
              <a:buFont typeface="Calibri"/>
              <a:buChar char="●"/>
            </a:pPr>
            <a:r>
              <a:rPr lang="en-GB" sz="2400">
                <a:solidFill>
                  <a:schemeClr val="dk1"/>
                </a:solidFill>
                <a:latin typeface="Calibri"/>
                <a:ea typeface="Calibri"/>
                <a:cs typeface="Calibri"/>
                <a:sym typeface="Calibri"/>
              </a:rPr>
              <a:t>Participants – the system parts that interact each other during the sequence.</a:t>
            </a:r>
            <a:endParaRPr sz="2400">
              <a:solidFill>
                <a:schemeClr val="dk1"/>
              </a:solidFill>
              <a:latin typeface="Calibri"/>
              <a:ea typeface="Calibri"/>
              <a:cs typeface="Calibri"/>
              <a:sym typeface="Calibri"/>
            </a:endParaRPr>
          </a:p>
          <a:p>
            <a:pPr indent="-381000" lvl="0" marL="457200" rtl="0" algn="just">
              <a:lnSpc>
                <a:spcPct val="100000"/>
              </a:lnSpc>
              <a:spcBef>
                <a:spcPts val="0"/>
              </a:spcBef>
              <a:spcAft>
                <a:spcPts val="0"/>
              </a:spcAft>
              <a:buClr>
                <a:schemeClr val="dk1"/>
              </a:buClr>
              <a:buSzPts val="2400"/>
              <a:buFont typeface="Calibri"/>
              <a:buChar char="●"/>
            </a:pPr>
            <a:r>
              <a:rPr lang="en-GB" sz="2400">
                <a:solidFill>
                  <a:schemeClr val="dk1"/>
                </a:solidFill>
                <a:latin typeface="Calibri"/>
                <a:ea typeface="Calibri"/>
                <a:cs typeface="Calibri"/>
                <a:sym typeface="Calibri"/>
              </a:rPr>
              <a:t>Classes or Objects – each class (object) in the interaction is represented by its named icon along the top of the diagram </a:t>
            </a:r>
            <a:endParaRPr sz="2400">
              <a:solidFill>
                <a:schemeClr val="dk1"/>
              </a:solidFill>
              <a:latin typeface="Calibri"/>
              <a:ea typeface="Calibri"/>
              <a:cs typeface="Calibri"/>
              <a:sym typeface="Calibri"/>
            </a:endParaRPr>
          </a:p>
          <a:p>
            <a:pPr indent="0" lvl="0" marL="457200" rtl="0" algn="just">
              <a:lnSpc>
                <a:spcPct val="90000"/>
              </a:lnSpc>
              <a:spcBef>
                <a:spcPts val="1000"/>
              </a:spcBef>
              <a:spcAft>
                <a:spcPts val="0"/>
              </a:spcAft>
              <a:buSzPts val="1400"/>
              <a:buNone/>
            </a:pPr>
            <a:r>
              <a:t/>
            </a:r>
            <a:endParaRPr sz="2400">
              <a:solidFill>
                <a:schemeClr val="dk1"/>
              </a:solidFill>
            </a:endParaRPr>
          </a:p>
        </p:txBody>
      </p:sp>
      <p:sp>
        <p:nvSpPr>
          <p:cNvPr id="246" name="Google Shape;246;p2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247" name="Google Shape;247;p2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24"/>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Analysis Model</a:t>
            </a:r>
            <a:endParaRPr b="1"/>
          </a:p>
        </p:txBody>
      </p:sp>
      <p:sp>
        <p:nvSpPr>
          <p:cNvPr id="253" name="Google Shape;253;p24"/>
          <p:cNvSpPr txBox="1"/>
          <p:nvPr>
            <p:ph idx="1" type="body"/>
          </p:nvPr>
        </p:nvSpPr>
        <p:spPr>
          <a:xfrm>
            <a:off x="318125" y="586350"/>
            <a:ext cx="4407900" cy="2261400"/>
          </a:xfrm>
          <a:prstGeom prst="rect">
            <a:avLst/>
          </a:prstGeom>
          <a:noFill/>
          <a:ln>
            <a:noFill/>
          </a:ln>
        </p:spPr>
        <p:txBody>
          <a:bodyPr anchorCtr="0" anchor="t" bIns="34275" lIns="68575" spcFirstLastPara="1" rIns="68575" wrap="square" tIns="34275">
            <a:noAutofit/>
          </a:bodyPr>
          <a:lstStyle/>
          <a:p>
            <a:pPr indent="0" lvl="0" marL="0" rtl="0" algn="just">
              <a:lnSpc>
                <a:spcPct val="90000"/>
              </a:lnSpc>
              <a:spcBef>
                <a:spcPts val="0"/>
              </a:spcBef>
              <a:spcAft>
                <a:spcPts val="0"/>
              </a:spcAft>
              <a:buSzPts val="1400"/>
              <a:buNone/>
            </a:pPr>
            <a:r>
              <a:rPr b="1" lang="en-GB" sz="3200">
                <a:solidFill>
                  <a:srgbClr val="002060"/>
                </a:solidFill>
                <a:latin typeface="Calibri"/>
                <a:ea typeface="Calibri"/>
                <a:cs typeface="Calibri"/>
                <a:sym typeface="Calibri"/>
              </a:rPr>
              <a:t>Elements of  Sequence Diagram:</a:t>
            </a:r>
            <a:endParaRPr b="1" sz="3200">
              <a:solidFill>
                <a:srgbClr val="002060"/>
              </a:solidFill>
              <a:latin typeface="Calibri"/>
              <a:ea typeface="Calibri"/>
              <a:cs typeface="Calibri"/>
              <a:sym typeface="Calibri"/>
            </a:endParaRPr>
          </a:p>
          <a:p>
            <a:pPr indent="0" lvl="0" marL="0" rtl="0" algn="l">
              <a:lnSpc>
                <a:spcPct val="100000"/>
              </a:lnSpc>
              <a:spcBef>
                <a:spcPts val="0"/>
              </a:spcBef>
              <a:spcAft>
                <a:spcPts val="0"/>
              </a:spcAft>
              <a:buClr>
                <a:schemeClr val="dk1"/>
              </a:buClr>
              <a:buSzPts val="1100"/>
              <a:buFont typeface="Arial"/>
              <a:buNone/>
            </a:pPr>
            <a:r>
              <a:rPr lang="en-GB" sz="2500">
                <a:solidFill>
                  <a:schemeClr val="dk1"/>
                </a:solidFill>
              </a:rPr>
              <a:t>•</a:t>
            </a:r>
            <a:r>
              <a:rPr lang="en-GB" sz="2500">
                <a:solidFill>
                  <a:schemeClr val="dk1"/>
                </a:solidFill>
                <a:latin typeface="Calibri"/>
                <a:ea typeface="Calibri"/>
                <a:cs typeface="Calibri"/>
                <a:sym typeface="Calibri"/>
              </a:rPr>
              <a:t>Actor</a:t>
            </a:r>
            <a:endParaRPr sz="2500">
              <a:solidFill>
                <a:schemeClr val="dk1"/>
              </a:solidFill>
              <a:latin typeface="Calibri"/>
              <a:ea typeface="Calibri"/>
              <a:cs typeface="Calibri"/>
              <a:sym typeface="Calibri"/>
            </a:endParaRPr>
          </a:p>
          <a:p>
            <a:pPr indent="0" lvl="0" marL="0" rtl="0" algn="l">
              <a:lnSpc>
                <a:spcPct val="100000"/>
              </a:lnSpc>
              <a:spcBef>
                <a:spcPts val="0"/>
              </a:spcBef>
              <a:spcAft>
                <a:spcPts val="0"/>
              </a:spcAft>
              <a:buClr>
                <a:schemeClr val="dk1"/>
              </a:buClr>
              <a:buSzPts val="1100"/>
              <a:buFont typeface="Arial"/>
              <a:buNone/>
            </a:pPr>
            <a:r>
              <a:rPr lang="en-GB" sz="2500">
                <a:solidFill>
                  <a:schemeClr val="dk1"/>
                </a:solidFill>
              </a:rPr>
              <a:t>•</a:t>
            </a:r>
            <a:r>
              <a:rPr lang="en-GB" sz="2500">
                <a:solidFill>
                  <a:schemeClr val="dk1"/>
                </a:solidFill>
                <a:latin typeface="Calibri"/>
                <a:ea typeface="Calibri"/>
                <a:cs typeface="Calibri"/>
                <a:sym typeface="Calibri"/>
              </a:rPr>
              <a:t>Objects</a:t>
            </a:r>
            <a:endParaRPr sz="2500">
              <a:solidFill>
                <a:schemeClr val="dk1"/>
              </a:solidFill>
              <a:latin typeface="Calibri"/>
              <a:ea typeface="Calibri"/>
              <a:cs typeface="Calibri"/>
              <a:sym typeface="Calibri"/>
            </a:endParaRPr>
          </a:p>
          <a:p>
            <a:pPr indent="0" lvl="0" marL="0" rtl="0" algn="l">
              <a:lnSpc>
                <a:spcPct val="100000"/>
              </a:lnSpc>
              <a:spcBef>
                <a:spcPts val="0"/>
              </a:spcBef>
              <a:spcAft>
                <a:spcPts val="0"/>
              </a:spcAft>
              <a:buClr>
                <a:schemeClr val="dk1"/>
              </a:buClr>
              <a:buSzPts val="1100"/>
              <a:buFont typeface="Arial"/>
              <a:buNone/>
            </a:pPr>
            <a:r>
              <a:rPr lang="en-GB" sz="2500">
                <a:solidFill>
                  <a:schemeClr val="dk1"/>
                </a:solidFill>
              </a:rPr>
              <a:t>•</a:t>
            </a:r>
            <a:r>
              <a:rPr lang="en-GB" sz="2500">
                <a:solidFill>
                  <a:schemeClr val="dk1"/>
                </a:solidFill>
                <a:latin typeface="Calibri"/>
                <a:ea typeface="Calibri"/>
                <a:cs typeface="Calibri"/>
                <a:sym typeface="Calibri"/>
              </a:rPr>
              <a:t>Lifelines</a:t>
            </a:r>
            <a:endParaRPr sz="2500">
              <a:solidFill>
                <a:schemeClr val="dk1"/>
              </a:solidFill>
              <a:latin typeface="Calibri"/>
              <a:ea typeface="Calibri"/>
              <a:cs typeface="Calibri"/>
              <a:sym typeface="Calibri"/>
            </a:endParaRPr>
          </a:p>
          <a:p>
            <a:pPr indent="0" lvl="0" marL="0" rtl="0" algn="l">
              <a:lnSpc>
                <a:spcPct val="100000"/>
              </a:lnSpc>
              <a:spcBef>
                <a:spcPts val="0"/>
              </a:spcBef>
              <a:spcAft>
                <a:spcPts val="0"/>
              </a:spcAft>
              <a:buClr>
                <a:schemeClr val="dk1"/>
              </a:buClr>
              <a:buSzPts val="1100"/>
              <a:buFont typeface="Arial"/>
              <a:buNone/>
            </a:pPr>
            <a:r>
              <a:rPr lang="en-GB" sz="2500">
                <a:solidFill>
                  <a:schemeClr val="dk1"/>
                </a:solidFill>
              </a:rPr>
              <a:t>•</a:t>
            </a:r>
            <a:r>
              <a:rPr lang="en-GB" sz="2500">
                <a:solidFill>
                  <a:schemeClr val="dk1"/>
                </a:solidFill>
                <a:latin typeface="Calibri"/>
                <a:ea typeface="Calibri"/>
                <a:cs typeface="Calibri"/>
                <a:sym typeface="Calibri"/>
              </a:rPr>
              <a:t>Messages</a:t>
            </a:r>
            <a:endParaRPr sz="2500">
              <a:solidFill>
                <a:schemeClr val="dk1"/>
              </a:solidFill>
              <a:latin typeface="Calibri"/>
              <a:ea typeface="Calibri"/>
              <a:cs typeface="Calibri"/>
              <a:sym typeface="Calibri"/>
            </a:endParaRPr>
          </a:p>
          <a:p>
            <a:pPr indent="0" lvl="0" marL="0" rtl="0" algn="l">
              <a:lnSpc>
                <a:spcPct val="100000"/>
              </a:lnSpc>
              <a:spcBef>
                <a:spcPts val="0"/>
              </a:spcBef>
              <a:spcAft>
                <a:spcPts val="0"/>
              </a:spcAft>
              <a:buClr>
                <a:schemeClr val="dk1"/>
              </a:buClr>
              <a:buSzPts val="1100"/>
              <a:buFont typeface="Arial"/>
              <a:buNone/>
            </a:pPr>
            <a:r>
              <a:rPr lang="en-GB" sz="2500">
                <a:solidFill>
                  <a:schemeClr val="dk1"/>
                </a:solidFill>
              </a:rPr>
              <a:t>•</a:t>
            </a:r>
            <a:r>
              <a:rPr lang="en-GB" sz="2500">
                <a:solidFill>
                  <a:schemeClr val="dk1"/>
                </a:solidFill>
                <a:latin typeface="Calibri"/>
                <a:ea typeface="Calibri"/>
                <a:cs typeface="Calibri"/>
                <a:sym typeface="Calibri"/>
              </a:rPr>
              <a:t>Activation: represents time an object needs to complete task</a:t>
            </a:r>
            <a:endParaRPr sz="2500">
              <a:solidFill>
                <a:schemeClr val="dk1"/>
              </a:solidFill>
              <a:latin typeface="Calibri"/>
              <a:ea typeface="Calibri"/>
              <a:cs typeface="Calibri"/>
              <a:sym typeface="Calibri"/>
            </a:endParaRPr>
          </a:p>
          <a:p>
            <a:pPr indent="0" lvl="0" marL="457200" rtl="0" algn="just">
              <a:lnSpc>
                <a:spcPct val="90000"/>
              </a:lnSpc>
              <a:spcBef>
                <a:spcPts val="0"/>
              </a:spcBef>
              <a:spcAft>
                <a:spcPts val="0"/>
              </a:spcAft>
              <a:buSzPts val="1400"/>
              <a:buNone/>
            </a:pPr>
            <a:r>
              <a:t/>
            </a:r>
            <a:endParaRPr sz="2400">
              <a:solidFill>
                <a:schemeClr val="dk1"/>
              </a:solidFill>
              <a:latin typeface="Calibri"/>
              <a:ea typeface="Calibri"/>
              <a:cs typeface="Calibri"/>
              <a:sym typeface="Calibri"/>
            </a:endParaRPr>
          </a:p>
        </p:txBody>
      </p:sp>
      <p:sp>
        <p:nvSpPr>
          <p:cNvPr id="254" name="Google Shape;254;p2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255" name="Google Shape;255;p2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pic>
        <p:nvPicPr>
          <p:cNvPr id="256" name="Google Shape;256;p24"/>
          <p:cNvPicPr preferRelativeResize="0"/>
          <p:nvPr/>
        </p:nvPicPr>
        <p:blipFill rotWithShape="1">
          <a:blip r:embed="rId3">
            <a:alphaModFix/>
          </a:blip>
          <a:srcRect b="0" l="0" r="0" t="0"/>
          <a:stretch/>
        </p:blipFill>
        <p:spPr>
          <a:xfrm>
            <a:off x="4726025" y="1754297"/>
            <a:ext cx="4113175" cy="226644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3">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25"/>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Analysis Model</a:t>
            </a:r>
            <a:endParaRPr b="1"/>
          </a:p>
        </p:txBody>
      </p:sp>
      <p:sp>
        <p:nvSpPr>
          <p:cNvPr id="262" name="Google Shape;262;p25"/>
          <p:cNvSpPr txBox="1"/>
          <p:nvPr>
            <p:ph idx="1" type="body"/>
          </p:nvPr>
        </p:nvSpPr>
        <p:spPr>
          <a:xfrm>
            <a:off x="318125" y="586350"/>
            <a:ext cx="5260800" cy="2261400"/>
          </a:xfrm>
          <a:prstGeom prst="rect">
            <a:avLst/>
          </a:prstGeom>
          <a:noFill/>
          <a:ln>
            <a:noFill/>
          </a:ln>
        </p:spPr>
        <p:txBody>
          <a:bodyPr anchorCtr="0" anchor="t" bIns="34275" lIns="68575" spcFirstLastPara="1" rIns="68575" wrap="square" tIns="34275">
            <a:noAutofit/>
          </a:bodyPr>
          <a:lstStyle/>
          <a:p>
            <a:pPr indent="0" lvl="0" marL="0" rtl="0" algn="just">
              <a:lnSpc>
                <a:spcPct val="90000"/>
              </a:lnSpc>
              <a:spcBef>
                <a:spcPts val="0"/>
              </a:spcBef>
              <a:spcAft>
                <a:spcPts val="0"/>
              </a:spcAft>
              <a:buSzPts val="1400"/>
              <a:buNone/>
            </a:pPr>
            <a:r>
              <a:rPr b="1" lang="en-GB" sz="3200">
                <a:solidFill>
                  <a:srgbClr val="002060"/>
                </a:solidFill>
                <a:latin typeface="Calibri"/>
                <a:ea typeface="Calibri"/>
                <a:cs typeface="Calibri"/>
                <a:sym typeface="Calibri"/>
              </a:rPr>
              <a:t>Elements of  Sequence Diagram:</a:t>
            </a:r>
            <a:endParaRPr b="1" sz="3200">
              <a:solidFill>
                <a:srgbClr val="002060"/>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GB" sz="3200">
                <a:solidFill>
                  <a:schemeClr val="dk1"/>
                </a:solidFill>
              </a:rPr>
              <a:t>•</a:t>
            </a:r>
            <a:r>
              <a:rPr b="1" lang="en-GB" sz="2200">
                <a:solidFill>
                  <a:schemeClr val="dk1"/>
                </a:solidFill>
                <a:latin typeface="Calibri"/>
                <a:ea typeface="Calibri"/>
                <a:cs typeface="Calibri"/>
                <a:sym typeface="Calibri"/>
              </a:rPr>
              <a:t>Class Roles or Participants or Objects</a:t>
            </a:r>
            <a:r>
              <a:rPr lang="en-GB" sz="2200">
                <a:solidFill>
                  <a:schemeClr val="dk1"/>
                </a:solidFill>
                <a:latin typeface="Calibri"/>
                <a:ea typeface="Calibri"/>
                <a:cs typeface="Calibri"/>
                <a:sym typeface="Calibri"/>
              </a:rPr>
              <a:t>: Class roles describe the way an object will behave in context.</a:t>
            </a:r>
            <a:endParaRPr sz="2200">
              <a:solidFill>
                <a:schemeClr val="dk1"/>
              </a:solidFill>
              <a:latin typeface="Calibri"/>
              <a:ea typeface="Calibri"/>
              <a:cs typeface="Calibri"/>
              <a:sym typeface="Calibri"/>
            </a:endParaRPr>
          </a:p>
          <a:p>
            <a:pPr indent="-342900" lvl="0" marL="342900" rtl="0" algn="just">
              <a:lnSpc>
                <a:spcPct val="100000"/>
              </a:lnSpc>
              <a:spcBef>
                <a:spcPts val="800"/>
              </a:spcBef>
              <a:spcAft>
                <a:spcPts val="0"/>
              </a:spcAft>
              <a:buSzPts val="1400"/>
              <a:buChar char="●"/>
            </a:pPr>
            <a:r>
              <a:rPr b="1" lang="en-GB" sz="2200">
                <a:solidFill>
                  <a:schemeClr val="dk1"/>
                </a:solidFill>
                <a:latin typeface="Calibri"/>
                <a:ea typeface="Calibri"/>
                <a:cs typeface="Calibri"/>
                <a:sym typeface="Calibri"/>
              </a:rPr>
              <a:t>Activation or Execution Occurrence</a:t>
            </a:r>
            <a:endParaRPr b="1" sz="2200">
              <a:solidFill>
                <a:schemeClr val="dk1"/>
              </a:solidFill>
              <a:latin typeface="Calibri"/>
              <a:ea typeface="Calibri"/>
              <a:cs typeface="Calibri"/>
              <a:sym typeface="Calibri"/>
            </a:endParaRPr>
          </a:p>
          <a:p>
            <a:pPr indent="0" lvl="0" marL="0" rtl="0" algn="just">
              <a:lnSpc>
                <a:spcPct val="100000"/>
              </a:lnSpc>
              <a:spcBef>
                <a:spcPts val="0"/>
              </a:spcBef>
              <a:spcAft>
                <a:spcPts val="0"/>
              </a:spcAft>
              <a:buSzPts val="1400"/>
              <a:buNone/>
            </a:pPr>
            <a:r>
              <a:rPr lang="en-GB" sz="2200">
                <a:solidFill>
                  <a:schemeClr val="dk1"/>
                </a:solidFill>
                <a:latin typeface="Calibri"/>
                <a:ea typeface="Calibri"/>
                <a:cs typeface="Calibri"/>
                <a:sym typeface="Calibri"/>
              </a:rPr>
              <a:t>When an object is busy executing a process or waiting for a reply message, use a thin gray rectangle placed vertically on its lifeline.</a:t>
            </a:r>
            <a:endParaRPr sz="2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sz="2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sz="2200">
              <a:solidFill>
                <a:schemeClr val="dk1"/>
              </a:solidFill>
              <a:latin typeface="Calibri"/>
              <a:ea typeface="Calibri"/>
              <a:cs typeface="Calibri"/>
              <a:sym typeface="Calibri"/>
            </a:endParaRPr>
          </a:p>
          <a:p>
            <a:pPr indent="0" lvl="0" marL="457200" rtl="0" algn="just">
              <a:lnSpc>
                <a:spcPct val="90000"/>
              </a:lnSpc>
              <a:spcBef>
                <a:spcPts val="0"/>
              </a:spcBef>
              <a:spcAft>
                <a:spcPts val="0"/>
              </a:spcAft>
              <a:buSzPts val="1400"/>
              <a:buNone/>
            </a:pPr>
            <a:r>
              <a:t/>
            </a:r>
            <a:endParaRPr sz="2400">
              <a:solidFill>
                <a:schemeClr val="dk1"/>
              </a:solidFill>
              <a:latin typeface="Calibri"/>
              <a:ea typeface="Calibri"/>
              <a:cs typeface="Calibri"/>
              <a:sym typeface="Calibri"/>
            </a:endParaRPr>
          </a:p>
        </p:txBody>
      </p:sp>
      <p:sp>
        <p:nvSpPr>
          <p:cNvPr id="263" name="Google Shape;263;p2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264" name="Google Shape;264;p2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pic>
        <p:nvPicPr>
          <p:cNvPr id="265" name="Google Shape;265;p25"/>
          <p:cNvPicPr preferRelativeResize="0"/>
          <p:nvPr/>
        </p:nvPicPr>
        <p:blipFill rotWithShape="1">
          <a:blip r:embed="rId3">
            <a:alphaModFix/>
          </a:blip>
          <a:srcRect b="0" l="0" r="0" t="0"/>
          <a:stretch/>
        </p:blipFill>
        <p:spPr>
          <a:xfrm>
            <a:off x="5772150" y="1345572"/>
            <a:ext cx="2743200" cy="742950"/>
          </a:xfrm>
          <a:prstGeom prst="rect">
            <a:avLst/>
          </a:prstGeom>
          <a:noFill/>
          <a:ln>
            <a:noFill/>
          </a:ln>
        </p:spPr>
      </p:pic>
      <p:pic>
        <p:nvPicPr>
          <p:cNvPr id="266" name="Google Shape;266;p25"/>
          <p:cNvPicPr preferRelativeResize="0"/>
          <p:nvPr/>
        </p:nvPicPr>
        <p:blipFill rotWithShape="1">
          <a:blip r:embed="rId4">
            <a:alphaModFix/>
          </a:blip>
          <a:srcRect b="0" l="0" r="0" t="0"/>
          <a:stretch/>
        </p:blipFill>
        <p:spPr>
          <a:xfrm>
            <a:off x="5829025" y="2329772"/>
            <a:ext cx="1879369" cy="237394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2">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26"/>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Analysis Model</a:t>
            </a:r>
            <a:endParaRPr b="1"/>
          </a:p>
        </p:txBody>
      </p:sp>
      <p:sp>
        <p:nvSpPr>
          <p:cNvPr id="272" name="Google Shape;272;p26"/>
          <p:cNvSpPr txBox="1"/>
          <p:nvPr>
            <p:ph idx="1" type="body"/>
          </p:nvPr>
        </p:nvSpPr>
        <p:spPr>
          <a:xfrm>
            <a:off x="318125" y="586350"/>
            <a:ext cx="5260800" cy="2261400"/>
          </a:xfrm>
          <a:prstGeom prst="rect">
            <a:avLst/>
          </a:prstGeom>
          <a:noFill/>
          <a:ln>
            <a:noFill/>
          </a:ln>
        </p:spPr>
        <p:txBody>
          <a:bodyPr anchorCtr="0" anchor="t" bIns="34275" lIns="68575" spcFirstLastPara="1" rIns="68575" wrap="square" tIns="34275">
            <a:noAutofit/>
          </a:bodyPr>
          <a:lstStyle/>
          <a:p>
            <a:pPr indent="0" lvl="0" marL="0" rtl="0" algn="just">
              <a:lnSpc>
                <a:spcPct val="90000"/>
              </a:lnSpc>
              <a:spcBef>
                <a:spcPts val="0"/>
              </a:spcBef>
              <a:spcAft>
                <a:spcPts val="0"/>
              </a:spcAft>
              <a:buSzPts val="1400"/>
              <a:buNone/>
            </a:pPr>
            <a:r>
              <a:rPr b="1" lang="en-GB" sz="3200">
                <a:solidFill>
                  <a:srgbClr val="002060"/>
                </a:solidFill>
                <a:latin typeface="Calibri"/>
                <a:ea typeface="Calibri"/>
                <a:cs typeface="Calibri"/>
                <a:sym typeface="Calibri"/>
              </a:rPr>
              <a:t>Elements of  Sequence Diagram:</a:t>
            </a:r>
            <a:endParaRPr b="1" sz="3200">
              <a:solidFill>
                <a:srgbClr val="002060"/>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GB" sz="2200">
                <a:solidFill>
                  <a:schemeClr val="dk1"/>
                </a:solidFill>
              </a:rPr>
              <a:t>•</a:t>
            </a:r>
            <a:r>
              <a:rPr b="1" lang="en-GB" sz="2200">
                <a:solidFill>
                  <a:schemeClr val="dk1"/>
                </a:solidFill>
                <a:latin typeface="Calibri"/>
                <a:ea typeface="Calibri"/>
                <a:cs typeface="Calibri"/>
                <a:sym typeface="Calibri"/>
              </a:rPr>
              <a:t>Synchronous Message</a:t>
            </a:r>
            <a:endParaRPr b="1" sz="2200">
              <a:solidFill>
                <a:schemeClr val="dk1"/>
              </a:solidFill>
              <a:latin typeface="Calibri"/>
              <a:ea typeface="Calibri"/>
              <a:cs typeface="Calibri"/>
              <a:sym typeface="Calibri"/>
            </a:endParaRPr>
          </a:p>
          <a:p>
            <a:pPr indent="0" lvl="0" marL="0" rtl="0" algn="just">
              <a:lnSpc>
                <a:spcPct val="100000"/>
              </a:lnSpc>
              <a:spcBef>
                <a:spcPts val="0"/>
              </a:spcBef>
              <a:spcAft>
                <a:spcPts val="0"/>
              </a:spcAft>
              <a:buSzPts val="1400"/>
              <a:buNone/>
            </a:pPr>
            <a:r>
              <a:rPr lang="en-GB" sz="2200">
                <a:solidFill>
                  <a:schemeClr val="dk1"/>
                </a:solidFill>
              </a:rPr>
              <a:t>•</a:t>
            </a:r>
            <a:r>
              <a:rPr lang="en-GB" sz="2200">
                <a:solidFill>
                  <a:schemeClr val="dk1"/>
                </a:solidFill>
                <a:latin typeface="Calibri"/>
                <a:ea typeface="Calibri"/>
                <a:cs typeface="Calibri"/>
                <a:sym typeface="Calibri"/>
              </a:rPr>
              <a:t>A synchronous message requires a response before the interaction can continue.</a:t>
            </a:r>
            <a:endParaRPr sz="2200">
              <a:solidFill>
                <a:schemeClr val="dk1"/>
              </a:solidFill>
              <a:latin typeface="Calibri"/>
              <a:ea typeface="Calibri"/>
              <a:cs typeface="Calibri"/>
              <a:sym typeface="Calibri"/>
            </a:endParaRPr>
          </a:p>
          <a:p>
            <a:pPr indent="0" lvl="0" marL="0" rtl="0" algn="just">
              <a:lnSpc>
                <a:spcPct val="100000"/>
              </a:lnSpc>
              <a:spcBef>
                <a:spcPts val="0"/>
              </a:spcBef>
              <a:spcAft>
                <a:spcPts val="0"/>
              </a:spcAft>
              <a:buSzPts val="1400"/>
              <a:buNone/>
            </a:pPr>
            <a:r>
              <a:rPr lang="en-GB" sz="2200">
                <a:solidFill>
                  <a:schemeClr val="dk1"/>
                </a:solidFill>
              </a:rPr>
              <a:t>•</a:t>
            </a:r>
            <a:r>
              <a:rPr lang="en-GB" sz="2200">
                <a:solidFill>
                  <a:schemeClr val="dk1"/>
                </a:solidFill>
                <a:latin typeface="Calibri"/>
                <a:ea typeface="Calibri"/>
                <a:cs typeface="Calibri"/>
                <a:sym typeface="Calibri"/>
              </a:rPr>
              <a:t>It's usually drawn using a line with a solid arrowhead pointing from one object to another.</a:t>
            </a:r>
            <a:endParaRPr sz="2200">
              <a:solidFill>
                <a:schemeClr val="dk1"/>
              </a:solidFill>
              <a:latin typeface="Calibri"/>
              <a:ea typeface="Calibri"/>
              <a:cs typeface="Calibri"/>
              <a:sym typeface="Calibri"/>
            </a:endParaRPr>
          </a:p>
          <a:p>
            <a:pPr indent="0" lvl="0" marL="0" rtl="0" algn="just">
              <a:lnSpc>
                <a:spcPct val="90000"/>
              </a:lnSpc>
              <a:spcBef>
                <a:spcPts val="0"/>
              </a:spcBef>
              <a:spcAft>
                <a:spcPts val="0"/>
              </a:spcAft>
              <a:buSzPts val="1400"/>
              <a:buNone/>
            </a:pPr>
            <a:r>
              <a:t/>
            </a:r>
            <a:endParaRPr sz="2200">
              <a:solidFill>
                <a:schemeClr val="dk1"/>
              </a:solidFill>
              <a:latin typeface="Calibri"/>
              <a:ea typeface="Calibri"/>
              <a:cs typeface="Calibri"/>
              <a:sym typeface="Calibri"/>
            </a:endParaRPr>
          </a:p>
        </p:txBody>
      </p:sp>
      <p:sp>
        <p:nvSpPr>
          <p:cNvPr id="273" name="Google Shape;273;p2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274" name="Google Shape;274;p2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pic>
        <p:nvPicPr>
          <p:cNvPr id="275" name="Google Shape;275;p26"/>
          <p:cNvPicPr preferRelativeResize="0"/>
          <p:nvPr/>
        </p:nvPicPr>
        <p:blipFill rotWithShape="1">
          <a:blip r:embed="rId3">
            <a:alphaModFix/>
          </a:blip>
          <a:srcRect b="0" l="0" r="0" t="0"/>
          <a:stretch/>
        </p:blipFill>
        <p:spPr>
          <a:xfrm>
            <a:off x="5766725" y="1685400"/>
            <a:ext cx="3200400" cy="571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2">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7"/>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Analysis Model</a:t>
            </a:r>
            <a:endParaRPr b="1"/>
          </a:p>
        </p:txBody>
      </p:sp>
      <p:sp>
        <p:nvSpPr>
          <p:cNvPr id="281" name="Google Shape;281;p27"/>
          <p:cNvSpPr txBox="1"/>
          <p:nvPr>
            <p:ph idx="1" type="body"/>
          </p:nvPr>
        </p:nvSpPr>
        <p:spPr>
          <a:xfrm>
            <a:off x="318125" y="586350"/>
            <a:ext cx="5260800" cy="2261400"/>
          </a:xfrm>
          <a:prstGeom prst="rect">
            <a:avLst/>
          </a:prstGeom>
          <a:noFill/>
          <a:ln>
            <a:noFill/>
          </a:ln>
        </p:spPr>
        <p:txBody>
          <a:bodyPr anchorCtr="0" anchor="t" bIns="34275" lIns="68575" spcFirstLastPara="1" rIns="68575" wrap="square" tIns="34275">
            <a:noAutofit/>
          </a:bodyPr>
          <a:lstStyle/>
          <a:p>
            <a:pPr indent="0" lvl="0" marL="0" rtl="0" algn="just">
              <a:lnSpc>
                <a:spcPct val="90000"/>
              </a:lnSpc>
              <a:spcBef>
                <a:spcPts val="0"/>
              </a:spcBef>
              <a:spcAft>
                <a:spcPts val="0"/>
              </a:spcAft>
              <a:buSzPts val="1400"/>
              <a:buNone/>
            </a:pPr>
            <a:r>
              <a:rPr b="1" lang="en-GB" sz="3200">
                <a:solidFill>
                  <a:srgbClr val="002060"/>
                </a:solidFill>
                <a:latin typeface="Calibri"/>
                <a:ea typeface="Calibri"/>
                <a:cs typeface="Calibri"/>
                <a:sym typeface="Calibri"/>
              </a:rPr>
              <a:t>Elements of  Sequence Diagram:</a:t>
            </a:r>
            <a:endParaRPr b="1" sz="3200">
              <a:solidFill>
                <a:srgbClr val="002060"/>
              </a:solidFill>
              <a:latin typeface="Calibri"/>
              <a:ea typeface="Calibri"/>
              <a:cs typeface="Calibri"/>
              <a:sym typeface="Calibri"/>
            </a:endParaRPr>
          </a:p>
          <a:p>
            <a:pPr indent="0" lvl="0" marL="0" rtl="0" algn="just">
              <a:lnSpc>
                <a:spcPct val="100000"/>
              </a:lnSpc>
              <a:spcBef>
                <a:spcPts val="0"/>
              </a:spcBef>
              <a:spcAft>
                <a:spcPts val="0"/>
              </a:spcAft>
              <a:buSzPts val="1400"/>
              <a:buNone/>
            </a:pPr>
            <a:r>
              <a:t/>
            </a:r>
            <a:endParaRPr sz="2200">
              <a:solidFill>
                <a:schemeClr val="dk1"/>
              </a:solidFill>
              <a:latin typeface="Calibri"/>
              <a:ea typeface="Calibri"/>
              <a:cs typeface="Calibri"/>
              <a:sym typeface="Calibri"/>
            </a:endParaRPr>
          </a:p>
          <a:p>
            <a:pPr indent="0" lvl="0" marL="0" rtl="0" algn="l">
              <a:lnSpc>
                <a:spcPct val="115000"/>
              </a:lnSpc>
              <a:spcBef>
                <a:spcPts val="800"/>
              </a:spcBef>
              <a:spcAft>
                <a:spcPts val="0"/>
              </a:spcAft>
              <a:buSzPts val="1400"/>
              <a:buNone/>
            </a:pPr>
            <a:r>
              <a:rPr b="1" lang="en-GB" sz="2200">
                <a:solidFill>
                  <a:schemeClr val="dk1"/>
                </a:solidFill>
                <a:latin typeface="Calibri"/>
                <a:ea typeface="Calibri"/>
                <a:cs typeface="Calibri"/>
                <a:sym typeface="Calibri"/>
              </a:rPr>
              <a:t>Asynchronous Message</a:t>
            </a:r>
            <a:endParaRPr b="1" sz="2200">
              <a:solidFill>
                <a:schemeClr val="dk1"/>
              </a:solidFill>
              <a:latin typeface="Calibri"/>
              <a:ea typeface="Calibri"/>
              <a:cs typeface="Calibri"/>
              <a:sym typeface="Calibri"/>
            </a:endParaRPr>
          </a:p>
          <a:p>
            <a:pPr indent="0" lvl="0" marL="0" rtl="0" algn="l">
              <a:lnSpc>
                <a:spcPct val="115000"/>
              </a:lnSpc>
              <a:spcBef>
                <a:spcPts val="800"/>
              </a:spcBef>
              <a:spcAft>
                <a:spcPts val="0"/>
              </a:spcAft>
              <a:buSzPts val="1400"/>
              <a:buNone/>
            </a:pPr>
            <a:r>
              <a:rPr lang="en-GB" sz="2200">
                <a:solidFill>
                  <a:schemeClr val="dk1"/>
                </a:solidFill>
                <a:latin typeface="Calibri"/>
                <a:ea typeface="Calibri"/>
                <a:cs typeface="Calibri"/>
                <a:sym typeface="Calibri"/>
              </a:rPr>
              <a:t>Asynchronous messages don't need a reply for interaction to continue.</a:t>
            </a:r>
            <a:endParaRPr sz="2200">
              <a:solidFill>
                <a:schemeClr val="dk1"/>
              </a:solidFill>
              <a:latin typeface="Calibri"/>
              <a:ea typeface="Calibri"/>
              <a:cs typeface="Calibri"/>
              <a:sym typeface="Calibri"/>
            </a:endParaRPr>
          </a:p>
          <a:p>
            <a:pPr indent="0" lvl="0" marL="0" rtl="0" algn="just">
              <a:lnSpc>
                <a:spcPct val="90000"/>
              </a:lnSpc>
              <a:spcBef>
                <a:spcPts val="0"/>
              </a:spcBef>
              <a:spcAft>
                <a:spcPts val="0"/>
              </a:spcAft>
              <a:buSzPts val="1400"/>
              <a:buNone/>
            </a:pPr>
            <a:r>
              <a:rPr lang="en-GB" sz="2200">
                <a:solidFill>
                  <a:schemeClr val="dk1"/>
                </a:solidFill>
                <a:latin typeface="Calibri"/>
                <a:ea typeface="Calibri"/>
                <a:cs typeface="Calibri"/>
                <a:sym typeface="Calibri"/>
              </a:rPr>
              <a:t>They are drawn with an arrow connecting two lifelines; however, the arrowhead is usually open and there's no return message depicted</a:t>
            </a:r>
            <a:endParaRPr sz="2200">
              <a:solidFill>
                <a:schemeClr val="dk1"/>
              </a:solidFill>
              <a:latin typeface="Calibri"/>
              <a:ea typeface="Calibri"/>
              <a:cs typeface="Calibri"/>
              <a:sym typeface="Calibri"/>
            </a:endParaRPr>
          </a:p>
        </p:txBody>
      </p:sp>
      <p:sp>
        <p:nvSpPr>
          <p:cNvPr id="282" name="Google Shape;282;p2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283" name="Google Shape;283;p2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pic>
        <p:nvPicPr>
          <p:cNvPr id="284" name="Google Shape;284;p27"/>
          <p:cNvPicPr preferRelativeResize="0"/>
          <p:nvPr/>
        </p:nvPicPr>
        <p:blipFill rotWithShape="1">
          <a:blip r:embed="rId3">
            <a:alphaModFix/>
          </a:blip>
          <a:srcRect b="0" l="0" r="0" t="0"/>
          <a:stretch/>
        </p:blipFill>
        <p:spPr>
          <a:xfrm>
            <a:off x="5505450" y="2493800"/>
            <a:ext cx="3638550" cy="12001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1">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28"/>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Analysis Model</a:t>
            </a:r>
            <a:endParaRPr b="1"/>
          </a:p>
        </p:txBody>
      </p:sp>
      <p:sp>
        <p:nvSpPr>
          <p:cNvPr id="290" name="Google Shape;290;p28"/>
          <p:cNvSpPr txBox="1"/>
          <p:nvPr>
            <p:ph idx="1" type="body"/>
          </p:nvPr>
        </p:nvSpPr>
        <p:spPr>
          <a:xfrm>
            <a:off x="318125" y="586350"/>
            <a:ext cx="5260800" cy="2261400"/>
          </a:xfrm>
          <a:prstGeom prst="rect">
            <a:avLst/>
          </a:prstGeom>
          <a:noFill/>
          <a:ln>
            <a:noFill/>
          </a:ln>
        </p:spPr>
        <p:txBody>
          <a:bodyPr anchorCtr="0" anchor="t" bIns="34275" lIns="68575" spcFirstLastPara="1" rIns="68575" wrap="square" tIns="34275">
            <a:noAutofit/>
          </a:bodyPr>
          <a:lstStyle/>
          <a:p>
            <a:pPr indent="0" lvl="0" marL="0" rtl="0" algn="just">
              <a:lnSpc>
                <a:spcPct val="90000"/>
              </a:lnSpc>
              <a:spcBef>
                <a:spcPts val="0"/>
              </a:spcBef>
              <a:spcAft>
                <a:spcPts val="0"/>
              </a:spcAft>
              <a:buSzPts val="1400"/>
              <a:buNone/>
            </a:pPr>
            <a:r>
              <a:rPr b="1" lang="en-GB" sz="3200">
                <a:solidFill>
                  <a:srgbClr val="002060"/>
                </a:solidFill>
                <a:latin typeface="Calibri"/>
                <a:ea typeface="Calibri"/>
                <a:cs typeface="Calibri"/>
                <a:sym typeface="Calibri"/>
              </a:rPr>
              <a:t>Elements of  Sequence Diagram:</a:t>
            </a:r>
            <a:endParaRPr b="1" sz="3200">
              <a:solidFill>
                <a:srgbClr val="002060"/>
              </a:solidFill>
              <a:latin typeface="Calibri"/>
              <a:ea typeface="Calibri"/>
              <a:cs typeface="Calibri"/>
              <a:sym typeface="Calibri"/>
            </a:endParaRPr>
          </a:p>
          <a:p>
            <a:pPr indent="0" lvl="0" marL="0" rtl="0" algn="just">
              <a:lnSpc>
                <a:spcPct val="100000"/>
              </a:lnSpc>
              <a:spcBef>
                <a:spcPts val="0"/>
              </a:spcBef>
              <a:spcAft>
                <a:spcPts val="0"/>
              </a:spcAft>
              <a:buSzPts val="1400"/>
              <a:buNone/>
            </a:pPr>
            <a:r>
              <a:t/>
            </a:r>
            <a:endParaRPr sz="2200">
              <a:solidFill>
                <a:schemeClr val="dk1"/>
              </a:solidFill>
              <a:latin typeface="Calibri"/>
              <a:ea typeface="Calibri"/>
              <a:cs typeface="Calibri"/>
              <a:sym typeface="Calibri"/>
            </a:endParaRPr>
          </a:p>
          <a:p>
            <a:pPr indent="0" lvl="0" marL="0" rtl="0" algn="l">
              <a:lnSpc>
                <a:spcPct val="115000"/>
              </a:lnSpc>
              <a:spcBef>
                <a:spcPts val="800"/>
              </a:spcBef>
              <a:spcAft>
                <a:spcPts val="0"/>
              </a:spcAft>
              <a:buClr>
                <a:schemeClr val="dk1"/>
              </a:buClr>
              <a:buSzPts val="1100"/>
              <a:buFont typeface="Arial"/>
              <a:buNone/>
            </a:pPr>
            <a:r>
              <a:rPr lang="en-GB" sz="2200">
                <a:solidFill>
                  <a:schemeClr val="dk1"/>
                </a:solidFill>
              </a:rPr>
              <a:t>•</a:t>
            </a:r>
            <a:r>
              <a:rPr b="1" lang="en-GB" sz="2200">
                <a:solidFill>
                  <a:schemeClr val="dk1"/>
                </a:solidFill>
                <a:latin typeface="Calibri"/>
                <a:ea typeface="Calibri"/>
                <a:cs typeface="Calibri"/>
                <a:sym typeface="Calibri"/>
              </a:rPr>
              <a:t>Reply or Return Message</a:t>
            </a:r>
            <a:endParaRPr b="1" sz="2200">
              <a:solidFill>
                <a:schemeClr val="dk1"/>
              </a:solidFill>
              <a:latin typeface="Calibri"/>
              <a:ea typeface="Calibri"/>
              <a:cs typeface="Calibri"/>
              <a:sym typeface="Calibri"/>
            </a:endParaRPr>
          </a:p>
          <a:p>
            <a:pPr indent="0" lvl="0" marL="0" rtl="0" algn="just">
              <a:lnSpc>
                <a:spcPct val="90000"/>
              </a:lnSpc>
              <a:spcBef>
                <a:spcPts val="0"/>
              </a:spcBef>
              <a:spcAft>
                <a:spcPts val="0"/>
              </a:spcAft>
              <a:buSzPts val="1400"/>
              <a:buNone/>
            </a:pPr>
            <a:r>
              <a:rPr lang="en-GB" sz="2200">
                <a:solidFill>
                  <a:schemeClr val="dk1"/>
                </a:solidFill>
                <a:latin typeface="Calibri"/>
                <a:ea typeface="Calibri"/>
                <a:cs typeface="Calibri"/>
                <a:sym typeface="Calibri"/>
              </a:rPr>
              <a:t>A reply message is drawn with a dotted line and an open arrowhead pointing back to the original lifeline</a:t>
            </a:r>
            <a:endParaRPr b="1" sz="2200">
              <a:solidFill>
                <a:schemeClr val="dk1"/>
              </a:solidFill>
              <a:latin typeface="Calibri"/>
              <a:ea typeface="Calibri"/>
              <a:cs typeface="Calibri"/>
              <a:sym typeface="Calibri"/>
            </a:endParaRPr>
          </a:p>
        </p:txBody>
      </p:sp>
      <p:sp>
        <p:nvSpPr>
          <p:cNvPr id="291" name="Google Shape;291;p2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292" name="Google Shape;292;p2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pic>
        <p:nvPicPr>
          <p:cNvPr id="293" name="Google Shape;293;p28"/>
          <p:cNvPicPr preferRelativeResize="0"/>
          <p:nvPr/>
        </p:nvPicPr>
        <p:blipFill rotWithShape="1">
          <a:blip r:embed="rId3">
            <a:alphaModFix/>
          </a:blip>
          <a:srcRect b="0" l="0" r="0" t="0"/>
          <a:stretch/>
        </p:blipFill>
        <p:spPr>
          <a:xfrm>
            <a:off x="5520750" y="2262938"/>
            <a:ext cx="3657600" cy="8572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0">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29"/>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Analysis Model</a:t>
            </a:r>
            <a:endParaRPr b="1"/>
          </a:p>
        </p:txBody>
      </p:sp>
      <p:sp>
        <p:nvSpPr>
          <p:cNvPr id="299" name="Google Shape;299;p29"/>
          <p:cNvSpPr txBox="1"/>
          <p:nvPr>
            <p:ph idx="1" type="body"/>
          </p:nvPr>
        </p:nvSpPr>
        <p:spPr>
          <a:xfrm>
            <a:off x="318125" y="586350"/>
            <a:ext cx="5260800" cy="2261400"/>
          </a:xfrm>
          <a:prstGeom prst="rect">
            <a:avLst/>
          </a:prstGeom>
          <a:noFill/>
          <a:ln>
            <a:noFill/>
          </a:ln>
        </p:spPr>
        <p:txBody>
          <a:bodyPr anchorCtr="0" anchor="t" bIns="34275" lIns="68575" spcFirstLastPara="1" rIns="68575" wrap="square" tIns="34275">
            <a:noAutofit/>
          </a:bodyPr>
          <a:lstStyle/>
          <a:p>
            <a:pPr indent="0" lvl="0" marL="0" rtl="0" algn="just">
              <a:lnSpc>
                <a:spcPct val="90000"/>
              </a:lnSpc>
              <a:spcBef>
                <a:spcPts val="0"/>
              </a:spcBef>
              <a:spcAft>
                <a:spcPts val="0"/>
              </a:spcAft>
              <a:buSzPts val="1400"/>
              <a:buNone/>
            </a:pPr>
            <a:r>
              <a:rPr b="1" lang="en-GB" sz="3200">
                <a:solidFill>
                  <a:srgbClr val="002060"/>
                </a:solidFill>
                <a:latin typeface="Calibri"/>
                <a:ea typeface="Calibri"/>
                <a:cs typeface="Calibri"/>
                <a:sym typeface="Calibri"/>
              </a:rPr>
              <a:t>Elements of  Sequence Diagram:</a:t>
            </a:r>
            <a:endParaRPr b="1" sz="3200">
              <a:solidFill>
                <a:srgbClr val="002060"/>
              </a:solidFill>
              <a:latin typeface="Calibri"/>
              <a:ea typeface="Calibri"/>
              <a:cs typeface="Calibri"/>
              <a:sym typeface="Calibri"/>
            </a:endParaRPr>
          </a:p>
          <a:p>
            <a:pPr indent="0" lvl="0" marL="0" rtl="0" algn="just">
              <a:lnSpc>
                <a:spcPct val="100000"/>
              </a:lnSpc>
              <a:spcBef>
                <a:spcPts val="0"/>
              </a:spcBef>
              <a:spcAft>
                <a:spcPts val="0"/>
              </a:spcAft>
              <a:buSzPts val="1400"/>
              <a:buNone/>
            </a:pPr>
            <a:r>
              <a:t/>
            </a:r>
            <a:endParaRPr sz="2200">
              <a:solidFill>
                <a:schemeClr val="dk1"/>
              </a:solidFill>
              <a:latin typeface="Calibri"/>
              <a:ea typeface="Calibri"/>
              <a:cs typeface="Calibri"/>
              <a:sym typeface="Calibri"/>
            </a:endParaRPr>
          </a:p>
          <a:p>
            <a:pPr indent="0" lvl="0" marL="0" rtl="0" algn="l">
              <a:lnSpc>
                <a:spcPct val="115000"/>
              </a:lnSpc>
              <a:spcBef>
                <a:spcPts val="800"/>
              </a:spcBef>
              <a:spcAft>
                <a:spcPts val="0"/>
              </a:spcAft>
              <a:buSzPts val="1400"/>
              <a:buNone/>
            </a:pPr>
            <a:r>
              <a:rPr lang="en-GB" sz="2200">
                <a:solidFill>
                  <a:schemeClr val="dk1"/>
                </a:solidFill>
              </a:rPr>
              <a:t>•</a:t>
            </a:r>
            <a:r>
              <a:rPr b="1" lang="en-GB" sz="2200">
                <a:solidFill>
                  <a:schemeClr val="dk1"/>
                </a:solidFill>
                <a:latin typeface="Calibri"/>
                <a:ea typeface="Calibri"/>
                <a:cs typeface="Calibri"/>
                <a:sym typeface="Calibri"/>
              </a:rPr>
              <a:t>Self Message</a:t>
            </a:r>
            <a:endParaRPr b="1" sz="2200">
              <a:solidFill>
                <a:schemeClr val="dk1"/>
              </a:solidFill>
              <a:latin typeface="Calibri"/>
              <a:ea typeface="Calibri"/>
              <a:cs typeface="Calibri"/>
              <a:sym typeface="Calibri"/>
            </a:endParaRPr>
          </a:p>
          <a:p>
            <a:pPr indent="0" lvl="0" marL="0" rtl="0" algn="l">
              <a:lnSpc>
                <a:spcPct val="115000"/>
              </a:lnSpc>
              <a:spcBef>
                <a:spcPts val="800"/>
              </a:spcBef>
              <a:spcAft>
                <a:spcPts val="0"/>
              </a:spcAft>
              <a:buSzPts val="1400"/>
              <a:buNone/>
            </a:pPr>
            <a:r>
              <a:rPr lang="en-GB" sz="2200">
                <a:solidFill>
                  <a:schemeClr val="dk1"/>
                </a:solidFill>
              </a:rPr>
              <a:t>•</a:t>
            </a:r>
            <a:r>
              <a:rPr lang="en-GB" sz="2200">
                <a:solidFill>
                  <a:schemeClr val="dk1"/>
                </a:solidFill>
                <a:latin typeface="Calibri"/>
                <a:ea typeface="Calibri"/>
                <a:cs typeface="Calibri"/>
                <a:sym typeface="Calibri"/>
              </a:rPr>
              <a:t>A message an object sends to itself, usually shown as a U shaped arrow pointing back to itself.</a:t>
            </a:r>
            <a:endParaRPr sz="2200">
              <a:solidFill>
                <a:schemeClr val="dk1"/>
              </a:solidFill>
              <a:latin typeface="Calibri"/>
              <a:ea typeface="Calibri"/>
              <a:cs typeface="Calibri"/>
              <a:sym typeface="Calibri"/>
            </a:endParaRPr>
          </a:p>
          <a:p>
            <a:pPr indent="0" lvl="0" marL="0" rtl="0" algn="l">
              <a:lnSpc>
                <a:spcPct val="115000"/>
              </a:lnSpc>
              <a:spcBef>
                <a:spcPts val="800"/>
              </a:spcBef>
              <a:spcAft>
                <a:spcPts val="0"/>
              </a:spcAft>
              <a:buSzPts val="1400"/>
              <a:buNone/>
            </a:pPr>
            <a:r>
              <a:t/>
            </a:r>
            <a:endParaRPr b="1" sz="2200">
              <a:solidFill>
                <a:schemeClr val="dk1"/>
              </a:solidFill>
              <a:latin typeface="Calibri"/>
              <a:ea typeface="Calibri"/>
              <a:cs typeface="Calibri"/>
              <a:sym typeface="Calibri"/>
            </a:endParaRPr>
          </a:p>
        </p:txBody>
      </p:sp>
      <p:sp>
        <p:nvSpPr>
          <p:cNvPr id="300" name="Google Shape;300;p2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301" name="Google Shape;301;p2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pic>
        <p:nvPicPr>
          <p:cNvPr id="302" name="Google Shape;302;p29"/>
          <p:cNvPicPr preferRelativeResize="0"/>
          <p:nvPr/>
        </p:nvPicPr>
        <p:blipFill rotWithShape="1">
          <a:blip r:embed="rId3">
            <a:alphaModFix/>
          </a:blip>
          <a:srcRect b="0" l="0" r="0" t="0"/>
          <a:stretch/>
        </p:blipFill>
        <p:spPr>
          <a:xfrm>
            <a:off x="6019800" y="2085750"/>
            <a:ext cx="2800350" cy="14859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9">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30"/>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Analysis Model</a:t>
            </a:r>
            <a:endParaRPr b="1"/>
          </a:p>
        </p:txBody>
      </p:sp>
      <p:sp>
        <p:nvSpPr>
          <p:cNvPr id="308" name="Google Shape;308;p30"/>
          <p:cNvSpPr txBox="1"/>
          <p:nvPr>
            <p:ph idx="1" type="body"/>
          </p:nvPr>
        </p:nvSpPr>
        <p:spPr>
          <a:xfrm>
            <a:off x="318125" y="586350"/>
            <a:ext cx="5363100" cy="2261400"/>
          </a:xfrm>
          <a:prstGeom prst="rect">
            <a:avLst/>
          </a:prstGeom>
          <a:noFill/>
          <a:ln>
            <a:noFill/>
          </a:ln>
        </p:spPr>
        <p:txBody>
          <a:bodyPr anchorCtr="0" anchor="t" bIns="34275" lIns="68575" spcFirstLastPara="1" rIns="68575" wrap="square" tIns="34275">
            <a:noAutofit/>
          </a:bodyPr>
          <a:lstStyle/>
          <a:p>
            <a:pPr indent="0" lvl="0" marL="0" rtl="0" algn="l">
              <a:lnSpc>
                <a:spcPct val="90000"/>
              </a:lnSpc>
              <a:spcBef>
                <a:spcPts val="0"/>
              </a:spcBef>
              <a:spcAft>
                <a:spcPts val="0"/>
              </a:spcAft>
              <a:buSzPts val="1400"/>
              <a:buNone/>
            </a:pPr>
            <a:r>
              <a:rPr b="1" lang="en-GB" sz="3200">
                <a:solidFill>
                  <a:srgbClr val="002060"/>
                </a:solidFill>
                <a:latin typeface="Calibri"/>
                <a:ea typeface="Calibri"/>
                <a:cs typeface="Calibri"/>
                <a:sym typeface="Calibri"/>
              </a:rPr>
              <a:t>Elements of  Sequence Diagram:</a:t>
            </a:r>
            <a:endParaRPr sz="2200">
              <a:solidFill>
                <a:schemeClr val="dk1"/>
              </a:solidFill>
              <a:latin typeface="Calibri"/>
              <a:ea typeface="Calibri"/>
              <a:cs typeface="Calibri"/>
              <a:sym typeface="Calibri"/>
            </a:endParaRPr>
          </a:p>
          <a:p>
            <a:pPr indent="0" lvl="0" marL="0" rtl="0" algn="just">
              <a:lnSpc>
                <a:spcPct val="100000"/>
              </a:lnSpc>
              <a:spcBef>
                <a:spcPts val="0"/>
              </a:spcBef>
              <a:spcAft>
                <a:spcPts val="0"/>
              </a:spcAft>
              <a:buSzPts val="1400"/>
              <a:buNone/>
            </a:pPr>
            <a:r>
              <a:rPr lang="en-GB" sz="2400">
                <a:solidFill>
                  <a:schemeClr val="dk1"/>
                </a:solidFill>
              </a:rPr>
              <a:t>•</a:t>
            </a:r>
            <a:r>
              <a:rPr lang="en-GB" sz="2400">
                <a:solidFill>
                  <a:schemeClr val="dk1"/>
                </a:solidFill>
                <a:latin typeface="Calibri"/>
                <a:ea typeface="Calibri"/>
                <a:cs typeface="Calibri"/>
                <a:sym typeface="Calibri"/>
              </a:rPr>
              <a:t>Lost: A lost message occurs when the sender of the message is known but there is no reception of the message.</a:t>
            </a:r>
            <a:endParaRPr sz="2400">
              <a:solidFill>
                <a:schemeClr val="dk1"/>
              </a:solidFill>
              <a:latin typeface="Calibri"/>
              <a:ea typeface="Calibri"/>
              <a:cs typeface="Calibri"/>
              <a:sym typeface="Calibri"/>
            </a:endParaRPr>
          </a:p>
          <a:p>
            <a:pPr indent="0" lvl="0" marL="0" rtl="0" algn="just">
              <a:lnSpc>
                <a:spcPct val="100000"/>
              </a:lnSpc>
              <a:spcBef>
                <a:spcPts val="0"/>
              </a:spcBef>
              <a:spcAft>
                <a:spcPts val="0"/>
              </a:spcAft>
              <a:buSzPts val="1400"/>
              <a:buNone/>
            </a:pPr>
            <a:r>
              <a:t/>
            </a:r>
            <a:endParaRPr sz="2400">
              <a:solidFill>
                <a:schemeClr val="dk1"/>
              </a:solidFill>
              <a:latin typeface="Calibri"/>
              <a:ea typeface="Calibri"/>
              <a:cs typeface="Calibri"/>
              <a:sym typeface="Calibri"/>
            </a:endParaRPr>
          </a:p>
          <a:p>
            <a:pPr indent="0" lvl="0" marL="0" rtl="0" algn="just">
              <a:lnSpc>
                <a:spcPct val="100000"/>
              </a:lnSpc>
              <a:spcBef>
                <a:spcPts val="0"/>
              </a:spcBef>
              <a:spcAft>
                <a:spcPts val="0"/>
              </a:spcAft>
              <a:buSzPts val="1400"/>
              <a:buNone/>
            </a:pPr>
            <a:r>
              <a:rPr lang="en-GB" sz="2400">
                <a:solidFill>
                  <a:schemeClr val="dk1"/>
                </a:solidFill>
              </a:rPr>
              <a:t>•</a:t>
            </a:r>
            <a:r>
              <a:rPr lang="en-GB" sz="2400">
                <a:solidFill>
                  <a:schemeClr val="dk1"/>
                </a:solidFill>
                <a:latin typeface="Calibri"/>
                <a:ea typeface="Calibri"/>
                <a:cs typeface="Calibri"/>
                <a:sym typeface="Calibri"/>
              </a:rPr>
              <a:t>Found: A found message indicates that although the receiver of the message is known in the current interaction fragment, the sender of the message is unknown.</a:t>
            </a:r>
            <a:endParaRPr sz="2400">
              <a:solidFill>
                <a:schemeClr val="dk1"/>
              </a:solidFill>
              <a:latin typeface="Calibri"/>
              <a:ea typeface="Calibri"/>
              <a:cs typeface="Calibri"/>
              <a:sym typeface="Calibri"/>
            </a:endParaRPr>
          </a:p>
          <a:p>
            <a:pPr indent="0" lvl="0" marL="0" rtl="0" algn="l">
              <a:lnSpc>
                <a:spcPct val="115000"/>
              </a:lnSpc>
              <a:spcBef>
                <a:spcPts val="800"/>
              </a:spcBef>
              <a:spcAft>
                <a:spcPts val="0"/>
              </a:spcAft>
              <a:buSzPts val="1400"/>
              <a:buNone/>
            </a:pPr>
            <a:r>
              <a:t/>
            </a:r>
            <a:endParaRPr sz="2200">
              <a:solidFill>
                <a:schemeClr val="dk1"/>
              </a:solidFill>
            </a:endParaRPr>
          </a:p>
          <a:p>
            <a:pPr indent="0" lvl="0" marL="0" rtl="0" algn="l">
              <a:lnSpc>
                <a:spcPct val="115000"/>
              </a:lnSpc>
              <a:spcBef>
                <a:spcPts val="800"/>
              </a:spcBef>
              <a:spcAft>
                <a:spcPts val="0"/>
              </a:spcAft>
              <a:buSzPts val="1400"/>
              <a:buNone/>
            </a:pPr>
            <a:r>
              <a:t/>
            </a:r>
            <a:endParaRPr b="1" sz="2200">
              <a:solidFill>
                <a:schemeClr val="dk1"/>
              </a:solidFill>
              <a:latin typeface="Calibri"/>
              <a:ea typeface="Calibri"/>
              <a:cs typeface="Calibri"/>
              <a:sym typeface="Calibri"/>
            </a:endParaRPr>
          </a:p>
        </p:txBody>
      </p:sp>
      <p:sp>
        <p:nvSpPr>
          <p:cNvPr id="309" name="Google Shape;309;p3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310" name="Google Shape;310;p3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pic>
        <p:nvPicPr>
          <p:cNvPr id="311" name="Google Shape;311;p30"/>
          <p:cNvPicPr preferRelativeResize="0"/>
          <p:nvPr/>
        </p:nvPicPr>
        <p:blipFill rotWithShape="1">
          <a:blip r:embed="rId3">
            <a:alphaModFix/>
          </a:blip>
          <a:srcRect b="0" l="0" r="0" t="0"/>
          <a:stretch/>
        </p:blipFill>
        <p:spPr>
          <a:xfrm>
            <a:off x="5899975" y="1880825"/>
            <a:ext cx="2686050" cy="419100"/>
          </a:xfrm>
          <a:prstGeom prst="rect">
            <a:avLst/>
          </a:prstGeom>
          <a:noFill/>
          <a:ln>
            <a:noFill/>
          </a:ln>
        </p:spPr>
      </p:pic>
      <p:pic>
        <p:nvPicPr>
          <p:cNvPr id="312" name="Google Shape;312;p30"/>
          <p:cNvPicPr preferRelativeResize="0"/>
          <p:nvPr/>
        </p:nvPicPr>
        <p:blipFill rotWithShape="1">
          <a:blip r:embed="rId4">
            <a:alphaModFix/>
          </a:blip>
          <a:srcRect b="0" l="0" r="0" t="0"/>
          <a:stretch/>
        </p:blipFill>
        <p:spPr>
          <a:xfrm>
            <a:off x="5899975" y="3547175"/>
            <a:ext cx="2800350" cy="5143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8">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pic>
        <p:nvPicPr>
          <p:cNvPr id="317" name="Google Shape;317;p31"/>
          <p:cNvPicPr preferRelativeResize="0"/>
          <p:nvPr/>
        </p:nvPicPr>
        <p:blipFill rotWithShape="1">
          <a:blip r:embed="rId3">
            <a:alphaModFix/>
          </a:blip>
          <a:srcRect b="0" l="0" r="0" t="0"/>
          <a:stretch/>
        </p:blipFill>
        <p:spPr>
          <a:xfrm>
            <a:off x="1975538" y="1194547"/>
            <a:ext cx="5192931" cy="3846616"/>
          </a:xfrm>
          <a:prstGeom prst="rect">
            <a:avLst/>
          </a:prstGeom>
          <a:noFill/>
          <a:ln>
            <a:noFill/>
          </a:ln>
        </p:spPr>
      </p:pic>
      <p:sp>
        <p:nvSpPr>
          <p:cNvPr id="318" name="Google Shape;318;p31"/>
          <p:cNvSpPr txBox="1"/>
          <p:nvPr>
            <p:ph type="title"/>
          </p:nvPr>
        </p:nvSpPr>
        <p:spPr>
          <a:xfrm>
            <a:off x="92950"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Analysis Model</a:t>
            </a:r>
            <a:endParaRPr b="1"/>
          </a:p>
        </p:txBody>
      </p:sp>
      <p:sp>
        <p:nvSpPr>
          <p:cNvPr id="319" name="Google Shape;319;p3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320" name="Google Shape;320;p3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
        <p:nvSpPr>
          <p:cNvPr id="321" name="Google Shape;321;p31"/>
          <p:cNvSpPr txBox="1"/>
          <p:nvPr/>
        </p:nvSpPr>
        <p:spPr>
          <a:xfrm>
            <a:off x="1578600" y="702575"/>
            <a:ext cx="5681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Sequence Diagram</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32"/>
          <p:cNvSpPr txBox="1"/>
          <p:nvPr>
            <p:ph type="title"/>
          </p:nvPr>
        </p:nvSpPr>
        <p:spPr>
          <a:xfrm>
            <a:off x="92950"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Analysis Model</a:t>
            </a:r>
            <a:endParaRPr b="1"/>
          </a:p>
        </p:txBody>
      </p:sp>
      <p:sp>
        <p:nvSpPr>
          <p:cNvPr id="327" name="Google Shape;327;p3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328" name="Google Shape;328;p3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
        <p:nvSpPr>
          <p:cNvPr id="329" name="Google Shape;329;p32"/>
          <p:cNvSpPr txBox="1"/>
          <p:nvPr/>
        </p:nvSpPr>
        <p:spPr>
          <a:xfrm>
            <a:off x="1578600" y="702575"/>
            <a:ext cx="5681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Sequence Diagram</a:t>
            </a:r>
            <a:endParaRPr b="0" i="0" sz="1400" u="none" cap="none" strike="noStrike">
              <a:solidFill>
                <a:srgbClr val="000000"/>
              </a:solidFill>
              <a:latin typeface="Arial"/>
              <a:ea typeface="Arial"/>
              <a:cs typeface="Arial"/>
              <a:sym typeface="Arial"/>
            </a:endParaRPr>
          </a:p>
        </p:txBody>
      </p:sp>
      <p:pic>
        <p:nvPicPr>
          <p:cNvPr id="330" name="Google Shape;330;p32"/>
          <p:cNvPicPr preferRelativeResize="0"/>
          <p:nvPr/>
        </p:nvPicPr>
        <p:blipFill rotWithShape="1">
          <a:blip r:embed="rId3">
            <a:alphaModFix/>
          </a:blip>
          <a:srcRect b="9819" l="27177" r="13442" t="32346"/>
          <a:stretch/>
        </p:blipFill>
        <p:spPr>
          <a:xfrm>
            <a:off x="1630650" y="1224225"/>
            <a:ext cx="5227643" cy="3182024"/>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33"/>
          <p:cNvSpPr txBox="1"/>
          <p:nvPr>
            <p:ph type="title"/>
          </p:nvPr>
        </p:nvSpPr>
        <p:spPr>
          <a:xfrm>
            <a:off x="92950"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Analysis Model</a:t>
            </a:r>
            <a:endParaRPr b="1"/>
          </a:p>
        </p:txBody>
      </p:sp>
      <p:sp>
        <p:nvSpPr>
          <p:cNvPr id="336" name="Google Shape;336;p3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337" name="Google Shape;337;p3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
        <p:nvSpPr>
          <p:cNvPr id="338" name="Google Shape;338;p33"/>
          <p:cNvSpPr txBox="1"/>
          <p:nvPr/>
        </p:nvSpPr>
        <p:spPr>
          <a:xfrm>
            <a:off x="1578600" y="702575"/>
            <a:ext cx="5681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Sequence Diagram</a:t>
            </a:r>
            <a:endParaRPr b="0" i="0" sz="1400" u="none" cap="none" strike="noStrike">
              <a:solidFill>
                <a:srgbClr val="000000"/>
              </a:solidFill>
              <a:latin typeface="Arial"/>
              <a:ea typeface="Arial"/>
              <a:cs typeface="Arial"/>
              <a:sym typeface="Arial"/>
            </a:endParaRPr>
          </a:p>
        </p:txBody>
      </p:sp>
      <p:pic>
        <p:nvPicPr>
          <p:cNvPr id="339" name="Google Shape;339;p33"/>
          <p:cNvPicPr preferRelativeResize="0"/>
          <p:nvPr/>
        </p:nvPicPr>
        <p:blipFill rotWithShape="1">
          <a:blip r:embed="rId3">
            <a:alphaModFix/>
          </a:blip>
          <a:srcRect b="1581" l="8783" r="8118" t="809"/>
          <a:stretch/>
        </p:blipFill>
        <p:spPr>
          <a:xfrm>
            <a:off x="2099025" y="1102774"/>
            <a:ext cx="4711720" cy="345917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34"/>
          <p:cNvSpPr txBox="1"/>
          <p:nvPr>
            <p:ph type="title"/>
          </p:nvPr>
        </p:nvSpPr>
        <p:spPr>
          <a:xfrm>
            <a:off x="92950"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Analysis Model</a:t>
            </a:r>
            <a:endParaRPr b="1"/>
          </a:p>
        </p:txBody>
      </p:sp>
      <p:sp>
        <p:nvSpPr>
          <p:cNvPr id="345" name="Google Shape;345;p3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346" name="Google Shape;346;p3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
        <p:nvSpPr>
          <p:cNvPr id="347" name="Google Shape;347;p34"/>
          <p:cNvSpPr txBox="1"/>
          <p:nvPr/>
        </p:nvSpPr>
        <p:spPr>
          <a:xfrm>
            <a:off x="1578600" y="702575"/>
            <a:ext cx="5681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Sequence Diagram</a:t>
            </a:r>
            <a:endParaRPr b="0" i="0" sz="1400" u="none" cap="none" strike="noStrike">
              <a:solidFill>
                <a:srgbClr val="000000"/>
              </a:solidFill>
              <a:latin typeface="Arial"/>
              <a:ea typeface="Arial"/>
              <a:cs typeface="Arial"/>
              <a:sym typeface="Arial"/>
            </a:endParaRPr>
          </a:p>
        </p:txBody>
      </p:sp>
      <p:pic>
        <p:nvPicPr>
          <p:cNvPr id="348" name="Google Shape;348;p34"/>
          <p:cNvPicPr preferRelativeResize="0"/>
          <p:nvPr/>
        </p:nvPicPr>
        <p:blipFill rotWithShape="1">
          <a:blip r:embed="rId3">
            <a:alphaModFix/>
          </a:blip>
          <a:srcRect b="0" l="8617" r="8283" t="0"/>
          <a:stretch/>
        </p:blipFill>
        <p:spPr>
          <a:xfrm>
            <a:off x="2645475" y="1307150"/>
            <a:ext cx="4466948" cy="335972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35"/>
          <p:cNvSpPr txBox="1"/>
          <p:nvPr>
            <p:ph type="title"/>
          </p:nvPr>
        </p:nvSpPr>
        <p:spPr>
          <a:xfrm>
            <a:off x="92950"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Analysis Model</a:t>
            </a:r>
            <a:endParaRPr b="1"/>
          </a:p>
        </p:txBody>
      </p:sp>
      <p:sp>
        <p:nvSpPr>
          <p:cNvPr id="354" name="Google Shape;354;p3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355" name="Google Shape;355;p3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
        <p:nvSpPr>
          <p:cNvPr id="356" name="Google Shape;356;p35"/>
          <p:cNvSpPr txBox="1"/>
          <p:nvPr/>
        </p:nvSpPr>
        <p:spPr>
          <a:xfrm>
            <a:off x="1578600" y="702575"/>
            <a:ext cx="5681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Sequence Diagram</a:t>
            </a:r>
            <a:endParaRPr b="0" i="0" sz="1400" u="none" cap="none" strike="noStrike">
              <a:solidFill>
                <a:srgbClr val="000000"/>
              </a:solidFill>
              <a:latin typeface="Arial"/>
              <a:ea typeface="Arial"/>
              <a:cs typeface="Arial"/>
              <a:sym typeface="Arial"/>
            </a:endParaRPr>
          </a:p>
        </p:txBody>
      </p:sp>
      <p:pic>
        <p:nvPicPr>
          <p:cNvPr id="357" name="Google Shape;357;p35"/>
          <p:cNvPicPr preferRelativeResize="0"/>
          <p:nvPr/>
        </p:nvPicPr>
        <p:blipFill rotWithShape="1">
          <a:blip r:embed="rId3">
            <a:alphaModFix/>
          </a:blip>
          <a:srcRect b="336" l="8442" r="7797" t="347"/>
          <a:stretch/>
        </p:blipFill>
        <p:spPr>
          <a:xfrm>
            <a:off x="1794475" y="1189500"/>
            <a:ext cx="4502624" cy="333672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36"/>
          <p:cNvSpPr txBox="1"/>
          <p:nvPr>
            <p:ph type="title"/>
          </p:nvPr>
        </p:nvSpPr>
        <p:spPr>
          <a:xfrm>
            <a:off x="92950"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Analysis Model</a:t>
            </a:r>
            <a:endParaRPr b="1"/>
          </a:p>
        </p:txBody>
      </p:sp>
      <p:sp>
        <p:nvSpPr>
          <p:cNvPr id="363" name="Google Shape;363;p3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364" name="Google Shape;364;p3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
        <p:nvSpPr>
          <p:cNvPr id="365" name="Google Shape;365;p36"/>
          <p:cNvSpPr txBox="1"/>
          <p:nvPr/>
        </p:nvSpPr>
        <p:spPr>
          <a:xfrm>
            <a:off x="1578600" y="702575"/>
            <a:ext cx="5681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Sequence Diagram</a:t>
            </a:r>
            <a:endParaRPr b="0" i="0" sz="1400" u="none" cap="none" strike="noStrike">
              <a:solidFill>
                <a:srgbClr val="000000"/>
              </a:solidFill>
              <a:latin typeface="Arial"/>
              <a:ea typeface="Arial"/>
              <a:cs typeface="Arial"/>
              <a:sym typeface="Arial"/>
            </a:endParaRPr>
          </a:p>
        </p:txBody>
      </p:sp>
      <p:pic>
        <p:nvPicPr>
          <p:cNvPr id="366" name="Google Shape;366;p36"/>
          <p:cNvPicPr preferRelativeResize="0"/>
          <p:nvPr/>
        </p:nvPicPr>
        <p:blipFill rotWithShape="1">
          <a:blip r:embed="rId3">
            <a:alphaModFix/>
          </a:blip>
          <a:srcRect b="336" l="8442" r="7797" t="347"/>
          <a:stretch/>
        </p:blipFill>
        <p:spPr>
          <a:xfrm>
            <a:off x="1794475" y="1189500"/>
            <a:ext cx="4502624" cy="333672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37"/>
          <p:cNvSpPr txBox="1"/>
          <p:nvPr>
            <p:ph type="title"/>
          </p:nvPr>
        </p:nvSpPr>
        <p:spPr>
          <a:xfrm>
            <a:off x="92950"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Analysis Model</a:t>
            </a:r>
            <a:endParaRPr b="1"/>
          </a:p>
        </p:txBody>
      </p:sp>
      <p:sp>
        <p:nvSpPr>
          <p:cNvPr id="372" name="Google Shape;372;p3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373" name="Google Shape;373;p3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
        <p:nvSpPr>
          <p:cNvPr id="374" name="Google Shape;374;p37"/>
          <p:cNvSpPr txBox="1"/>
          <p:nvPr/>
        </p:nvSpPr>
        <p:spPr>
          <a:xfrm>
            <a:off x="1578600" y="702575"/>
            <a:ext cx="5681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Sequence Diagram</a:t>
            </a:r>
            <a:endParaRPr b="0" i="0" sz="1400" u="none" cap="none" strike="noStrike">
              <a:solidFill>
                <a:srgbClr val="000000"/>
              </a:solidFill>
              <a:latin typeface="Arial"/>
              <a:ea typeface="Arial"/>
              <a:cs typeface="Arial"/>
              <a:sym typeface="Arial"/>
            </a:endParaRPr>
          </a:p>
        </p:txBody>
      </p:sp>
      <p:pic>
        <p:nvPicPr>
          <p:cNvPr id="375" name="Google Shape;375;p37"/>
          <p:cNvPicPr preferRelativeResize="0"/>
          <p:nvPr/>
        </p:nvPicPr>
        <p:blipFill rotWithShape="1">
          <a:blip r:embed="rId3">
            <a:alphaModFix/>
          </a:blip>
          <a:srcRect b="0" l="8458" r="8124" t="0"/>
          <a:stretch/>
        </p:blipFill>
        <p:spPr>
          <a:xfrm>
            <a:off x="2246500" y="1255188"/>
            <a:ext cx="4484300" cy="335967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38"/>
          <p:cNvSpPr txBox="1"/>
          <p:nvPr>
            <p:ph type="title"/>
          </p:nvPr>
        </p:nvSpPr>
        <p:spPr>
          <a:xfrm>
            <a:off x="92950"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Analysis Model</a:t>
            </a:r>
            <a:endParaRPr b="1"/>
          </a:p>
        </p:txBody>
      </p:sp>
      <p:sp>
        <p:nvSpPr>
          <p:cNvPr id="381" name="Google Shape;381;p3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382" name="Google Shape;382;p3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
        <p:nvSpPr>
          <p:cNvPr id="383" name="Google Shape;383;p38"/>
          <p:cNvSpPr txBox="1"/>
          <p:nvPr/>
        </p:nvSpPr>
        <p:spPr>
          <a:xfrm>
            <a:off x="1578600" y="702575"/>
            <a:ext cx="5681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Sequence Diagram</a:t>
            </a:r>
            <a:endParaRPr b="0" i="0" sz="1400" u="none" cap="none" strike="noStrike">
              <a:solidFill>
                <a:srgbClr val="000000"/>
              </a:solidFill>
              <a:latin typeface="Arial"/>
              <a:ea typeface="Arial"/>
              <a:cs typeface="Arial"/>
              <a:sym typeface="Arial"/>
            </a:endParaRPr>
          </a:p>
        </p:txBody>
      </p:sp>
      <p:pic>
        <p:nvPicPr>
          <p:cNvPr id="384" name="Google Shape;384;p38"/>
          <p:cNvPicPr preferRelativeResize="0"/>
          <p:nvPr/>
        </p:nvPicPr>
        <p:blipFill rotWithShape="1">
          <a:blip r:embed="rId3">
            <a:alphaModFix/>
          </a:blip>
          <a:srcRect b="0" l="9751" r="8442" t="0"/>
          <a:stretch/>
        </p:blipFill>
        <p:spPr>
          <a:xfrm>
            <a:off x="2329975" y="1178988"/>
            <a:ext cx="4397551" cy="335967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39"/>
          <p:cNvSpPr txBox="1"/>
          <p:nvPr>
            <p:ph type="title"/>
          </p:nvPr>
        </p:nvSpPr>
        <p:spPr>
          <a:xfrm>
            <a:off x="92950"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Analysis Model</a:t>
            </a:r>
            <a:endParaRPr b="1"/>
          </a:p>
        </p:txBody>
      </p:sp>
      <p:sp>
        <p:nvSpPr>
          <p:cNvPr id="390" name="Google Shape;390;p3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391" name="Google Shape;391;p3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
        <p:nvSpPr>
          <p:cNvPr id="392" name="Google Shape;392;p39"/>
          <p:cNvSpPr txBox="1"/>
          <p:nvPr/>
        </p:nvSpPr>
        <p:spPr>
          <a:xfrm>
            <a:off x="1578600" y="702575"/>
            <a:ext cx="5681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Sequence Diagram diagram for login process </a:t>
            </a:r>
            <a:endParaRPr b="0" i="0" sz="1400" u="none" cap="none" strike="noStrike">
              <a:solidFill>
                <a:srgbClr val="000000"/>
              </a:solidFill>
              <a:latin typeface="Arial"/>
              <a:ea typeface="Arial"/>
              <a:cs typeface="Arial"/>
              <a:sym typeface="Arial"/>
            </a:endParaRPr>
          </a:p>
        </p:txBody>
      </p:sp>
      <p:pic>
        <p:nvPicPr>
          <p:cNvPr id="393" name="Google Shape;393;p39"/>
          <p:cNvPicPr preferRelativeResize="0"/>
          <p:nvPr/>
        </p:nvPicPr>
        <p:blipFill rotWithShape="1">
          <a:blip r:embed="rId3">
            <a:alphaModFix/>
          </a:blip>
          <a:srcRect b="0" l="8458" r="7964" t="0"/>
          <a:stretch/>
        </p:blipFill>
        <p:spPr>
          <a:xfrm>
            <a:off x="1543899" y="1255188"/>
            <a:ext cx="5647475" cy="3535887"/>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40"/>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1400"/>
              <a:buNone/>
            </a:pPr>
            <a:r>
              <a:rPr lang="en-GB"/>
              <a:t>Example: online product search</a:t>
            </a:r>
            <a:endParaRPr/>
          </a:p>
        </p:txBody>
      </p:sp>
      <p:sp>
        <p:nvSpPr>
          <p:cNvPr id="399" name="Google Shape;399;p40"/>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228600" lvl="0" marL="457200" rtl="0" algn="l">
              <a:lnSpc>
                <a:spcPct val="90000"/>
              </a:lnSpc>
              <a:spcBef>
                <a:spcPts val="800"/>
              </a:spcBef>
              <a:spcAft>
                <a:spcPts val="0"/>
              </a:spcAft>
              <a:buClr>
                <a:schemeClr val="dk1"/>
              </a:buClr>
              <a:buSzPts val="1400"/>
              <a:buNone/>
            </a:pPr>
            <a:r>
              <a:t/>
            </a:r>
            <a:endParaRPr/>
          </a:p>
        </p:txBody>
      </p:sp>
      <p:pic>
        <p:nvPicPr>
          <p:cNvPr id="400" name="Google Shape;400;p40"/>
          <p:cNvPicPr preferRelativeResize="0"/>
          <p:nvPr/>
        </p:nvPicPr>
        <p:blipFill rotWithShape="1">
          <a:blip r:embed="rId3">
            <a:alphaModFix/>
          </a:blip>
          <a:srcRect b="0" l="0" r="0" t="0"/>
          <a:stretch/>
        </p:blipFill>
        <p:spPr>
          <a:xfrm>
            <a:off x="823913" y="1428750"/>
            <a:ext cx="4962525" cy="281940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41"/>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1400"/>
              <a:buNone/>
            </a:pPr>
            <a:r>
              <a:rPr lang="en-GB"/>
              <a:t>Example: Library management system</a:t>
            </a:r>
            <a:endParaRPr/>
          </a:p>
        </p:txBody>
      </p:sp>
      <p:sp>
        <p:nvSpPr>
          <p:cNvPr id="406" name="Google Shape;406;p41"/>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228600" lvl="0" marL="457200" rtl="0" algn="l">
              <a:lnSpc>
                <a:spcPct val="90000"/>
              </a:lnSpc>
              <a:spcBef>
                <a:spcPts val="800"/>
              </a:spcBef>
              <a:spcAft>
                <a:spcPts val="0"/>
              </a:spcAft>
              <a:buClr>
                <a:schemeClr val="dk1"/>
              </a:buClr>
              <a:buSzPts val="1400"/>
              <a:buNone/>
            </a:pPr>
            <a:r>
              <a:t/>
            </a:r>
            <a:endParaRPr/>
          </a:p>
        </p:txBody>
      </p:sp>
      <p:pic>
        <p:nvPicPr>
          <p:cNvPr id="407" name="Google Shape;407;p41"/>
          <p:cNvPicPr preferRelativeResize="0"/>
          <p:nvPr/>
        </p:nvPicPr>
        <p:blipFill rotWithShape="1">
          <a:blip r:embed="rId3">
            <a:alphaModFix/>
          </a:blip>
          <a:srcRect b="0" l="0" r="0" t="0"/>
          <a:stretch/>
        </p:blipFill>
        <p:spPr>
          <a:xfrm>
            <a:off x="1490663" y="1581150"/>
            <a:ext cx="5724525" cy="28575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42"/>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Analysis Model</a:t>
            </a:r>
            <a:endParaRPr b="1"/>
          </a:p>
        </p:txBody>
      </p:sp>
      <p:sp>
        <p:nvSpPr>
          <p:cNvPr id="413" name="Google Shape;413;p42"/>
          <p:cNvSpPr txBox="1"/>
          <p:nvPr>
            <p:ph idx="1" type="body"/>
          </p:nvPr>
        </p:nvSpPr>
        <p:spPr>
          <a:xfrm>
            <a:off x="318125" y="586350"/>
            <a:ext cx="8826000" cy="2261400"/>
          </a:xfrm>
          <a:prstGeom prst="rect">
            <a:avLst/>
          </a:prstGeom>
          <a:noFill/>
          <a:ln>
            <a:noFill/>
          </a:ln>
        </p:spPr>
        <p:txBody>
          <a:bodyPr anchorCtr="0" anchor="t" bIns="34275" lIns="68575" spcFirstLastPara="1" rIns="68575" wrap="square" tIns="34275">
            <a:noAutofit/>
          </a:bodyPr>
          <a:lstStyle/>
          <a:p>
            <a:pPr indent="0" lvl="0" marL="0" rtl="0" algn="just">
              <a:lnSpc>
                <a:spcPct val="90000"/>
              </a:lnSpc>
              <a:spcBef>
                <a:spcPts val="0"/>
              </a:spcBef>
              <a:spcAft>
                <a:spcPts val="0"/>
              </a:spcAft>
              <a:buSzPts val="1400"/>
              <a:buNone/>
            </a:pPr>
            <a:r>
              <a:rPr b="1" lang="en-GB" sz="3200">
                <a:solidFill>
                  <a:srgbClr val="002060"/>
                </a:solidFill>
                <a:latin typeface="Calibri"/>
                <a:ea typeface="Calibri"/>
                <a:cs typeface="Calibri"/>
                <a:sym typeface="Calibri"/>
              </a:rPr>
              <a:t>Class Diagram: describes structure of the system</a:t>
            </a:r>
            <a:endParaRPr b="1" sz="3200">
              <a:solidFill>
                <a:srgbClr val="002060"/>
              </a:solidFill>
              <a:latin typeface="Calibri"/>
              <a:ea typeface="Calibri"/>
              <a:cs typeface="Calibri"/>
              <a:sym typeface="Calibri"/>
            </a:endParaRPr>
          </a:p>
          <a:p>
            <a:pPr indent="0" lvl="0" marL="0" rtl="0" algn="just">
              <a:lnSpc>
                <a:spcPct val="115000"/>
              </a:lnSpc>
              <a:spcBef>
                <a:spcPts val="700"/>
              </a:spcBef>
              <a:spcAft>
                <a:spcPts val="0"/>
              </a:spcAft>
              <a:buSzPts val="1400"/>
              <a:buNone/>
            </a:pPr>
            <a:r>
              <a:rPr lang="en-GB" sz="2800">
                <a:solidFill>
                  <a:schemeClr val="dk1"/>
                </a:solidFill>
                <a:latin typeface="Calibri"/>
                <a:ea typeface="Calibri"/>
                <a:cs typeface="Calibri"/>
                <a:sym typeface="Calibri"/>
              </a:rPr>
              <a:t>shows the system's</a:t>
            </a:r>
            <a:endParaRPr sz="2800">
              <a:solidFill>
                <a:schemeClr val="dk1"/>
              </a:solidFill>
              <a:latin typeface="Calibri"/>
              <a:ea typeface="Calibri"/>
              <a:cs typeface="Calibri"/>
              <a:sym typeface="Calibri"/>
            </a:endParaRPr>
          </a:p>
          <a:p>
            <a:pPr indent="-381000" lvl="0" marL="457200" rtl="0" algn="just">
              <a:lnSpc>
                <a:spcPct val="115000"/>
              </a:lnSpc>
              <a:spcBef>
                <a:spcPts val="700"/>
              </a:spcBef>
              <a:spcAft>
                <a:spcPts val="0"/>
              </a:spcAft>
              <a:buClr>
                <a:srgbClr val="002060"/>
              </a:buClr>
              <a:buSzPts val="2400"/>
              <a:buFont typeface="Calibri"/>
              <a:buChar char="●"/>
            </a:pPr>
            <a:r>
              <a:rPr lang="en-GB" sz="2400">
                <a:solidFill>
                  <a:schemeClr val="dk1"/>
                </a:solidFill>
              </a:rPr>
              <a:t>C</a:t>
            </a:r>
            <a:r>
              <a:rPr lang="en-GB" sz="2400">
                <a:solidFill>
                  <a:schemeClr val="dk1"/>
                </a:solidFill>
                <a:latin typeface="Calibri"/>
                <a:ea typeface="Calibri"/>
                <a:cs typeface="Calibri"/>
                <a:sym typeface="Calibri"/>
              </a:rPr>
              <a:t>lasses</a:t>
            </a:r>
            <a:endParaRPr sz="2400">
              <a:solidFill>
                <a:schemeClr val="dk1"/>
              </a:solidFill>
              <a:latin typeface="Calibri"/>
              <a:ea typeface="Calibri"/>
              <a:cs typeface="Calibri"/>
              <a:sym typeface="Calibri"/>
            </a:endParaRPr>
          </a:p>
          <a:p>
            <a:pPr indent="-381000" lvl="0" marL="457200" rtl="0" algn="just">
              <a:lnSpc>
                <a:spcPct val="115000"/>
              </a:lnSpc>
              <a:spcBef>
                <a:spcPts val="0"/>
              </a:spcBef>
              <a:spcAft>
                <a:spcPts val="0"/>
              </a:spcAft>
              <a:buClr>
                <a:srgbClr val="002060"/>
              </a:buClr>
              <a:buSzPts val="2400"/>
              <a:buFont typeface="Calibri"/>
              <a:buChar char="●"/>
            </a:pPr>
            <a:r>
              <a:rPr lang="en-GB" sz="2400">
                <a:solidFill>
                  <a:schemeClr val="dk1"/>
                </a:solidFill>
                <a:latin typeface="Calibri"/>
                <a:ea typeface="Calibri"/>
                <a:cs typeface="Calibri"/>
                <a:sym typeface="Calibri"/>
              </a:rPr>
              <a:t>Attributes</a:t>
            </a:r>
            <a:endParaRPr sz="2400">
              <a:solidFill>
                <a:schemeClr val="dk1"/>
              </a:solidFill>
              <a:latin typeface="Calibri"/>
              <a:ea typeface="Calibri"/>
              <a:cs typeface="Calibri"/>
              <a:sym typeface="Calibri"/>
            </a:endParaRPr>
          </a:p>
          <a:p>
            <a:pPr indent="-381000" lvl="0" marL="457200" rtl="0" algn="just">
              <a:lnSpc>
                <a:spcPct val="115000"/>
              </a:lnSpc>
              <a:spcBef>
                <a:spcPts val="0"/>
              </a:spcBef>
              <a:spcAft>
                <a:spcPts val="0"/>
              </a:spcAft>
              <a:buClr>
                <a:srgbClr val="002060"/>
              </a:buClr>
              <a:buSzPts val="2400"/>
              <a:buFont typeface="Calibri"/>
              <a:buChar char="●"/>
            </a:pPr>
            <a:r>
              <a:rPr lang="en-GB" sz="2400">
                <a:solidFill>
                  <a:schemeClr val="dk1"/>
                </a:solidFill>
                <a:latin typeface="Calibri"/>
                <a:ea typeface="Calibri"/>
                <a:cs typeface="Calibri"/>
                <a:sym typeface="Calibri"/>
              </a:rPr>
              <a:t>Operations (or methods),</a:t>
            </a:r>
            <a:endParaRPr sz="2400">
              <a:solidFill>
                <a:schemeClr val="dk1"/>
              </a:solidFill>
              <a:latin typeface="Calibri"/>
              <a:ea typeface="Calibri"/>
              <a:cs typeface="Calibri"/>
              <a:sym typeface="Calibri"/>
            </a:endParaRPr>
          </a:p>
          <a:p>
            <a:pPr indent="-381000" lvl="0" marL="457200" rtl="0" algn="just">
              <a:lnSpc>
                <a:spcPct val="115000"/>
              </a:lnSpc>
              <a:spcBef>
                <a:spcPts val="0"/>
              </a:spcBef>
              <a:spcAft>
                <a:spcPts val="0"/>
              </a:spcAft>
              <a:buClr>
                <a:srgbClr val="002060"/>
              </a:buClr>
              <a:buSzPts val="2400"/>
              <a:buFont typeface="Calibri"/>
              <a:buChar char="●"/>
            </a:pPr>
            <a:r>
              <a:rPr lang="en-GB" sz="2400">
                <a:solidFill>
                  <a:schemeClr val="dk1"/>
                </a:solidFill>
                <a:latin typeface="Calibri"/>
                <a:ea typeface="Calibri"/>
                <a:cs typeface="Calibri"/>
                <a:sym typeface="Calibri"/>
              </a:rPr>
              <a:t>Relationships among the classes.</a:t>
            </a:r>
            <a:endParaRPr sz="2400">
              <a:solidFill>
                <a:schemeClr val="dk1"/>
              </a:solidFill>
              <a:latin typeface="Calibri"/>
              <a:ea typeface="Calibri"/>
              <a:cs typeface="Calibri"/>
              <a:sym typeface="Calibri"/>
            </a:endParaRPr>
          </a:p>
          <a:p>
            <a:pPr indent="0" lvl="0" marL="457200" rtl="0" algn="l">
              <a:lnSpc>
                <a:spcPct val="115000"/>
              </a:lnSpc>
              <a:spcBef>
                <a:spcPts val="800"/>
              </a:spcBef>
              <a:spcAft>
                <a:spcPts val="0"/>
              </a:spcAft>
              <a:buSzPts val="1400"/>
              <a:buNone/>
            </a:pPr>
            <a:r>
              <a:t/>
            </a:r>
            <a:endParaRPr sz="2400">
              <a:solidFill>
                <a:schemeClr val="dk1"/>
              </a:solidFill>
              <a:latin typeface="Calibri"/>
              <a:ea typeface="Calibri"/>
              <a:cs typeface="Calibri"/>
              <a:sym typeface="Calibri"/>
            </a:endParaRPr>
          </a:p>
          <a:p>
            <a:pPr indent="0" lvl="0" marL="457200" rtl="0" algn="just">
              <a:lnSpc>
                <a:spcPct val="90000"/>
              </a:lnSpc>
              <a:spcBef>
                <a:spcPts val="0"/>
              </a:spcBef>
              <a:spcAft>
                <a:spcPts val="0"/>
              </a:spcAft>
              <a:buSzPts val="1400"/>
              <a:buNone/>
            </a:pPr>
            <a:r>
              <a:t/>
            </a:r>
            <a:endParaRPr b="1" sz="3200">
              <a:solidFill>
                <a:srgbClr val="002060"/>
              </a:solidFill>
              <a:latin typeface="Calibri"/>
              <a:ea typeface="Calibri"/>
              <a:cs typeface="Calibri"/>
              <a:sym typeface="Calibri"/>
            </a:endParaRPr>
          </a:p>
        </p:txBody>
      </p:sp>
      <p:sp>
        <p:nvSpPr>
          <p:cNvPr id="414" name="Google Shape;414;p4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415" name="Google Shape;415;p4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3">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43"/>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Analysis Model</a:t>
            </a:r>
            <a:endParaRPr b="1"/>
          </a:p>
        </p:txBody>
      </p:sp>
      <p:sp>
        <p:nvSpPr>
          <p:cNvPr id="421" name="Google Shape;421;p43"/>
          <p:cNvSpPr txBox="1"/>
          <p:nvPr>
            <p:ph idx="1" type="body"/>
          </p:nvPr>
        </p:nvSpPr>
        <p:spPr>
          <a:xfrm>
            <a:off x="318125" y="586350"/>
            <a:ext cx="8826000" cy="2261400"/>
          </a:xfrm>
          <a:prstGeom prst="rect">
            <a:avLst/>
          </a:prstGeom>
          <a:noFill/>
          <a:ln>
            <a:noFill/>
          </a:ln>
        </p:spPr>
        <p:txBody>
          <a:bodyPr anchorCtr="0" anchor="t" bIns="34275" lIns="68575" spcFirstLastPara="1" rIns="68575" wrap="square" tIns="34275">
            <a:noAutofit/>
          </a:bodyPr>
          <a:lstStyle/>
          <a:p>
            <a:pPr indent="0" lvl="0" marL="0" rtl="0" algn="just">
              <a:lnSpc>
                <a:spcPct val="90000"/>
              </a:lnSpc>
              <a:spcBef>
                <a:spcPts val="0"/>
              </a:spcBef>
              <a:spcAft>
                <a:spcPts val="0"/>
              </a:spcAft>
              <a:buSzPts val="1400"/>
              <a:buNone/>
            </a:pPr>
            <a:r>
              <a:rPr b="1" lang="en-GB" sz="3200">
                <a:solidFill>
                  <a:srgbClr val="002060"/>
                </a:solidFill>
                <a:latin typeface="Calibri"/>
                <a:ea typeface="Calibri"/>
                <a:cs typeface="Calibri"/>
                <a:sym typeface="Calibri"/>
              </a:rPr>
              <a:t>Class Diagram  </a:t>
            </a:r>
            <a:endParaRPr sz="2400">
              <a:solidFill>
                <a:schemeClr val="dk1"/>
              </a:solidFill>
              <a:latin typeface="Calibri"/>
              <a:ea typeface="Calibri"/>
              <a:cs typeface="Calibri"/>
              <a:sym typeface="Calibri"/>
            </a:endParaRPr>
          </a:p>
          <a:p>
            <a:pPr indent="0" lvl="0" marL="457200" rtl="0" algn="l">
              <a:lnSpc>
                <a:spcPct val="100000"/>
              </a:lnSpc>
              <a:spcBef>
                <a:spcPts val="700"/>
              </a:spcBef>
              <a:spcAft>
                <a:spcPts val="0"/>
              </a:spcAft>
              <a:buSzPts val="1400"/>
              <a:buNone/>
            </a:pPr>
            <a:r>
              <a:rPr lang="en-GB" sz="2800">
                <a:solidFill>
                  <a:schemeClr val="dk1"/>
                </a:solidFill>
                <a:latin typeface="Calibri"/>
                <a:ea typeface="Calibri"/>
                <a:cs typeface="Calibri"/>
                <a:sym typeface="Calibri"/>
              </a:rPr>
              <a:t>Class: A class represents the blueprint of its objects.</a:t>
            </a:r>
            <a:endParaRPr sz="2800">
              <a:solidFill>
                <a:schemeClr val="dk1"/>
              </a:solidFill>
              <a:latin typeface="Calibri"/>
              <a:ea typeface="Calibri"/>
              <a:cs typeface="Calibri"/>
              <a:sym typeface="Calibri"/>
            </a:endParaRPr>
          </a:p>
          <a:p>
            <a:pPr indent="-374650" lvl="0" marL="914400" rtl="0" algn="l">
              <a:lnSpc>
                <a:spcPct val="100000"/>
              </a:lnSpc>
              <a:spcBef>
                <a:spcPts val="700"/>
              </a:spcBef>
              <a:spcAft>
                <a:spcPts val="0"/>
              </a:spcAft>
              <a:buClr>
                <a:schemeClr val="dk1"/>
              </a:buClr>
              <a:buSzPts val="2300"/>
              <a:buFont typeface="Calibri"/>
              <a:buChar char="●"/>
            </a:pPr>
            <a:r>
              <a:rPr lang="en-GB" sz="2300">
                <a:solidFill>
                  <a:schemeClr val="dk1"/>
                </a:solidFill>
                <a:latin typeface="Calibri"/>
                <a:ea typeface="Calibri"/>
                <a:cs typeface="Calibri"/>
                <a:sym typeface="Calibri"/>
              </a:rPr>
              <a:t>Attributes</a:t>
            </a:r>
            <a:endParaRPr sz="2300">
              <a:solidFill>
                <a:schemeClr val="dk1"/>
              </a:solidFill>
              <a:latin typeface="Calibri"/>
              <a:ea typeface="Calibri"/>
              <a:cs typeface="Calibri"/>
              <a:sym typeface="Calibri"/>
            </a:endParaRPr>
          </a:p>
          <a:p>
            <a:pPr indent="-374650" lvl="0" marL="914400" rtl="0" algn="l">
              <a:lnSpc>
                <a:spcPct val="100000"/>
              </a:lnSpc>
              <a:spcBef>
                <a:spcPts val="0"/>
              </a:spcBef>
              <a:spcAft>
                <a:spcPts val="0"/>
              </a:spcAft>
              <a:buClr>
                <a:schemeClr val="dk1"/>
              </a:buClr>
              <a:buSzPts val="2300"/>
              <a:buFont typeface="Calibri"/>
              <a:buChar char="●"/>
            </a:pPr>
            <a:r>
              <a:rPr lang="en-GB" sz="2300">
                <a:solidFill>
                  <a:schemeClr val="dk1"/>
                </a:solidFill>
                <a:latin typeface="Calibri"/>
                <a:ea typeface="Calibri"/>
                <a:cs typeface="Calibri"/>
                <a:sym typeface="Calibri"/>
              </a:rPr>
              <a:t>Operations</a:t>
            </a:r>
            <a:endParaRPr sz="2300">
              <a:solidFill>
                <a:schemeClr val="dk1"/>
              </a:solidFill>
              <a:latin typeface="Calibri"/>
              <a:ea typeface="Calibri"/>
              <a:cs typeface="Calibri"/>
              <a:sym typeface="Calibri"/>
            </a:endParaRPr>
          </a:p>
          <a:p>
            <a:pPr indent="-374650" lvl="0" marL="914400" rtl="0" algn="l">
              <a:lnSpc>
                <a:spcPct val="100000"/>
              </a:lnSpc>
              <a:spcBef>
                <a:spcPts val="0"/>
              </a:spcBef>
              <a:spcAft>
                <a:spcPts val="0"/>
              </a:spcAft>
              <a:buClr>
                <a:schemeClr val="dk1"/>
              </a:buClr>
              <a:buSzPts val="2300"/>
              <a:buFont typeface="Calibri"/>
              <a:buChar char="●"/>
            </a:pPr>
            <a:r>
              <a:rPr lang="en-GB" sz="2300">
                <a:solidFill>
                  <a:schemeClr val="dk1"/>
                </a:solidFill>
                <a:latin typeface="Calibri"/>
                <a:ea typeface="Calibri"/>
                <a:cs typeface="Calibri"/>
                <a:sym typeface="Calibri"/>
              </a:rPr>
              <a:t>Relationships</a:t>
            </a:r>
            <a:endParaRPr sz="2300">
              <a:solidFill>
                <a:schemeClr val="dk1"/>
              </a:solidFill>
              <a:latin typeface="Calibri"/>
              <a:ea typeface="Calibri"/>
              <a:cs typeface="Calibri"/>
              <a:sym typeface="Calibri"/>
            </a:endParaRPr>
          </a:p>
          <a:p>
            <a:pPr indent="-416049" lvl="1" marL="1349999" rtl="0" algn="l">
              <a:lnSpc>
                <a:spcPct val="100000"/>
              </a:lnSpc>
              <a:spcBef>
                <a:spcPts val="0"/>
              </a:spcBef>
              <a:spcAft>
                <a:spcPts val="0"/>
              </a:spcAft>
              <a:buClr>
                <a:schemeClr val="dk1"/>
              </a:buClr>
              <a:buSzPts val="2300"/>
              <a:buFont typeface="Calibri"/>
              <a:buChar char="○"/>
            </a:pPr>
            <a:r>
              <a:rPr lang="en-GB" sz="2300">
                <a:solidFill>
                  <a:schemeClr val="dk1"/>
                </a:solidFill>
                <a:latin typeface="Calibri"/>
                <a:ea typeface="Calibri"/>
                <a:cs typeface="Calibri"/>
                <a:sym typeface="Calibri"/>
              </a:rPr>
              <a:t>Associations</a:t>
            </a:r>
            <a:endParaRPr sz="2300">
              <a:solidFill>
                <a:schemeClr val="dk1"/>
              </a:solidFill>
              <a:latin typeface="Calibri"/>
              <a:ea typeface="Calibri"/>
              <a:cs typeface="Calibri"/>
              <a:sym typeface="Calibri"/>
            </a:endParaRPr>
          </a:p>
          <a:p>
            <a:pPr indent="-416049" lvl="1" marL="1349999" rtl="0" algn="l">
              <a:lnSpc>
                <a:spcPct val="100000"/>
              </a:lnSpc>
              <a:spcBef>
                <a:spcPts val="0"/>
              </a:spcBef>
              <a:spcAft>
                <a:spcPts val="0"/>
              </a:spcAft>
              <a:buClr>
                <a:schemeClr val="dk1"/>
              </a:buClr>
              <a:buSzPts val="2300"/>
              <a:buFont typeface="Calibri"/>
              <a:buChar char="○"/>
            </a:pPr>
            <a:r>
              <a:rPr lang="en-GB" sz="2300">
                <a:solidFill>
                  <a:schemeClr val="dk1"/>
                </a:solidFill>
                <a:latin typeface="Calibri"/>
                <a:ea typeface="Calibri"/>
                <a:cs typeface="Calibri"/>
                <a:sym typeface="Calibri"/>
              </a:rPr>
              <a:t>Generalization</a:t>
            </a:r>
            <a:endParaRPr sz="2300">
              <a:solidFill>
                <a:schemeClr val="dk1"/>
              </a:solidFill>
              <a:latin typeface="Calibri"/>
              <a:ea typeface="Calibri"/>
              <a:cs typeface="Calibri"/>
              <a:sym typeface="Calibri"/>
            </a:endParaRPr>
          </a:p>
          <a:p>
            <a:pPr indent="-416049" lvl="1" marL="1349999" rtl="0" algn="l">
              <a:lnSpc>
                <a:spcPct val="100000"/>
              </a:lnSpc>
              <a:spcBef>
                <a:spcPts val="0"/>
              </a:spcBef>
              <a:spcAft>
                <a:spcPts val="0"/>
              </a:spcAft>
              <a:buClr>
                <a:schemeClr val="dk1"/>
              </a:buClr>
              <a:buSzPts val="2300"/>
              <a:buFont typeface="Calibri"/>
              <a:buChar char="○"/>
            </a:pPr>
            <a:r>
              <a:rPr lang="en-GB" sz="2300">
                <a:solidFill>
                  <a:schemeClr val="dk1"/>
                </a:solidFill>
                <a:latin typeface="Calibri"/>
                <a:ea typeface="Calibri"/>
                <a:cs typeface="Calibri"/>
                <a:sym typeface="Calibri"/>
              </a:rPr>
              <a:t>Realization</a:t>
            </a:r>
            <a:endParaRPr sz="2300">
              <a:solidFill>
                <a:schemeClr val="dk1"/>
              </a:solidFill>
              <a:latin typeface="Calibri"/>
              <a:ea typeface="Calibri"/>
              <a:cs typeface="Calibri"/>
              <a:sym typeface="Calibri"/>
            </a:endParaRPr>
          </a:p>
          <a:p>
            <a:pPr indent="-416049" lvl="1" marL="1349999" rtl="0" algn="l">
              <a:lnSpc>
                <a:spcPct val="100000"/>
              </a:lnSpc>
              <a:spcBef>
                <a:spcPts val="0"/>
              </a:spcBef>
              <a:spcAft>
                <a:spcPts val="0"/>
              </a:spcAft>
              <a:buClr>
                <a:schemeClr val="dk1"/>
              </a:buClr>
              <a:buSzPts val="2300"/>
              <a:buFont typeface="Calibri"/>
              <a:buChar char="○"/>
            </a:pPr>
            <a:r>
              <a:rPr lang="en-GB" sz="2300">
                <a:solidFill>
                  <a:schemeClr val="dk1"/>
                </a:solidFill>
                <a:latin typeface="Calibri"/>
                <a:ea typeface="Calibri"/>
                <a:cs typeface="Calibri"/>
                <a:sym typeface="Calibri"/>
              </a:rPr>
              <a:t>Dependencies.</a:t>
            </a:r>
            <a:endParaRPr sz="2300">
              <a:solidFill>
                <a:schemeClr val="dk1"/>
              </a:solidFill>
              <a:latin typeface="Calibri"/>
              <a:ea typeface="Calibri"/>
              <a:cs typeface="Calibri"/>
              <a:sym typeface="Calibri"/>
            </a:endParaRPr>
          </a:p>
          <a:p>
            <a:pPr indent="0" lvl="0" marL="914400" rtl="0" algn="just">
              <a:lnSpc>
                <a:spcPct val="90000"/>
              </a:lnSpc>
              <a:spcBef>
                <a:spcPts val="0"/>
              </a:spcBef>
              <a:spcAft>
                <a:spcPts val="0"/>
              </a:spcAft>
              <a:buSzPts val="1400"/>
              <a:buNone/>
            </a:pPr>
            <a:r>
              <a:t/>
            </a:r>
            <a:endParaRPr b="1" sz="3200">
              <a:solidFill>
                <a:srgbClr val="002060"/>
              </a:solidFill>
              <a:latin typeface="Calibri"/>
              <a:ea typeface="Calibri"/>
              <a:cs typeface="Calibri"/>
              <a:sym typeface="Calibri"/>
            </a:endParaRPr>
          </a:p>
        </p:txBody>
      </p:sp>
      <p:sp>
        <p:nvSpPr>
          <p:cNvPr id="422" name="Google Shape;422;p4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423" name="Google Shape;423;p4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1">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1">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44"/>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Analysis Model</a:t>
            </a:r>
            <a:endParaRPr b="1"/>
          </a:p>
        </p:txBody>
      </p:sp>
      <p:sp>
        <p:nvSpPr>
          <p:cNvPr id="429" name="Google Shape;429;p44"/>
          <p:cNvSpPr txBox="1"/>
          <p:nvPr>
            <p:ph idx="1" type="body"/>
          </p:nvPr>
        </p:nvSpPr>
        <p:spPr>
          <a:xfrm>
            <a:off x="318125" y="586350"/>
            <a:ext cx="8826000" cy="2261400"/>
          </a:xfrm>
          <a:prstGeom prst="rect">
            <a:avLst/>
          </a:prstGeom>
          <a:noFill/>
          <a:ln>
            <a:noFill/>
          </a:ln>
        </p:spPr>
        <p:txBody>
          <a:bodyPr anchorCtr="0" anchor="t" bIns="34275" lIns="68575" spcFirstLastPara="1" rIns="68575" wrap="square" tIns="34275">
            <a:noAutofit/>
          </a:bodyPr>
          <a:lstStyle/>
          <a:p>
            <a:pPr indent="0" lvl="0" marL="0" rtl="0" algn="just">
              <a:lnSpc>
                <a:spcPct val="90000"/>
              </a:lnSpc>
              <a:spcBef>
                <a:spcPts val="0"/>
              </a:spcBef>
              <a:spcAft>
                <a:spcPts val="0"/>
              </a:spcAft>
              <a:buSzPts val="1400"/>
              <a:buNone/>
            </a:pPr>
            <a:r>
              <a:rPr b="1" lang="en-GB" sz="3200">
                <a:solidFill>
                  <a:srgbClr val="002060"/>
                </a:solidFill>
                <a:latin typeface="Calibri"/>
                <a:ea typeface="Calibri"/>
                <a:cs typeface="Calibri"/>
                <a:sym typeface="Calibri"/>
              </a:rPr>
              <a:t>Class Diagram  </a:t>
            </a:r>
            <a:endParaRPr sz="2400">
              <a:solidFill>
                <a:schemeClr val="dk1"/>
              </a:solidFill>
              <a:latin typeface="Calibri"/>
              <a:ea typeface="Calibri"/>
              <a:cs typeface="Calibri"/>
              <a:sym typeface="Calibri"/>
            </a:endParaRPr>
          </a:p>
          <a:p>
            <a:pPr indent="0" lvl="0" marL="457200" rtl="0" algn="l">
              <a:lnSpc>
                <a:spcPct val="100000"/>
              </a:lnSpc>
              <a:spcBef>
                <a:spcPts val="0"/>
              </a:spcBef>
              <a:spcAft>
                <a:spcPts val="0"/>
              </a:spcAft>
              <a:buSzPts val="1400"/>
              <a:buNone/>
            </a:pPr>
            <a:r>
              <a:rPr lang="en-GB" sz="2800">
                <a:solidFill>
                  <a:schemeClr val="dk1"/>
                </a:solidFill>
                <a:latin typeface="Calibri"/>
                <a:ea typeface="Calibri"/>
                <a:cs typeface="Calibri"/>
                <a:sym typeface="Calibri"/>
              </a:rPr>
              <a:t>Class: Describes a set of objects having similar:</a:t>
            </a:r>
            <a:endParaRPr sz="2800">
              <a:solidFill>
                <a:schemeClr val="dk1"/>
              </a:solidFill>
              <a:latin typeface="Calibri"/>
              <a:ea typeface="Calibri"/>
              <a:cs typeface="Calibri"/>
              <a:sym typeface="Calibri"/>
            </a:endParaRPr>
          </a:p>
          <a:p>
            <a:pPr indent="0" lvl="0" marL="0" rtl="0" algn="l">
              <a:lnSpc>
                <a:spcPct val="100000"/>
              </a:lnSpc>
              <a:spcBef>
                <a:spcPts val="0"/>
              </a:spcBef>
              <a:spcAft>
                <a:spcPts val="0"/>
              </a:spcAft>
              <a:buClr>
                <a:schemeClr val="dk1"/>
              </a:buClr>
              <a:buSzPts val="1100"/>
              <a:buFont typeface="Arial"/>
              <a:buNone/>
            </a:pPr>
            <a:r>
              <a:rPr lang="en-GB" sz="2400">
                <a:solidFill>
                  <a:schemeClr val="dk1"/>
                </a:solidFill>
              </a:rPr>
              <a:t>–</a:t>
            </a:r>
            <a:r>
              <a:rPr lang="en-GB" sz="2400">
                <a:solidFill>
                  <a:schemeClr val="dk1"/>
                </a:solidFill>
                <a:latin typeface="Calibri"/>
                <a:ea typeface="Calibri"/>
                <a:cs typeface="Calibri"/>
                <a:sym typeface="Calibri"/>
              </a:rPr>
              <a:t>Attributes (status)</a:t>
            </a:r>
            <a:endParaRPr sz="2400">
              <a:solidFill>
                <a:schemeClr val="dk1"/>
              </a:solidFill>
              <a:latin typeface="Calibri"/>
              <a:ea typeface="Calibri"/>
              <a:cs typeface="Calibri"/>
              <a:sym typeface="Calibri"/>
            </a:endParaRPr>
          </a:p>
          <a:p>
            <a:pPr indent="0" lvl="0" marL="0" rtl="0" algn="l">
              <a:lnSpc>
                <a:spcPct val="100000"/>
              </a:lnSpc>
              <a:spcBef>
                <a:spcPts val="0"/>
              </a:spcBef>
              <a:spcAft>
                <a:spcPts val="0"/>
              </a:spcAft>
              <a:buClr>
                <a:schemeClr val="dk1"/>
              </a:buClr>
              <a:buSzPts val="1100"/>
              <a:buFont typeface="Arial"/>
              <a:buNone/>
            </a:pPr>
            <a:r>
              <a:rPr lang="en-GB" sz="2400">
                <a:solidFill>
                  <a:schemeClr val="dk1"/>
                </a:solidFill>
              </a:rPr>
              <a:t>–</a:t>
            </a:r>
            <a:r>
              <a:rPr lang="en-GB" sz="2400">
                <a:solidFill>
                  <a:schemeClr val="dk1"/>
                </a:solidFill>
                <a:latin typeface="Calibri"/>
                <a:ea typeface="Calibri"/>
                <a:cs typeface="Calibri"/>
                <a:sym typeface="Calibri"/>
              </a:rPr>
              <a:t>Operations (behavior)</a:t>
            </a:r>
            <a:endParaRPr sz="2400">
              <a:solidFill>
                <a:schemeClr val="dk1"/>
              </a:solidFill>
              <a:latin typeface="Calibri"/>
              <a:ea typeface="Calibri"/>
              <a:cs typeface="Calibri"/>
              <a:sym typeface="Calibri"/>
            </a:endParaRPr>
          </a:p>
          <a:p>
            <a:pPr indent="0" lvl="0" marL="0" rtl="0" algn="l">
              <a:lnSpc>
                <a:spcPct val="100000"/>
              </a:lnSpc>
              <a:spcBef>
                <a:spcPts val="0"/>
              </a:spcBef>
              <a:spcAft>
                <a:spcPts val="0"/>
              </a:spcAft>
              <a:buClr>
                <a:schemeClr val="dk1"/>
              </a:buClr>
              <a:buSzPts val="1100"/>
              <a:buFont typeface="Arial"/>
              <a:buNone/>
            </a:pPr>
            <a:r>
              <a:rPr lang="en-GB" sz="2400">
                <a:solidFill>
                  <a:schemeClr val="dk1"/>
                </a:solidFill>
              </a:rPr>
              <a:t>–</a:t>
            </a:r>
            <a:r>
              <a:rPr lang="en-GB" sz="2400">
                <a:solidFill>
                  <a:schemeClr val="dk1"/>
                </a:solidFill>
                <a:latin typeface="Calibri"/>
                <a:ea typeface="Calibri"/>
                <a:cs typeface="Calibri"/>
                <a:sym typeface="Calibri"/>
              </a:rPr>
              <a:t>Relationships with other classes</a:t>
            </a:r>
            <a:endParaRPr sz="2400">
              <a:solidFill>
                <a:schemeClr val="dk1"/>
              </a:solidFill>
              <a:latin typeface="Calibri"/>
              <a:ea typeface="Calibri"/>
              <a:cs typeface="Calibri"/>
              <a:sym typeface="Calibri"/>
            </a:endParaRPr>
          </a:p>
          <a:p>
            <a:pPr indent="0" lvl="0" marL="0" rtl="0" algn="l">
              <a:lnSpc>
                <a:spcPct val="100000"/>
              </a:lnSpc>
              <a:spcBef>
                <a:spcPts val="0"/>
              </a:spcBef>
              <a:spcAft>
                <a:spcPts val="0"/>
              </a:spcAft>
              <a:buClr>
                <a:schemeClr val="dk1"/>
              </a:buClr>
              <a:buSzPts val="1100"/>
              <a:buFont typeface="Arial"/>
              <a:buNone/>
            </a:pPr>
            <a:r>
              <a:rPr lang="en-GB" sz="2800">
                <a:solidFill>
                  <a:schemeClr val="dk1"/>
                </a:solidFill>
              </a:rPr>
              <a:t>•</a:t>
            </a:r>
            <a:r>
              <a:rPr lang="en-GB" sz="2400">
                <a:solidFill>
                  <a:schemeClr val="dk1"/>
                </a:solidFill>
                <a:latin typeface="Calibri"/>
                <a:ea typeface="Calibri"/>
                <a:cs typeface="Calibri"/>
                <a:sym typeface="Calibri"/>
              </a:rPr>
              <a:t>Attributes and operations may</a:t>
            </a:r>
            <a:r>
              <a:rPr lang="en-GB" sz="2800">
                <a:solidFill>
                  <a:schemeClr val="dk1"/>
                </a:solidFill>
                <a:latin typeface="Calibri"/>
                <a:ea typeface="Calibri"/>
                <a:cs typeface="Calibri"/>
                <a:sym typeface="Calibri"/>
              </a:rPr>
              <a:t> </a:t>
            </a:r>
            <a:r>
              <a:rPr lang="en-GB" sz="2400">
                <a:solidFill>
                  <a:schemeClr val="dk1"/>
                </a:solidFill>
                <a:latin typeface="Calibri"/>
                <a:ea typeface="Calibri"/>
                <a:cs typeface="Calibri"/>
                <a:sym typeface="Calibri"/>
              </a:rPr>
              <a:t>have their visibility marked:</a:t>
            </a:r>
            <a:endParaRPr sz="2400">
              <a:solidFill>
                <a:schemeClr val="dk1"/>
              </a:solidFill>
              <a:latin typeface="Calibri"/>
              <a:ea typeface="Calibri"/>
              <a:cs typeface="Calibri"/>
              <a:sym typeface="Calibri"/>
            </a:endParaRPr>
          </a:p>
          <a:p>
            <a:pPr indent="0" lvl="0" marL="914400" rtl="0" algn="l">
              <a:lnSpc>
                <a:spcPct val="100000"/>
              </a:lnSpc>
              <a:spcBef>
                <a:spcPts val="0"/>
              </a:spcBef>
              <a:spcAft>
                <a:spcPts val="0"/>
              </a:spcAft>
              <a:buClr>
                <a:schemeClr val="dk1"/>
              </a:buClr>
              <a:buSzPts val="1100"/>
              <a:buFont typeface="Arial"/>
              <a:buNone/>
            </a:pPr>
            <a:r>
              <a:rPr lang="en-GB" sz="2400">
                <a:solidFill>
                  <a:schemeClr val="dk1"/>
                </a:solidFill>
                <a:latin typeface="Calibri"/>
                <a:ea typeface="Calibri"/>
                <a:cs typeface="Calibri"/>
                <a:sym typeface="Calibri"/>
              </a:rPr>
              <a:t>"+" for </a:t>
            </a:r>
            <a:r>
              <a:rPr i="1" lang="en-GB" sz="2400">
                <a:solidFill>
                  <a:schemeClr val="dk1"/>
                </a:solidFill>
                <a:latin typeface="Calibri"/>
                <a:ea typeface="Calibri"/>
                <a:cs typeface="Calibri"/>
                <a:sym typeface="Calibri"/>
              </a:rPr>
              <a:t>public</a:t>
            </a:r>
            <a:endParaRPr i="1" sz="2400">
              <a:solidFill>
                <a:schemeClr val="dk1"/>
              </a:solidFill>
              <a:latin typeface="Calibri"/>
              <a:ea typeface="Calibri"/>
              <a:cs typeface="Calibri"/>
              <a:sym typeface="Calibri"/>
            </a:endParaRPr>
          </a:p>
          <a:p>
            <a:pPr indent="0" lvl="0" marL="914400" rtl="0" algn="l">
              <a:lnSpc>
                <a:spcPct val="100000"/>
              </a:lnSpc>
              <a:spcBef>
                <a:spcPts val="0"/>
              </a:spcBef>
              <a:spcAft>
                <a:spcPts val="0"/>
              </a:spcAft>
              <a:buClr>
                <a:schemeClr val="dk1"/>
              </a:buClr>
              <a:buSzPts val="1100"/>
              <a:buFont typeface="Arial"/>
              <a:buNone/>
            </a:pPr>
            <a:r>
              <a:rPr lang="en-GB" sz="2400">
                <a:solidFill>
                  <a:schemeClr val="dk1"/>
                </a:solidFill>
                <a:latin typeface="Calibri"/>
                <a:ea typeface="Calibri"/>
                <a:cs typeface="Calibri"/>
                <a:sym typeface="Calibri"/>
              </a:rPr>
              <a:t>"#" for </a:t>
            </a:r>
            <a:r>
              <a:rPr i="1" lang="en-GB" sz="2400">
                <a:solidFill>
                  <a:schemeClr val="dk1"/>
                </a:solidFill>
                <a:latin typeface="Calibri"/>
                <a:ea typeface="Calibri"/>
                <a:cs typeface="Calibri"/>
                <a:sym typeface="Calibri"/>
              </a:rPr>
              <a:t>protected</a:t>
            </a:r>
            <a:endParaRPr i="1" sz="2400">
              <a:solidFill>
                <a:schemeClr val="dk1"/>
              </a:solidFill>
              <a:latin typeface="Calibri"/>
              <a:ea typeface="Calibri"/>
              <a:cs typeface="Calibri"/>
              <a:sym typeface="Calibri"/>
            </a:endParaRPr>
          </a:p>
          <a:p>
            <a:pPr indent="0" lvl="0" marL="914400" rtl="0" algn="l">
              <a:lnSpc>
                <a:spcPct val="100000"/>
              </a:lnSpc>
              <a:spcBef>
                <a:spcPts val="0"/>
              </a:spcBef>
              <a:spcAft>
                <a:spcPts val="0"/>
              </a:spcAft>
              <a:buClr>
                <a:schemeClr val="dk1"/>
              </a:buClr>
              <a:buSzPts val="1100"/>
              <a:buFont typeface="Arial"/>
              <a:buNone/>
            </a:pPr>
            <a:r>
              <a:rPr lang="en-GB" sz="2400">
                <a:solidFill>
                  <a:schemeClr val="dk1"/>
                </a:solidFill>
                <a:latin typeface="Calibri"/>
                <a:ea typeface="Calibri"/>
                <a:cs typeface="Calibri"/>
                <a:sym typeface="Calibri"/>
              </a:rPr>
              <a:t>"−" for </a:t>
            </a:r>
            <a:r>
              <a:rPr i="1" lang="en-GB" sz="2400">
                <a:solidFill>
                  <a:schemeClr val="dk1"/>
                </a:solidFill>
                <a:latin typeface="Calibri"/>
                <a:ea typeface="Calibri"/>
                <a:cs typeface="Calibri"/>
                <a:sym typeface="Calibri"/>
              </a:rPr>
              <a:t>private</a:t>
            </a:r>
            <a:endParaRPr i="1" sz="2400">
              <a:solidFill>
                <a:schemeClr val="dk1"/>
              </a:solidFill>
              <a:latin typeface="Calibri"/>
              <a:ea typeface="Calibri"/>
              <a:cs typeface="Calibri"/>
              <a:sym typeface="Calibri"/>
            </a:endParaRPr>
          </a:p>
          <a:p>
            <a:pPr indent="0" lvl="0" marL="914400" rtl="0" algn="l">
              <a:lnSpc>
                <a:spcPct val="100000"/>
              </a:lnSpc>
              <a:spcBef>
                <a:spcPts val="0"/>
              </a:spcBef>
              <a:spcAft>
                <a:spcPts val="0"/>
              </a:spcAft>
              <a:buSzPts val="1400"/>
              <a:buNone/>
            </a:pPr>
            <a:r>
              <a:rPr lang="en-GB" sz="2400">
                <a:solidFill>
                  <a:schemeClr val="dk1"/>
                </a:solidFill>
                <a:latin typeface="Calibri"/>
                <a:ea typeface="Calibri"/>
                <a:cs typeface="Calibri"/>
                <a:sym typeface="Calibri"/>
              </a:rPr>
              <a:t>"~" for </a:t>
            </a:r>
            <a:r>
              <a:rPr i="1" lang="en-GB" sz="2400">
                <a:solidFill>
                  <a:schemeClr val="dk1"/>
                </a:solidFill>
                <a:latin typeface="Calibri"/>
                <a:ea typeface="Calibri"/>
                <a:cs typeface="Calibri"/>
                <a:sym typeface="Calibri"/>
              </a:rPr>
              <a:t>package</a:t>
            </a:r>
            <a:endParaRPr sz="2800">
              <a:solidFill>
                <a:schemeClr val="dk1"/>
              </a:solidFill>
              <a:latin typeface="Calibri"/>
              <a:ea typeface="Calibri"/>
              <a:cs typeface="Calibri"/>
              <a:sym typeface="Calibri"/>
            </a:endParaRPr>
          </a:p>
        </p:txBody>
      </p:sp>
      <p:sp>
        <p:nvSpPr>
          <p:cNvPr id="430" name="Google Shape;430;p4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431" name="Google Shape;431;p4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pic>
        <p:nvPicPr>
          <p:cNvPr id="432" name="Google Shape;432;p44"/>
          <p:cNvPicPr preferRelativeResize="0"/>
          <p:nvPr/>
        </p:nvPicPr>
        <p:blipFill rotWithShape="1">
          <a:blip r:embed="rId3">
            <a:alphaModFix/>
          </a:blip>
          <a:srcRect b="0" l="0" r="0" t="0"/>
          <a:stretch/>
        </p:blipFill>
        <p:spPr>
          <a:xfrm>
            <a:off x="5029400" y="3204450"/>
            <a:ext cx="2552700" cy="15049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9">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45"/>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Analysis Model</a:t>
            </a:r>
            <a:endParaRPr b="1"/>
          </a:p>
        </p:txBody>
      </p:sp>
      <p:sp>
        <p:nvSpPr>
          <p:cNvPr id="438" name="Google Shape;438;p45"/>
          <p:cNvSpPr txBox="1"/>
          <p:nvPr>
            <p:ph idx="1" type="body"/>
          </p:nvPr>
        </p:nvSpPr>
        <p:spPr>
          <a:xfrm>
            <a:off x="318125" y="586350"/>
            <a:ext cx="8826000" cy="2261400"/>
          </a:xfrm>
          <a:prstGeom prst="rect">
            <a:avLst/>
          </a:prstGeom>
          <a:noFill/>
          <a:ln>
            <a:noFill/>
          </a:ln>
        </p:spPr>
        <p:txBody>
          <a:bodyPr anchorCtr="0" anchor="t" bIns="34275" lIns="68575" spcFirstLastPara="1" rIns="68575" wrap="square" tIns="34275">
            <a:noAutofit/>
          </a:bodyPr>
          <a:lstStyle/>
          <a:p>
            <a:pPr indent="0" lvl="0" marL="0" rtl="0" algn="just">
              <a:lnSpc>
                <a:spcPct val="90000"/>
              </a:lnSpc>
              <a:spcBef>
                <a:spcPts val="0"/>
              </a:spcBef>
              <a:spcAft>
                <a:spcPts val="0"/>
              </a:spcAft>
              <a:buSzPts val="1400"/>
              <a:buNone/>
            </a:pPr>
            <a:r>
              <a:rPr b="1" lang="en-GB" sz="3200">
                <a:solidFill>
                  <a:srgbClr val="002060"/>
                </a:solidFill>
                <a:latin typeface="Calibri"/>
                <a:ea typeface="Calibri"/>
                <a:cs typeface="Calibri"/>
                <a:sym typeface="Calibri"/>
              </a:rPr>
              <a:t>Class Diagram  </a:t>
            </a:r>
            <a:endParaRPr sz="2400">
              <a:solidFill>
                <a:schemeClr val="dk1"/>
              </a:solidFill>
              <a:latin typeface="Calibri"/>
              <a:ea typeface="Calibri"/>
              <a:cs typeface="Calibri"/>
              <a:sym typeface="Calibri"/>
            </a:endParaRPr>
          </a:p>
          <a:p>
            <a:pPr indent="0" lvl="0" marL="457200" rtl="0" algn="l">
              <a:lnSpc>
                <a:spcPct val="100000"/>
              </a:lnSpc>
              <a:spcBef>
                <a:spcPts val="0"/>
              </a:spcBef>
              <a:spcAft>
                <a:spcPts val="0"/>
              </a:spcAft>
              <a:buSzPts val="1400"/>
              <a:buNone/>
            </a:pPr>
            <a:r>
              <a:rPr lang="en-GB" sz="2800">
                <a:solidFill>
                  <a:schemeClr val="dk1"/>
                </a:solidFill>
                <a:latin typeface="Calibri"/>
                <a:ea typeface="Calibri"/>
                <a:cs typeface="Calibri"/>
                <a:sym typeface="Calibri"/>
              </a:rPr>
              <a:t>Class: Association Relationship </a:t>
            </a:r>
            <a:endParaRPr sz="2800">
              <a:solidFill>
                <a:schemeClr val="dk1"/>
              </a:solidFill>
              <a:latin typeface="Calibri"/>
              <a:ea typeface="Calibri"/>
              <a:cs typeface="Calibri"/>
              <a:sym typeface="Calibri"/>
            </a:endParaRPr>
          </a:p>
          <a:p>
            <a:pPr indent="0" lvl="0" marL="914400" rtl="0" algn="l">
              <a:lnSpc>
                <a:spcPct val="100000"/>
              </a:lnSpc>
              <a:spcBef>
                <a:spcPts val="0"/>
              </a:spcBef>
              <a:spcAft>
                <a:spcPts val="0"/>
              </a:spcAft>
              <a:buSzPts val="1400"/>
              <a:buNone/>
            </a:pPr>
            <a:r>
              <a:rPr lang="en-GB" sz="2400">
                <a:solidFill>
                  <a:schemeClr val="dk1"/>
                </a:solidFill>
                <a:latin typeface="Calibri"/>
                <a:ea typeface="Calibri"/>
                <a:cs typeface="Calibri"/>
                <a:sym typeface="Calibri"/>
              </a:rPr>
              <a:t>An association between two classes indicates that objects at one end of an association “recognize” objects at the other end and may send messages to them.</a:t>
            </a:r>
            <a:endParaRPr sz="2400">
              <a:solidFill>
                <a:schemeClr val="dk1"/>
              </a:solidFill>
              <a:latin typeface="Calibri"/>
              <a:ea typeface="Calibri"/>
              <a:cs typeface="Calibri"/>
              <a:sym typeface="Calibri"/>
            </a:endParaRPr>
          </a:p>
          <a:p>
            <a:pPr indent="0" lvl="0" marL="0" rtl="0" algn="l">
              <a:lnSpc>
                <a:spcPct val="90000"/>
              </a:lnSpc>
              <a:spcBef>
                <a:spcPts val="700"/>
              </a:spcBef>
              <a:spcAft>
                <a:spcPts val="0"/>
              </a:spcAft>
              <a:buSzPts val="1400"/>
              <a:buNone/>
            </a:pPr>
            <a:r>
              <a:t/>
            </a:r>
            <a:endParaRPr sz="2800">
              <a:solidFill>
                <a:schemeClr val="dk1"/>
              </a:solidFill>
            </a:endParaRPr>
          </a:p>
          <a:p>
            <a:pPr indent="0" lvl="0" marL="0" rtl="0" algn="l">
              <a:lnSpc>
                <a:spcPct val="90000"/>
              </a:lnSpc>
              <a:spcBef>
                <a:spcPts val="700"/>
              </a:spcBef>
              <a:spcAft>
                <a:spcPts val="0"/>
              </a:spcAft>
              <a:buSzPts val="1400"/>
              <a:buNone/>
            </a:pPr>
            <a:r>
              <a:rPr lang="en-GB" sz="2800">
                <a:solidFill>
                  <a:schemeClr val="dk1"/>
                </a:solidFill>
                <a:latin typeface="Calibri"/>
                <a:ea typeface="Calibri"/>
                <a:cs typeface="Calibri"/>
                <a:sym typeface="Calibri"/>
              </a:rPr>
              <a:t>Example: “An Employee works for a Company”</a:t>
            </a:r>
            <a:endParaRPr sz="28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sz="2400">
              <a:solidFill>
                <a:schemeClr val="dk1"/>
              </a:solidFill>
              <a:latin typeface="Calibri"/>
              <a:ea typeface="Calibri"/>
              <a:cs typeface="Calibri"/>
              <a:sym typeface="Calibri"/>
            </a:endParaRPr>
          </a:p>
        </p:txBody>
      </p:sp>
      <p:sp>
        <p:nvSpPr>
          <p:cNvPr id="439" name="Google Shape;439;p4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440" name="Google Shape;440;p4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pic>
        <p:nvPicPr>
          <p:cNvPr id="441" name="Google Shape;441;p45"/>
          <p:cNvPicPr preferRelativeResize="0"/>
          <p:nvPr/>
        </p:nvPicPr>
        <p:blipFill rotWithShape="1">
          <a:blip r:embed="rId3">
            <a:alphaModFix/>
          </a:blip>
          <a:srcRect b="0" l="0" r="0" t="0"/>
          <a:stretch/>
        </p:blipFill>
        <p:spPr>
          <a:xfrm>
            <a:off x="2364375" y="3890925"/>
            <a:ext cx="4329400" cy="7358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8">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46"/>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Analysis Model</a:t>
            </a:r>
            <a:endParaRPr b="1"/>
          </a:p>
        </p:txBody>
      </p:sp>
      <p:sp>
        <p:nvSpPr>
          <p:cNvPr id="447" name="Google Shape;447;p46"/>
          <p:cNvSpPr txBox="1"/>
          <p:nvPr>
            <p:ph idx="1" type="body"/>
          </p:nvPr>
        </p:nvSpPr>
        <p:spPr>
          <a:xfrm>
            <a:off x="318125" y="586350"/>
            <a:ext cx="8826000" cy="2261400"/>
          </a:xfrm>
          <a:prstGeom prst="rect">
            <a:avLst/>
          </a:prstGeom>
          <a:noFill/>
          <a:ln>
            <a:noFill/>
          </a:ln>
        </p:spPr>
        <p:txBody>
          <a:bodyPr anchorCtr="0" anchor="t" bIns="34275" lIns="68575" spcFirstLastPara="1" rIns="68575" wrap="square" tIns="34275">
            <a:noAutofit/>
          </a:bodyPr>
          <a:lstStyle/>
          <a:p>
            <a:pPr indent="0" lvl="0" marL="0" rtl="0" algn="just">
              <a:lnSpc>
                <a:spcPct val="90000"/>
              </a:lnSpc>
              <a:spcBef>
                <a:spcPts val="0"/>
              </a:spcBef>
              <a:spcAft>
                <a:spcPts val="0"/>
              </a:spcAft>
              <a:buSzPts val="1400"/>
              <a:buNone/>
            </a:pPr>
            <a:r>
              <a:rPr b="1" lang="en-GB" sz="3200">
                <a:solidFill>
                  <a:srgbClr val="002060"/>
                </a:solidFill>
                <a:latin typeface="Calibri"/>
                <a:ea typeface="Calibri"/>
                <a:cs typeface="Calibri"/>
                <a:sym typeface="Calibri"/>
              </a:rPr>
              <a:t>Class Diagram  </a:t>
            </a:r>
            <a:endParaRPr sz="2400">
              <a:solidFill>
                <a:schemeClr val="dk1"/>
              </a:solidFill>
              <a:latin typeface="Calibri"/>
              <a:ea typeface="Calibri"/>
              <a:cs typeface="Calibri"/>
              <a:sym typeface="Calibri"/>
            </a:endParaRPr>
          </a:p>
          <a:p>
            <a:pPr indent="0" lvl="0" marL="457200" rtl="0" algn="l">
              <a:lnSpc>
                <a:spcPct val="100000"/>
              </a:lnSpc>
              <a:spcBef>
                <a:spcPts val="0"/>
              </a:spcBef>
              <a:spcAft>
                <a:spcPts val="0"/>
              </a:spcAft>
              <a:buSzPts val="1400"/>
              <a:buNone/>
            </a:pPr>
            <a:r>
              <a:rPr lang="en-GB" sz="2800">
                <a:solidFill>
                  <a:schemeClr val="dk1"/>
                </a:solidFill>
                <a:latin typeface="Calibri"/>
                <a:ea typeface="Calibri"/>
                <a:cs typeface="Calibri"/>
                <a:sym typeface="Calibri"/>
              </a:rPr>
              <a:t>Class: Direct Association Relationship </a:t>
            </a:r>
            <a:endParaRPr sz="2800">
              <a:solidFill>
                <a:schemeClr val="dk1"/>
              </a:solidFill>
              <a:latin typeface="Calibri"/>
              <a:ea typeface="Calibri"/>
              <a:cs typeface="Calibri"/>
              <a:sym typeface="Calibri"/>
            </a:endParaRPr>
          </a:p>
          <a:p>
            <a:pPr indent="0" lvl="0" marL="914400" rtl="0" algn="just">
              <a:lnSpc>
                <a:spcPct val="100000"/>
              </a:lnSpc>
              <a:spcBef>
                <a:spcPts val="0"/>
              </a:spcBef>
              <a:spcAft>
                <a:spcPts val="0"/>
              </a:spcAft>
              <a:buSzPts val="1400"/>
              <a:buNone/>
            </a:pPr>
            <a:r>
              <a:rPr lang="en-GB" sz="2400">
                <a:solidFill>
                  <a:schemeClr val="dk1"/>
                </a:solidFill>
                <a:latin typeface="Calibri"/>
                <a:ea typeface="Calibri"/>
                <a:cs typeface="Calibri"/>
                <a:sym typeface="Calibri"/>
              </a:rPr>
              <a:t>Refers to a </a:t>
            </a:r>
            <a:r>
              <a:rPr b="1" lang="en-GB" sz="2400">
                <a:solidFill>
                  <a:schemeClr val="dk1"/>
                </a:solidFill>
                <a:latin typeface="Calibri"/>
                <a:ea typeface="Calibri"/>
                <a:cs typeface="Calibri"/>
                <a:sym typeface="Calibri"/>
              </a:rPr>
              <a:t>directional relationship </a:t>
            </a:r>
            <a:r>
              <a:rPr lang="en-GB" sz="2400">
                <a:solidFill>
                  <a:schemeClr val="dk1"/>
                </a:solidFill>
                <a:latin typeface="Calibri"/>
                <a:ea typeface="Calibri"/>
                <a:cs typeface="Calibri"/>
                <a:sym typeface="Calibri"/>
              </a:rPr>
              <a:t>represented by a line with an arrowhead. The arrowhead depicts a container-contained directional flow.</a:t>
            </a:r>
            <a:endParaRPr sz="2400">
              <a:solidFill>
                <a:schemeClr val="dk1"/>
              </a:solidFill>
              <a:latin typeface="Calibri"/>
              <a:ea typeface="Calibri"/>
              <a:cs typeface="Calibri"/>
              <a:sym typeface="Calibri"/>
            </a:endParaRPr>
          </a:p>
          <a:p>
            <a:pPr indent="0" lvl="0" marL="0" rtl="0" algn="l">
              <a:lnSpc>
                <a:spcPct val="90000"/>
              </a:lnSpc>
              <a:spcBef>
                <a:spcPts val="700"/>
              </a:spcBef>
              <a:spcAft>
                <a:spcPts val="0"/>
              </a:spcAft>
              <a:buSzPts val="1400"/>
              <a:buNone/>
            </a:pPr>
            <a:r>
              <a:t/>
            </a:r>
            <a:endParaRPr sz="24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sz="2400">
              <a:solidFill>
                <a:schemeClr val="dk1"/>
              </a:solidFill>
              <a:latin typeface="Calibri"/>
              <a:ea typeface="Calibri"/>
              <a:cs typeface="Calibri"/>
              <a:sym typeface="Calibri"/>
            </a:endParaRPr>
          </a:p>
        </p:txBody>
      </p:sp>
      <p:sp>
        <p:nvSpPr>
          <p:cNvPr id="448" name="Google Shape;448;p4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449" name="Google Shape;449;p4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pic>
        <p:nvPicPr>
          <p:cNvPr id="450" name="Google Shape;450;p46"/>
          <p:cNvPicPr preferRelativeResize="0"/>
          <p:nvPr/>
        </p:nvPicPr>
        <p:blipFill rotWithShape="1">
          <a:blip r:embed="rId3">
            <a:alphaModFix/>
          </a:blip>
          <a:srcRect b="0" l="0" r="0" t="0"/>
          <a:stretch/>
        </p:blipFill>
        <p:spPr>
          <a:xfrm>
            <a:off x="3234950" y="2847750"/>
            <a:ext cx="1219200" cy="16002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7">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p47"/>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Analysis Model</a:t>
            </a:r>
            <a:endParaRPr b="1"/>
          </a:p>
        </p:txBody>
      </p:sp>
      <p:sp>
        <p:nvSpPr>
          <p:cNvPr id="456" name="Google Shape;456;p47"/>
          <p:cNvSpPr txBox="1"/>
          <p:nvPr>
            <p:ph idx="1" type="body"/>
          </p:nvPr>
        </p:nvSpPr>
        <p:spPr>
          <a:xfrm>
            <a:off x="318125" y="586350"/>
            <a:ext cx="8826000" cy="2261400"/>
          </a:xfrm>
          <a:prstGeom prst="rect">
            <a:avLst/>
          </a:prstGeom>
          <a:noFill/>
          <a:ln>
            <a:noFill/>
          </a:ln>
        </p:spPr>
        <p:txBody>
          <a:bodyPr anchorCtr="0" anchor="t" bIns="34275" lIns="68575" spcFirstLastPara="1" rIns="68575" wrap="square" tIns="34275">
            <a:noAutofit/>
          </a:bodyPr>
          <a:lstStyle/>
          <a:p>
            <a:pPr indent="0" lvl="0" marL="0" rtl="0" algn="just">
              <a:lnSpc>
                <a:spcPct val="90000"/>
              </a:lnSpc>
              <a:spcBef>
                <a:spcPts val="0"/>
              </a:spcBef>
              <a:spcAft>
                <a:spcPts val="0"/>
              </a:spcAft>
              <a:buSzPts val="1400"/>
              <a:buNone/>
            </a:pPr>
            <a:r>
              <a:rPr b="1" lang="en-GB" sz="3200">
                <a:solidFill>
                  <a:srgbClr val="002060"/>
                </a:solidFill>
                <a:latin typeface="Calibri"/>
                <a:ea typeface="Calibri"/>
                <a:cs typeface="Calibri"/>
                <a:sym typeface="Calibri"/>
              </a:rPr>
              <a:t>Class Diagram  </a:t>
            </a:r>
            <a:endParaRPr sz="2400">
              <a:solidFill>
                <a:schemeClr val="dk1"/>
              </a:solidFill>
              <a:latin typeface="Calibri"/>
              <a:ea typeface="Calibri"/>
              <a:cs typeface="Calibri"/>
              <a:sym typeface="Calibri"/>
            </a:endParaRPr>
          </a:p>
          <a:p>
            <a:pPr indent="0" lvl="0" marL="457200" rtl="0" algn="l">
              <a:lnSpc>
                <a:spcPct val="100000"/>
              </a:lnSpc>
              <a:spcBef>
                <a:spcPts val="0"/>
              </a:spcBef>
              <a:spcAft>
                <a:spcPts val="0"/>
              </a:spcAft>
              <a:buSzPts val="1400"/>
              <a:buNone/>
            </a:pPr>
            <a:r>
              <a:rPr lang="en-GB" sz="2800">
                <a:solidFill>
                  <a:schemeClr val="dk1"/>
                </a:solidFill>
                <a:latin typeface="Calibri"/>
                <a:ea typeface="Calibri"/>
                <a:cs typeface="Calibri"/>
                <a:sym typeface="Calibri"/>
              </a:rPr>
              <a:t>Class: Reflexive Association Relationship </a:t>
            </a:r>
            <a:endParaRPr sz="2800">
              <a:solidFill>
                <a:schemeClr val="dk1"/>
              </a:solidFill>
              <a:latin typeface="Calibri"/>
              <a:ea typeface="Calibri"/>
              <a:cs typeface="Calibri"/>
              <a:sym typeface="Calibri"/>
            </a:endParaRPr>
          </a:p>
          <a:p>
            <a:pPr indent="0" lvl="0" marL="914400" rtl="0" algn="just">
              <a:lnSpc>
                <a:spcPct val="100000"/>
              </a:lnSpc>
              <a:spcBef>
                <a:spcPts val="0"/>
              </a:spcBef>
              <a:spcAft>
                <a:spcPts val="0"/>
              </a:spcAft>
              <a:buSzPts val="1400"/>
              <a:buNone/>
            </a:pPr>
            <a:r>
              <a:rPr lang="en-GB" sz="2400">
                <a:solidFill>
                  <a:schemeClr val="dk1"/>
                </a:solidFill>
                <a:latin typeface="Calibri"/>
                <a:ea typeface="Calibri"/>
                <a:cs typeface="Calibri"/>
                <a:sym typeface="Calibri"/>
              </a:rPr>
              <a:t>Relationship from one class back to itself </a:t>
            </a:r>
            <a:endParaRPr sz="2400">
              <a:solidFill>
                <a:schemeClr val="dk1"/>
              </a:solidFill>
              <a:latin typeface="Calibri"/>
              <a:ea typeface="Calibri"/>
              <a:cs typeface="Calibri"/>
              <a:sym typeface="Calibri"/>
            </a:endParaRPr>
          </a:p>
          <a:p>
            <a:pPr indent="0" lvl="0" marL="0" rtl="0" algn="l">
              <a:lnSpc>
                <a:spcPct val="90000"/>
              </a:lnSpc>
              <a:spcBef>
                <a:spcPts val="700"/>
              </a:spcBef>
              <a:spcAft>
                <a:spcPts val="0"/>
              </a:spcAft>
              <a:buSzPts val="1400"/>
              <a:buNone/>
            </a:pPr>
            <a:r>
              <a:t/>
            </a:r>
            <a:endParaRPr sz="24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sz="2400">
              <a:solidFill>
                <a:schemeClr val="dk1"/>
              </a:solidFill>
              <a:latin typeface="Calibri"/>
              <a:ea typeface="Calibri"/>
              <a:cs typeface="Calibri"/>
              <a:sym typeface="Calibri"/>
            </a:endParaRPr>
          </a:p>
        </p:txBody>
      </p:sp>
      <p:sp>
        <p:nvSpPr>
          <p:cNvPr id="457" name="Google Shape;457;p4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458" name="Google Shape;458;p4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
        <p:nvSpPr>
          <p:cNvPr id="459" name="Google Shape;459;p47"/>
          <p:cNvSpPr txBox="1"/>
          <p:nvPr/>
        </p:nvSpPr>
        <p:spPr>
          <a:xfrm>
            <a:off x="1916875" y="3582225"/>
            <a:ext cx="954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60" name="Google Shape;460;p47"/>
          <p:cNvPicPr preferRelativeResize="0"/>
          <p:nvPr/>
        </p:nvPicPr>
        <p:blipFill rotWithShape="1">
          <a:blip r:embed="rId3">
            <a:alphaModFix/>
          </a:blip>
          <a:srcRect b="0" l="0" r="0" t="0"/>
          <a:stretch/>
        </p:blipFill>
        <p:spPr>
          <a:xfrm>
            <a:off x="1509225" y="2119975"/>
            <a:ext cx="5927575" cy="26472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6">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48"/>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Analysis Model</a:t>
            </a:r>
            <a:endParaRPr b="1"/>
          </a:p>
        </p:txBody>
      </p:sp>
      <p:sp>
        <p:nvSpPr>
          <p:cNvPr id="466" name="Google Shape;466;p48"/>
          <p:cNvSpPr txBox="1"/>
          <p:nvPr>
            <p:ph idx="1" type="body"/>
          </p:nvPr>
        </p:nvSpPr>
        <p:spPr>
          <a:xfrm>
            <a:off x="352825" y="577700"/>
            <a:ext cx="8826000" cy="2261400"/>
          </a:xfrm>
          <a:prstGeom prst="rect">
            <a:avLst/>
          </a:prstGeom>
          <a:noFill/>
          <a:ln>
            <a:noFill/>
          </a:ln>
        </p:spPr>
        <p:txBody>
          <a:bodyPr anchorCtr="0" anchor="t" bIns="34275" lIns="68575" spcFirstLastPara="1" rIns="68575" wrap="square" tIns="34275">
            <a:noAutofit/>
          </a:bodyPr>
          <a:lstStyle/>
          <a:p>
            <a:pPr indent="0" lvl="0" marL="0" rtl="0" algn="just">
              <a:lnSpc>
                <a:spcPct val="90000"/>
              </a:lnSpc>
              <a:spcBef>
                <a:spcPts val="0"/>
              </a:spcBef>
              <a:spcAft>
                <a:spcPts val="0"/>
              </a:spcAft>
              <a:buSzPts val="1400"/>
              <a:buNone/>
            </a:pPr>
            <a:r>
              <a:rPr b="1" lang="en-GB" sz="3200">
                <a:solidFill>
                  <a:srgbClr val="002060"/>
                </a:solidFill>
                <a:latin typeface="Calibri"/>
                <a:ea typeface="Calibri"/>
                <a:cs typeface="Calibri"/>
                <a:sym typeface="Calibri"/>
              </a:rPr>
              <a:t>Class Diagram  </a:t>
            </a:r>
            <a:endParaRPr sz="2400">
              <a:solidFill>
                <a:schemeClr val="dk1"/>
              </a:solidFill>
              <a:latin typeface="Calibri"/>
              <a:ea typeface="Calibri"/>
              <a:cs typeface="Calibri"/>
              <a:sym typeface="Calibri"/>
            </a:endParaRPr>
          </a:p>
          <a:p>
            <a:pPr indent="0" lvl="0" marL="0" rtl="0" algn="l">
              <a:lnSpc>
                <a:spcPct val="90000"/>
              </a:lnSpc>
              <a:spcBef>
                <a:spcPts val="700"/>
              </a:spcBef>
              <a:spcAft>
                <a:spcPts val="0"/>
              </a:spcAft>
              <a:buSzPts val="1400"/>
              <a:buNone/>
            </a:pPr>
            <a:r>
              <a:t/>
            </a:r>
            <a:endParaRPr sz="24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sz="2400">
              <a:solidFill>
                <a:schemeClr val="dk1"/>
              </a:solidFill>
              <a:latin typeface="Calibri"/>
              <a:ea typeface="Calibri"/>
              <a:cs typeface="Calibri"/>
              <a:sym typeface="Calibri"/>
            </a:endParaRPr>
          </a:p>
        </p:txBody>
      </p:sp>
      <p:sp>
        <p:nvSpPr>
          <p:cNvPr id="467" name="Google Shape;467;p4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468" name="Google Shape;468;p4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
        <p:nvSpPr>
          <p:cNvPr id="469" name="Google Shape;469;p48"/>
          <p:cNvSpPr txBox="1"/>
          <p:nvPr/>
        </p:nvSpPr>
        <p:spPr>
          <a:xfrm>
            <a:off x="1916875" y="3582225"/>
            <a:ext cx="954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70" name="Google Shape;470;p48"/>
          <p:cNvPicPr preferRelativeResize="0"/>
          <p:nvPr/>
        </p:nvPicPr>
        <p:blipFill rotWithShape="1">
          <a:blip r:embed="rId3">
            <a:alphaModFix/>
          </a:blip>
          <a:srcRect b="0" l="0" r="0" t="0"/>
          <a:stretch/>
        </p:blipFill>
        <p:spPr>
          <a:xfrm>
            <a:off x="642550" y="1144701"/>
            <a:ext cx="8048450" cy="3348275"/>
          </a:xfrm>
          <a:prstGeom prst="rect">
            <a:avLst/>
          </a:prstGeom>
          <a:noFill/>
          <a:ln>
            <a:noFill/>
          </a:ln>
        </p:spPr>
      </p:pic>
      <p:pic>
        <p:nvPicPr>
          <p:cNvPr id="471" name="Google Shape;471;p48"/>
          <p:cNvPicPr preferRelativeResize="0"/>
          <p:nvPr/>
        </p:nvPicPr>
        <p:blipFill rotWithShape="1">
          <a:blip r:embed="rId4">
            <a:alphaModFix/>
          </a:blip>
          <a:srcRect b="0" l="0" r="0" t="0"/>
          <a:stretch/>
        </p:blipFill>
        <p:spPr>
          <a:xfrm rot="10800000">
            <a:off x="2324525" y="2520525"/>
            <a:ext cx="3920525" cy="125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6">
                                            <p:txEl>
                                              <p:pRg end="2" st="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pic>
        <p:nvPicPr>
          <p:cNvPr id="476" name="Google Shape;476;p49"/>
          <p:cNvPicPr preferRelativeResize="0"/>
          <p:nvPr/>
        </p:nvPicPr>
        <p:blipFill rotWithShape="1">
          <a:blip r:embed="rId3">
            <a:alphaModFix/>
          </a:blip>
          <a:srcRect b="0" l="0" r="0" t="0"/>
          <a:stretch/>
        </p:blipFill>
        <p:spPr>
          <a:xfrm>
            <a:off x="2311925" y="2949150"/>
            <a:ext cx="4146025" cy="2092025"/>
          </a:xfrm>
          <a:prstGeom prst="rect">
            <a:avLst/>
          </a:prstGeom>
          <a:noFill/>
          <a:ln>
            <a:noFill/>
          </a:ln>
        </p:spPr>
      </p:pic>
      <p:sp>
        <p:nvSpPr>
          <p:cNvPr id="477" name="Google Shape;477;p49"/>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Analysis Model</a:t>
            </a:r>
            <a:endParaRPr b="1"/>
          </a:p>
        </p:txBody>
      </p:sp>
      <p:sp>
        <p:nvSpPr>
          <p:cNvPr id="478" name="Google Shape;478;p49"/>
          <p:cNvSpPr txBox="1"/>
          <p:nvPr>
            <p:ph idx="1" type="body"/>
          </p:nvPr>
        </p:nvSpPr>
        <p:spPr>
          <a:xfrm>
            <a:off x="318125" y="586350"/>
            <a:ext cx="7930500" cy="3793800"/>
          </a:xfrm>
          <a:prstGeom prst="rect">
            <a:avLst/>
          </a:prstGeom>
          <a:noFill/>
          <a:ln>
            <a:noFill/>
          </a:ln>
        </p:spPr>
        <p:txBody>
          <a:bodyPr anchorCtr="0" anchor="t" bIns="34275" lIns="68575" spcFirstLastPara="1" rIns="68575" wrap="square" tIns="34275">
            <a:noAutofit/>
          </a:bodyPr>
          <a:lstStyle/>
          <a:p>
            <a:pPr indent="0" lvl="0" marL="0" rtl="0" algn="l">
              <a:lnSpc>
                <a:spcPct val="100000"/>
              </a:lnSpc>
              <a:spcBef>
                <a:spcPts val="0"/>
              </a:spcBef>
              <a:spcAft>
                <a:spcPts val="0"/>
              </a:spcAft>
              <a:buSzPts val="1400"/>
              <a:buNone/>
            </a:pPr>
            <a:r>
              <a:rPr lang="en-GB" sz="2800">
                <a:solidFill>
                  <a:schemeClr val="dk1"/>
                </a:solidFill>
                <a:latin typeface="Calibri"/>
                <a:ea typeface="Calibri"/>
                <a:cs typeface="Calibri"/>
                <a:sym typeface="Calibri"/>
              </a:rPr>
              <a:t>Class: Association Class </a:t>
            </a:r>
            <a:endParaRPr sz="2800">
              <a:solidFill>
                <a:schemeClr val="dk1"/>
              </a:solidFill>
              <a:latin typeface="Calibri"/>
              <a:ea typeface="Calibri"/>
              <a:cs typeface="Calibri"/>
              <a:sym typeface="Calibri"/>
            </a:endParaRPr>
          </a:p>
          <a:p>
            <a:pPr indent="-368300" lvl="0" marL="457200" rtl="0" algn="just">
              <a:lnSpc>
                <a:spcPct val="100000"/>
              </a:lnSpc>
              <a:spcBef>
                <a:spcPts val="0"/>
              </a:spcBef>
              <a:spcAft>
                <a:spcPts val="0"/>
              </a:spcAft>
              <a:buClr>
                <a:schemeClr val="dk1"/>
              </a:buClr>
              <a:buSzPts val="2200"/>
              <a:buFont typeface="Calibri"/>
              <a:buChar char="●"/>
            </a:pPr>
            <a:r>
              <a:rPr b="1" lang="en-GB" sz="2200">
                <a:solidFill>
                  <a:schemeClr val="dk1"/>
                </a:solidFill>
                <a:latin typeface="Calibri"/>
                <a:ea typeface="Calibri"/>
                <a:cs typeface="Calibri"/>
                <a:sym typeface="Calibri"/>
              </a:rPr>
              <a:t>include another class to add valuable information </a:t>
            </a:r>
            <a:r>
              <a:rPr lang="en-GB" sz="2200">
                <a:solidFill>
                  <a:schemeClr val="dk1"/>
                </a:solidFill>
                <a:latin typeface="Calibri"/>
                <a:ea typeface="Calibri"/>
                <a:cs typeface="Calibri"/>
                <a:sym typeface="Calibri"/>
              </a:rPr>
              <a:t>about the relationship.</a:t>
            </a:r>
            <a:endParaRPr sz="2200">
              <a:solidFill>
                <a:schemeClr val="dk1"/>
              </a:solidFill>
              <a:latin typeface="Calibri"/>
              <a:ea typeface="Calibri"/>
              <a:cs typeface="Calibri"/>
              <a:sym typeface="Calibri"/>
            </a:endParaRPr>
          </a:p>
          <a:p>
            <a:pPr indent="-368300" lvl="0" marL="457200" rtl="0" algn="just">
              <a:lnSpc>
                <a:spcPct val="100000"/>
              </a:lnSpc>
              <a:spcBef>
                <a:spcPts val="0"/>
              </a:spcBef>
              <a:spcAft>
                <a:spcPts val="0"/>
              </a:spcAft>
              <a:buClr>
                <a:schemeClr val="dk1"/>
              </a:buClr>
              <a:buSzPts val="2200"/>
              <a:buFont typeface="Calibri"/>
              <a:buChar char="●"/>
            </a:pPr>
            <a:r>
              <a:rPr lang="en-GB" sz="2200">
                <a:solidFill>
                  <a:schemeClr val="dk1"/>
                </a:solidFill>
                <a:latin typeface="Calibri"/>
                <a:ea typeface="Calibri"/>
                <a:cs typeface="Calibri"/>
                <a:sym typeface="Calibri"/>
              </a:rPr>
              <a:t>use an </a:t>
            </a:r>
            <a:r>
              <a:rPr b="1" i="1" lang="en-GB" sz="2200">
                <a:solidFill>
                  <a:schemeClr val="dk1"/>
                </a:solidFill>
                <a:latin typeface="Calibri"/>
                <a:ea typeface="Calibri"/>
                <a:cs typeface="Calibri"/>
                <a:sym typeface="Calibri"/>
              </a:rPr>
              <a:t>association class</a:t>
            </a:r>
            <a:r>
              <a:rPr b="1" lang="en-GB" sz="2200">
                <a:solidFill>
                  <a:schemeClr val="dk1"/>
                </a:solidFill>
                <a:latin typeface="Calibri"/>
                <a:ea typeface="Calibri"/>
                <a:cs typeface="Calibri"/>
                <a:sym typeface="Calibri"/>
              </a:rPr>
              <a:t> to tie the primary association.</a:t>
            </a:r>
            <a:endParaRPr b="1" sz="2200">
              <a:solidFill>
                <a:schemeClr val="dk1"/>
              </a:solidFill>
              <a:latin typeface="Calibri"/>
              <a:ea typeface="Calibri"/>
              <a:cs typeface="Calibri"/>
              <a:sym typeface="Calibri"/>
            </a:endParaRPr>
          </a:p>
          <a:p>
            <a:pPr indent="-368300" lvl="0" marL="457200" rtl="0" algn="just">
              <a:lnSpc>
                <a:spcPct val="100000"/>
              </a:lnSpc>
              <a:spcBef>
                <a:spcPts val="0"/>
              </a:spcBef>
              <a:spcAft>
                <a:spcPts val="0"/>
              </a:spcAft>
              <a:buClr>
                <a:schemeClr val="dk1"/>
              </a:buClr>
              <a:buSzPts val="2200"/>
              <a:buFont typeface="Calibri"/>
              <a:buChar char="●"/>
            </a:pPr>
            <a:r>
              <a:rPr lang="en-GB" sz="2200">
                <a:solidFill>
                  <a:schemeClr val="dk1"/>
                </a:solidFill>
                <a:latin typeface="Calibri"/>
                <a:ea typeface="Calibri"/>
                <a:cs typeface="Calibri"/>
                <a:sym typeface="Calibri"/>
              </a:rPr>
              <a:t>An association class is represented like a normal class.</a:t>
            </a:r>
            <a:endParaRPr sz="2200">
              <a:solidFill>
                <a:schemeClr val="dk1"/>
              </a:solidFill>
              <a:latin typeface="Calibri"/>
              <a:ea typeface="Calibri"/>
              <a:cs typeface="Calibri"/>
              <a:sym typeface="Calibri"/>
            </a:endParaRPr>
          </a:p>
          <a:p>
            <a:pPr indent="-368300" lvl="0" marL="457200" rtl="0" algn="just">
              <a:lnSpc>
                <a:spcPct val="100000"/>
              </a:lnSpc>
              <a:spcBef>
                <a:spcPts val="0"/>
              </a:spcBef>
              <a:spcAft>
                <a:spcPts val="0"/>
              </a:spcAft>
              <a:buClr>
                <a:schemeClr val="dk1"/>
              </a:buClr>
              <a:buSzPts val="2200"/>
              <a:buFont typeface="Calibri"/>
              <a:buChar char="●"/>
            </a:pPr>
            <a:r>
              <a:rPr lang="en-GB" sz="2200">
                <a:solidFill>
                  <a:schemeClr val="dk1"/>
                </a:solidFill>
                <a:latin typeface="Calibri"/>
                <a:ea typeface="Calibri"/>
                <a:cs typeface="Calibri"/>
                <a:sym typeface="Calibri"/>
              </a:rPr>
              <a:t>The difference is that the </a:t>
            </a:r>
            <a:r>
              <a:rPr b="1" lang="en-GB" sz="2200">
                <a:solidFill>
                  <a:schemeClr val="dk1"/>
                </a:solidFill>
                <a:latin typeface="Calibri"/>
                <a:ea typeface="Calibri"/>
                <a:cs typeface="Calibri"/>
                <a:sym typeface="Calibri"/>
              </a:rPr>
              <a:t>association line </a:t>
            </a:r>
            <a:r>
              <a:rPr lang="en-GB" sz="2200">
                <a:solidFill>
                  <a:schemeClr val="dk1"/>
                </a:solidFill>
                <a:latin typeface="Calibri"/>
                <a:ea typeface="Calibri"/>
                <a:cs typeface="Calibri"/>
                <a:sym typeface="Calibri"/>
              </a:rPr>
              <a:t>between the primary classes intersects a </a:t>
            </a:r>
            <a:r>
              <a:rPr b="1" lang="en-GB" sz="2200">
                <a:solidFill>
                  <a:schemeClr val="dk1"/>
                </a:solidFill>
                <a:latin typeface="Calibri"/>
                <a:ea typeface="Calibri"/>
                <a:cs typeface="Calibri"/>
                <a:sym typeface="Calibri"/>
              </a:rPr>
              <a:t>dotted line connected </a:t>
            </a:r>
            <a:r>
              <a:rPr lang="en-GB" sz="2200">
                <a:solidFill>
                  <a:schemeClr val="dk1"/>
                </a:solidFill>
                <a:latin typeface="Calibri"/>
                <a:ea typeface="Calibri"/>
                <a:cs typeface="Calibri"/>
                <a:sym typeface="Calibri"/>
              </a:rPr>
              <a:t>to the association class. </a:t>
            </a:r>
            <a:endParaRPr sz="2200">
              <a:solidFill>
                <a:schemeClr val="dk1"/>
              </a:solidFill>
              <a:latin typeface="Calibri"/>
              <a:ea typeface="Calibri"/>
              <a:cs typeface="Calibri"/>
              <a:sym typeface="Calibri"/>
            </a:endParaRPr>
          </a:p>
          <a:p>
            <a:pPr indent="0" lvl="0" marL="914400" rtl="0" algn="just">
              <a:lnSpc>
                <a:spcPct val="100000"/>
              </a:lnSpc>
              <a:spcBef>
                <a:spcPts val="0"/>
              </a:spcBef>
              <a:spcAft>
                <a:spcPts val="0"/>
              </a:spcAft>
              <a:buSzPts val="1400"/>
              <a:buNone/>
            </a:pPr>
            <a:r>
              <a:t/>
            </a:r>
            <a:endParaRPr sz="2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sz="2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sz="2400">
              <a:solidFill>
                <a:schemeClr val="dk1"/>
              </a:solidFill>
              <a:latin typeface="Calibri"/>
              <a:ea typeface="Calibri"/>
              <a:cs typeface="Calibri"/>
              <a:sym typeface="Calibri"/>
            </a:endParaRPr>
          </a:p>
        </p:txBody>
      </p:sp>
      <p:sp>
        <p:nvSpPr>
          <p:cNvPr id="479" name="Google Shape;479;p4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8">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50"/>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Analysis Model</a:t>
            </a:r>
            <a:endParaRPr b="1"/>
          </a:p>
        </p:txBody>
      </p:sp>
      <p:sp>
        <p:nvSpPr>
          <p:cNvPr id="485" name="Google Shape;485;p50"/>
          <p:cNvSpPr txBox="1"/>
          <p:nvPr>
            <p:ph idx="1" type="body"/>
          </p:nvPr>
        </p:nvSpPr>
        <p:spPr>
          <a:xfrm>
            <a:off x="318125" y="586350"/>
            <a:ext cx="8826000" cy="2261400"/>
          </a:xfrm>
          <a:prstGeom prst="rect">
            <a:avLst/>
          </a:prstGeom>
          <a:noFill/>
          <a:ln>
            <a:noFill/>
          </a:ln>
        </p:spPr>
        <p:txBody>
          <a:bodyPr anchorCtr="0" anchor="t" bIns="34275" lIns="68575" spcFirstLastPara="1" rIns="68575" wrap="square" tIns="34275">
            <a:noAutofit/>
          </a:bodyPr>
          <a:lstStyle/>
          <a:p>
            <a:pPr indent="0" lvl="0" marL="0" rtl="0" algn="just">
              <a:lnSpc>
                <a:spcPct val="90000"/>
              </a:lnSpc>
              <a:spcBef>
                <a:spcPts val="0"/>
              </a:spcBef>
              <a:spcAft>
                <a:spcPts val="0"/>
              </a:spcAft>
              <a:buSzPts val="1400"/>
              <a:buNone/>
            </a:pPr>
            <a:r>
              <a:rPr b="1" lang="en-GB" sz="3200">
                <a:solidFill>
                  <a:srgbClr val="002060"/>
                </a:solidFill>
                <a:latin typeface="Calibri"/>
                <a:ea typeface="Calibri"/>
                <a:cs typeface="Calibri"/>
                <a:sym typeface="Calibri"/>
              </a:rPr>
              <a:t>Class Diagram  </a:t>
            </a:r>
            <a:endParaRPr sz="2400">
              <a:solidFill>
                <a:schemeClr val="dk1"/>
              </a:solidFill>
              <a:latin typeface="Calibri"/>
              <a:ea typeface="Calibri"/>
              <a:cs typeface="Calibri"/>
              <a:sym typeface="Calibri"/>
            </a:endParaRPr>
          </a:p>
          <a:p>
            <a:pPr indent="0" lvl="0" marL="914400" rtl="0" algn="just">
              <a:lnSpc>
                <a:spcPct val="100000"/>
              </a:lnSpc>
              <a:spcBef>
                <a:spcPts val="0"/>
              </a:spcBef>
              <a:spcAft>
                <a:spcPts val="0"/>
              </a:spcAft>
              <a:buSzPts val="1400"/>
              <a:buNone/>
            </a:pPr>
            <a:r>
              <a:rPr lang="en-GB" sz="2800">
                <a:solidFill>
                  <a:schemeClr val="dk1"/>
                </a:solidFill>
                <a:latin typeface="Calibri"/>
                <a:ea typeface="Calibri"/>
                <a:cs typeface="Calibri"/>
                <a:sym typeface="Calibri"/>
              </a:rPr>
              <a:t>Multiplicity:</a:t>
            </a:r>
            <a:endParaRPr sz="2800">
              <a:solidFill>
                <a:schemeClr val="dk1"/>
              </a:solidFill>
              <a:latin typeface="Calibri"/>
              <a:ea typeface="Calibri"/>
              <a:cs typeface="Calibri"/>
              <a:sym typeface="Calibri"/>
            </a:endParaRPr>
          </a:p>
          <a:p>
            <a:pPr indent="0" lvl="0" marL="0" rtl="0" algn="just">
              <a:lnSpc>
                <a:spcPct val="115000"/>
              </a:lnSpc>
              <a:spcBef>
                <a:spcPts val="700"/>
              </a:spcBef>
              <a:spcAft>
                <a:spcPts val="0"/>
              </a:spcAft>
              <a:buClr>
                <a:schemeClr val="dk1"/>
              </a:buClr>
              <a:buSzPts val="1100"/>
              <a:buFont typeface="Arial"/>
              <a:buNone/>
            </a:pPr>
            <a:r>
              <a:rPr lang="en-GB" sz="2200">
                <a:solidFill>
                  <a:schemeClr val="dk1"/>
                </a:solidFill>
              </a:rPr>
              <a:t>•</a:t>
            </a:r>
            <a:r>
              <a:rPr lang="en-GB" sz="2200">
                <a:solidFill>
                  <a:schemeClr val="dk1"/>
                </a:solidFill>
                <a:latin typeface="Calibri"/>
                <a:ea typeface="Calibri"/>
                <a:cs typeface="Calibri"/>
                <a:sym typeface="Calibri"/>
              </a:rPr>
              <a:t>the number of objects that participate in the association.</a:t>
            </a:r>
            <a:endParaRPr sz="2200">
              <a:solidFill>
                <a:schemeClr val="dk1"/>
              </a:solidFill>
              <a:latin typeface="Calibri"/>
              <a:ea typeface="Calibri"/>
              <a:cs typeface="Calibri"/>
              <a:sym typeface="Calibri"/>
            </a:endParaRPr>
          </a:p>
          <a:p>
            <a:pPr indent="0" lvl="0" marL="0" rtl="0" algn="l">
              <a:lnSpc>
                <a:spcPct val="115000"/>
              </a:lnSpc>
              <a:spcBef>
                <a:spcPts val="700"/>
              </a:spcBef>
              <a:spcAft>
                <a:spcPts val="0"/>
              </a:spcAft>
              <a:buClr>
                <a:schemeClr val="dk1"/>
              </a:buClr>
              <a:buSzPts val="1100"/>
              <a:buFont typeface="Arial"/>
              <a:buNone/>
            </a:pPr>
            <a:r>
              <a:rPr lang="en-GB" sz="2200">
                <a:solidFill>
                  <a:schemeClr val="dk1"/>
                </a:solidFill>
              </a:rPr>
              <a:t>•</a:t>
            </a:r>
            <a:r>
              <a:rPr b="1" lang="en-GB" sz="2200">
                <a:solidFill>
                  <a:schemeClr val="dk1"/>
                </a:solidFill>
                <a:latin typeface="Calibri"/>
                <a:ea typeface="Calibri"/>
                <a:cs typeface="Calibri"/>
                <a:sym typeface="Calibri"/>
              </a:rPr>
              <a:t>Multiplicity Indicators</a:t>
            </a:r>
            <a:endParaRPr b="1" sz="2200">
              <a:solidFill>
                <a:schemeClr val="dk1"/>
              </a:solidFill>
              <a:latin typeface="Calibri"/>
              <a:ea typeface="Calibri"/>
              <a:cs typeface="Calibri"/>
              <a:sym typeface="Calibri"/>
            </a:endParaRPr>
          </a:p>
          <a:p>
            <a:pPr indent="0" lvl="0" marL="914400" rtl="0" algn="just">
              <a:lnSpc>
                <a:spcPct val="100000"/>
              </a:lnSpc>
              <a:spcBef>
                <a:spcPts val="0"/>
              </a:spcBef>
              <a:spcAft>
                <a:spcPts val="0"/>
              </a:spcAft>
              <a:buSzPts val="1400"/>
              <a:buNone/>
            </a:pPr>
            <a:r>
              <a:t/>
            </a:r>
            <a:endParaRPr sz="2200">
              <a:solidFill>
                <a:schemeClr val="dk1"/>
              </a:solidFill>
              <a:latin typeface="Calibri"/>
              <a:ea typeface="Calibri"/>
              <a:cs typeface="Calibri"/>
              <a:sym typeface="Calibri"/>
            </a:endParaRPr>
          </a:p>
          <a:p>
            <a:pPr indent="0" lvl="0" marL="0" rtl="0" algn="l">
              <a:lnSpc>
                <a:spcPct val="90000"/>
              </a:lnSpc>
              <a:spcBef>
                <a:spcPts val="700"/>
              </a:spcBef>
              <a:spcAft>
                <a:spcPts val="0"/>
              </a:spcAft>
              <a:buSzPts val="1400"/>
              <a:buNone/>
            </a:pPr>
            <a:r>
              <a:t/>
            </a:r>
            <a:endParaRPr sz="24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sz="2400">
              <a:solidFill>
                <a:schemeClr val="dk1"/>
              </a:solidFill>
              <a:latin typeface="Calibri"/>
              <a:ea typeface="Calibri"/>
              <a:cs typeface="Calibri"/>
              <a:sym typeface="Calibri"/>
            </a:endParaRPr>
          </a:p>
        </p:txBody>
      </p:sp>
      <p:sp>
        <p:nvSpPr>
          <p:cNvPr id="486" name="Google Shape;486;p5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487" name="Google Shape;487;p5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
        <p:nvSpPr>
          <p:cNvPr id="488" name="Google Shape;488;p50"/>
          <p:cNvSpPr txBox="1"/>
          <p:nvPr/>
        </p:nvSpPr>
        <p:spPr>
          <a:xfrm>
            <a:off x="1916875" y="3582225"/>
            <a:ext cx="954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89" name="Google Shape;489;p50"/>
          <p:cNvPicPr preferRelativeResize="0"/>
          <p:nvPr/>
        </p:nvPicPr>
        <p:blipFill rotWithShape="1">
          <a:blip r:embed="rId3">
            <a:alphaModFix/>
          </a:blip>
          <a:srcRect b="0" l="0" r="0" t="0"/>
          <a:stretch/>
        </p:blipFill>
        <p:spPr>
          <a:xfrm>
            <a:off x="2144852" y="2571747"/>
            <a:ext cx="4189323" cy="2043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9"/>
                                        </p:tgtEl>
                                        <p:attrNameLst>
                                          <p:attrName>style.visibility</p:attrName>
                                        </p:attrNameLst>
                                      </p:cBhvr>
                                      <p:to>
                                        <p:strVal val="visible"/>
                                      </p:to>
                                    </p:set>
                                    <p:animEffect filter="fade" transition="in">
                                      <p:cBhvr>
                                        <p:cTn dur="1000"/>
                                        <p:tgtEl>
                                          <p:spTgt spid="4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51"/>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Analysis Model</a:t>
            </a:r>
            <a:endParaRPr b="1"/>
          </a:p>
        </p:txBody>
      </p:sp>
      <p:sp>
        <p:nvSpPr>
          <p:cNvPr id="495" name="Google Shape;495;p51"/>
          <p:cNvSpPr txBox="1"/>
          <p:nvPr>
            <p:ph idx="1" type="body"/>
          </p:nvPr>
        </p:nvSpPr>
        <p:spPr>
          <a:xfrm>
            <a:off x="318125" y="586350"/>
            <a:ext cx="8826000" cy="2261400"/>
          </a:xfrm>
          <a:prstGeom prst="rect">
            <a:avLst/>
          </a:prstGeom>
          <a:noFill/>
          <a:ln>
            <a:noFill/>
          </a:ln>
        </p:spPr>
        <p:txBody>
          <a:bodyPr anchorCtr="0" anchor="t" bIns="34275" lIns="68575" spcFirstLastPara="1" rIns="68575" wrap="square" tIns="34275">
            <a:noAutofit/>
          </a:bodyPr>
          <a:lstStyle/>
          <a:p>
            <a:pPr indent="0" lvl="0" marL="0" rtl="0" algn="just">
              <a:lnSpc>
                <a:spcPct val="90000"/>
              </a:lnSpc>
              <a:spcBef>
                <a:spcPts val="0"/>
              </a:spcBef>
              <a:spcAft>
                <a:spcPts val="0"/>
              </a:spcAft>
              <a:buSzPts val="1400"/>
              <a:buNone/>
            </a:pPr>
            <a:r>
              <a:rPr b="1" lang="en-GB" sz="3200">
                <a:solidFill>
                  <a:srgbClr val="002060"/>
                </a:solidFill>
                <a:latin typeface="Calibri"/>
                <a:ea typeface="Calibri"/>
                <a:cs typeface="Calibri"/>
                <a:sym typeface="Calibri"/>
              </a:rPr>
              <a:t>Class Diagram  </a:t>
            </a:r>
            <a:endParaRPr sz="2400">
              <a:solidFill>
                <a:schemeClr val="dk1"/>
              </a:solidFill>
              <a:latin typeface="Calibri"/>
              <a:ea typeface="Calibri"/>
              <a:cs typeface="Calibri"/>
              <a:sym typeface="Calibri"/>
            </a:endParaRPr>
          </a:p>
          <a:p>
            <a:pPr indent="0" lvl="0" marL="914400" rtl="0" algn="just">
              <a:lnSpc>
                <a:spcPct val="100000"/>
              </a:lnSpc>
              <a:spcBef>
                <a:spcPts val="0"/>
              </a:spcBef>
              <a:spcAft>
                <a:spcPts val="0"/>
              </a:spcAft>
              <a:buSzPts val="1400"/>
              <a:buNone/>
            </a:pPr>
            <a:r>
              <a:rPr lang="en-GB" sz="2800">
                <a:solidFill>
                  <a:schemeClr val="dk1"/>
                </a:solidFill>
                <a:latin typeface="Calibri"/>
                <a:ea typeface="Calibri"/>
                <a:cs typeface="Calibri"/>
                <a:sym typeface="Calibri"/>
              </a:rPr>
              <a:t>Aggregation</a:t>
            </a:r>
            <a:endParaRPr sz="2800">
              <a:solidFill>
                <a:schemeClr val="dk1"/>
              </a:solidFill>
              <a:latin typeface="Calibri"/>
              <a:ea typeface="Calibri"/>
              <a:cs typeface="Calibri"/>
              <a:sym typeface="Calibri"/>
            </a:endParaRPr>
          </a:p>
          <a:p>
            <a:pPr indent="0" lvl="0" marL="0" rtl="0" algn="just">
              <a:lnSpc>
                <a:spcPct val="115000"/>
              </a:lnSpc>
              <a:spcBef>
                <a:spcPts val="800"/>
              </a:spcBef>
              <a:spcAft>
                <a:spcPts val="0"/>
              </a:spcAft>
              <a:buSzPts val="1400"/>
              <a:buNone/>
            </a:pPr>
            <a:r>
              <a:rPr lang="en-GB" sz="2200">
                <a:solidFill>
                  <a:schemeClr val="dk1"/>
                </a:solidFill>
              </a:rPr>
              <a:t>•</a:t>
            </a:r>
            <a:r>
              <a:rPr lang="en-GB" sz="2200">
                <a:solidFill>
                  <a:schemeClr val="dk1"/>
                </a:solidFill>
                <a:latin typeface="Calibri"/>
                <a:ea typeface="Calibri"/>
                <a:cs typeface="Calibri"/>
                <a:sym typeface="Calibri"/>
              </a:rPr>
              <a:t>Aggregation is a special type of association used to model a </a:t>
            </a:r>
            <a:r>
              <a:rPr b="1" lang="en-GB" sz="2200">
                <a:solidFill>
                  <a:schemeClr val="dk1"/>
                </a:solidFill>
                <a:latin typeface="Calibri"/>
                <a:ea typeface="Calibri"/>
                <a:cs typeface="Calibri"/>
                <a:sym typeface="Calibri"/>
              </a:rPr>
              <a:t>"whole to its parts"</a:t>
            </a:r>
            <a:r>
              <a:rPr lang="en-GB" sz="2200">
                <a:solidFill>
                  <a:schemeClr val="dk1"/>
                </a:solidFill>
                <a:latin typeface="Calibri"/>
                <a:ea typeface="Calibri"/>
                <a:cs typeface="Calibri"/>
                <a:sym typeface="Calibri"/>
              </a:rPr>
              <a:t> relationship. </a:t>
            </a:r>
            <a:endParaRPr sz="2200">
              <a:solidFill>
                <a:schemeClr val="dk1"/>
              </a:solidFill>
              <a:latin typeface="Calibri"/>
              <a:ea typeface="Calibri"/>
              <a:cs typeface="Calibri"/>
              <a:sym typeface="Calibri"/>
            </a:endParaRPr>
          </a:p>
          <a:p>
            <a:pPr indent="0" lvl="0" marL="0" rtl="0" algn="just">
              <a:lnSpc>
                <a:spcPct val="115000"/>
              </a:lnSpc>
              <a:spcBef>
                <a:spcPts val="800"/>
              </a:spcBef>
              <a:spcAft>
                <a:spcPts val="0"/>
              </a:spcAft>
              <a:buSzPts val="1400"/>
              <a:buNone/>
            </a:pPr>
            <a:r>
              <a:rPr lang="en-GB" sz="2200">
                <a:solidFill>
                  <a:schemeClr val="dk1"/>
                </a:solidFill>
              </a:rPr>
              <a:t>•</a:t>
            </a:r>
            <a:r>
              <a:rPr lang="en-GB" sz="2200">
                <a:solidFill>
                  <a:schemeClr val="dk1"/>
                </a:solidFill>
                <a:latin typeface="Calibri"/>
                <a:ea typeface="Calibri"/>
                <a:cs typeface="Calibri"/>
                <a:sym typeface="Calibri"/>
              </a:rPr>
              <a:t>Example: Car as a whole entity and Car Wheel as part of the overall Car.</a:t>
            </a:r>
            <a:endParaRPr sz="2200">
              <a:solidFill>
                <a:schemeClr val="dk1"/>
              </a:solidFill>
              <a:latin typeface="Calibri"/>
              <a:ea typeface="Calibri"/>
              <a:cs typeface="Calibri"/>
              <a:sym typeface="Calibri"/>
            </a:endParaRPr>
          </a:p>
          <a:p>
            <a:pPr indent="0" lvl="0" marL="0" rtl="0" algn="l">
              <a:lnSpc>
                <a:spcPct val="115000"/>
              </a:lnSpc>
              <a:spcBef>
                <a:spcPts val="700"/>
              </a:spcBef>
              <a:spcAft>
                <a:spcPts val="0"/>
              </a:spcAft>
              <a:buSzPts val="1400"/>
              <a:buNone/>
            </a:pPr>
            <a:r>
              <a:t/>
            </a:r>
            <a:endParaRPr sz="2200">
              <a:solidFill>
                <a:schemeClr val="dk1"/>
              </a:solidFill>
            </a:endParaRPr>
          </a:p>
          <a:p>
            <a:pPr indent="0" lvl="0" marL="914400" rtl="0" algn="just">
              <a:lnSpc>
                <a:spcPct val="100000"/>
              </a:lnSpc>
              <a:spcBef>
                <a:spcPts val="0"/>
              </a:spcBef>
              <a:spcAft>
                <a:spcPts val="0"/>
              </a:spcAft>
              <a:buSzPts val="1400"/>
              <a:buNone/>
            </a:pPr>
            <a:r>
              <a:t/>
            </a:r>
            <a:endParaRPr sz="2200">
              <a:solidFill>
                <a:schemeClr val="dk1"/>
              </a:solidFill>
              <a:latin typeface="Calibri"/>
              <a:ea typeface="Calibri"/>
              <a:cs typeface="Calibri"/>
              <a:sym typeface="Calibri"/>
            </a:endParaRPr>
          </a:p>
          <a:p>
            <a:pPr indent="0" lvl="0" marL="0" rtl="0" algn="l">
              <a:lnSpc>
                <a:spcPct val="90000"/>
              </a:lnSpc>
              <a:spcBef>
                <a:spcPts val="700"/>
              </a:spcBef>
              <a:spcAft>
                <a:spcPts val="0"/>
              </a:spcAft>
              <a:buSzPts val="1400"/>
              <a:buNone/>
            </a:pPr>
            <a:r>
              <a:t/>
            </a:r>
            <a:endParaRPr sz="24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sz="2400">
              <a:solidFill>
                <a:schemeClr val="dk1"/>
              </a:solidFill>
              <a:latin typeface="Calibri"/>
              <a:ea typeface="Calibri"/>
              <a:cs typeface="Calibri"/>
              <a:sym typeface="Calibri"/>
            </a:endParaRPr>
          </a:p>
        </p:txBody>
      </p:sp>
      <p:sp>
        <p:nvSpPr>
          <p:cNvPr id="496" name="Google Shape;496;p5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497" name="Google Shape;497;p5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
        <p:nvSpPr>
          <p:cNvPr id="498" name="Google Shape;498;p51"/>
          <p:cNvSpPr txBox="1"/>
          <p:nvPr/>
        </p:nvSpPr>
        <p:spPr>
          <a:xfrm>
            <a:off x="1916875" y="3582225"/>
            <a:ext cx="954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99" name="Google Shape;499;p51"/>
          <p:cNvPicPr preferRelativeResize="0"/>
          <p:nvPr/>
        </p:nvPicPr>
        <p:blipFill rotWithShape="1">
          <a:blip r:embed="rId3">
            <a:alphaModFix/>
          </a:blip>
          <a:srcRect b="0" l="0" r="0" t="0"/>
          <a:stretch/>
        </p:blipFill>
        <p:spPr>
          <a:xfrm>
            <a:off x="2313623" y="3000150"/>
            <a:ext cx="5430677" cy="17671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5">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p52"/>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Analysis Model</a:t>
            </a:r>
            <a:endParaRPr b="1"/>
          </a:p>
        </p:txBody>
      </p:sp>
      <p:sp>
        <p:nvSpPr>
          <p:cNvPr id="505" name="Google Shape;505;p52"/>
          <p:cNvSpPr txBox="1"/>
          <p:nvPr>
            <p:ph idx="1" type="body"/>
          </p:nvPr>
        </p:nvSpPr>
        <p:spPr>
          <a:xfrm>
            <a:off x="318125" y="586350"/>
            <a:ext cx="8826000" cy="2261400"/>
          </a:xfrm>
          <a:prstGeom prst="rect">
            <a:avLst/>
          </a:prstGeom>
          <a:noFill/>
          <a:ln>
            <a:noFill/>
          </a:ln>
        </p:spPr>
        <p:txBody>
          <a:bodyPr anchorCtr="0" anchor="t" bIns="34275" lIns="68575" spcFirstLastPara="1" rIns="68575" wrap="square" tIns="34275">
            <a:noAutofit/>
          </a:bodyPr>
          <a:lstStyle/>
          <a:p>
            <a:pPr indent="0" lvl="0" marL="0" rtl="0" algn="just">
              <a:lnSpc>
                <a:spcPct val="90000"/>
              </a:lnSpc>
              <a:spcBef>
                <a:spcPts val="0"/>
              </a:spcBef>
              <a:spcAft>
                <a:spcPts val="0"/>
              </a:spcAft>
              <a:buSzPts val="1400"/>
              <a:buNone/>
            </a:pPr>
            <a:r>
              <a:rPr b="1" lang="en-GB" sz="3200">
                <a:solidFill>
                  <a:srgbClr val="002060"/>
                </a:solidFill>
                <a:latin typeface="Calibri"/>
                <a:ea typeface="Calibri"/>
                <a:cs typeface="Calibri"/>
                <a:sym typeface="Calibri"/>
              </a:rPr>
              <a:t>Class Diagram  </a:t>
            </a:r>
            <a:endParaRPr sz="2400">
              <a:solidFill>
                <a:schemeClr val="dk1"/>
              </a:solidFill>
              <a:latin typeface="Calibri"/>
              <a:ea typeface="Calibri"/>
              <a:cs typeface="Calibri"/>
              <a:sym typeface="Calibri"/>
            </a:endParaRPr>
          </a:p>
          <a:p>
            <a:pPr indent="0" lvl="0" marL="914400" rtl="0" algn="just">
              <a:lnSpc>
                <a:spcPct val="100000"/>
              </a:lnSpc>
              <a:spcBef>
                <a:spcPts val="0"/>
              </a:spcBef>
              <a:spcAft>
                <a:spcPts val="0"/>
              </a:spcAft>
              <a:buSzPts val="1400"/>
              <a:buNone/>
            </a:pPr>
            <a:r>
              <a:rPr lang="en-GB" sz="2800">
                <a:solidFill>
                  <a:schemeClr val="dk1"/>
                </a:solidFill>
                <a:latin typeface="Calibri"/>
                <a:ea typeface="Calibri"/>
                <a:cs typeface="Calibri"/>
                <a:sym typeface="Calibri"/>
              </a:rPr>
              <a:t>Composite Aggregation</a:t>
            </a:r>
            <a:endParaRPr sz="28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GB" sz="2200">
                <a:solidFill>
                  <a:schemeClr val="dk1"/>
                </a:solidFill>
              </a:rPr>
              <a:t>•</a:t>
            </a:r>
            <a:r>
              <a:rPr lang="en-GB" sz="2200">
                <a:solidFill>
                  <a:schemeClr val="dk1"/>
                </a:solidFill>
                <a:latin typeface="Calibri"/>
                <a:ea typeface="Calibri"/>
                <a:cs typeface="Calibri"/>
                <a:sym typeface="Calibri"/>
              </a:rPr>
              <a:t>A strong form of aggregation</a:t>
            </a:r>
            <a:endParaRPr sz="2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GB" sz="2200">
                <a:solidFill>
                  <a:schemeClr val="dk1"/>
                </a:solidFill>
              </a:rPr>
              <a:t>–</a:t>
            </a:r>
            <a:r>
              <a:rPr lang="en-GB" sz="2200">
                <a:solidFill>
                  <a:schemeClr val="dk1"/>
                </a:solidFill>
                <a:latin typeface="Calibri"/>
                <a:ea typeface="Calibri"/>
                <a:cs typeface="Calibri"/>
                <a:sym typeface="Calibri"/>
              </a:rPr>
              <a:t>The whole is the sole owner of its part.</a:t>
            </a:r>
            <a:endParaRPr sz="2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rPr lang="en-GB" sz="2200">
                <a:solidFill>
                  <a:schemeClr val="dk1"/>
                </a:solidFill>
              </a:rPr>
              <a:t>•</a:t>
            </a:r>
            <a:r>
              <a:rPr lang="en-GB" sz="2200">
                <a:solidFill>
                  <a:schemeClr val="dk1"/>
                </a:solidFill>
                <a:latin typeface="Calibri"/>
                <a:ea typeface="Calibri"/>
                <a:cs typeface="Calibri"/>
                <a:sym typeface="Calibri"/>
              </a:rPr>
              <a:t>The part object may belong to only one whole</a:t>
            </a:r>
            <a:endParaRPr sz="2200">
              <a:solidFill>
                <a:schemeClr val="dk1"/>
              </a:solidFill>
              <a:latin typeface="Calibri"/>
              <a:ea typeface="Calibri"/>
              <a:cs typeface="Calibri"/>
              <a:sym typeface="Calibri"/>
            </a:endParaRPr>
          </a:p>
          <a:p>
            <a:pPr indent="0" lvl="0" marL="457200" rtl="0" algn="l">
              <a:lnSpc>
                <a:spcPct val="100000"/>
              </a:lnSpc>
              <a:spcBef>
                <a:spcPts val="0"/>
              </a:spcBef>
              <a:spcAft>
                <a:spcPts val="0"/>
              </a:spcAft>
              <a:buSzPts val="1400"/>
              <a:buNone/>
            </a:pPr>
            <a:r>
              <a:rPr lang="en-GB" sz="2200">
                <a:solidFill>
                  <a:schemeClr val="dk1"/>
                </a:solidFill>
              </a:rPr>
              <a:t>–</a:t>
            </a:r>
            <a:r>
              <a:rPr lang="en-GB" sz="2200">
                <a:solidFill>
                  <a:schemeClr val="dk1"/>
                </a:solidFill>
                <a:latin typeface="Calibri"/>
                <a:ea typeface="Calibri"/>
                <a:cs typeface="Calibri"/>
                <a:sym typeface="Calibri"/>
              </a:rPr>
              <a:t>Multiplicity on the whole side must be zero or one.</a:t>
            </a:r>
            <a:endParaRPr sz="2200">
              <a:solidFill>
                <a:schemeClr val="dk1"/>
              </a:solidFill>
              <a:latin typeface="Calibri"/>
              <a:ea typeface="Calibri"/>
              <a:cs typeface="Calibri"/>
              <a:sym typeface="Calibri"/>
            </a:endParaRPr>
          </a:p>
          <a:p>
            <a:pPr indent="0" lvl="0" marL="457200" rtl="0" algn="l">
              <a:lnSpc>
                <a:spcPct val="100000"/>
              </a:lnSpc>
              <a:spcBef>
                <a:spcPts val="0"/>
              </a:spcBef>
              <a:spcAft>
                <a:spcPts val="0"/>
              </a:spcAft>
              <a:buSzPts val="1400"/>
              <a:buNone/>
            </a:pPr>
            <a:r>
              <a:rPr lang="en-GB" sz="2200">
                <a:solidFill>
                  <a:schemeClr val="dk1"/>
                </a:solidFill>
              </a:rPr>
              <a:t>–</a:t>
            </a:r>
            <a:r>
              <a:rPr lang="en-GB" sz="2200">
                <a:solidFill>
                  <a:schemeClr val="dk1"/>
                </a:solidFill>
                <a:latin typeface="Calibri"/>
                <a:ea typeface="Calibri"/>
                <a:cs typeface="Calibri"/>
                <a:sym typeface="Calibri"/>
              </a:rPr>
              <a:t>The life time of the part is dependent upon the whole. </a:t>
            </a:r>
            <a:endParaRPr sz="2200">
              <a:solidFill>
                <a:schemeClr val="dk1"/>
              </a:solidFill>
              <a:latin typeface="Calibri"/>
              <a:ea typeface="Calibri"/>
              <a:cs typeface="Calibri"/>
              <a:sym typeface="Calibri"/>
            </a:endParaRPr>
          </a:p>
          <a:p>
            <a:pPr indent="0" lvl="0" marL="0" rtl="0" algn="just">
              <a:lnSpc>
                <a:spcPct val="115000"/>
              </a:lnSpc>
              <a:spcBef>
                <a:spcPts val="800"/>
              </a:spcBef>
              <a:spcAft>
                <a:spcPts val="0"/>
              </a:spcAft>
              <a:buSzPts val="1400"/>
              <a:buNone/>
            </a:pPr>
            <a:r>
              <a:t/>
            </a:r>
            <a:endParaRPr sz="2200">
              <a:solidFill>
                <a:schemeClr val="dk1"/>
              </a:solidFill>
            </a:endParaRPr>
          </a:p>
          <a:p>
            <a:pPr indent="0" lvl="0" marL="0" rtl="0" algn="l">
              <a:lnSpc>
                <a:spcPct val="115000"/>
              </a:lnSpc>
              <a:spcBef>
                <a:spcPts val="700"/>
              </a:spcBef>
              <a:spcAft>
                <a:spcPts val="0"/>
              </a:spcAft>
              <a:buSzPts val="1400"/>
              <a:buNone/>
            </a:pPr>
            <a:r>
              <a:t/>
            </a:r>
            <a:endParaRPr sz="2200">
              <a:solidFill>
                <a:schemeClr val="dk1"/>
              </a:solidFill>
            </a:endParaRPr>
          </a:p>
          <a:p>
            <a:pPr indent="0" lvl="0" marL="914400" rtl="0" algn="just">
              <a:lnSpc>
                <a:spcPct val="100000"/>
              </a:lnSpc>
              <a:spcBef>
                <a:spcPts val="0"/>
              </a:spcBef>
              <a:spcAft>
                <a:spcPts val="0"/>
              </a:spcAft>
              <a:buSzPts val="1400"/>
              <a:buNone/>
            </a:pPr>
            <a:r>
              <a:t/>
            </a:r>
            <a:endParaRPr sz="2200">
              <a:solidFill>
                <a:schemeClr val="dk1"/>
              </a:solidFill>
              <a:latin typeface="Calibri"/>
              <a:ea typeface="Calibri"/>
              <a:cs typeface="Calibri"/>
              <a:sym typeface="Calibri"/>
            </a:endParaRPr>
          </a:p>
          <a:p>
            <a:pPr indent="0" lvl="0" marL="0" rtl="0" algn="l">
              <a:lnSpc>
                <a:spcPct val="90000"/>
              </a:lnSpc>
              <a:spcBef>
                <a:spcPts val="700"/>
              </a:spcBef>
              <a:spcAft>
                <a:spcPts val="0"/>
              </a:spcAft>
              <a:buSzPts val="1400"/>
              <a:buNone/>
            </a:pPr>
            <a:r>
              <a:t/>
            </a:r>
            <a:endParaRPr sz="24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sz="2400">
              <a:solidFill>
                <a:schemeClr val="dk1"/>
              </a:solidFill>
              <a:latin typeface="Calibri"/>
              <a:ea typeface="Calibri"/>
              <a:cs typeface="Calibri"/>
              <a:sym typeface="Calibri"/>
            </a:endParaRPr>
          </a:p>
        </p:txBody>
      </p:sp>
      <p:sp>
        <p:nvSpPr>
          <p:cNvPr id="506" name="Google Shape;506;p5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507" name="Google Shape;507;p5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
        <p:nvSpPr>
          <p:cNvPr id="508" name="Google Shape;508;p52"/>
          <p:cNvSpPr txBox="1"/>
          <p:nvPr/>
        </p:nvSpPr>
        <p:spPr>
          <a:xfrm>
            <a:off x="1916875" y="3582225"/>
            <a:ext cx="954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09" name="Google Shape;509;p52"/>
          <p:cNvPicPr preferRelativeResize="0"/>
          <p:nvPr/>
        </p:nvPicPr>
        <p:blipFill rotWithShape="1">
          <a:blip r:embed="rId3">
            <a:alphaModFix/>
          </a:blip>
          <a:srcRect b="0" l="0" r="0" t="0"/>
          <a:stretch/>
        </p:blipFill>
        <p:spPr>
          <a:xfrm>
            <a:off x="2008450" y="3190975"/>
            <a:ext cx="4652562" cy="161471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5">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5">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5">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5">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9"/>
                                        </p:tgtEl>
                                        <p:attrNameLst>
                                          <p:attrName>style.visibility</p:attrName>
                                        </p:attrNameLst>
                                      </p:cBhvr>
                                      <p:to>
                                        <p:strVal val="visible"/>
                                      </p:to>
                                    </p:set>
                                    <p:animEffect filter="fade" transition="in">
                                      <p:cBhvr>
                                        <p:cTn dur="1000"/>
                                        <p:tgtEl>
                                          <p:spTgt spid="5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53"/>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Analysis Model</a:t>
            </a:r>
            <a:endParaRPr b="1"/>
          </a:p>
        </p:txBody>
      </p:sp>
      <p:sp>
        <p:nvSpPr>
          <p:cNvPr id="515" name="Google Shape;515;p53"/>
          <p:cNvSpPr txBox="1"/>
          <p:nvPr>
            <p:ph idx="1" type="body"/>
          </p:nvPr>
        </p:nvSpPr>
        <p:spPr>
          <a:xfrm>
            <a:off x="318125" y="586350"/>
            <a:ext cx="7826400" cy="2123100"/>
          </a:xfrm>
          <a:prstGeom prst="rect">
            <a:avLst/>
          </a:prstGeom>
          <a:noFill/>
          <a:ln>
            <a:noFill/>
          </a:ln>
        </p:spPr>
        <p:txBody>
          <a:bodyPr anchorCtr="0" anchor="t" bIns="34275" lIns="68575" spcFirstLastPara="1" rIns="68575" wrap="square" tIns="34275">
            <a:noAutofit/>
          </a:bodyPr>
          <a:lstStyle/>
          <a:p>
            <a:pPr indent="0" lvl="0" marL="0" rtl="0" algn="just">
              <a:lnSpc>
                <a:spcPct val="90000"/>
              </a:lnSpc>
              <a:spcBef>
                <a:spcPts val="0"/>
              </a:spcBef>
              <a:spcAft>
                <a:spcPts val="0"/>
              </a:spcAft>
              <a:buSzPts val="1400"/>
              <a:buNone/>
            </a:pPr>
            <a:r>
              <a:rPr b="1" lang="en-GB" sz="3200">
                <a:solidFill>
                  <a:srgbClr val="002060"/>
                </a:solidFill>
                <a:latin typeface="Calibri"/>
                <a:ea typeface="Calibri"/>
                <a:cs typeface="Calibri"/>
                <a:sym typeface="Calibri"/>
              </a:rPr>
              <a:t>Class Diagram  </a:t>
            </a:r>
            <a:endParaRPr sz="2400">
              <a:solidFill>
                <a:schemeClr val="dk1"/>
              </a:solidFill>
              <a:latin typeface="Calibri"/>
              <a:ea typeface="Calibri"/>
              <a:cs typeface="Calibri"/>
              <a:sym typeface="Calibri"/>
            </a:endParaRPr>
          </a:p>
          <a:p>
            <a:pPr indent="0" lvl="0" marL="0" rtl="0" algn="just">
              <a:lnSpc>
                <a:spcPct val="100000"/>
              </a:lnSpc>
              <a:spcBef>
                <a:spcPts val="0"/>
              </a:spcBef>
              <a:spcAft>
                <a:spcPts val="0"/>
              </a:spcAft>
              <a:buSzPts val="1400"/>
              <a:buNone/>
            </a:pPr>
            <a:r>
              <a:rPr lang="en-GB" sz="2800">
                <a:solidFill>
                  <a:schemeClr val="dk1"/>
                </a:solidFill>
                <a:latin typeface="Calibri"/>
                <a:ea typeface="Calibri"/>
                <a:cs typeface="Calibri"/>
                <a:sym typeface="Calibri"/>
              </a:rPr>
              <a:t>Generalisation:</a:t>
            </a:r>
            <a:endParaRPr sz="2800">
              <a:solidFill>
                <a:schemeClr val="dk1"/>
              </a:solidFill>
              <a:latin typeface="Calibri"/>
              <a:ea typeface="Calibri"/>
              <a:cs typeface="Calibri"/>
              <a:sym typeface="Calibri"/>
            </a:endParaRPr>
          </a:p>
          <a:p>
            <a:pPr indent="0" lvl="0" marL="0" rtl="0" algn="just">
              <a:lnSpc>
                <a:spcPct val="100000"/>
              </a:lnSpc>
              <a:spcBef>
                <a:spcPts val="0"/>
              </a:spcBef>
              <a:spcAft>
                <a:spcPts val="0"/>
              </a:spcAft>
              <a:buSzPts val="1400"/>
              <a:buNone/>
            </a:pPr>
            <a:r>
              <a:rPr lang="en-GB" sz="2200">
                <a:solidFill>
                  <a:schemeClr val="dk1"/>
                </a:solidFill>
              </a:rPr>
              <a:t>•</a:t>
            </a:r>
            <a:r>
              <a:rPr lang="en-GB" sz="2200">
                <a:solidFill>
                  <a:schemeClr val="dk1"/>
                </a:solidFill>
                <a:latin typeface="Calibri"/>
                <a:ea typeface="Calibri"/>
                <a:cs typeface="Calibri"/>
                <a:sym typeface="Calibri"/>
              </a:rPr>
              <a:t>The Generalization association ("</a:t>
            </a:r>
            <a:r>
              <a:rPr b="1" lang="en-GB" sz="2200">
                <a:solidFill>
                  <a:schemeClr val="dk1"/>
                </a:solidFill>
                <a:latin typeface="Calibri"/>
                <a:ea typeface="Calibri"/>
                <a:cs typeface="Calibri"/>
                <a:sym typeface="Calibri"/>
              </a:rPr>
              <a:t>is a</a:t>
            </a:r>
            <a:r>
              <a:rPr lang="en-GB" sz="2200">
                <a:solidFill>
                  <a:schemeClr val="dk1"/>
                </a:solidFill>
                <a:latin typeface="Calibri"/>
                <a:ea typeface="Calibri"/>
                <a:cs typeface="Calibri"/>
                <a:sym typeface="Calibri"/>
              </a:rPr>
              <a:t>") is the </a:t>
            </a:r>
            <a:r>
              <a:rPr b="1" lang="en-GB" sz="2200">
                <a:solidFill>
                  <a:schemeClr val="dk1"/>
                </a:solidFill>
                <a:latin typeface="Calibri"/>
                <a:ea typeface="Calibri"/>
                <a:cs typeface="Calibri"/>
                <a:sym typeface="Calibri"/>
              </a:rPr>
              <a:t>relationship</a:t>
            </a:r>
            <a:r>
              <a:rPr lang="en-GB" sz="2200">
                <a:solidFill>
                  <a:schemeClr val="dk1"/>
                </a:solidFill>
                <a:latin typeface="Calibri"/>
                <a:ea typeface="Calibri"/>
                <a:cs typeface="Calibri"/>
                <a:sym typeface="Calibri"/>
              </a:rPr>
              <a:t> between the </a:t>
            </a:r>
            <a:r>
              <a:rPr b="1" lang="en-GB" sz="2200">
                <a:solidFill>
                  <a:schemeClr val="dk1"/>
                </a:solidFill>
                <a:latin typeface="Calibri"/>
                <a:ea typeface="Calibri"/>
                <a:cs typeface="Calibri"/>
                <a:sym typeface="Calibri"/>
              </a:rPr>
              <a:t>base class </a:t>
            </a:r>
            <a:r>
              <a:rPr lang="en-GB" sz="2200">
                <a:solidFill>
                  <a:schemeClr val="dk1"/>
                </a:solidFill>
                <a:latin typeface="Calibri"/>
                <a:ea typeface="Calibri"/>
                <a:cs typeface="Calibri"/>
                <a:sym typeface="Calibri"/>
              </a:rPr>
              <a:t>that is named as “superclass” or “</a:t>
            </a:r>
            <a:r>
              <a:rPr b="1" lang="en-GB" sz="2200">
                <a:solidFill>
                  <a:schemeClr val="dk1"/>
                </a:solidFill>
                <a:latin typeface="Calibri"/>
                <a:ea typeface="Calibri"/>
                <a:cs typeface="Calibri"/>
                <a:sym typeface="Calibri"/>
              </a:rPr>
              <a:t>parent</a:t>
            </a:r>
            <a:r>
              <a:rPr lang="en-GB" sz="2200">
                <a:solidFill>
                  <a:schemeClr val="dk1"/>
                </a:solidFill>
                <a:latin typeface="Calibri"/>
                <a:ea typeface="Calibri"/>
                <a:cs typeface="Calibri"/>
                <a:sym typeface="Calibri"/>
              </a:rPr>
              <a:t>” and the specific class that is named as “</a:t>
            </a:r>
            <a:r>
              <a:rPr b="1" lang="en-GB" sz="2200">
                <a:solidFill>
                  <a:schemeClr val="dk1"/>
                </a:solidFill>
                <a:latin typeface="Calibri"/>
                <a:ea typeface="Calibri"/>
                <a:cs typeface="Calibri"/>
                <a:sym typeface="Calibri"/>
              </a:rPr>
              <a:t>subclass</a:t>
            </a:r>
            <a:r>
              <a:rPr lang="en-GB" sz="2200">
                <a:solidFill>
                  <a:schemeClr val="dk1"/>
                </a:solidFill>
                <a:latin typeface="Calibri"/>
                <a:ea typeface="Calibri"/>
                <a:cs typeface="Calibri"/>
                <a:sym typeface="Calibri"/>
              </a:rPr>
              <a:t>” or “</a:t>
            </a:r>
            <a:r>
              <a:rPr b="1" lang="en-GB" sz="2200">
                <a:solidFill>
                  <a:schemeClr val="dk1"/>
                </a:solidFill>
                <a:latin typeface="Calibri"/>
                <a:ea typeface="Calibri"/>
                <a:cs typeface="Calibri"/>
                <a:sym typeface="Calibri"/>
              </a:rPr>
              <a:t>child</a:t>
            </a:r>
            <a:r>
              <a:rPr lang="en-GB" sz="2200">
                <a:solidFill>
                  <a:schemeClr val="dk1"/>
                </a:solidFill>
                <a:latin typeface="Calibri"/>
                <a:ea typeface="Calibri"/>
                <a:cs typeface="Calibri"/>
                <a:sym typeface="Calibri"/>
              </a:rPr>
              <a:t>”.</a:t>
            </a:r>
            <a:endParaRPr sz="2200">
              <a:solidFill>
                <a:schemeClr val="dk1"/>
              </a:solidFill>
              <a:latin typeface="Calibri"/>
              <a:ea typeface="Calibri"/>
              <a:cs typeface="Calibri"/>
              <a:sym typeface="Calibri"/>
            </a:endParaRPr>
          </a:p>
          <a:p>
            <a:pPr indent="0" lvl="0" marL="0" rtl="0" algn="just">
              <a:lnSpc>
                <a:spcPct val="115000"/>
              </a:lnSpc>
              <a:spcBef>
                <a:spcPts val="800"/>
              </a:spcBef>
              <a:spcAft>
                <a:spcPts val="0"/>
              </a:spcAft>
              <a:buSzPts val="1400"/>
              <a:buNone/>
            </a:pPr>
            <a:r>
              <a:t/>
            </a:r>
            <a:endParaRPr sz="2200">
              <a:solidFill>
                <a:schemeClr val="dk1"/>
              </a:solidFill>
            </a:endParaRPr>
          </a:p>
          <a:p>
            <a:pPr indent="0" lvl="0" marL="0" rtl="0" algn="l">
              <a:lnSpc>
                <a:spcPct val="115000"/>
              </a:lnSpc>
              <a:spcBef>
                <a:spcPts val="700"/>
              </a:spcBef>
              <a:spcAft>
                <a:spcPts val="0"/>
              </a:spcAft>
              <a:buSzPts val="1400"/>
              <a:buNone/>
            </a:pPr>
            <a:r>
              <a:t/>
            </a:r>
            <a:endParaRPr sz="2200">
              <a:solidFill>
                <a:schemeClr val="dk1"/>
              </a:solidFill>
            </a:endParaRPr>
          </a:p>
          <a:p>
            <a:pPr indent="0" lvl="0" marL="914400" rtl="0" algn="just">
              <a:lnSpc>
                <a:spcPct val="100000"/>
              </a:lnSpc>
              <a:spcBef>
                <a:spcPts val="0"/>
              </a:spcBef>
              <a:spcAft>
                <a:spcPts val="0"/>
              </a:spcAft>
              <a:buSzPts val="1400"/>
              <a:buNone/>
            </a:pPr>
            <a:r>
              <a:t/>
            </a:r>
            <a:endParaRPr sz="2200">
              <a:solidFill>
                <a:schemeClr val="dk1"/>
              </a:solidFill>
              <a:latin typeface="Calibri"/>
              <a:ea typeface="Calibri"/>
              <a:cs typeface="Calibri"/>
              <a:sym typeface="Calibri"/>
            </a:endParaRPr>
          </a:p>
          <a:p>
            <a:pPr indent="0" lvl="0" marL="0" rtl="0" algn="l">
              <a:lnSpc>
                <a:spcPct val="90000"/>
              </a:lnSpc>
              <a:spcBef>
                <a:spcPts val="700"/>
              </a:spcBef>
              <a:spcAft>
                <a:spcPts val="0"/>
              </a:spcAft>
              <a:buSzPts val="1400"/>
              <a:buNone/>
            </a:pPr>
            <a:r>
              <a:t/>
            </a:r>
            <a:endParaRPr sz="24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sz="2400">
              <a:solidFill>
                <a:schemeClr val="dk1"/>
              </a:solidFill>
              <a:latin typeface="Calibri"/>
              <a:ea typeface="Calibri"/>
              <a:cs typeface="Calibri"/>
              <a:sym typeface="Calibri"/>
            </a:endParaRPr>
          </a:p>
        </p:txBody>
      </p:sp>
      <p:sp>
        <p:nvSpPr>
          <p:cNvPr id="516" name="Google Shape;516;p5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517" name="Google Shape;517;p5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
        <p:nvSpPr>
          <p:cNvPr id="518" name="Google Shape;518;p53"/>
          <p:cNvSpPr txBox="1"/>
          <p:nvPr/>
        </p:nvSpPr>
        <p:spPr>
          <a:xfrm>
            <a:off x="1916875" y="3582225"/>
            <a:ext cx="954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19" name="Google Shape;519;p53"/>
          <p:cNvPicPr preferRelativeResize="0"/>
          <p:nvPr/>
        </p:nvPicPr>
        <p:blipFill rotWithShape="1">
          <a:blip r:embed="rId3">
            <a:alphaModFix/>
          </a:blip>
          <a:srcRect b="0" l="0" r="0" t="0"/>
          <a:stretch/>
        </p:blipFill>
        <p:spPr>
          <a:xfrm>
            <a:off x="473200" y="2991475"/>
            <a:ext cx="3333750" cy="1447800"/>
          </a:xfrm>
          <a:prstGeom prst="rect">
            <a:avLst/>
          </a:prstGeom>
          <a:noFill/>
          <a:ln>
            <a:noFill/>
          </a:ln>
        </p:spPr>
      </p:pic>
      <p:pic>
        <p:nvPicPr>
          <p:cNvPr id="520" name="Google Shape;520;p53"/>
          <p:cNvPicPr preferRelativeResize="0"/>
          <p:nvPr/>
        </p:nvPicPr>
        <p:blipFill rotWithShape="1">
          <a:blip r:embed="rId4">
            <a:alphaModFix/>
          </a:blip>
          <a:srcRect b="0" l="0" r="0" t="0"/>
          <a:stretch/>
        </p:blipFill>
        <p:spPr>
          <a:xfrm>
            <a:off x="3959350" y="3000150"/>
            <a:ext cx="3295650" cy="14763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5">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sp>
        <p:nvSpPr>
          <p:cNvPr id="525" name="Google Shape;525;p54"/>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Analysis Model</a:t>
            </a:r>
            <a:endParaRPr b="1"/>
          </a:p>
        </p:txBody>
      </p:sp>
      <p:sp>
        <p:nvSpPr>
          <p:cNvPr id="526" name="Google Shape;526;p54"/>
          <p:cNvSpPr txBox="1"/>
          <p:nvPr>
            <p:ph idx="1" type="body"/>
          </p:nvPr>
        </p:nvSpPr>
        <p:spPr>
          <a:xfrm>
            <a:off x="318125" y="586350"/>
            <a:ext cx="8563800" cy="2123100"/>
          </a:xfrm>
          <a:prstGeom prst="rect">
            <a:avLst/>
          </a:prstGeom>
          <a:noFill/>
          <a:ln>
            <a:noFill/>
          </a:ln>
        </p:spPr>
        <p:txBody>
          <a:bodyPr anchorCtr="0" anchor="t" bIns="34275" lIns="68575" spcFirstLastPara="1" rIns="68575" wrap="square" tIns="34275">
            <a:noAutofit/>
          </a:bodyPr>
          <a:lstStyle/>
          <a:p>
            <a:pPr indent="0" lvl="0" marL="0" rtl="0" algn="just">
              <a:lnSpc>
                <a:spcPct val="90000"/>
              </a:lnSpc>
              <a:spcBef>
                <a:spcPts val="0"/>
              </a:spcBef>
              <a:spcAft>
                <a:spcPts val="0"/>
              </a:spcAft>
              <a:buSzPts val="1400"/>
              <a:buNone/>
            </a:pPr>
            <a:r>
              <a:rPr b="1" lang="en-GB" sz="3200">
                <a:solidFill>
                  <a:srgbClr val="002060"/>
                </a:solidFill>
                <a:latin typeface="Calibri"/>
                <a:ea typeface="Calibri"/>
                <a:cs typeface="Calibri"/>
                <a:sym typeface="Calibri"/>
              </a:rPr>
              <a:t>Class Diagram  </a:t>
            </a:r>
            <a:endParaRPr sz="2400">
              <a:solidFill>
                <a:schemeClr val="dk1"/>
              </a:solidFill>
              <a:latin typeface="Calibri"/>
              <a:ea typeface="Calibri"/>
              <a:cs typeface="Calibri"/>
              <a:sym typeface="Calibri"/>
            </a:endParaRPr>
          </a:p>
          <a:p>
            <a:pPr indent="0" lvl="0" marL="0" rtl="0" algn="just">
              <a:lnSpc>
                <a:spcPct val="100000"/>
              </a:lnSpc>
              <a:spcBef>
                <a:spcPts val="0"/>
              </a:spcBef>
              <a:spcAft>
                <a:spcPts val="0"/>
              </a:spcAft>
              <a:buSzPts val="1400"/>
              <a:buNone/>
            </a:pPr>
            <a:r>
              <a:rPr lang="en-GB" sz="2800">
                <a:solidFill>
                  <a:schemeClr val="dk1"/>
                </a:solidFill>
                <a:latin typeface="Calibri"/>
                <a:ea typeface="Calibri"/>
                <a:cs typeface="Calibri"/>
                <a:sym typeface="Calibri"/>
              </a:rPr>
              <a:t>Realisation:</a:t>
            </a:r>
            <a:endParaRPr sz="2800">
              <a:solidFill>
                <a:schemeClr val="dk1"/>
              </a:solidFill>
              <a:latin typeface="Calibri"/>
              <a:ea typeface="Calibri"/>
              <a:cs typeface="Calibri"/>
              <a:sym typeface="Calibri"/>
            </a:endParaRPr>
          </a:p>
          <a:p>
            <a:pPr indent="-368300" lvl="0" marL="457200" rtl="0" algn="just">
              <a:lnSpc>
                <a:spcPct val="100000"/>
              </a:lnSpc>
              <a:spcBef>
                <a:spcPts val="0"/>
              </a:spcBef>
              <a:spcAft>
                <a:spcPts val="0"/>
              </a:spcAft>
              <a:buClr>
                <a:schemeClr val="dk1"/>
              </a:buClr>
              <a:buSzPts val="2200"/>
              <a:buFont typeface="Calibri"/>
              <a:buChar char="●"/>
            </a:pPr>
            <a:r>
              <a:rPr lang="en-GB" sz="2200">
                <a:solidFill>
                  <a:schemeClr val="dk1"/>
                </a:solidFill>
                <a:latin typeface="Calibri"/>
                <a:ea typeface="Calibri"/>
                <a:cs typeface="Calibri"/>
                <a:sym typeface="Calibri"/>
              </a:rPr>
              <a:t>A realization relationship indicates that </a:t>
            </a:r>
            <a:r>
              <a:rPr b="1" lang="en-GB" sz="2200">
                <a:solidFill>
                  <a:schemeClr val="dk1"/>
                </a:solidFill>
                <a:latin typeface="Calibri"/>
                <a:ea typeface="Calibri"/>
                <a:cs typeface="Calibri"/>
                <a:sym typeface="Calibri"/>
              </a:rPr>
              <a:t>one class implements a behaviour specified by another class </a:t>
            </a:r>
            <a:r>
              <a:rPr lang="en-GB" sz="2200">
                <a:solidFill>
                  <a:schemeClr val="dk1"/>
                </a:solidFill>
                <a:latin typeface="Calibri"/>
                <a:ea typeface="Calibri"/>
                <a:cs typeface="Calibri"/>
                <a:sym typeface="Calibri"/>
              </a:rPr>
              <a:t>(an interface or protocol).</a:t>
            </a:r>
            <a:endParaRPr sz="2200">
              <a:solidFill>
                <a:schemeClr val="dk1"/>
              </a:solidFill>
            </a:endParaRPr>
          </a:p>
          <a:p>
            <a:pPr indent="-368300" lvl="0" marL="457200" rtl="0" algn="just">
              <a:lnSpc>
                <a:spcPct val="100000"/>
              </a:lnSpc>
              <a:spcBef>
                <a:spcPts val="0"/>
              </a:spcBef>
              <a:spcAft>
                <a:spcPts val="0"/>
              </a:spcAft>
              <a:buSzPts val="2200"/>
              <a:buFont typeface="Calibri"/>
              <a:buChar char="●"/>
            </a:pPr>
            <a:r>
              <a:rPr lang="en-GB" sz="2200">
                <a:solidFill>
                  <a:schemeClr val="dk1"/>
                </a:solidFill>
                <a:latin typeface="Calibri"/>
                <a:ea typeface="Calibri"/>
                <a:cs typeface="Calibri"/>
                <a:sym typeface="Calibri"/>
              </a:rPr>
              <a:t>a broken line with </a:t>
            </a:r>
            <a:r>
              <a:rPr lang="en-GB" sz="2400"/>
              <a:t>hollow arrowhead pointing </a:t>
            </a:r>
            <a:r>
              <a:rPr lang="en-GB" sz="2200">
                <a:solidFill>
                  <a:schemeClr val="dk1"/>
                </a:solidFill>
                <a:latin typeface="Calibri"/>
                <a:ea typeface="Calibri"/>
                <a:cs typeface="Calibri"/>
                <a:sym typeface="Calibri"/>
              </a:rPr>
              <a:t>is drawn from the class that defines the functionality to the class that implements the function.</a:t>
            </a:r>
            <a:endParaRPr sz="2200">
              <a:solidFill>
                <a:schemeClr val="dk1"/>
              </a:solidFill>
              <a:latin typeface="Calibri"/>
              <a:ea typeface="Calibri"/>
              <a:cs typeface="Calibri"/>
              <a:sym typeface="Calibri"/>
            </a:endParaRPr>
          </a:p>
          <a:p>
            <a:pPr indent="0" lvl="0" marL="0" rtl="0" algn="just">
              <a:lnSpc>
                <a:spcPct val="100000"/>
              </a:lnSpc>
              <a:spcBef>
                <a:spcPts val="0"/>
              </a:spcBef>
              <a:spcAft>
                <a:spcPts val="0"/>
              </a:spcAft>
              <a:buSzPts val="1400"/>
              <a:buNone/>
            </a:pPr>
            <a:r>
              <a:t/>
            </a:r>
            <a:endParaRPr sz="2200">
              <a:solidFill>
                <a:schemeClr val="dk1"/>
              </a:solidFill>
            </a:endParaRPr>
          </a:p>
          <a:p>
            <a:pPr indent="0" lvl="0" marL="0" rtl="0" algn="just">
              <a:lnSpc>
                <a:spcPct val="115000"/>
              </a:lnSpc>
              <a:spcBef>
                <a:spcPts val="800"/>
              </a:spcBef>
              <a:spcAft>
                <a:spcPts val="0"/>
              </a:spcAft>
              <a:buSzPts val="1400"/>
              <a:buNone/>
            </a:pPr>
            <a:r>
              <a:t/>
            </a:r>
            <a:endParaRPr sz="2200">
              <a:solidFill>
                <a:schemeClr val="dk1"/>
              </a:solidFill>
            </a:endParaRPr>
          </a:p>
          <a:p>
            <a:pPr indent="0" lvl="0" marL="0" rtl="0" algn="l">
              <a:lnSpc>
                <a:spcPct val="115000"/>
              </a:lnSpc>
              <a:spcBef>
                <a:spcPts val="700"/>
              </a:spcBef>
              <a:spcAft>
                <a:spcPts val="0"/>
              </a:spcAft>
              <a:buSzPts val="1400"/>
              <a:buNone/>
            </a:pPr>
            <a:r>
              <a:t/>
            </a:r>
            <a:endParaRPr sz="2200">
              <a:solidFill>
                <a:schemeClr val="dk1"/>
              </a:solidFill>
            </a:endParaRPr>
          </a:p>
          <a:p>
            <a:pPr indent="0" lvl="0" marL="914400" rtl="0" algn="just">
              <a:lnSpc>
                <a:spcPct val="100000"/>
              </a:lnSpc>
              <a:spcBef>
                <a:spcPts val="0"/>
              </a:spcBef>
              <a:spcAft>
                <a:spcPts val="0"/>
              </a:spcAft>
              <a:buSzPts val="1400"/>
              <a:buNone/>
            </a:pPr>
            <a:r>
              <a:t/>
            </a:r>
            <a:endParaRPr sz="2200">
              <a:solidFill>
                <a:schemeClr val="dk1"/>
              </a:solidFill>
              <a:latin typeface="Calibri"/>
              <a:ea typeface="Calibri"/>
              <a:cs typeface="Calibri"/>
              <a:sym typeface="Calibri"/>
            </a:endParaRPr>
          </a:p>
          <a:p>
            <a:pPr indent="0" lvl="0" marL="0" rtl="0" algn="l">
              <a:lnSpc>
                <a:spcPct val="90000"/>
              </a:lnSpc>
              <a:spcBef>
                <a:spcPts val="700"/>
              </a:spcBef>
              <a:spcAft>
                <a:spcPts val="0"/>
              </a:spcAft>
              <a:buSzPts val="1400"/>
              <a:buNone/>
            </a:pPr>
            <a:r>
              <a:t/>
            </a:r>
            <a:endParaRPr sz="24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sz="2400">
              <a:solidFill>
                <a:schemeClr val="dk1"/>
              </a:solidFill>
              <a:latin typeface="Calibri"/>
              <a:ea typeface="Calibri"/>
              <a:cs typeface="Calibri"/>
              <a:sym typeface="Calibri"/>
            </a:endParaRPr>
          </a:p>
        </p:txBody>
      </p:sp>
      <p:sp>
        <p:nvSpPr>
          <p:cNvPr id="527" name="Google Shape;527;p5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528" name="Google Shape;528;p5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
        <p:nvSpPr>
          <p:cNvPr id="529" name="Google Shape;529;p54"/>
          <p:cNvSpPr txBox="1"/>
          <p:nvPr/>
        </p:nvSpPr>
        <p:spPr>
          <a:xfrm>
            <a:off x="1916875" y="3582225"/>
            <a:ext cx="954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30" name="Google Shape;530;p54"/>
          <p:cNvPicPr preferRelativeResize="0"/>
          <p:nvPr/>
        </p:nvPicPr>
        <p:blipFill rotWithShape="1">
          <a:blip r:embed="rId3">
            <a:alphaModFix/>
          </a:blip>
          <a:srcRect b="0" l="0" r="0" t="0"/>
          <a:stretch/>
        </p:blipFill>
        <p:spPr>
          <a:xfrm>
            <a:off x="3205425" y="2881113"/>
            <a:ext cx="1600200" cy="1714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6">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0"/>
                                        </p:tgtEl>
                                        <p:attrNameLst>
                                          <p:attrName>style.visibility</p:attrName>
                                        </p:attrNameLst>
                                      </p:cBhvr>
                                      <p:to>
                                        <p:strVal val="visible"/>
                                      </p:to>
                                    </p:set>
                                    <p:animEffect filter="fade" transition="in">
                                      <p:cBhvr>
                                        <p:cTn dur="1000"/>
                                        <p:tgtEl>
                                          <p:spTgt spid="5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55"/>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Analysis Model</a:t>
            </a:r>
            <a:endParaRPr b="1"/>
          </a:p>
        </p:txBody>
      </p:sp>
      <p:sp>
        <p:nvSpPr>
          <p:cNvPr id="536" name="Google Shape;536;p55"/>
          <p:cNvSpPr txBox="1"/>
          <p:nvPr>
            <p:ph idx="1" type="body"/>
          </p:nvPr>
        </p:nvSpPr>
        <p:spPr>
          <a:xfrm>
            <a:off x="318125" y="586350"/>
            <a:ext cx="8563800" cy="2123100"/>
          </a:xfrm>
          <a:prstGeom prst="rect">
            <a:avLst/>
          </a:prstGeom>
          <a:noFill/>
          <a:ln>
            <a:noFill/>
          </a:ln>
        </p:spPr>
        <p:txBody>
          <a:bodyPr anchorCtr="0" anchor="t" bIns="34275" lIns="68575" spcFirstLastPara="1" rIns="68575" wrap="square" tIns="34275">
            <a:noAutofit/>
          </a:bodyPr>
          <a:lstStyle/>
          <a:p>
            <a:pPr indent="0" lvl="0" marL="0" rtl="0" algn="just">
              <a:lnSpc>
                <a:spcPct val="90000"/>
              </a:lnSpc>
              <a:spcBef>
                <a:spcPts val="0"/>
              </a:spcBef>
              <a:spcAft>
                <a:spcPts val="0"/>
              </a:spcAft>
              <a:buSzPts val="1400"/>
              <a:buNone/>
            </a:pPr>
            <a:r>
              <a:rPr b="1" lang="en-GB" sz="3200">
                <a:solidFill>
                  <a:srgbClr val="002060"/>
                </a:solidFill>
                <a:latin typeface="Calibri"/>
                <a:ea typeface="Calibri"/>
                <a:cs typeface="Calibri"/>
                <a:sym typeface="Calibri"/>
              </a:rPr>
              <a:t>Class Diagram  </a:t>
            </a:r>
            <a:endParaRPr sz="2400">
              <a:solidFill>
                <a:schemeClr val="dk1"/>
              </a:solidFill>
              <a:latin typeface="Calibri"/>
              <a:ea typeface="Calibri"/>
              <a:cs typeface="Calibri"/>
              <a:sym typeface="Calibri"/>
            </a:endParaRPr>
          </a:p>
          <a:p>
            <a:pPr indent="0" lvl="0" marL="0" rtl="0" algn="just">
              <a:lnSpc>
                <a:spcPct val="100000"/>
              </a:lnSpc>
              <a:spcBef>
                <a:spcPts val="0"/>
              </a:spcBef>
              <a:spcAft>
                <a:spcPts val="0"/>
              </a:spcAft>
              <a:buSzPts val="1400"/>
              <a:buNone/>
            </a:pPr>
            <a:r>
              <a:rPr lang="en-GB" sz="2800">
                <a:solidFill>
                  <a:schemeClr val="dk1"/>
                </a:solidFill>
                <a:latin typeface="Calibri"/>
                <a:ea typeface="Calibri"/>
                <a:cs typeface="Calibri"/>
                <a:sym typeface="Calibri"/>
              </a:rPr>
              <a:t>Dependency:</a:t>
            </a:r>
            <a:endParaRPr sz="2800">
              <a:solidFill>
                <a:schemeClr val="dk1"/>
              </a:solidFill>
              <a:latin typeface="Calibri"/>
              <a:ea typeface="Calibri"/>
              <a:cs typeface="Calibri"/>
              <a:sym typeface="Calibri"/>
            </a:endParaRPr>
          </a:p>
          <a:p>
            <a:pPr indent="-368300" lvl="0" marL="457200" rtl="0" algn="just">
              <a:lnSpc>
                <a:spcPct val="100000"/>
              </a:lnSpc>
              <a:spcBef>
                <a:spcPts val="0"/>
              </a:spcBef>
              <a:spcAft>
                <a:spcPts val="0"/>
              </a:spcAft>
              <a:buSzPts val="2200"/>
              <a:buFont typeface="Calibri"/>
              <a:buChar char="●"/>
            </a:pPr>
            <a:r>
              <a:rPr lang="en-GB" sz="2200">
                <a:solidFill>
                  <a:schemeClr val="dk1"/>
                </a:solidFill>
                <a:latin typeface="Calibri"/>
                <a:ea typeface="Calibri"/>
                <a:cs typeface="Calibri"/>
                <a:sym typeface="Calibri"/>
              </a:rPr>
              <a:t>It means that the class at the source end of the relationship has some sort of dependency on the class at the target (arrowhead) end of the relationship. </a:t>
            </a:r>
            <a:endParaRPr/>
          </a:p>
          <a:p>
            <a:pPr indent="-368300" lvl="0" marL="457200" rtl="0" algn="just">
              <a:lnSpc>
                <a:spcPct val="100000"/>
              </a:lnSpc>
              <a:spcBef>
                <a:spcPts val="0"/>
              </a:spcBef>
              <a:spcAft>
                <a:spcPts val="0"/>
              </a:spcAft>
              <a:buClr>
                <a:schemeClr val="dk1"/>
              </a:buClr>
              <a:buSzPts val="2200"/>
              <a:buFont typeface="Calibri"/>
              <a:buChar char="●"/>
            </a:pPr>
            <a:r>
              <a:rPr lang="en-GB" sz="2200">
                <a:solidFill>
                  <a:schemeClr val="dk1"/>
                </a:solidFill>
                <a:latin typeface="Calibri"/>
                <a:ea typeface="Calibri"/>
                <a:cs typeface="Calibri"/>
                <a:sym typeface="Calibri"/>
              </a:rPr>
              <a:t>In UML, a dependency relationship is a relationship in which one element, the client, uses or depends on another element, the supplier.</a:t>
            </a:r>
            <a:endParaRPr sz="2200">
              <a:solidFill>
                <a:schemeClr val="dk1"/>
              </a:solidFill>
              <a:latin typeface="Calibri"/>
              <a:ea typeface="Calibri"/>
              <a:cs typeface="Calibri"/>
              <a:sym typeface="Calibri"/>
            </a:endParaRPr>
          </a:p>
          <a:p>
            <a:pPr indent="-368300" lvl="0" marL="457200" rtl="0" algn="just">
              <a:lnSpc>
                <a:spcPct val="100000"/>
              </a:lnSpc>
              <a:spcBef>
                <a:spcPts val="0"/>
              </a:spcBef>
              <a:spcAft>
                <a:spcPts val="0"/>
              </a:spcAft>
              <a:buSzPts val="2200"/>
              <a:buFont typeface="Calibri"/>
              <a:buChar char="●"/>
            </a:pPr>
            <a:r>
              <a:rPr lang="en-GB" sz="2200">
                <a:solidFill>
                  <a:schemeClr val="dk1"/>
                </a:solidFill>
                <a:latin typeface="Calibri"/>
                <a:ea typeface="Calibri"/>
                <a:cs typeface="Calibri"/>
                <a:sym typeface="Calibri"/>
              </a:rPr>
              <a:t>Dependency shows that an element is dependent on another element as it fulfils its responsibilities within the system</a:t>
            </a:r>
            <a:endParaRPr sz="2200">
              <a:solidFill>
                <a:schemeClr val="dk1"/>
              </a:solidFill>
              <a:latin typeface="Calibri"/>
              <a:ea typeface="Calibri"/>
              <a:cs typeface="Calibri"/>
              <a:sym typeface="Calibri"/>
            </a:endParaRPr>
          </a:p>
          <a:p>
            <a:pPr indent="0" lvl="0" marL="457200" rtl="0" algn="just">
              <a:lnSpc>
                <a:spcPct val="100000"/>
              </a:lnSpc>
              <a:spcBef>
                <a:spcPts val="0"/>
              </a:spcBef>
              <a:spcAft>
                <a:spcPts val="0"/>
              </a:spcAft>
              <a:buSzPts val="1400"/>
              <a:buNone/>
            </a:pPr>
            <a:r>
              <a:t/>
            </a:r>
            <a:endParaRPr sz="2200">
              <a:solidFill>
                <a:schemeClr val="dk1"/>
              </a:solidFill>
              <a:latin typeface="Calibri"/>
              <a:ea typeface="Calibri"/>
              <a:cs typeface="Calibri"/>
              <a:sym typeface="Calibri"/>
            </a:endParaRPr>
          </a:p>
          <a:p>
            <a:pPr indent="0" lvl="0" marL="0" rtl="0" algn="just">
              <a:lnSpc>
                <a:spcPct val="100000"/>
              </a:lnSpc>
              <a:spcBef>
                <a:spcPts val="0"/>
              </a:spcBef>
              <a:spcAft>
                <a:spcPts val="0"/>
              </a:spcAft>
              <a:buSzPts val="1400"/>
              <a:buNone/>
            </a:pPr>
            <a:r>
              <a:t/>
            </a:r>
            <a:endParaRPr sz="2200">
              <a:solidFill>
                <a:schemeClr val="dk1"/>
              </a:solidFill>
            </a:endParaRPr>
          </a:p>
          <a:p>
            <a:pPr indent="0" lvl="0" marL="0" rtl="0" algn="just">
              <a:lnSpc>
                <a:spcPct val="115000"/>
              </a:lnSpc>
              <a:spcBef>
                <a:spcPts val="800"/>
              </a:spcBef>
              <a:spcAft>
                <a:spcPts val="0"/>
              </a:spcAft>
              <a:buSzPts val="1400"/>
              <a:buNone/>
            </a:pPr>
            <a:r>
              <a:t/>
            </a:r>
            <a:endParaRPr sz="2200">
              <a:solidFill>
                <a:schemeClr val="dk1"/>
              </a:solidFill>
            </a:endParaRPr>
          </a:p>
          <a:p>
            <a:pPr indent="0" lvl="0" marL="0" rtl="0" algn="l">
              <a:lnSpc>
                <a:spcPct val="115000"/>
              </a:lnSpc>
              <a:spcBef>
                <a:spcPts val="700"/>
              </a:spcBef>
              <a:spcAft>
                <a:spcPts val="0"/>
              </a:spcAft>
              <a:buSzPts val="1400"/>
              <a:buNone/>
            </a:pPr>
            <a:r>
              <a:t/>
            </a:r>
            <a:endParaRPr sz="2200">
              <a:solidFill>
                <a:schemeClr val="dk1"/>
              </a:solidFill>
            </a:endParaRPr>
          </a:p>
          <a:p>
            <a:pPr indent="0" lvl="0" marL="914400" rtl="0" algn="just">
              <a:lnSpc>
                <a:spcPct val="100000"/>
              </a:lnSpc>
              <a:spcBef>
                <a:spcPts val="0"/>
              </a:spcBef>
              <a:spcAft>
                <a:spcPts val="0"/>
              </a:spcAft>
              <a:buSzPts val="1400"/>
              <a:buNone/>
            </a:pPr>
            <a:r>
              <a:t/>
            </a:r>
            <a:endParaRPr sz="2200">
              <a:solidFill>
                <a:schemeClr val="dk1"/>
              </a:solidFill>
              <a:latin typeface="Calibri"/>
              <a:ea typeface="Calibri"/>
              <a:cs typeface="Calibri"/>
              <a:sym typeface="Calibri"/>
            </a:endParaRPr>
          </a:p>
          <a:p>
            <a:pPr indent="0" lvl="0" marL="0" rtl="0" algn="l">
              <a:lnSpc>
                <a:spcPct val="90000"/>
              </a:lnSpc>
              <a:spcBef>
                <a:spcPts val="700"/>
              </a:spcBef>
              <a:spcAft>
                <a:spcPts val="0"/>
              </a:spcAft>
              <a:buSzPts val="1400"/>
              <a:buNone/>
            </a:pPr>
            <a:r>
              <a:t/>
            </a:r>
            <a:endParaRPr sz="24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sz="2400">
              <a:solidFill>
                <a:schemeClr val="dk1"/>
              </a:solidFill>
              <a:latin typeface="Calibri"/>
              <a:ea typeface="Calibri"/>
              <a:cs typeface="Calibri"/>
              <a:sym typeface="Calibri"/>
            </a:endParaRPr>
          </a:p>
        </p:txBody>
      </p:sp>
      <p:sp>
        <p:nvSpPr>
          <p:cNvPr id="537" name="Google Shape;537;p55"/>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538" name="Google Shape;538;p5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
        <p:nvSpPr>
          <p:cNvPr id="539" name="Google Shape;539;p55"/>
          <p:cNvSpPr txBox="1"/>
          <p:nvPr/>
        </p:nvSpPr>
        <p:spPr>
          <a:xfrm>
            <a:off x="1916875" y="3582225"/>
            <a:ext cx="954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40" name="Google Shape;540;p55"/>
          <p:cNvPicPr preferRelativeResize="0"/>
          <p:nvPr/>
        </p:nvPicPr>
        <p:blipFill rotWithShape="1">
          <a:blip r:embed="rId3">
            <a:alphaModFix/>
          </a:blip>
          <a:srcRect b="0" l="0" r="0" t="0"/>
          <a:stretch/>
        </p:blipFill>
        <p:spPr>
          <a:xfrm>
            <a:off x="1171574" y="4369675"/>
            <a:ext cx="2601875" cy="671513"/>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6">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6">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6">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0"/>
                                        </p:tgtEl>
                                        <p:attrNameLst>
                                          <p:attrName>style.visibility</p:attrName>
                                        </p:attrNameLst>
                                      </p:cBhvr>
                                      <p:to>
                                        <p:strVal val="visible"/>
                                      </p:to>
                                    </p:set>
                                    <p:animEffect filter="fade" transition="in">
                                      <p:cBhvr>
                                        <p:cTn dur="1000"/>
                                        <p:tgtEl>
                                          <p:spTgt spid="5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0"/>
                                        </p:tgtEl>
                                        <p:attrNameLst>
                                          <p:attrName>style.visibility</p:attrName>
                                        </p:attrNameLst>
                                      </p:cBhvr>
                                      <p:to>
                                        <p:strVal val="visible"/>
                                      </p:to>
                                    </p:set>
                                    <p:animEffect filter="fade" transition="in">
                                      <p:cBhvr>
                                        <p:cTn dur="1000"/>
                                        <p:tgtEl>
                                          <p:spTgt spid="5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56"/>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Analysis Model</a:t>
            </a:r>
            <a:endParaRPr b="1"/>
          </a:p>
        </p:txBody>
      </p:sp>
      <p:sp>
        <p:nvSpPr>
          <p:cNvPr id="546" name="Google Shape;546;p56"/>
          <p:cNvSpPr txBox="1"/>
          <p:nvPr>
            <p:ph idx="1" type="body"/>
          </p:nvPr>
        </p:nvSpPr>
        <p:spPr>
          <a:xfrm>
            <a:off x="318125" y="586350"/>
            <a:ext cx="8563800" cy="2123100"/>
          </a:xfrm>
          <a:prstGeom prst="rect">
            <a:avLst/>
          </a:prstGeom>
          <a:noFill/>
          <a:ln>
            <a:noFill/>
          </a:ln>
        </p:spPr>
        <p:txBody>
          <a:bodyPr anchorCtr="0" anchor="t" bIns="34275" lIns="68575" spcFirstLastPara="1" rIns="68575" wrap="square" tIns="34275">
            <a:noAutofit/>
          </a:bodyPr>
          <a:lstStyle/>
          <a:p>
            <a:pPr indent="0" lvl="0" marL="0" rtl="0" algn="just">
              <a:lnSpc>
                <a:spcPct val="90000"/>
              </a:lnSpc>
              <a:spcBef>
                <a:spcPts val="0"/>
              </a:spcBef>
              <a:spcAft>
                <a:spcPts val="0"/>
              </a:spcAft>
              <a:buSzPts val="1400"/>
              <a:buNone/>
            </a:pPr>
            <a:r>
              <a:rPr b="1" lang="en-GB" sz="3200">
                <a:solidFill>
                  <a:srgbClr val="002060"/>
                </a:solidFill>
                <a:latin typeface="Calibri"/>
                <a:ea typeface="Calibri"/>
                <a:cs typeface="Calibri"/>
                <a:sym typeface="Calibri"/>
              </a:rPr>
              <a:t>Class Diagram  </a:t>
            </a:r>
            <a:endParaRPr sz="2400">
              <a:solidFill>
                <a:schemeClr val="dk1"/>
              </a:solidFill>
              <a:latin typeface="Calibri"/>
              <a:ea typeface="Calibri"/>
              <a:cs typeface="Calibri"/>
              <a:sym typeface="Calibri"/>
            </a:endParaRPr>
          </a:p>
          <a:p>
            <a:pPr indent="0" lvl="0" marL="0" rtl="0" algn="just">
              <a:lnSpc>
                <a:spcPct val="100000"/>
              </a:lnSpc>
              <a:spcBef>
                <a:spcPts val="0"/>
              </a:spcBef>
              <a:spcAft>
                <a:spcPts val="0"/>
              </a:spcAft>
              <a:buSzPts val="1400"/>
              <a:buNone/>
            </a:pPr>
            <a:r>
              <a:rPr lang="en-GB" sz="2800">
                <a:solidFill>
                  <a:schemeClr val="dk1"/>
                </a:solidFill>
                <a:latin typeface="Calibri"/>
                <a:ea typeface="Calibri"/>
                <a:cs typeface="Calibri"/>
                <a:sym typeface="Calibri"/>
              </a:rPr>
              <a:t>Dependency:</a:t>
            </a:r>
            <a:endParaRPr sz="2800">
              <a:solidFill>
                <a:schemeClr val="dk1"/>
              </a:solidFill>
              <a:latin typeface="Calibri"/>
              <a:ea typeface="Calibri"/>
              <a:cs typeface="Calibri"/>
              <a:sym typeface="Calibri"/>
            </a:endParaRPr>
          </a:p>
          <a:p>
            <a:pPr indent="-368300" lvl="0" marL="457200" rtl="0" algn="just">
              <a:lnSpc>
                <a:spcPct val="100000"/>
              </a:lnSpc>
              <a:spcBef>
                <a:spcPts val="0"/>
              </a:spcBef>
              <a:spcAft>
                <a:spcPts val="0"/>
              </a:spcAft>
              <a:buClr>
                <a:schemeClr val="dk1"/>
              </a:buClr>
              <a:buSzPts val="2200"/>
              <a:buFont typeface="Calibri"/>
              <a:buChar char="●"/>
            </a:pPr>
            <a:r>
              <a:rPr lang="en-GB" sz="2200">
                <a:solidFill>
                  <a:schemeClr val="dk1"/>
                </a:solidFill>
                <a:latin typeface="Calibri"/>
                <a:ea typeface="Calibri"/>
                <a:cs typeface="Calibri"/>
                <a:sym typeface="Calibri"/>
              </a:rPr>
              <a:t>A </a:t>
            </a:r>
            <a:r>
              <a:rPr b="1" lang="en-GB" sz="2200">
                <a:solidFill>
                  <a:schemeClr val="dk1"/>
                </a:solidFill>
                <a:latin typeface="Calibri"/>
                <a:ea typeface="Calibri"/>
                <a:cs typeface="Calibri"/>
                <a:sym typeface="Calibri"/>
              </a:rPr>
              <a:t>Cart class depends on a Product class </a:t>
            </a:r>
            <a:r>
              <a:rPr lang="en-GB" sz="2200">
                <a:solidFill>
                  <a:schemeClr val="dk1"/>
                </a:solidFill>
                <a:latin typeface="Calibri"/>
                <a:ea typeface="Calibri"/>
                <a:cs typeface="Calibri"/>
                <a:sym typeface="Calibri"/>
              </a:rPr>
              <a:t>because the Cart class uses the Product class as a parameter for an add operation.</a:t>
            </a:r>
            <a:endParaRPr sz="2200">
              <a:solidFill>
                <a:schemeClr val="dk1"/>
              </a:solidFill>
              <a:latin typeface="Calibri"/>
              <a:ea typeface="Calibri"/>
              <a:cs typeface="Calibri"/>
              <a:sym typeface="Calibri"/>
            </a:endParaRPr>
          </a:p>
          <a:p>
            <a:pPr indent="-368300" lvl="0" marL="457200" rtl="0" algn="just">
              <a:lnSpc>
                <a:spcPct val="100000"/>
              </a:lnSpc>
              <a:spcBef>
                <a:spcPts val="0"/>
              </a:spcBef>
              <a:spcAft>
                <a:spcPts val="0"/>
              </a:spcAft>
              <a:buClr>
                <a:schemeClr val="dk1"/>
              </a:buClr>
              <a:buSzPts val="2200"/>
              <a:buFont typeface="Calibri"/>
              <a:buChar char="●"/>
            </a:pPr>
            <a:r>
              <a:rPr lang="en-GB" sz="2200">
                <a:solidFill>
                  <a:schemeClr val="dk1"/>
                </a:solidFill>
                <a:latin typeface="Calibri"/>
                <a:ea typeface="Calibri"/>
                <a:cs typeface="Calibri"/>
                <a:sym typeface="Calibri"/>
              </a:rPr>
              <a:t>Cart class is, therefore, the client, and the Product class is the supplier.</a:t>
            </a:r>
            <a:endParaRPr sz="2200">
              <a:solidFill>
                <a:schemeClr val="dk1"/>
              </a:solidFill>
              <a:latin typeface="Calibri"/>
              <a:ea typeface="Calibri"/>
              <a:cs typeface="Calibri"/>
              <a:sym typeface="Calibri"/>
            </a:endParaRPr>
          </a:p>
          <a:p>
            <a:pPr indent="0" lvl="0" marL="457200" rtl="0" algn="just">
              <a:lnSpc>
                <a:spcPct val="100000"/>
              </a:lnSpc>
              <a:spcBef>
                <a:spcPts val="0"/>
              </a:spcBef>
              <a:spcAft>
                <a:spcPts val="0"/>
              </a:spcAft>
              <a:buSzPts val="1400"/>
              <a:buNone/>
            </a:pPr>
            <a:r>
              <a:t/>
            </a:r>
            <a:endParaRPr sz="2200">
              <a:solidFill>
                <a:schemeClr val="dk1"/>
              </a:solidFill>
              <a:latin typeface="Calibri"/>
              <a:ea typeface="Calibri"/>
              <a:cs typeface="Calibri"/>
              <a:sym typeface="Calibri"/>
            </a:endParaRPr>
          </a:p>
          <a:p>
            <a:pPr indent="0" lvl="0" marL="0" rtl="0" algn="just">
              <a:lnSpc>
                <a:spcPct val="100000"/>
              </a:lnSpc>
              <a:spcBef>
                <a:spcPts val="0"/>
              </a:spcBef>
              <a:spcAft>
                <a:spcPts val="0"/>
              </a:spcAft>
              <a:buSzPts val="1400"/>
              <a:buNone/>
            </a:pPr>
            <a:r>
              <a:t/>
            </a:r>
            <a:endParaRPr sz="2200">
              <a:solidFill>
                <a:schemeClr val="dk1"/>
              </a:solidFill>
            </a:endParaRPr>
          </a:p>
          <a:p>
            <a:pPr indent="0" lvl="0" marL="0" rtl="0" algn="just">
              <a:lnSpc>
                <a:spcPct val="115000"/>
              </a:lnSpc>
              <a:spcBef>
                <a:spcPts val="800"/>
              </a:spcBef>
              <a:spcAft>
                <a:spcPts val="0"/>
              </a:spcAft>
              <a:buSzPts val="1400"/>
              <a:buNone/>
            </a:pPr>
            <a:r>
              <a:t/>
            </a:r>
            <a:endParaRPr sz="2200">
              <a:solidFill>
                <a:schemeClr val="dk1"/>
              </a:solidFill>
            </a:endParaRPr>
          </a:p>
          <a:p>
            <a:pPr indent="0" lvl="0" marL="0" rtl="0" algn="l">
              <a:lnSpc>
                <a:spcPct val="115000"/>
              </a:lnSpc>
              <a:spcBef>
                <a:spcPts val="700"/>
              </a:spcBef>
              <a:spcAft>
                <a:spcPts val="0"/>
              </a:spcAft>
              <a:buSzPts val="1400"/>
              <a:buNone/>
            </a:pPr>
            <a:r>
              <a:t/>
            </a:r>
            <a:endParaRPr sz="2200">
              <a:solidFill>
                <a:schemeClr val="dk1"/>
              </a:solidFill>
            </a:endParaRPr>
          </a:p>
          <a:p>
            <a:pPr indent="0" lvl="0" marL="914400" rtl="0" algn="just">
              <a:lnSpc>
                <a:spcPct val="100000"/>
              </a:lnSpc>
              <a:spcBef>
                <a:spcPts val="0"/>
              </a:spcBef>
              <a:spcAft>
                <a:spcPts val="0"/>
              </a:spcAft>
              <a:buSzPts val="1400"/>
              <a:buNone/>
            </a:pPr>
            <a:r>
              <a:t/>
            </a:r>
            <a:endParaRPr sz="2200">
              <a:solidFill>
                <a:schemeClr val="dk1"/>
              </a:solidFill>
              <a:latin typeface="Calibri"/>
              <a:ea typeface="Calibri"/>
              <a:cs typeface="Calibri"/>
              <a:sym typeface="Calibri"/>
            </a:endParaRPr>
          </a:p>
          <a:p>
            <a:pPr indent="0" lvl="0" marL="0" rtl="0" algn="l">
              <a:lnSpc>
                <a:spcPct val="90000"/>
              </a:lnSpc>
              <a:spcBef>
                <a:spcPts val="700"/>
              </a:spcBef>
              <a:spcAft>
                <a:spcPts val="0"/>
              </a:spcAft>
              <a:buSzPts val="1400"/>
              <a:buNone/>
            </a:pPr>
            <a:r>
              <a:t/>
            </a:r>
            <a:endParaRPr sz="24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sz="2400">
              <a:solidFill>
                <a:schemeClr val="dk1"/>
              </a:solidFill>
              <a:latin typeface="Calibri"/>
              <a:ea typeface="Calibri"/>
              <a:cs typeface="Calibri"/>
              <a:sym typeface="Calibri"/>
            </a:endParaRPr>
          </a:p>
        </p:txBody>
      </p:sp>
      <p:sp>
        <p:nvSpPr>
          <p:cNvPr id="547" name="Google Shape;547;p5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548" name="Google Shape;548;p5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
        <p:nvSpPr>
          <p:cNvPr id="549" name="Google Shape;549;p56"/>
          <p:cNvSpPr txBox="1"/>
          <p:nvPr/>
        </p:nvSpPr>
        <p:spPr>
          <a:xfrm>
            <a:off x="1916875" y="3582225"/>
            <a:ext cx="954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50" name="Google Shape;550;p56"/>
          <p:cNvPicPr preferRelativeResize="0"/>
          <p:nvPr/>
        </p:nvPicPr>
        <p:blipFill rotWithShape="1">
          <a:blip r:embed="rId3">
            <a:alphaModFix/>
          </a:blip>
          <a:srcRect b="0" l="0" r="0" t="0"/>
          <a:stretch/>
        </p:blipFill>
        <p:spPr>
          <a:xfrm>
            <a:off x="3023275" y="2861850"/>
            <a:ext cx="4737872" cy="175301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6">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6">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4" name="Shape 554"/>
        <p:cNvGrpSpPr/>
        <p:nvPr/>
      </p:nvGrpSpPr>
      <p:grpSpPr>
        <a:xfrm>
          <a:off x="0" y="0"/>
          <a:ext cx="0" cy="0"/>
          <a:chOff x="0" y="0"/>
          <a:chExt cx="0" cy="0"/>
        </a:xfrm>
      </p:grpSpPr>
      <p:sp>
        <p:nvSpPr>
          <p:cNvPr id="555" name="Google Shape;555;p57"/>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Analysis Model</a:t>
            </a:r>
            <a:endParaRPr b="1"/>
          </a:p>
        </p:txBody>
      </p:sp>
      <p:sp>
        <p:nvSpPr>
          <p:cNvPr id="556" name="Google Shape;556;p57"/>
          <p:cNvSpPr txBox="1"/>
          <p:nvPr>
            <p:ph idx="1" type="body"/>
          </p:nvPr>
        </p:nvSpPr>
        <p:spPr>
          <a:xfrm>
            <a:off x="318125" y="433950"/>
            <a:ext cx="8563800" cy="2123100"/>
          </a:xfrm>
          <a:prstGeom prst="rect">
            <a:avLst/>
          </a:prstGeom>
          <a:noFill/>
          <a:ln>
            <a:noFill/>
          </a:ln>
        </p:spPr>
        <p:txBody>
          <a:bodyPr anchorCtr="0" anchor="t" bIns="34275" lIns="68575" spcFirstLastPara="1" rIns="68575" wrap="square" tIns="34275">
            <a:noAutofit/>
          </a:bodyPr>
          <a:lstStyle/>
          <a:p>
            <a:pPr indent="0" lvl="0" marL="0" rtl="0" algn="just">
              <a:lnSpc>
                <a:spcPct val="90000"/>
              </a:lnSpc>
              <a:spcBef>
                <a:spcPts val="0"/>
              </a:spcBef>
              <a:spcAft>
                <a:spcPts val="0"/>
              </a:spcAft>
              <a:buSzPts val="1400"/>
              <a:buNone/>
            </a:pPr>
            <a:r>
              <a:rPr b="1" lang="en-GB" sz="3200">
                <a:solidFill>
                  <a:srgbClr val="002060"/>
                </a:solidFill>
                <a:latin typeface="Calibri"/>
                <a:ea typeface="Calibri"/>
                <a:cs typeface="Calibri"/>
                <a:sym typeface="Calibri"/>
              </a:rPr>
              <a:t>Class Diagram  </a:t>
            </a:r>
            <a:endParaRPr sz="2400">
              <a:solidFill>
                <a:schemeClr val="dk1"/>
              </a:solidFill>
              <a:latin typeface="Calibri"/>
              <a:ea typeface="Calibri"/>
              <a:cs typeface="Calibri"/>
              <a:sym typeface="Calibri"/>
            </a:endParaRPr>
          </a:p>
          <a:p>
            <a:pPr indent="0" lvl="0" marL="0" rtl="0" algn="l">
              <a:lnSpc>
                <a:spcPct val="115000"/>
              </a:lnSpc>
              <a:spcBef>
                <a:spcPts val="700"/>
              </a:spcBef>
              <a:spcAft>
                <a:spcPts val="0"/>
              </a:spcAft>
              <a:buSzPts val="1400"/>
              <a:buNone/>
            </a:pPr>
            <a:r>
              <a:t/>
            </a:r>
            <a:endParaRPr sz="2200">
              <a:solidFill>
                <a:schemeClr val="dk1"/>
              </a:solidFill>
            </a:endParaRPr>
          </a:p>
          <a:p>
            <a:pPr indent="0" lvl="0" marL="914400" rtl="0" algn="just">
              <a:lnSpc>
                <a:spcPct val="100000"/>
              </a:lnSpc>
              <a:spcBef>
                <a:spcPts val="0"/>
              </a:spcBef>
              <a:spcAft>
                <a:spcPts val="0"/>
              </a:spcAft>
              <a:buSzPts val="1400"/>
              <a:buNone/>
            </a:pPr>
            <a:r>
              <a:t/>
            </a:r>
            <a:endParaRPr sz="2200">
              <a:solidFill>
                <a:schemeClr val="dk1"/>
              </a:solidFill>
              <a:latin typeface="Calibri"/>
              <a:ea typeface="Calibri"/>
              <a:cs typeface="Calibri"/>
              <a:sym typeface="Calibri"/>
            </a:endParaRPr>
          </a:p>
          <a:p>
            <a:pPr indent="0" lvl="0" marL="0" rtl="0" algn="l">
              <a:lnSpc>
                <a:spcPct val="90000"/>
              </a:lnSpc>
              <a:spcBef>
                <a:spcPts val="700"/>
              </a:spcBef>
              <a:spcAft>
                <a:spcPts val="0"/>
              </a:spcAft>
              <a:buSzPts val="1400"/>
              <a:buNone/>
            </a:pPr>
            <a:r>
              <a:t/>
            </a:r>
            <a:endParaRPr sz="24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sz="2400">
              <a:solidFill>
                <a:schemeClr val="dk1"/>
              </a:solidFill>
              <a:latin typeface="Calibri"/>
              <a:ea typeface="Calibri"/>
              <a:cs typeface="Calibri"/>
              <a:sym typeface="Calibri"/>
            </a:endParaRPr>
          </a:p>
        </p:txBody>
      </p:sp>
      <p:sp>
        <p:nvSpPr>
          <p:cNvPr id="557" name="Google Shape;557;p57"/>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558" name="Google Shape;558;p57"/>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
        <p:nvSpPr>
          <p:cNvPr id="559" name="Google Shape;559;p57"/>
          <p:cNvSpPr txBox="1"/>
          <p:nvPr/>
        </p:nvSpPr>
        <p:spPr>
          <a:xfrm>
            <a:off x="1916875" y="3582225"/>
            <a:ext cx="954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60" name="Google Shape;560;p57"/>
          <p:cNvPicPr preferRelativeResize="0"/>
          <p:nvPr/>
        </p:nvPicPr>
        <p:blipFill rotWithShape="1">
          <a:blip r:embed="rId3">
            <a:alphaModFix/>
          </a:blip>
          <a:srcRect b="0" l="0" r="0" t="0"/>
          <a:stretch/>
        </p:blipFill>
        <p:spPr>
          <a:xfrm>
            <a:off x="1662112" y="1014413"/>
            <a:ext cx="5362575" cy="37052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6">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58"/>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1400"/>
              <a:buNone/>
            </a:pPr>
            <a:r>
              <a:rPr lang="en-GB"/>
              <a:t>Collaboration Diagram</a:t>
            </a:r>
            <a:endParaRPr/>
          </a:p>
        </p:txBody>
      </p:sp>
      <p:sp>
        <p:nvSpPr>
          <p:cNvPr id="566" name="Google Shape;566;p58"/>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317500" lvl="0" marL="457200" rtl="0" algn="l">
              <a:lnSpc>
                <a:spcPct val="90000"/>
              </a:lnSpc>
              <a:spcBef>
                <a:spcPts val="800"/>
              </a:spcBef>
              <a:spcAft>
                <a:spcPts val="0"/>
              </a:spcAft>
              <a:buSzPts val="1400"/>
              <a:buChar char="●"/>
            </a:pPr>
            <a:r>
              <a:rPr lang="en-GB"/>
              <a:t>It is also called Communication Diagram.</a:t>
            </a:r>
            <a:endParaRPr/>
          </a:p>
          <a:p>
            <a:pPr indent="-317500" lvl="0" marL="457200" rtl="0" algn="l">
              <a:lnSpc>
                <a:spcPct val="90000"/>
              </a:lnSpc>
              <a:spcBef>
                <a:spcPts val="800"/>
              </a:spcBef>
              <a:spcAft>
                <a:spcPts val="0"/>
              </a:spcAft>
              <a:buSzPts val="1400"/>
              <a:buChar char="●"/>
            </a:pPr>
            <a:r>
              <a:rPr lang="en-GB"/>
              <a:t>A Collaboration Diagram is a type of Interaction Diagram that visualizes the interactions and relationships between objects in a system. </a:t>
            </a:r>
            <a:endParaRPr/>
          </a:p>
          <a:p>
            <a:pPr indent="-317500" lvl="0" marL="457200" rtl="0" algn="l">
              <a:lnSpc>
                <a:spcPct val="90000"/>
              </a:lnSpc>
              <a:spcBef>
                <a:spcPts val="800"/>
              </a:spcBef>
              <a:spcAft>
                <a:spcPts val="0"/>
              </a:spcAft>
              <a:buSzPts val="1400"/>
              <a:buChar char="●"/>
            </a:pPr>
            <a:r>
              <a:rPr lang="en-GB"/>
              <a:t>It shows how objects collaborate to achieve a specific task or behavior. </a:t>
            </a:r>
            <a:endParaRPr/>
          </a:p>
          <a:p>
            <a:pPr indent="-317500" lvl="0" marL="457200" rtl="0" algn="l">
              <a:lnSpc>
                <a:spcPct val="90000"/>
              </a:lnSpc>
              <a:spcBef>
                <a:spcPts val="800"/>
              </a:spcBef>
              <a:spcAft>
                <a:spcPts val="0"/>
              </a:spcAft>
              <a:buSzPts val="1400"/>
              <a:buChar char="●"/>
            </a:pPr>
            <a:r>
              <a:rPr lang="en-GB"/>
              <a:t>These diagrams are used to model the dynamic behavior of a system and illustrate the flow of messages between objects during a particular scenario or use case.</a:t>
            </a:r>
            <a:endParaRPr/>
          </a:p>
          <a:p>
            <a:pPr indent="-317500" lvl="0" marL="457200" rtl="0" algn="l">
              <a:lnSpc>
                <a:spcPct val="90000"/>
              </a:lnSpc>
              <a:spcBef>
                <a:spcPts val="800"/>
              </a:spcBef>
              <a:spcAft>
                <a:spcPts val="0"/>
              </a:spcAft>
              <a:buSzPts val="1400"/>
              <a:buChar char="●"/>
            </a:pPr>
            <a:r>
              <a:rPr lang="en-GB"/>
              <a:t>Both the sequence and collaboration diagrams represent the same information, but the way of portraying it quite different. </a:t>
            </a:r>
            <a:endParaRPr/>
          </a:p>
          <a:p>
            <a:pPr indent="-317500" lvl="0" marL="457200" rtl="0" algn="l">
              <a:lnSpc>
                <a:spcPct val="90000"/>
              </a:lnSpc>
              <a:spcBef>
                <a:spcPts val="800"/>
              </a:spcBef>
              <a:spcAft>
                <a:spcPts val="0"/>
              </a:spcAft>
              <a:buSzPts val="1400"/>
              <a:buChar char="●"/>
            </a:pPr>
            <a:r>
              <a:rPr lang="en-GB"/>
              <a:t>The collaboration diagrams are best suited for analyzing use cases.</a:t>
            </a:r>
            <a:endParaRPr/>
          </a:p>
          <a:p>
            <a:pPr indent="-228600" lvl="0" marL="457200" rtl="0" algn="l">
              <a:lnSpc>
                <a:spcPct val="90000"/>
              </a:lnSpc>
              <a:spcBef>
                <a:spcPts val="800"/>
              </a:spcBef>
              <a:spcAft>
                <a:spcPts val="0"/>
              </a:spcAft>
              <a:buSzPts val="1400"/>
              <a:buNone/>
            </a:pPr>
            <a:r>
              <a:t/>
            </a:r>
            <a:endParaRPr/>
          </a:p>
          <a:p>
            <a:pPr indent="-228600" lvl="0" marL="457200" rtl="0" algn="l">
              <a:lnSpc>
                <a:spcPct val="90000"/>
              </a:lnSpc>
              <a:spcBef>
                <a:spcPts val="800"/>
              </a:spcBef>
              <a:spcAft>
                <a:spcPts val="0"/>
              </a:spcAft>
              <a:buSzPts val="1400"/>
              <a:buNone/>
            </a:pPr>
            <a:r>
              <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59"/>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1400"/>
              <a:buNone/>
            </a:pPr>
            <a:r>
              <a:rPr lang="en-GB"/>
              <a:t>Steps for creating a Collaboration Diagram</a:t>
            </a:r>
            <a:endParaRPr/>
          </a:p>
        </p:txBody>
      </p:sp>
      <p:sp>
        <p:nvSpPr>
          <p:cNvPr id="572" name="Google Shape;572;p59"/>
          <p:cNvSpPr txBox="1"/>
          <p:nvPr>
            <p:ph idx="1" type="body"/>
          </p:nvPr>
        </p:nvSpPr>
        <p:spPr>
          <a:xfrm>
            <a:off x="609600" y="1200150"/>
            <a:ext cx="7905750" cy="3432469"/>
          </a:xfrm>
          <a:prstGeom prst="rect">
            <a:avLst/>
          </a:prstGeom>
          <a:noFill/>
          <a:ln>
            <a:noFill/>
          </a:ln>
        </p:spPr>
        <p:txBody>
          <a:bodyPr anchorCtr="0" anchor="t" bIns="34275" lIns="68575" spcFirstLastPara="1" rIns="68575" wrap="square" tIns="34275">
            <a:normAutofit fontScale="85000" lnSpcReduction="10000"/>
          </a:bodyPr>
          <a:lstStyle/>
          <a:p>
            <a:pPr indent="-317500" lvl="0" marL="457200" rtl="0" algn="l">
              <a:lnSpc>
                <a:spcPct val="90000"/>
              </a:lnSpc>
              <a:spcBef>
                <a:spcPts val="800"/>
              </a:spcBef>
              <a:spcAft>
                <a:spcPts val="0"/>
              </a:spcAft>
              <a:buSzPct val="91503"/>
              <a:buChar char="●"/>
            </a:pPr>
            <a:r>
              <a:rPr b="1" lang="en-GB"/>
              <a:t>Step 1: Identify Objects/Participants:</a:t>
            </a:r>
            <a:r>
              <a:rPr lang="en-GB"/>
              <a:t> Begin by identifying the objects or participants involved in the system. These can be classes, modules, actors, or any other relevant entities.</a:t>
            </a:r>
            <a:endParaRPr/>
          </a:p>
          <a:p>
            <a:pPr indent="-317500" lvl="0" marL="457200" rtl="0" algn="l">
              <a:lnSpc>
                <a:spcPct val="90000"/>
              </a:lnSpc>
              <a:spcBef>
                <a:spcPts val="800"/>
              </a:spcBef>
              <a:spcAft>
                <a:spcPts val="0"/>
              </a:spcAft>
              <a:buSzPct val="91503"/>
              <a:buChar char="●"/>
            </a:pPr>
            <a:r>
              <a:rPr b="1" lang="en-GB"/>
              <a:t>Step 2: Define Interactions:</a:t>
            </a:r>
            <a:r>
              <a:rPr lang="en-GB"/>
              <a:t> Determine how these objects interact with each other to accomplish tasks or scenarios within the system. Identify the messages exchanged between objects during these interactions.</a:t>
            </a:r>
            <a:endParaRPr/>
          </a:p>
          <a:p>
            <a:pPr indent="-317500" lvl="0" marL="457200" rtl="0" algn="l">
              <a:lnSpc>
                <a:spcPct val="90000"/>
              </a:lnSpc>
              <a:spcBef>
                <a:spcPts val="800"/>
              </a:spcBef>
              <a:spcAft>
                <a:spcPts val="0"/>
              </a:spcAft>
              <a:buSzPct val="91503"/>
              <a:buChar char="●"/>
            </a:pPr>
            <a:r>
              <a:rPr b="1" lang="en-GB"/>
              <a:t>Step 3: Add Messages: </a:t>
            </a:r>
            <a:r>
              <a:rPr lang="en-GB"/>
              <a:t>Draw arrows between lifelines to represent the messages exchanged between objects. Label each arrow with the name of the message and, if applicable, any parameters or data being transmitted.</a:t>
            </a:r>
            <a:endParaRPr/>
          </a:p>
          <a:p>
            <a:pPr indent="-317500" lvl="0" marL="457200" rtl="0" algn="l">
              <a:lnSpc>
                <a:spcPct val="90000"/>
              </a:lnSpc>
              <a:spcBef>
                <a:spcPts val="800"/>
              </a:spcBef>
              <a:spcAft>
                <a:spcPts val="0"/>
              </a:spcAft>
              <a:buSzPct val="91503"/>
              <a:buChar char="●"/>
            </a:pPr>
            <a:r>
              <a:rPr b="1" lang="en-GB"/>
              <a:t>Step 4: Consider Relationships:</a:t>
            </a:r>
            <a:r>
              <a:rPr lang="en-GB"/>
              <a:t> If there are associations or dependencies between objects, represent them using appropriate notations, such as dashed lines or arrows.</a:t>
            </a:r>
            <a:endParaRPr/>
          </a:p>
          <a:p>
            <a:pPr indent="-317500" lvl="0" marL="457200" rtl="0" algn="l">
              <a:lnSpc>
                <a:spcPct val="90000"/>
              </a:lnSpc>
              <a:spcBef>
                <a:spcPts val="800"/>
              </a:spcBef>
              <a:spcAft>
                <a:spcPts val="0"/>
              </a:spcAft>
              <a:buSzPct val="91503"/>
              <a:buChar char="●"/>
            </a:pPr>
            <a:r>
              <a:rPr b="1" lang="en-GB"/>
              <a:t>Step 5: Documentation: </a:t>
            </a:r>
            <a:r>
              <a:rPr lang="en-GB"/>
              <a:t>Once finalized, document the collaboration diagram along with any relevant explanations or annotations. Ensure that the diagram effectively communicates the system’s interactions to stakeholders.</a:t>
            </a:r>
            <a:endParaRPr/>
          </a:p>
          <a:p>
            <a:pPr indent="-228600" lvl="0" marL="457200" rtl="0" algn="l">
              <a:lnSpc>
                <a:spcPct val="90000"/>
              </a:lnSpc>
              <a:spcBef>
                <a:spcPts val="800"/>
              </a:spcBef>
              <a:spcAft>
                <a:spcPts val="0"/>
              </a:spcAft>
              <a:buClr>
                <a:schemeClr val="dk1"/>
              </a:buClr>
              <a:buSzPct val="91503"/>
              <a:buNone/>
            </a:pPr>
            <a:r>
              <a:t/>
            </a:r>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p60"/>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Analysis Model</a:t>
            </a:r>
            <a:endParaRPr b="1"/>
          </a:p>
        </p:txBody>
      </p:sp>
      <p:sp>
        <p:nvSpPr>
          <p:cNvPr id="578" name="Google Shape;578;p60"/>
          <p:cNvSpPr txBox="1"/>
          <p:nvPr>
            <p:ph idx="1" type="body"/>
          </p:nvPr>
        </p:nvSpPr>
        <p:spPr>
          <a:xfrm>
            <a:off x="318125" y="433950"/>
            <a:ext cx="8563800" cy="2123100"/>
          </a:xfrm>
          <a:prstGeom prst="rect">
            <a:avLst/>
          </a:prstGeom>
          <a:noFill/>
          <a:ln>
            <a:noFill/>
          </a:ln>
        </p:spPr>
        <p:txBody>
          <a:bodyPr anchorCtr="0" anchor="t" bIns="34275" lIns="68575" spcFirstLastPara="1" rIns="68575" wrap="square" tIns="34275">
            <a:noAutofit/>
          </a:bodyPr>
          <a:lstStyle/>
          <a:p>
            <a:pPr indent="0" lvl="0" marL="0" rtl="0" algn="just">
              <a:lnSpc>
                <a:spcPct val="90000"/>
              </a:lnSpc>
              <a:spcBef>
                <a:spcPts val="0"/>
              </a:spcBef>
              <a:spcAft>
                <a:spcPts val="0"/>
              </a:spcAft>
              <a:buSzPts val="1400"/>
              <a:buNone/>
            </a:pPr>
            <a:r>
              <a:rPr b="1" lang="en-GB" sz="3200">
                <a:solidFill>
                  <a:srgbClr val="002060"/>
                </a:solidFill>
                <a:latin typeface="Calibri"/>
                <a:ea typeface="Calibri"/>
                <a:cs typeface="Calibri"/>
                <a:sym typeface="Calibri"/>
              </a:rPr>
              <a:t>Collaboration Diagram: </a:t>
            </a:r>
            <a:endParaRPr b="1" sz="3200">
              <a:solidFill>
                <a:srgbClr val="002060"/>
              </a:solidFill>
              <a:latin typeface="Calibri"/>
              <a:ea typeface="Calibri"/>
              <a:cs typeface="Calibri"/>
              <a:sym typeface="Calibri"/>
            </a:endParaRPr>
          </a:p>
          <a:p>
            <a:pPr indent="-368300" lvl="0" marL="457200" rtl="0" algn="just">
              <a:lnSpc>
                <a:spcPct val="90000"/>
              </a:lnSpc>
              <a:spcBef>
                <a:spcPts val="0"/>
              </a:spcBef>
              <a:spcAft>
                <a:spcPts val="0"/>
              </a:spcAft>
              <a:buSzPts val="2200"/>
              <a:buFont typeface="Calibri"/>
              <a:buChar char="●"/>
            </a:pPr>
            <a:r>
              <a:rPr b="1" lang="en-GB" sz="2200">
                <a:solidFill>
                  <a:schemeClr val="dk1"/>
                </a:solidFill>
                <a:latin typeface="Calibri"/>
                <a:ea typeface="Calibri"/>
                <a:cs typeface="Calibri"/>
                <a:sym typeface="Calibri"/>
              </a:rPr>
              <a:t>Emphasis on structural organization of the objects that send and receive messages</a:t>
            </a:r>
            <a:endParaRPr b="1" sz="2200">
              <a:solidFill>
                <a:schemeClr val="dk1"/>
              </a:solidFill>
              <a:latin typeface="Calibri"/>
              <a:ea typeface="Calibri"/>
              <a:cs typeface="Calibri"/>
              <a:sym typeface="Calibri"/>
            </a:endParaRPr>
          </a:p>
          <a:p>
            <a:pPr indent="-368300" lvl="0" marL="457200" rtl="0" algn="just">
              <a:lnSpc>
                <a:spcPct val="90000"/>
              </a:lnSpc>
              <a:spcBef>
                <a:spcPts val="0"/>
              </a:spcBef>
              <a:spcAft>
                <a:spcPts val="0"/>
              </a:spcAft>
              <a:buClr>
                <a:schemeClr val="dk1"/>
              </a:buClr>
              <a:buSzPts val="2200"/>
              <a:buFont typeface="Calibri"/>
              <a:buChar char="●"/>
            </a:pPr>
            <a:r>
              <a:rPr b="1" lang="en-GB" sz="2200">
                <a:solidFill>
                  <a:schemeClr val="dk1"/>
                </a:solidFill>
                <a:latin typeface="Calibri"/>
                <a:ea typeface="Calibri"/>
                <a:cs typeface="Calibri"/>
                <a:sym typeface="Calibri"/>
              </a:rPr>
              <a:t>Elements of Collaboration diagram:</a:t>
            </a:r>
            <a:endParaRPr b="1" sz="2200">
              <a:solidFill>
                <a:schemeClr val="dk1"/>
              </a:solidFill>
              <a:latin typeface="Calibri"/>
              <a:ea typeface="Calibri"/>
              <a:cs typeface="Calibri"/>
              <a:sym typeface="Calibri"/>
            </a:endParaRPr>
          </a:p>
          <a:p>
            <a:pPr indent="-368300" lvl="1" marL="914400" rtl="0" algn="just">
              <a:lnSpc>
                <a:spcPct val="90000"/>
              </a:lnSpc>
              <a:spcBef>
                <a:spcPts val="0"/>
              </a:spcBef>
              <a:spcAft>
                <a:spcPts val="0"/>
              </a:spcAft>
              <a:buClr>
                <a:schemeClr val="dk1"/>
              </a:buClr>
              <a:buSzPts val="2200"/>
              <a:buFont typeface="Calibri"/>
              <a:buChar char="○"/>
            </a:pPr>
            <a:r>
              <a:rPr b="1" lang="en-GB" sz="2200">
                <a:solidFill>
                  <a:schemeClr val="dk1"/>
                </a:solidFill>
                <a:latin typeface="Calibri"/>
                <a:ea typeface="Calibri"/>
                <a:cs typeface="Calibri"/>
                <a:sym typeface="Calibri"/>
              </a:rPr>
              <a:t>Objects:</a:t>
            </a:r>
            <a:endParaRPr b="1" sz="2200">
              <a:solidFill>
                <a:schemeClr val="dk1"/>
              </a:solidFill>
              <a:latin typeface="Calibri"/>
              <a:ea typeface="Calibri"/>
              <a:cs typeface="Calibri"/>
              <a:sym typeface="Calibri"/>
            </a:endParaRPr>
          </a:p>
          <a:p>
            <a:pPr indent="0" lvl="0" marL="0" rtl="0" algn="just">
              <a:lnSpc>
                <a:spcPct val="90000"/>
              </a:lnSpc>
              <a:spcBef>
                <a:spcPts val="0"/>
              </a:spcBef>
              <a:spcAft>
                <a:spcPts val="0"/>
              </a:spcAft>
              <a:buSzPts val="1400"/>
              <a:buNone/>
            </a:pPr>
            <a:r>
              <a:t/>
            </a:r>
            <a:endParaRPr b="1" sz="2200">
              <a:solidFill>
                <a:schemeClr val="dk1"/>
              </a:solidFill>
              <a:latin typeface="Calibri"/>
              <a:ea typeface="Calibri"/>
              <a:cs typeface="Calibri"/>
              <a:sym typeface="Calibri"/>
            </a:endParaRPr>
          </a:p>
          <a:p>
            <a:pPr indent="0" lvl="0" marL="0" rtl="0" algn="just">
              <a:lnSpc>
                <a:spcPct val="90000"/>
              </a:lnSpc>
              <a:spcBef>
                <a:spcPts val="0"/>
              </a:spcBef>
              <a:spcAft>
                <a:spcPts val="0"/>
              </a:spcAft>
              <a:buSzPts val="1400"/>
              <a:buNone/>
            </a:pPr>
            <a:r>
              <a:t/>
            </a:r>
            <a:endParaRPr b="1" sz="2200">
              <a:solidFill>
                <a:schemeClr val="dk1"/>
              </a:solidFill>
              <a:latin typeface="Calibri"/>
              <a:ea typeface="Calibri"/>
              <a:cs typeface="Calibri"/>
              <a:sym typeface="Calibri"/>
            </a:endParaRPr>
          </a:p>
          <a:p>
            <a:pPr indent="-368300" lvl="1" marL="914400" rtl="0" algn="just">
              <a:lnSpc>
                <a:spcPct val="90000"/>
              </a:lnSpc>
              <a:spcBef>
                <a:spcPts val="0"/>
              </a:spcBef>
              <a:spcAft>
                <a:spcPts val="0"/>
              </a:spcAft>
              <a:buClr>
                <a:schemeClr val="dk1"/>
              </a:buClr>
              <a:buSzPts val="2200"/>
              <a:buFont typeface="Calibri"/>
              <a:buChar char="○"/>
            </a:pPr>
            <a:r>
              <a:rPr b="1" lang="en-GB" sz="2200">
                <a:solidFill>
                  <a:schemeClr val="dk1"/>
                </a:solidFill>
                <a:latin typeface="Calibri"/>
                <a:ea typeface="Calibri"/>
                <a:cs typeface="Calibri"/>
                <a:sym typeface="Calibri"/>
              </a:rPr>
              <a:t>Relations/ associations    </a:t>
            </a:r>
            <a:endParaRPr b="1" sz="2200">
              <a:solidFill>
                <a:schemeClr val="dk1"/>
              </a:solidFill>
              <a:latin typeface="Calibri"/>
              <a:ea typeface="Calibri"/>
              <a:cs typeface="Calibri"/>
              <a:sym typeface="Calibri"/>
            </a:endParaRPr>
          </a:p>
          <a:p>
            <a:pPr indent="0" lvl="0" marL="0" rtl="0" algn="just">
              <a:lnSpc>
                <a:spcPct val="90000"/>
              </a:lnSpc>
              <a:spcBef>
                <a:spcPts val="0"/>
              </a:spcBef>
              <a:spcAft>
                <a:spcPts val="0"/>
              </a:spcAft>
              <a:buSzPts val="1400"/>
              <a:buNone/>
            </a:pPr>
            <a:r>
              <a:t/>
            </a:r>
            <a:endParaRPr b="1" sz="2200">
              <a:solidFill>
                <a:schemeClr val="dk1"/>
              </a:solidFill>
              <a:latin typeface="Calibri"/>
              <a:ea typeface="Calibri"/>
              <a:cs typeface="Calibri"/>
              <a:sym typeface="Calibri"/>
            </a:endParaRPr>
          </a:p>
          <a:p>
            <a:pPr indent="0" lvl="0" marL="0" rtl="0" algn="just">
              <a:lnSpc>
                <a:spcPct val="90000"/>
              </a:lnSpc>
              <a:spcBef>
                <a:spcPts val="0"/>
              </a:spcBef>
              <a:spcAft>
                <a:spcPts val="0"/>
              </a:spcAft>
              <a:buSzPts val="1400"/>
              <a:buNone/>
            </a:pPr>
            <a:r>
              <a:t/>
            </a:r>
            <a:endParaRPr b="1" sz="2200">
              <a:solidFill>
                <a:schemeClr val="dk1"/>
              </a:solidFill>
              <a:latin typeface="Calibri"/>
              <a:ea typeface="Calibri"/>
              <a:cs typeface="Calibri"/>
              <a:sym typeface="Calibri"/>
            </a:endParaRPr>
          </a:p>
          <a:p>
            <a:pPr indent="-368300" lvl="1" marL="914400" rtl="0" algn="just">
              <a:lnSpc>
                <a:spcPct val="90000"/>
              </a:lnSpc>
              <a:spcBef>
                <a:spcPts val="0"/>
              </a:spcBef>
              <a:spcAft>
                <a:spcPts val="0"/>
              </a:spcAft>
              <a:buClr>
                <a:schemeClr val="dk1"/>
              </a:buClr>
              <a:buSzPts val="2200"/>
              <a:buFont typeface="Calibri"/>
              <a:buChar char="○"/>
            </a:pPr>
            <a:r>
              <a:rPr b="1" lang="en-GB" sz="2200">
                <a:solidFill>
                  <a:schemeClr val="dk1"/>
                </a:solidFill>
                <a:latin typeface="Calibri"/>
                <a:ea typeface="Calibri"/>
                <a:cs typeface="Calibri"/>
                <a:sym typeface="Calibri"/>
              </a:rPr>
              <a:t>Messages       </a:t>
            </a:r>
            <a:r>
              <a:rPr lang="en-GB" sz="2200">
                <a:solidFill>
                  <a:schemeClr val="dk1"/>
                </a:solidFill>
                <a:latin typeface="Calibri"/>
                <a:ea typeface="Calibri"/>
                <a:cs typeface="Calibri"/>
                <a:sym typeface="Calibri"/>
              </a:rPr>
              <a:t>function()</a:t>
            </a:r>
            <a:endParaRPr sz="2200">
              <a:solidFill>
                <a:schemeClr val="dk1"/>
              </a:solidFill>
              <a:latin typeface="Calibri"/>
              <a:ea typeface="Calibri"/>
              <a:cs typeface="Calibri"/>
              <a:sym typeface="Calibri"/>
            </a:endParaRPr>
          </a:p>
          <a:p>
            <a:pPr indent="0" lvl="0" marL="0" rtl="0" algn="l">
              <a:lnSpc>
                <a:spcPct val="115000"/>
              </a:lnSpc>
              <a:spcBef>
                <a:spcPts val="700"/>
              </a:spcBef>
              <a:spcAft>
                <a:spcPts val="0"/>
              </a:spcAft>
              <a:buSzPts val="1400"/>
              <a:buNone/>
            </a:pPr>
            <a:r>
              <a:t/>
            </a:r>
            <a:endParaRPr sz="2200">
              <a:solidFill>
                <a:schemeClr val="dk1"/>
              </a:solidFill>
            </a:endParaRPr>
          </a:p>
          <a:p>
            <a:pPr indent="0" lvl="0" marL="914400" rtl="0" algn="just">
              <a:lnSpc>
                <a:spcPct val="100000"/>
              </a:lnSpc>
              <a:spcBef>
                <a:spcPts val="0"/>
              </a:spcBef>
              <a:spcAft>
                <a:spcPts val="0"/>
              </a:spcAft>
              <a:buSzPts val="1400"/>
              <a:buNone/>
            </a:pPr>
            <a:r>
              <a:t/>
            </a:r>
            <a:endParaRPr sz="2200">
              <a:solidFill>
                <a:schemeClr val="dk1"/>
              </a:solidFill>
              <a:latin typeface="Calibri"/>
              <a:ea typeface="Calibri"/>
              <a:cs typeface="Calibri"/>
              <a:sym typeface="Calibri"/>
            </a:endParaRPr>
          </a:p>
          <a:p>
            <a:pPr indent="0" lvl="0" marL="0" rtl="0" algn="l">
              <a:lnSpc>
                <a:spcPct val="90000"/>
              </a:lnSpc>
              <a:spcBef>
                <a:spcPts val="700"/>
              </a:spcBef>
              <a:spcAft>
                <a:spcPts val="0"/>
              </a:spcAft>
              <a:buSzPts val="1400"/>
              <a:buNone/>
            </a:pPr>
            <a:r>
              <a:t/>
            </a:r>
            <a:endParaRPr sz="24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sz="2400">
              <a:solidFill>
                <a:schemeClr val="dk1"/>
              </a:solidFill>
              <a:latin typeface="Calibri"/>
              <a:ea typeface="Calibri"/>
              <a:cs typeface="Calibri"/>
              <a:sym typeface="Calibri"/>
            </a:endParaRPr>
          </a:p>
        </p:txBody>
      </p:sp>
      <p:sp>
        <p:nvSpPr>
          <p:cNvPr id="579" name="Google Shape;579;p60"/>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580" name="Google Shape;580;p60"/>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
        <p:nvSpPr>
          <p:cNvPr id="581" name="Google Shape;581;p60"/>
          <p:cNvSpPr txBox="1"/>
          <p:nvPr/>
        </p:nvSpPr>
        <p:spPr>
          <a:xfrm>
            <a:off x="1916875" y="3582225"/>
            <a:ext cx="954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582" name="Google Shape;582;p60"/>
          <p:cNvCxnSpPr/>
          <p:nvPr/>
        </p:nvCxnSpPr>
        <p:spPr>
          <a:xfrm>
            <a:off x="4440925" y="3191925"/>
            <a:ext cx="2347200" cy="8700"/>
          </a:xfrm>
          <a:prstGeom prst="straightConnector1">
            <a:avLst/>
          </a:prstGeom>
          <a:noFill/>
          <a:ln cap="flat" cmpd="sng" w="9525">
            <a:solidFill>
              <a:schemeClr val="dk2"/>
            </a:solidFill>
            <a:prstDash val="solid"/>
            <a:round/>
            <a:headEnd len="sm" w="sm" type="none"/>
            <a:tailEnd len="med" w="med" type="triangle"/>
          </a:ln>
        </p:spPr>
      </p:cxnSp>
      <p:sp>
        <p:nvSpPr>
          <p:cNvPr id="583" name="Google Shape;583;p60"/>
          <p:cNvSpPr txBox="1"/>
          <p:nvPr/>
        </p:nvSpPr>
        <p:spPr>
          <a:xfrm>
            <a:off x="2628125" y="2116375"/>
            <a:ext cx="1760700" cy="4002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GB" sz="1400" u="none" cap="none" strike="noStrike">
                <a:solidFill>
                  <a:schemeClr val="dk1"/>
                </a:solidFill>
                <a:latin typeface="Arial"/>
                <a:ea typeface="Arial"/>
                <a:cs typeface="Arial"/>
                <a:sym typeface="Arial"/>
              </a:rPr>
              <a:t>Object 1</a:t>
            </a:r>
            <a:endParaRPr b="0" i="0" sz="1400" u="none" cap="none" strike="noStrike">
              <a:solidFill>
                <a:schemeClr val="dk1"/>
              </a:solidFill>
              <a:latin typeface="Arial"/>
              <a:ea typeface="Arial"/>
              <a:cs typeface="Arial"/>
              <a:sym typeface="Arial"/>
            </a:endParaRPr>
          </a:p>
        </p:txBody>
      </p:sp>
      <p:sp>
        <p:nvSpPr>
          <p:cNvPr id="584" name="Google Shape;584;p60"/>
          <p:cNvSpPr txBox="1"/>
          <p:nvPr/>
        </p:nvSpPr>
        <p:spPr>
          <a:xfrm>
            <a:off x="5343000" y="2159750"/>
            <a:ext cx="1708800" cy="4002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Object 2</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8">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8">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8">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8">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8">
                                            <p:txEl>
                                              <p:pRg end="13" st="1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61"/>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Analysis Model</a:t>
            </a:r>
            <a:endParaRPr b="1"/>
          </a:p>
        </p:txBody>
      </p:sp>
      <p:sp>
        <p:nvSpPr>
          <p:cNvPr id="590" name="Google Shape;590;p61"/>
          <p:cNvSpPr txBox="1"/>
          <p:nvPr>
            <p:ph idx="1" type="body"/>
          </p:nvPr>
        </p:nvSpPr>
        <p:spPr>
          <a:xfrm>
            <a:off x="318125" y="433950"/>
            <a:ext cx="8563800" cy="2123100"/>
          </a:xfrm>
          <a:prstGeom prst="rect">
            <a:avLst/>
          </a:prstGeom>
          <a:noFill/>
          <a:ln>
            <a:noFill/>
          </a:ln>
        </p:spPr>
        <p:txBody>
          <a:bodyPr anchorCtr="0" anchor="t" bIns="34275" lIns="68575" spcFirstLastPara="1" rIns="68575" wrap="square" tIns="34275">
            <a:noAutofit/>
          </a:bodyPr>
          <a:lstStyle/>
          <a:p>
            <a:pPr indent="0" lvl="0" marL="0" rtl="0" algn="just">
              <a:lnSpc>
                <a:spcPct val="90000"/>
              </a:lnSpc>
              <a:spcBef>
                <a:spcPts val="0"/>
              </a:spcBef>
              <a:spcAft>
                <a:spcPts val="0"/>
              </a:spcAft>
              <a:buSzPts val="1400"/>
              <a:buNone/>
            </a:pPr>
            <a:r>
              <a:rPr b="1" lang="en-GB" sz="3200">
                <a:solidFill>
                  <a:srgbClr val="002060"/>
                </a:solidFill>
                <a:latin typeface="Calibri"/>
                <a:ea typeface="Calibri"/>
                <a:cs typeface="Calibri"/>
                <a:sym typeface="Calibri"/>
              </a:rPr>
              <a:t>Collaboration Diagram: </a:t>
            </a:r>
            <a:endParaRPr b="1" sz="3200">
              <a:solidFill>
                <a:srgbClr val="002060"/>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sz="2400">
              <a:solidFill>
                <a:schemeClr val="dk1"/>
              </a:solidFill>
              <a:latin typeface="Calibri"/>
              <a:ea typeface="Calibri"/>
              <a:cs typeface="Calibri"/>
              <a:sym typeface="Calibri"/>
            </a:endParaRPr>
          </a:p>
        </p:txBody>
      </p:sp>
      <p:sp>
        <p:nvSpPr>
          <p:cNvPr id="591" name="Google Shape;591;p61"/>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592" name="Google Shape;592;p61"/>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
        <p:nvSpPr>
          <p:cNvPr id="593" name="Google Shape;593;p61"/>
          <p:cNvSpPr txBox="1"/>
          <p:nvPr/>
        </p:nvSpPr>
        <p:spPr>
          <a:xfrm>
            <a:off x="1916875" y="3582225"/>
            <a:ext cx="954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94" name="Google Shape;594;p61"/>
          <p:cNvPicPr preferRelativeResize="0"/>
          <p:nvPr/>
        </p:nvPicPr>
        <p:blipFill rotWithShape="1">
          <a:blip r:embed="rId3">
            <a:alphaModFix/>
          </a:blip>
          <a:srcRect b="0" l="0" r="0" t="0"/>
          <a:stretch/>
        </p:blipFill>
        <p:spPr>
          <a:xfrm>
            <a:off x="1774796" y="1170958"/>
            <a:ext cx="5594650" cy="32010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0">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62"/>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Analysis Model</a:t>
            </a:r>
            <a:endParaRPr b="1"/>
          </a:p>
        </p:txBody>
      </p:sp>
      <p:sp>
        <p:nvSpPr>
          <p:cNvPr id="600" name="Google Shape;600;p62"/>
          <p:cNvSpPr txBox="1"/>
          <p:nvPr>
            <p:ph idx="1" type="body"/>
          </p:nvPr>
        </p:nvSpPr>
        <p:spPr>
          <a:xfrm>
            <a:off x="335475" y="448650"/>
            <a:ext cx="8563800" cy="2123100"/>
          </a:xfrm>
          <a:prstGeom prst="rect">
            <a:avLst/>
          </a:prstGeom>
          <a:noFill/>
          <a:ln>
            <a:noFill/>
          </a:ln>
        </p:spPr>
        <p:txBody>
          <a:bodyPr anchorCtr="0" anchor="t" bIns="34275" lIns="68575" spcFirstLastPara="1" rIns="68575" wrap="square" tIns="34275">
            <a:noAutofit/>
          </a:bodyPr>
          <a:lstStyle/>
          <a:p>
            <a:pPr indent="0" lvl="0" marL="0" rtl="0" algn="just">
              <a:lnSpc>
                <a:spcPct val="90000"/>
              </a:lnSpc>
              <a:spcBef>
                <a:spcPts val="0"/>
              </a:spcBef>
              <a:spcAft>
                <a:spcPts val="0"/>
              </a:spcAft>
              <a:buSzPts val="1400"/>
              <a:buNone/>
            </a:pPr>
            <a:r>
              <a:rPr b="1" lang="en-GB" sz="3200">
                <a:solidFill>
                  <a:srgbClr val="002060"/>
                </a:solidFill>
                <a:latin typeface="Calibri"/>
                <a:ea typeface="Calibri"/>
                <a:cs typeface="Calibri"/>
                <a:sym typeface="Calibri"/>
              </a:rPr>
              <a:t>Collaboration Diagram: </a:t>
            </a:r>
            <a:endParaRPr b="1" sz="3200">
              <a:solidFill>
                <a:srgbClr val="002060"/>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sz="2400">
              <a:solidFill>
                <a:schemeClr val="dk1"/>
              </a:solidFill>
              <a:latin typeface="Calibri"/>
              <a:ea typeface="Calibri"/>
              <a:cs typeface="Calibri"/>
              <a:sym typeface="Calibri"/>
            </a:endParaRPr>
          </a:p>
        </p:txBody>
      </p:sp>
      <p:sp>
        <p:nvSpPr>
          <p:cNvPr id="601" name="Google Shape;601;p62"/>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602" name="Google Shape;602;p62"/>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
        <p:nvSpPr>
          <p:cNvPr id="603" name="Google Shape;603;p62"/>
          <p:cNvSpPr txBox="1"/>
          <p:nvPr/>
        </p:nvSpPr>
        <p:spPr>
          <a:xfrm>
            <a:off x="1916875" y="3582225"/>
            <a:ext cx="954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04" name="Google Shape;604;p62"/>
          <p:cNvPicPr preferRelativeResize="0"/>
          <p:nvPr/>
        </p:nvPicPr>
        <p:blipFill rotWithShape="1">
          <a:blip r:embed="rId3">
            <a:alphaModFix/>
          </a:blip>
          <a:srcRect b="0" l="0" r="0" t="0"/>
          <a:stretch/>
        </p:blipFill>
        <p:spPr>
          <a:xfrm>
            <a:off x="1406326" y="1023501"/>
            <a:ext cx="5355226" cy="3877125"/>
          </a:xfrm>
          <a:prstGeom prst="rect">
            <a:avLst/>
          </a:prstGeom>
          <a:noFill/>
          <a:ln>
            <a:noFill/>
          </a:ln>
        </p:spPr>
      </p:pic>
      <p:pic>
        <p:nvPicPr>
          <p:cNvPr id="605" name="Google Shape;605;p62"/>
          <p:cNvPicPr preferRelativeResize="0"/>
          <p:nvPr/>
        </p:nvPicPr>
        <p:blipFill rotWithShape="1">
          <a:blip r:embed="rId3">
            <a:alphaModFix/>
          </a:blip>
          <a:srcRect b="0" l="0" r="0" t="0"/>
          <a:stretch/>
        </p:blipFill>
        <p:spPr>
          <a:xfrm>
            <a:off x="1634926" y="1052076"/>
            <a:ext cx="5355226" cy="38771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0">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9" name="Shape 609"/>
        <p:cNvGrpSpPr/>
        <p:nvPr/>
      </p:nvGrpSpPr>
      <p:grpSpPr>
        <a:xfrm>
          <a:off x="0" y="0"/>
          <a:ext cx="0" cy="0"/>
          <a:chOff x="0" y="0"/>
          <a:chExt cx="0" cy="0"/>
        </a:xfrm>
      </p:grpSpPr>
      <p:sp>
        <p:nvSpPr>
          <p:cNvPr id="610" name="Google Shape;610;p63"/>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Analysis Model</a:t>
            </a:r>
            <a:endParaRPr b="1"/>
          </a:p>
        </p:txBody>
      </p:sp>
      <p:sp>
        <p:nvSpPr>
          <p:cNvPr id="611" name="Google Shape;611;p63"/>
          <p:cNvSpPr txBox="1"/>
          <p:nvPr>
            <p:ph idx="1" type="body"/>
          </p:nvPr>
        </p:nvSpPr>
        <p:spPr>
          <a:xfrm>
            <a:off x="335475" y="448650"/>
            <a:ext cx="8563800" cy="2123100"/>
          </a:xfrm>
          <a:prstGeom prst="rect">
            <a:avLst/>
          </a:prstGeom>
          <a:noFill/>
          <a:ln>
            <a:noFill/>
          </a:ln>
        </p:spPr>
        <p:txBody>
          <a:bodyPr anchorCtr="0" anchor="t" bIns="34275" lIns="68575" spcFirstLastPara="1" rIns="68575" wrap="square" tIns="34275">
            <a:noAutofit/>
          </a:bodyPr>
          <a:lstStyle/>
          <a:p>
            <a:pPr indent="0" lvl="0" marL="0" rtl="0" algn="just">
              <a:lnSpc>
                <a:spcPct val="90000"/>
              </a:lnSpc>
              <a:spcBef>
                <a:spcPts val="0"/>
              </a:spcBef>
              <a:spcAft>
                <a:spcPts val="0"/>
              </a:spcAft>
              <a:buSzPts val="1400"/>
              <a:buNone/>
            </a:pPr>
            <a:r>
              <a:rPr b="1" lang="en-GB" sz="3200">
                <a:solidFill>
                  <a:srgbClr val="002060"/>
                </a:solidFill>
                <a:latin typeface="Calibri"/>
                <a:ea typeface="Calibri"/>
                <a:cs typeface="Calibri"/>
                <a:sym typeface="Calibri"/>
              </a:rPr>
              <a:t>Collaboration Diagram: </a:t>
            </a:r>
            <a:endParaRPr b="1" sz="3200">
              <a:solidFill>
                <a:srgbClr val="002060"/>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sz="2400">
              <a:solidFill>
                <a:schemeClr val="dk1"/>
              </a:solidFill>
              <a:latin typeface="Calibri"/>
              <a:ea typeface="Calibri"/>
              <a:cs typeface="Calibri"/>
              <a:sym typeface="Calibri"/>
            </a:endParaRPr>
          </a:p>
        </p:txBody>
      </p:sp>
      <p:sp>
        <p:nvSpPr>
          <p:cNvPr id="612" name="Google Shape;612;p6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613" name="Google Shape;613;p6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
        <p:nvSpPr>
          <p:cNvPr id="614" name="Google Shape;614;p63"/>
          <p:cNvSpPr txBox="1"/>
          <p:nvPr/>
        </p:nvSpPr>
        <p:spPr>
          <a:xfrm>
            <a:off x="1916875" y="3582225"/>
            <a:ext cx="954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15" name="Google Shape;615;p63"/>
          <p:cNvPicPr preferRelativeResize="0"/>
          <p:nvPr/>
        </p:nvPicPr>
        <p:blipFill rotWithShape="1">
          <a:blip r:embed="rId3">
            <a:alphaModFix/>
          </a:blip>
          <a:srcRect b="0" l="0" r="0" t="0"/>
          <a:stretch/>
        </p:blipFill>
        <p:spPr>
          <a:xfrm>
            <a:off x="1189549" y="939250"/>
            <a:ext cx="6070324" cy="388932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1">
                                            <p:txEl>
                                              <p:pRg end="1" st="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sp>
        <p:nvSpPr>
          <p:cNvPr id="620" name="Google Shape;620;p64"/>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Analysis Model</a:t>
            </a:r>
            <a:endParaRPr b="1"/>
          </a:p>
        </p:txBody>
      </p:sp>
      <p:sp>
        <p:nvSpPr>
          <p:cNvPr id="621" name="Google Shape;621;p64"/>
          <p:cNvSpPr txBox="1"/>
          <p:nvPr>
            <p:ph idx="1" type="body"/>
          </p:nvPr>
        </p:nvSpPr>
        <p:spPr>
          <a:xfrm>
            <a:off x="318125" y="433950"/>
            <a:ext cx="8563800" cy="2123100"/>
          </a:xfrm>
          <a:prstGeom prst="rect">
            <a:avLst/>
          </a:prstGeom>
          <a:noFill/>
          <a:ln>
            <a:noFill/>
          </a:ln>
        </p:spPr>
        <p:txBody>
          <a:bodyPr anchorCtr="0" anchor="t" bIns="34275" lIns="68575" spcFirstLastPara="1" rIns="68575" wrap="square" tIns="34275">
            <a:noAutofit/>
          </a:bodyPr>
          <a:lstStyle/>
          <a:p>
            <a:pPr indent="0" lvl="0" marL="0" rtl="0" algn="just">
              <a:lnSpc>
                <a:spcPct val="90000"/>
              </a:lnSpc>
              <a:spcBef>
                <a:spcPts val="0"/>
              </a:spcBef>
              <a:spcAft>
                <a:spcPts val="0"/>
              </a:spcAft>
              <a:buSzPts val="1400"/>
              <a:buNone/>
            </a:pPr>
            <a:r>
              <a:rPr b="1" lang="en-GB" sz="3200">
                <a:solidFill>
                  <a:srgbClr val="002060"/>
                </a:solidFill>
                <a:latin typeface="Calibri"/>
                <a:ea typeface="Calibri"/>
                <a:cs typeface="Calibri"/>
                <a:sym typeface="Calibri"/>
              </a:rPr>
              <a:t>State Chart Diagram: </a:t>
            </a:r>
            <a:endParaRPr b="1" sz="3200">
              <a:solidFill>
                <a:srgbClr val="002060"/>
              </a:solidFill>
              <a:latin typeface="Calibri"/>
              <a:ea typeface="Calibri"/>
              <a:cs typeface="Calibri"/>
              <a:sym typeface="Calibri"/>
            </a:endParaRPr>
          </a:p>
          <a:p>
            <a:pPr indent="-368300" lvl="0" marL="457200" rtl="0" algn="just">
              <a:lnSpc>
                <a:spcPct val="100000"/>
              </a:lnSpc>
              <a:spcBef>
                <a:spcPts val="0"/>
              </a:spcBef>
              <a:spcAft>
                <a:spcPts val="0"/>
              </a:spcAft>
              <a:buClr>
                <a:schemeClr val="dk1"/>
              </a:buClr>
              <a:buSzPts val="2200"/>
              <a:buFont typeface="Calibri"/>
              <a:buChar char="●"/>
            </a:pPr>
            <a:r>
              <a:rPr lang="en-GB" sz="2200">
                <a:solidFill>
                  <a:schemeClr val="dk1"/>
                </a:solidFill>
                <a:latin typeface="Calibri"/>
                <a:ea typeface="Calibri"/>
                <a:cs typeface="Calibri"/>
                <a:sym typeface="Calibri"/>
              </a:rPr>
              <a:t>A </a:t>
            </a:r>
            <a:r>
              <a:rPr b="1" lang="en-GB" sz="2200">
                <a:solidFill>
                  <a:schemeClr val="dk1"/>
                </a:solidFill>
                <a:latin typeface="Calibri"/>
                <a:ea typeface="Calibri"/>
                <a:cs typeface="Calibri"/>
                <a:sym typeface="Calibri"/>
              </a:rPr>
              <a:t>state</a:t>
            </a:r>
            <a:r>
              <a:rPr lang="en-GB" sz="2200">
                <a:solidFill>
                  <a:schemeClr val="dk1"/>
                </a:solidFill>
                <a:latin typeface="Calibri"/>
                <a:ea typeface="Calibri"/>
                <a:cs typeface="Calibri"/>
                <a:sym typeface="Calibri"/>
              </a:rPr>
              <a:t> in UML is a condition or </a:t>
            </a:r>
            <a:r>
              <a:rPr b="1" lang="en-GB" sz="2200">
                <a:solidFill>
                  <a:schemeClr val="dk1"/>
                </a:solidFill>
                <a:latin typeface="Calibri"/>
                <a:ea typeface="Calibri"/>
                <a:cs typeface="Calibri"/>
                <a:sym typeface="Calibri"/>
              </a:rPr>
              <a:t>situation</a:t>
            </a:r>
            <a:r>
              <a:rPr lang="en-GB" sz="2200">
                <a:solidFill>
                  <a:schemeClr val="dk1"/>
                </a:solidFill>
                <a:latin typeface="Calibri"/>
                <a:ea typeface="Calibri"/>
                <a:cs typeface="Calibri"/>
                <a:sym typeface="Calibri"/>
              </a:rPr>
              <a:t> an object (in a system) might find itself in during its life time.</a:t>
            </a:r>
            <a:endParaRPr sz="2200">
              <a:solidFill>
                <a:schemeClr val="dk1"/>
              </a:solidFill>
            </a:endParaRPr>
          </a:p>
          <a:p>
            <a:pPr indent="-368300" lvl="0" marL="457200" rtl="0" algn="just">
              <a:lnSpc>
                <a:spcPct val="100000"/>
              </a:lnSpc>
              <a:spcBef>
                <a:spcPts val="0"/>
              </a:spcBef>
              <a:spcAft>
                <a:spcPts val="0"/>
              </a:spcAft>
              <a:buClr>
                <a:schemeClr val="dk1"/>
              </a:buClr>
              <a:buSzPts val="2200"/>
              <a:buFont typeface="Calibri"/>
              <a:buChar char="●"/>
            </a:pPr>
            <a:r>
              <a:rPr lang="en-GB" sz="2200">
                <a:solidFill>
                  <a:schemeClr val="dk1"/>
                </a:solidFill>
                <a:latin typeface="Calibri"/>
                <a:ea typeface="Calibri"/>
                <a:cs typeface="Calibri"/>
                <a:sym typeface="Calibri"/>
              </a:rPr>
              <a:t>Normally used to </a:t>
            </a:r>
            <a:r>
              <a:rPr b="1" lang="en-GB" sz="2200">
                <a:solidFill>
                  <a:schemeClr val="dk1"/>
                </a:solidFill>
                <a:latin typeface="Calibri"/>
                <a:ea typeface="Calibri"/>
                <a:cs typeface="Calibri"/>
                <a:sym typeface="Calibri"/>
              </a:rPr>
              <a:t>model how the state of an object changes </a:t>
            </a:r>
            <a:r>
              <a:rPr lang="en-GB" sz="2200">
                <a:solidFill>
                  <a:schemeClr val="dk1"/>
                </a:solidFill>
                <a:latin typeface="Calibri"/>
                <a:ea typeface="Calibri"/>
                <a:cs typeface="Calibri"/>
                <a:sym typeface="Calibri"/>
              </a:rPr>
              <a:t>in its lifetime.</a:t>
            </a:r>
            <a:endParaRPr sz="2200">
              <a:solidFill>
                <a:schemeClr val="dk1"/>
              </a:solidFill>
            </a:endParaRPr>
          </a:p>
          <a:p>
            <a:pPr indent="-368300" lvl="0" marL="457200" rtl="0" algn="just">
              <a:lnSpc>
                <a:spcPct val="100000"/>
              </a:lnSpc>
              <a:spcBef>
                <a:spcPts val="0"/>
              </a:spcBef>
              <a:spcAft>
                <a:spcPts val="0"/>
              </a:spcAft>
              <a:buClr>
                <a:schemeClr val="dk1"/>
              </a:buClr>
              <a:buSzPts val="2200"/>
              <a:buChar char="●"/>
            </a:pPr>
            <a:r>
              <a:rPr lang="en-GB" sz="2200">
                <a:solidFill>
                  <a:schemeClr val="dk1"/>
                </a:solidFill>
              </a:rPr>
              <a:t>Used to</a:t>
            </a:r>
            <a:r>
              <a:rPr lang="en-GB" sz="2200">
                <a:solidFill>
                  <a:schemeClr val="dk1"/>
                </a:solidFill>
                <a:latin typeface="Calibri"/>
                <a:ea typeface="Calibri"/>
                <a:cs typeface="Calibri"/>
                <a:sym typeface="Calibri"/>
              </a:rPr>
              <a:t> </a:t>
            </a:r>
            <a:r>
              <a:rPr b="1" lang="en-GB" sz="2200">
                <a:solidFill>
                  <a:schemeClr val="dk1"/>
                </a:solidFill>
                <a:latin typeface="Calibri"/>
                <a:ea typeface="Calibri"/>
                <a:cs typeface="Calibri"/>
                <a:sym typeface="Calibri"/>
              </a:rPr>
              <a:t>capture</a:t>
            </a:r>
            <a:r>
              <a:rPr lang="en-GB" sz="2200">
                <a:solidFill>
                  <a:schemeClr val="dk1"/>
                </a:solidFill>
                <a:latin typeface="Calibri"/>
                <a:ea typeface="Calibri"/>
                <a:cs typeface="Calibri"/>
                <a:sym typeface="Calibri"/>
              </a:rPr>
              <a:t> the behavior of the subject object through modeling these various states and transitions between them.</a:t>
            </a:r>
            <a:endParaRPr sz="2200">
              <a:solidFill>
                <a:schemeClr val="dk1"/>
              </a:solidFill>
              <a:latin typeface="Calibri"/>
              <a:ea typeface="Calibri"/>
              <a:cs typeface="Calibri"/>
              <a:sym typeface="Calibri"/>
            </a:endParaRPr>
          </a:p>
          <a:p>
            <a:pPr indent="-368300" lvl="0" marL="457200" rtl="0" algn="just">
              <a:lnSpc>
                <a:spcPct val="100000"/>
              </a:lnSpc>
              <a:spcBef>
                <a:spcPts val="0"/>
              </a:spcBef>
              <a:spcAft>
                <a:spcPts val="0"/>
              </a:spcAft>
              <a:buSzPts val="2200"/>
              <a:buFont typeface="Calibri"/>
              <a:buChar char="●"/>
            </a:pPr>
            <a:r>
              <a:rPr lang="en-GB" sz="2200">
                <a:solidFill>
                  <a:schemeClr val="dk1"/>
                </a:solidFill>
                <a:latin typeface="Calibri"/>
                <a:ea typeface="Calibri"/>
                <a:cs typeface="Calibri"/>
                <a:sym typeface="Calibri"/>
              </a:rPr>
              <a:t>Does not necessarily model all possible states, but rather the </a:t>
            </a:r>
            <a:r>
              <a:rPr b="1" lang="en-GB" sz="2200">
                <a:solidFill>
                  <a:schemeClr val="dk1"/>
                </a:solidFill>
                <a:latin typeface="Calibri"/>
                <a:ea typeface="Calibri"/>
                <a:cs typeface="Calibri"/>
                <a:sym typeface="Calibri"/>
              </a:rPr>
              <a:t>critical</a:t>
            </a:r>
            <a:r>
              <a:rPr lang="en-GB" sz="2200">
                <a:solidFill>
                  <a:schemeClr val="dk1"/>
                </a:solidFill>
                <a:latin typeface="Calibri"/>
                <a:ea typeface="Calibri"/>
                <a:cs typeface="Calibri"/>
                <a:sym typeface="Calibri"/>
              </a:rPr>
              <a:t> ones only, those that act as </a:t>
            </a:r>
            <a:r>
              <a:rPr b="1" lang="en-GB" sz="2200">
                <a:solidFill>
                  <a:schemeClr val="dk1"/>
                </a:solidFill>
                <a:latin typeface="Calibri"/>
                <a:ea typeface="Calibri"/>
                <a:cs typeface="Calibri"/>
                <a:sym typeface="Calibri"/>
              </a:rPr>
              <a:t>stimuli</a:t>
            </a:r>
            <a:r>
              <a:rPr lang="en-GB" sz="2200">
                <a:solidFill>
                  <a:schemeClr val="dk1"/>
                </a:solidFill>
                <a:latin typeface="Calibri"/>
                <a:ea typeface="Calibri"/>
                <a:cs typeface="Calibri"/>
                <a:sym typeface="Calibri"/>
              </a:rPr>
              <a:t> and </a:t>
            </a:r>
            <a:r>
              <a:rPr b="1" lang="en-GB" sz="2200">
                <a:solidFill>
                  <a:schemeClr val="dk1"/>
                </a:solidFill>
                <a:latin typeface="Calibri"/>
                <a:ea typeface="Calibri"/>
                <a:cs typeface="Calibri"/>
                <a:sym typeface="Calibri"/>
              </a:rPr>
              <a:t>prompt</a:t>
            </a:r>
            <a:r>
              <a:rPr lang="en-GB" sz="2200">
                <a:solidFill>
                  <a:schemeClr val="dk1"/>
                </a:solidFill>
                <a:latin typeface="Calibri"/>
                <a:ea typeface="Calibri"/>
                <a:cs typeface="Calibri"/>
                <a:sym typeface="Calibri"/>
              </a:rPr>
              <a:t> for </a:t>
            </a:r>
            <a:r>
              <a:rPr b="1" lang="en-GB" sz="2200">
                <a:solidFill>
                  <a:schemeClr val="dk1"/>
                </a:solidFill>
                <a:latin typeface="Calibri"/>
                <a:ea typeface="Calibri"/>
                <a:cs typeface="Calibri"/>
                <a:sym typeface="Calibri"/>
              </a:rPr>
              <a:t>response</a:t>
            </a:r>
            <a:r>
              <a:rPr lang="en-GB" sz="2200">
                <a:solidFill>
                  <a:schemeClr val="dk1"/>
                </a:solidFill>
                <a:latin typeface="Calibri"/>
                <a:ea typeface="Calibri"/>
                <a:cs typeface="Calibri"/>
                <a:sym typeface="Calibri"/>
              </a:rPr>
              <a:t> in the external world.</a:t>
            </a:r>
            <a:endParaRPr sz="2200">
              <a:solidFill>
                <a:schemeClr val="dk1"/>
              </a:solidFill>
              <a:latin typeface="Calibri"/>
              <a:ea typeface="Calibri"/>
              <a:cs typeface="Calibri"/>
              <a:sym typeface="Calibri"/>
            </a:endParaRPr>
          </a:p>
          <a:p>
            <a:pPr indent="0" lvl="0" marL="0" rtl="0" algn="just">
              <a:lnSpc>
                <a:spcPct val="100000"/>
              </a:lnSpc>
              <a:spcBef>
                <a:spcPts val="0"/>
              </a:spcBef>
              <a:spcAft>
                <a:spcPts val="0"/>
              </a:spcAft>
              <a:buSzPts val="1400"/>
              <a:buNone/>
            </a:pPr>
            <a:r>
              <a:t/>
            </a:r>
            <a:endParaRPr sz="24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sz="2400">
              <a:solidFill>
                <a:schemeClr val="dk1"/>
              </a:solidFill>
              <a:latin typeface="Calibri"/>
              <a:ea typeface="Calibri"/>
              <a:cs typeface="Calibri"/>
              <a:sym typeface="Calibri"/>
            </a:endParaRPr>
          </a:p>
        </p:txBody>
      </p:sp>
      <p:sp>
        <p:nvSpPr>
          <p:cNvPr id="622" name="Google Shape;622;p64"/>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623" name="Google Shape;623;p64"/>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
        <p:nvSpPr>
          <p:cNvPr id="624" name="Google Shape;624;p64"/>
          <p:cNvSpPr txBox="1"/>
          <p:nvPr/>
        </p:nvSpPr>
        <p:spPr>
          <a:xfrm>
            <a:off x="1916875" y="3582225"/>
            <a:ext cx="9540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1">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sp>
        <p:nvSpPr>
          <p:cNvPr id="629" name="Google Shape;629;p65"/>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Analysis Model</a:t>
            </a:r>
            <a:endParaRPr b="1"/>
          </a:p>
        </p:txBody>
      </p:sp>
      <p:sp>
        <p:nvSpPr>
          <p:cNvPr id="630" name="Google Shape;630;p65"/>
          <p:cNvSpPr txBox="1"/>
          <p:nvPr>
            <p:ph idx="1" type="body"/>
          </p:nvPr>
        </p:nvSpPr>
        <p:spPr>
          <a:xfrm>
            <a:off x="318125" y="814950"/>
            <a:ext cx="8563800" cy="2123100"/>
          </a:xfrm>
          <a:prstGeom prst="rect">
            <a:avLst/>
          </a:prstGeom>
          <a:noFill/>
          <a:ln>
            <a:noFill/>
          </a:ln>
        </p:spPr>
        <p:txBody>
          <a:bodyPr anchorCtr="0" anchor="t" bIns="34275" lIns="68575" spcFirstLastPara="1" rIns="68575" wrap="square" tIns="34275">
            <a:noAutofit/>
          </a:bodyPr>
          <a:lstStyle/>
          <a:p>
            <a:pPr indent="0" lvl="0" marL="0" rtl="0" algn="just">
              <a:lnSpc>
                <a:spcPct val="90000"/>
              </a:lnSpc>
              <a:spcBef>
                <a:spcPts val="0"/>
              </a:spcBef>
              <a:spcAft>
                <a:spcPts val="0"/>
              </a:spcAft>
              <a:buSzPts val="1400"/>
              <a:buNone/>
            </a:pPr>
            <a:r>
              <a:rPr b="1" lang="en-GB" sz="2800">
                <a:solidFill>
                  <a:srgbClr val="002060"/>
                </a:solidFill>
                <a:latin typeface="Calibri"/>
                <a:ea typeface="Calibri"/>
                <a:cs typeface="Calibri"/>
                <a:sym typeface="Calibri"/>
              </a:rPr>
              <a:t>State Chart Diagram: </a:t>
            </a:r>
            <a:endParaRPr b="1" sz="2800">
              <a:solidFill>
                <a:srgbClr val="002060"/>
              </a:solidFill>
              <a:latin typeface="Calibri"/>
              <a:ea typeface="Calibri"/>
              <a:cs typeface="Calibri"/>
              <a:sym typeface="Calibri"/>
            </a:endParaRPr>
          </a:p>
          <a:p>
            <a:pPr indent="0" lvl="0" marL="0" rtl="0" algn="just">
              <a:lnSpc>
                <a:spcPct val="100000"/>
              </a:lnSpc>
              <a:spcBef>
                <a:spcPts val="0"/>
              </a:spcBef>
              <a:spcAft>
                <a:spcPts val="0"/>
              </a:spcAft>
              <a:buSzPts val="1400"/>
              <a:buNone/>
            </a:pPr>
            <a:r>
              <a:rPr lang="en-GB" sz="2000">
                <a:solidFill>
                  <a:schemeClr val="dk1"/>
                </a:solidFill>
                <a:latin typeface="Calibri"/>
                <a:ea typeface="Calibri"/>
                <a:cs typeface="Calibri"/>
                <a:sym typeface="Calibri"/>
              </a:rPr>
              <a:t>Elements of state chart diagram </a:t>
            </a:r>
            <a:endParaRPr sz="2000">
              <a:solidFill>
                <a:schemeClr val="dk1"/>
              </a:solidFill>
              <a:latin typeface="Calibri"/>
              <a:ea typeface="Calibri"/>
              <a:cs typeface="Calibri"/>
              <a:sym typeface="Calibri"/>
            </a:endParaRPr>
          </a:p>
          <a:p>
            <a:pPr indent="-368300" lvl="0" marL="457200" rtl="0" algn="just">
              <a:lnSpc>
                <a:spcPct val="100000"/>
              </a:lnSpc>
              <a:spcBef>
                <a:spcPts val="800"/>
              </a:spcBef>
              <a:spcAft>
                <a:spcPts val="0"/>
              </a:spcAft>
              <a:buClr>
                <a:schemeClr val="dk1"/>
              </a:buClr>
              <a:buSzPts val="2200"/>
              <a:buFont typeface="Calibri"/>
              <a:buChar char="●"/>
            </a:pPr>
            <a:r>
              <a:rPr b="1" lang="en-GB" sz="2000">
                <a:solidFill>
                  <a:srgbClr val="073763"/>
                </a:solidFill>
                <a:latin typeface="Calibri"/>
                <a:ea typeface="Calibri"/>
                <a:cs typeface="Calibri"/>
                <a:sym typeface="Calibri"/>
              </a:rPr>
              <a:t>State:</a:t>
            </a:r>
            <a:r>
              <a:rPr lang="en-GB" sz="2000">
                <a:solidFill>
                  <a:schemeClr val="dk1"/>
                </a:solidFill>
                <a:latin typeface="Calibri"/>
                <a:ea typeface="Calibri"/>
                <a:cs typeface="Calibri"/>
                <a:sym typeface="Calibri"/>
              </a:rPr>
              <a:t> Represented by rectangles with rounded corners.</a:t>
            </a:r>
            <a:endParaRPr sz="2000">
              <a:solidFill>
                <a:schemeClr val="dk1"/>
              </a:solidFill>
              <a:latin typeface="Calibri"/>
              <a:ea typeface="Calibri"/>
              <a:cs typeface="Calibri"/>
              <a:sym typeface="Calibri"/>
            </a:endParaRPr>
          </a:p>
          <a:p>
            <a:pPr indent="-368300" lvl="0" marL="457200" rtl="0" algn="just">
              <a:lnSpc>
                <a:spcPct val="100000"/>
              </a:lnSpc>
              <a:spcBef>
                <a:spcPts val="0"/>
              </a:spcBef>
              <a:spcAft>
                <a:spcPts val="0"/>
              </a:spcAft>
              <a:buClr>
                <a:schemeClr val="dk1"/>
              </a:buClr>
              <a:buSzPts val="2200"/>
              <a:buFont typeface="Calibri"/>
              <a:buChar char="●"/>
            </a:pPr>
            <a:r>
              <a:rPr b="1" lang="en-GB" sz="2000">
                <a:solidFill>
                  <a:srgbClr val="073763"/>
                </a:solidFill>
                <a:latin typeface="Calibri"/>
                <a:ea typeface="Calibri"/>
                <a:cs typeface="Calibri"/>
                <a:sym typeface="Calibri"/>
              </a:rPr>
              <a:t>Initial state:</a:t>
            </a:r>
            <a:r>
              <a:rPr lang="en-GB" sz="2000">
                <a:solidFill>
                  <a:schemeClr val="dk1"/>
                </a:solidFill>
                <a:latin typeface="Calibri"/>
                <a:ea typeface="Calibri"/>
                <a:cs typeface="Calibri"/>
                <a:sym typeface="Calibri"/>
              </a:rPr>
              <a:t> Represented as a filled circle.</a:t>
            </a:r>
            <a:endParaRPr sz="2000">
              <a:solidFill>
                <a:schemeClr val="dk1"/>
              </a:solidFill>
              <a:latin typeface="Calibri"/>
              <a:ea typeface="Calibri"/>
              <a:cs typeface="Calibri"/>
              <a:sym typeface="Calibri"/>
            </a:endParaRPr>
          </a:p>
          <a:p>
            <a:pPr indent="-368300" lvl="0" marL="457200" rtl="0" algn="just">
              <a:lnSpc>
                <a:spcPct val="100000"/>
              </a:lnSpc>
              <a:spcBef>
                <a:spcPts val="0"/>
              </a:spcBef>
              <a:spcAft>
                <a:spcPts val="0"/>
              </a:spcAft>
              <a:buClr>
                <a:schemeClr val="dk1"/>
              </a:buClr>
              <a:buSzPts val="2200"/>
              <a:buFont typeface="Calibri"/>
              <a:buChar char="●"/>
            </a:pPr>
            <a:r>
              <a:rPr b="1" lang="en-GB" sz="2000">
                <a:solidFill>
                  <a:srgbClr val="073763"/>
                </a:solidFill>
                <a:latin typeface="Calibri"/>
                <a:ea typeface="Calibri"/>
                <a:cs typeface="Calibri"/>
                <a:sym typeface="Calibri"/>
              </a:rPr>
              <a:t>Final state:</a:t>
            </a:r>
            <a:r>
              <a:rPr lang="en-GB" sz="2000">
                <a:solidFill>
                  <a:schemeClr val="dk1"/>
                </a:solidFill>
                <a:latin typeface="Calibri"/>
                <a:ea typeface="Calibri"/>
                <a:cs typeface="Calibri"/>
                <a:sym typeface="Calibri"/>
              </a:rPr>
              <a:t> Represented by a filled circle inside a larger circle.</a:t>
            </a:r>
            <a:endParaRPr sz="2000">
              <a:solidFill>
                <a:schemeClr val="dk1"/>
              </a:solidFill>
              <a:latin typeface="Calibri"/>
              <a:ea typeface="Calibri"/>
              <a:cs typeface="Calibri"/>
              <a:sym typeface="Calibri"/>
            </a:endParaRPr>
          </a:p>
          <a:p>
            <a:pPr indent="-368300" lvl="0" marL="457200" rtl="0" algn="just">
              <a:lnSpc>
                <a:spcPct val="100000"/>
              </a:lnSpc>
              <a:spcBef>
                <a:spcPts val="0"/>
              </a:spcBef>
              <a:spcAft>
                <a:spcPts val="0"/>
              </a:spcAft>
              <a:buClr>
                <a:schemeClr val="dk1"/>
              </a:buClr>
              <a:buSzPts val="2200"/>
              <a:buFont typeface="Calibri"/>
              <a:buChar char="●"/>
            </a:pPr>
            <a:r>
              <a:rPr b="1" lang="en-GB" sz="2000">
                <a:solidFill>
                  <a:srgbClr val="073763"/>
                </a:solidFill>
                <a:latin typeface="Calibri"/>
                <a:ea typeface="Calibri"/>
                <a:cs typeface="Calibri"/>
                <a:sym typeface="Calibri"/>
              </a:rPr>
              <a:t>Transition:</a:t>
            </a:r>
            <a:r>
              <a:rPr lang="en-GB" sz="2000">
                <a:solidFill>
                  <a:schemeClr val="dk1"/>
                </a:solidFill>
                <a:latin typeface="Calibri"/>
                <a:ea typeface="Calibri"/>
                <a:cs typeface="Calibri"/>
                <a:sym typeface="Calibri"/>
              </a:rPr>
              <a:t> Shown as an arrow between two states. Normally, the name of the event which causes the transition is places alongside the arrow. </a:t>
            </a:r>
            <a:endParaRPr sz="2000">
              <a:solidFill>
                <a:schemeClr val="dk1"/>
              </a:solidFill>
              <a:latin typeface="Calibri"/>
              <a:ea typeface="Calibri"/>
              <a:cs typeface="Calibri"/>
              <a:sym typeface="Calibri"/>
            </a:endParaRPr>
          </a:p>
          <a:p>
            <a:pPr indent="-368300" lvl="0" marL="457200" rtl="0" algn="l">
              <a:lnSpc>
                <a:spcPct val="100000"/>
              </a:lnSpc>
              <a:spcBef>
                <a:spcPts val="0"/>
              </a:spcBef>
              <a:spcAft>
                <a:spcPts val="0"/>
              </a:spcAft>
              <a:buSzPts val="2200"/>
              <a:buFont typeface="Calibri"/>
              <a:buChar char="●"/>
            </a:pPr>
            <a:r>
              <a:rPr b="1" lang="en-GB" sz="2000">
                <a:solidFill>
                  <a:srgbClr val="073763"/>
                </a:solidFill>
                <a:latin typeface="Calibri"/>
                <a:ea typeface="Calibri"/>
                <a:cs typeface="Calibri"/>
                <a:sym typeface="Calibri"/>
              </a:rPr>
              <a:t>A guard condition (Event): </a:t>
            </a:r>
            <a:endParaRPr/>
          </a:p>
          <a:p>
            <a:pPr indent="-368300" lvl="1" marL="914400" rtl="0" algn="l">
              <a:lnSpc>
                <a:spcPct val="100000"/>
              </a:lnSpc>
              <a:spcBef>
                <a:spcPts val="0"/>
              </a:spcBef>
              <a:spcAft>
                <a:spcPts val="0"/>
              </a:spcAft>
              <a:buSzPts val="2200"/>
              <a:buFont typeface="Calibri"/>
              <a:buChar char="●"/>
            </a:pPr>
            <a:r>
              <a:rPr lang="en-GB" sz="2000">
                <a:solidFill>
                  <a:schemeClr val="dk1"/>
                </a:solidFill>
                <a:latin typeface="Calibri"/>
                <a:ea typeface="Calibri"/>
                <a:cs typeface="Calibri"/>
                <a:sym typeface="Calibri"/>
              </a:rPr>
              <a:t>It is any internal or external trigger that causes system to change its state. </a:t>
            </a:r>
            <a:endParaRPr/>
          </a:p>
          <a:p>
            <a:pPr indent="-368300" lvl="1" marL="914400" rtl="0" algn="l">
              <a:lnSpc>
                <a:spcPct val="100000"/>
              </a:lnSpc>
              <a:spcBef>
                <a:spcPts val="0"/>
              </a:spcBef>
              <a:spcAft>
                <a:spcPts val="0"/>
              </a:spcAft>
              <a:buSzPts val="2200"/>
              <a:buFont typeface="Calibri"/>
              <a:buChar char="●"/>
            </a:pPr>
            <a:r>
              <a:rPr lang="en-GB" sz="2000">
                <a:solidFill>
                  <a:schemeClr val="dk1"/>
                </a:solidFill>
                <a:latin typeface="Calibri"/>
                <a:ea typeface="Calibri"/>
                <a:cs typeface="Calibri"/>
                <a:sym typeface="Calibri"/>
              </a:rPr>
              <a:t>Example: Internal event: timer expiry and External event: user presses some switch.</a:t>
            </a:r>
            <a:endParaRPr/>
          </a:p>
          <a:p>
            <a:pPr indent="0" lvl="0" marL="0" rtl="0" algn="just">
              <a:lnSpc>
                <a:spcPct val="100000"/>
              </a:lnSpc>
              <a:spcBef>
                <a:spcPts val="0"/>
              </a:spcBef>
              <a:spcAft>
                <a:spcPts val="0"/>
              </a:spcAft>
              <a:buSzPts val="1400"/>
              <a:buNone/>
            </a:pPr>
            <a:r>
              <a:t/>
            </a:r>
            <a:endParaRPr sz="2000">
              <a:solidFill>
                <a:schemeClr val="dk1"/>
              </a:solidFill>
              <a:latin typeface="Calibri"/>
              <a:ea typeface="Calibri"/>
              <a:cs typeface="Calibri"/>
              <a:sym typeface="Calibri"/>
            </a:endParaRPr>
          </a:p>
          <a:p>
            <a:pPr indent="0" lvl="0" marL="0" rtl="0" algn="just">
              <a:lnSpc>
                <a:spcPct val="100000"/>
              </a:lnSpc>
              <a:spcBef>
                <a:spcPts val="0"/>
              </a:spcBef>
              <a:spcAft>
                <a:spcPts val="0"/>
              </a:spcAft>
              <a:buSzPts val="1400"/>
              <a:buNone/>
            </a:pPr>
            <a:r>
              <a:t/>
            </a:r>
            <a:endParaRPr sz="2000">
              <a:solidFill>
                <a:schemeClr val="dk1"/>
              </a:solidFill>
              <a:latin typeface="Calibri"/>
              <a:ea typeface="Calibri"/>
              <a:cs typeface="Calibri"/>
              <a:sym typeface="Calibri"/>
            </a:endParaRPr>
          </a:p>
          <a:p>
            <a:pPr indent="0" lvl="0" marL="0" rtl="0" algn="just">
              <a:lnSpc>
                <a:spcPct val="100000"/>
              </a:lnSpc>
              <a:spcBef>
                <a:spcPts val="0"/>
              </a:spcBef>
              <a:spcAft>
                <a:spcPts val="0"/>
              </a:spcAft>
              <a:buSzPts val="1400"/>
              <a:buNone/>
            </a:pPr>
            <a:r>
              <a:t/>
            </a:r>
            <a:endParaRPr sz="20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sz="2000">
              <a:solidFill>
                <a:schemeClr val="dk1"/>
              </a:solidFill>
              <a:latin typeface="Calibri"/>
              <a:ea typeface="Calibri"/>
              <a:cs typeface="Calibri"/>
              <a:sym typeface="Calibri"/>
            </a:endParaRPr>
          </a:p>
        </p:txBody>
      </p:sp>
      <p:sp>
        <p:nvSpPr>
          <p:cNvPr id="631" name="Google Shape;631;p65"/>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0">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0">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0">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0">
                                            <p:txEl>
                                              <p:pRg end="12" st="1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p66"/>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Analysis Model</a:t>
            </a:r>
            <a:endParaRPr b="1"/>
          </a:p>
        </p:txBody>
      </p:sp>
      <p:sp>
        <p:nvSpPr>
          <p:cNvPr id="637" name="Google Shape;637;p66"/>
          <p:cNvSpPr txBox="1"/>
          <p:nvPr>
            <p:ph idx="1" type="body"/>
          </p:nvPr>
        </p:nvSpPr>
        <p:spPr>
          <a:xfrm>
            <a:off x="318125" y="433950"/>
            <a:ext cx="8563800" cy="2123100"/>
          </a:xfrm>
          <a:prstGeom prst="rect">
            <a:avLst/>
          </a:prstGeom>
          <a:noFill/>
          <a:ln>
            <a:noFill/>
          </a:ln>
        </p:spPr>
        <p:txBody>
          <a:bodyPr anchorCtr="0" anchor="t" bIns="34275" lIns="68575" spcFirstLastPara="1" rIns="68575" wrap="square" tIns="34275">
            <a:noAutofit/>
          </a:bodyPr>
          <a:lstStyle/>
          <a:p>
            <a:pPr indent="0" lvl="0" marL="0" rtl="0" algn="just">
              <a:lnSpc>
                <a:spcPct val="90000"/>
              </a:lnSpc>
              <a:spcBef>
                <a:spcPts val="0"/>
              </a:spcBef>
              <a:spcAft>
                <a:spcPts val="0"/>
              </a:spcAft>
              <a:buSzPts val="1400"/>
              <a:buNone/>
            </a:pPr>
            <a:r>
              <a:rPr b="1" lang="en-GB" sz="3200">
                <a:solidFill>
                  <a:srgbClr val="002060"/>
                </a:solidFill>
                <a:latin typeface="Calibri"/>
                <a:ea typeface="Calibri"/>
                <a:cs typeface="Calibri"/>
                <a:sym typeface="Calibri"/>
              </a:rPr>
              <a:t>State Chart Diagram: </a:t>
            </a:r>
            <a:endParaRPr b="1" sz="3200">
              <a:solidFill>
                <a:srgbClr val="002060"/>
              </a:solidFill>
              <a:latin typeface="Calibri"/>
              <a:ea typeface="Calibri"/>
              <a:cs typeface="Calibri"/>
              <a:sym typeface="Calibri"/>
            </a:endParaRPr>
          </a:p>
          <a:p>
            <a:pPr indent="0" lvl="0" marL="0" rtl="0" algn="just">
              <a:lnSpc>
                <a:spcPct val="100000"/>
              </a:lnSpc>
              <a:spcBef>
                <a:spcPts val="0"/>
              </a:spcBef>
              <a:spcAft>
                <a:spcPts val="0"/>
              </a:spcAft>
              <a:buSzPts val="1400"/>
              <a:buNone/>
            </a:pPr>
            <a:r>
              <a:rPr lang="en-GB" sz="2200">
                <a:solidFill>
                  <a:schemeClr val="dk1"/>
                </a:solidFill>
                <a:latin typeface="Calibri"/>
                <a:ea typeface="Calibri"/>
                <a:cs typeface="Calibri"/>
                <a:sym typeface="Calibri"/>
              </a:rPr>
              <a:t>Elements of state chart diagram </a:t>
            </a:r>
            <a:endParaRPr sz="2200">
              <a:solidFill>
                <a:schemeClr val="dk1"/>
              </a:solidFill>
              <a:latin typeface="Calibri"/>
              <a:ea typeface="Calibri"/>
              <a:cs typeface="Calibri"/>
              <a:sym typeface="Calibri"/>
            </a:endParaRPr>
          </a:p>
          <a:p>
            <a:pPr indent="-368300" lvl="0" marL="457200" rtl="0" algn="just">
              <a:lnSpc>
                <a:spcPct val="100000"/>
              </a:lnSpc>
              <a:spcBef>
                <a:spcPts val="800"/>
              </a:spcBef>
              <a:spcAft>
                <a:spcPts val="0"/>
              </a:spcAft>
              <a:buClr>
                <a:schemeClr val="dk1"/>
              </a:buClr>
              <a:buSzPts val="2200"/>
              <a:buFont typeface="Calibri"/>
              <a:buChar char="●"/>
            </a:pPr>
            <a:r>
              <a:rPr b="1" lang="en-GB" sz="2200">
                <a:solidFill>
                  <a:srgbClr val="073763"/>
                </a:solidFill>
                <a:latin typeface="Calibri"/>
                <a:ea typeface="Calibri"/>
                <a:cs typeface="Calibri"/>
                <a:sym typeface="Calibri"/>
              </a:rPr>
              <a:t>State:</a:t>
            </a:r>
            <a:r>
              <a:rPr lang="en-GB" sz="2200">
                <a:solidFill>
                  <a:schemeClr val="dk1"/>
                </a:solidFill>
                <a:latin typeface="Calibri"/>
                <a:ea typeface="Calibri"/>
                <a:cs typeface="Calibri"/>
                <a:sym typeface="Calibri"/>
              </a:rPr>
              <a:t>                    </a:t>
            </a:r>
            <a:endParaRPr sz="2200">
              <a:solidFill>
                <a:schemeClr val="dk1"/>
              </a:solidFill>
              <a:latin typeface="Calibri"/>
              <a:ea typeface="Calibri"/>
              <a:cs typeface="Calibri"/>
              <a:sym typeface="Calibri"/>
            </a:endParaRPr>
          </a:p>
          <a:p>
            <a:pPr indent="0" lvl="0" marL="0" rtl="0" algn="just">
              <a:lnSpc>
                <a:spcPct val="100000"/>
              </a:lnSpc>
              <a:spcBef>
                <a:spcPts val="800"/>
              </a:spcBef>
              <a:spcAft>
                <a:spcPts val="0"/>
              </a:spcAft>
              <a:buSzPts val="1400"/>
              <a:buNone/>
            </a:pPr>
            <a:r>
              <a:t/>
            </a:r>
            <a:endParaRPr b="1" sz="1000">
              <a:solidFill>
                <a:srgbClr val="073763"/>
              </a:solidFill>
              <a:latin typeface="Calibri"/>
              <a:ea typeface="Calibri"/>
              <a:cs typeface="Calibri"/>
              <a:sym typeface="Calibri"/>
            </a:endParaRPr>
          </a:p>
          <a:p>
            <a:pPr indent="-368300" lvl="0" marL="457200" rtl="0" algn="just">
              <a:lnSpc>
                <a:spcPct val="100000"/>
              </a:lnSpc>
              <a:spcBef>
                <a:spcPts val="800"/>
              </a:spcBef>
              <a:spcAft>
                <a:spcPts val="0"/>
              </a:spcAft>
              <a:buClr>
                <a:schemeClr val="dk1"/>
              </a:buClr>
              <a:buSzPts val="2200"/>
              <a:buFont typeface="Calibri"/>
              <a:buChar char="●"/>
            </a:pPr>
            <a:r>
              <a:rPr b="1" lang="en-GB" sz="2200">
                <a:solidFill>
                  <a:srgbClr val="073763"/>
                </a:solidFill>
                <a:latin typeface="Calibri"/>
                <a:ea typeface="Calibri"/>
                <a:cs typeface="Calibri"/>
                <a:sym typeface="Calibri"/>
              </a:rPr>
              <a:t>Initial state:</a:t>
            </a:r>
            <a:r>
              <a:rPr lang="en-GB" sz="2200">
                <a:solidFill>
                  <a:schemeClr val="dk1"/>
                </a:solidFill>
                <a:latin typeface="Calibri"/>
                <a:ea typeface="Calibri"/>
                <a:cs typeface="Calibri"/>
                <a:sym typeface="Calibri"/>
              </a:rPr>
              <a:t>                  </a:t>
            </a:r>
            <a:endParaRPr sz="2200">
              <a:solidFill>
                <a:schemeClr val="dk1"/>
              </a:solidFill>
              <a:latin typeface="Calibri"/>
              <a:ea typeface="Calibri"/>
              <a:cs typeface="Calibri"/>
              <a:sym typeface="Calibri"/>
            </a:endParaRPr>
          </a:p>
          <a:p>
            <a:pPr indent="0" lvl="0" marL="0" rtl="0" algn="just">
              <a:lnSpc>
                <a:spcPct val="100000"/>
              </a:lnSpc>
              <a:spcBef>
                <a:spcPts val="800"/>
              </a:spcBef>
              <a:spcAft>
                <a:spcPts val="0"/>
              </a:spcAft>
              <a:buSzPts val="1400"/>
              <a:buNone/>
            </a:pPr>
            <a:r>
              <a:t/>
            </a:r>
            <a:endParaRPr sz="1000">
              <a:solidFill>
                <a:schemeClr val="dk1"/>
              </a:solidFill>
              <a:latin typeface="Calibri"/>
              <a:ea typeface="Calibri"/>
              <a:cs typeface="Calibri"/>
              <a:sym typeface="Calibri"/>
            </a:endParaRPr>
          </a:p>
          <a:p>
            <a:pPr indent="-368300" lvl="0" marL="457200" rtl="0" algn="just">
              <a:lnSpc>
                <a:spcPct val="100000"/>
              </a:lnSpc>
              <a:spcBef>
                <a:spcPts val="800"/>
              </a:spcBef>
              <a:spcAft>
                <a:spcPts val="0"/>
              </a:spcAft>
              <a:buClr>
                <a:schemeClr val="dk1"/>
              </a:buClr>
              <a:buSzPts val="2200"/>
              <a:buFont typeface="Calibri"/>
              <a:buChar char="●"/>
            </a:pPr>
            <a:r>
              <a:rPr b="1" lang="en-GB" sz="2200">
                <a:solidFill>
                  <a:srgbClr val="073763"/>
                </a:solidFill>
                <a:latin typeface="Calibri"/>
                <a:ea typeface="Calibri"/>
                <a:cs typeface="Calibri"/>
                <a:sym typeface="Calibri"/>
              </a:rPr>
              <a:t>Final state:</a:t>
            </a:r>
            <a:r>
              <a:rPr lang="en-GB" sz="2200">
                <a:solidFill>
                  <a:schemeClr val="dk1"/>
                </a:solidFill>
                <a:latin typeface="Calibri"/>
                <a:ea typeface="Calibri"/>
                <a:cs typeface="Calibri"/>
                <a:sym typeface="Calibri"/>
              </a:rPr>
              <a:t> 		</a:t>
            </a:r>
            <a:endParaRPr sz="2200">
              <a:solidFill>
                <a:schemeClr val="dk1"/>
              </a:solidFill>
              <a:latin typeface="Calibri"/>
              <a:ea typeface="Calibri"/>
              <a:cs typeface="Calibri"/>
              <a:sym typeface="Calibri"/>
            </a:endParaRPr>
          </a:p>
          <a:p>
            <a:pPr indent="0" lvl="0" marL="0" rtl="0" algn="just">
              <a:lnSpc>
                <a:spcPct val="100000"/>
              </a:lnSpc>
              <a:spcBef>
                <a:spcPts val="800"/>
              </a:spcBef>
              <a:spcAft>
                <a:spcPts val="0"/>
              </a:spcAft>
              <a:buSzPts val="1400"/>
              <a:buNone/>
            </a:pPr>
            <a:r>
              <a:rPr lang="en-GB" sz="1000">
                <a:solidFill>
                  <a:schemeClr val="dk1"/>
                </a:solidFill>
                <a:latin typeface="Calibri"/>
                <a:ea typeface="Calibri"/>
                <a:cs typeface="Calibri"/>
                <a:sym typeface="Calibri"/>
              </a:rPr>
              <a:t> </a:t>
            </a:r>
            <a:endParaRPr sz="1000">
              <a:solidFill>
                <a:schemeClr val="dk1"/>
              </a:solidFill>
              <a:latin typeface="Calibri"/>
              <a:ea typeface="Calibri"/>
              <a:cs typeface="Calibri"/>
              <a:sym typeface="Calibri"/>
            </a:endParaRPr>
          </a:p>
          <a:p>
            <a:pPr indent="-368300" lvl="0" marL="457200" rtl="0" algn="just">
              <a:lnSpc>
                <a:spcPct val="100000"/>
              </a:lnSpc>
              <a:spcBef>
                <a:spcPts val="800"/>
              </a:spcBef>
              <a:spcAft>
                <a:spcPts val="0"/>
              </a:spcAft>
              <a:buClr>
                <a:schemeClr val="dk1"/>
              </a:buClr>
              <a:buSzPts val="2200"/>
              <a:buFont typeface="Calibri"/>
              <a:buChar char="●"/>
            </a:pPr>
            <a:r>
              <a:rPr b="1" lang="en-GB" sz="2200">
                <a:solidFill>
                  <a:srgbClr val="073763"/>
                </a:solidFill>
                <a:latin typeface="Calibri"/>
                <a:ea typeface="Calibri"/>
                <a:cs typeface="Calibri"/>
                <a:sym typeface="Calibri"/>
              </a:rPr>
              <a:t>Transition:</a:t>
            </a:r>
            <a:r>
              <a:rPr lang="en-GB" sz="2200">
                <a:solidFill>
                  <a:schemeClr val="dk1"/>
                </a:solidFill>
                <a:latin typeface="Calibri"/>
                <a:ea typeface="Calibri"/>
                <a:cs typeface="Calibri"/>
                <a:sym typeface="Calibri"/>
              </a:rPr>
              <a:t> </a:t>
            </a:r>
            <a:endParaRPr sz="2200">
              <a:solidFill>
                <a:schemeClr val="dk1"/>
              </a:solidFill>
              <a:latin typeface="Calibri"/>
              <a:ea typeface="Calibri"/>
              <a:cs typeface="Calibri"/>
              <a:sym typeface="Calibri"/>
            </a:endParaRPr>
          </a:p>
          <a:p>
            <a:pPr indent="0" lvl="0" marL="0" rtl="0" algn="just">
              <a:lnSpc>
                <a:spcPct val="100000"/>
              </a:lnSpc>
              <a:spcBef>
                <a:spcPts val="800"/>
              </a:spcBef>
              <a:spcAft>
                <a:spcPts val="0"/>
              </a:spcAft>
              <a:buSzPts val="1400"/>
              <a:buNone/>
            </a:pPr>
            <a:r>
              <a:t/>
            </a:r>
            <a:endParaRPr sz="1000">
              <a:solidFill>
                <a:schemeClr val="dk1"/>
              </a:solidFill>
              <a:latin typeface="Calibri"/>
              <a:ea typeface="Calibri"/>
              <a:cs typeface="Calibri"/>
              <a:sym typeface="Calibri"/>
            </a:endParaRPr>
          </a:p>
          <a:p>
            <a:pPr indent="-368300" lvl="0" marL="457200" rtl="0" algn="just">
              <a:lnSpc>
                <a:spcPct val="100000"/>
              </a:lnSpc>
              <a:spcBef>
                <a:spcPts val="800"/>
              </a:spcBef>
              <a:spcAft>
                <a:spcPts val="0"/>
              </a:spcAft>
              <a:buClr>
                <a:schemeClr val="dk1"/>
              </a:buClr>
              <a:buSzPts val="2200"/>
              <a:buFont typeface="Calibri"/>
              <a:buChar char="●"/>
            </a:pPr>
            <a:r>
              <a:rPr b="1" lang="en-GB" sz="2200">
                <a:solidFill>
                  <a:srgbClr val="073763"/>
                </a:solidFill>
                <a:latin typeface="Calibri"/>
                <a:ea typeface="Calibri"/>
                <a:cs typeface="Calibri"/>
                <a:sym typeface="Calibri"/>
              </a:rPr>
              <a:t>A guard condition: </a:t>
            </a:r>
            <a:r>
              <a:rPr lang="en-GB" sz="2200">
                <a:solidFill>
                  <a:schemeClr val="dk1"/>
                </a:solidFill>
                <a:latin typeface="Calibri"/>
                <a:ea typeface="Calibri"/>
                <a:cs typeface="Calibri"/>
                <a:sym typeface="Calibri"/>
              </a:rPr>
              <a:t>  Event[Guard condition/action]</a:t>
            </a:r>
            <a:endParaRPr sz="2400">
              <a:solidFill>
                <a:schemeClr val="dk1"/>
              </a:solidFill>
              <a:latin typeface="Calibri"/>
              <a:ea typeface="Calibri"/>
              <a:cs typeface="Calibri"/>
              <a:sym typeface="Calibri"/>
            </a:endParaRPr>
          </a:p>
        </p:txBody>
      </p:sp>
      <p:sp>
        <p:nvSpPr>
          <p:cNvPr id="638" name="Google Shape;638;p66"/>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639" name="Google Shape;639;p66"/>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sp>
        <p:nvSpPr>
          <p:cNvPr id="640" name="Google Shape;640;p66"/>
          <p:cNvSpPr/>
          <p:nvPr/>
        </p:nvSpPr>
        <p:spPr>
          <a:xfrm>
            <a:off x="2897025" y="1431150"/>
            <a:ext cx="1153500" cy="2739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Arial"/>
                <a:ea typeface="Arial"/>
                <a:cs typeface="Arial"/>
                <a:sym typeface="Arial"/>
              </a:rPr>
              <a:t>State </a:t>
            </a:r>
            <a:endParaRPr b="0" i="0" sz="1400" u="none" cap="none" strike="noStrike">
              <a:solidFill>
                <a:srgbClr val="000000"/>
              </a:solidFill>
              <a:latin typeface="Arial"/>
              <a:ea typeface="Arial"/>
              <a:cs typeface="Arial"/>
              <a:sym typeface="Arial"/>
            </a:endParaRPr>
          </a:p>
        </p:txBody>
      </p:sp>
      <p:sp>
        <p:nvSpPr>
          <p:cNvPr id="641" name="Google Shape;641;p66"/>
          <p:cNvSpPr/>
          <p:nvPr/>
        </p:nvSpPr>
        <p:spPr>
          <a:xfrm>
            <a:off x="3330700" y="2126275"/>
            <a:ext cx="286200" cy="2256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2" name="Google Shape;642;p66"/>
          <p:cNvSpPr/>
          <p:nvPr/>
        </p:nvSpPr>
        <p:spPr>
          <a:xfrm>
            <a:off x="3217882" y="2773100"/>
            <a:ext cx="511800" cy="468300"/>
          </a:xfrm>
          <a:prstGeom prst="ellipse">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3" name="Google Shape;643;p66"/>
          <p:cNvSpPr/>
          <p:nvPr/>
        </p:nvSpPr>
        <p:spPr>
          <a:xfrm>
            <a:off x="3294075" y="2848750"/>
            <a:ext cx="359400" cy="339300"/>
          </a:xfrm>
          <a:prstGeom prst="ellipse">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644" name="Google Shape;644;p66"/>
          <p:cNvCxnSpPr/>
          <p:nvPr/>
        </p:nvCxnSpPr>
        <p:spPr>
          <a:xfrm>
            <a:off x="3252625" y="3668975"/>
            <a:ext cx="2376600" cy="0"/>
          </a:xfrm>
          <a:prstGeom prst="straightConnector1">
            <a:avLst/>
          </a:prstGeom>
          <a:noFill/>
          <a:ln cap="flat" cmpd="sng" w="9525">
            <a:solidFill>
              <a:schemeClr val="dk2"/>
            </a:solidFill>
            <a:prstDash val="solid"/>
            <a:round/>
            <a:headEnd len="sm" w="sm"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7">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7">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sp>
        <p:nvSpPr>
          <p:cNvPr id="649" name="Google Shape;649;p67"/>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1400"/>
              <a:buNone/>
            </a:pPr>
            <a:r>
              <a:t/>
            </a:r>
            <a:endParaRPr/>
          </a:p>
        </p:txBody>
      </p:sp>
      <p:sp>
        <p:nvSpPr>
          <p:cNvPr id="650" name="Google Shape;650;p67"/>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317500" lvl="0" marL="457200" rtl="0" algn="l">
              <a:lnSpc>
                <a:spcPct val="90000"/>
              </a:lnSpc>
              <a:spcBef>
                <a:spcPts val="800"/>
              </a:spcBef>
              <a:spcAft>
                <a:spcPts val="0"/>
              </a:spcAft>
              <a:buClr>
                <a:schemeClr val="dk1"/>
              </a:buClr>
              <a:buSzPts val="1400"/>
              <a:buChar char="●"/>
            </a:pPr>
            <a:r>
              <a:rPr lang="en-GB"/>
              <a:t>State diagram:</a:t>
            </a:r>
            <a:endParaRPr/>
          </a:p>
        </p:txBody>
      </p:sp>
      <p:pic>
        <p:nvPicPr>
          <p:cNvPr id="651" name="Google Shape;651;p67"/>
          <p:cNvPicPr preferRelativeResize="0"/>
          <p:nvPr/>
        </p:nvPicPr>
        <p:blipFill rotWithShape="1">
          <a:blip r:embed="rId3">
            <a:alphaModFix/>
          </a:blip>
          <a:srcRect b="0" l="0" r="0" t="0"/>
          <a:stretch/>
        </p:blipFill>
        <p:spPr>
          <a:xfrm>
            <a:off x="1138238" y="1981200"/>
            <a:ext cx="6067425" cy="1676400"/>
          </a:xfrm>
          <a:prstGeom prst="rect">
            <a:avLst/>
          </a:prstGeom>
          <a:solidFill>
            <a:srgbClr val="ECECEC"/>
          </a:solidFill>
          <a:ln cap="sq" cmpd="sng" w="88900">
            <a:solidFill>
              <a:srgbClr val="FFFFFF"/>
            </a:solidFill>
            <a:prstDash val="solid"/>
            <a:miter lim="800000"/>
            <a:headEnd len="sm" w="sm" type="none"/>
            <a:tailEnd len="sm" w="sm" type="none"/>
          </a:ln>
          <a:effectLst>
            <a:outerShdw blurRad="55000" rotWithShape="0" algn="tl" dir="5400000" dist="18000">
              <a:srgbClr val="000000">
                <a:alpha val="40000"/>
              </a:srgbClr>
            </a:outerShdw>
          </a:effectLst>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sp>
        <p:nvSpPr>
          <p:cNvPr id="656" name="Google Shape;656;p68"/>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Analysis Model</a:t>
            </a:r>
            <a:endParaRPr b="1"/>
          </a:p>
        </p:txBody>
      </p:sp>
      <p:sp>
        <p:nvSpPr>
          <p:cNvPr id="657" name="Google Shape;657;p68"/>
          <p:cNvSpPr txBox="1"/>
          <p:nvPr>
            <p:ph idx="1" type="body"/>
          </p:nvPr>
        </p:nvSpPr>
        <p:spPr>
          <a:xfrm>
            <a:off x="318125" y="433950"/>
            <a:ext cx="8563800" cy="589500"/>
          </a:xfrm>
          <a:prstGeom prst="rect">
            <a:avLst/>
          </a:prstGeom>
          <a:noFill/>
          <a:ln>
            <a:noFill/>
          </a:ln>
        </p:spPr>
        <p:txBody>
          <a:bodyPr anchorCtr="0" anchor="t" bIns="34275" lIns="68575" spcFirstLastPara="1" rIns="68575" wrap="square" tIns="34275">
            <a:noAutofit/>
          </a:bodyPr>
          <a:lstStyle/>
          <a:p>
            <a:pPr indent="0" lvl="0" marL="0" rtl="0" algn="just">
              <a:lnSpc>
                <a:spcPct val="90000"/>
              </a:lnSpc>
              <a:spcBef>
                <a:spcPts val="0"/>
              </a:spcBef>
              <a:spcAft>
                <a:spcPts val="0"/>
              </a:spcAft>
              <a:buSzPts val="1400"/>
              <a:buNone/>
            </a:pPr>
            <a:r>
              <a:rPr b="1" lang="en-GB" sz="3200">
                <a:solidFill>
                  <a:srgbClr val="002060"/>
                </a:solidFill>
                <a:latin typeface="Calibri"/>
                <a:ea typeface="Calibri"/>
                <a:cs typeface="Calibri"/>
                <a:sym typeface="Calibri"/>
              </a:rPr>
              <a:t>State Chart Diagram: </a:t>
            </a:r>
            <a:endParaRPr b="1" sz="3200">
              <a:solidFill>
                <a:srgbClr val="002060"/>
              </a:solidFill>
              <a:latin typeface="Calibri"/>
              <a:ea typeface="Calibri"/>
              <a:cs typeface="Calibri"/>
              <a:sym typeface="Calibri"/>
            </a:endParaRPr>
          </a:p>
          <a:p>
            <a:pPr indent="0" lvl="0" marL="0" rtl="0" algn="just">
              <a:lnSpc>
                <a:spcPct val="100000"/>
              </a:lnSpc>
              <a:spcBef>
                <a:spcPts val="0"/>
              </a:spcBef>
              <a:spcAft>
                <a:spcPts val="0"/>
              </a:spcAft>
              <a:buSzPts val="1400"/>
              <a:buNone/>
            </a:pPr>
            <a:r>
              <a:t/>
            </a:r>
            <a:endParaRPr sz="2200">
              <a:solidFill>
                <a:schemeClr val="dk1"/>
              </a:solidFill>
              <a:latin typeface="Calibri"/>
              <a:ea typeface="Calibri"/>
              <a:cs typeface="Calibri"/>
              <a:sym typeface="Calibri"/>
            </a:endParaRPr>
          </a:p>
          <a:p>
            <a:pPr indent="0" lvl="0" marL="0" rtl="0" algn="just">
              <a:lnSpc>
                <a:spcPct val="100000"/>
              </a:lnSpc>
              <a:spcBef>
                <a:spcPts val="0"/>
              </a:spcBef>
              <a:spcAft>
                <a:spcPts val="0"/>
              </a:spcAft>
              <a:buSzPts val="1400"/>
              <a:buNone/>
            </a:pPr>
            <a:r>
              <a:t/>
            </a:r>
            <a:endParaRPr sz="24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sz="2400">
              <a:solidFill>
                <a:schemeClr val="dk1"/>
              </a:solidFill>
              <a:latin typeface="Calibri"/>
              <a:ea typeface="Calibri"/>
              <a:cs typeface="Calibri"/>
              <a:sym typeface="Calibri"/>
            </a:endParaRPr>
          </a:p>
        </p:txBody>
      </p:sp>
      <p:sp>
        <p:nvSpPr>
          <p:cNvPr id="658" name="Google Shape;658;p68"/>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659" name="Google Shape;659;p68"/>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pic>
        <p:nvPicPr>
          <p:cNvPr id="660" name="Google Shape;660;p68"/>
          <p:cNvPicPr preferRelativeResize="0"/>
          <p:nvPr/>
        </p:nvPicPr>
        <p:blipFill rotWithShape="1">
          <a:blip r:embed="rId3">
            <a:alphaModFix/>
          </a:blip>
          <a:srcRect b="0" l="0" r="0" t="0"/>
          <a:stretch/>
        </p:blipFill>
        <p:spPr>
          <a:xfrm>
            <a:off x="2036067" y="941650"/>
            <a:ext cx="4812208" cy="3825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7">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
        <p:nvSpPr>
          <p:cNvPr id="665" name="Google Shape;665;p69"/>
          <p:cNvSpPr txBox="1"/>
          <p:nvPr>
            <p:ph type="title"/>
          </p:nvPr>
        </p:nvSpPr>
        <p:spPr>
          <a:xfrm>
            <a:off x="136325" y="75547"/>
            <a:ext cx="8871600" cy="540300"/>
          </a:xfrm>
          <a:prstGeom prst="rect">
            <a:avLst/>
          </a:prstGeom>
          <a:noFill/>
          <a:ln>
            <a:noFill/>
          </a:ln>
        </p:spPr>
        <p:txBody>
          <a:bodyPr anchorCtr="0" anchor="ctr" bIns="34275" lIns="68575" spcFirstLastPara="1" rIns="68575" wrap="square" tIns="34275">
            <a:noAutofit/>
          </a:bodyPr>
          <a:lstStyle/>
          <a:p>
            <a:pPr indent="0" lvl="0" marL="0" rtl="0" algn="ctr">
              <a:lnSpc>
                <a:spcPct val="90000"/>
              </a:lnSpc>
              <a:spcBef>
                <a:spcPts val="1000"/>
              </a:spcBef>
              <a:spcAft>
                <a:spcPts val="0"/>
              </a:spcAft>
              <a:buSzPts val="1400"/>
              <a:buNone/>
            </a:pPr>
            <a:r>
              <a:rPr b="1" lang="en-GB" sz="3200">
                <a:solidFill>
                  <a:srgbClr val="002060"/>
                </a:solidFill>
                <a:latin typeface="Calibri"/>
                <a:ea typeface="Calibri"/>
                <a:cs typeface="Calibri"/>
                <a:sym typeface="Calibri"/>
              </a:rPr>
              <a:t>Analysis Model</a:t>
            </a:r>
            <a:endParaRPr b="1"/>
          </a:p>
        </p:txBody>
      </p:sp>
      <p:sp>
        <p:nvSpPr>
          <p:cNvPr id="666" name="Google Shape;666;p69"/>
          <p:cNvSpPr txBox="1"/>
          <p:nvPr>
            <p:ph idx="1" type="body"/>
          </p:nvPr>
        </p:nvSpPr>
        <p:spPr>
          <a:xfrm>
            <a:off x="318125" y="433950"/>
            <a:ext cx="8563800" cy="589500"/>
          </a:xfrm>
          <a:prstGeom prst="rect">
            <a:avLst/>
          </a:prstGeom>
          <a:noFill/>
          <a:ln>
            <a:noFill/>
          </a:ln>
        </p:spPr>
        <p:txBody>
          <a:bodyPr anchorCtr="0" anchor="t" bIns="34275" lIns="68575" spcFirstLastPara="1" rIns="68575" wrap="square" tIns="34275">
            <a:noAutofit/>
          </a:bodyPr>
          <a:lstStyle/>
          <a:p>
            <a:pPr indent="0" lvl="0" marL="0" rtl="0" algn="just">
              <a:lnSpc>
                <a:spcPct val="90000"/>
              </a:lnSpc>
              <a:spcBef>
                <a:spcPts val="0"/>
              </a:spcBef>
              <a:spcAft>
                <a:spcPts val="0"/>
              </a:spcAft>
              <a:buSzPts val="1400"/>
              <a:buNone/>
            </a:pPr>
            <a:r>
              <a:rPr b="1" lang="en-GB" sz="3200">
                <a:solidFill>
                  <a:srgbClr val="002060"/>
                </a:solidFill>
                <a:latin typeface="Calibri"/>
                <a:ea typeface="Calibri"/>
                <a:cs typeface="Calibri"/>
                <a:sym typeface="Calibri"/>
              </a:rPr>
              <a:t>State Chart Diagram: </a:t>
            </a:r>
            <a:endParaRPr b="1" sz="3200">
              <a:solidFill>
                <a:srgbClr val="002060"/>
              </a:solidFill>
              <a:latin typeface="Calibri"/>
              <a:ea typeface="Calibri"/>
              <a:cs typeface="Calibri"/>
              <a:sym typeface="Calibri"/>
            </a:endParaRPr>
          </a:p>
          <a:p>
            <a:pPr indent="0" lvl="0" marL="0" rtl="0" algn="just">
              <a:lnSpc>
                <a:spcPct val="100000"/>
              </a:lnSpc>
              <a:spcBef>
                <a:spcPts val="0"/>
              </a:spcBef>
              <a:spcAft>
                <a:spcPts val="0"/>
              </a:spcAft>
              <a:buSzPts val="1400"/>
              <a:buNone/>
            </a:pPr>
            <a:r>
              <a:t/>
            </a:r>
            <a:endParaRPr sz="2200">
              <a:solidFill>
                <a:schemeClr val="dk1"/>
              </a:solidFill>
              <a:latin typeface="Calibri"/>
              <a:ea typeface="Calibri"/>
              <a:cs typeface="Calibri"/>
              <a:sym typeface="Calibri"/>
            </a:endParaRPr>
          </a:p>
          <a:p>
            <a:pPr indent="0" lvl="0" marL="0" rtl="0" algn="just">
              <a:lnSpc>
                <a:spcPct val="100000"/>
              </a:lnSpc>
              <a:spcBef>
                <a:spcPts val="0"/>
              </a:spcBef>
              <a:spcAft>
                <a:spcPts val="0"/>
              </a:spcAft>
              <a:buSzPts val="1400"/>
              <a:buNone/>
            </a:pPr>
            <a:r>
              <a:t/>
            </a:r>
            <a:endParaRPr sz="24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1400"/>
              <a:buNone/>
            </a:pPr>
            <a:r>
              <a:t/>
            </a:r>
            <a:endParaRPr sz="2400">
              <a:solidFill>
                <a:schemeClr val="dk1"/>
              </a:solidFill>
              <a:latin typeface="Calibri"/>
              <a:ea typeface="Calibri"/>
              <a:cs typeface="Calibri"/>
              <a:sym typeface="Calibri"/>
            </a:endParaRPr>
          </a:p>
        </p:txBody>
      </p:sp>
      <p:sp>
        <p:nvSpPr>
          <p:cNvPr id="667" name="Google Shape;667;p6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p>
            <a:pPr indent="0" lvl="0" marL="0" rtl="0" algn="ctr">
              <a:lnSpc>
                <a:spcPct val="100000"/>
              </a:lnSpc>
              <a:spcBef>
                <a:spcPts val="0"/>
              </a:spcBef>
              <a:spcAft>
                <a:spcPts val="0"/>
              </a:spcAft>
              <a:buSzPts val="1100"/>
              <a:buNone/>
            </a:pPr>
            <a:r>
              <a:rPr lang="en-GB"/>
              <a:t>MODULE 2</a:t>
            </a:r>
            <a:endParaRPr/>
          </a:p>
        </p:txBody>
      </p:sp>
      <p:sp>
        <p:nvSpPr>
          <p:cNvPr id="668" name="Google Shape;668;p6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p>
            <a:pPr indent="0" lvl="0" marL="0" rtl="0" algn="r">
              <a:lnSpc>
                <a:spcPct val="100000"/>
              </a:lnSpc>
              <a:spcBef>
                <a:spcPts val="0"/>
              </a:spcBef>
              <a:spcAft>
                <a:spcPts val="0"/>
              </a:spcAft>
              <a:buSzPts val="1200"/>
              <a:buNone/>
            </a:pPr>
            <a:fld id="{00000000-1234-1234-1234-123412341234}" type="slidenum">
              <a:rPr lang="en-GB"/>
              <a:t>‹#›</a:t>
            </a:fld>
            <a:endParaRPr/>
          </a:p>
        </p:txBody>
      </p:sp>
      <p:pic>
        <p:nvPicPr>
          <p:cNvPr id="669" name="Google Shape;669;p69"/>
          <p:cNvPicPr preferRelativeResize="0"/>
          <p:nvPr/>
        </p:nvPicPr>
        <p:blipFill rotWithShape="1">
          <a:blip r:embed="rId3">
            <a:alphaModFix/>
          </a:blip>
          <a:srcRect b="0" l="0" r="0" t="0"/>
          <a:stretch/>
        </p:blipFill>
        <p:spPr>
          <a:xfrm>
            <a:off x="2055774" y="972076"/>
            <a:ext cx="4487777" cy="37952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6">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3" name="Shape 673"/>
        <p:cNvGrpSpPr/>
        <p:nvPr/>
      </p:nvGrpSpPr>
      <p:grpSpPr>
        <a:xfrm>
          <a:off x="0" y="0"/>
          <a:ext cx="0" cy="0"/>
          <a:chOff x="0" y="0"/>
          <a:chExt cx="0" cy="0"/>
        </a:xfrm>
      </p:grpSpPr>
      <p:sp>
        <p:nvSpPr>
          <p:cNvPr id="674" name="Google Shape;674;p70"/>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1400"/>
              <a:buNone/>
            </a:pPr>
            <a:r>
              <a:rPr lang="en-GB"/>
              <a:t>Component Diagram</a:t>
            </a:r>
            <a:endParaRPr/>
          </a:p>
        </p:txBody>
      </p:sp>
      <p:sp>
        <p:nvSpPr>
          <p:cNvPr id="675" name="Google Shape;675;p70"/>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317500" lvl="0" marL="457200" rtl="0" algn="l">
              <a:lnSpc>
                <a:spcPct val="90000"/>
              </a:lnSpc>
              <a:spcBef>
                <a:spcPts val="800"/>
              </a:spcBef>
              <a:spcAft>
                <a:spcPts val="0"/>
              </a:spcAft>
              <a:buClr>
                <a:schemeClr val="dk1"/>
              </a:buClr>
              <a:buSzPts val="1400"/>
              <a:buChar char="●"/>
            </a:pPr>
            <a:r>
              <a:rPr lang="en-GB"/>
              <a:t>It describes the organization and wiring of the physical components in a system. </a:t>
            </a:r>
            <a:endParaRPr/>
          </a:p>
          <a:p>
            <a:pPr indent="-317500" lvl="0" marL="457200" rtl="0" algn="l">
              <a:lnSpc>
                <a:spcPct val="90000"/>
              </a:lnSpc>
              <a:spcBef>
                <a:spcPts val="800"/>
              </a:spcBef>
              <a:spcAft>
                <a:spcPts val="0"/>
              </a:spcAft>
              <a:buClr>
                <a:schemeClr val="dk1"/>
              </a:buClr>
              <a:buSzPts val="1400"/>
              <a:buChar char="●"/>
            </a:pPr>
            <a:r>
              <a:rPr lang="en-GB"/>
              <a:t>Component diagrams are often drawn to help model implementation details and double-check that every aspect of the system's required functions is covered by planned development. </a:t>
            </a:r>
            <a:endParaRPr/>
          </a:p>
          <a:p>
            <a:pPr indent="-317500" lvl="0" marL="457200" rtl="0" algn="l">
              <a:lnSpc>
                <a:spcPct val="90000"/>
              </a:lnSpc>
              <a:spcBef>
                <a:spcPts val="800"/>
              </a:spcBef>
              <a:spcAft>
                <a:spcPts val="0"/>
              </a:spcAft>
              <a:buClr>
                <a:schemeClr val="dk1"/>
              </a:buClr>
              <a:buSzPts val="1400"/>
              <a:buChar char="●"/>
            </a:pPr>
            <a:r>
              <a:rPr lang="en-GB"/>
              <a:t>In UML 2, these components are less physical and more conceptual stand-alone design elements such as a business process that provides or requires interfaces to interact with other constructs in the system. </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9" name="Shape 679"/>
        <p:cNvGrpSpPr/>
        <p:nvPr/>
      </p:nvGrpSpPr>
      <p:grpSpPr>
        <a:xfrm>
          <a:off x="0" y="0"/>
          <a:ext cx="0" cy="0"/>
          <a:chOff x="0" y="0"/>
          <a:chExt cx="0" cy="0"/>
        </a:xfrm>
      </p:grpSpPr>
      <p:sp>
        <p:nvSpPr>
          <p:cNvPr id="680" name="Google Shape;680;p71"/>
          <p:cNvSpPr txBox="1"/>
          <p:nvPr>
            <p:ph idx="1" type="body"/>
          </p:nvPr>
        </p:nvSpPr>
        <p:spPr>
          <a:xfrm>
            <a:off x="542925" y="285750"/>
            <a:ext cx="7972425" cy="4346869"/>
          </a:xfrm>
          <a:prstGeom prst="rect">
            <a:avLst/>
          </a:prstGeom>
          <a:noFill/>
          <a:ln>
            <a:noFill/>
          </a:ln>
        </p:spPr>
        <p:txBody>
          <a:bodyPr anchorCtr="0" anchor="t" bIns="34275" lIns="68575" spcFirstLastPara="1" rIns="68575" wrap="square" tIns="34275">
            <a:normAutofit/>
          </a:bodyPr>
          <a:lstStyle/>
          <a:p>
            <a:pPr indent="-317500" lvl="0" marL="457200" rtl="0" algn="l">
              <a:lnSpc>
                <a:spcPct val="90000"/>
              </a:lnSpc>
              <a:spcBef>
                <a:spcPts val="800"/>
              </a:spcBef>
              <a:spcAft>
                <a:spcPts val="0"/>
              </a:spcAft>
              <a:buClr>
                <a:schemeClr val="dk1"/>
              </a:buClr>
              <a:buSzPts val="1400"/>
              <a:buChar char="●"/>
            </a:pPr>
            <a:r>
              <a:rPr b="1" lang="en-GB" sz="1600"/>
              <a:t>Component</a:t>
            </a:r>
            <a:endParaRPr/>
          </a:p>
          <a:p>
            <a:pPr indent="-317500" lvl="0" marL="457200" rtl="0" algn="l">
              <a:lnSpc>
                <a:spcPct val="90000"/>
              </a:lnSpc>
              <a:spcBef>
                <a:spcPts val="800"/>
              </a:spcBef>
              <a:spcAft>
                <a:spcPts val="0"/>
              </a:spcAft>
              <a:buClr>
                <a:schemeClr val="dk1"/>
              </a:buClr>
              <a:buSzPts val="1400"/>
              <a:buChar char="●"/>
            </a:pPr>
            <a:r>
              <a:rPr lang="en-GB" sz="1600"/>
              <a:t>A component is a logical unit block of the system, a slightly higher abstraction than classes. It is represented as a rectangle with a smaller rectangle in the upper right corner with tabs or the word written above the name of the component to help distinguish it from a class.</a:t>
            </a:r>
            <a:endParaRPr/>
          </a:p>
          <a:p>
            <a:pPr indent="-228600" lvl="0" marL="457200" rtl="0" algn="l">
              <a:lnSpc>
                <a:spcPct val="90000"/>
              </a:lnSpc>
              <a:spcBef>
                <a:spcPts val="800"/>
              </a:spcBef>
              <a:spcAft>
                <a:spcPts val="0"/>
              </a:spcAft>
              <a:buClr>
                <a:schemeClr val="dk1"/>
              </a:buClr>
              <a:buSzPts val="1400"/>
              <a:buNone/>
            </a:pPr>
            <a:r>
              <a:t/>
            </a:r>
            <a:endParaRPr sz="1600"/>
          </a:p>
          <a:p>
            <a:pPr indent="-228600" lvl="0" marL="457200" rtl="0" algn="l">
              <a:lnSpc>
                <a:spcPct val="90000"/>
              </a:lnSpc>
              <a:spcBef>
                <a:spcPts val="800"/>
              </a:spcBef>
              <a:spcAft>
                <a:spcPts val="0"/>
              </a:spcAft>
              <a:buClr>
                <a:schemeClr val="dk1"/>
              </a:buClr>
              <a:buSzPts val="1400"/>
              <a:buNone/>
            </a:pPr>
            <a:r>
              <a:t/>
            </a:r>
            <a:endParaRPr sz="1600"/>
          </a:p>
          <a:p>
            <a:pPr indent="-317500" lvl="0" marL="457200" rtl="0" algn="l">
              <a:lnSpc>
                <a:spcPct val="90000"/>
              </a:lnSpc>
              <a:spcBef>
                <a:spcPts val="800"/>
              </a:spcBef>
              <a:spcAft>
                <a:spcPts val="0"/>
              </a:spcAft>
              <a:buClr>
                <a:schemeClr val="dk1"/>
              </a:buClr>
              <a:buSzPts val="1400"/>
              <a:buChar char="●"/>
            </a:pPr>
            <a:r>
              <a:rPr b="1" lang="en-GB" sz="1600"/>
              <a:t>Interface</a:t>
            </a:r>
            <a:endParaRPr/>
          </a:p>
          <a:p>
            <a:pPr indent="-317500" lvl="0" marL="457200" rtl="0" algn="l">
              <a:lnSpc>
                <a:spcPct val="90000"/>
              </a:lnSpc>
              <a:spcBef>
                <a:spcPts val="800"/>
              </a:spcBef>
              <a:spcAft>
                <a:spcPts val="0"/>
              </a:spcAft>
              <a:buClr>
                <a:schemeClr val="dk1"/>
              </a:buClr>
              <a:buSzPts val="1400"/>
              <a:buChar char="●"/>
            </a:pPr>
            <a:r>
              <a:rPr lang="en-GB" sz="1600"/>
              <a:t>An interface (small circle or semi-circle on a stick) describes a group of operations used (required) or created (provided) by components. A full circle represents an interface created or provided by the component. A semi-circle represents a required interface, like a person's input.</a:t>
            </a:r>
            <a:endParaRPr/>
          </a:p>
          <a:p>
            <a:pPr indent="-228600" lvl="0" marL="457200" rtl="0" algn="l">
              <a:lnSpc>
                <a:spcPct val="90000"/>
              </a:lnSpc>
              <a:spcBef>
                <a:spcPts val="800"/>
              </a:spcBef>
              <a:spcAft>
                <a:spcPts val="0"/>
              </a:spcAft>
              <a:buClr>
                <a:schemeClr val="dk1"/>
              </a:buClr>
              <a:buSzPts val="1400"/>
              <a:buNone/>
            </a:pPr>
            <a:r>
              <a:t/>
            </a:r>
            <a:endParaRPr sz="1600"/>
          </a:p>
          <a:p>
            <a:pPr indent="-228600" lvl="0" marL="457200" rtl="0" algn="l">
              <a:lnSpc>
                <a:spcPct val="90000"/>
              </a:lnSpc>
              <a:spcBef>
                <a:spcPts val="800"/>
              </a:spcBef>
              <a:spcAft>
                <a:spcPts val="0"/>
              </a:spcAft>
              <a:buClr>
                <a:schemeClr val="dk1"/>
              </a:buClr>
              <a:buSzPts val="1400"/>
              <a:buNone/>
            </a:pPr>
            <a:r>
              <a:t/>
            </a:r>
            <a:endParaRPr sz="1600"/>
          </a:p>
        </p:txBody>
      </p:sp>
      <p:pic>
        <p:nvPicPr>
          <p:cNvPr id="681" name="Google Shape;681;p71"/>
          <p:cNvPicPr preferRelativeResize="0"/>
          <p:nvPr/>
        </p:nvPicPr>
        <p:blipFill rotWithShape="1">
          <a:blip r:embed="rId3">
            <a:alphaModFix/>
          </a:blip>
          <a:srcRect b="0" l="0" r="0" t="0"/>
          <a:stretch/>
        </p:blipFill>
        <p:spPr>
          <a:xfrm>
            <a:off x="2301195" y="1883781"/>
            <a:ext cx="1827893" cy="590550"/>
          </a:xfrm>
          <a:prstGeom prst="rect">
            <a:avLst/>
          </a:prstGeom>
          <a:noFill/>
          <a:ln>
            <a:noFill/>
          </a:ln>
          <a:effectLst>
            <a:outerShdw blurRad="292100" rotWithShape="0" algn="tl" dir="2700000" dist="139700">
              <a:srgbClr val="333333">
                <a:alpha val="64705"/>
              </a:srgbClr>
            </a:outerShdw>
          </a:effectLst>
        </p:spPr>
      </p:pic>
      <p:pic>
        <p:nvPicPr>
          <p:cNvPr id="682" name="Google Shape;682;p71"/>
          <p:cNvPicPr preferRelativeResize="0"/>
          <p:nvPr/>
        </p:nvPicPr>
        <p:blipFill rotWithShape="1">
          <a:blip r:embed="rId4">
            <a:alphaModFix/>
          </a:blip>
          <a:srcRect b="0" l="0" r="0" t="0"/>
          <a:stretch/>
        </p:blipFill>
        <p:spPr>
          <a:xfrm>
            <a:off x="4267200" y="1866900"/>
            <a:ext cx="942973" cy="624313"/>
          </a:xfrm>
          <a:prstGeom prst="rect">
            <a:avLst/>
          </a:prstGeom>
          <a:noFill/>
          <a:ln>
            <a:noFill/>
          </a:ln>
          <a:effectLst>
            <a:outerShdw blurRad="292100" rotWithShape="0" algn="tl" dir="2700000" dist="139700">
              <a:srgbClr val="333333">
                <a:alpha val="64705"/>
              </a:srgbClr>
            </a:outerShdw>
          </a:effectLst>
        </p:spPr>
      </p:pic>
      <p:pic>
        <p:nvPicPr>
          <p:cNvPr id="683" name="Google Shape;683;p71"/>
          <p:cNvPicPr preferRelativeResize="0"/>
          <p:nvPr/>
        </p:nvPicPr>
        <p:blipFill rotWithShape="1">
          <a:blip r:embed="rId5">
            <a:alphaModFix/>
          </a:blip>
          <a:srcRect b="0" l="0" r="0" t="0"/>
          <a:stretch/>
        </p:blipFill>
        <p:spPr>
          <a:xfrm>
            <a:off x="1114425" y="3686621"/>
            <a:ext cx="3014663" cy="853777"/>
          </a:xfrm>
          <a:prstGeom prst="rect">
            <a:avLst/>
          </a:prstGeom>
          <a:noFill/>
          <a:ln>
            <a:noFill/>
          </a:ln>
          <a:effectLst>
            <a:outerShdw blurRad="292100" rotWithShape="0" algn="tl" dir="2700000" dist="139700">
              <a:srgbClr val="333333">
                <a:alpha val="64705"/>
              </a:srgbClr>
            </a:outerShdw>
          </a:effectLst>
        </p:spPr>
      </p:pic>
      <p:pic>
        <p:nvPicPr>
          <p:cNvPr id="684" name="Google Shape;684;p71"/>
          <p:cNvPicPr preferRelativeResize="0"/>
          <p:nvPr/>
        </p:nvPicPr>
        <p:blipFill rotWithShape="1">
          <a:blip r:embed="rId6">
            <a:alphaModFix/>
          </a:blip>
          <a:srcRect b="0" l="0" r="0" t="0"/>
          <a:stretch/>
        </p:blipFill>
        <p:spPr>
          <a:xfrm>
            <a:off x="5334376" y="3499147"/>
            <a:ext cx="2649203" cy="1485900"/>
          </a:xfrm>
          <a:prstGeom prst="rect">
            <a:avLst/>
          </a:prstGeom>
          <a:noFill/>
          <a:ln>
            <a:noFill/>
          </a:ln>
          <a:effectLst>
            <a:outerShdw blurRad="292100" rotWithShape="0" algn="tl" dir="2700000" dist="139700">
              <a:srgbClr val="333333">
                <a:alpha val="64705"/>
              </a:srgbClr>
            </a:outerShdw>
          </a:effectLst>
        </p:spPr>
      </p:pic>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8" name="Shape 688"/>
        <p:cNvGrpSpPr/>
        <p:nvPr/>
      </p:nvGrpSpPr>
      <p:grpSpPr>
        <a:xfrm>
          <a:off x="0" y="0"/>
          <a:ext cx="0" cy="0"/>
          <a:chOff x="0" y="0"/>
          <a:chExt cx="0" cy="0"/>
        </a:xfrm>
      </p:grpSpPr>
      <p:sp>
        <p:nvSpPr>
          <p:cNvPr id="689" name="Google Shape;689;p72"/>
          <p:cNvSpPr txBox="1"/>
          <p:nvPr>
            <p:ph idx="1" type="body"/>
          </p:nvPr>
        </p:nvSpPr>
        <p:spPr>
          <a:xfrm>
            <a:off x="571500" y="352425"/>
            <a:ext cx="7943850" cy="4280194"/>
          </a:xfrm>
          <a:prstGeom prst="rect">
            <a:avLst/>
          </a:prstGeom>
          <a:noFill/>
          <a:ln>
            <a:noFill/>
          </a:ln>
        </p:spPr>
        <p:txBody>
          <a:bodyPr anchorCtr="0" anchor="t" bIns="34275" lIns="68575" spcFirstLastPara="1" rIns="68575" wrap="square" tIns="34275">
            <a:normAutofit/>
          </a:bodyPr>
          <a:lstStyle/>
          <a:p>
            <a:pPr indent="-317500" lvl="0" marL="457200" rtl="0" algn="l">
              <a:lnSpc>
                <a:spcPct val="90000"/>
              </a:lnSpc>
              <a:spcBef>
                <a:spcPts val="800"/>
              </a:spcBef>
              <a:spcAft>
                <a:spcPts val="0"/>
              </a:spcAft>
              <a:buClr>
                <a:schemeClr val="dk1"/>
              </a:buClr>
              <a:buSzPts val="1400"/>
              <a:buChar char="●"/>
            </a:pPr>
            <a:r>
              <a:rPr b="1" lang="en-GB"/>
              <a:t>Relationships:</a:t>
            </a:r>
            <a:endParaRPr/>
          </a:p>
          <a:p>
            <a:pPr indent="-317500" lvl="0" marL="457200" rtl="0" algn="l">
              <a:lnSpc>
                <a:spcPct val="90000"/>
              </a:lnSpc>
              <a:spcBef>
                <a:spcPts val="800"/>
              </a:spcBef>
              <a:spcAft>
                <a:spcPts val="0"/>
              </a:spcAft>
              <a:buSzPts val="1400"/>
              <a:buChar char="●"/>
            </a:pPr>
            <a:r>
              <a:rPr lang="en-GB"/>
              <a:t>Depict the connections and dependencies between components and interfaces.</a:t>
            </a:r>
            <a:endParaRPr/>
          </a:p>
          <a:p>
            <a:pPr indent="-317500" lvl="0" marL="457200" rtl="0" algn="l">
              <a:lnSpc>
                <a:spcPct val="90000"/>
              </a:lnSpc>
              <a:spcBef>
                <a:spcPts val="800"/>
              </a:spcBef>
              <a:spcAft>
                <a:spcPts val="0"/>
              </a:spcAft>
              <a:buSzPts val="1400"/>
              <a:buChar char="●"/>
            </a:pPr>
            <a:r>
              <a:rPr b="1" lang="en-GB"/>
              <a:t>Symbol:</a:t>
            </a:r>
            <a:r>
              <a:rPr lang="en-GB"/>
              <a:t> Lines and arrows.</a:t>
            </a:r>
            <a:endParaRPr/>
          </a:p>
          <a:p>
            <a:pPr indent="-317500" lvl="1" marL="914400" rtl="0" algn="l">
              <a:lnSpc>
                <a:spcPct val="90000"/>
              </a:lnSpc>
              <a:spcBef>
                <a:spcPts val="1200"/>
              </a:spcBef>
              <a:spcAft>
                <a:spcPts val="0"/>
              </a:spcAft>
              <a:buSzPts val="1400"/>
              <a:buChar char="○"/>
            </a:pPr>
            <a:r>
              <a:rPr b="1" lang="en-GB"/>
              <a:t>Dependency (dashed arrow):</a:t>
            </a:r>
            <a:r>
              <a:rPr lang="en-GB"/>
              <a:t> Indicates that one component relies on another.</a:t>
            </a:r>
            <a:endParaRPr/>
          </a:p>
          <a:p>
            <a:pPr indent="-317500" lvl="1" marL="914400" rtl="0" algn="l">
              <a:lnSpc>
                <a:spcPct val="90000"/>
              </a:lnSpc>
              <a:spcBef>
                <a:spcPts val="1200"/>
              </a:spcBef>
              <a:spcAft>
                <a:spcPts val="0"/>
              </a:spcAft>
              <a:buSzPts val="1400"/>
              <a:buChar char="○"/>
            </a:pPr>
            <a:r>
              <a:rPr b="1" lang="en-GB"/>
              <a:t>Association (solid line):</a:t>
            </a:r>
            <a:r>
              <a:rPr lang="en-GB"/>
              <a:t> Shows a more permanent relationship between components.</a:t>
            </a:r>
            <a:endParaRPr/>
          </a:p>
          <a:p>
            <a:pPr indent="-317500" lvl="1" marL="914400" rtl="0" algn="l">
              <a:lnSpc>
                <a:spcPct val="90000"/>
              </a:lnSpc>
              <a:spcBef>
                <a:spcPts val="1200"/>
              </a:spcBef>
              <a:spcAft>
                <a:spcPts val="0"/>
              </a:spcAft>
              <a:buSzPts val="1400"/>
              <a:buChar char="○"/>
            </a:pPr>
            <a:r>
              <a:rPr b="1" lang="en-GB"/>
              <a:t>Assembly connector:</a:t>
            </a:r>
            <a:r>
              <a:rPr lang="en-GB"/>
              <a:t> Connects a required interface of one component to a provided interface of another.</a:t>
            </a:r>
            <a:endParaRPr/>
          </a:p>
        </p:txBody>
      </p:sp>
      <p:pic>
        <p:nvPicPr>
          <p:cNvPr id="690" name="Google Shape;690;p72"/>
          <p:cNvPicPr preferRelativeResize="0"/>
          <p:nvPr/>
        </p:nvPicPr>
        <p:blipFill rotWithShape="1">
          <a:blip r:embed="rId3">
            <a:alphaModFix/>
          </a:blip>
          <a:srcRect b="0" l="0" r="0" t="0"/>
          <a:stretch/>
        </p:blipFill>
        <p:spPr>
          <a:xfrm>
            <a:off x="2933700" y="281827"/>
            <a:ext cx="2400300" cy="584947"/>
          </a:xfrm>
          <a:prstGeom prst="rect">
            <a:avLst/>
          </a:prstGeom>
          <a:noFill/>
          <a:ln>
            <a:noFill/>
          </a:ln>
        </p:spPr>
      </p:pic>
      <p:pic>
        <p:nvPicPr>
          <p:cNvPr id="691" name="Google Shape;691;p72"/>
          <p:cNvPicPr preferRelativeResize="0"/>
          <p:nvPr/>
        </p:nvPicPr>
        <p:blipFill rotWithShape="1">
          <a:blip r:embed="rId4">
            <a:alphaModFix/>
          </a:blip>
          <a:srcRect b="0" l="0" r="0" t="0"/>
          <a:stretch/>
        </p:blipFill>
        <p:spPr>
          <a:xfrm>
            <a:off x="3164914" y="2886075"/>
            <a:ext cx="3331135" cy="1733550"/>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p7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1400"/>
              <a:buNone/>
            </a:pPr>
            <a:r>
              <a:t/>
            </a:r>
            <a:endParaRPr/>
          </a:p>
        </p:txBody>
      </p:sp>
      <p:sp>
        <p:nvSpPr>
          <p:cNvPr id="697" name="Google Shape;697;p73"/>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317500" lvl="0" marL="457200" rtl="0" algn="l">
              <a:lnSpc>
                <a:spcPct val="90000"/>
              </a:lnSpc>
              <a:spcBef>
                <a:spcPts val="800"/>
              </a:spcBef>
              <a:spcAft>
                <a:spcPts val="0"/>
              </a:spcAft>
              <a:buClr>
                <a:schemeClr val="dk1"/>
              </a:buClr>
              <a:buSzPts val="1400"/>
              <a:buChar char="●"/>
            </a:pPr>
            <a:r>
              <a:rPr b="1" lang="en-GB"/>
              <a:t>Port</a:t>
            </a:r>
            <a:endParaRPr/>
          </a:p>
          <a:p>
            <a:pPr indent="-317500" lvl="0" marL="457200" rtl="0" algn="l">
              <a:lnSpc>
                <a:spcPct val="90000"/>
              </a:lnSpc>
              <a:spcBef>
                <a:spcPts val="800"/>
              </a:spcBef>
              <a:spcAft>
                <a:spcPts val="0"/>
              </a:spcAft>
              <a:buClr>
                <a:schemeClr val="dk1"/>
              </a:buClr>
              <a:buSzPts val="1400"/>
              <a:buChar char="●"/>
            </a:pPr>
            <a:r>
              <a:rPr lang="en-GB"/>
              <a:t>Ports are represented using a square along the edge of the system or a component. A port is often used to help expose required and provided interfaces of a component.</a:t>
            </a:r>
            <a:endParaRPr/>
          </a:p>
          <a:p>
            <a:pPr indent="-228600" lvl="0" marL="457200" rtl="0" algn="l">
              <a:lnSpc>
                <a:spcPct val="90000"/>
              </a:lnSpc>
              <a:spcBef>
                <a:spcPts val="800"/>
              </a:spcBef>
              <a:spcAft>
                <a:spcPts val="0"/>
              </a:spcAft>
              <a:buClr>
                <a:schemeClr val="dk1"/>
              </a:buClr>
              <a:buSzPts val="1400"/>
              <a:buNone/>
            </a:pPr>
            <a:r>
              <a:t/>
            </a:r>
            <a:endParaRPr/>
          </a:p>
        </p:txBody>
      </p:sp>
      <p:pic>
        <p:nvPicPr>
          <p:cNvPr id="698" name="Google Shape;698;p73"/>
          <p:cNvPicPr preferRelativeResize="0"/>
          <p:nvPr/>
        </p:nvPicPr>
        <p:blipFill rotWithShape="1">
          <a:blip r:embed="rId3">
            <a:alphaModFix/>
          </a:blip>
          <a:srcRect b="0" l="0" r="0" t="0"/>
          <a:stretch/>
        </p:blipFill>
        <p:spPr>
          <a:xfrm>
            <a:off x="1847849" y="2914248"/>
            <a:ext cx="3304887" cy="1010052"/>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p74"/>
          <p:cNvSpPr txBox="1"/>
          <p:nvPr>
            <p:ph idx="1" type="body"/>
          </p:nvPr>
        </p:nvSpPr>
        <p:spPr>
          <a:xfrm>
            <a:off x="571500" y="371475"/>
            <a:ext cx="7943850" cy="4261144"/>
          </a:xfrm>
          <a:prstGeom prst="rect">
            <a:avLst/>
          </a:prstGeom>
          <a:noFill/>
          <a:ln>
            <a:noFill/>
          </a:ln>
        </p:spPr>
        <p:txBody>
          <a:bodyPr anchorCtr="0" anchor="t" bIns="34275" lIns="68575" spcFirstLastPara="1" rIns="68575" wrap="square" tIns="34275">
            <a:normAutofit/>
          </a:bodyPr>
          <a:lstStyle/>
          <a:p>
            <a:pPr indent="-317500" lvl="0" marL="457200" rtl="0" algn="l">
              <a:lnSpc>
                <a:spcPct val="90000"/>
              </a:lnSpc>
              <a:spcBef>
                <a:spcPts val="800"/>
              </a:spcBef>
              <a:spcAft>
                <a:spcPts val="0"/>
              </a:spcAft>
              <a:buClr>
                <a:schemeClr val="dk1"/>
              </a:buClr>
              <a:buSzPts val="1400"/>
              <a:buChar char="●"/>
            </a:pPr>
            <a:r>
              <a:rPr lang="en-GB"/>
              <a:t>A component diagram for an online shopping system:</a:t>
            </a:r>
            <a:br>
              <a:rPr lang="en-GB"/>
            </a:br>
            <a:endParaRPr/>
          </a:p>
        </p:txBody>
      </p:sp>
      <p:pic>
        <p:nvPicPr>
          <p:cNvPr descr="UML Component Diagram" id="704" name="Google Shape;704;p74"/>
          <p:cNvPicPr preferRelativeResize="0"/>
          <p:nvPr/>
        </p:nvPicPr>
        <p:blipFill rotWithShape="1">
          <a:blip r:embed="rId3">
            <a:alphaModFix/>
          </a:blip>
          <a:srcRect b="0" l="0" r="0" t="0"/>
          <a:stretch/>
        </p:blipFill>
        <p:spPr>
          <a:xfrm>
            <a:off x="2228849" y="952212"/>
            <a:ext cx="3889375" cy="3238789"/>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8" name="Shape 708"/>
        <p:cNvGrpSpPr/>
        <p:nvPr/>
      </p:nvGrpSpPr>
      <p:grpSpPr>
        <a:xfrm>
          <a:off x="0" y="0"/>
          <a:ext cx="0" cy="0"/>
          <a:chOff x="0" y="0"/>
          <a:chExt cx="0" cy="0"/>
        </a:xfrm>
      </p:grpSpPr>
      <p:sp>
        <p:nvSpPr>
          <p:cNvPr id="709" name="Google Shape;709;p75"/>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1400"/>
              <a:buNone/>
            </a:pPr>
            <a:r>
              <a:rPr lang="en-GB"/>
              <a:t>Deployment diagram</a:t>
            </a:r>
            <a:endParaRPr/>
          </a:p>
        </p:txBody>
      </p:sp>
      <p:sp>
        <p:nvSpPr>
          <p:cNvPr id="710" name="Google Shape;710;p75"/>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317500" lvl="0" marL="457200" rtl="0" algn="l">
              <a:lnSpc>
                <a:spcPct val="90000"/>
              </a:lnSpc>
              <a:spcBef>
                <a:spcPts val="800"/>
              </a:spcBef>
              <a:spcAft>
                <a:spcPts val="0"/>
              </a:spcAft>
              <a:buClr>
                <a:schemeClr val="dk1"/>
              </a:buClr>
              <a:buSzPts val="1400"/>
              <a:buChar char="●"/>
            </a:pPr>
            <a:r>
              <a:rPr lang="en-GB"/>
              <a:t>Deployment diagrams is a kind of structure diagram used in modeling the physical aspects of an object-oriented system. </a:t>
            </a:r>
            <a:endParaRPr/>
          </a:p>
          <a:p>
            <a:pPr indent="-317500" lvl="0" marL="457200" rtl="0" algn="l">
              <a:lnSpc>
                <a:spcPct val="90000"/>
              </a:lnSpc>
              <a:spcBef>
                <a:spcPts val="800"/>
              </a:spcBef>
              <a:spcAft>
                <a:spcPts val="0"/>
              </a:spcAft>
              <a:buClr>
                <a:schemeClr val="dk1"/>
              </a:buClr>
              <a:buSzPts val="1400"/>
              <a:buChar char="●"/>
            </a:pPr>
            <a:r>
              <a:rPr lang="en-GB"/>
              <a:t>They are often be used to model the static deployment view of a system (topology of the hardware).</a:t>
            </a:r>
            <a:endParaRPr/>
          </a:p>
          <a:p>
            <a:pPr indent="-317500" lvl="0" marL="457200" rtl="0" algn="l">
              <a:lnSpc>
                <a:spcPct val="90000"/>
              </a:lnSpc>
              <a:spcBef>
                <a:spcPts val="800"/>
              </a:spcBef>
              <a:spcAft>
                <a:spcPts val="0"/>
              </a:spcAft>
              <a:buClr>
                <a:schemeClr val="dk1"/>
              </a:buClr>
              <a:buSzPts val="1400"/>
              <a:buChar char="●"/>
            </a:pPr>
            <a:r>
              <a:rPr lang="en-GB"/>
              <a:t>A Deployment Diagram illustrates how software architecture, designed on a conceptual level, translates into the physical system architecture where the software will run as nodes</a:t>
            </a:r>
            <a:r>
              <a:rPr b="1" lang="en-GB"/>
              <a:t>.</a:t>
            </a:r>
            <a:r>
              <a:rPr lang="en-GB"/>
              <a:t> </a:t>
            </a:r>
            <a:endParaRPr/>
          </a:p>
          <a:p>
            <a:pPr indent="-317500" lvl="0" marL="457200" rtl="0" algn="l">
              <a:lnSpc>
                <a:spcPct val="90000"/>
              </a:lnSpc>
              <a:spcBef>
                <a:spcPts val="800"/>
              </a:spcBef>
              <a:spcAft>
                <a:spcPts val="0"/>
              </a:spcAft>
              <a:buClr>
                <a:schemeClr val="dk1"/>
              </a:buClr>
              <a:buSzPts val="1400"/>
              <a:buChar char="●"/>
            </a:pPr>
            <a:r>
              <a:rPr lang="en-GB"/>
              <a:t>It maps out the deployment of software components onto hardware nodes and depicts their relationships through communication paths, enabling a visual representation of the software’s execution environment across multiple nodes.</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p76"/>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1400"/>
              <a:buNone/>
            </a:pPr>
            <a:r>
              <a:rPr b="1" lang="en-GB"/>
              <a:t>Key elements of a Deployment Diagram</a:t>
            </a:r>
            <a:endParaRPr/>
          </a:p>
        </p:txBody>
      </p:sp>
      <p:sp>
        <p:nvSpPr>
          <p:cNvPr id="716" name="Google Shape;716;p76"/>
          <p:cNvSpPr txBox="1"/>
          <p:nvPr>
            <p:ph idx="1" type="body"/>
          </p:nvPr>
        </p:nvSpPr>
        <p:spPr>
          <a:xfrm>
            <a:off x="666750" y="1123950"/>
            <a:ext cx="7943850" cy="3752850"/>
          </a:xfrm>
          <a:prstGeom prst="rect">
            <a:avLst/>
          </a:prstGeom>
          <a:noFill/>
          <a:ln>
            <a:noFill/>
          </a:ln>
        </p:spPr>
        <p:txBody>
          <a:bodyPr anchorCtr="0" anchor="t" bIns="34275" lIns="68575" spcFirstLastPara="1" rIns="68575" wrap="square" tIns="34275">
            <a:normAutofit fontScale="55000" lnSpcReduction="20000"/>
          </a:bodyPr>
          <a:lstStyle/>
          <a:p>
            <a:pPr indent="0" lvl="0" marL="139700" rtl="0" algn="l">
              <a:lnSpc>
                <a:spcPct val="90000"/>
              </a:lnSpc>
              <a:spcBef>
                <a:spcPts val="800"/>
              </a:spcBef>
              <a:spcAft>
                <a:spcPts val="0"/>
              </a:spcAft>
              <a:buSzPct val="141414"/>
              <a:buNone/>
            </a:pPr>
            <a:r>
              <a:rPr b="1" lang="en-GB"/>
              <a:t>1. Nodes</a:t>
            </a:r>
            <a:endParaRPr/>
          </a:p>
          <a:p>
            <a:pPr indent="0" lvl="0" marL="139700" rtl="0" algn="l">
              <a:lnSpc>
                <a:spcPct val="90000"/>
              </a:lnSpc>
              <a:spcBef>
                <a:spcPts val="800"/>
              </a:spcBef>
              <a:spcAft>
                <a:spcPts val="0"/>
              </a:spcAft>
              <a:buSzPct val="141414"/>
              <a:buNone/>
            </a:pPr>
            <a:r>
              <a:rPr lang="en-GB"/>
              <a:t>These represent the physical hardware entities where software components are deployed, such as servers, workstations, routers, etc.</a:t>
            </a:r>
            <a:endParaRPr/>
          </a:p>
          <a:p>
            <a:pPr indent="0" lvl="0" marL="139700" rtl="0" algn="l">
              <a:lnSpc>
                <a:spcPct val="90000"/>
              </a:lnSpc>
              <a:spcBef>
                <a:spcPts val="800"/>
              </a:spcBef>
              <a:spcAft>
                <a:spcPts val="0"/>
              </a:spcAft>
              <a:buSzPct val="141414"/>
              <a:buNone/>
            </a:pPr>
            <a:r>
              <a:rPr b="1" lang="en-GB"/>
              <a:t>2. Components</a:t>
            </a:r>
            <a:endParaRPr/>
          </a:p>
          <a:p>
            <a:pPr indent="0" lvl="0" marL="139700" rtl="0" algn="l">
              <a:lnSpc>
                <a:spcPct val="90000"/>
              </a:lnSpc>
              <a:spcBef>
                <a:spcPts val="800"/>
              </a:spcBef>
              <a:spcAft>
                <a:spcPts val="0"/>
              </a:spcAft>
              <a:buSzPct val="141414"/>
              <a:buNone/>
            </a:pPr>
            <a:r>
              <a:rPr lang="en-GB"/>
              <a:t>Represent software modules or artifacts that are deployed onto nodes, including executable files, libraries, databases, and configuration files.</a:t>
            </a:r>
            <a:endParaRPr/>
          </a:p>
          <a:p>
            <a:pPr indent="0" lvl="0" marL="139700" rtl="0" algn="l">
              <a:lnSpc>
                <a:spcPct val="90000"/>
              </a:lnSpc>
              <a:spcBef>
                <a:spcPts val="800"/>
              </a:spcBef>
              <a:spcAft>
                <a:spcPts val="0"/>
              </a:spcAft>
              <a:buSzPct val="141414"/>
              <a:buNone/>
            </a:pPr>
            <a:r>
              <a:rPr b="1" lang="en-GB"/>
              <a:t>3. Artifacts</a:t>
            </a:r>
            <a:endParaRPr/>
          </a:p>
          <a:p>
            <a:pPr indent="0" lvl="0" marL="139700" rtl="0" algn="l">
              <a:lnSpc>
                <a:spcPct val="90000"/>
              </a:lnSpc>
              <a:spcBef>
                <a:spcPts val="800"/>
              </a:spcBef>
              <a:spcAft>
                <a:spcPts val="0"/>
              </a:spcAft>
              <a:buSzPct val="141414"/>
              <a:buNone/>
            </a:pPr>
            <a:r>
              <a:rPr lang="en-GB"/>
              <a:t>Physical files deployed onto nodes, embodying the actual implementation of software components, such as executables, scripts, databases, etc.</a:t>
            </a:r>
            <a:endParaRPr/>
          </a:p>
          <a:p>
            <a:pPr indent="0" lvl="0" marL="139700" rtl="0" algn="l">
              <a:lnSpc>
                <a:spcPct val="90000"/>
              </a:lnSpc>
              <a:spcBef>
                <a:spcPts val="800"/>
              </a:spcBef>
              <a:spcAft>
                <a:spcPts val="0"/>
              </a:spcAft>
              <a:buSzPct val="141414"/>
              <a:buNone/>
            </a:pPr>
            <a:r>
              <a:rPr b="1" lang="en-GB"/>
              <a:t>4. Dependencies</a:t>
            </a:r>
            <a:endParaRPr/>
          </a:p>
          <a:p>
            <a:pPr indent="0" lvl="0" marL="139700" rtl="0" algn="l">
              <a:lnSpc>
                <a:spcPct val="90000"/>
              </a:lnSpc>
              <a:spcBef>
                <a:spcPts val="800"/>
              </a:spcBef>
              <a:spcAft>
                <a:spcPts val="0"/>
              </a:spcAft>
              <a:buSzPct val="141414"/>
              <a:buNone/>
            </a:pPr>
            <a:r>
              <a:rPr lang="en-GB"/>
              <a:t>Reflect relationships or connections between nodes and components, indicating communication paths, deployment constraints, or other dependencies.</a:t>
            </a:r>
            <a:endParaRPr/>
          </a:p>
          <a:p>
            <a:pPr indent="0" lvl="0" marL="139700" rtl="0" algn="l">
              <a:lnSpc>
                <a:spcPct val="90000"/>
              </a:lnSpc>
              <a:spcBef>
                <a:spcPts val="800"/>
              </a:spcBef>
              <a:spcAft>
                <a:spcPts val="0"/>
              </a:spcAft>
              <a:buSzPct val="141414"/>
              <a:buNone/>
            </a:pPr>
            <a:r>
              <a:rPr b="1" lang="en-GB"/>
              <a:t>5. Associations</a:t>
            </a:r>
            <a:endParaRPr/>
          </a:p>
          <a:p>
            <a:pPr indent="0" lvl="0" marL="139700" rtl="0" algn="l">
              <a:lnSpc>
                <a:spcPct val="90000"/>
              </a:lnSpc>
              <a:spcBef>
                <a:spcPts val="800"/>
              </a:spcBef>
              <a:spcAft>
                <a:spcPts val="0"/>
              </a:spcAft>
              <a:buSzPct val="141414"/>
              <a:buNone/>
            </a:pPr>
            <a:r>
              <a:rPr lang="en-GB"/>
              <a:t>Show relationships between nodes and components, signifying that a component is deployed on a particular node, thus mapping software components to physical nodes.</a:t>
            </a:r>
            <a:endParaRPr/>
          </a:p>
          <a:p>
            <a:pPr indent="0" lvl="0" marL="139700" rtl="0" algn="l">
              <a:lnSpc>
                <a:spcPct val="90000"/>
              </a:lnSpc>
              <a:spcBef>
                <a:spcPts val="800"/>
              </a:spcBef>
              <a:spcAft>
                <a:spcPts val="0"/>
              </a:spcAft>
              <a:buSzPct val="141414"/>
              <a:buNone/>
            </a:pPr>
            <a:r>
              <a:rPr b="1" lang="en-GB"/>
              <a:t>6. Deployment Specification</a:t>
            </a:r>
            <a:endParaRPr/>
          </a:p>
          <a:p>
            <a:pPr indent="0" lvl="0" marL="139700" rtl="0" algn="l">
              <a:lnSpc>
                <a:spcPct val="90000"/>
              </a:lnSpc>
              <a:spcBef>
                <a:spcPts val="800"/>
              </a:spcBef>
              <a:spcAft>
                <a:spcPts val="0"/>
              </a:spcAft>
              <a:buSzPct val="141414"/>
              <a:buNone/>
            </a:pPr>
            <a:r>
              <a:rPr lang="en-GB"/>
              <a:t>Describes the configuration and properties of nodes and components, encompassing hardware specifications, software configurations, communication protocols, etc.</a:t>
            </a:r>
            <a:endParaRPr/>
          </a:p>
          <a:p>
            <a:pPr indent="0" lvl="0" marL="139700" rtl="0" algn="l">
              <a:lnSpc>
                <a:spcPct val="90000"/>
              </a:lnSpc>
              <a:spcBef>
                <a:spcPts val="800"/>
              </a:spcBef>
              <a:spcAft>
                <a:spcPts val="0"/>
              </a:spcAft>
              <a:buSzPct val="141414"/>
              <a:buNone/>
            </a:pPr>
            <a:r>
              <a:rPr b="1" lang="en-GB"/>
              <a:t>7. Communication Paths</a:t>
            </a:r>
            <a:endParaRPr/>
          </a:p>
          <a:p>
            <a:pPr indent="0" lvl="0" marL="139700" rtl="0" algn="l">
              <a:lnSpc>
                <a:spcPct val="90000"/>
              </a:lnSpc>
              <a:spcBef>
                <a:spcPts val="800"/>
              </a:spcBef>
              <a:spcAft>
                <a:spcPts val="0"/>
              </a:spcAft>
              <a:buSzPct val="141414"/>
              <a:buNone/>
            </a:pPr>
            <a:r>
              <a:rPr lang="en-GB"/>
              <a:t>Represent channels or connections facilitating communication between nodes and components, including network connections, communication protocols, etc.</a:t>
            </a:r>
            <a:endParaRPr/>
          </a:p>
          <a:p>
            <a:pPr indent="0" lvl="0" marL="139700" rtl="0" algn="l">
              <a:lnSpc>
                <a:spcPct val="90000"/>
              </a:lnSpc>
              <a:spcBef>
                <a:spcPts val="800"/>
              </a:spcBef>
              <a:spcAft>
                <a:spcPts val="0"/>
              </a:spcAft>
              <a:buSzPct val="141414"/>
              <a:buNone/>
            </a:pPr>
            <a:r>
              <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0" name="Shape 720"/>
        <p:cNvGrpSpPr/>
        <p:nvPr/>
      </p:nvGrpSpPr>
      <p:grpSpPr>
        <a:xfrm>
          <a:off x="0" y="0"/>
          <a:ext cx="0" cy="0"/>
          <a:chOff x="0" y="0"/>
          <a:chExt cx="0" cy="0"/>
        </a:xfrm>
      </p:grpSpPr>
      <p:sp>
        <p:nvSpPr>
          <p:cNvPr id="721" name="Google Shape;721;p77"/>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chemeClr val="dk1"/>
              </a:buClr>
              <a:buSzPts val="1400"/>
              <a:buNone/>
            </a:pPr>
            <a:r>
              <a:rPr lang="en-GB"/>
              <a:t>Notations </a:t>
            </a:r>
            <a:endParaRPr/>
          </a:p>
        </p:txBody>
      </p:sp>
      <p:sp>
        <p:nvSpPr>
          <p:cNvPr id="722" name="Google Shape;722;p77"/>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p>
            <a:pPr indent="-317500" lvl="0" marL="457200" rtl="0" algn="l">
              <a:lnSpc>
                <a:spcPct val="90000"/>
              </a:lnSpc>
              <a:spcBef>
                <a:spcPts val="800"/>
              </a:spcBef>
              <a:spcAft>
                <a:spcPts val="0"/>
              </a:spcAft>
              <a:buClr>
                <a:schemeClr val="dk1"/>
              </a:buClr>
              <a:buSzPts val="1400"/>
              <a:buChar char="●"/>
            </a:pPr>
            <a:r>
              <a:rPr b="1" lang="en-GB"/>
              <a:t>Component</a:t>
            </a:r>
            <a:endParaRPr/>
          </a:p>
          <a:p>
            <a:pPr indent="-317500" lvl="0" marL="457200" rtl="0" algn="l">
              <a:lnSpc>
                <a:spcPct val="90000"/>
              </a:lnSpc>
              <a:spcBef>
                <a:spcPts val="800"/>
              </a:spcBef>
              <a:spcAft>
                <a:spcPts val="0"/>
              </a:spcAft>
              <a:buClr>
                <a:schemeClr val="dk1"/>
              </a:buClr>
              <a:buSzPts val="1400"/>
              <a:buChar char="●"/>
            </a:pPr>
            <a:r>
              <a:rPr b="1" lang="en-GB"/>
              <a:t>Artifact</a:t>
            </a:r>
            <a:endParaRPr/>
          </a:p>
          <a:p>
            <a:pPr indent="-317500" lvl="0" marL="457200" rtl="0" algn="l">
              <a:lnSpc>
                <a:spcPct val="90000"/>
              </a:lnSpc>
              <a:spcBef>
                <a:spcPts val="800"/>
              </a:spcBef>
              <a:spcAft>
                <a:spcPts val="0"/>
              </a:spcAft>
              <a:buClr>
                <a:schemeClr val="dk1"/>
              </a:buClr>
              <a:buSzPts val="1400"/>
              <a:buChar char="●"/>
            </a:pPr>
            <a:r>
              <a:rPr b="1" lang="en-GB"/>
              <a:t>Interface</a:t>
            </a:r>
            <a:endParaRPr/>
          </a:p>
          <a:p>
            <a:pPr indent="-317500" lvl="0" marL="457200" rtl="0" algn="l">
              <a:lnSpc>
                <a:spcPct val="90000"/>
              </a:lnSpc>
              <a:spcBef>
                <a:spcPts val="800"/>
              </a:spcBef>
              <a:spcAft>
                <a:spcPts val="0"/>
              </a:spcAft>
              <a:buClr>
                <a:schemeClr val="dk1"/>
              </a:buClr>
              <a:buSzPts val="1400"/>
              <a:buChar char="●"/>
            </a:pPr>
            <a:r>
              <a:rPr b="1" lang="en-GB"/>
              <a:t>Nodes</a:t>
            </a:r>
            <a:endParaRPr/>
          </a:p>
          <a:p>
            <a:pPr indent="-317500" lvl="0" marL="457200" rtl="0" algn="l">
              <a:lnSpc>
                <a:spcPct val="90000"/>
              </a:lnSpc>
              <a:spcBef>
                <a:spcPts val="800"/>
              </a:spcBef>
              <a:spcAft>
                <a:spcPts val="0"/>
              </a:spcAft>
              <a:buClr>
                <a:schemeClr val="dk1"/>
              </a:buClr>
              <a:buSzPts val="1400"/>
              <a:buChar char="●"/>
            </a:pPr>
            <a:r>
              <a:rPr b="1" lang="en-GB"/>
              <a:t>Communication path </a:t>
            </a:r>
            <a:endParaRPr/>
          </a:p>
          <a:p>
            <a:pPr indent="0" lvl="0" marL="139700" rtl="0" algn="l">
              <a:lnSpc>
                <a:spcPct val="90000"/>
              </a:lnSpc>
              <a:spcBef>
                <a:spcPts val="800"/>
              </a:spcBef>
              <a:spcAft>
                <a:spcPts val="0"/>
              </a:spcAft>
              <a:buSzPts val="1400"/>
              <a:buNone/>
            </a:pPr>
            <a:r>
              <a:t/>
            </a:r>
            <a:endParaRPr sz="1600"/>
          </a:p>
          <a:p>
            <a:pPr indent="0" lvl="0" marL="139700" rtl="0" algn="l">
              <a:lnSpc>
                <a:spcPct val="90000"/>
              </a:lnSpc>
              <a:spcBef>
                <a:spcPts val="800"/>
              </a:spcBef>
              <a:spcAft>
                <a:spcPts val="0"/>
              </a:spcAft>
              <a:buSzPts val="1400"/>
              <a:buNone/>
            </a:pPr>
            <a:r>
              <a:rPr lang="en-GB" sz="1600"/>
              <a:t>A straight line that represents communication between two device nodes. Dashed lines in deployment diagrams often signify relationships or dependencies between elements, indicating that one element is related to or dependent on another.</a:t>
            </a:r>
            <a:endParaRPr b="1" sz="1600"/>
          </a:p>
          <a:p>
            <a:pPr indent="-228600" lvl="0" marL="457200" rtl="0" algn="l">
              <a:lnSpc>
                <a:spcPct val="90000"/>
              </a:lnSpc>
              <a:spcBef>
                <a:spcPts val="800"/>
              </a:spcBef>
              <a:spcAft>
                <a:spcPts val="0"/>
              </a:spcAft>
              <a:buClr>
                <a:schemeClr val="dk1"/>
              </a:buClr>
              <a:buSzPts val="1400"/>
              <a:buNone/>
            </a:pPr>
            <a:r>
              <a:t/>
            </a:r>
            <a:endParaRPr b="1" sz="1600"/>
          </a:p>
          <a:p>
            <a:pPr indent="0" lvl="0" marL="139700" rtl="0" algn="l">
              <a:lnSpc>
                <a:spcPct val="90000"/>
              </a:lnSpc>
              <a:spcBef>
                <a:spcPts val="800"/>
              </a:spcBef>
              <a:spcAft>
                <a:spcPts val="0"/>
              </a:spcAft>
              <a:buSzPts val="1400"/>
              <a:buNone/>
            </a:pPr>
            <a:r>
              <a:t/>
            </a:r>
            <a:endParaRPr b="1"/>
          </a:p>
          <a:p>
            <a:pPr indent="-228600" lvl="0" marL="457200" rtl="0" algn="l">
              <a:lnSpc>
                <a:spcPct val="90000"/>
              </a:lnSpc>
              <a:spcBef>
                <a:spcPts val="800"/>
              </a:spcBef>
              <a:spcAft>
                <a:spcPts val="0"/>
              </a:spcAft>
              <a:buClr>
                <a:schemeClr val="dk1"/>
              </a:buClr>
              <a:buSzPts val="1400"/>
              <a:buNone/>
            </a:pPr>
            <a:r>
              <a:t/>
            </a:r>
            <a:endParaRPr/>
          </a:p>
        </p:txBody>
      </p:sp>
      <p:pic>
        <p:nvPicPr>
          <p:cNvPr id="723" name="Google Shape;723;p77"/>
          <p:cNvPicPr preferRelativeResize="0"/>
          <p:nvPr/>
        </p:nvPicPr>
        <p:blipFill rotWithShape="1">
          <a:blip r:embed="rId3">
            <a:alphaModFix/>
          </a:blip>
          <a:srcRect b="0" l="0" r="0" t="0"/>
          <a:stretch/>
        </p:blipFill>
        <p:spPr>
          <a:xfrm>
            <a:off x="2876550" y="1109662"/>
            <a:ext cx="1066800" cy="1390650"/>
          </a:xfrm>
          <a:prstGeom prst="rect">
            <a:avLst/>
          </a:prstGeom>
          <a:noFill/>
          <a:ln>
            <a:noFill/>
          </a:ln>
        </p:spPr>
      </p:pic>
      <p:pic>
        <p:nvPicPr>
          <p:cNvPr id="724" name="Google Shape;724;p77"/>
          <p:cNvPicPr preferRelativeResize="0"/>
          <p:nvPr/>
        </p:nvPicPr>
        <p:blipFill rotWithShape="1">
          <a:blip r:embed="rId4">
            <a:alphaModFix/>
          </a:blip>
          <a:srcRect b="0" l="0" r="0" t="0"/>
          <a:stretch/>
        </p:blipFill>
        <p:spPr>
          <a:xfrm>
            <a:off x="4014788" y="1176337"/>
            <a:ext cx="923925" cy="1219200"/>
          </a:xfrm>
          <a:prstGeom prst="rect">
            <a:avLst/>
          </a:prstGeom>
          <a:noFill/>
          <a:ln>
            <a:noFill/>
          </a:ln>
        </p:spPr>
      </p:pic>
      <p:pic>
        <p:nvPicPr>
          <p:cNvPr id="725" name="Google Shape;725;p77"/>
          <p:cNvPicPr preferRelativeResize="0"/>
          <p:nvPr/>
        </p:nvPicPr>
        <p:blipFill rotWithShape="1">
          <a:blip r:embed="rId5">
            <a:alphaModFix/>
          </a:blip>
          <a:srcRect b="0" l="0" r="0" t="0"/>
          <a:stretch/>
        </p:blipFill>
        <p:spPr>
          <a:xfrm>
            <a:off x="5091113" y="1133473"/>
            <a:ext cx="1000125" cy="1228725"/>
          </a:xfrm>
          <a:prstGeom prst="rect">
            <a:avLst/>
          </a:prstGeom>
          <a:noFill/>
          <a:ln>
            <a:noFill/>
          </a:ln>
        </p:spPr>
      </p:pic>
      <p:pic>
        <p:nvPicPr>
          <p:cNvPr id="726" name="Google Shape;726;p77"/>
          <p:cNvPicPr preferRelativeResize="0"/>
          <p:nvPr/>
        </p:nvPicPr>
        <p:blipFill rotWithShape="1">
          <a:blip r:embed="rId6">
            <a:alphaModFix/>
          </a:blip>
          <a:srcRect b="0" l="0" r="0" t="0"/>
          <a:stretch/>
        </p:blipFill>
        <p:spPr>
          <a:xfrm>
            <a:off x="6372225" y="1019173"/>
            <a:ext cx="962025" cy="1343025"/>
          </a:xfrm>
          <a:prstGeom prst="rect">
            <a:avLst/>
          </a:prstGeom>
          <a:noFill/>
          <a:ln>
            <a:noFill/>
          </a:ln>
        </p:spPr>
      </p:pic>
      <p:pic>
        <p:nvPicPr>
          <p:cNvPr id="727" name="Google Shape;727;p77"/>
          <p:cNvPicPr preferRelativeResize="0"/>
          <p:nvPr/>
        </p:nvPicPr>
        <p:blipFill rotWithShape="1">
          <a:blip r:embed="rId7">
            <a:alphaModFix/>
          </a:blip>
          <a:srcRect b="0" l="0" r="0" t="0"/>
          <a:stretch/>
        </p:blipFill>
        <p:spPr>
          <a:xfrm>
            <a:off x="5705475" y="2352672"/>
            <a:ext cx="1899563" cy="114299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kjscecomp</dc:creator>
</cp:coreProperties>
</file>
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2" roundtripDataSignature="AMtx7mgX5mwNJXqtRlGnp93YAkcUJspsu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32"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 name="Shape 23"/>
        <p:cNvGrpSpPr/>
        <p:nvPr/>
      </p:nvGrpSpPr>
      <p:grpSpPr>
        <a:xfrm>
          <a:off x="0" y="0"/>
          <a:ext cx="0" cy="0"/>
          <a:chOff x="0" y="0"/>
          <a:chExt cx="0" cy="0"/>
        </a:xfrm>
      </p:grpSpPr>
      <p:sp>
        <p:nvSpPr>
          <p:cNvPr id="24" name="Google Shape;24;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3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3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1" name="Google Shape;31;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3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3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8" name="Google Shape;38;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3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4" name="Google Shape;44;p3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5" name="Google Shape;45;p3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6" name="Google Shape;46;p3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7" name="Google Shape;47;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7"/>
          <p:cNvSpPr/>
          <p:nvPr>
            <p:ph idx="2" type="pic"/>
          </p:nvPr>
        </p:nvSpPr>
        <p:spPr>
          <a:xfrm>
            <a:off x="1792288" y="612775"/>
            <a:ext cx="5486400" cy="4114800"/>
          </a:xfrm>
          <a:prstGeom prst="rect">
            <a:avLst/>
          </a:prstGeom>
          <a:noFill/>
          <a:ln>
            <a:noFill/>
          </a:ln>
        </p:spPr>
      </p:sp>
      <p:sp>
        <p:nvSpPr>
          <p:cNvPr id="64" name="Google Shape;64;p3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5.jp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Module 1.2</a:t>
            </a:r>
            <a:endParaRPr/>
          </a:p>
        </p:txBody>
      </p:sp>
      <p:sp>
        <p:nvSpPr>
          <p:cNvPr id="85" name="Google Shape;85;p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888888"/>
              </a:buClr>
              <a:buSzPts val="3200"/>
              <a:buNone/>
            </a:pPr>
            <a:r>
              <a:rPr lang="en-US"/>
              <a:t>Software Process</a:t>
            </a:r>
            <a:endParaRPr/>
          </a:p>
        </p:txBody>
      </p:sp>
      <p:sp>
        <p:nvSpPr>
          <p:cNvPr id="86" name="Google Shape;86;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29-Jul-24</a:t>
            </a:r>
            <a:endParaRPr/>
          </a:p>
        </p:txBody>
      </p:sp>
      <p:sp>
        <p:nvSpPr>
          <p:cNvPr id="87" name="Google Shape;87;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2"/>
          <p:cNvSpPr txBox="1"/>
          <p:nvPr>
            <p:ph idx="4294967295" type="ftr"/>
          </p:nvPr>
        </p:nvSpPr>
        <p:spPr>
          <a:xfrm>
            <a:off x="4145947" y="6420407"/>
            <a:ext cx="829913" cy="487313"/>
          </a:xfrm>
          <a:prstGeom prst="rect">
            <a:avLst/>
          </a:prstGeom>
          <a:noFill/>
          <a:ln>
            <a:noFill/>
          </a:ln>
        </p:spPr>
        <p:txBody>
          <a:bodyPr anchorCtr="0" anchor="ctr" bIns="0" lIns="0" spcFirstLastPara="1" rIns="0" wrap="square" tIns="0">
            <a:spAutoFit/>
          </a:bodyPr>
          <a:lstStyle/>
          <a:p>
            <a:pPr indent="0" lvl="0" marL="43180" rtl="0" algn="ctr">
              <a:lnSpc>
                <a:spcPct val="155333"/>
              </a:lnSpc>
              <a:spcBef>
                <a:spcPts val="0"/>
              </a:spcBef>
              <a:spcAft>
                <a:spcPts val="0"/>
              </a:spcAft>
              <a:buNone/>
            </a:pPr>
            <a:r>
              <a:rPr lang="en-US"/>
              <a:t>MODULE 1</a:t>
            </a:r>
            <a:endParaRPr/>
          </a:p>
        </p:txBody>
      </p:sp>
      <p:sp>
        <p:nvSpPr>
          <p:cNvPr id="93" name="Google Shape;93;p2"/>
          <p:cNvSpPr txBox="1"/>
          <p:nvPr>
            <p:ph idx="4294967295" type="sldNum"/>
          </p:nvPr>
        </p:nvSpPr>
        <p:spPr>
          <a:xfrm>
            <a:off x="8164259" y="6420407"/>
            <a:ext cx="320802" cy="252095"/>
          </a:xfrm>
          <a:prstGeom prst="rect">
            <a:avLst/>
          </a:prstGeom>
          <a:noFill/>
          <a:ln>
            <a:noFill/>
          </a:ln>
        </p:spPr>
        <p:txBody>
          <a:bodyPr anchorCtr="0" anchor="ctr" bIns="0" lIns="0" spcFirstLastPara="1" rIns="0" wrap="square" tIns="0">
            <a:spAutoFit/>
          </a:bodyPr>
          <a:lstStyle/>
          <a:p>
            <a:pPr indent="0" lvl="0" marL="150495" rtl="0" algn="r">
              <a:lnSpc>
                <a:spcPct val="155333"/>
              </a:lnSpc>
              <a:spcBef>
                <a:spcPts val="0"/>
              </a:spcBef>
              <a:spcAft>
                <a:spcPts val="0"/>
              </a:spcAft>
              <a:buNone/>
            </a:pPr>
            <a:fld id="{00000000-1234-1234-1234-123412341234}" type="slidenum">
              <a:rPr lang="en-US"/>
              <a:t>‹#›</a:t>
            </a:fld>
            <a:endParaRPr/>
          </a:p>
        </p:txBody>
      </p:sp>
      <p:sp>
        <p:nvSpPr>
          <p:cNvPr id="94" name="Google Shape;94;p2"/>
          <p:cNvSpPr txBox="1"/>
          <p:nvPr>
            <p:ph type="title"/>
          </p:nvPr>
        </p:nvSpPr>
        <p:spPr>
          <a:xfrm>
            <a:off x="688620" y="219685"/>
            <a:ext cx="8455380" cy="628377"/>
          </a:xfrm>
          <a:prstGeom prst="rect">
            <a:avLst/>
          </a:prstGeom>
          <a:noFill/>
          <a:ln>
            <a:noFill/>
          </a:ln>
        </p:spPr>
        <p:txBody>
          <a:bodyPr anchorCtr="0" anchor="ctr" bIns="0" lIns="0" spcFirstLastPara="1" rIns="0" wrap="square" tIns="12700">
            <a:spAutoFit/>
          </a:bodyPr>
          <a:lstStyle/>
          <a:p>
            <a:pPr indent="0" lvl="0" marL="12700" rtl="0" algn="ctr">
              <a:lnSpc>
                <a:spcPct val="100000"/>
              </a:lnSpc>
              <a:spcBef>
                <a:spcPts val="0"/>
              </a:spcBef>
              <a:spcAft>
                <a:spcPts val="0"/>
              </a:spcAft>
              <a:buClr>
                <a:schemeClr val="dk1"/>
              </a:buClr>
              <a:buSzPts val="4000"/>
              <a:buFont typeface="Calibri"/>
              <a:buNone/>
            </a:pPr>
            <a:r>
              <a:rPr lang="en-US" sz="4000"/>
              <a:t>Steps involved in Software Development</a:t>
            </a:r>
            <a:endParaRPr sz="4000"/>
          </a:p>
        </p:txBody>
      </p:sp>
      <p:sp>
        <p:nvSpPr>
          <p:cNvPr id="95" name="Google Shape;95;p2"/>
          <p:cNvSpPr txBox="1"/>
          <p:nvPr/>
        </p:nvSpPr>
        <p:spPr>
          <a:xfrm>
            <a:off x="1066800" y="1229107"/>
            <a:ext cx="7516368" cy="4943020"/>
          </a:xfrm>
          <a:prstGeom prst="rect">
            <a:avLst/>
          </a:prstGeom>
          <a:noFill/>
          <a:ln>
            <a:noFill/>
          </a:ln>
        </p:spPr>
        <p:txBody>
          <a:bodyPr anchorCtr="0" anchor="t" bIns="0" lIns="0" spcFirstLastPara="1" rIns="0" wrap="square" tIns="13325">
            <a:spAutoFit/>
          </a:bodyPr>
          <a:lstStyle/>
          <a:p>
            <a:pPr indent="-514983" lvl="0" marL="527685" marR="0" rtl="0" algn="l">
              <a:lnSpc>
                <a:spcPct val="100000"/>
              </a:lnSpc>
              <a:spcBef>
                <a:spcPts val="0"/>
              </a:spcBef>
              <a:spcAft>
                <a:spcPts val="0"/>
              </a:spcAft>
              <a:buClr>
                <a:schemeClr val="dk1"/>
              </a:buClr>
              <a:buSzPts val="2600"/>
              <a:buFont typeface="Arial"/>
              <a:buAutoNum type="arabicPeriod"/>
            </a:pPr>
            <a:r>
              <a:rPr b="0" i="0" lang="en-US" sz="2600" u="none" cap="none" strike="noStrike">
                <a:solidFill>
                  <a:schemeClr val="dk1"/>
                </a:solidFill>
                <a:latin typeface="Arial"/>
                <a:ea typeface="Arial"/>
                <a:cs typeface="Arial"/>
                <a:sym typeface="Arial"/>
              </a:rPr>
              <a:t>Identification of Problem</a:t>
            </a:r>
            <a:endParaRPr b="0" i="0" sz="2600" u="none" cap="none" strike="noStrike">
              <a:solidFill>
                <a:schemeClr val="dk1"/>
              </a:solidFill>
              <a:latin typeface="Arial"/>
              <a:ea typeface="Arial"/>
              <a:cs typeface="Arial"/>
              <a:sym typeface="Arial"/>
            </a:endParaRPr>
          </a:p>
          <a:p>
            <a:pPr indent="-514983" lvl="0" marL="527685" marR="0" rtl="0" algn="l">
              <a:lnSpc>
                <a:spcPct val="100000"/>
              </a:lnSpc>
              <a:spcBef>
                <a:spcPts val="55"/>
              </a:spcBef>
              <a:spcAft>
                <a:spcPts val="0"/>
              </a:spcAft>
              <a:buClr>
                <a:schemeClr val="dk1"/>
              </a:buClr>
              <a:buSzPts val="2600"/>
              <a:buFont typeface="Arial"/>
              <a:buAutoNum type="arabicPeriod"/>
            </a:pPr>
            <a:r>
              <a:rPr b="0" i="0" lang="en-US" sz="2600" u="none" cap="none" strike="noStrike">
                <a:solidFill>
                  <a:schemeClr val="dk1"/>
                </a:solidFill>
                <a:latin typeface="Arial"/>
                <a:ea typeface="Arial"/>
                <a:cs typeface="Arial"/>
                <a:sym typeface="Arial"/>
              </a:rPr>
              <a:t>Problem Definition</a:t>
            </a:r>
            <a:endParaRPr b="0" i="0" sz="2600" u="none" cap="none" strike="noStrike">
              <a:solidFill>
                <a:schemeClr val="dk1"/>
              </a:solidFill>
              <a:latin typeface="Arial"/>
              <a:ea typeface="Arial"/>
              <a:cs typeface="Arial"/>
              <a:sym typeface="Arial"/>
            </a:endParaRPr>
          </a:p>
          <a:p>
            <a:pPr indent="-456565" lvl="0" marL="469265" marR="0" rtl="0" algn="l">
              <a:lnSpc>
                <a:spcPct val="100000"/>
              </a:lnSpc>
              <a:spcBef>
                <a:spcPts val="65"/>
              </a:spcBef>
              <a:spcAft>
                <a:spcPts val="0"/>
              </a:spcAft>
              <a:buClr>
                <a:schemeClr val="dk1"/>
              </a:buClr>
              <a:buSzPts val="2600"/>
              <a:buFont typeface="Arial"/>
              <a:buAutoNum type="arabicPeriod"/>
            </a:pPr>
            <a:r>
              <a:rPr b="0" i="0" lang="en-US" sz="2600" u="none" cap="none" strike="noStrike">
                <a:solidFill>
                  <a:schemeClr val="dk1"/>
                </a:solidFill>
                <a:latin typeface="Arial"/>
                <a:ea typeface="Arial"/>
                <a:cs typeface="Arial"/>
                <a:sym typeface="Arial"/>
              </a:rPr>
              <a:t>Exploring approach(s) to solve the problem</a:t>
            </a:r>
            <a:endParaRPr b="0" i="0" sz="2600" u="none" cap="none" strike="noStrike">
              <a:solidFill>
                <a:schemeClr val="dk1"/>
              </a:solidFill>
              <a:latin typeface="Arial"/>
              <a:ea typeface="Arial"/>
              <a:cs typeface="Arial"/>
              <a:sym typeface="Arial"/>
            </a:endParaRPr>
          </a:p>
          <a:p>
            <a:pPr indent="-456565" lvl="0" marL="469265" marR="0" rtl="0" algn="l">
              <a:lnSpc>
                <a:spcPct val="100000"/>
              </a:lnSpc>
              <a:spcBef>
                <a:spcPts val="70"/>
              </a:spcBef>
              <a:spcAft>
                <a:spcPts val="0"/>
              </a:spcAft>
              <a:buClr>
                <a:schemeClr val="dk1"/>
              </a:buClr>
              <a:buSzPts val="2600"/>
              <a:buFont typeface="Arial"/>
              <a:buAutoNum type="arabicPeriod"/>
            </a:pPr>
            <a:r>
              <a:rPr b="0" i="0" lang="en-US" sz="2600" u="none" cap="none" strike="noStrike">
                <a:solidFill>
                  <a:schemeClr val="dk1"/>
                </a:solidFill>
                <a:latin typeface="Arial"/>
                <a:ea typeface="Arial"/>
                <a:cs typeface="Arial"/>
                <a:sym typeface="Arial"/>
              </a:rPr>
              <a:t>Penning down/ finalizing </a:t>
            </a:r>
            <a:r>
              <a:rPr b="0" i="0" lang="en-US" sz="2600" u="sng" cap="none" strike="noStrike">
                <a:solidFill>
                  <a:schemeClr val="dk1"/>
                </a:solidFill>
                <a:latin typeface="Arial"/>
                <a:ea typeface="Arial"/>
                <a:cs typeface="Arial"/>
                <a:sym typeface="Arial"/>
              </a:rPr>
              <a:t>the</a:t>
            </a:r>
            <a:r>
              <a:rPr b="0" i="0" lang="en-US" sz="2600" u="none" cap="none" strike="noStrike">
                <a:solidFill>
                  <a:schemeClr val="dk1"/>
                </a:solidFill>
                <a:latin typeface="Arial"/>
                <a:ea typeface="Arial"/>
                <a:cs typeface="Arial"/>
                <a:sym typeface="Arial"/>
              </a:rPr>
              <a:t> approach; listing the steps</a:t>
            </a:r>
            <a:endParaRPr b="0" i="0" sz="2600" u="none" cap="none" strike="noStrike">
              <a:solidFill>
                <a:schemeClr val="dk1"/>
              </a:solidFill>
              <a:latin typeface="Arial"/>
              <a:ea typeface="Arial"/>
              <a:cs typeface="Arial"/>
              <a:sym typeface="Arial"/>
            </a:endParaRPr>
          </a:p>
          <a:p>
            <a:pPr indent="-456565" lvl="0" marL="469265" marR="0" rtl="0" algn="l">
              <a:lnSpc>
                <a:spcPct val="100000"/>
              </a:lnSpc>
              <a:spcBef>
                <a:spcPts val="60"/>
              </a:spcBef>
              <a:spcAft>
                <a:spcPts val="0"/>
              </a:spcAft>
              <a:buClr>
                <a:schemeClr val="dk1"/>
              </a:buClr>
              <a:buSzPts val="2600"/>
              <a:buFont typeface="Arial"/>
              <a:buAutoNum type="arabicPeriod"/>
            </a:pPr>
            <a:r>
              <a:rPr b="0" i="0" lang="en-US" sz="2600" u="none" cap="none" strike="noStrike">
                <a:solidFill>
                  <a:schemeClr val="dk1"/>
                </a:solidFill>
                <a:latin typeface="Arial"/>
                <a:ea typeface="Arial"/>
                <a:cs typeface="Arial"/>
                <a:sym typeface="Arial"/>
              </a:rPr>
              <a:t>Development</a:t>
            </a:r>
            <a:endParaRPr b="0" i="0" sz="2600" u="none" cap="none" strike="noStrike">
              <a:solidFill>
                <a:schemeClr val="dk1"/>
              </a:solidFill>
              <a:latin typeface="Arial"/>
              <a:ea typeface="Arial"/>
              <a:cs typeface="Arial"/>
              <a:sym typeface="Arial"/>
            </a:endParaRPr>
          </a:p>
          <a:p>
            <a:pPr indent="-456565" lvl="0" marL="469265" marR="0" rtl="0" algn="l">
              <a:lnSpc>
                <a:spcPct val="100000"/>
              </a:lnSpc>
              <a:spcBef>
                <a:spcPts val="60"/>
              </a:spcBef>
              <a:spcAft>
                <a:spcPts val="0"/>
              </a:spcAft>
              <a:buClr>
                <a:schemeClr val="dk1"/>
              </a:buClr>
              <a:buSzPts val="2600"/>
              <a:buFont typeface="Arial"/>
              <a:buAutoNum type="arabicPeriod"/>
            </a:pPr>
            <a:r>
              <a:rPr b="0" i="0" lang="en-US" sz="2600" u="none" cap="none" strike="noStrike">
                <a:solidFill>
                  <a:schemeClr val="dk1"/>
                </a:solidFill>
                <a:latin typeface="Arial"/>
                <a:ea typeface="Arial"/>
                <a:cs typeface="Arial"/>
                <a:sym typeface="Arial"/>
              </a:rPr>
              <a:t>Testing</a:t>
            </a:r>
            <a:endParaRPr b="0" i="0" sz="2600" u="none" cap="none" strike="noStrike">
              <a:solidFill>
                <a:schemeClr val="dk1"/>
              </a:solidFill>
              <a:latin typeface="Arial"/>
              <a:ea typeface="Arial"/>
              <a:cs typeface="Arial"/>
              <a:sym typeface="Arial"/>
            </a:endParaRPr>
          </a:p>
          <a:p>
            <a:pPr indent="-514983" lvl="0" marL="527685" marR="0" rtl="0" algn="l">
              <a:lnSpc>
                <a:spcPct val="100000"/>
              </a:lnSpc>
              <a:spcBef>
                <a:spcPts val="75"/>
              </a:spcBef>
              <a:spcAft>
                <a:spcPts val="0"/>
              </a:spcAft>
              <a:buClr>
                <a:schemeClr val="dk1"/>
              </a:buClr>
              <a:buSzPts val="2600"/>
              <a:buFont typeface="Arial"/>
              <a:buAutoNum type="arabicPeriod"/>
            </a:pPr>
            <a:r>
              <a:rPr b="0" i="0" lang="en-US" sz="2600" u="none" cap="none" strike="noStrike">
                <a:solidFill>
                  <a:schemeClr val="dk1"/>
                </a:solidFill>
                <a:latin typeface="Arial"/>
                <a:ea typeface="Arial"/>
                <a:cs typeface="Arial"/>
                <a:sym typeface="Arial"/>
              </a:rPr>
              <a:t>Deployment</a:t>
            </a:r>
            <a:endParaRPr b="0" i="0" sz="2600" u="none" cap="none" strike="noStrike">
              <a:solidFill>
                <a:schemeClr val="dk1"/>
              </a:solidFill>
              <a:latin typeface="Arial"/>
              <a:ea typeface="Arial"/>
              <a:cs typeface="Arial"/>
              <a:sym typeface="Arial"/>
            </a:endParaRPr>
          </a:p>
          <a:p>
            <a:pPr indent="-456565" lvl="0" marL="469265" marR="0" rtl="0" algn="l">
              <a:lnSpc>
                <a:spcPct val="100000"/>
              </a:lnSpc>
              <a:spcBef>
                <a:spcPts val="60"/>
              </a:spcBef>
              <a:spcAft>
                <a:spcPts val="0"/>
              </a:spcAft>
              <a:buClr>
                <a:schemeClr val="dk1"/>
              </a:buClr>
              <a:buSzPts val="2600"/>
              <a:buFont typeface="Arial"/>
              <a:buAutoNum type="arabicPeriod"/>
            </a:pPr>
            <a:r>
              <a:rPr b="0" i="0" lang="en-US" sz="2600" u="none" cap="none" strike="noStrike">
                <a:solidFill>
                  <a:schemeClr val="dk1"/>
                </a:solidFill>
                <a:latin typeface="Arial"/>
                <a:ea typeface="Arial"/>
                <a:cs typeface="Arial"/>
                <a:sym typeface="Arial"/>
              </a:rPr>
              <a:t>Maintenance</a:t>
            </a:r>
            <a:endParaRPr b="0" i="0" sz="2600" u="none" cap="none" strike="noStrike">
              <a:solidFill>
                <a:schemeClr val="dk1"/>
              </a:solidFill>
              <a:latin typeface="Arial"/>
              <a:ea typeface="Arial"/>
              <a:cs typeface="Arial"/>
              <a:sym typeface="Arial"/>
            </a:endParaRPr>
          </a:p>
          <a:p>
            <a:pPr indent="0" lvl="0" marL="0" marR="0" rtl="0" algn="l">
              <a:lnSpc>
                <a:spcPct val="100000"/>
              </a:lnSpc>
              <a:spcBef>
                <a:spcPts val="265"/>
              </a:spcBef>
              <a:spcAft>
                <a:spcPts val="0"/>
              </a:spcAft>
              <a:buNone/>
            </a:pPr>
            <a:r>
              <a:t/>
            </a:r>
            <a:endParaRPr b="0" i="0" sz="2600" u="none" cap="none" strike="noStrike">
              <a:solidFill>
                <a:schemeClr val="dk1"/>
              </a:solidFill>
              <a:latin typeface="Arial"/>
              <a:ea typeface="Arial"/>
              <a:cs typeface="Arial"/>
              <a:sym typeface="Arial"/>
            </a:endParaRPr>
          </a:p>
          <a:p>
            <a:pPr indent="0" lvl="0" marL="12700" marR="0" rtl="0" algn="l">
              <a:lnSpc>
                <a:spcPct val="100000"/>
              </a:lnSpc>
              <a:spcBef>
                <a:spcPts val="0"/>
              </a:spcBef>
              <a:spcAft>
                <a:spcPts val="0"/>
              </a:spcAft>
              <a:buNone/>
            </a:pPr>
            <a:r>
              <a:rPr b="0" i="0" lang="en-US" sz="2600" u="none" cap="none" strike="noStrike">
                <a:solidFill>
                  <a:schemeClr val="dk1"/>
                </a:solidFill>
                <a:latin typeface="Arial"/>
                <a:ea typeface="Arial"/>
                <a:cs typeface="Arial"/>
                <a:sym typeface="Arial"/>
              </a:rPr>
              <a:t>These steps are iterative and some of them run parallel.</a:t>
            </a:r>
            <a:endParaRPr b="0" i="0" sz="26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Processes of System Engineering</a:t>
            </a:r>
            <a:endParaRPr/>
          </a:p>
        </p:txBody>
      </p:sp>
      <p:sp>
        <p:nvSpPr>
          <p:cNvPr id="101" name="Google Shape;101;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
        <p:nvSpPr>
          <p:cNvPr id="102" name="Google Shape;102;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29-Jul-24</a:t>
            </a:r>
            <a:endParaRPr/>
          </a:p>
        </p:txBody>
      </p:sp>
      <p:sp>
        <p:nvSpPr>
          <p:cNvPr id="103" name="Google Shape;103;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04" name="Google Shape;104;p3"/>
          <p:cNvPicPr preferRelativeResize="0"/>
          <p:nvPr/>
        </p:nvPicPr>
        <p:blipFill rotWithShape="1">
          <a:blip r:embed="rId3">
            <a:alphaModFix/>
          </a:blip>
          <a:srcRect b="0" l="0" r="0" t="0"/>
          <a:stretch/>
        </p:blipFill>
        <p:spPr>
          <a:xfrm>
            <a:off x="1544877" y="1676400"/>
            <a:ext cx="7312787" cy="40576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4"/>
          <p:cNvSpPr txBox="1"/>
          <p:nvPr>
            <p:ph type="title"/>
          </p:nvPr>
        </p:nvSpPr>
        <p:spPr>
          <a:xfrm>
            <a:off x="2209800" y="304800"/>
            <a:ext cx="4815841" cy="689932"/>
          </a:xfrm>
          <a:prstGeom prst="rect">
            <a:avLst/>
          </a:prstGeom>
          <a:noFill/>
          <a:ln>
            <a:noFill/>
          </a:ln>
        </p:spPr>
        <p:txBody>
          <a:bodyPr anchorCtr="0" anchor="ctr" bIns="0" lIns="0" spcFirstLastPara="1" rIns="0" wrap="square" tIns="12700">
            <a:spAutoFit/>
          </a:bodyPr>
          <a:lstStyle/>
          <a:p>
            <a:pPr indent="0" lvl="0" marL="12700" rtl="0" algn="ctr">
              <a:lnSpc>
                <a:spcPct val="100000"/>
              </a:lnSpc>
              <a:spcBef>
                <a:spcPts val="0"/>
              </a:spcBef>
              <a:spcAft>
                <a:spcPts val="0"/>
              </a:spcAft>
              <a:buClr>
                <a:srgbClr val="C00000"/>
              </a:buClr>
              <a:buSzPts val="4400"/>
              <a:buFont typeface="Calibri"/>
              <a:buNone/>
            </a:pPr>
            <a:r>
              <a:rPr lang="en-US" sz="4400">
                <a:solidFill>
                  <a:srgbClr val="C00000"/>
                </a:solidFill>
              </a:rPr>
              <a:t>Software Process</a:t>
            </a:r>
            <a:endParaRPr sz="4400"/>
          </a:p>
        </p:txBody>
      </p:sp>
      <p:sp>
        <p:nvSpPr>
          <p:cNvPr id="110" name="Google Shape;110;p4"/>
          <p:cNvSpPr txBox="1"/>
          <p:nvPr/>
        </p:nvSpPr>
        <p:spPr>
          <a:xfrm>
            <a:off x="1219199" y="1371600"/>
            <a:ext cx="7772399" cy="3996094"/>
          </a:xfrm>
          <a:prstGeom prst="rect">
            <a:avLst/>
          </a:prstGeom>
          <a:noFill/>
          <a:ln>
            <a:noFill/>
          </a:ln>
        </p:spPr>
        <p:txBody>
          <a:bodyPr anchorCtr="0" anchor="t" bIns="0" lIns="0" spcFirstLastPara="1" rIns="0" wrap="square" tIns="99675">
            <a:spAutoFit/>
          </a:bodyPr>
          <a:lstStyle/>
          <a:p>
            <a:pPr indent="0" lvl="0" marL="12700" marR="0" rtl="0" algn="just">
              <a:lnSpc>
                <a:spcPct val="100000"/>
              </a:lnSpc>
              <a:spcBef>
                <a:spcPts val="0"/>
              </a:spcBef>
              <a:spcAft>
                <a:spcPts val="0"/>
              </a:spcAft>
              <a:buNone/>
            </a:pPr>
            <a:r>
              <a:rPr b="1" i="0" lang="en-US" sz="2400" u="none" cap="none" strike="noStrike">
                <a:solidFill>
                  <a:schemeClr val="dk1"/>
                </a:solidFill>
                <a:latin typeface="Calibri"/>
                <a:ea typeface="Calibri"/>
                <a:cs typeface="Calibri"/>
                <a:sym typeface="Calibri"/>
              </a:rPr>
              <a:t>Characterized by:</a:t>
            </a:r>
            <a:endParaRPr b="0" i="0" sz="2400" u="none" cap="none" strike="noStrike">
              <a:solidFill>
                <a:schemeClr val="dk1"/>
              </a:solidFill>
              <a:latin typeface="Calibri"/>
              <a:ea typeface="Calibri"/>
              <a:cs typeface="Calibri"/>
              <a:sym typeface="Calibri"/>
            </a:endParaRPr>
          </a:p>
          <a:p>
            <a:pPr indent="-146956" lvl="0" marL="12700" marR="5080" rtl="0" algn="just">
              <a:lnSpc>
                <a:spcPct val="89700"/>
              </a:lnSpc>
              <a:spcBef>
                <a:spcPts val="1030"/>
              </a:spcBef>
              <a:spcAft>
                <a:spcPts val="0"/>
              </a:spcAft>
              <a:buClr>
                <a:schemeClr val="dk1"/>
              </a:buClr>
              <a:buSzPts val="2314"/>
              <a:buFont typeface="Arial"/>
              <a:buChar char="•"/>
            </a:pPr>
            <a:r>
              <a:rPr b="0" i="0" lang="en-US" sz="2400" u="none" cap="none" strike="noStrike">
                <a:solidFill>
                  <a:schemeClr val="dk1"/>
                </a:solidFill>
                <a:latin typeface="Calibri"/>
                <a:ea typeface="Calibri"/>
                <a:cs typeface="Calibri"/>
                <a:sym typeface="Calibri"/>
              </a:rPr>
              <a:t>	Common process framework established by defining a small number of framework activities that are applicable to </a:t>
            </a:r>
            <a:r>
              <a:rPr b="0" i="0" lang="en-US" sz="2400" u="sng" cap="none" strike="noStrike">
                <a:solidFill>
                  <a:schemeClr val="dk1"/>
                </a:solidFill>
                <a:latin typeface="Calibri"/>
                <a:ea typeface="Calibri"/>
                <a:cs typeface="Calibri"/>
                <a:sym typeface="Calibri"/>
              </a:rPr>
              <a:t>all software projects</a:t>
            </a:r>
            <a:r>
              <a:rPr b="0" i="0" lang="en-US" sz="2400" u="none" cap="none" strike="noStrike">
                <a:solidFill>
                  <a:schemeClr val="dk1"/>
                </a:solidFill>
                <a:latin typeface="Calibri"/>
                <a:ea typeface="Calibri"/>
                <a:cs typeface="Calibri"/>
                <a:sym typeface="Calibri"/>
              </a:rPr>
              <a:t>, regardless of their size or complexity</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1275"/>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b="1" i="0" lang="en-US" sz="2400" u="none" cap="none" strike="noStrike">
                <a:solidFill>
                  <a:srgbClr val="006FC0"/>
                </a:solidFill>
                <a:latin typeface="Calibri"/>
                <a:ea typeface="Calibri"/>
                <a:cs typeface="Calibri"/>
                <a:sym typeface="Calibri"/>
              </a:rPr>
              <a:t>Consists:</a:t>
            </a:r>
            <a:endParaRPr b="0" i="0" sz="2400" u="none" cap="none" strike="noStrike">
              <a:solidFill>
                <a:schemeClr val="dk1"/>
              </a:solidFill>
              <a:latin typeface="Calibri"/>
              <a:ea typeface="Calibri"/>
              <a:cs typeface="Calibri"/>
              <a:sym typeface="Calibri"/>
            </a:endParaRPr>
          </a:p>
          <a:p>
            <a:pPr indent="-146956" lvl="0" marL="137160" marR="0" rtl="0" algn="l">
              <a:lnSpc>
                <a:spcPct val="100000"/>
              </a:lnSpc>
              <a:spcBef>
                <a:spcPts val="685"/>
              </a:spcBef>
              <a:spcAft>
                <a:spcPts val="0"/>
              </a:spcAft>
              <a:buClr>
                <a:schemeClr val="dk1"/>
              </a:buClr>
              <a:buSzPts val="2314"/>
              <a:buFont typeface="Arial"/>
              <a:buChar char="•"/>
            </a:pPr>
            <a:r>
              <a:rPr b="0" i="0" lang="en-US" sz="2400" u="none" cap="none" strike="noStrike">
                <a:solidFill>
                  <a:schemeClr val="dk1"/>
                </a:solidFill>
                <a:latin typeface="Calibri"/>
                <a:ea typeface="Calibri"/>
                <a:cs typeface="Calibri"/>
                <a:sym typeface="Calibri"/>
              </a:rPr>
              <a:t>Framework Activities which include:</a:t>
            </a:r>
            <a:endParaRPr b="0" i="0" sz="2400" u="none" cap="none" strike="noStrike">
              <a:solidFill>
                <a:schemeClr val="dk1"/>
              </a:solidFill>
              <a:latin typeface="Calibri"/>
              <a:ea typeface="Calibri"/>
              <a:cs typeface="Calibri"/>
              <a:sym typeface="Calibri"/>
            </a:endParaRPr>
          </a:p>
          <a:p>
            <a:pPr indent="-119062" lvl="1" marL="575945" marR="0" rtl="0" algn="l">
              <a:spcBef>
                <a:spcPts val="229"/>
              </a:spcBef>
              <a:spcAft>
                <a:spcPts val="0"/>
              </a:spcAft>
              <a:buClr>
                <a:schemeClr val="dk1"/>
              </a:buClr>
              <a:buSzPts val="1875"/>
              <a:buFont typeface="Arial"/>
              <a:buChar char="•"/>
            </a:pPr>
            <a:r>
              <a:rPr b="0" i="0" lang="en-US" sz="2000" u="none" cap="none" strike="noStrike">
                <a:solidFill>
                  <a:schemeClr val="dk1"/>
                </a:solidFill>
                <a:latin typeface="Calibri"/>
                <a:ea typeface="Calibri"/>
                <a:cs typeface="Calibri"/>
                <a:sym typeface="Calibri"/>
              </a:rPr>
              <a:t>Task sets, represented by Tasks, Milestones &amp; Deliverables , SQA	</a:t>
            </a:r>
            <a:endParaRPr b="0" i="0" sz="2000" u="none" cap="none" strike="noStrike">
              <a:solidFill>
                <a:schemeClr val="dk1"/>
              </a:solidFill>
              <a:latin typeface="Calibri"/>
              <a:ea typeface="Calibri"/>
              <a:cs typeface="Calibri"/>
              <a:sym typeface="Calibri"/>
            </a:endParaRPr>
          </a:p>
          <a:p>
            <a:pPr indent="-142875" lvl="0" marL="118745" marR="0" rtl="0" algn="l">
              <a:lnSpc>
                <a:spcPct val="100000"/>
              </a:lnSpc>
              <a:spcBef>
                <a:spcPts val="229"/>
              </a:spcBef>
              <a:spcAft>
                <a:spcPts val="0"/>
              </a:spcAft>
              <a:buClr>
                <a:schemeClr val="dk1"/>
              </a:buClr>
              <a:buSzPts val="2250"/>
              <a:buFont typeface="Arial"/>
              <a:buChar char="•"/>
            </a:pPr>
            <a:r>
              <a:rPr b="0" i="0" lang="en-US" sz="2400" u="none" cap="none" strike="noStrike">
                <a:solidFill>
                  <a:schemeClr val="dk1"/>
                </a:solidFill>
                <a:latin typeface="Calibri"/>
                <a:ea typeface="Calibri"/>
                <a:cs typeface="Calibri"/>
                <a:sym typeface="Calibri"/>
              </a:rPr>
              <a:t>Umbrella Activities</a:t>
            </a:r>
            <a:endParaRPr b="0" i="0" sz="2400" u="none" cap="none" strike="noStrike">
              <a:solidFill>
                <a:schemeClr val="dk1"/>
              </a:solidFill>
              <a:latin typeface="Calibri"/>
              <a:ea typeface="Calibri"/>
              <a:cs typeface="Calibri"/>
              <a:sym typeface="Calibri"/>
            </a:endParaRPr>
          </a:p>
        </p:txBody>
      </p:sp>
      <p:sp>
        <p:nvSpPr>
          <p:cNvPr id="111" name="Google Shape;111;p4"/>
          <p:cNvSpPr txBox="1"/>
          <p:nvPr>
            <p:ph idx="4294967295" type="sldNum"/>
          </p:nvPr>
        </p:nvSpPr>
        <p:spPr>
          <a:xfrm>
            <a:off x="8164259" y="6420407"/>
            <a:ext cx="320802" cy="252095"/>
          </a:xfrm>
          <a:prstGeom prst="rect">
            <a:avLst/>
          </a:prstGeom>
          <a:noFill/>
          <a:ln>
            <a:noFill/>
          </a:ln>
        </p:spPr>
        <p:txBody>
          <a:bodyPr anchorCtr="0" anchor="ctr" bIns="0" lIns="0" spcFirstLastPara="1" rIns="0" wrap="square" tIns="0">
            <a:spAutoFit/>
          </a:bodyPr>
          <a:lstStyle/>
          <a:p>
            <a:pPr indent="0" lvl="0" marL="150495" rtl="0" algn="r">
              <a:lnSpc>
                <a:spcPct val="155333"/>
              </a:lnSpc>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29-Jul-24</a:t>
            </a:r>
            <a:endParaRPr/>
          </a:p>
        </p:txBody>
      </p:sp>
      <p:sp>
        <p:nvSpPr>
          <p:cNvPr id="117" name="Google Shape;117;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8" name="Google Shape;118;p5"/>
          <p:cNvSpPr txBox="1"/>
          <p:nvPr>
            <p:ph idx="1" type="body"/>
          </p:nvPr>
        </p:nvSpPr>
        <p:spPr>
          <a:xfrm>
            <a:off x="914400" y="1447800"/>
            <a:ext cx="8019288" cy="4800600"/>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Clr>
                <a:srgbClr val="002060"/>
              </a:buClr>
              <a:buSzPct val="100000"/>
              <a:buChar char="•"/>
            </a:pPr>
            <a:r>
              <a:rPr lang="en-US" sz="2200">
                <a:solidFill>
                  <a:srgbClr val="002060"/>
                </a:solidFill>
                <a:latin typeface="Verdana"/>
                <a:ea typeface="Verdana"/>
                <a:cs typeface="Verdana"/>
                <a:sym typeface="Verdana"/>
              </a:rPr>
              <a:t>Software process also known as </a:t>
            </a:r>
            <a:r>
              <a:rPr b="1" lang="en-US" sz="2200">
                <a:solidFill>
                  <a:srgbClr val="002060"/>
                </a:solidFill>
                <a:latin typeface="Verdana"/>
                <a:ea typeface="Verdana"/>
                <a:cs typeface="Verdana"/>
                <a:sym typeface="Verdana"/>
              </a:rPr>
              <a:t>methodology,</a:t>
            </a:r>
            <a:r>
              <a:rPr lang="en-US" sz="2200">
                <a:solidFill>
                  <a:srgbClr val="002060"/>
                </a:solidFill>
                <a:latin typeface="Verdana"/>
                <a:ea typeface="Verdana"/>
                <a:cs typeface="Verdana"/>
                <a:sym typeface="Verdana"/>
              </a:rPr>
              <a:t> is a set of related activities that leads to the production of the software activities may involve the development of the software scratch or modifying existing system.</a:t>
            </a:r>
            <a:endParaRPr/>
          </a:p>
          <a:p>
            <a:pPr indent="-342900" lvl="0" marL="342900" rtl="0" algn="l">
              <a:spcBef>
                <a:spcPts val="407"/>
              </a:spcBef>
              <a:spcAft>
                <a:spcPts val="0"/>
              </a:spcAft>
              <a:buClr>
                <a:srgbClr val="002060"/>
              </a:buClr>
              <a:buSzPct val="100000"/>
              <a:buChar char="•"/>
            </a:pPr>
            <a:r>
              <a:rPr lang="en-US" sz="2200">
                <a:solidFill>
                  <a:srgbClr val="002060"/>
                </a:solidFill>
                <a:latin typeface="Verdana"/>
                <a:ea typeface="Verdana"/>
                <a:cs typeface="Verdana"/>
                <a:sym typeface="Verdana"/>
              </a:rPr>
              <a:t>A process is a collection of activities, actions, and tasks that are performed when some work product is to be created.</a:t>
            </a:r>
            <a:endParaRPr/>
          </a:p>
          <a:p>
            <a:pPr indent="-342900" lvl="0" marL="342900" rtl="0" algn="l">
              <a:spcBef>
                <a:spcPts val="407"/>
              </a:spcBef>
              <a:spcAft>
                <a:spcPts val="0"/>
              </a:spcAft>
              <a:buClr>
                <a:srgbClr val="C00000"/>
              </a:buClr>
              <a:buSzPct val="100000"/>
              <a:buChar char="•"/>
            </a:pPr>
            <a:r>
              <a:rPr lang="en-US" sz="2200">
                <a:solidFill>
                  <a:srgbClr val="C00000"/>
                </a:solidFill>
                <a:latin typeface="Verdana"/>
                <a:ea typeface="Verdana"/>
                <a:cs typeface="Verdana"/>
                <a:sym typeface="Verdana"/>
              </a:rPr>
              <a:t>An activity </a:t>
            </a:r>
            <a:r>
              <a:rPr lang="en-US" sz="2200">
                <a:solidFill>
                  <a:srgbClr val="002060"/>
                </a:solidFill>
                <a:latin typeface="Verdana"/>
                <a:ea typeface="Verdana"/>
                <a:cs typeface="Verdana"/>
                <a:sym typeface="Verdana"/>
              </a:rPr>
              <a:t>strives to achieve a broad objective (e.g., communication with stakeholders) and is applied regardless of the application domain, size of the project, complexity of the effort.</a:t>
            </a:r>
            <a:endParaRPr/>
          </a:p>
          <a:p>
            <a:pPr indent="-342900" lvl="0" marL="342900" rtl="0" algn="l">
              <a:spcBef>
                <a:spcPts val="407"/>
              </a:spcBef>
              <a:spcAft>
                <a:spcPts val="0"/>
              </a:spcAft>
              <a:buClr>
                <a:srgbClr val="002060"/>
              </a:buClr>
              <a:buSzPct val="100000"/>
              <a:buChar char="•"/>
            </a:pPr>
            <a:r>
              <a:rPr lang="en-US" sz="2200">
                <a:solidFill>
                  <a:srgbClr val="002060"/>
                </a:solidFill>
                <a:latin typeface="Verdana"/>
                <a:ea typeface="Verdana"/>
                <a:cs typeface="Verdana"/>
                <a:sym typeface="Verdana"/>
              </a:rPr>
              <a:t> </a:t>
            </a:r>
            <a:r>
              <a:rPr lang="en-US" sz="2200">
                <a:solidFill>
                  <a:srgbClr val="C00000"/>
                </a:solidFill>
                <a:latin typeface="Verdana"/>
                <a:ea typeface="Verdana"/>
                <a:cs typeface="Verdana"/>
                <a:sym typeface="Verdana"/>
              </a:rPr>
              <a:t>An action </a:t>
            </a:r>
            <a:r>
              <a:rPr lang="en-US" sz="2200">
                <a:solidFill>
                  <a:srgbClr val="002060"/>
                </a:solidFill>
                <a:latin typeface="Verdana"/>
                <a:ea typeface="Verdana"/>
                <a:cs typeface="Verdana"/>
                <a:sym typeface="Verdana"/>
              </a:rPr>
              <a:t>(e.g., architectural design) encompasses a set of tasks that produce a major work product (e.g., an architectural model). </a:t>
            </a:r>
            <a:endParaRPr/>
          </a:p>
          <a:p>
            <a:pPr indent="-342900" lvl="0" marL="342900" rtl="0" algn="l">
              <a:spcBef>
                <a:spcPts val="407"/>
              </a:spcBef>
              <a:spcAft>
                <a:spcPts val="0"/>
              </a:spcAft>
              <a:buClr>
                <a:srgbClr val="C00000"/>
              </a:buClr>
              <a:buSzPct val="100000"/>
              <a:buChar char="•"/>
            </a:pPr>
            <a:r>
              <a:rPr lang="en-US" sz="2200">
                <a:solidFill>
                  <a:srgbClr val="C00000"/>
                </a:solidFill>
                <a:latin typeface="Verdana"/>
                <a:ea typeface="Verdana"/>
                <a:cs typeface="Verdana"/>
                <a:sym typeface="Verdana"/>
              </a:rPr>
              <a:t>A task </a:t>
            </a:r>
            <a:r>
              <a:rPr lang="en-US" sz="2200">
                <a:solidFill>
                  <a:srgbClr val="002060"/>
                </a:solidFill>
                <a:latin typeface="Verdana"/>
                <a:ea typeface="Verdana"/>
                <a:cs typeface="Verdana"/>
                <a:sym typeface="Verdana"/>
              </a:rPr>
              <a:t>focuses on a small, but well-defined objective (e.g., conducting a unit test) that produces a tangible outcome</a:t>
            </a:r>
            <a:endParaRPr sz="2200">
              <a:solidFill>
                <a:srgbClr val="002060"/>
              </a:solidFill>
              <a:latin typeface="Verdana"/>
              <a:ea typeface="Verdana"/>
              <a:cs typeface="Verdana"/>
              <a:sym typeface="Verdana"/>
            </a:endParaRPr>
          </a:p>
        </p:txBody>
      </p:sp>
      <p:sp>
        <p:nvSpPr>
          <p:cNvPr id="119" name="Google Shape;119;p5"/>
          <p:cNvSpPr txBox="1"/>
          <p:nvPr>
            <p:ph type="title"/>
          </p:nvPr>
        </p:nvSpPr>
        <p:spPr>
          <a:xfrm>
            <a:off x="1066800" y="304800"/>
            <a:ext cx="7498080" cy="1143000"/>
          </a:xfrm>
          <a:prstGeom prst="rect">
            <a:avLst/>
          </a:prstGeom>
          <a:noFill/>
          <a:ln>
            <a:noFill/>
          </a:ln>
        </p:spPr>
        <p:txBody>
          <a:bodyPr anchorCtr="0" anchor="ctr" bIns="45700" lIns="91425" spcFirstLastPara="1" rIns="91425" wrap="square" tIns="45700">
            <a:normAutofit/>
          </a:bodyPr>
          <a:lstStyle/>
          <a:p>
            <a:pPr indent="-283464" lvl="0" marL="365760" rtl="0" algn="ctr">
              <a:spcBef>
                <a:spcPts val="0"/>
              </a:spcBef>
              <a:spcAft>
                <a:spcPts val="0"/>
              </a:spcAft>
              <a:buClr>
                <a:schemeClr val="accent1"/>
              </a:buClr>
              <a:buSzPts val="2240"/>
              <a:buFont typeface="Verdana"/>
              <a:buNone/>
            </a:pPr>
            <a:r>
              <a:rPr b="1" lang="en-US" sz="2800">
                <a:solidFill>
                  <a:srgbClr val="002060"/>
                </a:solidFill>
                <a:latin typeface="Verdana"/>
                <a:ea typeface="Verdana"/>
                <a:cs typeface="Verdana"/>
                <a:sym typeface="Verdana"/>
              </a:rPr>
              <a:t>The Software Process</a:t>
            </a:r>
            <a:endParaRPr/>
          </a:p>
        </p:txBody>
      </p:sp>
    </p:spTree>
  </p:cSld>
  <p:clrMapOvr>
    <a:masterClrMapping/>
  </p:clrMapOvr>
  <p:transition spd="slow">
    <p:wipe dir="l"/>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gtEl>
                                        <p:attrNameLst>
                                          <p:attrName>style.visibility</p:attrName>
                                        </p:attrNameLst>
                                      </p:cBhvr>
                                      <p:to>
                                        <p:strVal val="visible"/>
                                      </p:to>
                                    </p:set>
                                    <p:animEffect filter="fade" transition="in">
                                      <p:cBhvr>
                                        <p:cTn dur="80"/>
                                        <p:tgtEl>
                                          <p:spTgt spid="1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xEl>
                                              <p:pRg end="0" st="0"/>
                                            </p:txEl>
                                          </p:spTgt>
                                        </p:tgtEl>
                                        <p:attrNameLst>
                                          <p:attrName>style.visibility</p:attrName>
                                        </p:attrNameLst>
                                      </p:cBhvr>
                                      <p:to>
                                        <p:strVal val="visible"/>
                                      </p:to>
                                    </p:set>
                                    <p:animEffect filter="fade" transition="in">
                                      <p:cBhvr>
                                        <p:cTn dur="500"/>
                                        <p:tgtEl>
                                          <p:spTgt spid="11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xEl>
                                              <p:pRg end="1" st="1"/>
                                            </p:txEl>
                                          </p:spTgt>
                                        </p:tgtEl>
                                        <p:attrNameLst>
                                          <p:attrName>style.visibility</p:attrName>
                                        </p:attrNameLst>
                                      </p:cBhvr>
                                      <p:to>
                                        <p:strVal val="visible"/>
                                      </p:to>
                                    </p:set>
                                    <p:animEffect filter="fade" transition="in">
                                      <p:cBhvr>
                                        <p:cTn dur="500"/>
                                        <p:tgtEl>
                                          <p:spTgt spid="11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xEl>
                                              <p:pRg end="2" st="2"/>
                                            </p:txEl>
                                          </p:spTgt>
                                        </p:tgtEl>
                                        <p:attrNameLst>
                                          <p:attrName>style.visibility</p:attrName>
                                        </p:attrNameLst>
                                      </p:cBhvr>
                                      <p:to>
                                        <p:strVal val="visible"/>
                                      </p:to>
                                    </p:set>
                                    <p:animEffect filter="fade" transition="in">
                                      <p:cBhvr>
                                        <p:cTn dur="500"/>
                                        <p:tgtEl>
                                          <p:spTgt spid="11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xEl>
                                              <p:pRg end="3" st="3"/>
                                            </p:txEl>
                                          </p:spTgt>
                                        </p:tgtEl>
                                        <p:attrNameLst>
                                          <p:attrName>style.visibility</p:attrName>
                                        </p:attrNameLst>
                                      </p:cBhvr>
                                      <p:to>
                                        <p:strVal val="visible"/>
                                      </p:to>
                                    </p:set>
                                    <p:animEffect filter="fade" transition="in">
                                      <p:cBhvr>
                                        <p:cTn dur="500"/>
                                        <p:tgtEl>
                                          <p:spTgt spid="11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xEl>
                                              <p:pRg end="4" st="4"/>
                                            </p:txEl>
                                          </p:spTgt>
                                        </p:tgtEl>
                                        <p:attrNameLst>
                                          <p:attrName>style.visibility</p:attrName>
                                        </p:attrNameLst>
                                      </p:cBhvr>
                                      <p:to>
                                        <p:strVal val="visible"/>
                                      </p:to>
                                    </p:set>
                                    <p:animEffect filter="fade" transition="in">
                                      <p:cBhvr>
                                        <p:cTn dur="500"/>
                                        <p:tgtEl>
                                          <p:spTgt spid="118">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6"/>
          <p:cNvPicPr preferRelativeResize="0"/>
          <p:nvPr/>
        </p:nvPicPr>
        <p:blipFill rotWithShape="1">
          <a:blip r:embed="rId3">
            <a:alphaModFix/>
          </a:blip>
          <a:srcRect b="0" l="0" r="0" t="0"/>
          <a:stretch/>
        </p:blipFill>
        <p:spPr>
          <a:xfrm>
            <a:off x="1828800" y="1569101"/>
            <a:ext cx="5086378" cy="5105400"/>
          </a:xfrm>
          <a:prstGeom prst="rect">
            <a:avLst/>
          </a:prstGeom>
          <a:noFill/>
          <a:ln>
            <a:noFill/>
          </a:ln>
        </p:spPr>
      </p:pic>
      <p:sp>
        <p:nvSpPr>
          <p:cNvPr id="125" name="Google Shape;125;p6"/>
          <p:cNvSpPr txBox="1"/>
          <p:nvPr>
            <p:ph type="title"/>
          </p:nvPr>
        </p:nvSpPr>
        <p:spPr>
          <a:xfrm>
            <a:off x="1676400" y="360450"/>
            <a:ext cx="6019800" cy="627736"/>
          </a:xfrm>
          <a:prstGeom prst="rect">
            <a:avLst/>
          </a:prstGeom>
          <a:noFill/>
          <a:ln>
            <a:noFill/>
          </a:ln>
        </p:spPr>
        <p:txBody>
          <a:bodyPr anchorCtr="0" anchor="ctr" bIns="0" lIns="0" spcFirstLastPara="1" rIns="0" wrap="square" tIns="12050">
            <a:spAutoFit/>
          </a:bodyPr>
          <a:lstStyle/>
          <a:p>
            <a:pPr indent="0" lvl="0" marL="12700" rtl="0" algn="ctr">
              <a:lnSpc>
                <a:spcPct val="100000"/>
              </a:lnSpc>
              <a:spcBef>
                <a:spcPts val="0"/>
              </a:spcBef>
              <a:spcAft>
                <a:spcPts val="0"/>
              </a:spcAft>
              <a:buClr>
                <a:srgbClr val="0000FF"/>
              </a:buClr>
              <a:buSzPts val="4000"/>
              <a:buFont typeface="Calibri"/>
              <a:buNone/>
            </a:pPr>
            <a:r>
              <a:rPr lang="en-US" sz="4000">
                <a:solidFill>
                  <a:srgbClr val="0000FF"/>
                </a:solidFill>
              </a:rPr>
              <a:t>Process Framework activities</a:t>
            </a:r>
            <a:endParaRPr/>
          </a:p>
        </p:txBody>
      </p:sp>
      <p:sp>
        <p:nvSpPr>
          <p:cNvPr id="126" name="Google Shape;126;p6"/>
          <p:cNvSpPr txBox="1"/>
          <p:nvPr/>
        </p:nvSpPr>
        <p:spPr>
          <a:xfrm>
            <a:off x="8267891" y="6420407"/>
            <a:ext cx="188595" cy="487313"/>
          </a:xfrm>
          <a:prstGeom prst="rect">
            <a:avLst/>
          </a:prstGeom>
          <a:noFill/>
          <a:ln>
            <a:noFill/>
          </a:ln>
        </p:spPr>
        <p:txBody>
          <a:bodyPr anchorCtr="0" anchor="t" bIns="0" lIns="0" spcFirstLastPara="1" rIns="0" wrap="square" tIns="0">
            <a:spAutoFit/>
          </a:bodyPr>
          <a:lstStyle/>
          <a:p>
            <a:pPr indent="0" lvl="0" marL="12700" marR="0" rtl="0" algn="l">
              <a:lnSpc>
                <a:spcPct val="116500"/>
              </a:lnSpc>
              <a:spcBef>
                <a:spcPts val="0"/>
              </a:spcBef>
              <a:spcAft>
                <a:spcPts val="0"/>
              </a:spcAft>
              <a:buNone/>
            </a:pPr>
            <a:r>
              <a:rPr b="1" i="0" lang="en-US" sz="1600" u="none" cap="none" strike="noStrike">
                <a:solidFill>
                  <a:srgbClr val="878787"/>
                </a:solidFill>
                <a:latin typeface="Arial"/>
                <a:ea typeface="Arial"/>
                <a:cs typeface="Arial"/>
                <a:sym typeface="Arial"/>
              </a:rPr>
              <a:t>70</a:t>
            </a:r>
            <a:endParaRPr b="0" i="0" sz="1600" u="none" cap="none" strike="noStrike">
              <a:solidFill>
                <a:schemeClr val="dk1"/>
              </a:solidFill>
              <a:latin typeface="Arial"/>
              <a:ea typeface="Arial"/>
              <a:cs typeface="Arial"/>
              <a:sym typeface="Arial"/>
            </a:endParaRPr>
          </a:p>
        </p:txBody>
      </p:sp>
      <p:sp>
        <p:nvSpPr>
          <p:cNvPr id="127" name="Google Shape;127;p6"/>
          <p:cNvSpPr txBox="1"/>
          <p:nvPr>
            <p:ph idx="4294967295" type="ftr"/>
          </p:nvPr>
        </p:nvSpPr>
        <p:spPr>
          <a:xfrm>
            <a:off x="4145947" y="6420407"/>
            <a:ext cx="829913" cy="625196"/>
          </a:xfrm>
          <a:prstGeom prst="rect">
            <a:avLst/>
          </a:prstGeom>
          <a:noFill/>
          <a:ln>
            <a:noFill/>
          </a:ln>
        </p:spPr>
        <p:txBody>
          <a:bodyPr anchorCtr="0" anchor="ctr" bIns="0" lIns="0" spcFirstLastPara="1" rIns="0" wrap="square" tIns="136550">
            <a:spAutoFit/>
          </a:bodyPr>
          <a:lstStyle/>
          <a:p>
            <a:pPr indent="0" lvl="0" marL="12700" rtl="0" algn="ctr">
              <a:lnSpc>
                <a:spcPct val="155333"/>
              </a:lnSpc>
              <a:spcBef>
                <a:spcPts val="0"/>
              </a:spcBef>
              <a:spcAft>
                <a:spcPts val="0"/>
              </a:spcAft>
              <a:buNone/>
            </a:pPr>
            <a:r>
              <a:rPr lang="en-US"/>
              <a:t>MODULE 1</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29-Jul-24</a:t>
            </a:r>
            <a:endParaRPr/>
          </a:p>
        </p:txBody>
      </p:sp>
      <p:sp>
        <p:nvSpPr>
          <p:cNvPr id="133" name="Google Shape;133;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4" name="Google Shape;134;p7"/>
          <p:cNvSpPr txBox="1"/>
          <p:nvPr>
            <p:ph idx="1" type="body"/>
          </p:nvPr>
        </p:nvSpPr>
        <p:spPr>
          <a:xfrm>
            <a:off x="914400" y="1066800"/>
            <a:ext cx="8019288" cy="5181600"/>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Clr>
                <a:srgbClr val="002060"/>
              </a:buClr>
              <a:buSzPct val="100000"/>
              <a:buNone/>
            </a:pPr>
            <a:r>
              <a:rPr lang="en-US" sz="2400">
                <a:solidFill>
                  <a:srgbClr val="002060"/>
                </a:solidFill>
                <a:latin typeface="Verdana"/>
                <a:ea typeface="Verdana"/>
                <a:cs typeface="Verdana"/>
                <a:sym typeface="Verdana"/>
              </a:rPr>
              <a:t>A generic process framework for software engineering encompasses five activities:</a:t>
            </a:r>
            <a:endParaRPr/>
          </a:p>
          <a:p>
            <a:pPr indent="-342900" lvl="0" marL="342900" rtl="0" algn="l">
              <a:spcBef>
                <a:spcPts val="444"/>
              </a:spcBef>
              <a:spcAft>
                <a:spcPts val="0"/>
              </a:spcAft>
              <a:buClr>
                <a:srgbClr val="C00000"/>
              </a:buClr>
              <a:buSzPct val="100000"/>
              <a:buChar char="•"/>
            </a:pPr>
            <a:r>
              <a:rPr lang="en-US" sz="2400">
                <a:solidFill>
                  <a:srgbClr val="C00000"/>
                </a:solidFill>
                <a:latin typeface="Verdana"/>
                <a:ea typeface="Verdana"/>
                <a:cs typeface="Verdana"/>
                <a:sym typeface="Verdana"/>
              </a:rPr>
              <a:t>Communication</a:t>
            </a:r>
            <a:r>
              <a:rPr lang="en-US" sz="2400">
                <a:solidFill>
                  <a:srgbClr val="002060"/>
                </a:solidFill>
                <a:latin typeface="Verdana"/>
                <a:ea typeface="Verdana"/>
                <a:cs typeface="Verdana"/>
                <a:sym typeface="Verdana"/>
              </a:rPr>
              <a:t>: communicate with customer to understand objectives and gather requirements</a:t>
            </a:r>
            <a:endParaRPr/>
          </a:p>
          <a:p>
            <a:pPr indent="-342900" lvl="0" marL="342900" rtl="0" algn="l">
              <a:spcBef>
                <a:spcPts val="444"/>
              </a:spcBef>
              <a:spcAft>
                <a:spcPts val="0"/>
              </a:spcAft>
              <a:buClr>
                <a:srgbClr val="002060"/>
              </a:buClr>
              <a:buSzPct val="100000"/>
              <a:buChar char="•"/>
            </a:pPr>
            <a:r>
              <a:rPr lang="en-US" sz="2400">
                <a:solidFill>
                  <a:srgbClr val="002060"/>
                </a:solidFill>
                <a:latin typeface="Verdana"/>
                <a:ea typeface="Verdana"/>
                <a:cs typeface="Verdana"/>
                <a:sym typeface="Verdana"/>
              </a:rPr>
              <a:t> </a:t>
            </a:r>
            <a:r>
              <a:rPr lang="en-US" sz="2400">
                <a:solidFill>
                  <a:srgbClr val="C00000"/>
                </a:solidFill>
                <a:latin typeface="Verdana"/>
                <a:ea typeface="Verdana"/>
                <a:cs typeface="Verdana"/>
                <a:sym typeface="Verdana"/>
              </a:rPr>
              <a:t>Planning:</a:t>
            </a:r>
            <a:r>
              <a:rPr lang="en-US" sz="2400">
                <a:solidFill>
                  <a:srgbClr val="002060"/>
                </a:solidFill>
                <a:latin typeface="Verdana"/>
                <a:ea typeface="Verdana"/>
                <a:cs typeface="Verdana"/>
                <a:sym typeface="Verdana"/>
              </a:rPr>
              <a:t> creates a “map” defines the work by describing the tasks, risks and resources, work products and work schedule.</a:t>
            </a:r>
            <a:endParaRPr/>
          </a:p>
          <a:p>
            <a:pPr indent="-342900" lvl="0" marL="342900" rtl="0" algn="l">
              <a:spcBef>
                <a:spcPts val="444"/>
              </a:spcBef>
              <a:spcAft>
                <a:spcPts val="0"/>
              </a:spcAft>
              <a:buClr>
                <a:srgbClr val="002060"/>
              </a:buClr>
              <a:buSzPct val="100000"/>
              <a:buChar char="•"/>
            </a:pPr>
            <a:r>
              <a:rPr lang="en-US" sz="2400">
                <a:solidFill>
                  <a:srgbClr val="002060"/>
                </a:solidFill>
                <a:latin typeface="Verdana"/>
                <a:ea typeface="Verdana"/>
                <a:cs typeface="Verdana"/>
                <a:sym typeface="Verdana"/>
              </a:rPr>
              <a:t> </a:t>
            </a:r>
            <a:r>
              <a:rPr lang="en-US" sz="2400">
                <a:solidFill>
                  <a:srgbClr val="C00000"/>
                </a:solidFill>
                <a:latin typeface="Verdana"/>
                <a:ea typeface="Verdana"/>
                <a:cs typeface="Verdana"/>
                <a:sym typeface="Verdana"/>
              </a:rPr>
              <a:t>Modeling</a:t>
            </a:r>
            <a:r>
              <a:rPr lang="en-US" sz="2400">
                <a:solidFill>
                  <a:srgbClr val="002060"/>
                </a:solidFill>
                <a:latin typeface="Verdana"/>
                <a:ea typeface="Verdana"/>
                <a:cs typeface="Verdana"/>
                <a:sym typeface="Verdana"/>
              </a:rPr>
              <a:t>: Create a “sketch”, what it looks like architecturally, how the constituent parts fit together and other characteristics. </a:t>
            </a:r>
            <a:endParaRPr/>
          </a:p>
          <a:p>
            <a:pPr indent="-342900" lvl="0" marL="342900" rtl="0" algn="l">
              <a:spcBef>
                <a:spcPts val="444"/>
              </a:spcBef>
              <a:spcAft>
                <a:spcPts val="0"/>
              </a:spcAft>
              <a:buClr>
                <a:srgbClr val="002060"/>
              </a:buClr>
              <a:buSzPct val="100000"/>
              <a:buChar char="•"/>
            </a:pPr>
            <a:r>
              <a:rPr lang="en-US" sz="2400">
                <a:solidFill>
                  <a:srgbClr val="002060"/>
                </a:solidFill>
                <a:latin typeface="Verdana"/>
                <a:ea typeface="Verdana"/>
                <a:cs typeface="Verdana"/>
                <a:sym typeface="Verdana"/>
              </a:rPr>
              <a:t> </a:t>
            </a:r>
            <a:r>
              <a:rPr lang="en-US" sz="2400">
                <a:solidFill>
                  <a:srgbClr val="C00000"/>
                </a:solidFill>
                <a:latin typeface="Verdana"/>
                <a:ea typeface="Verdana"/>
                <a:cs typeface="Verdana"/>
                <a:sym typeface="Verdana"/>
              </a:rPr>
              <a:t>Construction</a:t>
            </a:r>
            <a:r>
              <a:rPr lang="en-US" sz="2400">
                <a:solidFill>
                  <a:srgbClr val="002060"/>
                </a:solidFill>
                <a:latin typeface="Verdana"/>
                <a:ea typeface="Verdana"/>
                <a:cs typeface="Verdana"/>
                <a:sym typeface="Verdana"/>
              </a:rPr>
              <a:t>: code generation and the testing. </a:t>
            </a:r>
            <a:endParaRPr/>
          </a:p>
          <a:p>
            <a:pPr indent="-342900" lvl="0" marL="342900" rtl="0" algn="l">
              <a:spcBef>
                <a:spcPts val="592"/>
              </a:spcBef>
              <a:spcAft>
                <a:spcPts val="0"/>
              </a:spcAft>
              <a:buClr>
                <a:srgbClr val="002060"/>
              </a:buClr>
              <a:buSzPct val="100000"/>
              <a:buChar char="•"/>
            </a:pPr>
            <a:r>
              <a:rPr lang="en-US" sz="2400">
                <a:solidFill>
                  <a:srgbClr val="002060"/>
                </a:solidFill>
                <a:latin typeface="Verdana"/>
                <a:ea typeface="Verdana"/>
                <a:cs typeface="Verdana"/>
                <a:sym typeface="Verdana"/>
              </a:rPr>
              <a:t> </a:t>
            </a:r>
            <a:r>
              <a:rPr lang="en-US" sz="2400">
                <a:solidFill>
                  <a:srgbClr val="C00000"/>
                </a:solidFill>
                <a:latin typeface="Verdana"/>
                <a:ea typeface="Verdana"/>
                <a:cs typeface="Verdana"/>
                <a:sym typeface="Verdana"/>
              </a:rPr>
              <a:t>Deployment</a:t>
            </a:r>
            <a:r>
              <a:rPr lang="en-US" sz="2400">
                <a:solidFill>
                  <a:srgbClr val="002060"/>
                </a:solidFill>
                <a:latin typeface="Verdana"/>
                <a:ea typeface="Verdana"/>
                <a:cs typeface="Verdana"/>
                <a:sym typeface="Verdana"/>
              </a:rPr>
              <a:t>: Delivered to the customer who evaluates the products and provides feedback based on the evaluation</a:t>
            </a:r>
            <a:r>
              <a:rPr lang="en-US"/>
              <a:t>.</a:t>
            </a:r>
            <a:endParaRPr/>
          </a:p>
        </p:txBody>
      </p:sp>
      <p:sp>
        <p:nvSpPr>
          <p:cNvPr id="135" name="Google Shape;135;p7"/>
          <p:cNvSpPr txBox="1"/>
          <p:nvPr>
            <p:ph type="title"/>
          </p:nvPr>
        </p:nvSpPr>
        <p:spPr>
          <a:xfrm>
            <a:off x="838200" y="228600"/>
            <a:ext cx="7498080" cy="1143000"/>
          </a:xfrm>
          <a:prstGeom prst="rect">
            <a:avLst/>
          </a:prstGeom>
          <a:noFill/>
          <a:ln>
            <a:noFill/>
          </a:ln>
        </p:spPr>
        <p:txBody>
          <a:bodyPr anchorCtr="0" anchor="ctr" bIns="45700" lIns="91425" spcFirstLastPara="1" rIns="91425" wrap="square" tIns="45700">
            <a:normAutofit/>
          </a:bodyPr>
          <a:lstStyle/>
          <a:p>
            <a:pPr indent="-283464" lvl="0" marL="365760" rtl="0" algn="ctr">
              <a:spcBef>
                <a:spcPts val="0"/>
              </a:spcBef>
              <a:spcAft>
                <a:spcPts val="0"/>
              </a:spcAft>
              <a:buClr>
                <a:schemeClr val="accent1"/>
              </a:buClr>
              <a:buSzPts val="2240"/>
              <a:buFont typeface="Verdana"/>
              <a:buNone/>
            </a:pPr>
            <a:r>
              <a:rPr b="1" lang="en-US" sz="2800">
                <a:solidFill>
                  <a:srgbClr val="002060"/>
                </a:solidFill>
                <a:latin typeface="Verdana"/>
                <a:ea typeface="Verdana"/>
                <a:cs typeface="Verdana"/>
                <a:sym typeface="Verdana"/>
              </a:rPr>
              <a:t>The Software Process</a:t>
            </a:r>
            <a:endParaRPr sz="2200">
              <a:solidFill>
                <a:srgbClr val="002060"/>
              </a:solidFill>
              <a:latin typeface="Verdana"/>
              <a:ea typeface="Verdana"/>
              <a:cs typeface="Verdana"/>
              <a:sym typeface="Verdana"/>
            </a:endParaRPr>
          </a:p>
        </p:txBody>
      </p:sp>
    </p:spTree>
  </p:cSld>
  <p:clrMapOvr>
    <a:masterClrMapping/>
  </p:clrMapOvr>
  <p:transition spd="slow">
    <p:wipe dir="l"/>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gtEl>
                                        <p:attrNameLst>
                                          <p:attrName>style.visibility</p:attrName>
                                        </p:attrNameLst>
                                      </p:cBhvr>
                                      <p:to>
                                        <p:strVal val="visible"/>
                                      </p:to>
                                    </p:set>
                                    <p:animEffect filter="fade" transition="in">
                                      <p:cBhvr>
                                        <p:cTn dur="80"/>
                                        <p:tgtEl>
                                          <p:spTgt spid="1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0" st="0"/>
                                            </p:txEl>
                                          </p:spTgt>
                                        </p:tgtEl>
                                        <p:attrNameLst>
                                          <p:attrName>style.visibility</p:attrName>
                                        </p:attrNameLst>
                                      </p:cBhvr>
                                      <p:to>
                                        <p:strVal val="visible"/>
                                      </p:to>
                                    </p:set>
                                    <p:animEffect filter="fade" transition="in">
                                      <p:cBhvr>
                                        <p:cTn dur="2000"/>
                                        <p:tgtEl>
                                          <p:spTgt spid="13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1" st="1"/>
                                            </p:txEl>
                                          </p:spTgt>
                                        </p:tgtEl>
                                        <p:attrNameLst>
                                          <p:attrName>style.visibility</p:attrName>
                                        </p:attrNameLst>
                                      </p:cBhvr>
                                      <p:to>
                                        <p:strVal val="visible"/>
                                      </p:to>
                                    </p:set>
                                    <p:animEffect filter="fade" transition="in">
                                      <p:cBhvr>
                                        <p:cTn dur="2000"/>
                                        <p:tgtEl>
                                          <p:spTgt spid="13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2" st="2"/>
                                            </p:txEl>
                                          </p:spTgt>
                                        </p:tgtEl>
                                        <p:attrNameLst>
                                          <p:attrName>style.visibility</p:attrName>
                                        </p:attrNameLst>
                                      </p:cBhvr>
                                      <p:to>
                                        <p:strVal val="visible"/>
                                      </p:to>
                                    </p:set>
                                    <p:animEffect filter="fade" transition="in">
                                      <p:cBhvr>
                                        <p:cTn dur="2000"/>
                                        <p:tgtEl>
                                          <p:spTgt spid="13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3" st="3"/>
                                            </p:txEl>
                                          </p:spTgt>
                                        </p:tgtEl>
                                        <p:attrNameLst>
                                          <p:attrName>style.visibility</p:attrName>
                                        </p:attrNameLst>
                                      </p:cBhvr>
                                      <p:to>
                                        <p:strVal val="visible"/>
                                      </p:to>
                                    </p:set>
                                    <p:animEffect filter="fade" transition="in">
                                      <p:cBhvr>
                                        <p:cTn dur="2000"/>
                                        <p:tgtEl>
                                          <p:spTgt spid="13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4" st="4"/>
                                            </p:txEl>
                                          </p:spTgt>
                                        </p:tgtEl>
                                        <p:attrNameLst>
                                          <p:attrName>style.visibility</p:attrName>
                                        </p:attrNameLst>
                                      </p:cBhvr>
                                      <p:to>
                                        <p:strVal val="visible"/>
                                      </p:to>
                                    </p:set>
                                    <p:animEffect filter="fade" transition="in">
                                      <p:cBhvr>
                                        <p:cTn dur="2000"/>
                                        <p:tgtEl>
                                          <p:spTgt spid="13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5" st="5"/>
                                            </p:txEl>
                                          </p:spTgt>
                                        </p:tgtEl>
                                        <p:attrNameLst>
                                          <p:attrName>style.visibility</p:attrName>
                                        </p:attrNameLst>
                                      </p:cBhvr>
                                      <p:to>
                                        <p:strVal val="visible"/>
                                      </p:to>
                                    </p:set>
                                    <p:animEffect filter="fade" transition="in">
                                      <p:cBhvr>
                                        <p:cTn dur="2000"/>
                                        <p:tgtEl>
                                          <p:spTgt spid="134">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2000"/>
              <a:buFont typeface="Calibri"/>
              <a:buNone/>
            </a:pPr>
            <a:r>
              <a:rPr lang="en-US" sz="2000"/>
              <a:t>Activities performed in life cycle of a Software Development projects (SDLC-Software Development Life Cycle)</a:t>
            </a:r>
            <a:endParaRPr sz="2000"/>
          </a:p>
        </p:txBody>
      </p:sp>
      <p:sp>
        <p:nvSpPr>
          <p:cNvPr id="141" name="Google Shape;14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29-Jul-24</a:t>
            </a:r>
            <a:endParaRPr/>
          </a:p>
        </p:txBody>
      </p:sp>
      <p:sp>
        <p:nvSpPr>
          <p:cNvPr id="142" name="Google Shape;142;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43" name="Google Shape;143;p8"/>
          <p:cNvPicPr preferRelativeResize="0"/>
          <p:nvPr/>
        </p:nvPicPr>
        <p:blipFill rotWithShape="1">
          <a:blip r:embed="rId3">
            <a:alphaModFix/>
          </a:blip>
          <a:srcRect b="0" l="0" r="0" t="0"/>
          <a:stretch/>
        </p:blipFill>
        <p:spPr>
          <a:xfrm>
            <a:off x="1524000" y="1905000"/>
            <a:ext cx="7010400" cy="41338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29-Jul-24</a:t>
            </a:r>
            <a:endParaRPr/>
          </a:p>
        </p:txBody>
      </p:sp>
      <p:sp>
        <p:nvSpPr>
          <p:cNvPr id="149" name="Google Shape;149;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50" name="Google Shape;150;p9"/>
          <p:cNvSpPr txBox="1"/>
          <p:nvPr>
            <p:ph idx="1" type="body"/>
          </p:nvPr>
        </p:nvSpPr>
        <p:spPr>
          <a:xfrm>
            <a:off x="990600" y="1219200"/>
            <a:ext cx="8153400" cy="5257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2060"/>
              </a:buClr>
              <a:buSzPts val="2100"/>
              <a:buChar char="•"/>
            </a:pPr>
            <a:r>
              <a:rPr lang="en-US" sz="2100">
                <a:solidFill>
                  <a:srgbClr val="002060"/>
                </a:solidFill>
                <a:latin typeface="Verdana"/>
                <a:ea typeface="Verdana"/>
                <a:cs typeface="Verdana"/>
                <a:sym typeface="Verdana"/>
              </a:rPr>
              <a:t>Umbrella Activities</a:t>
            </a:r>
            <a:endParaRPr/>
          </a:p>
          <a:p>
            <a:pPr indent="-342900" lvl="0" marL="342900" rtl="0" algn="l">
              <a:spcBef>
                <a:spcPts val="420"/>
              </a:spcBef>
              <a:spcAft>
                <a:spcPts val="0"/>
              </a:spcAft>
              <a:buClr>
                <a:srgbClr val="002060"/>
              </a:buClr>
              <a:buSzPts val="2100"/>
              <a:buChar char="•"/>
            </a:pPr>
            <a:r>
              <a:rPr lang="en-US" sz="2100">
                <a:solidFill>
                  <a:srgbClr val="002060"/>
                </a:solidFill>
                <a:latin typeface="Verdana"/>
                <a:ea typeface="Verdana"/>
                <a:cs typeface="Verdana"/>
                <a:sym typeface="Verdana"/>
              </a:rPr>
              <a:t>Complement the five process framework activities and help team manage and control progress, quality, change, and risk.</a:t>
            </a:r>
            <a:endParaRPr/>
          </a:p>
          <a:p>
            <a:pPr indent="-342900" lvl="0" marL="342900" rtl="0" algn="l">
              <a:spcBef>
                <a:spcPts val="420"/>
              </a:spcBef>
              <a:spcAft>
                <a:spcPts val="0"/>
              </a:spcAft>
              <a:buClr>
                <a:srgbClr val="002060"/>
              </a:buClr>
              <a:buSzPts val="2100"/>
              <a:buChar char="•"/>
            </a:pPr>
            <a:r>
              <a:rPr lang="en-US" sz="2100">
                <a:solidFill>
                  <a:srgbClr val="002060"/>
                </a:solidFill>
                <a:latin typeface="Verdana"/>
                <a:ea typeface="Verdana"/>
                <a:cs typeface="Verdana"/>
                <a:sym typeface="Verdana"/>
              </a:rPr>
              <a:t> </a:t>
            </a:r>
            <a:r>
              <a:rPr lang="en-US" sz="2100">
                <a:solidFill>
                  <a:srgbClr val="C00000"/>
                </a:solidFill>
                <a:latin typeface="Verdana"/>
                <a:ea typeface="Verdana"/>
                <a:cs typeface="Verdana"/>
                <a:sym typeface="Verdana"/>
              </a:rPr>
              <a:t>Software project tracking and control</a:t>
            </a:r>
            <a:r>
              <a:rPr lang="en-US" sz="2100">
                <a:solidFill>
                  <a:srgbClr val="002060"/>
                </a:solidFill>
                <a:latin typeface="Verdana"/>
                <a:ea typeface="Verdana"/>
                <a:cs typeface="Verdana"/>
                <a:sym typeface="Verdana"/>
              </a:rPr>
              <a:t>: assess progress against the plan and take actions to maintain the schedule. </a:t>
            </a:r>
            <a:endParaRPr/>
          </a:p>
          <a:p>
            <a:pPr indent="-342900" lvl="0" marL="342900" rtl="0" algn="l">
              <a:spcBef>
                <a:spcPts val="420"/>
              </a:spcBef>
              <a:spcAft>
                <a:spcPts val="0"/>
              </a:spcAft>
              <a:buClr>
                <a:srgbClr val="002060"/>
              </a:buClr>
              <a:buSzPts val="2100"/>
              <a:buChar char="•"/>
            </a:pPr>
            <a:r>
              <a:rPr lang="en-US" sz="2100">
                <a:solidFill>
                  <a:srgbClr val="002060"/>
                </a:solidFill>
                <a:latin typeface="Verdana"/>
                <a:ea typeface="Verdana"/>
                <a:cs typeface="Verdana"/>
                <a:sym typeface="Verdana"/>
              </a:rPr>
              <a:t> </a:t>
            </a:r>
            <a:r>
              <a:rPr lang="en-US" sz="2100">
                <a:solidFill>
                  <a:srgbClr val="C00000"/>
                </a:solidFill>
                <a:latin typeface="Verdana"/>
                <a:ea typeface="Verdana"/>
                <a:cs typeface="Verdana"/>
                <a:sym typeface="Verdana"/>
              </a:rPr>
              <a:t>Risk management</a:t>
            </a:r>
            <a:r>
              <a:rPr lang="en-US" sz="2100">
                <a:solidFill>
                  <a:srgbClr val="002060"/>
                </a:solidFill>
                <a:latin typeface="Verdana"/>
                <a:ea typeface="Verdana"/>
                <a:cs typeface="Verdana"/>
                <a:sym typeface="Verdana"/>
              </a:rPr>
              <a:t>: assesses risks that may affect the outcome and quality. </a:t>
            </a:r>
            <a:endParaRPr/>
          </a:p>
          <a:p>
            <a:pPr indent="-342900" lvl="0" marL="342900" rtl="0" algn="l">
              <a:spcBef>
                <a:spcPts val="420"/>
              </a:spcBef>
              <a:spcAft>
                <a:spcPts val="0"/>
              </a:spcAft>
              <a:buClr>
                <a:srgbClr val="002060"/>
              </a:buClr>
              <a:buSzPts val="2100"/>
              <a:buChar char="•"/>
            </a:pPr>
            <a:r>
              <a:rPr lang="en-US" sz="2100">
                <a:solidFill>
                  <a:srgbClr val="002060"/>
                </a:solidFill>
                <a:latin typeface="Verdana"/>
                <a:ea typeface="Verdana"/>
                <a:cs typeface="Verdana"/>
                <a:sym typeface="Verdana"/>
              </a:rPr>
              <a:t> </a:t>
            </a:r>
            <a:r>
              <a:rPr lang="en-US" sz="2100">
                <a:solidFill>
                  <a:srgbClr val="C00000"/>
                </a:solidFill>
                <a:latin typeface="Verdana"/>
                <a:ea typeface="Verdana"/>
                <a:cs typeface="Verdana"/>
                <a:sym typeface="Verdana"/>
              </a:rPr>
              <a:t>Software quality assurance</a:t>
            </a:r>
            <a:r>
              <a:rPr lang="en-US" sz="2100">
                <a:solidFill>
                  <a:srgbClr val="002060"/>
                </a:solidFill>
                <a:latin typeface="Verdana"/>
                <a:ea typeface="Verdana"/>
                <a:cs typeface="Verdana"/>
                <a:sym typeface="Verdana"/>
              </a:rPr>
              <a:t>: defines and conduct activities to ensure quality.</a:t>
            </a:r>
            <a:endParaRPr/>
          </a:p>
          <a:p>
            <a:pPr indent="-342900" lvl="0" marL="342900" rtl="0" algn="l">
              <a:spcBef>
                <a:spcPts val="420"/>
              </a:spcBef>
              <a:spcAft>
                <a:spcPts val="0"/>
              </a:spcAft>
              <a:buClr>
                <a:srgbClr val="002060"/>
              </a:buClr>
              <a:buSzPts val="2100"/>
              <a:buChar char="•"/>
            </a:pPr>
            <a:r>
              <a:rPr lang="en-US" sz="2100">
                <a:solidFill>
                  <a:srgbClr val="002060"/>
                </a:solidFill>
                <a:latin typeface="Verdana"/>
                <a:ea typeface="Verdana"/>
                <a:cs typeface="Verdana"/>
                <a:sym typeface="Verdana"/>
              </a:rPr>
              <a:t> </a:t>
            </a:r>
            <a:r>
              <a:rPr lang="en-US" sz="2100">
                <a:solidFill>
                  <a:srgbClr val="C00000"/>
                </a:solidFill>
                <a:latin typeface="Verdana"/>
                <a:ea typeface="Verdana"/>
                <a:cs typeface="Verdana"/>
                <a:sym typeface="Verdana"/>
              </a:rPr>
              <a:t>Technical reviews</a:t>
            </a:r>
            <a:r>
              <a:rPr lang="en-US" sz="2100">
                <a:solidFill>
                  <a:srgbClr val="002060"/>
                </a:solidFill>
                <a:latin typeface="Verdana"/>
                <a:ea typeface="Verdana"/>
                <a:cs typeface="Verdana"/>
                <a:sym typeface="Verdana"/>
              </a:rPr>
              <a:t>: assesses work products to uncover and remove errors before going to the next activity. </a:t>
            </a:r>
            <a:endParaRPr/>
          </a:p>
        </p:txBody>
      </p:sp>
      <p:sp>
        <p:nvSpPr>
          <p:cNvPr id="151" name="Google Shape;151;p9"/>
          <p:cNvSpPr txBox="1"/>
          <p:nvPr>
            <p:ph type="title"/>
          </p:nvPr>
        </p:nvSpPr>
        <p:spPr>
          <a:xfrm>
            <a:off x="883920" y="381000"/>
            <a:ext cx="7498080" cy="1143000"/>
          </a:xfrm>
          <a:prstGeom prst="rect">
            <a:avLst/>
          </a:prstGeom>
          <a:noFill/>
          <a:ln>
            <a:noFill/>
          </a:ln>
        </p:spPr>
        <p:txBody>
          <a:bodyPr anchorCtr="0" anchor="ctr" bIns="45700" lIns="91425" spcFirstLastPara="1" rIns="91425" wrap="square" tIns="45700">
            <a:normAutofit/>
          </a:bodyPr>
          <a:lstStyle/>
          <a:p>
            <a:pPr indent="-283464" lvl="0" marL="365760" rtl="0" algn="ctr">
              <a:spcBef>
                <a:spcPts val="0"/>
              </a:spcBef>
              <a:spcAft>
                <a:spcPts val="0"/>
              </a:spcAft>
              <a:buClr>
                <a:schemeClr val="accent1"/>
              </a:buClr>
              <a:buSzPts val="2240"/>
              <a:buFont typeface="Verdana"/>
              <a:buNone/>
            </a:pPr>
            <a:r>
              <a:rPr b="1" lang="en-US" sz="2800">
                <a:solidFill>
                  <a:srgbClr val="002060"/>
                </a:solidFill>
                <a:latin typeface="Verdana"/>
                <a:ea typeface="Verdana"/>
                <a:cs typeface="Verdana"/>
                <a:sym typeface="Verdana"/>
              </a:rPr>
              <a:t>The Software Process</a:t>
            </a:r>
            <a:endParaRPr b="1" sz="2800">
              <a:solidFill>
                <a:srgbClr val="002060"/>
              </a:solidFill>
              <a:latin typeface="Verdana"/>
              <a:ea typeface="Verdana"/>
              <a:cs typeface="Verdana"/>
              <a:sym typeface="Verdana"/>
            </a:endParaRPr>
          </a:p>
        </p:txBody>
      </p:sp>
    </p:spTree>
  </p:cSld>
  <p:clrMapOvr>
    <a:masterClrMapping/>
  </p:clrMapOvr>
  <p:transition spd="slow">
    <p:wipe dir="l"/>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2000"/>
                                        <p:tgtEl>
                                          <p:spTgt spid="1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0" st="0"/>
                                            </p:txEl>
                                          </p:spTgt>
                                        </p:tgtEl>
                                        <p:attrNameLst>
                                          <p:attrName>style.visibility</p:attrName>
                                        </p:attrNameLst>
                                      </p:cBhvr>
                                      <p:to>
                                        <p:strVal val="visible"/>
                                      </p:to>
                                    </p:set>
                                    <p:animEffect filter="fade" transition="in">
                                      <p:cBhvr>
                                        <p:cTn dur="500"/>
                                        <p:tgtEl>
                                          <p:spTgt spid="15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1" st="1"/>
                                            </p:txEl>
                                          </p:spTgt>
                                        </p:tgtEl>
                                        <p:attrNameLst>
                                          <p:attrName>style.visibility</p:attrName>
                                        </p:attrNameLst>
                                      </p:cBhvr>
                                      <p:to>
                                        <p:strVal val="visible"/>
                                      </p:to>
                                    </p:set>
                                    <p:animEffect filter="fade" transition="in">
                                      <p:cBhvr>
                                        <p:cTn dur="500"/>
                                        <p:tgtEl>
                                          <p:spTgt spid="15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2" st="2"/>
                                            </p:txEl>
                                          </p:spTgt>
                                        </p:tgtEl>
                                        <p:attrNameLst>
                                          <p:attrName>style.visibility</p:attrName>
                                        </p:attrNameLst>
                                      </p:cBhvr>
                                      <p:to>
                                        <p:strVal val="visible"/>
                                      </p:to>
                                    </p:set>
                                    <p:animEffect filter="fade" transition="in">
                                      <p:cBhvr>
                                        <p:cTn dur="500"/>
                                        <p:tgtEl>
                                          <p:spTgt spid="15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3" st="3"/>
                                            </p:txEl>
                                          </p:spTgt>
                                        </p:tgtEl>
                                        <p:attrNameLst>
                                          <p:attrName>style.visibility</p:attrName>
                                        </p:attrNameLst>
                                      </p:cBhvr>
                                      <p:to>
                                        <p:strVal val="visible"/>
                                      </p:to>
                                    </p:set>
                                    <p:animEffect filter="fade" transition="in">
                                      <p:cBhvr>
                                        <p:cTn dur="500"/>
                                        <p:tgtEl>
                                          <p:spTgt spid="15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4" st="4"/>
                                            </p:txEl>
                                          </p:spTgt>
                                        </p:tgtEl>
                                        <p:attrNameLst>
                                          <p:attrName>style.visibility</p:attrName>
                                        </p:attrNameLst>
                                      </p:cBhvr>
                                      <p:to>
                                        <p:strVal val="visible"/>
                                      </p:to>
                                    </p:set>
                                    <p:animEffect filter="fade" transition="in">
                                      <p:cBhvr>
                                        <p:cTn dur="500"/>
                                        <p:tgtEl>
                                          <p:spTgt spid="15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5" st="5"/>
                                            </p:txEl>
                                          </p:spTgt>
                                        </p:tgtEl>
                                        <p:attrNameLst>
                                          <p:attrName>style.visibility</p:attrName>
                                        </p:attrNameLst>
                                      </p:cBhvr>
                                      <p:to>
                                        <p:strVal val="visible"/>
                                      </p:to>
                                    </p:set>
                                    <p:animEffect filter="fade" transition="in">
                                      <p:cBhvr>
                                        <p:cTn dur="500"/>
                                        <p:tgtEl>
                                          <p:spTgt spid="150">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29-Jul-24</a:t>
            </a:r>
            <a:endParaRPr/>
          </a:p>
        </p:txBody>
      </p:sp>
      <p:sp>
        <p:nvSpPr>
          <p:cNvPr id="157" name="Google Shape;15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58" name="Google Shape;158;p10"/>
          <p:cNvSpPr txBox="1"/>
          <p:nvPr>
            <p:ph idx="1" type="body"/>
          </p:nvPr>
        </p:nvSpPr>
        <p:spPr>
          <a:xfrm>
            <a:off x="990600" y="1295400"/>
            <a:ext cx="8153400" cy="5257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2060"/>
              </a:buClr>
              <a:buSzPts val="2100"/>
              <a:buChar char="•"/>
            </a:pPr>
            <a:r>
              <a:rPr lang="en-US" sz="2100">
                <a:solidFill>
                  <a:srgbClr val="002060"/>
                </a:solidFill>
                <a:latin typeface="Verdana"/>
                <a:ea typeface="Verdana"/>
                <a:cs typeface="Verdana"/>
                <a:sym typeface="Verdana"/>
              </a:rPr>
              <a:t>Umbrella Activities</a:t>
            </a:r>
            <a:endParaRPr/>
          </a:p>
          <a:p>
            <a:pPr indent="-209550" lvl="0" marL="342900" rtl="0" algn="l">
              <a:spcBef>
                <a:spcPts val="420"/>
              </a:spcBef>
              <a:spcAft>
                <a:spcPts val="0"/>
              </a:spcAft>
              <a:buClr>
                <a:schemeClr val="dk1"/>
              </a:buClr>
              <a:buSzPts val="2100"/>
              <a:buNone/>
            </a:pPr>
            <a:r>
              <a:t/>
            </a:r>
            <a:endParaRPr sz="2100">
              <a:solidFill>
                <a:srgbClr val="002060"/>
              </a:solidFill>
              <a:latin typeface="Verdana"/>
              <a:ea typeface="Verdana"/>
              <a:cs typeface="Verdana"/>
              <a:sym typeface="Verdana"/>
            </a:endParaRPr>
          </a:p>
          <a:p>
            <a:pPr indent="-342900" lvl="0" marL="342900" rtl="0" algn="l">
              <a:spcBef>
                <a:spcPts val="420"/>
              </a:spcBef>
              <a:spcAft>
                <a:spcPts val="0"/>
              </a:spcAft>
              <a:buClr>
                <a:srgbClr val="C00000"/>
              </a:buClr>
              <a:buSzPts val="2100"/>
              <a:buChar char="•"/>
            </a:pPr>
            <a:r>
              <a:rPr lang="en-US" sz="2100">
                <a:solidFill>
                  <a:srgbClr val="C00000"/>
                </a:solidFill>
                <a:latin typeface="Verdana"/>
                <a:ea typeface="Verdana"/>
                <a:cs typeface="Verdana"/>
                <a:sym typeface="Verdana"/>
              </a:rPr>
              <a:t>Measurement</a:t>
            </a:r>
            <a:r>
              <a:rPr lang="en-US" sz="2100">
                <a:solidFill>
                  <a:srgbClr val="002060"/>
                </a:solidFill>
                <a:latin typeface="Verdana"/>
                <a:ea typeface="Verdana"/>
                <a:cs typeface="Verdana"/>
                <a:sym typeface="Verdana"/>
              </a:rPr>
              <a:t>: define and collects process, project, and product measures to ensure stakeholder’s needs are met.</a:t>
            </a:r>
            <a:endParaRPr/>
          </a:p>
          <a:p>
            <a:pPr indent="-342900" lvl="0" marL="342900" rtl="0" algn="l">
              <a:spcBef>
                <a:spcPts val="420"/>
              </a:spcBef>
              <a:spcAft>
                <a:spcPts val="0"/>
              </a:spcAft>
              <a:buClr>
                <a:srgbClr val="C00000"/>
              </a:buClr>
              <a:buSzPts val="2100"/>
              <a:buChar char="•"/>
            </a:pPr>
            <a:r>
              <a:rPr lang="en-US" sz="2100">
                <a:solidFill>
                  <a:srgbClr val="C00000"/>
                </a:solidFill>
                <a:latin typeface="Verdana"/>
                <a:ea typeface="Verdana"/>
                <a:cs typeface="Verdana"/>
                <a:sym typeface="Verdana"/>
              </a:rPr>
              <a:t>Software configuration management</a:t>
            </a:r>
            <a:r>
              <a:rPr lang="en-US" sz="2100">
                <a:solidFill>
                  <a:srgbClr val="002060"/>
                </a:solidFill>
                <a:latin typeface="Verdana"/>
                <a:ea typeface="Verdana"/>
                <a:cs typeface="Verdana"/>
                <a:sym typeface="Verdana"/>
              </a:rPr>
              <a:t>: manage the effects of change throughout the software process. </a:t>
            </a:r>
            <a:endParaRPr/>
          </a:p>
          <a:p>
            <a:pPr indent="-342900" lvl="0" marL="342900" rtl="0" algn="l">
              <a:spcBef>
                <a:spcPts val="420"/>
              </a:spcBef>
              <a:spcAft>
                <a:spcPts val="0"/>
              </a:spcAft>
              <a:buClr>
                <a:srgbClr val="C00000"/>
              </a:buClr>
              <a:buSzPts val="2100"/>
              <a:buChar char="•"/>
            </a:pPr>
            <a:r>
              <a:rPr lang="en-US" sz="2100">
                <a:solidFill>
                  <a:srgbClr val="C00000"/>
                </a:solidFill>
                <a:latin typeface="Verdana"/>
                <a:ea typeface="Verdana"/>
                <a:cs typeface="Verdana"/>
                <a:sym typeface="Verdana"/>
              </a:rPr>
              <a:t>Reusability management</a:t>
            </a:r>
            <a:r>
              <a:rPr lang="en-US" sz="2100">
                <a:solidFill>
                  <a:srgbClr val="002060"/>
                </a:solidFill>
                <a:latin typeface="Verdana"/>
                <a:ea typeface="Verdana"/>
                <a:cs typeface="Verdana"/>
                <a:sym typeface="Verdana"/>
              </a:rPr>
              <a:t>: defines criteria for work product reuse and establishes mechanism to achieve reusable components. </a:t>
            </a:r>
            <a:endParaRPr/>
          </a:p>
          <a:p>
            <a:pPr indent="-342900" lvl="0" marL="342900" rtl="0" algn="l">
              <a:spcBef>
                <a:spcPts val="420"/>
              </a:spcBef>
              <a:spcAft>
                <a:spcPts val="0"/>
              </a:spcAft>
              <a:buClr>
                <a:srgbClr val="C00000"/>
              </a:buClr>
              <a:buSzPts val="2100"/>
              <a:buChar char="•"/>
            </a:pPr>
            <a:r>
              <a:rPr lang="en-US" sz="2100">
                <a:solidFill>
                  <a:srgbClr val="C00000"/>
                </a:solidFill>
                <a:latin typeface="Verdana"/>
                <a:ea typeface="Verdana"/>
                <a:cs typeface="Verdana"/>
                <a:sym typeface="Verdana"/>
              </a:rPr>
              <a:t>Work product preparation and production</a:t>
            </a:r>
            <a:r>
              <a:rPr lang="en-US" sz="2100">
                <a:solidFill>
                  <a:srgbClr val="002060"/>
                </a:solidFill>
                <a:latin typeface="Verdana"/>
                <a:ea typeface="Verdana"/>
                <a:cs typeface="Verdana"/>
                <a:sym typeface="Verdana"/>
              </a:rPr>
              <a:t>: create work products such as models, documents, logs, forms and lists.</a:t>
            </a:r>
            <a:endParaRPr/>
          </a:p>
        </p:txBody>
      </p:sp>
      <p:sp>
        <p:nvSpPr>
          <p:cNvPr id="159" name="Google Shape;159;p10"/>
          <p:cNvSpPr txBox="1"/>
          <p:nvPr>
            <p:ph type="title"/>
          </p:nvPr>
        </p:nvSpPr>
        <p:spPr>
          <a:xfrm>
            <a:off x="914400" y="457200"/>
            <a:ext cx="7498080" cy="838200"/>
          </a:xfrm>
          <a:prstGeom prst="rect">
            <a:avLst/>
          </a:prstGeom>
          <a:noFill/>
          <a:ln>
            <a:noFill/>
          </a:ln>
        </p:spPr>
        <p:txBody>
          <a:bodyPr anchorCtr="0" anchor="ctr" bIns="45700" lIns="91425" spcFirstLastPara="1" rIns="91425" wrap="square" tIns="45700">
            <a:normAutofit/>
          </a:bodyPr>
          <a:lstStyle/>
          <a:p>
            <a:pPr indent="-283464" lvl="0" marL="365760" rtl="0" algn="ctr">
              <a:spcBef>
                <a:spcPts val="0"/>
              </a:spcBef>
              <a:spcAft>
                <a:spcPts val="0"/>
              </a:spcAft>
              <a:buClr>
                <a:schemeClr val="accent1"/>
              </a:buClr>
              <a:buSzPts val="2240"/>
              <a:buFont typeface="Verdana"/>
              <a:buNone/>
            </a:pPr>
            <a:r>
              <a:rPr b="1" lang="en-US" sz="2800">
                <a:solidFill>
                  <a:srgbClr val="002060"/>
                </a:solidFill>
                <a:latin typeface="Verdana"/>
                <a:ea typeface="Verdana"/>
                <a:cs typeface="Verdana"/>
                <a:sym typeface="Verdana"/>
              </a:rPr>
              <a:t>The Software Process</a:t>
            </a:r>
            <a:endParaRPr b="1" sz="2800">
              <a:solidFill>
                <a:srgbClr val="002060"/>
              </a:solidFill>
              <a:latin typeface="Verdana"/>
              <a:ea typeface="Verdana"/>
              <a:cs typeface="Verdana"/>
              <a:sym typeface="Verdana"/>
            </a:endParaRPr>
          </a:p>
        </p:txBody>
      </p:sp>
    </p:spTree>
  </p:cSld>
  <p:clrMapOvr>
    <a:masterClrMapping/>
  </p:clrMapOvr>
  <p:transition spd="slow">
    <p:wipe dir="l"/>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
                                        </p:tgtEl>
                                        <p:attrNameLst>
                                          <p:attrName>style.visibility</p:attrName>
                                        </p:attrNameLst>
                                      </p:cBhvr>
                                      <p:to>
                                        <p:strVal val="visible"/>
                                      </p:to>
                                    </p:set>
                                    <p:animEffect filter="fade" transition="in">
                                      <p:cBhvr>
                                        <p:cTn dur="80"/>
                                        <p:tgtEl>
                                          <p:spTgt spid="1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0" st="0"/>
                                            </p:txEl>
                                          </p:spTgt>
                                        </p:tgtEl>
                                        <p:attrNameLst>
                                          <p:attrName>style.visibility</p:attrName>
                                        </p:attrNameLst>
                                      </p:cBhvr>
                                      <p:to>
                                        <p:strVal val="visible"/>
                                      </p:to>
                                    </p:set>
                                    <p:animEffect filter="fade" transition="in">
                                      <p:cBhvr>
                                        <p:cTn dur="2000"/>
                                        <p:tgtEl>
                                          <p:spTgt spid="15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1" st="1"/>
                                            </p:txEl>
                                          </p:spTgt>
                                        </p:tgtEl>
                                        <p:attrNameLst>
                                          <p:attrName>style.visibility</p:attrName>
                                        </p:attrNameLst>
                                      </p:cBhvr>
                                      <p:to>
                                        <p:strVal val="visible"/>
                                      </p:to>
                                    </p:set>
                                    <p:animEffect filter="fade" transition="in">
                                      <p:cBhvr>
                                        <p:cTn dur="2000"/>
                                        <p:tgtEl>
                                          <p:spTgt spid="15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2" st="2"/>
                                            </p:txEl>
                                          </p:spTgt>
                                        </p:tgtEl>
                                        <p:attrNameLst>
                                          <p:attrName>style.visibility</p:attrName>
                                        </p:attrNameLst>
                                      </p:cBhvr>
                                      <p:to>
                                        <p:strVal val="visible"/>
                                      </p:to>
                                    </p:set>
                                    <p:animEffect filter="fade" transition="in">
                                      <p:cBhvr>
                                        <p:cTn dur="2000"/>
                                        <p:tgtEl>
                                          <p:spTgt spid="15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3" st="3"/>
                                            </p:txEl>
                                          </p:spTgt>
                                        </p:tgtEl>
                                        <p:attrNameLst>
                                          <p:attrName>style.visibility</p:attrName>
                                        </p:attrNameLst>
                                      </p:cBhvr>
                                      <p:to>
                                        <p:strVal val="visible"/>
                                      </p:to>
                                    </p:set>
                                    <p:animEffect filter="fade" transition="in">
                                      <p:cBhvr>
                                        <p:cTn dur="2000"/>
                                        <p:tgtEl>
                                          <p:spTgt spid="15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4" st="4"/>
                                            </p:txEl>
                                          </p:spTgt>
                                        </p:tgtEl>
                                        <p:attrNameLst>
                                          <p:attrName>style.visibility</p:attrName>
                                        </p:attrNameLst>
                                      </p:cBhvr>
                                      <p:to>
                                        <p:strVal val="visible"/>
                                      </p:to>
                                    </p:set>
                                    <p:animEffect filter="fade" transition="in">
                                      <p:cBhvr>
                                        <p:cTn dur="2000"/>
                                        <p:tgtEl>
                                          <p:spTgt spid="15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5" st="5"/>
                                            </p:txEl>
                                          </p:spTgt>
                                        </p:tgtEl>
                                        <p:attrNameLst>
                                          <p:attrName>style.visibility</p:attrName>
                                        </p:attrNameLst>
                                      </p:cBhvr>
                                      <p:to>
                                        <p:strVal val="visible"/>
                                      </p:to>
                                    </p:set>
                                    <p:animEffect filter="fade" transition="in">
                                      <p:cBhvr>
                                        <p:cTn dur="2000"/>
                                        <p:tgtEl>
                                          <p:spTgt spid="158">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1"/>
          <p:cNvSpPr txBox="1"/>
          <p:nvPr>
            <p:ph idx="4294967295" type="ftr"/>
          </p:nvPr>
        </p:nvSpPr>
        <p:spPr>
          <a:xfrm>
            <a:off x="4145947" y="6420407"/>
            <a:ext cx="829913" cy="487313"/>
          </a:xfrm>
          <a:prstGeom prst="rect">
            <a:avLst/>
          </a:prstGeom>
          <a:noFill/>
          <a:ln>
            <a:noFill/>
          </a:ln>
        </p:spPr>
        <p:txBody>
          <a:bodyPr anchorCtr="0" anchor="ctr" bIns="0" lIns="0" spcFirstLastPara="1" rIns="0" wrap="square" tIns="0">
            <a:spAutoFit/>
          </a:bodyPr>
          <a:lstStyle/>
          <a:p>
            <a:pPr indent="0" lvl="0" marL="43180" rtl="0" algn="ctr">
              <a:lnSpc>
                <a:spcPct val="155333"/>
              </a:lnSpc>
              <a:spcBef>
                <a:spcPts val="0"/>
              </a:spcBef>
              <a:spcAft>
                <a:spcPts val="0"/>
              </a:spcAft>
              <a:buNone/>
            </a:pPr>
            <a:r>
              <a:rPr lang="en-US"/>
              <a:t>MODULE 1</a:t>
            </a:r>
            <a:endParaRPr/>
          </a:p>
        </p:txBody>
      </p:sp>
      <p:sp>
        <p:nvSpPr>
          <p:cNvPr id="165" name="Google Shape;165;p11"/>
          <p:cNvSpPr txBox="1"/>
          <p:nvPr>
            <p:ph idx="4294967295" type="sldNum"/>
          </p:nvPr>
        </p:nvSpPr>
        <p:spPr>
          <a:xfrm>
            <a:off x="8164259" y="6420407"/>
            <a:ext cx="320802" cy="487313"/>
          </a:xfrm>
          <a:prstGeom prst="rect">
            <a:avLst/>
          </a:prstGeom>
          <a:noFill/>
          <a:ln>
            <a:noFill/>
          </a:ln>
        </p:spPr>
        <p:txBody>
          <a:bodyPr anchorCtr="0" anchor="ctr" bIns="0" lIns="0" spcFirstLastPara="1" rIns="0" wrap="square" tIns="0">
            <a:spAutoFit/>
          </a:bodyPr>
          <a:lstStyle/>
          <a:p>
            <a:pPr indent="0" lvl="0" marL="150495" rtl="0" algn="r">
              <a:lnSpc>
                <a:spcPct val="155333"/>
              </a:lnSpc>
              <a:spcBef>
                <a:spcPts val="0"/>
              </a:spcBef>
              <a:spcAft>
                <a:spcPts val="0"/>
              </a:spcAft>
              <a:buNone/>
            </a:pPr>
            <a:fld id="{00000000-1234-1234-1234-123412341234}" type="slidenum">
              <a:rPr lang="en-US"/>
              <a:t>‹#›</a:t>
            </a:fld>
            <a:endParaRPr/>
          </a:p>
        </p:txBody>
      </p:sp>
      <p:sp>
        <p:nvSpPr>
          <p:cNvPr id="166" name="Google Shape;166;p11"/>
          <p:cNvSpPr txBox="1"/>
          <p:nvPr>
            <p:ph type="title"/>
          </p:nvPr>
        </p:nvSpPr>
        <p:spPr>
          <a:xfrm>
            <a:off x="1734455" y="228600"/>
            <a:ext cx="6206586" cy="566181"/>
          </a:xfrm>
          <a:prstGeom prst="rect">
            <a:avLst/>
          </a:prstGeom>
          <a:noFill/>
          <a:ln>
            <a:noFill/>
          </a:ln>
        </p:spPr>
        <p:txBody>
          <a:bodyPr anchorCtr="0" anchor="ctr" bIns="0" lIns="0" spcFirstLastPara="1" rIns="0" wrap="square" tIns="12050">
            <a:spAutoFit/>
          </a:bodyPr>
          <a:lstStyle/>
          <a:p>
            <a:pPr indent="0" lvl="0" marL="12700" rtl="0" algn="ctr">
              <a:lnSpc>
                <a:spcPct val="100000"/>
              </a:lnSpc>
              <a:spcBef>
                <a:spcPts val="0"/>
              </a:spcBef>
              <a:spcAft>
                <a:spcPts val="0"/>
              </a:spcAft>
              <a:buClr>
                <a:schemeClr val="dk1"/>
              </a:buClr>
              <a:buSzPts val="3600"/>
              <a:buFont typeface="Calibri"/>
              <a:buNone/>
            </a:pPr>
            <a:r>
              <a:rPr lang="en-US" sz="3600"/>
              <a:t>Metrics, Measures &amp; Indicators</a:t>
            </a:r>
            <a:endParaRPr/>
          </a:p>
        </p:txBody>
      </p:sp>
      <p:sp>
        <p:nvSpPr>
          <p:cNvPr id="167" name="Google Shape;167;p11"/>
          <p:cNvSpPr txBox="1"/>
          <p:nvPr/>
        </p:nvSpPr>
        <p:spPr>
          <a:xfrm>
            <a:off x="1066800" y="852814"/>
            <a:ext cx="7999096" cy="5700278"/>
          </a:xfrm>
          <a:prstGeom prst="rect">
            <a:avLst/>
          </a:prstGeom>
          <a:noFill/>
          <a:ln>
            <a:noFill/>
          </a:ln>
        </p:spPr>
        <p:txBody>
          <a:bodyPr anchorCtr="0" anchor="t" bIns="0" lIns="0" spcFirstLastPara="1" rIns="0" wrap="square" tIns="59675">
            <a:spAutoFit/>
          </a:bodyPr>
          <a:lstStyle/>
          <a:p>
            <a:pPr indent="0" lvl="0" marL="12700" marR="569595" rtl="0" algn="l">
              <a:lnSpc>
                <a:spcPct val="151500"/>
              </a:lnSpc>
              <a:spcBef>
                <a:spcPts val="0"/>
              </a:spcBef>
              <a:spcAft>
                <a:spcPts val="0"/>
              </a:spcAft>
              <a:buNone/>
            </a:pPr>
            <a:r>
              <a:rPr b="1" i="0" lang="en-US" sz="2000" u="none" cap="none" strike="noStrike">
                <a:solidFill>
                  <a:srgbClr val="006FC0"/>
                </a:solidFill>
                <a:latin typeface="Calibri"/>
                <a:ea typeface="Calibri"/>
                <a:cs typeface="Calibri"/>
                <a:sym typeface="Calibri"/>
              </a:rPr>
              <a:t>Measures </a:t>
            </a:r>
            <a:r>
              <a:rPr b="0" i="0" lang="en-US" sz="2000" u="none" cap="none" strike="noStrike">
                <a:solidFill>
                  <a:schemeClr val="dk1"/>
                </a:solidFill>
                <a:latin typeface="Calibri"/>
                <a:ea typeface="Calibri"/>
                <a:cs typeface="Calibri"/>
                <a:sym typeface="Calibri"/>
              </a:rPr>
              <a:t>is a number or a </a:t>
            </a:r>
            <a:r>
              <a:rPr b="0" i="0" lang="en-US" sz="2000" u="sng" cap="none" strike="noStrike">
                <a:solidFill>
                  <a:schemeClr val="dk1"/>
                </a:solidFill>
                <a:latin typeface="Calibri"/>
                <a:ea typeface="Calibri"/>
                <a:cs typeface="Calibri"/>
                <a:sym typeface="Calibri"/>
              </a:rPr>
              <a:t>quantity </a:t>
            </a:r>
            <a:r>
              <a:rPr b="0" i="0" lang="en-US" sz="2000" u="none" cap="none" strike="noStrike">
                <a:solidFill>
                  <a:schemeClr val="dk1"/>
                </a:solidFill>
                <a:latin typeface="Calibri"/>
                <a:ea typeface="Calibri"/>
                <a:cs typeface="Calibri"/>
                <a:sym typeface="Calibri"/>
              </a:rPr>
              <a:t>that records a directly observable value or performance.</a:t>
            </a:r>
            <a:endParaRPr/>
          </a:p>
          <a:p>
            <a:pPr indent="0" lvl="0" marL="12700" marR="569595" rtl="0" algn="l">
              <a:lnSpc>
                <a:spcPct val="151500"/>
              </a:lnSpc>
              <a:spcBef>
                <a:spcPts val="470"/>
              </a:spcBef>
              <a:spcAft>
                <a:spcPts val="0"/>
              </a:spcAft>
              <a:buNone/>
            </a:pPr>
            <a:r>
              <a:rPr b="0" i="0" lang="en-US" sz="2000" u="none" cap="none" strike="noStrike">
                <a:solidFill>
                  <a:schemeClr val="dk1"/>
                </a:solidFill>
                <a:latin typeface="Calibri"/>
                <a:ea typeface="Calibri"/>
                <a:cs typeface="Calibri"/>
                <a:sym typeface="Calibri"/>
              </a:rPr>
              <a:t>A measurement is a manifestation of the size, quantity, amount, or dimension of a particular attribute of a product or process.</a:t>
            </a:r>
            <a:endParaRPr b="0" i="0" sz="2000" u="none" cap="none" strike="noStrike">
              <a:solidFill>
                <a:schemeClr val="dk1"/>
              </a:solidFill>
              <a:latin typeface="Calibri"/>
              <a:ea typeface="Calibri"/>
              <a:cs typeface="Calibri"/>
              <a:sym typeface="Calibri"/>
            </a:endParaRPr>
          </a:p>
          <a:p>
            <a:pPr indent="0" lvl="0" marL="12700" marR="569595" rtl="0" algn="l">
              <a:lnSpc>
                <a:spcPct val="151500"/>
              </a:lnSpc>
              <a:spcBef>
                <a:spcPts val="470"/>
              </a:spcBef>
              <a:spcAft>
                <a:spcPts val="0"/>
              </a:spcAft>
              <a:buNone/>
            </a:pPr>
            <a:r>
              <a:t/>
            </a:r>
            <a:endParaRPr b="1" i="0" sz="2000" u="none" cap="none" strike="noStrike">
              <a:solidFill>
                <a:srgbClr val="006FC0"/>
              </a:solidFill>
              <a:latin typeface="Calibri"/>
              <a:ea typeface="Calibri"/>
              <a:cs typeface="Calibri"/>
              <a:sym typeface="Calibri"/>
            </a:endParaRPr>
          </a:p>
          <a:p>
            <a:pPr indent="0" lvl="0" marL="12700" marR="569595" rtl="0" algn="l">
              <a:lnSpc>
                <a:spcPct val="151500"/>
              </a:lnSpc>
              <a:spcBef>
                <a:spcPts val="470"/>
              </a:spcBef>
              <a:spcAft>
                <a:spcPts val="0"/>
              </a:spcAft>
              <a:buNone/>
            </a:pPr>
            <a:r>
              <a:rPr b="1" i="0" lang="en-US" sz="2000" u="none" cap="none" strike="noStrike">
                <a:solidFill>
                  <a:srgbClr val="006FC0"/>
                </a:solidFill>
                <a:latin typeface="Calibri"/>
                <a:ea typeface="Calibri"/>
                <a:cs typeface="Calibri"/>
                <a:sym typeface="Calibri"/>
              </a:rPr>
              <a:t>Metrics </a:t>
            </a:r>
            <a:r>
              <a:rPr b="0" i="0" lang="en-US" sz="2000" u="none" cap="none" strike="noStrike">
                <a:solidFill>
                  <a:schemeClr val="dk1"/>
                </a:solidFill>
                <a:latin typeface="Calibri"/>
                <a:ea typeface="Calibri"/>
                <a:cs typeface="Calibri"/>
                <a:sym typeface="Calibri"/>
              </a:rPr>
              <a:t>represent the different </a:t>
            </a:r>
            <a:r>
              <a:rPr b="0" i="0" lang="en-US" sz="2000" u="sng" cap="none" strike="noStrike">
                <a:solidFill>
                  <a:schemeClr val="dk1"/>
                </a:solidFill>
                <a:latin typeface="Calibri"/>
                <a:ea typeface="Calibri"/>
                <a:cs typeface="Calibri"/>
                <a:sym typeface="Calibri"/>
              </a:rPr>
              <a:t>methods </a:t>
            </a:r>
            <a:r>
              <a:rPr b="0" i="0" lang="en-US" sz="2000" u="none" cap="none" strike="noStrike">
                <a:solidFill>
                  <a:schemeClr val="dk1"/>
                </a:solidFill>
                <a:latin typeface="Calibri"/>
                <a:ea typeface="Calibri"/>
                <a:cs typeface="Calibri"/>
                <a:sym typeface="Calibri"/>
              </a:rPr>
              <a:t>employed to understand change over time across a number of dimensions or criteria.</a:t>
            </a:r>
            <a:endParaRPr b="0" i="0" sz="2000" u="none" cap="none" strike="noStrike">
              <a:solidFill>
                <a:schemeClr val="dk1"/>
              </a:solidFill>
              <a:latin typeface="Calibri"/>
              <a:ea typeface="Calibri"/>
              <a:cs typeface="Calibri"/>
              <a:sym typeface="Calibri"/>
            </a:endParaRPr>
          </a:p>
          <a:p>
            <a:pPr indent="0" lvl="0" marL="12700" marR="5080" rtl="0" algn="l">
              <a:lnSpc>
                <a:spcPct val="90000"/>
              </a:lnSpc>
              <a:spcBef>
                <a:spcPts val="950"/>
              </a:spcBef>
              <a:spcAft>
                <a:spcPts val="0"/>
              </a:spcAft>
              <a:buNone/>
            </a:pPr>
            <a:r>
              <a:rPr b="0" i="0" lang="en-US" sz="2000" u="none" cap="none" strike="noStrike">
                <a:solidFill>
                  <a:schemeClr val="dk1"/>
                </a:solidFill>
                <a:latin typeface="Calibri"/>
                <a:ea typeface="Calibri"/>
                <a:cs typeface="Calibri"/>
                <a:sym typeface="Calibri"/>
              </a:rPr>
              <a:t>It is often used as a catch all terms to describe the method used to measure something, the resulting values obtained from measuring, as well as a calculated or combined set of measures.</a:t>
            </a:r>
            <a:endParaRPr b="0" i="0" sz="2000" u="none" cap="none" strike="noStrike">
              <a:solidFill>
                <a:schemeClr val="dk1"/>
              </a:solidFill>
              <a:latin typeface="Calibri"/>
              <a:ea typeface="Calibri"/>
              <a:cs typeface="Calibri"/>
              <a:sym typeface="Calibri"/>
            </a:endParaRPr>
          </a:p>
          <a:p>
            <a:pPr indent="0" lvl="0" marL="12700" marR="257175" rtl="0" algn="l">
              <a:lnSpc>
                <a:spcPct val="151000"/>
              </a:lnSpc>
              <a:spcBef>
                <a:spcPts val="985"/>
              </a:spcBef>
              <a:spcAft>
                <a:spcPts val="0"/>
              </a:spcAft>
              <a:buNone/>
            </a:pPr>
            <a:r>
              <a:t/>
            </a:r>
            <a:endParaRPr b="1" i="0" sz="2000" u="none" cap="none" strike="noStrike">
              <a:solidFill>
                <a:srgbClr val="006FC0"/>
              </a:solidFill>
              <a:latin typeface="Calibri"/>
              <a:ea typeface="Calibri"/>
              <a:cs typeface="Calibri"/>
              <a:sym typeface="Calibri"/>
            </a:endParaRPr>
          </a:p>
          <a:p>
            <a:pPr indent="0" lvl="0" marL="12700" marR="257175" rtl="0" algn="l">
              <a:lnSpc>
                <a:spcPct val="151000"/>
              </a:lnSpc>
              <a:spcBef>
                <a:spcPts val="985"/>
              </a:spcBef>
              <a:spcAft>
                <a:spcPts val="0"/>
              </a:spcAft>
              <a:buNone/>
            </a:pPr>
            <a:r>
              <a:rPr b="1" i="0" lang="en-US" sz="2000" u="none" cap="none" strike="noStrike">
                <a:solidFill>
                  <a:srgbClr val="006FC0"/>
                </a:solidFill>
                <a:latin typeface="Calibri"/>
                <a:ea typeface="Calibri"/>
                <a:cs typeface="Calibri"/>
                <a:sym typeface="Calibri"/>
              </a:rPr>
              <a:t>Indicators are </a:t>
            </a:r>
            <a:r>
              <a:rPr b="0" i="0" lang="en-US" sz="2000" u="none" cap="none" strike="noStrike">
                <a:solidFill>
                  <a:schemeClr val="dk1"/>
                </a:solidFill>
                <a:latin typeface="Calibri"/>
                <a:ea typeface="Calibri"/>
                <a:cs typeface="Calibri"/>
                <a:sym typeface="Calibri"/>
              </a:rPr>
              <a:t>qualitative or quantitative </a:t>
            </a:r>
            <a:r>
              <a:rPr b="0" i="0" lang="en-US" sz="2000" u="sng" cap="none" strike="noStrike">
                <a:solidFill>
                  <a:schemeClr val="dk1"/>
                </a:solidFill>
                <a:latin typeface="Calibri"/>
                <a:ea typeface="Calibri"/>
                <a:cs typeface="Calibri"/>
                <a:sym typeface="Calibri"/>
              </a:rPr>
              <a:t>factors</a:t>
            </a:r>
            <a:r>
              <a:rPr b="0" i="0" lang="en-US" sz="2000" u="none" cap="none" strike="noStrike">
                <a:solidFill>
                  <a:schemeClr val="dk1"/>
                </a:solidFill>
                <a:latin typeface="Calibri"/>
                <a:ea typeface="Calibri"/>
                <a:cs typeface="Calibri"/>
                <a:sym typeface="Calibri"/>
              </a:rPr>
              <a:t> or variables that provide a simple and reliable </a:t>
            </a:r>
            <a:r>
              <a:rPr b="0" i="0" lang="en-US" sz="2000" u="sng" cap="none" strike="noStrike">
                <a:solidFill>
                  <a:schemeClr val="dk1"/>
                </a:solidFill>
                <a:latin typeface="Calibri"/>
                <a:ea typeface="Calibri"/>
                <a:cs typeface="Calibri"/>
                <a:sym typeface="Calibri"/>
              </a:rPr>
              <a:t>meaning</a:t>
            </a:r>
            <a:r>
              <a:rPr b="0" i="0" lang="en-US" sz="2000" u="none" cap="none" strike="noStrike">
                <a:solidFill>
                  <a:schemeClr val="dk1"/>
                </a:solidFill>
                <a:latin typeface="Calibri"/>
                <a:ea typeface="Calibri"/>
                <a:cs typeface="Calibri"/>
                <a:sym typeface="Calibri"/>
              </a:rPr>
              <a:t> to express achievement, the attainment of a goal, or the results stemming from a specific change</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2"/>
          <p:cNvSpPr txBox="1"/>
          <p:nvPr>
            <p:ph type="title"/>
          </p:nvPr>
        </p:nvSpPr>
        <p:spPr>
          <a:xfrm>
            <a:off x="1295400" y="274638"/>
            <a:ext cx="7638288" cy="9445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2800"/>
              <a:buFont typeface="Calibri"/>
              <a:buNone/>
            </a:pPr>
            <a:r>
              <a:rPr b="1" lang="en-US" sz="2800"/>
              <a:t>Classification of Software Measurement</a:t>
            </a:r>
            <a:endParaRPr sz="2800"/>
          </a:p>
        </p:txBody>
      </p:sp>
      <p:sp>
        <p:nvSpPr>
          <p:cNvPr id="173" name="Google Shape;173;p12"/>
          <p:cNvSpPr txBox="1"/>
          <p:nvPr>
            <p:ph idx="1" type="body"/>
          </p:nvPr>
        </p:nvSpPr>
        <p:spPr>
          <a:xfrm>
            <a:off x="1143000" y="1295400"/>
            <a:ext cx="7790688" cy="4953000"/>
          </a:xfrm>
          <a:prstGeom prst="rect">
            <a:avLst/>
          </a:prstGeom>
          <a:noFill/>
          <a:ln>
            <a:noFill/>
          </a:ln>
        </p:spPr>
        <p:txBody>
          <a:bodyPr anchorCtr="0" anchor="t" bIns="45700" lIns="91425" spcFirstLastPara="1" rIns="91425" wrap="square" tIns="45700">
            <a:normAutofit fontScale="92500" lnSpcReduction="10000"/>
          </a:bodyPr>
          <a:lstStyle/>
          <a:p>
            <a:pPr indent="0" lvl="0" marL="82296" rtl="0" algn="l">
              <a:spcBef>
                <a:spcPts val="0"/>
              </a:spcBef>
              <a:spcAft>
                <a:spcPts val="0"/>
              </a:spcAft>
              <a:buClr>
                <a:schemeClr val="dk1"/>
              </a:buClr>
              <a:buSzPct val="100000"/>
              <a:buNone/>
            </a:pPr>
            <a:r>
              <a:rPr lang="en-US"/>
              <a:t>There are 2 types of software measurement: </a:t>
            </a:r>
            <a:endParaRPr/>
          </a:p>
          <a:p>
            <a:pPr indent="-342900" lvl="0" marL="342900" rtl="0" algn="l">
              <a:spcBef>
                <a:spcPts val="592"/>
              </a:spcBef>
              <a:spcAft>
                <a:spcPts val="0"/>
              </a:spcAft>
              <a:buClr>
                <a:schemeClr val="dk1"/>
              </a:buClr>
              <a:buSzPct val="100000"/>
              <a:buChar char="•"/>
            </a:pPr>
            <a:r>
              <a:rPr b="1" lang="en-US"/>
              <a:t>Direct Measurement:</a:t>
            </a:r>
            <a:r>
              <a:rPr lang="en-US"/>
              <a:t> </a:t>
            </a:r>
            <a:endParaRPr/>
          </a:p>
          <a:p>
            <a:pPr indent="-285750" lvl="1" marL="742950" rtl="0" algn="l">
              <a:spcBef>
                <a:spcPts val="518"/>
              </a:spcBef>
              <a:spcAft>
                <a:spcPts val="0"/>
              </a:spcAft>
              <a:buClr>
                <a:schemeClr val="dk1"/>
              </a:buClr>
              <a:buSzPct val="100000"/>
              <a:buChar char="–"/>
            </a:pPr>
            <a:r>
              <a:rPr lang="en-US"/>
              <a:t>In direct measurement, the product, process, or thing is measured directly using a standard scale.</a:t>
            </a:r>
            <a:endParaRPr/>
          </a:p>
          <a:p>
            <a:pPr indent="-285750" lvl="1" marL="742950" rtl="0" algn="l">
              <a:spcBef>
                <a:spcPts val="518"/>
              </a:spcBef>
              <a:spcAft>
                <a:spcPts val="0"/>
              </a:spcAft>
              <a:buClr>
                <a:schemeClr val="dk1"/>
              </a:buClr>
              <a:buSzPct val="100000"/>
              <a:buChar char="–"/>
            </a:pPr>
            <a:r>
              <a:rPr lang="en-US"/>
              <a:t>EX. LOC, Execution time, No. of Errors etc.</a:t>
            </a:r>
            <a:endParaRPr/>
          </a:p>
          <a:p>
            <a:pPr indent="-154940" lvl="0" marL="342900" rtl="0" algn="l">
              <a:spcBef>
                <a:spcPts val="592"/>
              </a:spcBef>
              <a:spcAft>
                <a:spcPts val="0"/>
              </a:spcAft>
              <a:buClr>
                <a:schemeClr val="dk1"/>
              </a:buClr>
              <a:buSzPct val="100000"/>
              <a:buNone/>
            </a:pPr>
            <a:r>
              <a:t/>
            </a:r>
            <a:endParaRPr b="1"/>
          </a:p>
          <a:p>
            <a:pPr indent="-342900" lvl="0" marL="342900" rtl="0" algn="l">
              <a:spcBef>
                <a:spcPts val="592"/>
              </a:spcBef>
              <a:spcAft>
                <a:spcPts val="0"/>
              </a:spcAft>
              <a:buClr>
                <a:schemeClr val="dk1"/>
              </a:buClr>
              <a:buSzPct val="100000"/>
              <a:buChar char="•"/>
            </a:pPr>
            <a:r>
              <a:rPr b="1" lang="en-US"/>
              <a:t>Indirect Measurement:</a:t>
            </a:r>
            <a:r>
              <a:rPr lang="en-US"/>
              <a:t> </a:t>
            </a:r>
            <a:endParaRPr/>
          </a:p>
          <a:p>
            <a:pPr indent="-285750" lvl="1" marL="742950" rtl="0" algn="l">
              <a:spcBef>
                <a:spcPts val="518"/>
              </a:spcBef>
              <a:spcAft>
                <a:spcPts val="0"/>
              </a:spcAft>
              <a:buClr>
                <a:schemeClr val="dk1"/>
              </a:buClr>
              <a:buSzPct val="100000"/>
              <a:buChar char="–"/>
            </a:pPr>
            <a:r>
              <a:rPr lang="en-US"/>
              <a:t>In indirect measurement, the quantity or quality to be measured is measured using related parameters i.e. by use of reference.</a:t>
            </a:r>
            <a:endParaRPr/>
          </a:p>
          <a:p>
            <a:pPr indent="-285750" lvl="1" marL="742950" rtl="0" algn="l">
              <a:spcBef>
                <a:spcPts val="518"/>
              </a:spcBef>
              <a:spcAft>
                <a:spcPts val="0"/>
              </a:spcAft>
              <a:buClr>
                <a:schemeClr val="dk1"/>
              </a:buClr>
              <a:buSzPct val="100000"/>
              <a:buChar char="–"/>
            </a:pPr>
            <a:r>
              <a:rPr lang="en-US"/>
              <a:t>Ex. Code complexity, customer satisfaction etc.</a:t>
            </a:r>
            <a:endParaRPr/>
          </a:p>
        </p:txBody>
      </p:sp>
      <p:sp>
        <p:nvSpPr>
          <p:cNvPr id="174" name="Google Shape;174;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29-Jul-24</a:t>
            </a:r>
            <a:endParaRPr/>
          </a:p>
        </p:txBody>
      </p:sp>
      <p:sp>
        <p:nvSpPr>
          <p:cNvPr id="175" name="Google Shape;175;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Software Metrics</a:t>
            </a:r>
            <a:endParaRPr/>
          </a:p>
        </p:txBody>
      </p:sp>
      <p:sp>
        <p:nvSpPr>
          <p:cNvPr id="181" name="Google Shape;181;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10000"/>
          </a:bodyPr>
          <a:lstStyle/>
          <a:p>
            <a:pPr indent="-170180" lvl="0" marL="342900" rtl="0" algn="l">
              <a:spcBef>
                <a:spcPts val="0"/>
              </a:spcBef>
              <a:spcAft>
                <a:spcPts val="0"/>
              </a:spcAft>
              <a:buClr>
                <a:schemeClr val="dk1"/>
              </a:buClr>
              <a:buSzPct val="100000"/>
              <a:buNone/>
            </a:pPr>
            <a:r>
              <a:t/>
            </a:r>
            <a:endParaRPr b="1"/>
          </a:p>
          <a:p>
            <a:pPr indent="-170180" lvl="0" marL="342900" rtl="0" algn="l">
              <a:spcBef>
                <a:spcPts val="544"/>
              </a:spcBef>
              <a:spcAft>
                <a:spcPts val="0"/>
              </a:spcAft>
              <a:buClr>
                <a:schemeClr val="dk1"/>
              </a:buClr>
              <a:buSzPct val="100000"/>
              <a:buNone/>
            </a:pPr>
            <a:r>
              <a:t/>
            </a:r>
            <a:endParaRPr b="1"/>
          </a:p>
          <a:p>
            <a:pPr indent="-170180" lvl="0" marL="342900" rtl="0" algn="l">
              <a:spcBef>
                <a:spcPts val="544"/>
              </a:spcBef>
              <a:spcAft>
                <a:spcPts val="0"/>
              </a:spcAft>
              <a:buClr>
                <a:schemeClr val="dk1"/>
              </a:buClr>
              <a:buSzPct val="100000"/>
              <a:buNone/>
            </a:pPr>
            <a:r>
              <a:t/>
            </a:r>
            <a:endParaRPr b="1"/>
          </a:p>
          <a:p>
            <a:pPr indent="-170180" lvl="0" marL="342900" rtl="0" algn="l">
              <a:spcBef>
                <a:spcPts val="544"/>
              </a:spcBef>
              <a:spcAft>
                <a:spcPts val="0"/>
              </a:spcAft>
              <a:buClr>
                <a:schemeClr val="dk1"/>
              </a:buClr>
              <a:buSzPct val="100000"/>
              <a:buNone/>
            </a:pPr>
            <a:r>
              <a:t/>
            </a:r>
            <a:endParaRPr b="1"/>
          </a:p>
          <a:p>
            <a:pPr indent="-342900" lvl="0" marL="342900" rtl="0" algn="l">
              <a:spcBef>
                <a:spcPts val="544"/>
              </a:spcBef>
              <a:spcAft>
                <a:spcPts val="0"/>
              </a:spcAft>
              <a:buClr>
                <a:schemeClr val="dk1"/>
              </a:buClr>
              <a:buSzPct val="100000"/>
              <a:buChar char="•"/>
            </a:pPr>
            <a:r>
              <a:rPr b="1" lang="en-US"/>
              <a:t>Product Metrics:</a:t>
            </a:r>
            <a:r>
              <a:rPr lang="en-US"/>
              <a:t> </a:t>
            </a:r>
            <a:endParaRPr/>
          </a:p>
          <a:p>
            <a:pPr indent="-285750" lvl="1" marL="742950" rtl="0" algn="l">
              <a:spcBef>
                <a:spcPts val="476"/>
              </a:spcBef>
              <a:spcAft>
                <a:spcPts val="0"/>
              </a:spcAft>
              <a:buClr>
                <a:schemeClr val="dk1"/>
              </a:buClr>
              <a:buSzPct val="100000"/>
              <a:buChar char="–"/>
            </a:pPr>
            <a:r>
              <a:rPr lang="en-US"/>
              <a:t>Product metrics are used to evaluate the state of the product, tracing risks and undercover prospective problem areas. </a:t>
            </a:r>
            <a:endParaRPr/>
          </a:p>
          <a:p>
            <a:pPr indent="-285750" lvl="1" marL="742950" rtl="0" algn="l">
              <a:spcBef>
                <a:spcPts val="476"/>
              </a:spcBef>
              <a:spcAft>
                <a:spcPts val="0"/>
              </a:spcAft>
              <a:buClr>
                <a:schemeClr val="dk1"/>
              </a:buClr>
              <a:buSzPct val="100000"/>
              <a:buChar char="–"/>
            </a:pPr>
            <a:r>
              <a:rPr lang="en-US"/>
              <a:t>The ability of the team to control quality is evaluated. </a:t>
            </a:r>
            <a:endParaRPr/>
          </a:p>
          <a:p>
            <a:pPr indent="-285750" lvl="1" marL="742950" rtl="0" algn="l">
              <a:spcBef>
                <a:spcPts val="476"/>
              </a:spcBef>
              <a:spcAft>
                <a:spcPts val="0"/>
              </a:spcAft>
              <a:buClr>
                <a:schemeClr val="dk1"/>
              </a:buClr>
              <a:buSzPct val="100000"/>
              <a:buChar char="–"/>
            </a:pPr>
            <a:r>
              <a:rPr lang="en-US"/>
              <a:t>Examples include lines of code, complexity, code coverage, defect density, and code maintainability index.</a:t>
            </a:r>
            <a:endParaRPr/>
          </a:p>
          <a:p>
            <a:pPr indent="-170180" lvl="0" marL="342900" rtl="0" algn="l">
              <a:spcBef>
                <a:spcPts val="544"/>
              </a:spcBef>
              <a:spcAft>
                <a:spcPts val="0"/>
              </a:spcAft>
              <a:buClr>
                <a:schemeClr val="dk1"/>
              </a:buClr>
              <a:buSzPct val="100000"/>
              <a:buNone/>
            </a:pPr>
            <a:r>
              <a:t/>
            </a:r>
            <a:endParaRPr/>
          </a:p>
        </p:txBody>
      </p:sp>
      <p:sp>
        <p:nvSpPr>
          <p:cNvPr id="182" name="Google Shape;182;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29-Jul-24</a:t>
            </a:r>
            <a:endParaRPr/>
          </a:p>
        </p:txBody>
      </p:sp>
      <p:sp>
        <p:nvSpPr>
          <p:cNvPr id="183" name="Google Shape;183;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84" name="Google Shape;184;p13"/>
          <p:cNvPicPr preferRelativeResize="0"/>
          <p:nvPr/>
        </p:nvPicPr>
        <p:blipFill rotWithShape="1">
          <a:blip r:embed="rId3">
            <a:alphaModFix/>
          </a:blip>
          <a:srcRect b="0" l="0" r="0" t="0"/>
          <a:stretch/>
        </p:blipFill>
        <p:spPr>
          <a:xfrm>
            <a:off x="2057400" y="1371600"/>
            <a:ext cx="4958953" cy="1600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190" name="Google Shape;190;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62500" lnSpcReduction="20000"/>
          </a:bodyPr>
          <a:lstStyle/>
          <a:p>
            <a:pPr indent="-342900" lvl="0" marL="342900" rtl="0" algn="l">
              <a:spcBef>
                <a:spcPts val="0"/>
              </a:spcBef>
              <a:spcAft>
                <a:spcPts val="0"/>
              </a:spcAft>
              <a:buClr>
                <a:schemeClr val="dk1"/>
              </a:buClr>
              <a:buSzPct val="100000"/>
              <a:buChar char="•"/>
            </a:pPr>
            <a:r>
              <a:rPr b="1" lang="en-US"/>
              <a:t>Process Metrics:</a:t>
            </a:r>
            <a:r>
              <a:rPr lang="en-US"/>
              <a:t> </a:t>
            </a:r>
            <a:endParaRPr/>
          </a:p>
          <a:p>
            <a:pPr indent="-285750" lvl="1" marL="742950" rtl="0" algn="l">
              <a:spcBef>
                <a:spcPts val="350"/>
              </a:spcBef>
              <a:spcAft>
                <a:spcPts val="0"/>
              </a:spcAft>
              <a:buClr>
                <a:schemeClr val="dk1"/>
              </a:buClr>
              <a:buSzPct val="100000"/>
              <a:buChar char="–"/>
            </a:pPr>
            <a:r>
              <a:rPr lang="en-US"/>
              <a:t>Process metrics pay particular attention to enhancing the long-term process of the team or organization. </a:t>
            </a:r>
            <a:endParaRPr/>
          </a:p>
          <a:p>
            <a:pPr indent="-285750" lvl="1" marL="742950" rtl="0" algn="l">
              <a:spcBef>
                <a:spcPts val="350"/>
              </a:spcBef>
              <a:spcAft>
                <a:spcPts val="0"/>
              </a:spcAft>
              <a:buClr>
                <a:schemeClr val="dk1"/>
              </a:buClr>
              <a:buSzPct val="100000"/>
              <a:buChar char="–"/>
            </a:pPr>
            <a:r>
              <a:rPr lang="en-US"/>
              <a:t>These metrics are used to optimize the development process and maintenance activities of software. </a:t>
            </a:r>
            <a:endParaRPr/>
          </a:p>
          <a:p>
            <a:pPr indent="-285750" lvl="1" marL="742950" rtl="0" algn="l">
              <a:spcBef>
                <a:spcPts val="350"/>
              </a:spcBef>
              <a:spcAft>
                <a:spcPts val="0"/>
              </a:spcAft>
              <a:buClr>
                <a:schemeClr val="dk1"/>
              </a:buClr>
              <a:buSzPct val="100000"/>
              <a:buChar char="–"/>
            </a:pPr>
            <a:r>
              <a:rPr lang="en-US"/>
              <a:t>Examples include effort variance, schedule variance, defect injection rate, and lead time (how long it takes to complete a process from beginning to end.).</a:t>
            </a:r>
            <a:endParaRPr/>
          </a:p>
          <a:p>
            <a:pPr indent="-342900" lvl="0" marL="342900" rtl="0" algn="l">
              <a:spcBef>
                <a:spcPts val="400"/>
              </a:spcBef>
              <a:spcAft>
                <a:spcPts val="0"/>
              </a:spcAft>
              <a:buClr>
                <a:schemeClr val="dk1"/>
              </a:buClr>
              <a:buSzPct val="100000"/>
              <a:buChar char="•"/>
            </a:pPr>
            <a:r>
              <a:rPr b="1" lang="en-US"/>
              <a:t>Project Metrics:</a:t>
            </a:r>
            <a:r>
              <a:rPr lang="en-US"/>
              <a:t> </a:t>
            </a:r>
            <a:endParaRPr/>
          </a:p>
          <a:p>
            <a:pPr indent="-285750" lvl="1" marL="742950" rtl="0" algn="l">
              <a:spcBef>
                <a:spcPts val="350"/>
              </a:spcBef>
              <a:spcAft>
                <a:spcPts val="0"/>
              </a:spcAft>
              <a:buClr>
                <a:schemeClr val="dk1"/>
              </a:buClr>
              <a:buSzPct val="100000"/>
              <a:buChar char="–"/>
            </a:pPr>
            <a:r>
              <a:rPr lang="en-US"/>
              <a:t>The project metrics describes the characteristic and execution of a project. </a:t>
            </a:r>
            <a:endParaRPr/>
          </a:p>
          <a:p>
            <a:pPr indent="-285750" lvl="1" marL="742950" rtl="0" algn="l">
              <a:spcBef>
                <a:spcPts val="350"/>
              </a:spcBef>
              <a:spcAft>
                <a:spcPts val="0"/>
              </a:spcAft>
              <a:buClr>
                <a:schemeClr val="dk1"/>
              </a:buClr>
              <a:buSzPct val="100000"/>
              <a:buChar char="–"/>
            </a:pPr>
            <a:r>
              <a:rPr lang="en-US"/>
              <a:t>Examples include effort estimation accuracy, schedule deviation, cost variance, and productivity. </a:t>
            </a:r>
            <a:endParaRPr/>
          </a:p>
          <a:p>
            <a:pPr indent="-285750" lvl="1" marL="742950" rtl="0" algn="l">
              <a:spcBef>
                <a:spcPts val="350"/>
              </a:spcBef>
              <a:spcAft>
                <a:spcPts val="0"/>
              </a:spcAft>
              <a:buClr>
                <a:schemeClr val="dk1"/>
              </a:buClr>
              <a:buSzPct val="100000"/>
              <a:buChar char="–"/>
            </a:pPr>
            <a:r>
              <a:rPr lang="en-US"/>
              <a:t>Usually measures-</a:t>
            </a:r>
            <a:endParaRPr/>
          </a:p>
          <a:p>
            <a:pPr indent="-228600" lvl="2" marL="1143000" rtl="0" algn="l">
              <a:spcBef>
                <a:spcPts val="300"/>
              </a:spcBef>
              <a:spcAft>
                <a:spcPts val="0"/>
              </a:spcAft>
              <a:buClr>
                <a:schemeClr val="dk1"/>
              </a:buClr>
              <a:buSzPct val="100000"/>
              <a:buChar char="•"/>
            </a:pPr>
            <a:r>
              <a:rPr lang="en-US"/>
              <a:t>Number of software developer</a:t>
            </a:r>
            <a:endParaRPr/>
          </a:p>
          <a:p>
            <a:pPr indent="-228600" lvl="2" marL="1143000" rtl="0" algn="l">
              <a:spcBef>
                <a:spcPts val="300"/>
              </a:spcBef>
              <a:spcAft>
                <a:spcPts val="0"/>
              </a:spcAft>
              <a:buClr>
                <a:schemeClr val="dk1"/>
              </a:buClr>
              <a:buSzPct val="100000"/>
              <a:buChar char="•"/>
            </a:pPr>
            <a:r>
              <a:rPr lang="en-US"/>
              <a:t>Staffing patterns over the life cycle of software</a:t>
            </a:r>
            <a:endParaRPr/>
          </a:p>
          <a:p>
            <a:pPr indent="-228600" lvl="2" marL="1143000" rtl="0" algn="l">
              <a:spcBef>
                <a:spcPts val="300"/>
              </a:spcBef>
              <a:spcAft>
                <a:spcPts val="0"/>
              </a:spcAft>
              <a:buClr>
                <a:schemeClr val="dk1"/>
              </a:buClr>
              <a:buSzPct val="100000"/>
              <a:buChar char="•"/>
            </a:pPr>
            <a:r>
              <a:rPr lang="en-US"/>
              <a:t>Cost and schedule</a:t>
            </a:r>
            <a:endParaRPr/>
          </a:p>
          <a:p>
            <a:pPr indent="-228600" lvl="2" marL="1143000" rtl="0" algn="l">
              <a:spcBef>
                <a:spcPts val="300"/>
              </a:spcBef>
              <a:spcAft>
                <a:spcPts val="0"/>
              </a:spcAft>
              <a:buClr>
                <a:schemeClr val="dk1"/>
              </a:buClr>
              <a:buSzPct val="100000"/>
              <a:buChar char="•"/>
            </a:pPr>
            <a:r>
              <a:rPr lang="en-US"/>
              <a:t>Productivity</a:t>
            </a:r>
            <a:endParaRPr/>
          </a:p>
          <a:p>
            <a:pPr indent="-215900" lvl="0" marL="342900" rtl="0" algn="l">
              <a:spcBef>
                <a:spcPts val="400"/>
              </a:spcBef>
              <a:spcAft>
                <a:spcPts val="0"/>
              </a:spcAft>
              <a:buClr>
                <a:schemeClr val="dk1"/>
              </a:buClr>
              <a:buSzPct val="100000"/>
              <a:buNone/>
            </a:pPr>
            <a:r>
              <a:t/>
            </a:r>
            <a:endParaRPr/>
          </a:p>
        </p:txBody>
      </p:sp>
      <p:sp>
        <p:nvSpPr>
          <p:cNvPr id="191" name="Google Shape;191;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29-Jul-24</a:t>
            </a:r>
            <a:endParaRPr/>
          </a:p>
        </p:txBody>
      </p:sp>
      <p:sp>
        <p:nvSpPr>
          <p:cNvPr id="192" name="Google Shape;192;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pic>
        <p:nvPicPr>
          <p:cNvPr id="197" name="Google Shape;197;p15"/>
          <p:cNvPicPr preferRelativeResize="0"/>
          <p:nvPr/>
        </p:nvPicPr>
        <p:blipFill rotWithShape="1">
          <a:blip r:embed="rId3">
            <a:alphaModFix/>
          </a:blip>
          <a:srcRect b="0" l="0" r="0" t="0"/>
          <a:stretch/>
        </p:blipFill>
        <p:spPr>
          <a:xfrm>
            <a:off x="3124200" y="3886199"/>
            <a:ext cx="2815569" cy="2444197"/>
          </a:xfrm>
          <a:prstGeom prst="rect">
            <a:avLst/>
          </a:prstGeom>
          <a:noFill/>
          <a:ln>
            <a:noFill/>
          </a:ln>
        </p:spPr>
      </p:pic>
      <p:sp>
        <p:nvSpPr>
          <p:cNvPr id="198" name="Google Shape;198;p15"/>
          <p:cNvSpPr txBox="1"/>
          <p:nvPr>
            <p:ph type="title"/>
          </p:nvPr>
        </p:nvSpPr>
        <p:spPr>
          <a:xfrm>
            <a:off x="1435608" y="509187"/>
            <a:ext cx="7498080" cy="673902"/>
          </a:xfrm>
          <a:prstGeom prst="rect">
            <a:avLst/>
          </a:prstGeom>
          <a:noFill/>
          <a:ln>
            <a:noFill/>
          </a:ln>
        </p:spPr>
        <p:txBody>
          <a:bodyPr anchorCtr="0" anchor="ctr" bIns="0" lIns="0" spcFirstLastPara="1" rIns="0" wrap="square" tIns="12050">
            <a:spAutoFit/>
          </a:bodyPr>
          <a:lstStyle/>
          <a:p>
            <a:pPr indent="0" lvl="0" marL="3490595" rtl="0" algn="ctr">
              <a:lnSpc>
                <a:spcPct val="100000"/>
              </a:lnSpc>
              <a:spcBef>
                <a:spcPts val="0"/>
              </a:spcBef>
              <a:spcAft>
                <a:spcPts val="0"/>
              </a:spcAft>
              <a:buClr>
                <a:schemeClr val="dk1"/>
              </a:buClr>
              <a:buSzPts val="4400"/>
              <a:buFont typeface="Calibri"/>
              <a:buNone/>
            </a:pPr>
            <a:r>
              <a:rPr lang="en-US"/>
              <a:t>Process Metrics</a:t>
            </a:r>
            <a:endParaRPr/>
          </a:p>
        </p:txBody>
      </p:sp>
      <p:sp>
        <p:nvSpPr>
          <p:cNvPr id="199" name="Google Shape;199;p15"/>
          <p:cNvSpPr txBox="1"/>
          <p:nvPr/>
        </p:nvSpPr>
        <p:spPr>
          <a:xfrm>
            <a:off x="1569929" y="1752600"/>
            <a:ext cx="6509861" cy="1760097"/>
          </a:xfrm>
          <a:prstGeom prst="rect">
            <a:avLst/>
          </a:prstGeom>
          <a:noFill/>
          <a:ln>
            <a:noFill/>
          </a:ln>
        </p:spPr>
        <p:txBody>
          <a:bodyPr anchorCtr="0" anchor="t" bIns="0" lIns="0" spcFirstLastPara="1" rIns="0" wrap="square" tIns="102225">
            <a:spAutoFit/>
          </a:bodyPr>
          <a:lstStyle/>
          <a:p>
            <a:pPr indent="0" lvl="0" marL="12700" marR="0" rtl="0" algn="l">
              <a:lnSpc>
                <a:spcPct val="100000"/>
              </a:lnSpc>
              <a:spcBef>
                <a:spcPts val="0"/>
              </a:spcBef>
              <a:spcAft>
                <a:spcPts val="0"/>
              </a:spcAft>
              <a:buNone/>
            </a:pPr>
            <a:r>
              <a:rPr b="0" i="0" lang="en-US" sz="2400" u="none" cap="none" strike="noStrike">
                <a:solidFill>
                  <a:schemeClr val="dk1"/>
                </a:solidFill>
                <a:latin typeface="Calibri"/>
                <a:ea typeface="Calibri"/>
                <a:cs typeface="Calibri"/>
                <a:sym typeface="Calibri"/>
              </a:rPr>
              <a:t>Pertain to Process Quality</a:t>
            </a:r>
            <a:endParaRPr b="0" i="0" sz="2400" u="none" cap="none" strike="noStrike">
              <a:solidFill>
                <a:schemeClr val="dk1"/>
              </a:solidFill>
              <a:latin typeface="Calibri"/>
              <a:ea typeface="Calibri"/>
              <a:cs typeface="Calibri"/>
              <a:sym typeface="Calibri"/>
            </a:endParaRPr>
          </a:p>
          <a:p>
            <a:pPr indent="0" lvl="0" marL="12700" marR="0" rtl="0" algn="l">
              <a:lnSpc>
                <a:spcPct val="100000"/>
              </a:lnSpc>
              <a:spcBef>
                <a:spcPts val="710"/>
              </a:spcBef>
              <a:spcAft>
                <a:spcPts val="0"/>
              </a:spcAft>
              <a:buNone/>
            </a:pPr>
            <a:r>
              <a:rPr b="0" i="0" lang="en-US" sz="2400" u="none" cap="none" strike="noStrike">
                <a:solidFill>
                  <a:schemeClr val="dk1"/>
                </a:solidFill>
                <a:latin typeface="Calibri"/>
                <a:ea typeface="Calibri"/>
                <a:cs typeface="Calibri"/>
                <a:sym typeface="Calibri"/>
              </a:rPr>
              <a:t>Used to measure the efficiency and effectiveness of various processes</a:t>
            </a:r>
            <a:endParaRPr b="0" i="0" sz="2400" u="none" cap="none" strike="noStrike">
              <a:solidFill>
                <a:schemeClr val="dk1"/>
              </a:solidFill>
              <a:latin typeface="Calibri"/>
              <a:ea typeface="Calibri"/>
              <a:cs typeface="Calibri"/>
              <a:sym typeface="Calibri"/>
            </a:endParaRPr>
          </a:p>
          <a:p>
            <a:pPr indent="0" lvl="0" marL="12700" marR="0" rtl="0" algn="l">
              <a:lnSpc>
                <a:spcPct val="100000"/>
              </a:lnSpc>
              <a:spcBef>
                <a:spcPts val="730"/>
              </a:spcBef>
              <a:spcAft>
                <a:spcPts val="0"/>
              </a:spcAft>
              <a:buNone/>
            </a:pPr>
            <a:r>
              <a:rPr b="0" i="0" lang="en-US" sz="2400" u="none" cap="none" strike="noStrike">
                <a:solidFill>
                  <a:schemeClr val="dk1"/>
                </a:solidFill>
                <a:latin typeface="Calibri"/>
                <a:ea typeface="Calibri"/>
                <a:cs typeface="Calibri"/>
                <a:sym typeface="Calibri"/>
              </a:rPr>
              <a:t>Used for strategic purpose</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6"/>
          <p:cNvSpPr txBox="1"/>
          <p:nvPr>
            <p:ph type="title"/>
          </p:nvPr>
        </p:nvSpPr>
        <p:spPr>
          <a:xfrm>
            <a:off x="1149576" y="152400"/>
            <a:ext cx="7498080" cy="566181"/>
          </a:xfrm>
          <a:prstGeom prst="rect">
            <a:avLst/>
          </a:prstGeom>
          <a:noFill/>
          <a:ln>
            <a:noFill/>
          </a:ln>
        </p:spPr>
        <p:txBody>
          <a:bodyPr anchorCtr="0" anchor="ctr" bIns="0" lIns="0" spcFirstLastPara="1" rIns="0" wrap="square" tIns="12050">
            <a:spAutoFit/>
          </a:bodyPr>
          <a:lstStyle/>
          <a:p>
            <a:pPr indent="0" lvl="0" marL="2417445" rtl="0" algn="ctr">
              <a:lnSpc>
                <a:spcPct val="100000"/>
              </a:lnSpc>
              <a:spcBef>
                <a:spcPts val="0"/>
              </a:spcBef>
              <a:spcAft>
                <a:spcPts val="0"/>
              </a:spcAft>
              <a:buClr>
                <a:schemeClr val="dk1"/>
              </a:buClr>
              <a:buSzPts val="3600"/>
              <a:buFont typeface="Calibri"/>
              <a:buNone/>
            </a:pPr>
            <a:r>
              <a:rPr lang="en-US" sz="3600"/>
              <a:t>Software Process Metrics</a:t>
            </a:r>
            <a:endParaRPr/>
          </a:p>
        </p:txBody>
      </p:sp>
      <p:sp>
        <p:nvSpPr>
          <p:cNvPr id="205" name="Google Shape;205;p16"/>
          <p:cNvSpPr txBox="1"/>
          <p:nvPr/>
        </p:nvSpPr>
        <p:spPr>
          <a:xfrm>
            <a:off x="1113042" y="914400"/>
            <a:ext cx="7993380" cy="5286062"/>
          </a:xfrm>
          <a:prstGeom prst="rect">
            <a:avLst/>
          </a:prstGeom>
          <a:noFill/>
          <a:ln>
            <a:noFill/>
          </a:ln>
        </p:spPr>
        <p:txBody>
          <a:bodyPr anchorCtr="0" anchor="t" bIns="0" lIns="0" spcFirstLastPara="1" rIns="0" wrap="square" tIns="83800">
            <a:spAutoFit/>
          </a:bodyPr>
          <a:lstStyle/>
          <a:p>
            <a:pPr indent="0" lvl="0" marL="12700" marR="5080" rtl="0" algn="l">
              <a:lnSpc>
                <a:spcPct val="115000"/>
              </a:lnSpc>
              <a:spcBef>
                <a:spcPts val="0"/>
              </a:spcBef>
              <a:spcAft>
                <a:spcPts val="0"/>
              </a:spcAft>
              <a:buNone/>
            </a:pPr>
            <a:r>
              <a:rPr b="1" i="0" lang="en-US" sz="2000" u="none" cap="none" strike="noStrike">
                <a:solidFill>
                  <a:schemeClr val="dk1"/>
                </a:solidFill>
                <a:latin typeface="Calibri"/>
                <a:ea typeface="Calibri"/>
                <a:cs typeface="Calibri"/>
                <a:sym typeface="Calibri"/>
              </a:rPr>
              <a:t>Software process metrics can provide significant benefit as an organization works to </a:t>
            </a:r>
            <a:r>
              <a:rPr b="1" i="0" lang="en-US" sz="2000" u="sng" cap="none" strike="noStrike">
                <a:solidFill>
                  <a:srgbClr val="006FC0"/>
                </a:solidFill>
                <a:latin typeface="Calibri"/>
                <a:ea typeface="Calibri"/>
                <a:cs typeface="Calibri"/>
                <a:sym typeface="Calibri"/>
              </a:rPr>
              <a:t>improve its overall level of process maturity</a:t>
            </a:r>
            <a:r>
              <a:rPr b="1" i="0" lang="en-US" sz="2000" u="none" cap="none" strike="noStrike">
                <a:solidFill>
                  <a:schemeClr val="dk1"/>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a:p>
            <a:pPr indent="0" lvl="0" marL="12700" marR="0" rtl="0" algn="l">
              <a:lnSpc>
                <a:spcPct val="100000"/>
              </a:lnSpc>
              <a:spcBef>
                <a:spcPts val="400"/>
              </a:spcBef>
              <a:spcAft>
                <a:spcPts val="0"/>
              </a:spcAft>
              <a:buNone/>
            </a:pPr>
            <a:r>
              <a:rPr b="1" i="0" lang="en-US" sz="2400" u="none" cap="none" strike="noStrike">
                <a:solidFill>
                  <a:srgbClr val="006FC0"/>
                </a:solidFill>
                <a:latin typeface="Calibri"/>
                <a:ea typeface="Calibri"/>
                <a:cs typeface="Calibri"/>
                <a:sym typeface="Calibri"/>
              </a:rPr>
              <a:t>Software metrics etiquette are:</a:t>
            </a:r>
            <a:endParaRPr b="0" i="0" sz="2400" u="none" cap="none" strike="noStrike">
              <a:solidFill>
                <a:schemeClr val="dk1"/>
              </a:solidFill>
              <a:latin typeface="Calibri"/>
              <a:ea typeface="Calibri"/>
              <a:cs typeface="Calibri"/>
              <a:sym typeface="Calibri"/>
            </a:endParaRPr>
          </a:p>
          <a:p>
            <a:pPr indent="-342900" lvl="0" marL="355600" marR="561975" rtl="0" algn="l">
              <a:lnSpc>
                <a:spcPct val="114700"/>
              </a:lnSpc>
              <a:spcBef>
                <a:spcPts val="5"/>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Use common sense and organizational sensitivity when interpreting metrics data.</a:t>
            </a:r>
            <a:endParaRPr b="0" i="0" sz="2000" u="none" cap="none" strike="noStrike">
              <a:solidFill>
                <a:schemeClr val="dk1"/>
              </a:solidFill>
              <a:latin typeface="Calibri"/>
              <a:ea typeface="Calibri"/>
              <a:cs typeface="Calibri"/>
              <a:sym typeface="Calibri"/>
            </a:endParaRPr>
          </a:p>
          <a:p>
            <a:pPr indent="-342900" lvl="0" marL="355600" marR="561975" rtl="0" algn="l">
              <a:lnSpc>
                <a:spcPct val="114700"/>
              </a:lnSpc>
              <a:spcBef>
                <a:spcPts val="5"/>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Provide regular feedback to the individuals and teams who collect measures and metrics.</a:t>
            </a:r>
            <a:endParaRPr b="0" i="0" sz="2000" u="none" cap="none" strike="noStrike">
              <a:solidFill>
                <a:schemeClr val="dk1"/>
              </a:solidFill>
              <a:latin typeface="Calibri"/>
              <a:ea typeface="Calibri"/>
              <a:cs typeface="Calibri"/>
              <a:sym typeface="Calibri"/>
            </a:endParaRPr>
          </a:p>
          <a:p>
            <a:pPr indent="-342900" lvl="0" marL="355600" marR="0" rtl="0" algn="l">
              <a:lnSpc>
                <a:spcPct val="100000"/>
              </a:lnSpc>
              <a:spcBef>
                <a:spcPts val="43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Don’t use metrics to appraise individuals.</a:t>
            </a:r>
            <a:endParaRPr b="0" i="0" sz="2000" u="none" cap="none" strike="noStrike">
              <a:solidFill>
                <a:schemeClr val="dk1"/>
              </a:solidFill>
              <a:latin typeface="Calibri"/>
              <a:ea typeface="Calibri"/>
              <a:cs typeface="Calibri"/>
              <a:sym typeface="Calibri"/>
            </a:endParaRPr>
          </a:p>
          <a:p>
            <a:pPr indent="-342900" lvl="0" marL="355600" marR="210820" rtl="0" algn="l">
              <a:lnSpc>
                <a:spcPct val="80000"/>
              </a:lnSpc>
              <a:spcBef>
                <a:spcPts val="100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Work with practitioners and teams to set clear goals and metrics that will be used to achieve them.</a:t>
            </a:r>
            <a:endParaRPr b="0" i="0" sz="2000" u="none" cap="none" strike="noStrike">
              <a:solidFill>
                <a:schemeClr val="dk1"/>
              </a:solidFill>
              <a:latin typeface="Calibri"/>
              <a:ea typeface="Calibri"/>
              <a:cs typeface="Calibri"/>
              <a:sym typeface="Calibri"/>
            </a:endParaRPr>
          </a:p>
          <a:p>
            <a:pPr indent="-342900" lvl="0" marL="355600" marR="0" rtl="0" algn="l">
              <a:lnSpc>
                <a:spcPct val="100000"/>
              </a:lnSpc>
              <a:spcBef>
                <a:spcPts val="42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Never use metrics to threaten individuals or teams.</a:t>
            </a:r>
            <a:endParaRPr b="0" i="0" sz="2000" u="none" cap="none" strike="noStrike">
              <a:solidFill>
                <a:schemeClr val="dk1"/>
              </a:solidFill>
              <a:latin typeface="Calibri"/>
              <a:ea typeface="Calibri"/>
              <a:cs typeface="Calibri"/>
              <a:sym typeface="Calibri"/>
            </a:endParaRPr>
          </a:p>
          <a:p>
            <a:pPr indent="-342900" lvl="0" marL="355600" marR="18415" rtl="0" algn="l">
              <a:lnSpc>
                <a:spcPct val="115500"/>
              </a:lnSpc>
              <a:spcBef>
                <a:spcPts val="98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Metrics data that indicate a problem area should not be considered “negative.” These data are merely an indicator for process improvement.</a:t>
            </a:r>
            <a:endParaRPr b="0" i="0" sz="2000" u="none" cap="none" strike="noStrike">
              <a:solidFill>
                <a:schemeClr val="dk1"/>
              </a:solidFill>
              <a:latin typeface="Calibri"/>
              <a:ea typeface="Calibri"/>
              <a:cs typeface="Calibri"/>
              <a:sym typeface="Calibri"/>
            </a:endParaRPr>
          </a:p>
          <a:p>
            <a:pPr indent="-342900" lvl="0" marL="355600" marR="584835" rtl="0" algn="l">
              <a:lnSpc>
                <a:spcPct val="115000"/>
              </a:lnSpc>
              <a:spcBef>
                <a:spcPts val="994"/>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Don’t obsess on a single metric to the exclusion of other important metrics These steps are iterative and some of them run parallel</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7"/>
          <p:cNvSpPr txBox="1"/>
          <p:nvPr>
            <p:ph type="title"/>
          </p:nvPr>
        </p:nvSpPr>
        <p:spPr>
          <a:xfrm>
            <a:off x="1171417" y="191991"/>
            <a:ext cx="7498080" cy="566181"/>
          </a:xfrm>
          <a:prstGeom prst="rect">
            <a:avLst/>
          </a:prstGeom>
          <a:noFill/>
          <a:ln>
            <a:noFill/>
          </a:ln>
        </p:spPr>
        <p:txBody>
          <a:bodyPr anchorCtr="0" anchor="ctr" bIns="0" lIns="0" spcFirstLastPara="1" rIns="0" wrap="square" tIns="12050">
            <a:spAutoFit/>
          </a:bodyPr>
          <a:lstStyle/>
          <a:p>
            <a:pPr indent="0" lvl="0" marL="2417445" rtl="0" algn="ctr">
              <a:lnSpc>
                <a:spcPct val="100000"/>
              </a:lnSpc>
              <a:spcBef>
                <a:spcPts val="0"/>
              </a:spcBef>
              <a:spcAft>
                <a:spcPts val="0"/>
              </a:spcAft>
              <a:buClr>
                <a:schemeClr val="dk1"/>
              </a:buClr>
              <a:buSzPts val="3600"/>
              <a:buFont typeface="Calibri"/>
              <a:buNone/>
            </a:pPr>
            <a:r>
              <a:rPr lang="en-US" sz="3600"/>
              <a:t>Software Process Metrics</a:t>
            </a:r>
            <a:endParaRPr/>
          </a:p>
        </p:txBody>
      </p:sp>
      <p:sp>
        <p:nvSpPr>
          <p:cNvPr id="211" name="Google Shape;211;p17"/>
          <p:cNvSpPr txBox="1"/>
          <p:nvPr/>
        </p:nvSpPr>
        <p:spPr>
          <a:xfrm>
            <a:off x="914400" y="758172"/>
            <a:ext cx="8016240" cy="5673348"/>
          </a:xfrm>
          <a:prstGeom prst="rect">
            <a:avLst/>
          </a:prstGeom>
          <a:noFill/>
          <a:ln>
            <a:noFill/>
          </a:ln>
        </p:spPr>
        <p:txBody>
          <a:bodyPr anchorCtr="0" anchor="t" bIns="0" lIns="0" spcFirstLastPara="1" rIns="0" wrap="square" tIns="78725">
            <a:spAutoFit/>
          </a:bodyPr>
          <a:lstStyle/>
          <a:p>
            <a:pPr indent="0" lvl="0" marL="12700" marR="0" rtl="0" algn="l">
              <a:lnSpc>
                <a:spcPct val="100000"/>
              </a:lnSpc>
              <a:spcBef>
                <a:spcPts val="0"/>
              </a:spcBef>
              <a:spcAft>
                <a:spcPts val="0"/>
              </a:spcAft>
              <a:buNone/>
            </a:pPr>
            <a:r>
              <a:rPr b="1" i="0" lang="en-US" sz="2400" u="none" cap="none" strike="noStrike">
                <a:solidFill>
                  <a:srgbClr val="006FC0"/>
                </a:solidFill>
                <a:latin typeface="Calibri"/>
                <a:ea typeface="Calibri"/>
                <a:cs typeface="Calibri"/>
                <a:sym typeface="Calibri"/>
              </a:rPr>
              <a:t>Statistical software process improvement (SSPI):</a:t>
            </a:r>
            <a:endParaRPr b="0" i="0" sz="2400" u="none" cap="none" strike="noStrike">
              <a:solidFill>
                <a:schemeClr val="dk1"/>
              </a:solidFill>
              <a:latin typeface="Calibri"/>
              <a:ea typeface="Calibri"/>
              <a:cs typeface="Calibri"/>
              <a:sym typeface="Calibri"/>
            </a:endParaRPr>
          </a:p>
          <a:p>
            <a:pPr indent="-121707" lvl="0" marL="12700" marR="440690" rtl="0" algn="l">
              <a:lnSpc>
                <a:spcPct val="115000"/>
              </a:lnSpc>
              <a:spcBef>
                <a:spcPts val="1010"/>
              </a:spcBef>
              <a:spcAft>
                <a:spcPts val="0"/>
              </a:spcAft>
              <a:buClr>
                <a:schemeClr val="dk1"/>
              </a:buClr>
              <a:buSzPts val="1917"/>
              <a:buFont typeface="Arial"/>
              <a:buChar char="•"/>
            </a:pPr>
            <a:r>
              <a:rPr b="0" i="0" lang="en-US" sz="2000" u="none" cap="none" strike="noStrike">
                <a:solidFill>
                  <a:schemeClr val="dk1"/>
                </a:solidFill>
                <a:latin typeface="Calibri"/>
                <a:ea typeface="Calibri"/>
                <a:cs typeface="Calibri"/>
                <a:sym typeface="Calibri"/>
              </a:rPr>
              <a:t>	the collection and use of process metrics, the derivation of simple indicators gives way to a more rigorous approach.</a:t>
            </a:r>
            <a:endParaRPr b="0" i="0" sz="2000" u="none" cap="none" strike="noStrike">
              <a:solidFill>
                <a:schemeClr val="dk1"/>
              </a:solidFill>
              <a:latin typeface="Calibri"/>
              <a:ea typeface="Calibri"/>
              <a:cs typeface="Calibri"/>
              <a:sym typeface="Calibri"/>
            </a:endParaRPr>
          </a:p>
          <a:p>
            <a:pPr indent="-121707" lvl="0" marL="12700" marR="130810" rtl="0" algn="l">
              <a:lnSpc>
                <a:spcPct val="115500"/>
              </a:lnSpc>
              <a:spcBef>
                <a:spcPts val="994"/>
              </a:spcBef>
              <a:spcAft>
                <a:spcPts val="0"/>
              </a:spcAft>
              <a:buClr>
                <a:schemeClr val="dk1"/>
              </a:buClr>
              <a:buSzPts val="1917"/>
              <a:buFont typeface="Arial"/>
              <a:buChar char="•"/>
            </a:pPr>
            <a:r>
              <a:rPr b="0" i="0" lang="en-US" sz="2000" u="none" cap="none" strike="noStrike">
                <a:solidFill>
                  <a:schemeClr val="dk1"/>
                </a:solidFill>
                <a:latin typeface="Calibri"/>
                <a:ea typeface="Calibri"/>
                <a:cs typeface="Calibri"/>
                <a:sym typeface="Calibri"/>
              </a:rPr>
              <a:t>	SSPI uses software failure analysis to collect information about all errors and defects encountered as an application, system, or product is developed and used.</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705"/>
              </a:spcBef>
              <a:spcAft>
                <a:spcPts val="0"/>
              </a:spcAft>
              <a:buClr>
                <a:schemeClr val="dk1"/>
              </a:buClr>
              <a:buSzPts val="2000"/>
              <a:buFont typeface="Arial"/>
              <a:buNone/>
            </a:pPr>
            <a:r>
              <a:t/>
            </a:r>
            <a:endParaRPr b="0" i="0" sz="2000" u="none" cap="none" strike="noStrike">
              <a:solidFill>
                <a:schemeClr val="dk1"/>
              </a:solidFill>
              <a:latin typeface="Calibri"/>
              <a:ea typeface="Calibri"/>
              <a:cs typeface="Calibri"/>
              <a:sym typeface="Calibri"/>
            </a:endParaRPr>
          </a:p>
          <a:p>
            <a:pPr indent="0" lvl="0" marL="12700" marR="0" rtl="0" algn="l">
              <a:lnSpc>
                <a:spcPct val="138541"/>
              </a:lnSpc>
              <a:spcBef>
                <a:spcPts val="0"/>
              </a:spcBef>
              <a:spcAft>
                <a:spcPts val="0"/>
              </a:spcAft>
              <a:buNone/>
            </a:pPr>
            <a:r>
              <a:rPr b="1" i="0" lang="en-US" sz="2400" u="none" cap="none" strike="noStrike">
                <a:solidFill>
                  <a:srgbClr val="006FC0"/>
                </a:solidFill>
                <a:latin typeface="Calibri"/>
                <a:ea typeface="Calibri"/>
                <a:cs typeface="Calibri"/>
                <a:sym typeface="Calibri"/>
              </a:rPr>
              <a:t>Failure analysis works in the following manner:</a:t>
            </a:r>
            <a:endParaRPr b="0" i="0" sz="2400" u="none" cap="none" strike="noStrike">
              <a:solidFill>
                <a:schemeClr val="dk1"/>
              </a:solidFill>
              <a:latin typeface="Calibri"/>
              <a:ea typeface="Calibri"/>
              <a:cs typeface="Calibri"/>
              <a:sym typeface="Calibri"/>
            </a:endParaRPr>
          </a:p>
          <a:p>
            <a:pPr indent="-380365" lvl="1" marL="469265" marR="0" rtl="0" algn="l">
              <a:lnSpc>
                <a:spcPct val="128000"/>
              </a:lnSpc>
              <a:spcBef>
                <a:spcPts val="0"/>
              </a:spcBef>
              <a:spcAft>
                <a:spcPts val="0"/>
              </a:spcAft>
              <a:buClr>
                <a:schemeClr val="dk1"/>
              </a:buClr>
              <a:buSzPts val="2000"/>
              <a:buFont typeface="Calibri"/>
              <a:buAutoNum type="arabicPeriod"/>
            </a:pPr>
            <a:r>
              <a:rPr b="0" i="0" lang="en-US" sz="2000" u="none" cap="none" strike="noStrike">
                <a:solidFill>
                  <a:schemeClr val="dk1"/>
                </a:solidFill>
                <a:latin typeface="Calibri"/>
                <a:ea typeface="Calibri"/>
                <a:cs typeface="Calibri"/>
                <a:sym typeface="Calibri"/>
              </a:rPr>
              <a:t>All errors and defects are categorized by origin (e.g., flaw in specification, flaw in logic, non-conformance to standards).</a:t>
            </a:r>
            <a:endParaRPr b="0" i="0" sz="2000" u="none" cap="none" strike="noStrike">
              <a:solidFill>
                <a:schemeClr val="dk1"/>
              </a:solidFill>
              <a:latin typeface="Calibri"/>
              <a:ea typeface="Calibri"/>
              <a:cs typeface="Calibri"/>
              <a:sym typeface="Calibri"/>
            </a:endParaRPr>
          </a:p>
          <a:p>
            <a:pPr indent="-380365" lvl="1" marL="469265" marR="0" rtl="0" algn="l">
              <a:lnSpc>
                <a:spcPct val="115250"/>
              </a:lnSpc>
              <a:spcBef>
                <a:spcPts val="0"/>
              </a:spcBef>
              <a:spcAft>
                <a:spcPts val="0"/>
              </a:spcAft>
              <a:buClr>
                <a:schemeClr val="dk1"/>
              </a:buClr>
              <a:buSzPts val="2000"/>
              <a:buFont typeface="Calibri"/>
              <a:buAutoNum type="arabicPeriod"/>
            </a:pPr>
            <a:r>
              <a:rPr b="0" i="0" lang="en-US" sz="2000" u="none" cap="none" strike="noStrike">
                <a:solidFill>
                  <a:schemeClr val="dk1"/>
                </a:solidFill>
                <a:latin typeface="Calibri"/>
                <a:ea typeface="Calibri"/>
                <a:cs typeface="Calibri"/>
                <a:sym typeface="Calibri"/>
              </a:rPr>
              <a:t>The cost to correct each error and defect is recorded.</a:t>
            </a:r>
            <a:endParaRPr b="0" i="0" sz="2000" u="none" cap="none" strike="noStrike">
              <a:solidFill>
                <a:schemeClr val="dk1"/>
              </a:solidFill>
              <a:latin typeface="Calibri"/>
              <a:ea typeface="Calibri"/>
              <a:cs typeface="Calibri"/>
              <a:sym typeface="Calibri"/>
            </a:endParaRPr>
          </a:p>
          <a:p>
            <a:pPr indent="-381000" lvl="1" marL="469900" marR="833755" rtl="0" algn="l">
              <a:lnSpc>
                <a:spcPct val="80000"/>
              </a:lnSpc>
              <a:spcBef>
                <a:spcPts val="285"/>
              </a:spcBef>
              <a:spcAft>
                <a:spcPts val="0"/>
              </a:spcAft>
              <a:buClr>
                <a:schemeClr val="dk1"/>
              </a:buClr>
              <a:buSzPts val="2000"/>
              <a:buFont typeface="Calibri"/>
              <a:buAutoNum type="arabicPeriod"/>
            </a:pPr>
            <a:r>
              <a:rPr b="0" i="0" lang="en-US" sz="2000" u="none" cap="none" strike="noStrike">
                <a:solidFill>
                  <a:schemeClr val="dk1"/>
                </a:solidFill>
                <a:latin typeface="Calibri"/>
                <a:ea typeface="Calibri"/>
                <a:cs typeface="Calibri"/>
                <a:sym typeface="Calibri"/>
              </a:rPr>
              <a:t>The number of errors and defects in each category is counted and ranked in descending order.</a:t>
            </a:r>
            <a:endParaRPr b="0" i="0" sz="2000" u="none" cap="none" strike="noStrike">
              <a:solidFill>
                <a:schemeClr val="dk1"/>
              </a:solidFill>
              <a:latin typeface="Calibri"/>
              <a:ea typeface="Calibri"/>
              <a:cs typeface="Calibri"/>
              <a:sym typeface="Calibri"/>
            </a:endParaRPr>
          </a:p>
          <a:p>
            <a:pPr indent="-380365" lvl="1" marL="469265" marR="0" rtl="0" algn="l">
              <a:lnSpc>
                <a:spcPct val="101000"/>
              </a:lnSpc>
              <a:spcBef>
                <a:spcPts val="0"/>
              </a:spcBef>
              <a:spcAft>
                <a:spcPts val="0"/>
              </a:spcAft>
              <a:buClr>
                <a:schemeClr val="dk1"/>
              </a:buClr>
              <a:buSzPts val="2000"/>
              <a:buFont typeface="Calibri"/>
              <a:buAutoNum type="arabicPeriod"/>
            </a:pPr>
            <a:r>
              <a:rPr b="0" i="0" lang="en-US" sz="2000" u="none" cap="none" strike="noStrike">
                <a:solidFill>
                  <a:schemeClr val="dk1"/>
                </a:solidFill>
                <a:latin typeface="Calibri"/>
                <a:ea typeface="Calibri"/>
                <a:cs typeface="Calibri"/>
                <a:sym typeface="Calibri"/>
              </a:rPr>
              <a:t>The overall cost of errors and defects in each category is computed.</a:t>
            </a:r>
            <a:endParaRPr b="0" i="0" sz="2000" u="none" cap="none" strike="noStrike">
              <a:solidFill>
                <a:schemeClr val="dk1"/>
              </a:solidFill>
              <a:latin typeface="Calibri"/>
              <a:ea typeface="Calibri"/>
              <a:cs typeface="Calibri"/>
              <a:sym typeface="Calibri"/>
            </a:endParaRPr>
          </a:p>
          <a:p>
            <a:pPr indent="-381000" lvl="1" marL="469900" marR="5080" rtl="0" algn="l">
              <a:lnSpc>
                <a:spcPct val="115000"/>
              </a:lnSpc>
              <a:spcBef>
                <a:spcPts val="275"/>
              </a:spcBef>
              <a:spcAft>
                <a:spcPts val="0"/>
              </a:spcAft>
              <a:buClr>
                <a:schemeClr val="dk1"/>
              </a:buClr>
              <a:buSzPts val="2000"/>
              <a:buFont typeface="Calibri"/>
              <a:buAutoNum type="arabicPeriod"/>
            </a:pPr>
            <a:r>
              <a:rPr b="0" i="0" lang="en-US" sz="2000" u="none" cap="none" strike="noStrike">
                <a:solidFill>
                  <a:schemeClr val="dk1"/>
                </a:solidFill>
                <a:latin typeface="Calibri"/>
                <a:ea typeface="Calibri"/>
                <a:cs typeface="Calibri"/>
                <a:sym typeface="Calibri"/>
              </a:rPr>
              <a:t>Resultant data are analyzed to uncover the categories that result in highest cost to the organization.</a:t>
            </a:r>
            <a:endParaRPr b="0" i="0" sz="2000" u="none" cap="none" strike="noStrike">
              <a:solidFill>
                <a:schemeClr val="dk1"/>
              </a:solidFill>
              <a:latin typeface="Calibri"/>
              <a:ea typeface="Calibri"/>
              <a:cs typeface="Calibri"/>
              <a:sym typeface="Calibri"/>
            </a:endParaRPr>
          </a:p>
          <a:p>
            <a:pPr indent="-380365" lvl="1" marL="469265" marR="0" rtl="0" algn="l">
              <a:lnSpc>
                <a:spcPct val="116500"/>
              </a:lnSpc>
              <a:spcBef>
                <a:spcPts val="0"/>
              </a:spcBef>
              <a:spcAft>
                <a:spcPts val="0"/>
              </a:spcAft>
              <a:buClr>
                <a:schemeClr val="dk1"/>
              </a:buClr>
              <a:buSzPts val="2000"/>
              <a:buFont typeface="Calibri"/>
              <a:buAutoNum type="arabicPeriod"/>
            </a:pPr>
            <a:r>
              <a:rPr b="0" i="0" lang="en-US" sz="2000" u="none" cap="none" strike="noStrike">
                <a:solidFill>
                  <a:schemeClr val="dk1"/>
                </a:solidFill>
                <a:latin typeface="Calibri"/>
                <a:ea typeface="Calibri"/>
                <a:cs typeface="Calibri"/>
                <a:sym typeface="Calibri"/>
              </a:rPr>
              <a:t>Plans are developed to modify the process with the intent of eliminating</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8"/>
          <p:cNvSpPr txBox="1"/>
          <p:nvPr>
            <p:ph type="title"/>
          </p:nvPr>
        </p:nvSpPr>
        <p:spPr>
          <a:xfrm>
            <a:off x="1435608" y="508869"/>
            <a:ext cx="7498080" cy="673902"/>
          </a:xfrm>
          <a:prstGeom prst="rect">
            <a:avLst/>
          </a:prstGeom>
          <a:noFill/>
          <a:ln>
            <a:noFill/>
          </a:ln>
        </p:spPr>
        <p:txBody>
          <a:bodyPr anchorCtr="0" anchor="ctr" bIns="0" lIns="0" spcFirstLastPara="1" rIns="0" wrap="square" tIns="12050">
            <a:spAutoFit/>
          </a:bodyPr>
          <a:lstStyle/>
          <a:p>
            <a:pPr indent="0" lvl="0" marL="3504565" rtl="0" algn="ctr">
              <a:lnSpc>
                <a:spcPct val="100000"/>
              </a:lnSpc>
              <a:spcBef>
                <a:spcPts val="0"/>
              </a:spcBef>
              <a:spcAft>
                <a:spcPts val="0"/>
              </a:spcAft>
              <a:buClr>
                <a:schemeClr val="dk1"/>
              </a:buClr>
              <a:buSzPts val="4400"/>
              <a:buFont typeface="Calibri"/>
              <a:buNone/>
            </a:pPr>
            <a:r>
              <a:rPr lang="en-US"/>
              <a:t>Failure Analysis</a:t>
            </a:r>
            <a:endParaRPr/>
          </a:p>
        </p:txBody>
      </p:sp>
      <p:grpSp>
        <p:nvGrpSpPr>
          <p:cNvPr id="217" name="Google Shape;217;p18"/>
          <p:cNvGrpSpPr/>
          <p:nvPr/>
        </p:nvGrpSpPr>
        <p:grpSpPr>
          <a:xfrm>
            <a:off x="1676400" y="1752600"/>
            <a:ext cx="6716574" cy="4571935"/>
            <a:chOff x="2528716" y="909175"/>
            <a:chExt cx="8474945" cy="5355514"/>
          </a:xfrm>
        </p:grpSpPr>
        <p:pic>
          <p:nvPicPr>
            <p:cNvPr id="218" name="Google Shape;218;p18"/>
            <p:cNvPicPr preferRelativeResize="0"/>
            <p:nvPr/>
          </p:nvPicPr>
          <p:blipFill rotWithShape="1">
            <a:blip r:embed="rId3">
              <a:alphaModFix/>
            </a:blip>
            <a:srcRect b="0" l="0" r="0" t="0"/>
            <a:stretch/>
          </p:blipFill>
          <p:spPr>
            <a:xfrm>
              <a:off x="2528716" y="909175"/>
              <a:ext cx="5774465" cy="5355514"/>
            </a:xfrm>
            <a:prstGeom prst="rect">
              <a:avLst/>
            </a:prstGeom>
            <a:noFill/>
            <a:ln>
              <a:noFill/>
            </a:ln>
          </p:spPr>
        </p:pic>
        <p:pic>
          <p:nvPicPr>
            <p:cNvPr id="219" name="Google Shape;219;p18"/>
            <p:cNvPicPr preferRelativeResize="0"/>
            <p:nvPr/>
          </p:nvPicPr>
          <p:blipFill rotWithShape="1">
            <a:blip r:embed="rId4">
              <a:alphaModFix/>
            </a:blip>
            <a:srcRect b="0" l="0" r="0" t="0"/>
            <a:stretch/>
          </p:blipFill>
          <p:spPr>
            <a:xfrm>
              <a:off x="7815834" y="5892825"/>
              <a:ext cx="3187827" cy="280073"/>
            </a:xfrm>
            <a:prstGeom prst="rect">
              <a:avLst/>
            </a:prstGeom>
            <a:noFill/>
            <a:ln>
              <a:noFill/>
            </a:ln>
          </p:spPr>
        </p:pic>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Process Maturity</a:t>
            </a:r>
            <a:endParaRPr/>
          </a:p>
        </p:txBody>
      </p:sp>
      <p:sp>
        <p:nvSpPr>
          <p:cNvPr id="225" name="Google Shape;225;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800"/>
              <a:buChar char="•"/>
            </a:pPr>
            <a:r>
              <a:rPr lang="en-US" sz="2800"/>
              <a:t>Software Engineering Institute (SEI) has developed a comprehensive model predicated on a set of software engineering capabilities that should be present for an organization when the organization reaches different levels of process maturity. </a:t>
            </a:r>
            <a:endParaRPr sz="2800"/>
          </a:p>
          <a:p>
            <a:pPr indent="-165100" lvl="0" marL="342900" rtl="0" algn="l">
              <a:spcBef>
                <a:spcPts val="560"/>
              </a:spcBef>
              <a:spcAft>
                <a:spcPts val="0"/>
              </a:spcAft>
              <a:buClr>
                <a:schemeClr val="dk1"/>
              </a:buClr>
              <a:buSzPts val="2800"/>
              <a:buNone/>
            </a:pPr>
            <a:r>
              <a:t/>
            </a:r>
            <a:endParaRPr sz="2800"/>
          </a:p>
        </p:txBody>
      </p:sp>
      <p:sp>
        <p:nvSpPr>
          <p:cNvPr id="226" name="Google Shape;226;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29-Jul-24</a:t>
            </a:r>
            <a:endParaRPr/>
          </a:p>
        </p:txBody>
      </p:sp>
      <p:sp>
        <p:nvSpPr>
          <p:cNvPr id="227" name="Google Shape;227;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0"/>
          <p:cNvSpPr txBox="1"/>
          <p:nvPr>
            <p:ph type="title"/>
          </p:nvPr>
        </p:nvSpPr>
        <p:spPr>
          <a:xfrm>
            <a:off x="1219200" y="228600"/>
            <a:ext cx="7421880" cy="640915"/>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Capability Maturity Model (CMM)</a:t>
            </a:r>
            <a:endParaRPr/>
          </a:p>
        </p:txBody>
      </p:sp>
      <p:sp>
        <p:nvSpPr>
          <p:cNvPr id="233" name="Google Shape;233;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29-Jul-24</a:t>
            </a:r>
            <a:endParaRPr/>
          </a:p>
        </p:txBody>
      </p:sp>
      <p:sp>
        <p:nvSpPr>
          <p:cNvPr id="234" name="Google Shape;234;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35" name="Google Shape;235;p20"/>
          <p:cNvPicPr preferRelativeResize="0"/>
          <p:nvPr>
            <p:ph idx="1" type="body"/>
          </p:nvPr>
        </p:nvPicPr>
        <p:blipFill rotWithShape="1">
          <a:blip r:embed="rId3">
            <a:alphaModFix/>
          </a:blip>
          <a:srcRect b="0" l="0" r="0" t="0"/>
          <a:stretch/>
        </p:blipFill>
        <p:spPr>
          <a:xfrm>
            <a:off x="1371600" y="1981200"/>
            <a:ext cx="6992242" cy="2743200"/>
          </a:xfrm>
          <a:prstGeom prst="rect">
            <a:avLst/>
          </a:prstGeom>
          <a:noFill/>
          <a:ln>
            <a:noFill/>
          </a:ln>
        </p:spPr>
      </p:pic>
      <p:sp>
        <p:nvSpPr>
          <p:cNvPr id="236" name="Google Shape;236;p20"/>
          <p:cNvSpPr/>
          <p:nvPr/>
        </p:nvSpPr>
        <p:spPr>
          <a:xfrm>
            <a:off x="1447800" y="4953000"/>
            <a:ext cx="58674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92D050"/>
                </a:solidFill>
                <a:latin typeface="Calibri"/>
                <a:ea typeface="Calibri"/>
                <a:cs typeface="Calibri"/>
                <a:sym typeface="Calibri"/>
              </a:rPr>
              <a:t>Five levels usually it is termed as </a:t>
            </a:r>
            <a:endParaRPr/>
          </a:p>
          <a:p>
            <a:pPr indent="0" lvl="0" marL="82296" marR="0" rtl="0" algn="l">
              <a:spcBef>
                <a:spcPts val="0"/>
              </a:spcBef>
              <a:spcAft>
                <a:spcPts val="0"/>
              </a:spcAft>
              <a:buClr>
                <a:srgbClr val="92D050"/>
              </a:buClr>
              <a:buSzPts val="1800"/>
              <a:buFont typeface="Calibri"/>
              <a:buNone/>
            </a:pPr>
            <a:r>
              <a:rPr lang="en-US" sz="1800">
                <a:solidFill>
                  <a:srgbClr val="92D050"/>
                </a:solidFill>
                <a:latin typeface="Calibri"/>
                <a:ea typeface="Calibri"/>
                <a:cs typeface="Calibri"/>
                <a:sym typeface="Calibri"/>
              </a:rPr>
              <a:t>   </a:t>
            </a:r>
            <a:r>
              <a:rPr b="1" lang="en-US" sz="1800">
                <a:solidFill>
                  <a:srgbClr val="92D050"/>
                </a:solidFill>
                <a:latin typeface="Calibri"/>
                <a:ea typeface="Calibri"/>
                <a:cs typeface="Calibri"/>
                <a:sym typeface="Calibri"/>
              </a:rPr>
              <a:t>Capability Maturity Model (CMM) Levels</a:t>
            </a:r>
            <a:endParaRPr b="1" sz="1800">
              <a:solidFill>
                <a:srgbClr val="92D050"/>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1"/>
          <p:cNvSpPr txBox="1"/>
          <p:nvPr>
            <p:ph type="title"/>
          </p:nvPr>
        </p:nvSpPr>
        <p:spPr>
          <a:xfrm>
            <a:off x="1435608" y="508869"/>
            <a:ext cx="7498080" cy="673902"/>
          </a:xfrm>
          <a:prstGeom prst="rect">
            <a:avLst/>
          </a:prstGeom>
          <a:noFill/>
          <a:ln>
            <a:noFill/>
          </a:ln>
        </p:spPr>
        <p:txBody>
          <a:bodyPr anchorCtr="0" anchor="ctr" bIns="0" lIns="0" spcFirstLastPara="1" rIns="0" wrap="square" tIns="12050">
            <a:spAutoFit/>
          </a:bodyPr>
          <a:lstStyle/>
          <a:p>
            <a:pPr indent="0" lvl="0" marL="3885565" rtl="0" algn="ctr">
              <a:lnSpc>
                <a:spcPct val="100000"/>
              </a:lnSpc>
              <a:spcBef>
                <a:spcPts val="0"/>
              </a:spcBef>
              <a:spcAft>
                <a:spcPts val="0"/>
              </a:spcAft>
              <a:buClr>
                <a:schemeClr val="dk1"/>
              </a:buClr>
              <a:buSzPts val="4400"/>
              <a:buFont typeface="Calibri"/>
              <a:buNone/>
            </a:pPr>
            <a:r>
              <a:rPr lang="en-US"/>
              <a:t>CMM Levels</a:t>
            </a:r>
            <a:endParaRPr/>
          </a:p>
        </p:txBody>
      </p:sp>
      <p:pic>
        <p:nvPicPr>
          <p:cNvPr id="242" name="Google Shape;242;p21"/>
          <p:cNvPicPr preferRelativeResize="0"/>
          <p:nvPr/>
        </p:nvPicPr>
        <p:blipFill rotWithShape="1">
          <a:blip r:embed="rId3">
            <a:alphaModFix/>
          </a:blip>
          <a:srcRect b="0" l="0" r="0" t="0"/>
          <a:stretch/>
        </p:blipFill>
        <p:spPr>
          <a:xfrm>
            <a:off x="838200" y="1371600"/>
            <a:ext cx="8226754" cy="4915843"/>
          </a:xfrm>
          <a:prstGeom prst="rect">
            <a:avLst/>
          </a:prstGeom>
          <a:noFill/>
          <a:ln>
            <a:noFill/>
          </a:ln>
        </p:spPr>
      </p:pic>
      <p:sp>
        <p:nvSpPr>
          <p:cNvPr id="243" name="Google Shape;243;p21"/>
          <p:cNvSpPr txBox="1"/>
          <p:nvPr>
            <p:ph idx="4294967295" type="ftr"/>
          </p:nvPr>
        </p:nvSpPr>
        <p:spPr>
          <a:xfrm>
            <a:off x="4145947" y="6420407"/>
            <a:ext cx="829913" cy="487313"/>
          </a:xfrm>
          <a:prstGeom prst="rect">
            <a:avLst/>
          </a:prstGeom>
          <a:noFill/>
          <a:ln>
            <a:noFill/>
          </a:ln>
        </p:spPr>
        <p:txBody>
          <a:bodyPr anchorCtr="0" anchor="ctr" bIns="0" lIns="0" spcFirstLastPara="1" rIns="0" wrap="square" tIns="0">
            <a:spAutoFit/>
          </a:bodyPr>
          <a:lstStyle/>
          <a:p>
            <a:pPr indent="0" lvl="0" marL="43180" rtl="0" algn="ctr">
              <a:lnSpc>
                <a:spcPct val="155333"/>
              </a:lnSpc>
              <a:spcBef>
                <a:spcPts val="0"/>
              </a:spcBef>
              <a:spcAft>
                <a:spcPts val="0"/>
              </a:spcAft>
              <a:buNone/>
            </a:pPr>
            <a:r>
              <a:rPr lang="en-US"/>
              <a:t>MODULE 1</a:t>
            </a:r>
            <a:endParaRPr/>
          </a:p>
        </p:txBody>
      </p:sp>
      <p:sp>
        <p:nvSpPr>
          <p:cNvPr id="244" name="Google Shape;244;p21"/>
          <p:cNvSpPr txBox="1"/>
          <p:nvPr>
            <p:ph idx="4294967295" type="sldNum"/>
          </p:nvPr>
        </p:nvSpPr>
        <p:spPr>
          <a:xfrm>
            <a:off x="8164259" y="6420407"/>
            <a:ext cx="320802" cy="252095"/>
          </a:xfrm>
          <a:prstGeom prst="rect">
            <a:avLst/>
          </a:prstGeom>
          <a:noFill/>
          <a:ln>
            <a:noFill/>
          </a:ln>
        </p:spPr>
        <p:txBody>
          <a:bodyPr anchorCtr="0" anchor="ctr" bIns="0" lIns="0" spcFirstLastPara="1" rIns="0" wrap="square" tIns="0">
            <a:spAutoFit/>
          </a:bodyPr>
          <a:lstStyle/>
          <a:p>
            <a:pPr indent="0" lvl="0" marL="150495" rtl="0" algn="r">
              <a:lnSpc>
                <a:spcPct val="155333"/>
              </a:lnSpc>
              <a:spcBef>
                <a:spcPts val="0"/>
              </a:spcBef>
              <a:spcAft>
                <a:spcPts val="0"/>
              </a:spcAft>
              <a:buNone/>
            </a:pPr>
            <a:fld id="{00000000-1234-1234-1234-123412341234}" type="slidenum">
              <a:rPr lang="en-US"/>
              <a:t>‹#›</a:t>
            </a:fld>
            <a:endParaRPr/>
          </a:p>
        </p:txBody>
      </p:sp>
      <p:sp>
        <p:nvSpPr>
          <p:cNvPr id="245" name="Google Shape;245;p21"/>
          <p:cNvSpPr txBox="1"/>
          <p:nvPr/>
        </p:nvSpPr>
        <p:spPr>
          <a:xfrm>
            <a:off x="1828800" y="1905000"/>
            <a:ext cx="336361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Continuous process improvement</a:t>
            </a:r>
            <a:endParaRPr sz="1800">
              <a:solidFill>
                <a:schemeClr val="dk1"/>
              </a:solidFill>
              <a:latin typeface="Calibri"/>
              <a:ea typeface="Calibri"/>
              <a:cs typeface="Calibri"/>
              <a:sym typeface="Calibri"/>
            </a:endParaRPr>
          </a:p>
        </p:txBody>
      </p:sp>
      <p:sp>
        <p:nvSpPr>
          <p:cNvPr id="246" name="Google Shape;246;p21"/>
          <p:cNvSpPr txBox="1"/>
          <p:nvPr/>
        </p:nvSpPr>
        <p:spPr>
          <a:xfrm>
            <a:off x="6734167" y="3644855"/>
            <a:ext cx="237956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Process standardization</a:t>
            </a: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2"/>
          <p:cNvSpPr txBox="1"/>
          <p:nvPr>
            <p:ph type="title"/>
          </p:nvPr>
        </p:nvSpPr>
        <p:spPr>
          <a:xfrm>
            <a:off x="1524000" y="175483"/>
            <a:ext cx="6876288" cy="627736"/>
          </a:xfrm>
          <a:prstGeom prst="rect">
            <a:avLst/>
          </a:prstGeom>
          <a:noFill/>
          <a:ln>
            <a:noFill/>
          </a:ln>
        </p:spPr>
        <p:txBody>
          <a:bodyPr anchorCtr="0" anchor="ctr" bIns="0" lIns="0" spcFirstLastPara="1" rIns="0" wrap="square" tIns="12050">
            <a:spAutoFit/>
          </a:bodyPr>
          <a:lstStyle/>
          <a:p>
            <a:pPr indent="0" lvl="0" marL="3885565" rtl="0" algn="ctr">
              <a:lnSpc>
                <a:spcPct val="100000"/>
              </a:lnSpc>
              <a:spcBef>
                <a:spcPts val="0"/>
              </a:spcBef>
              <a:spcAft>
                <a:spcPts val="0"/>
              </a:spcAft>
              <a:buClr>
                <a:schemeClr val="dk1"/>
              </a:buClr>
              <a:buSzPts val="4000"/>
              <a:buFont typeface="Calibri"/>
              <a:buNone/>
            </a:pPr>
            <a:r>
              <a:rPr lang="en-US" sz="4000"/>
              <a:t>CMM Levels</a:t>
            </a:r>
            <a:endParaRPr/>
          </a:p>
        </p:txBody>
      </p:sp>
      <p:sp>
        <p:nvSpPr>
          <p:cNvPr id="252" name="Google Shape;252;p22"/>
          <p:cNvSpPr txBox="1"/>
          <p:nvPr/>
        </p:nvSpPr>
        <p:spPr>
          <a:xfrm>
            <a:off x="1106466" y="1066800"/>
            <a:ext cx="8001000" cy="5400068"/>
          </a:xfrm>
          <a:prstGeom prst="rect">
            <a:avLst/>
          </a:prstGeom>
          <a:noFill/>
          <a:ln>
            <a:noFill/>
          </a:ln>
        </p:spPr>
        <p:txBody>
          <a:bodyPr anchorCtr="0" anchor="t" bIns="0" lIns="0" spcFirstLastPara="1" rIns="0" wrap="square" tIns="51425">
            <a:spAutoFit/>
          </a:bodyPr>
          <a:lstStyle/>
          <a:p>
            <a:pPr indent="-108857" lvl="0" marL="12700" marR="594995" rtl="0" algn="l">
              <a:lnSpc>
                <a:spcPct val="124444"/>
              </a:lnSpc>
              <a:spcBef>
                <a:spcPts val="0"/>
              </a:spcBef>
              <a:spcAft>
                <a:spcPts val="0"/>
              </a:spcAft>
              <a:buClr>
                <a:srgbClr val="000000"/>
              </a:buClr>
              <a:buSzPts val="1714"/>
              <a:buFont typeface="Arial"/>
              <a:buChar char="•"/>
            </a:pPr>
            <a:r>
              <a:rPr b="1" lang="en-US" sz="1800">
                <a:solidFill>
                  <a:srgbClr val="006FC0"/>
                </a:solidFill>
                <a:latin typeface="Calibri"/>
                <a:ea typeface="Calibri"/>
                <a:cs typeface="Calibri"/>
                <a:sym typeface="Calibri"/>
              </a:rPr>
              <a:t>	Level 1: Initial</a:t>
            </a:r>
            <a:r>
              <a:rPr lang="en-US" sz="1800">
                <a:solidFill>
                  <a:schemeClr val="dk1"/>
                </a:solidFill>
                <a:latin typeface="Calibri"/>
                <a:ea typeface="Calibri"/>
                <a:cs typeface="Calibri"/>
                <a:sym typeface="Calibri"/>
              </a:rPr>
              <a:t>. The software process is characterized </a:t>
            </a:r>
            <a:r>
              <a:rPr lang="en-US" sz="1800" u="sng">
                <a:solidFill>
                  <a:srgbClr val="006FC0"/>
                </a:solidFill>
                <a:latin typeface="Calibri"/>
                <a:ea typeface="Calibri"/>
                <a:cs typeface="Calibri"/>
                <a:sym typeface="Calibri"/>
              </a:rPr>
              <a:t>as ad hoc </a:t>
            </a:r>
            <a:r>
              <a:rPr lang="en-US" sz="1800">
                <a:solidFill>
                  <a:schemeClr val="dk1"/>
                </a:solidFill>
                <a:latin typeface="Calibri"/>
                <a:ea typeface="Calibri"/>
                <a:cs typeface="Calibri"/>
                <a:sym typeface="Calibri"/>
              </a:rPr>
              <a:t>and </a:t>
            </a:r>
            <a:r>
              <a:rPr lang="en-US" sz="1800">
                <a:solidFill>
                  <a:srgbClr val="006FC0"/>
                </a:solidFill>
                <a:latin typeface="Calibri"/>
                <a:ea typeface="Calibri"/>
                <a:cs typeface="Calibri"/>
                <a:sym typeface="Calibri"/>
              </a:rPr>
              <a:t>occasionally even chaotic</a:t>
            </a:r>
            <a:r>
              <a:rPr lang="en-US" sz="1800">
                <a:solidFill>
                  <a:schemeClr val="dk1"/>
                </a:solidFill>
                <a:latin typeface="Calibri"/>
                <a:ea typeface="Calibri"/>
                <a:cs typeface="Calibri"/>
                <a:sym typeface="Calibri"/>
              </a:rPr>
              <a:t>. Few processes are defined, and success depends on individual effort.</a:t>
            </a:r>
            <a:endParaRPr sz="1800">
              <a:solidFill>
                <a:schemeClr val="dk1"/>
              </a:solidFill>
              <a:latin typeface="Calibri"/>
              <a:ea typeface="Calibri"/>
              <a:cs typeface="Calibri"/>
              <a:sym typeface="Calibri"/>
            </a:endParaRPr>
          </a:p>
          <a:p>
            <a:pPr indent="-108857" lvl="0" marL="12700" marR="378460" rtl="0" algn="l">
              <a:lnSpc>
                <a:spcPct val="89600"/>
              </a:lnSpc>
              <a:spcBef>
                <a:spcPts val="1010"/>
              </a:spcBef>
              <a:spcAft>
                <a:spcPts val="0"/>
              </a:spcAft>
              <a:buClr>
                <a:srgbClr val="000000"/>
              </a:buClr>
              <a:buSzPts val="1714"/>
              <a:buFont typeface="Arial"/>
              <a:buChar char="•"/>
            </a:pPr>
            <a:r>
              <a:rPr b="1" lang="en-US" sz="1800">
                <a:solidFill>
                  <a:srgbClr val="006FC0"/>
                </a:solidFill>
                <a:latin typeface="Calibri"/>
                <a:ea typeface="Calibri"/>
                <a:cs typeface="Calibri"/>
                <a:sym typeface="Calibri"/>
              </a:rPr>
              <a:t>	Level 2: Repeatable (Managed)</a:t>
            </a:r>
            <a:r>
              <a:rPr lang="en-US" sz="1800">
                <a:solidFill>
                  <a:schemeClr val="dk1"/>
                </a:solidFill>
                <a:latin typeface="Calibri"/>
                <a:ea typeface="Calibri"/>
                <a:cs typeface="Calibri"/>
                <a:sym typeface="Calibri"/>
              </a:rPr>
              <a:t>. </a:t>
            </a:r>
            <a:r>
              <a:rPr lang="en-US" sz="1800">
                <a:solidFill>
                  <a:srgbClr val="006FC0"/>
                </a:solidFill>
                <a:latin typeface="Calibri"/>
                <a:ea typeface="Calibri"/>
                <a:cs typeface="Calibri"/>
                <a:sym typeface="Calibri"/>
              </a:rPr>
              <a:t>Basic project management processes are established </a:t>
            </a:r>
            <a:r>
              <a:rPr lang="en-US" sz="1800">
                <a:solidFill>
                  <a:schemeClr val="dk1"/>
                </a:solidFill>
                <a:latin typeface="Calibri"/>
                <a:ea typeface="Calibri"/>
                <a:cs typeface="Calibri"/>
                <a:sym typeface="Calibri"/>
              </a:rPr>
              <a:t>to track cost, schedule, and functionality. The necessary process discipline is in place to repeat earlier successes on projects with similar applications.</a:t>
            </a:r>
            <a:endParaRPr sz="1800">
              <a:solidFill>
                <a:schemeClr val="dk1"/>
              </a:solidFill>
              <a:latin typeface="Calibri"/>
              <a:ea typeface="Calibri"/>
              <a:cs typeface="Calibri"/>
              <a:sym typeface="Calibri"/>
            </a:endParaRPr>
          </a:p>
          <a:p>
            <a:pPr indent="-108857" lvl="0" marL="12700" marR="5080" rtl="0" algn="l">
              <a:lnSpc>
                <a:spcPct val="89900"/>
              </a:lnSpc>
              <a:spcBef>
                <a:spcPts val="1019"/>
              </a:spcBef>
              <a:spcAft>
                <a:spcPts val="0"/>
              </a:spcAft>
              <a:buClr>
                <a:srgbClr val="000000"/>
              </a:buClr>
              <a:buSzPts val="1714"/>
              <a:buFont typeface="Arial"/>
              <a:buChar char="•"/>
            </a:pPr>
            <a:r>
              <a:rPr b="1" lang="en-US" sz="1800">
                <a:solidFill>
                  <a:srgbClr val="006FC0"/>
                </a:solidFill>
                <a:latin typeface="Calibri"/>
                <a:ea typeface="Calibri"/>
                <a:cs typeface="Calibri"/>
                <a:sym typeface="Calibri"/>
              </a:rPr>
              <a:t>	Level 3: Defined. </a:t>
            </a:r>
            <a:r>
              <a:rPr lang="en-US" sz="1800">
                <a:solidFill>
                  <a:srgbClr val="006FC0"/>
                </a:solidFill>
                <a:latin typeface="Calibri"/>
                <a:ea typeface="Calibri"/>
                <a:cs typeface="Calibri"/>
                <a:sym typeface="Calibri"/>
              </a:rPr>
              <a:t>The software process for both management and engineering activities is documented</a:t>
            </a:r>
            <a:r>
              <a:rPr lang="en-US" sz="1800">
                <a:solidFill>
                  <a:schemeClr val="dk1"/>
                </a:solidFill>
                <a:latin typeface="Calibri"/>
                <a:ea typeface="Calibri"/>
                <a:cs typeface="Calibri"/>
                <a:sym typeface="Calibri"/>
              </a:rPr>
              <a:t>, standardized, and integrated into an organization-wide software process. All projects use a documented and approved version of the organization's process for developing and supporting software. This level includes all characteristics defined for level 2.</a:t>
            </a:r>
            <a:endParaRPr sz="1800">
              <a:solidFill>
                <a:schemeClr val="dk1"/>
              </a:solidFill>
              <a:latin typeface="Calibri"/>
              <a:ea typeface="Calibri"/>
              <a:cs typeface="Calibri"/>
              <a:sym typeface="Calibri"/>
            </a:endParaRPr>
          </a:p>
          <a:p>
            <a:pPr indent="-108857" lvl="0" marL="12700" marR="474344" rtl="0" algn="l">
              <a:lnSpc>
                <a:spcPct val="89600"/>
              </a:lnSpc>
              <a:spcBef>
                <a:spcPts val="1030"/>
              </a:spcBef>
              <a:spcAft>
                <a:spcPts val="0"/>
              </a:spcAft>
              <a:buClr>
                <a:srgbClr val="000000"/>
              </a:buClr>
              <a:buSzPts val="1714"/>
              <a:buFont typeface="Arial"/>
              <a:buChar char="•"/>
            </a:pPr>
            <a:r>
              <a:rPr b="1" lang="en-US" sz="1800">
                <a:solidFill>
                  <a:srgbClr val="006FC0"/>
                </a:solidFill>
                <a:latin typeface="Calibri"/>
                <a:ea typeface="Calibri"/>
                <a:cs typeface="Calibri"/>
                <a:sym typeface="Calibri"/>
              </a:rPr>
              <a:t>	Level 4: Managed (Quantitively managed)</a:t>
            </a:r>
            <a:r>
              <a:rPr lang="en-US" sz="1800">
                <a:solidFill>
                  <a:schemeClr val="dk1"/>
                </a:solidFill>
                <a:latin typeface="Calibri"/>
                <a:ea typeface="Calibri"/>
                <a:cs typeface="Calibri"/>
                <a:sym typeface="Calibri"/>
              </a:rPr>
              <a:t>. Detailed measures of the software process and product quality are collected. Both the software process and products are quantitatively understood and controlled using detailed measures. This level includes all characteristics defined for level 3.</a:t>
            </a:r>
            <a:endParaRPr sz="1800">
              <a:solidFill>
                <a:schemeClr val="dk1"/>
              </a:solidFill>
              <a:latin typeface="Calibri"/>
              <a:ea typeface="Calibri"/>
              <a:cs typeface="Calibri"/>
              <a:sym typeface="Calibri"/>
            </a:endParaRPr>
          </a:p>
          <a:p>
            <a:pPr indent="-108857" lvl="0" marL="12700" marR="6985" rtl="0" algn="l">
              <a:lnSpc>
                <a:spcPct val="89500"/>
              </a:lnSpc>
              <a:spcBef>
                <a:spcPts val="1035"/>
              </a:spcBef>
              <a:spcAft>
                <a:spcPts val="0"/>
              </a:spcAft>
              <a:buClr>
                <a:srgbClr val="000000"/>
              </a:buClr>
              <a:buSzPts val="1714"/>
              <a:buFont typeface="Arial"/>
              <a:buChar char="•"/>
            </a:pPr>
            <a:r>
              <a:rPr b="1" lang="en-US" sz="1800">
                <a:solidFill>
                  <a:srgbClr val="006FC0"/>
                </a:solidFill>
                <a:latin typeface="Calibri"/>
                <a:ea typeface="Calibri"/>
                <a:cs typeface="Calibri"/>
                <a:sym typeface="Calibri"/>
              </a:rPr>
              <a:t>	Level 5: Optimizing. </a:t>
            </a:r>
            <a:r>
              <a:rPr lang="en-US" sz="1800">
                <a:solidFill>
                  <a:schemeClr val="dk1"/>
                </a:solidFill>
                <a:latin typeface="Calibri"/>
                <a:ea typeface="Calibri"/>
                <a:cs typeface="Calibri"/>
                <a:sym typeface="Calibri"/>
              </a:rPr>
              <a:t>Continuous process improvement is enabled by quantitative feedback from the process and from testing innovative ideas and technologies. This level includes all characteristics defined for level 4.</a:t>
            </a:r>
            <a:endParaRPr sz="1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3"/>
          <p:cNvSpPr txBox="1"/>
          <p:nvPr>
            <p:ph type="title"/>
          </p:nvPr>
        </p:nvSpPr>
        <p:spPr>
          <a:xfrm>
            <a:off x="1123668" y="304800"/>
            <a:ext cx="8019288" cy="566181"/>
          </a:xfrm>
          <a:prstGeom prst="rect">
            <a:avLst/>
          </a:prstGeom>
          <a:noFill/>
          <a:ln>
            <a:noFill/>
          </a:ln>
        </p:spPr>
        <p:txBody>
          <a:bodyPr anchorCtr="0" anchor="ctr" bIns="0" lIns="0" spcFirstLastPara="1" rIns="0" wrap="square" tIns="12050">
            <a:spAutoFit/>
          </a:bodyPr>
          <a:lstStyle/>
          <a:p>
            <a:pPr indent="0" lvl="0" marL="2390140" rtl="0" algn="ctr">
              <a:lnSpc>
                <a:spcPct val="100000"/>
              </a:lnSpc>
              <a:spcBef>
                <a:spcPts val="0"/>
              </a:spcBef>
              <a:spcAft>
                <a:spcPts val="0"/>
              </a:spcAft>
              <a:buClr>
                <a:schemeClr val="dk1"/>
              </a:buClr>
              <a:buSzPts val="3600"/>
              <a:buFont typeface="Calibri"/>
              <a:buNone/>
            </a:pPr>
            <a:r>
              <a:rPr lang="en-US" sz="3600"/>
              <a:t>Key Process Areas (KPA)</a:t>
            </a:r>
            <a:endParaRPr/>
          </a:p>
        </p:txBody>
      </p:sp>
      <p:sp>
        <p:nvSpPr>
          <p:cNvPr id="258" name="Google Shape;258;p23"/>
          <p:cNvSpPr txBox="1"/>
          <p:nvPr/>
        </p:nvSpPr>
        <p:spPr>
          <a:xfrm>
            <a:off x="1051484" y="946767"/>
            <a:ext cx="8092516" cy="5911233"/>
          </a:xfrm>
          <a:prstGeom prst="rect">
            <a:avLst/>
          </a:prstGeom>
          <a:noFill/>
          <a:ln>
            <a:noFill/>
          </a:ln>
        </p:spPr>
        <p:txBody>
          <a:bodyPr anchorCtr="0" anchor="t" bIns="0" lIns="0" spcFirstLastPara="1" rIns="0" wrap="square" tIns="55225">
            <a:spAutoFit/>
          </a:bodyPr>
          <a:lstStyle/>
          <a:p>
            <a:pPr indent="-146956" lvl="0" marL="12700" marR="5080" rtl="0" algn="l">
              <a:lnSpc>
                <a:spcPct val="89800"/>
              </a:lnSpc>
              <a:spcBef>
                <a:spcPts val="0"/>
              </a:spcBef>
              <a:spcAft>
                <a:spcPts val="0"/>
              </a:spcAft>
              <a:buClr>
                <a:schemeClr val="dk1"/>
              </a:buClr>
              <a:buSzPts val="2314"/>
              <a:buFont typeface="Arial"/>
              <a:buChar char="•"/>
            </a:pPr>
            <a:r>
              <a:rPr lang="en-US" sz="2400">
                <a:solidFill>
                  <a:schemeClr val="dk1"/>
                </a:solidFill>
                <a:latin typeface="Calibri"/>
                <a:ea typeface="Calibri"/>
                <a:cs typeface="Calibri"/>
                <a:sym typeface="Calibri"/>
              </a:rPr>
              <a:t>	The SEI has associated key process areas (KPAs) with each of the maturity levels which describe those software engineering functions (e.g., software project planning, requirements management) that must be present to satisfy good practice at a particular level.</a:t>
            </a:r>
            <a:endParaRPr sz="2400">
              <a:solidFill>
                <a:schemeClr val="dk1"/>
              </a:solidFill>
              <a:latin typeface="Calibri"/>
              <a:ea typeface="Calibri"/>
              <a:cs typeface="Calibri"/>
              <a:sym typeface="Calibri"/>
            </a:endParaRPr>
          </a:p>
          <a:p>
            <a:pPr indent="-146956" lvl="0" marL="137160" marR="0" rtl="0" algn="l">
              <a:lnSpc>
                <a:spcPct val="134375"/>
              </a:lnSpc>
              <a:spcBef>
                <a:spcPts val="685"/>
              </a:spcBef>
              <a:spcAft>
                <a:spcPts val="0"/>
              </a:spcAft>
              <a:buClr>
                <a:srgbClr val="000000"/>
              </a:buClr>
              <a:buSzPts val="2314"/>
              <a:buFont typeface="Arial"/>
              <a:buChar char="•"/>
            </a:pPr>
            <a:r>
              <a:rPr b="1" lang="en-US" sz="2400">
                <a:solidFill>
                  <a:srgbClr val="006FC0"/>
                </a:solidFill>
                <a:latin typeface="Calibri"/>
                <a:ea typeface="Calibri"/>
                <a:cs typeface="Calibri"/>
                <a:sym typeface="Calibri"/>
              </a:rPr>
              <a:t>Characteristics Of KPAs</a:t>
            </a:r>
            <a:endParaRPr sz="2400">
              <a:solidFill>
                <a:schemeClr val="dk1"/>
              </a:solidFill>
              <a:latin typeface="Calibri"/>
              <a:ea typeface="Calibri"/>
              <a:cs typeface="Calibri"/>
              <a:sym typeface="Calibri"/>
            </a:endParaRPr>
          </a:p>
          <a:p>
            <a:pPr indent="-119062" lvl="0" marL="118745" marR="0" rtl="0" algn="l">
              <a:lnSpc>
                <a:spcPct val="130000"/>
              </a:lnSpc>
              <a:spcBef>
                <a:spcPts val="0"/>
              </a:spcBef>
              <a:spcAft>
                <a:spcPts val="0"/>
              </a:spcAft>
              <a:buClr>
                <a:srgbClr val="000000"/>
              </a:buClr>
              <a:buSzPts val="1875"/>
              <a:buFont typeface="Arial"/>
              <a:buChar char="•"/>
            </a:pPr>
            <a:r>
              <a:rPr b="1" lang="en-US" sz="2000">
                <a:solidFill>
                  <a:srgbClr val="006FC0"/>
                </a:solidFill>
                <a:latin typeface="Calibri"/>
                <a:ea typeface="Calibri"/>
                <a:cs typeface="Calibri"/>
                <a:sym typeface="Calibri"/>
              </a:rPr>
              <a:t>Goals</a:t>
            </a:r>
            <a:r>
              <a:rPr lang="en-US" sz="2000">
                <a:solidFill>
                  <a:schemeClr val="dk1"/>
                </a:solidFill>
                <a:latin typeface="Calibri"/>
                <a:ea typeface="Calibri"/>
                <a:cs typeface="Calibri"/>
                <a:sym typeface="Calibri"/>
              </a:rPr>
              <a:t>—the overall objectives that the KPA must achieve.</a:t>
            </a:r>
            <a:endParaRPr sz="2000">
              <a:solidFill>
                <a:schemeClr val="dk1"/>
              </a:solidFill>
              <a:latin typeface="Calibri"/>
              <a:ea typeface="Calibri"/>
              <a:cs typeface="Calibri"/>
              <a:sym typeface="Calibri"/>
            </a:endParaRPr>
          </a:p>
          <a:p>
            <a:pPr indent="-119062" lvl="0" marL="12700" marR="899160" rtl="0" algn="l">
              <a:lnSpc>
                <a:spcPct val="129000"/>
              </a:lnSpc>
              <a:spcBef>
                <a:spcPts val="195"/>
              </a:spcBef>
              <a:spcAft>
                <a:spcPts val="0"/>
              </a:spcAft>
              <a:buClr>
                <a:srgbClr val="000000"/>
              </a:buClr>
              <a:buSzPts val="1875"/>
              <a:buFont typeface="Arial"/>
              <a:buChar char="•"/>
            </a:pPr>
            <a:r>
              <a:rPr b="1" lang="en-US" sz="2000">
                <a:solidFill>
                  <a:srgbClr val="006FC0"/>
                </a:solidFill>
                <a:latin typeface="Calibri"/>
                <a:ea typeface="Calibri"/>
                <a:cs typeface="Calibri"/>
                <a:sym typeface="Calibri"/>
              </a:rPr>
              <a:t>	Commitments</a:t>
            </a:r>
            <a:r>
              <a:rPr lang="en-US" sz="2000">
                <a:solidFill>
                  <a:schemeClr val="dk1"/>
                </a:solidFill>
                <a:latin typeface="Calibri"/>
                <a:ea typeface="Calibri"/>
                <a:cs typeface="Calibri"/>
                <a:sym typeface="Calibri"/>
              </a:rPr>
              <a:t>—requirements (imposed on the organization) that must be met to achieve the goals or provide proof of intent to comply with the goals.</a:t>
            </a:r>
            <a:endParaRPr sz="2000">
              <a:solidFill>
                <a:schemeClr val="dk1"/>
              </a:solidFill>
              <a:latin typeface="Calibri"/>
              <a:ea typeface="Calibri"/>
              <a:cs typeface="Calibri"/>
              <a:sym typeface="Calibri"/>
            </a:endParaRPr>
          </a:p>
          <a:p>
            <a:pPr indent="-173990" lvl="0" marL="186690" marR="51435" rtl="0" algn="l">
              <a:lnSpc>
                <a:spcPct val="129000"/>
              </a:lnSpc>
              <a:spcBef>
                <a:spcPts val="25"/>
              </a:spcBef>
              <a:spcAft>
                <a:spcPts val="0"/>
              </a:spcAft>
              <a:buClr>
                <a:srgbClr val="000000"/>
              </a:buClr>
              <a:buSzPts val="2000"/>
              <a:buFont typeface="Arial"/>
              <a:buChar char="•"/>
            </a:pPr>
            <a:r>
              <a:rPr b="1" lang="en-US" sz="2000">
                <a:solidFill>
                  <a:srgbClr val="006FC0"/>
                </a:solidFill>
                <a:latin typeface="Calibri"/>
                <a:ea typeface="Calibri"/>
                <a:cs typeface="Calibri"/>
                <a:sym typeface="Calibri"/>
              </a:rPr>
              <a:t>Abilities</a:t>
            </a:r>
            <a:r>
              <a:rPr lang="en-US" sz="2000">
                <a:solidFill>
                  <a:schemeClr val="dk1"/>
                </a:solidFill>
                <a:latin typeface="Calibri"/>
                <a:ea typeface="Calibri"/>
                <a:cs typeface="Calibri"/>
                <a:sym typeface="Calibri"/>
              </a:rPr>
              <a:t>—those things that must be in place (organizationally and technically) to enable the organization to meet the commitments.</a:t>
            </a:r>
            <a:endParaRPr sz="2000">
              <a:solidFill>
                <a:schemeClr val="dk1"/>
              </a:solidFill>
              <a:latin typeface="Calibri"/>
              <a:ea typeface="Calibri"/>
              <a:cs typeface="Calibri"/>
              <a:sym typeface="Calibri"/>
            </a:endParaRPr>
          </a:p>
          <a:p>
            <a:pPr indent="-119062" lvl="0" marL="118745" marR="0" rtl="0" algn="l">
              <a:lnSpc>
                <a:spcPct val="121250"/>
              </a:lnSpc>
              <a:spcBef>
                <a:spcPts val="0"/>
              </a:spcBef>
              <a:spcAft>
                <a:spcPts val="0"/>
              </a:spcAft>
              <a:buClr>
                <a:srgbClr val="000000"/>
              </a:buClr>
              <a:buSzPts val="1875"/>
              <a:buFont typeface="Arial"/>
              <a:buChar char="•"/>
            </a:pPr>
            <a:r>
              <a:rPr b="1" lang="en-US" sz="2000">
                <a:solidFill>
                  <a:srgbClr val="006FC0"/>
                </a:solidFill>
                <a:latin typeface="Calibri"/>
                <a:ea typeface="Calibri"/>
                <a:cs typeface="Calibri"/>
                <a:sym typeface="Calibri"/>
              </a:rPr>
              <a:t>Activities</a:t>
            </a:r>
            <a:r>
              <a:rPr lang="en-US" sz="2000">
                <a:solidFill>
                  <a:schemeClr val="dk1"/>
                </a:solidFill>
                <a:latin typeface="Calibri"/>
                <a:ea typeface="Calibri"/>
                <a:cs typeface="Calibri"/>
                <a:sym typeface="Calibri"/>
              </a:rPr>
              <a:t>—the specific tasks required to achieve the KPA function.</a:t>
            </a:r>
            <a:endParaRPr sz="2000">
              <a:solidFill>
                <a:schemeClr val="dk1"/>
              </a:solidFill>
              <a:latin typeface="Calibri"/>
              <a:ea typeface="Calibri"/>
              <a:cs typeface="Calibri"/>
              <a:sym typeface="Calibri"/>
            </a:endParaRPr>
          </a:p>
          <a:p>
            <a:pPr indent="-119062" lvl="0" marL="12700" marR="885825" rtl="0" algn="l">
              <a:lnSpc>
                <a:spcPct val="129000"/>
              </a:lnSpc>
              <a:spcBef>
                <a:spcPts val="190"/>
              </a:spcBef>
              <a:spcAft>
                <a:spcPts val="0"/>
              </a:spcAft>
              <a:buClr>
                <a:srgbClr val="000000"/>
              </a:buClr>
              <a:buSzPts val="1875"/>
              <a:buFont typeface="Arial"/>
              <a:buChar char="•"/>
            </a:pPr>
            <a:r>
              <a:rPr b="1" lang="en-US" sz="2000">
                <a:solidFill>
                  <a:srgbClr val="006FC0"/>
                </a:solidFill>
                <a:latin typeface="Calibri"/>
                <a:ea typeface="Calibri"/>
                <a:cs typeface="Calibri"/>
                <a:sym typeface="Calibri"/>
              </a:rPr>
              <a:t>	Methods for monitoring implementation</a:t>
            </a:r>
            <a:r>
              <a:rPr lang="en-US" sz="2000">
                <a:solidFill>
                  <a:schemeClr val="dk1"/>
                </a:solidFill>
                <a:latin typeface="Calibri"/>
                <a:ea typeface="Calibri"/>
                <a:cs typeface="Calibri"/>
                <a:sym typeface="Calibri"/>
              </a:rPr>
              <a:t>—the manner in which the activities are monitored as they are put into place.</a:t>
            </a:r>
            <a:endParaRPr sz="2000">
              <a:solidFill>
                <a:schemeClr val="dk1"/>
              </a:solidFill>
              <a:latin typeface="Calibri"/>
              <a:ea typeface="Calibri"/>
              <a:cs typeface="Calibri"/>
              <a:sym typeface="Calibri"/>
            </a:endParaRPr>
          </a:p>
          <a:p>
            <a:pPr indent="-119062" lvl="0" marL="12700" marR="422275" rtl="0" algn="l">
              <a:lnSpc>
                <a:spcPct val="129000"/>
              </a:lnSpc>
              <a:spcBef>
                <a:spcPts val="25"/>
              </a:spcBef>
              <a:spcAft>
                <a:spcPts val="0"/>
              </a:spcAft>
              <a:buClr>
                <a:srgbClr val="000000"/>
              </a:buClr>
              <a:buSzPts val="1875"/>
              <a:buFont typeface="Arial"/>
              <a:buChar char="•"/>
            </a:pPr>
            <a:r>
              <a:rPr b="1" lang="en-US" sz="2000">
                <a:solidFill>
                  <a:srgbClr val="006FC0"/>
                </a:solidFill>
                <a:latin typeface="Calibri"/>
                <a:ea typeface="Calibri"/>
                <a:cs typeface="Calibri"/>
                <a:sym typeface="Calibri"/>
              </a:rPr>
              <a:t>	Methods for verifying implementation</a:t>
            </a:r>
            <a:r>
              <a:rPr lang="en-US" sz="2000">
                <a:solidFill>
                  <a:schemeClr val="dk1"/>
                </a:solidFill>
                <a:latin typeface="Calibri"/>
                <a:ea typeface="Calibri"/>
                <a:cs typeface="Calibri"/>
                <a:sym typeface="Calibri"/>
              </a:rPr>
              <a:t>—the manner in which proper practice for the KPA can be verified.</a:t>
            </a:r>
            <a:endParaRPr sz="20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4"/>
          <p:cNvSpPr txBox="1"/>
          <p:nvPr>
            <p:ph idx="4294967295" type="ftr"/>
          </p:nvPr>
        </p:nvSpPr>
        <p:spPr>
          <a:xfrm>
            <a:off x="4145947" y="6420407"/>
            <a:ext cx="829913" cy="487313"/>
          </a:xfrm>
          <a:prstGeom prst="rect">
            <a:avLst/>
          </a:prstGeom>
          <a:noFill/>
          <a:ln>
            <a:noFill/>
          </a:ln>
        </p:spPr>
        <p:txBody>
          <a:bodyPr anchorCtr="0" anchor="ctr" bIns="0" lIns="0" spcFirstLastPara="1" rIns="0" wrap="square" tIns="0">
            <a:spAutoFit/>
          </a:bodyPr>
          <a:lstStyle/>
          <a:p>
            <a:pPr indent="0" lvl="0" marL="43180" rtl="0" algn="ctr">
              <a:lnSpc>
                <a:spcPct val="155333"/>
              </a:lnSpc>
              <a:spcBef>
                <a:spcPts val="0"/>
              </a:spcBef>
              <a:spcAft>
                <a:spcPts val="0"/>
              </a:spcAft>
              <a:buNone/>
            </a:pPr>
            <a:r>
              <a:rPr lang="en-US"/>
              <a:t>MODULE 1</a:t>
            </a:r>
            <a:endParaRPr/>
          </a:p>
        </p:txBody>
      </p:sp>
      <p:sp>
        <p:nvSpPr>
          <p:cNvPr id="264" name="Google Shape;264;p24"/>
          <p:cNvSpPr txBox="1"/>
          <p:nvPr>
            <p:ph idx="4294967295" type="sldNum"/>
          </p:nvPr>
        </p:nvSpPr>
        <p:spPr>
          <a:xfrm>
            <a:off x="8164259" y="6420407"/>
            <a:ext cx="320802" cy="252095"/>
          </a:xfrm>
          <a:prstGeom prst="rect">
            <a:avLst/>
          </a:prstGeom>
          <a:noFill/>
          <a:ln>
            <a:noFill/>
          </a:ln>
        </p:spPr>
        <p:txBody>
          <a:bodyPr anchorCtr="0" anchor="ctr" bIns="0" lIns="0" spcFirstLastPara="1" rIns="0" wrap="square" tIns="0">
            <a:spAutoFit/>
          </a:bodyPr>
          <a:lstStyle/>
          <a:p>
            <a:pPr indent="0" lvl="0" marL="150495" rtl="0" algn="r">
              <a:lnSpc>
                <a:spcPct val="155333"/>
              </a:lnSpc>
              <a:spcBef>
                <a:spcPts val="0"/>
              </a:spcBef>
              <a:spcAft>
                <a:spcPts val="0"/>
              </a:spcAft>
              <a:buNone/>
            </a:pPr>
            <a:fld id="{00000000-1234-1234-1234-123412341234}" type="slidenum">
              <a:rPr lang="en-US"/>
              <a:t>‹#›</a:t>
            </a:fld>
            <a:endParaRPr/>
          </a:p>
        </p:txBody>
      </p:sp>
      <p:sp>
        <p:nvSpPr>
          <p:cNvPr id="265" name="Google Shape;265;p24"/>
          <p:cNvSpPr txBox="1"/>
          <p:nvPr>
            <p:ph type="title"/>
          </p:nvPr>
        </p:nvSpPr>
        <p:spPr>
          <a:xfrm>
            <a:off x="1143000" y="178327"/>
            <a:ext cx="7790688" cy="673716"/>
          </a:xfrm>
          <a:prstGeom prst="rect">
            <a:avLst/>
          </a:prstGeom>
          <a:noFill/>
          <a:ln>
            <a:noFill/>
          </a:ln>
        </p:spPr>
        <p:txBody>
          <a:bodyPr anchorCtr="0" anchor="ctr" bIns="0" lIns="0" spcFirstLastPara="1" rIns="0" wrap="square" tIns="12050">
            <a:spAutoFit/>
          </a:bodyPr>
          <a:lstStyle/>
          <a:p>
            <a:pPr indent="0" lvl="0" marL="2812415" rtl="0" algn="ctr">
              <a:lnSpc>
                <a:spcPct val="100000"/>
              </a:lnSpc>
              <a:spcBef>
                <a:spcPts val="0"/>
              </a:spcBef>
              <a:spcAft>
                <a:spcPts val="0"/>
              </a:spcAft>
              <a:buClr>
                <a:schemeClr val="dk1"/>
              </a:buClr>
              <a:buSzPts val="4400"/>
              <a:buFont typeface="Calibri"/>
              <a:buNone/>
            </a:pPr>
            <a:r>
              <a:rPr lang="en-US"/>
              <a:t>KPAs of CMM Level 2</a:t>
            </a:r>
            <a:endParaRPr/>
          </a:p>
        </p:txBody>
      </p:sp>
      <p:sp>
        <p:nvSpPr>
          <p:cNvPr id="266" name="Google Shape;266;p24"/>
          <p:cNvSpPr txBox="1"/>
          <p:nvPr/>
        </p:nvSpPr>
        <p:spPr>
          <a:xfrm>
            <a:off x="1066800" y="852043"/>
            <a:ext cx="7767161" cy="5416226"/>
          </a:xfrm>
          <a:prstGeom prst="rect">
            <a:avLst/>
          </a:prstGeom>
          <a:noFill/>
          <a:ln>
            <a:noFill/>
          </a:ln>
        </p:spPr>
        <p:txBody>
          <a:bodyPr anchorCtr="0" anchor="t" bIns="0" lIns="0" spcFirstLastPara="1" rIns="0" wrap="square" tIns="52700">
            <a:spAutoFit/>
          </a:bodyPr>
          <a:lstStyle/>
          <a:p>
            <a:pPr indent="-193673" lvl="0" marL="153670" marR="0" rtl="0" algn="l">
              <a:lnSpc>
                <a:spcPct val="100000"/>
              </a:lnSpc>
              <a:spcBef>
                <a:spcPts val="0"/>
              </a:spcBef>
              <a:spcAft>
                <a:spcPts val="0"/>
              </a:spcAft>
              <a:buClr>
                <a:srgbClr val="000000"/>
              </a:buClr>
              <a:buSzPts val="3050"/>
              <a:buFont typeface="Arial"/>
              <a:buChar char="•"/>
            </a:pPr>
            <a:r>
              <a:rPr b="1" lang="en-US" sz="3200">
                <a:solidFill>
                  <a:srgbClr val="006FC0"/>
                </a:solidFill>
                <a:latin typeface="Calibri"/>
                <a:ea typeface="Calibri"/>
                <a:cs typeface="Calibri"/>
                <a:sym typeface="Calibri"/>
              </a:rPr>
              <a:t>Process maturity level 2 (Repeatable /managed)</a:t>
            </a:r>
            <a:endParaRPr sz="3200">
              <a:solidFill>
                <a:schemeClr val="dk1"/>
              </a:solidFill>
              <a:latin typeface="Calibri"/>
              <a:ea typeface="Calibri"/>
              <a:cs typeface="Calibri"/>
              <a:sym typeface="Calibri"/>
            </a:endParaRPr>
          </a:p>
          <a:p>
            <a:pPr indent="0" lvl="0" marL="12700" marR="5080" rtl="0" algn="l">
              <a:lnSpc>
                <a:spcPct val="107916"/>
              </a:lnSpc>
              <a:spcBef>
                <a:spcPts val="565"/>
              </a:spcBef>
              <a:spcAft>
                <a:spcPts val="0"/>
              </a:spcAft>
              <a:buNone/>
            </a:pPr>
            <a:r>
              <a:rPr lang="en-US" sz="2400">
                <a:solidFill>
                  <a:srgbClr val="006FC0"/>
                </a:solidFill>
                <a:latin typeface="Calibri"/>
                <a:ea typeface="Calibri"/>
                <a:cs typeface="Calibri"/>
                <a:sym typeface="Calibri"/>
              </a:rPr>
              <a:t>Goals, Commitments, Abilities, Activities</a:t>
            </a:r>
            <a:r>
              <a:rPr lang="en-US" sz="2400">
                <a:solidFill>
                  <a:schemeClr val="dk1"/>
                </a:solidFill>
                <a:latin typeface="Calibri"/>
                <a:ea typeface="Calibri"/>
                <a:cs typeface="Calibri"/>
                <a:sym typeface="Calibri"/>
              </a:rPr>
              <a:t>,	</a:t>
            </a:r>
            <a:r>
              <a:rPr lang="en-US" sz="2400">
                <a:solidFill>
                  <a:srgbClr val="006FC0"/>
                </a:solidFill>
                <a:latin typeface="Calibri"/>
                <a:ea typeface="Calibri"/>
                <a:cs typeface="Calibri"/>
                <a:sym typeface="Calibri"/>
              </a:rPr>
              <a:t>Methods for monitoring implementation, Methods for verifying implementation</a:t>
            </a:r>
            <a:endParaRPr sz="2400">
              <a:solidFill>
                <a:schemeClr val="dk1"/>
              </a:solidFill>
              <a:latin typeface="Calibri"/>
              <a:ea typeface="Calibri"/>
              <a:cs typeface="Calibri"/>
              <a:sym typeface="Calibri"/>
            </a:endParaRPr>
          </a:p>
          <a:p>
            <a:pPr indent="0" lvl="0" marL="0" marR="0" rtl="0" algn="l">
              <a:lnSpc>
                <a:spcPct val="100000"/>
              </a:lnSpc>
              <a:spcBef>
                <a:spcPts val="1655"/>
              </a:spcBef>
              <a:spcAft>
                <a:spcPts val="0"/>
              </a:spcAft>
              <a:buNone/>
            </a:pPr>
            <a:r>
              <a:t/>
            </a:r>
            <a:endParaRPr sz="2400">
              <a:solidFill>
                <a:schemeClr val="dk1"/>
              </a:solidFill>
              <a:latin typeface="Calibri"/>
              <a:ea typeface="Calibri"/>
              <a:cs typeface="Calibri"/>
              <a:sym typeface="Calibri"/>
            </a:endParaRPr>
          </a:p>
          <a:p>
            <a:pPr indent="-171448" lvl="0" marL="137160" marR="0" rtl="0" algn="l">
              <a:lnSpc>
                <a:spcPct val="100000"/>
              </a:lnSpc>
              <a:spcBef>
                <a:spcPts val="0"/>
              </a:spcBef>
              <a:spcAft>
                <a:spcPts val="0"/>
              </a:spcAft>
              <a:buClr>
                <a:schemeClr val="dk1"/>
              </a:buClr>
              <a:buSzPts val="2700"/>
              <a:buFont typeface="Arial"/>
              <a:buChar char="•"/>
            </a:pPr>
            <a:r>
              <a:rPr lang="en-US" sz="2800">
                <a:solidFill>
                  <a:schemeClr val="dk1"/>
                </a:solidFill>
                <a:latin typeface="Calibri"/>
                <a:ea typeface="Calibri"/>
                <a:cs typeface="Calibri"/>
                <a:sym typeface="Calibri"/>
              </a:rPr>
              <a:t>Software configuration management</a:t>
            </a:r>
            <a:endParaRPr sz="2800">
              <a:solidFill>
                <a:schemeClr val="dk1"/>
              </a:solidFill>
              <a:latin typeface="Calibri"/>
              <a:ea typeface="Calibri"/>
              <a:cs typeface="Calibri"/>
              <a:sym typeface="Calibri"/>
            </a:endParaRPr>
          </a:p>
          <a:p>
            <a:pPr indent="-171448" lvl="0" marL="136525" marR="0" rtl="0" algn="l">
              <a:lnSpc>
                <a:spcPct val="100000"/>
              </a:lnSpc>
              <a:spcBef>
                <a:spcPts val="170"/>
              </a:spcBef>
              <a:spcAft>
                <a:spcPts val="0"/>
              </a:spcAft>
              <a:buClr>
                <a:schemeClr val="dk1"/>
              </a:buClr>
              <a:buSzPts val="2700"/>
              <a:buFont typeface="Arial"/>
              <a:buChar char="•"/>
            </a:pPr>
            <a:r>
              <a:rPr lang="en-US" sz="2800">
                <a:solidFill>
                  <a:schemeClr val="dk1"/>
                </a:solidFill>
                <a:latin typeface="Calibri"/>
                <a:ea typeface="Calibri"/>
                <a:cs typeface="Calibri"/>
                <a:sym typeface="Calibri"/>
              </a:rPr>
              <a:t>Software quality assurance</a:t>
            </a:r>
            <a:endParaRPr sz="2800">
              <a:solidFill>
                <a:schemeClr val="dk1"/>
              </a:solidFill>
              <a:latin typeface="Calibri"/>
              <a:ea typeface="Calibri"/>
              <a:cs typeface="Calibri"/>
              <a:sym typeface="Calibri"/>
            </a:endParaRPr>
          </a:p>
          <a:p>
            <a:pPr indent="-171448" lvl="0" marL="137160" marR="0" rtl="0" algn="l">
              <a:lnSpc>
                <a:spcPct val="100000"/>
              </a:lnSpc>
              <a:spcBef>
                <a:spcPts val="165"/>
              </a:spcBef>
              <a:spcAft>
                <a:spcPts val="0"/>
              </a:spcAft>
              <a:buClr>
                <a:schemeClr val="dk1"/>
              </a:buClr>
              <a:buSzPts val="2700"/>
              <a:buFont typeface="Arial"/>
              <a:buChar char="•"/>
            </a:pPr>
            <a:r>
              <a:rPr lang="en-US" sz="2800">
                <a:solidFill>
                  <a:schemeClr val="dk1"/>
                </a:solidFill>
                <a:latin typeface="Calibri"/>
                <a:ea typeface="Calibri"/>
                <a:cs typeface="Calibri"/>
                <a:sym typeface="Calibri"/>
              </a:rPr>
              <a:t>Software subcontract management</a:t>
            </a:r>
            <a:endParaRPr sz="2800">
              <a:solidFill>
                <a:schemeClr val="dk1"/>
              </a:solidFill>
              <a:latin typeface="Calibri"/>
              <a:ea typeface="Calibri"/>
              <a:cs typeface="Calibri"/>
              <a:sym typeface="Calibri"/>
            </a:endParaRPr>
          </a:p>
          <a:p>
            <a:pPr indent="-171448" lvl="0" marL="137160" marR="0" rtl="0" algn="l">
              <a:lnSpc>
                <a:spcPct val="100000"/>
              </a:lnSpc>
              <a:spcBef>
                <a:spcPts val="160"/>
              </a:spcBef>
              <a:spcAft>
                <a:spcPts val="0"/>
              </a:spcAft>
              <a:buClr>
                <a:schemeClr val="dk1"/>
              </a:buClr>
              <a:buSzPts val="2700"/>
              <a:buFont typeface="Arial"/>
              <a:buChar char="•"/>
            </a:pPr>
            <a:r>
              <a:rPr lang="en-US" sz="2800">
                <a:solidFill>
                  <a:schemeClr val="dk1"/>
                </a:solidFill>
                <a:latin typeface="Calibri"/>
                <a:ea typeface="Calibri"/>
                <a:cs typeface="Calibri"/>
                <a:sym typeface="Calibri"/>
              </a:rPr>
              <a:t>Software project tracking and oversight</a:t>
            </a:r>
            <a:endParaRPr sz="2800">
              <a:solidFill>
                <a:schemeClr val="dk1"/>
              </a:solidFill>
              <a:latin typeface="Calibri"/>
              <a:ea typeface="Calibri"/>
              <a:cs typeface="Calibri"/>
              <a:sym typeface="Calibri"/>
            </a:endParaRPr>
          </a:p>
          <a:p>
            <a:pPr indent="-171448" lvl="0" marL="136525" marR="0" rtl="0" algn="l">
              <a:lnSpc>
                <a:spcPct val="100000"/>
              </a:lnSpc>
              <a:spcBef>
                <a:spcPts val="170"/>
              </a:spcBef>
              <a:spcAft>
                <a:spcPts val="0"/>
              </a:spcAft>
              <a:buClr>
                <a:schemeClr val="dk1"/>
              </a:buClr>
              <a:buSzPts val="2700"/>
              <a:buFont typeface="Arial"/>
              <a:buChar char="•"/>
            </a:pPr>
            <a:r>
              <a:rPr lang="en-US" sz="2800">
                <a:solidFill>
                  <a:schemeClr val="dk1"/>
                </a:solidFill>
                <a:latin typeface="Calibri"/>
                <a:ea typeface="Calibri"/>
                <a:cs typeface="Calibri"/>
                <a:sym typeface="Calibri"/>
              </a:rPr>
              <a:t>Software project planning</a:t>
            </a:r>
            <a:endParaRPr sz="2800">
              <a:solidFill>
                <a:schemeClr val="dk1"/>
              </a:solidFill>
              <a:latin typeface="Calibri"/>
              <a:ea typeface="Calibri"/>
              <a:cs typeface="Calibri"/>
              <a:sym typeface="Calibri"/>
            </a:endParaRPr>
          </a:p>
          <a:p>
            <a:pPr indent="-171448" lvl="0" marL="137160" marR="0" rtl="0" algn="l">
              <a:lnSpc>
                <a:spcPct val="100000"/>
              </a:lnSpc>
              <a:spcBef>
                <a:spcPts val="165"/>
              </a:spcBef>
              <a:spcAft>
                <a:spcPts val="0"/>
              </a:spcAft>
              <a:buClr>
                <a:schemeClr val="dk1"/>
              </a:buClr>
              <a:buSzPts val="2700"/>
              <a:buFont typeface="Arial"/>
              <a:buChar char="•"/>
            </a:pPr>
            <a:r>
              <a:rPr lang="en-US" sz="2800">
                <a:solidFill>
                  <a:schemeClr val="dk1"/>
                </a:solidFill>
                <a:latin typeface="Calibri"/>
                <a:ea typeface="Calibri"/>
                <a:cs typeface="Calibri"/>
                <a:sym typeface="Calibri"/>
              </a:rPr>
              <a:t>Requirements management</a:t>
            </a:r>
            <a:endParaRPr sz="2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5"/>
          <p:cNvSpPr txBox="1"/>
          <p:nvPr>
            <p:ph idx="4294967295" type="ftr"/>
          </p:nvPr>
        </p:nvSpPr>
        <p:spPr>
          <a:xfrm>
            <a:off x="4145947" y="6420407"/>
            <a:ext cx="829913" cy="487313"/>
          </a:xfrm>
          <a:prstGeom prst="rect">
            <a:avLst/>
          </a:prstGeom>
          <a:noFill/>
          <a:ln>
            <a:noFill/>
          </a:ln>
        </p:spPr>
        <p:txBody>
          <a:bodyPr anchorCtr="0" anchor="ctr" bIns="0" lIns="0" spcFirstLastPara="1" rIns="0" wrap="square" tIns="0">
            <a:spAutoFit/>
          </a:bodyPr>
          <a:lstStyle/>
          <a:p>
            <a:pPr indent="0" lvl="0" marL="43180" rtl="0" algn="ctr">
              <a:lnSpc>
                <a:spcPct val="155333"/>
              </a:lnSpc>
              <a:spcBef>
                <a:spcPts val="0"/>
              </a:spcBef>
              <a:spcAft>
                <a:spcPts val="0"/>
              </a:spcAft>
              <a:buNone/>
            </a:pPr>
            <a:r>
              <a:rPr lang="en-US"/>
              <a:t>MODULE 1</a:t>
            </a:r>
            <a:endParaRPr/>
          </a:p>
        </p:txBody>
      </p:sp>
      <p:sp>
        <p:nvSpPr>
          <p:cNvPr id="272" name="Google Shape;272;p25"/>
          <p:cNvSpPr txBox="1"/>
          <p:nvPr>
            <p:ph idx="4294967295" type="sldNum"/>
          </p:nvPr>
        </p:nvSpPr>
        <p:spPr>
          <a:xfrm>
            <a:off x="8164259" y="6420407"/>
            <a:ext cx="320802" cy="252095"/>
          </a:xfrm>
          <a:prstGeom prst="rect">
            <a:avLst/>
          </a:prstGeom>
          <a:noFill/>
          <a:ln>
            <a:noFill/>
          </a:ln>
        </p:spPr>
        <p:txBody>
          <a:bodyPr anchorCtr="0" anchor="ctr" bIns="0" lIns="0" spcFirstLastPara="1" rIns="0" wrap="square" tIns="0">
            <a:spAutoFit/>
          </a:bodyPr>
          <a:lstStyle/>
          <a:p>
            <a:pPr indent="0" lvl="0" marL="150495" rtl="0" algn="r">
              <a:lnSpc>
                <a:spcPct val="155333"/>
              </a:lnSpc>
              <a:spcBef>
                <a:spcPts val="0"/>
              </a:spcBef>
              <a:spcAft>
                <a:spcPts val="0"/>
              </a:spcAft>
              <a:buNone/>
            </a:pPr>
            <a:fld id="{00000000-1234-1234-1234-123412341234}" type="slidenum">
              <a:rPr lang="en-US"/>
              <a:t>‹#›</a:t>
            </a:fld>
            <a:endParaRPr/>
          </a:p>
        </p:txBody>
      </p:sp>
      <p:sp>
        <p:nvSpPr>
          <p:cNvPr id="273" name="Google Shape;273;p25"/>
          <p:cNvSpPr txBox="1"/>
          <p:nvPr>
            <p:ph type="title"/>
          </p:nvPr>
        </p:nvSpPr>
        <p:spPr>
          <a:xfrm>
            <a:off x="1219200" y="171313"/>
            <a:ext cx="7714488" cy="673902"/>
          </a:xfrm>
          <a:prstGeom prst="rect">
            <a:avLst/>
          </a:prstGeom>
          <a:noFill/>
          <a:ln>
            <a:noFill/>
          </a:ln>
        </p:spPr>
        <p:txBody>
          <a:bodyPr anchorCtr="0" anchor="ctr" bIns="0" lIns="0" spcFirstLastPara="1" rIns="0" wrap="square" tIns="12050">
            <a:spAutoFit/>
          </a:bodyPr>
          <a:lstStyle/>
          <a:p>
            <a:pPr indent="0" lvl="0" marL="2812415" rtl="0" algn="ctr">
              <a:lnSpc>
                <a:spcPct val="100000"/>
              </a:lnSpc>
              <a:spcBef>
                <a:spcPts val="0"/>
              </a:spcBef>
              <a:spcAft>
                <a:spcPts val="0"/>
              </a:spcAft>
              <a:buClr>
                <a:schemeClr val="dk1"/>
              </a:buClr>
              <a:buSzPts val="4400"/>
              <a:buFont typeface="Calibri"/>
              <a:buNone/>
            </a:pPr>
            <a:r>
              <a:rPr lang="en-US"/>
              <a:t>KPAs of CMM Level 3</a:t>
            </a:r>
            <a:endParaRPr/>
          </a:p>
        </p:txBody>
      </p:sp>
      <p:sp>
        <p:nvSpPr>
          <p:cNvPr id="274" name="Google Shape;274;p25"/>
          <p:cNvSpPr txBox="1"/>
          <p:nvPr/>
        </p:nvSpPr>
        <p:spPr>
          <a:xfrm>
            <a:off x="1066800" y="794148"/>
            <a:ext cx="7767161" cy="5531001"/>
          </a:xfrm>
          <a:prstGeom prst="rect">
            <a:avLst/>
          </a:prstGeom>
          <a:noFill/>
          <a:ln>
            <a:noFill/>
          </a:ln>
        </p:spPr>
        <p:txBody>
          <a:bodyPr anchorCtr="0" anchor="t" bIns="0" lIns="0" spcFirstLastPara="1" rIns="0" wrap="square" tIns="138425">
            <a:spAutoFit/>
          </a:bodyPr>
          <a:lstStyle/>
          <a:p>
            <a:pPr indent="-193673" lvl="0" marL="153670" marR="0" rtl="0" algn="l">
              <a:lnSpc>
                <a:spcPct val="100000"/>
              </a:lnSpc>
              <a:spcBef>
                <a:spcPts val="0"/>
              </a:spcBef>
              <a:spcAft>
                <a:spcPts val="0"/>
              </a:spcAft>
              <a:buClr>
                <a:srgbClr val="000000"/>
              </a:buClr>
              <a:buSzPts val="3050"/>
              <a:buFont typeface="Arial"/>
              <a:buChar char="•"/>
            </a:pPr>
            <a:r>
              <a:rPr b="1" lang="en-US" sz="3200">
                <a:solidFill>
                  <a:srgbClr val="006FC0"/>
                </a:solidFill>
                <a:latin typeface="Calibri"/>
                <a:ea typeface="Calibri"/>
                <a:cs typeface="Calibri"/>
                <a:sym typeface="Calibri"/>
              </a:rPr>
              <a:t>Process maturity level 3 (Defined)</a:t>
            </a:r>
            <a:endParaRPr sz="3200">
              <a:solidFill>
                <a:schemeClr val="dk1"/>
              </a:solidFill>
              <a:latin typeface="Calibri"/>
              <a:ea typeface="Calibri"/>
              <a:cs typeface="Calibri"/>
              <a:sym typeface="Calibri"/>
            </a:endParaRPr>
          </a:p>
          <a:p>
            <a:pPr indent="0" lvl="0" marL="12700" marR="5080" rtl="0" algn="l">
              <a:lnSpc>
                <a:spcPct val="107916"/>
              </a:lnSpc>
              <a:spcBef>
                <a:spcPts val="1065"/>
              </a:spcBef>
              <a:spcAft>
                <a:spcPts val="0"/>
              </a:spcAft>
              <a:buNone/>
            </a:pPr>
            <a:r>
              <a:rPr lang="en-US" sz="2400">
                <a:solidFill>
                  <a:srgbClr val="006FC0"/>
                </a:solidFill>
                <a:latin typeface="Calibri"/>
                <a:ea typeface="Calibri"/>
                <a:cs typeface="Calibri"/>
                <a:sym typeface="Calibri"/>
              </a:rPr>
              <a:t>Goals, Commitments, Abilities, Activities</a:t>
            </a:r>
            <a:r>
              <a:rPr lang="en-US" sz="2400">
                <a:solidFill>
                  <a:schemeClr val="dk1"/>
                </a:solidFill>
                <a:latin typeface="Calibri"/>
                <a:ea typeface="Calibri"/>
                <a:cs typeface="Calibri"/>
                <a:sym typeface="Calibri"/>
              </a:rPr>
              <a:t>,	</a:t>
            </a:r>
            <a:r>
              <a:rPr lang="en-US" sz="2400">
                <a:solidFill>
                  <a:srgbClr val="006FC0"/>
                </a:solidFill>
                <a:latin typeface="Calibri"/>
                <a:ea typeface="Calibri"/>
                <a:cs typeface="Calibri"/>
                <a:sym typeface="Calibri"/>
              </a:rPr>
              <a:t>Methods for monitoring implementation, Methods for verifying implementation achieved through:</a:t>
            </a:r>
            <a:endParaRPr sz="2400">
              <a:solidFill>
                <a:schemeClr val="dk1"/>
              </a:solidFill>
              <a:latin typeface="Calibri"/>
              <a:ea typeface="Calibri"/>
              <a:cs typeface="Calibri"/>
              <a:sym typeface="Calibri"/>
            </a:endParaRPr>
          </a:p>
          <a:p>
            <a:pPr indent="0" lvl="0" marL="0" marR="0" rtl="0" algn="l">
              <a:lnSpc>
                <a:spcPct val="100000"/>
              </a:lnSpc>
              <a:spcBef>
                <a:spcPts val="1655"/>
              </a:spcBef>
              <a:spcAft>
                <a:spcPts val="0"/>
              </a:spcAft>
              <a:buNone/>
            </a:pPr>
            <a:r>
              <a:t/>
            </a:r>
            <a:endParaRPr sz="2400">
              <a:solidFill>
                <a:schemeClr val="dk1"/>
              </a:solidFill>
              <a:latin typeface="Calibri"/>
              <a:ea typeface="Calibri"/>
              <a:cs typeface="Calibri"/>
              <a:sym typeface="Calibri"/>
            </a:endParaRPr>
          </a:p>
          <a:p>
            <a:pPr indent="-171448" lvl="0" marL="137160" marR="0" rtl="0" algn="l">
              <a:lnSpc>
                <a:spcPct val="100000"/>
              </a:lnSpc>
              <a:spcBef>
                <a:spcPts val="0"/>
              </a:spcBef>
              <a:spcAft>
                <a:spcPts val="0"/>
              </a:spcAft>
              <a:buClr>
                <a:schemeClr val="dk1"/>
              </a:buClr>
              <a:buSzPts val="2700"/>
              <a:buFont typeface="Arial"/>
              <a:buChar char="•"/>
            </a:pPr>
            <a:r>
              <a:rPr lang="en-US" sz="2800">
                <a:solidFill>
                  <a:schemeClr val="dk1"/>
                </a:solidFill>
                <a:latin typeface="Calibri"/>
                <a:ea typeface="Calibri"/>
                <a:cs typeface="Calibri"/>
                <a:sym typeface="Calibri"/>
              </a:rPr>
              <a:t>Peer reviews</a:t>
            </a:r>
            <a:endParaRPr sz="2800">
              <a:solidFill>
                <a:schemeClr val="dk1"/>
              </a:solidFill>
              <a:latin typeface="Calibri"/>
              <a:ea typeface="Calibri"/>
              <a:cs typeface="Calibri"/>
              <a:sym typeface="Calibri"/>
            </a:endParaRPr>
          </a:p>
          <a:p>
            <a:pPr indent="-171448" lvl="0" marL="136525" marR="0" rtl="0" algn="l">
              <a:lnSpc>
                <a:spcPct val="100000"/>
              </a:lnSpc>
              <a:spcBef>
                <a:spcPts val="170"/>
              </a:spcBef>
              <a:spcAft>
                <a:spcPts val="0"/>
              </a:spcAft>
              <a:buClr>
                <a:schemeClr val="dk1"/>
              </a:buClr>
              <a:buSzPts val="2700"/>
              <a:buFont typeface="Arial"/>
              <a:buChar char="•"/>
            </a:pPr>
            <a:r>
              <a:rPr lang="en-US" sz="2800">
                <a:solidFill>
                  <a:schemeClr val="dk1"/>
                </a:solidFill>
                <a:latin typeface="Calibri"/>
                <a:ea typeface="Calibri"/>
                <a:cs typeface="Calibri"/>
                <a:sym typeface="Calibri"/>
              </a:rPr>
              <a:t>Intergroup coordination</a:t>
            </a:r>
            <a:endParaRPr sz="2800">
              <a:solidFill>
                <a:schemeClr val="dk1"/>
              </a:solidFill>
              <a:latin typeface="Calibri"/>
              <a:ea typeface="Calibri"/>
              <a:cs typeface="Calibri"/>
              <a:sym typeface="Calibri"/>
            </a:endParaRPr>
          </a:p>
          <a:p>
            <a:pPr indent="-171448" lvl="0" marL="137160" marR="0" rtl="0" algn="l">
              <a:lnSpc>
                <a:spcPct val="100000"/>
              </a:lnSpc>
              <a:spcBef>
                <a:spcPts val="155"/>
              </a:spcBef>
              <a:spcAft>
                <a:spcPts val="0"/>
              </a:spcAft>
              <a:buClr>
                <a:schemeClr val="dk1"/>
              </a:buClr>
              <a:buSzPts val="2700"/>
              <a:buFont typeface="Arial"/>
              <a:buChar char="•"/>
            </a:pPr>
            <a:r>
              <a:rPr lang="en-US" sz="2800">
                <a:solidFill>
                  <a:schemeClr val="dk1"/>
                </a:solidFill>
                <a:latin typeface="Calibri"/>
                <a:ea typeface="Calibri"/>
                <a:cs typeface="Calibri"/>
                <a:sym typeface="Calibri"/>
              </a:rPr>
              <a:t>Software product engineering</a:t>
            </a:r>
            <a:endParaRPr sz="2800">
              <a:solidFill>
                <a:schemeClr val="dk1"/>
              </a:solidFill>
              <a:latin typeface="Calibri"/>
              <a:ea typeface="Calibri"/>
              <a:cs typeface="Calibri"/>
              <a:sym typeface="Calibri"/>
            </a:endParaRPr>
          </a:p>
          <a:p>
            <a:pPr indent="-171448" lvl="0" marL="137160" marR="0" rtl="0" algn="l">
              <a:lnSpc>
                <a:spcPct val="100000"/>
              </a:lnSpc>
              <a:spcBef>
                <a:spcPts val="170"/>
              </a:spcBef>
              <a:spcAft>
                <a:spcPts val="0"/>
              </a:spcAft>
              <a:buClr>
                <a:schemeClr val="dk1"/>
              </a:buClr>
              <a:buSzPts val="2700"/>
              <a:buFont typeface="Arial"/>
              <a:buChar char="•"/>
            </a:pPr>
            <a:r>
              <a:rPr lang="en-US" sz="2800">
                <a:solidFill>
                  <a:schemeClr val="dk1"/>
                </a:solidFill>
                <a:latin typeface="Calibri"/>
                <a:ea typeface="Calibri"/>
                <a:cs typeface="Calibri"/>
                <a:sym typeface="Calibri"/>
              </a:rPr>
              <a:t>Integrated software management</a:t>
            </a:r>
            <a:endParaRPr sz="2800">
              <a:solidFill>
                <a:schemeClr val="dk1"/>
              </a:solidFill>
              <a:latin typeface="Calibri"/>
              <a:ea typeface="Calibri"/>
              <a:cs typeface="Calibri"/>
              <a:sym typeface="Calibri"/>
            </a:endParaRPr>
          </a:p>
          <a:p>
            <a:pPr indent="-171448" lvl="0" marL="136525" marR="0" rtl="0" algn="l">
              <a:lnSpc>
                <a:spcPct val="100000"/>
              </a:lnSpc>
              <a:spcBef>
                <a:spcPts val="170"/>
              </a:spcBef>
              <a:spcAft>
                <a:spcPts val="0"/>
              </a:spcAft>
              <a:buClr>
                <a:schemeClr val="dk1"/>
              </a:buClr>
              <a:buSzPts val="2700"/>
              <a:buFont typeface="Arial"/>
              <a:buChar char="•"/>
            </a:pPr>
            <a:r>
              <a:rPr lang="en-US" sz="2800">
                <a:solidFill>
                  <a:schemeClr val="dk1"/>
                </a:solidFill>
                <a:latin typeface="Calibri"/>
                <a:ea typeface="Calibri"/>
                <a:cs typeface="Calibri"/>
                <a:sym typeface="Calibri"/>
              </a:rPr>
              <a:t>Training program</a:t>
            </a:r>
            <a:endParaRPr sz="2800">
              <a:solidFill>
                <a:schemeClr val="dk1"/>
              </a:solidFill>
              <a:latin typeface="Calibri"/>
              <a:ea typeface="Calibri"/>
              <a:cs typeface="Calibri"/>
              <a:sym typeface="Calibri"/>
            </a:endParaRPr>
          </a:p>
          <a:p>
            <a:pPr indent="-171448" lvl="0" marL="137160" marR="0" rtl="0" algn="l">
              <a:lnSpc>
                <a:spcPct val="100000"/>
              </a:lnSpc>
              <a:spcBef>
                <a:spcPts val="155"/>
              </a:spcBef>
              <a:spcAft>
                <a:spcPts val="0"/>
              </a:spcAft>
              <a:buClr>
                <a:schemeClr val="dk1"/>
              </a:buClr>
              <a:buSzPts val="2700"/>
              <a:buFont typeface="Arial"/>
              <a:buChar char="•"/>
            </a:pPr>
            <a:r>
              <a:rPr lang="en-US" sz="2800">
                <a:solidFill>
                  <a:schemeClr val="dk1"/>
                </a:solidFill>
                <a:latin typeface="Calibri"/>
                <a:ea typeface="Calibri"/>
                <a:cs typeface="Calibri"/>
                <a:sym typeface="Calibri"/>
              </a:rPr>
              <a:t>Organization process definition</a:t>
            </a:r>
            <a:endParaRPr sz="2800">
              <a:solidFill>
                <a:schemeClr val="dk1"/>
              </a:solidFill>
              <a:latin typeface="Calibri"/>
              <a:ea typeface="Calibri"/>
              <a:cs typeface="Calibri"/>
              <a:sym typeface="Calibri"/>
            </a:endParaRPr>
          </a:p>
          <a:p>
            <a:pPr indent="-171448" lvl="0" marL="137160" marR="0" rtl="0" algn="l">
              <a:lnSpc>
                <a:spcPct val="100000"/>
              </a:lnSpc>
              <a:spcBef>
                <a:spcPts val="170"/>
              </a:spcBef>
              <a:spcAft>
                <a:spcPts val="0"/>
              </a:spcAft>
              <a:buClr>
                <a:schemeClr val="dk1"/>
              </a:buClr>
              <a:buSzPts val="2700"/>
              <a:buFont typeface="Arial"/>
              <a:buChar char="•"/>
            </a:pPr>
            <a:r>
              <a:rPr lang="en-US" sz="2800">
                <a:solidFill>
                  <a:schemeClr val="dk1"/>
                </a:solidFill>
                <a:latin typeface="Calibri"/>
                <a:ea typeface="Calibri"/>
                <a:cs typeface="Calibri"/>
                <a:sym typeface="Calibri"/>
              </a:rPr>
              <a:t>Organization process focus</a:t>
            </a:r>
            <a:endParaRPr sz="28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6"/>
          <p:cNvSpPr txBox="1"/>
          <p:nvPr>
            <p:ph idx="4294967295" type="ftr"/>
          </p:nvPr>
        </p:nvSpPr>
        <p:spPr>
          <a:xfrm>
            <a:off x="4145947" y="6420407"/>
            <a:ext cx="829913" cy="487313"/>
          </a:xfrm>
          <a:prstGeom prst="rect">
            <a:avLst/>
          </a:prstGeom>
          <a:noFill/>
          <a:ln>
            <a:noFill/>
          </a:ln>
        </p:spPr>
        <p:txBody>
          <a:bodyPr anchorCtr="0" anchor="ctr" bIns="0" lIns="0" spcFirstLastPara="1" rIns="0" wrap="square" tIns="0">
            <a:spAutoFit/>
          </a:bodyPr>
          <a:lstStyle/>
          <a:p>
            <a:pPr indent="0" lvl="0" marL="43180" rtl="0" algn="ctr">
              <a:lnSpc>
                <a:spcPct val="155333"/>
              </a:lnSpc>
              <a:spcBef>
                <a:spcPts val="0"/>
              </a:spcBef>
              <a:spcAft>
                <a:spcPts val="0"/>
              </a:spcAft>
              <a:buNone/>
            </a:pPr>
            <a:r>
              <a:rPr lang="en-US"/>
              <a:t>MODULE 1</a:t>
            </a:r>
            <a:endParaRPr/>
          </a:p>
        </p:txBody>
      </p:sp>
      <p:sp>
        <p:nvSpPr>
          <p:cNvPr id="280" name="Google Shape;280;p26"/>
          <p:cNvSpPr txBox="1"/>
          <p:nvPr>
            <p:ph idx="4294967295" type="sldNum"/>
          </p:nvPr>
        </p:nvSpPr>
        <p:spPr>
          <a:xfrm>
            <a:off x="8164259" y="6420407"/>
            <a:ext cx="320802" cy="487313"/>
          </a:xfrm>
          <a:prstGeom prst="rect">
            <a:avLst/>
          </a:prstGeom>
          <a:noFill/>
          <a:ln>
            <a:noFill/>
          </a:ln>
        </p:spPr>
        <p:txBody>
          <a:bodyPr anchorCtr="0" anchor="ctr" bIns="0" lIns="0" spcFirstLastPara="1" rIns="0" wrap="square" tIns="0">
            <a:spAutoFit/>
          </a:bodyPr>
          <a:lstStyle/>
          <a:p>
            <a:pPr indent="0" lvl="0" marL="150495" rtl="0" algn="r">
              <a:lnSpc>
                <a:spcPct val="155333"/>
              </a:lnSpc>
              <a:spcBef>
                <a:spcPts val="0"/>
              </a:spcBef>
              <a:spcAft>
                <a:spcPts val="0"/>
              </a:spcAft>
              <a:buNone/>
            </a:pPr>
            <a:fld id="{00000000-1234-1234-1234-123412341234}" type="slidenum">
              <a:rPr lang="en-US"/>
              <a:t>‹#›</a:t>
            </a:fld>
            <a:endParaRPr/>
          </a:p>
        </p:txBody>
      </p:sp>
      <p:sp>
        <p:nvSpPr>
          <p:cNvPr id="281" name="Google Shape;281;p26"/>
          <p:cNvSpPr txBox="1"/>
          <p:nvPr>
            <p:ph type="title"/>
          </p:nvPr>
        </p:nvSpPr>
        <p:spPr>
          <a:xfrm>
            <a:off x="1143000" y="301333"/>
            <a:ext cx="7790688" cy="627736"/>
          </a:xfrm>
          <a:prstGeom prst="rect">
            <a:avLst/>
          </a:prstGeom>
          <a:noFill/>
          <a:ln>
            <a:noFill/>
          </a:ln>
        </p:spPr>
        <p:txBody>
          <a:bodyPr anchorCtr="0" anchor="ctr" bIns="0" lIns="0" spcFirstLastPara="1" rIns="0" wrap="square" tIns="12050">
            <a:spAutoFit/>
          </a:bodyPr>
          <a:lstStyle/>
          <a:p>
            <a:pPr indent="0" lvl="0" marL="2318385" rtl="0" algn="ctr">
              <a:lnSpc>
                <a:spcPct val="100000"/>
              </a:lnSpc>
              <a:spcBef>
                <a:spcPts val="0"/>
              </a:spcBef>
              <a:spcAft>
                <a:spcPts val="0"/>
              </a:spcAft>
              <a:buClr>
                <a:schemeClr val="dk1"/>
              </a:buClr>
              <a:buSzPts val="4000"/>
              <a:buFont typeface="Calibri"/>
              <a:buNone/>
            </a:pPr>
            <a:r>
              <a:rPr lang="en-US" sz="4000"/>
              <a:t>KPAS of CMM Level 4 &amp; 5</a:t>
            </a:r>
            <a:endParaRPr/>
          </a:p>
        </p:txBody>
      </p:sp>
      <p:sp>
        <p:nvSpPr>
          <p:cNvPr id="282" name="Google Shape;282;p26"/>
          <p:cNvSpPr txBox="1"/>
          <p:nvPr/>
        </p:nvSpPr>
        <p:spPr>
          <a:xfrm>
            <a:off x="990600" y="997206"/>
            <a:ext cx="7970996" cy="5357236"/>
          </a:xfrm>
          <a:prstGeom prst="rect">
            <a:avLst/>
          </a:prstGeom>
          <a:noFill/>
          <a:ln>
            <a:noFill/>
          </a:ln>
        </p:spPr>
        <p:txBody>
          <a:bodyPr anchorCtr="0" anchor="t" bIns="0" lIns="0" spcFirstLastPara="1" rIns="0" wrap="square" tIns="52700">
            <a:spAutoFit/>
          </a:bodyPr>
          <a:lstStyle/>
          <a:p>
            <a:pPr indent="-196850" lvl="0" marL="153670" marR="0" rtl="0" algn="l">
              <a:lnSpc>
                <a:spcPct val="100000"/>
              </a:lnSpc>
              <a:spcBef>
                <a:spcPts val="0"/>
              </a:spcBef>
              <a:spcAft>
                <a:spcPts val="0"/>
              </a:spcAft>
              <a:buClr>
                <a:srgbClr val="000000"/>
              </a:buClr>
              <a:buSzPts val="3100"/>
              <a:buFont typeface="Arial"/>
              <a:buChar char="•"/>
            </a:pPr>
            <a:r>
              <a:rPr b="1" lang="en-US" sz="3200">
                <a:solidFill>
                  <a:srgbClr val="006FC0"/>
                </a:solidFill>
                <a:latin typeface="Calibri"/>
                <a:ea typeface="Calibri"/>
                <a:cs typeface="Calibri"/>
                <a:sym typeface="Calibri"/>
              </a:rPr>
              <a:t>Process maturity level 4 Managed (Quantitatively managed)</a:t>
            </a:r>
            <a:endParaRPr sz="3200">
              <a:solidFill>
                <a:schemeClr val="dk1"/>
              </a:solidFill>
              <a:latin typeface="Calibri"/>
              <a:ea typeface="Calibri"/>
              <a:cs typeface="Calibri"/>
              <a:sym typeface="Calibri"/>
            </a:endParaRPr>
          </a:p>
          <a:p>
            <a:pPr indent="0" lvl="0" marL="12700" marR="0" rtl="0" algn="l">
              <a:lnSpc>
                <a:spcPct val="114583"/>
              </a:lnSpc>
              <a:spcBef>
                <a:spcPts val="240"/>
              </a:spcBef>
              <a:spcAft>
                <a:spcPts val="0"/>
              </a:spcAft>
              <a:buNone/>
            </a:pPr>
            <a:r>
              <a:rPr b="1" lang="en-US" sz="2400">
                <a:solidFill>
                  <a:srgbClr val="006FC0"/>
                </a:solidFill>
                <a:latin typeface="Calibri"/>
                <a:ea typeface="Calibri"/>
                <a:cs typeface="Calibri"/>
                <a:sym typeface="Calibri"/>
              </a:rPr>
              <a:t>Goals, Commitments, Abilities, Activities</a:t>
            </a:r>
            <a:r>
              <a:rPr b="1" lang="en-US" sz="2400">
                <a:solidFill>
                  <a:srgbClr val="2E5496"/>
                </a:solidFill>
                <a:latin typeface="Calibri"/>
                <a:ea typeface="Calibri"/>
                <a:cs typeface="Calibri"/>
                <a:sym typeface="Calibri"/>
              </a:rPr>
              <a:t>,	</a:t>
            </a:r>
            <a:r>
              <a:rPr b="1" lang="en-US" sz="2400">
                <a:solidFill>
                  <a:srgbClr val="006FC0"/>
                </a:solidFill>
                <a:latin typeface="Calibri"/>
                <a:ea typeface="Calibri"/>
                <a:cs typeface="Calibri"/>
                <a:sym typeface="Calibri"/>
              </a:rPr>
              <a:t>Methods for monitoring implementation,</a:t>
            </a:r>
            <a:endParaRPr sz="2400">
              <a:solidFill>
                <a:schemeClr val="dk1"/>
              </a:solidFill>
              <a:latin typeface="Calibri"/>
              <a:ea typeface="Calibri"/>
              <a:cs typeface="Calibri"/>
              <a:sym typeface="Calibri"/>
            </a:endParaRPr>
          </a:p>
          <a:p>
            <a:pPr indent="0" lvl="0" marL="12700" marR="0" rtl="0" algn="l">
              <a:lnSpc>
                <a:spcPct val="114583"/>
              </a:lnSpc>
              <a:spcBef>
                <a:spcPts val="0"/>
              </a:spcBef>
              <a:spcAft>
                <a:spcPts val="0"/>
              </a:spcAft>
              <a:buNone/>
            </a:pPr>
            <a:r>
              <a:rPr b="1" lang="en-US" sz="2400">
                <a:solidFill>
                  <a:srgbClr val="006FC0"/>
                </a:solidFill>
                <a:latin typeface="Calibri"/>
                <a:ea typeface="Calibri"/>
                <a:cs typeface="Calibri"/>
                <a:sym typeface="Calibri"/>
              </a:rPr>
              <a:t>Methods for verifying implementation</a:t>
            </a:r>
            <a:endParaRPr sz="2400">
              <a:solidFill>
                <a:schemeClr val="dk1"/>
              </a:solidFill>
              <a:latin typeface="Calibri"/>
              <a:ea typeface="Calibri"/>
              <a:cs typeface="Calibri"/>
              <a:sym typeface="Calibri"/>
            </a:endParaRPr>
          </a:p>
          <a:p>
            <a:pPr indent="-406400" lvl="0" marL="469265" marR="0" rtl="0" algn="l">
              <a:lnSpc>
                <a:spcPct val="113928"/>
              </a:lnSpc>
              <a:spcBef>
                <a:spcPts val="114"/>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Software quality management</a:t>
            </a:r>
            <a:endParaRPr sz="2800">
              <a:solidFill>
                <a:schemeClr val="dk1"/>
              </a:solidFill>
              <a:latin typeface="Calibri"/>
              <a:ea typeface="Calibri"/>
              <a:cs typeface="Calibri"/>
              <a:sym typeface="Calibri"/>
            </a:endParaRPr>
          </a:p>
          <a:p>
            <a:pPr indent="-406400" lvl="0" marL="469265" marR="0" rtl="0" algn="l">
              <a:lnSpc>
                <a:spcPct val="113928"/>
              </a:lnSpc>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Quantitative process management</a:t>
            </a:r>
            <a:endParaRPr sz="2800">
              <a:solidFill>
                <a:schemeClr val="dk1"/>
              </a:solidFill>
              <a:latin typeface="Calibri"/>
              <a:ea typeface="Calibri"/>
              <a:cs typeface="Calibri"/>
              <a:sym typeface="Calibri"/>
            </a:endParaRPr>
          </a:p>
          <a:p>
            <a:pPr indent="0" lvl="0" marL="0" marR="0" rtl="0" algn="l">
              <a:lnSpc>
                <a:spcPct val="100000"/>
              </a:lnSpc>
              <a:spcBef>
                <a:spcPts val="720"/>
              </a:spcBef>
              <a:spcAft>
                <a:spcPts val="0"/>
              </a:spcAft>
              <a:buNone/>
            </a:pPr>
            <a:r>
              <a:t/>
            </a:r>
            <a:endParaRPr sz="2800">
              <a:solidFill>
                <a:schemeClr val="dk1"/>
              </a:solidFill>
              <a:latin typeface="Calibri"/>
              <a:ea typeface="Calibri"/>
              <a:cs typeface="Calibri"/>
              <a:sym typeface="Calibri"/>
            </a:endParaRPr>
          </a:p>
          <a:p>
            <a:pPr indent="-193673" lvl="0" marL="153670" marR="0" rtl="0" algn="l">
              <a:lnSpc>
                <a:spcPct val="100000"/>
              </a:lnSpc>
              <a:spcBef>
                <a:spcPts val="0"/>
              </a:spcBef>
              <a:spcAft>
                <a:spcPts val="0"/>
              </a:spcAft>
              <a:buClr>
                <a:srgbClr val="000000"/>
              </a:buClr>
              <a:buSzPts val="3050"/>
              <a:buFont typeface="Arial"/>
              <a:buChar char="•"/>
            </a:pPr>
            <a:r>
              <a:rPr b="1" lang="en-US" sz="3200">
                <a:solidFill>
                  <a:srgbClr val="006FC0"/>
                </a:solidFill>
                <a:latin typeface="Calibri"/>
                <a:ea typeface="Calibri"/>
                <a:cs typeface="Calibri"/>
                <a:sym typeface="Calibri"/>
              </a:rPr>
              <a:t>Process maturity level 5 (Optimized)</a:t>
            </a:r>
            <a:endParaRPr sz="3200">
              <a:solidFill>
                <a:schemeClr val="dk1"/>
              </a:solidFill>
              <a:latin typeface="Calibri"/>
              <a:ea typeface="Calibri"/>
              <a:cs typeface="Calibri"/>
              <a:sym typeface="Calibri"/>
            </a:endParaRPr>
          </a:p>
          <a:p>
            <a:pPr indent="-220979" lvl="0" marL="233679" marR="0" rtl="0" algn="l">
              <a:lnSpc>
                <a:spcPct val="100000"/>
              </a:lnSpc>
              <a:spcBef>
                <a:spcPts val="20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Process change management</a:t>
            </a:r>
            <a:endParaRPr sz="2800">
              <a:solidFill>
                <a:schemeClr val="dk1"/>
              </a:solidFill>
              <a:latin typeface="Calibri"/>
              <a:ea typeface="Calibri"/>
              <a:cs typeface="Calibri"/>
              <a:sym typeface="Calibri"/>
            </a:endParaRPr>
          </a:p>
          <a:p>
            <a:pPr indent="-221615" lvl="0" marL="234315" marR="0" rtl="0" algn="l">
              <a:lnSpc>
                <a:spcPct val="100000"/>
              </a:lnSpc>
              <a:spcBef>
                <a:spcPts val="155"/>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Technology change management</a:t>
            </a:r>
            <a:endParaRPr sz="2800">
              <a:solidFill>
                <a:schemeClr val="dk1"/>
              </a:solidFill>
              <a:latin typeface="Calibri"/>
              <a:ea typeface="Calibri"/>
              <a:cs typeface="Calibri"/>
              <a:sym typeface="Calibri"/>
            </a:endParaRPr>
          </a:p>
          <a:p>
            <a:pPr indent="-221615" lvl="0" marL="234315" marR="0" rtl="0" algn="l">
              <a:lnSpc>
                <a:spcPct val="100000"/>
              </a:lnSpc>
              <a:spcBef>
                <a:spcPts val="17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Defect prevention</a:t>
            </a:r>
            <a:endParaRPr sz="2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2024-07-29T09:04:19Z</dcterms:created>
  <dc:creator>kjscecomp</dc:creator>
</cp:coreProperties>
</file>
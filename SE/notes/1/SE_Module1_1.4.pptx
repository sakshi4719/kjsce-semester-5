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IoIIjDOFESku/+jgmf53sAn26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1.4 Project Management Activities: Planning , Scheduling &amp; Tracking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Module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91" name="Google Shape;91;p2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687704" y="661568"/>
            <a:ext cx="7685723" cy="6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spAutoFit/>
          </a:bodyPr>
          <a:lstStyle/>
          <a:p>
            <a:pPr indent="0" lvl="0" marL="12700" marR="5080" rtl="0" algn="ctr">
              <a:lnSpc>
                <a:spcPct val="9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Management Activities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687705" y="1844014"/>
            <a:ext cx="7709059" cy="130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one plans to fail, 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fails to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 is the </a:t>
            </a:r>
            <a:r>
              <a:rPr b="1" i="0" lang="en-US" sz="2400" u="none" cap="none" strike="noStrike">
                <a:solidFill>
                  <a:srgbClr val="6FAC46"/>
                </a:solidFill>
                <a:latin typeface="Calibri"/>
                <a:ea typeface="Calibri"/>
                <a:cs typeface="Calibri"/>
                <a:sym typeface="Calibri"/>
              </a:rPr>
              <a:t>next important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in project development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69925" rtl="0" algn="l">
              <a:lnSpc>
                <a:spcPct val="125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3303234"/>
            <a:ext cx="4946346" cy="235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00" name="Google Shape;100;p3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445239" y="294318"/>
            <a:ext cx="8229600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Estimation</a:t>
            </a:r>
            <a:endParaRPr sz="4400"/>
          </a:p>
        </p:txBody>
      </p:sp>
      <p:sp>
        <p:nvSpPr>
          <p:cNvPr id="102" name="Google Shape;102;p3"/>
          <p:cNvSpPr txBox="1"/>
          <p:nvPr/>
        </p:nvSpPr>
        <p:spPr>
          <a:xfrm>
            <a:off x="472592" y="984250"/>
            <a:ext cx="7931468" cy="450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Importance of estimation in Planning</a:t>
            </a:r>
            <a:endParaRPr b="0" i="0" sz="2400" u="none" cap="none" strike="noStrike">
              <a:solidFill>
                <a:srgbClr val="001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49" lvl="0" marL="12700" marR="31496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involves estimation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attempt to determine how much money, how much effort, how many resources, and how much time it will take to build a specific software- based system or product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46685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49" lvl="0" marL="12700" marR="146685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Performed by Software managers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—using information solicited from customers and software engineers and software metrics data collected from past projects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986155" rtl="0" algn="l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49" lvl="0" marL="12700" marR="986155" rtl="0" algn="l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Projects being costly it is reasonable to develop an estimate before you start creating the software.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445" marR="5080" rtl="0" algn="l">
              <a:lnSpc>
                <a:spcPct val="701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Planning 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objective of software project planning is to provide a framework that enables the manager to make reasonable estimates of resources, cost, and schedule.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These estimates are made within a limited time frame at the beginning of a software project and should be updated regularly as the project progresses.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14" name="Google Shape;114;p5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5"/>
          <p:cNvSpPr txBox="1"/>
          <p:nvPr>
            <p:ph type="title"/>
          </p:nvPr>
        </p:nvSpPr>
        <p:spPr>
          <a:xfrm>
            <a:off x="687705" y="296167"/>
            <a:ext cx="5900519" cy="68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Planning</a:t>
            </a:r>
            <a:endParaRPr sz="4400"/>
          </a:p>
        </p:txBody>
      </p:sp>
      <p:sp>
        <p:nvSpPr>
          <p:cNvPr id="116" name="Google Shape;116;p5"/>
          <p:cNvSpPr txBox="1"/>
          <p:nvPr/>
        </p:nvSpPr>
        <p:spPr>
          <a:xfrm>
            <a:off x="539552" y="1196752"/>
            <a:ext cx="8208912" cy="3801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What will be the inputs for planning ? Steps in planning</a:t>
            </a:r>
            <a:endParaRPr b="0" i="0" sz="2800" u="none" cap="none" strike="noStrike">
              <a:solidFill>
                <a:srgbClr val="00A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27100" marR="0" rtl="0" algn="l"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(What to develop)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27100" marR="0" rtl="0" algn="l"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Estimation (Time and hence cost)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27100" marR="0" rtl="0" algn="l"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 associated</a:t>
            </a:r>
            <a:endParaRPr/>
          </a:p>
          <a:p>
            <a:pPr indent="-457200" lvl="1" marL="927100" marR="0" rtl="0" algn="l"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Resources available (role, number, when will be available etc.)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22" name="Google Shape;122;p6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687704" y="855196"/>
            <a:ext cx="7750493" cy="558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2700" marR="828039" rtl="0" algn="l">
              <a:lnSpc>
                <a:spcPct val="80000"/>
              </a:lnSpc>
              <a:spcBef>
                <a:spcPts val="104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prepare a task table mentioning the task name, task id, duration, resource name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2700" marR="508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Create a network of these tasks that will enable to get the job done on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Some observations:</a:t>
            </a:r>
            <a:endParaRPr b="0" i="0" sz="2400" u="none" cap="none" strike="noStrike">
              <a:solidFill>
                <a:srgbClr val="006F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complex system many tasks may occur in parallel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work performed during one task may have a profound effect on work to be conducted in another task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Interdependencies are very difficult to understand without a schedule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Virtually impossible to assess progress on a moderate or large software project without a detailed schedule.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29" name="Google Shape;129;p7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7"/>
          <p:cNvSpPr txBox="1"/>
          <p:nvPr>
            <p:ph type="title"/>
          </p:nvPr>
        </p:nvSpPr>
        <p:spPr>
          <a:xfrm>
            <a:off x="598419" y="106030"/>
            <a:ext cx="7844735" cy="566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Reasons for late delivery of products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539552" y="672211"/>
            <a:ext cx="7917219" cy="5984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100">
            <a:spAutoFit/>
          </a:bodyPr>
          <a:lstStyle/>
          <a:p>
            <a:pPr indent="-91108" lvl="0" marL="12700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An </a:t>
            </a: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unrealistic deadline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established by someone outside the software development group and forced on managers and practitioners within the group.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143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Changing customer requirements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are not reflected in schedule changes.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14300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honest underestimate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amount of effort and/or the number of resources that will be required to do the job.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2700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	Predictable and/or unpredictable risks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were not considered when the project commenced.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Technical difficulties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could not have been foreseen in advance.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Human difficulties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could not have been foreseen in advance.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1430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Miscommunication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among project staff that results in delays.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478" lvl="0" marL="12700" marR="7620" rtl="0" algn="l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913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	</a:t>
            </a:r>
            <a:r>
              <a:rPr b="0" i="0" lang="en-US" sz="2000" u="none" cap="none" strike="noStrike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failure	by	project	management	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	recognize	that	the	project	is	falling	behind schedule and a lack of action to correct the problem.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37" name="Google Shape;137;p8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687704" y="170947"/>
            <a:ext cx="7124656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Late delivery Remedies: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395536" y="1124744"/>
            <a:ext cx="8229600" cy="4682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457200" lvl="0" marL="891539" marR="1016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Perform a detailed estimate using historical data from past projects. Determine the estimated effort and duration for the project.</a:t>
            </a:r>
            <a:endParaRPr/>
          </a:p>
          <a:p>
            <a:pPr indent="-457200" lvl="0" marL="891539" marR="5080" rtl="0" algn="l">
              <a:lnSpc>
                <a:spcPct val="89700"/>
              </a:lnSpc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Using an incremental process model, develop a strategy that will deliver critical functionality by the imposed deadline, but delay other functionality until later. 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891539" marR="5080" rtl="0" algn="l">
              <a:lnSpc>
                <a:spcPct val="89700"/>
              </a:lnSpc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Document the plan.</a:t>
            </a:r>
            <a:endParaRPr/>
          </a:p>
          <a:p>
            <a:pPr indent="-457200" lvl="0" marL="891539" rtl="0" algn="l"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Avoid to impose unrealistic deadline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45" name="Google Shape;145;p9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07504" y="202370"/>
            <a:ext cx="7495432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288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Project Scheduling</a:t>
            </a:r>
            <a:endParaRPr sz="4400"/>
          </a:p>
        </p:txBody>
      </p:sp>
      <p:sp>
        <p:nvSpPr>
          <p:cNvPr id="147" name="Google Shape;147;p9"/>
          <p:cNvSpPr txBox="1"/>
          <p:nvPr/>
        </p:nvSpPr>
        <p:spPr>
          <a:xfrm>
            <a:off x="625526" y="892302"/>
            <a:ext cx="7741444" cy="5243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146956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An activity that distributes estimated effort across the planned project duration by allocating the effort to specific tasks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37160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software tasks are identified and scheduled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3716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schedule evolves over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2700" marR="234950" rtl="0" algn="l">
              <a:lnSpc>
                <a:spcPct val="89600"/>
              </a:lnSpc>
              <a:spcBef>
                <a:spcPts val="102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During early stages of project planning, a </a:t>
            </a:r>
            <a:r>
              <a:rPr b="1" i="0" lang="en-US" sz="24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macroscopic schedule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developed identifying all major activities and the product functions to which they are applied.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36525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the project gets under way, refine into a detailed schedule.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956" lvl="0" marL="13716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314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approaches: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2700" marR="591820" rtl="0" algn="l">
              <a:lnSpc>
                <a:spcPct val="129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Based on the end-date for release distribute effort within the prescribed time frame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18745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time required for each activity, decide the end 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634670" y="548680"/>
            <a:ext cx="7768590" cy="50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Basic principle guides of Scheduling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614989" y="1412776"/>
            <a:ext cx="8092916" cy="621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117475" lvl="0" marL="12700" marR="635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Compartmentalization</a:t>
            </a:r>
            <a:r>
              <a:rPr b="0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0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006F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1" marL="469900" marR="6350" rtl="0" algn="just">
              <a:lnSpc>
                <a:spcPct val="107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into a number of manageable activities and tasks by decomposing  both the product and the process.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t/>
            </a:r>
            <a:endParaRPr b="1" i="0" sz="2000" u="sng" cap="none" strike="noStrike">
              <a:solidFill>
                <a:srgbClr val="006F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12700" marR="5080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Interdependency:</a:t>
            </a:r>
            <a:r>
              <a:rPr b="1" i="0" lang="en-US" sz="20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i="0" sz="2000" u="none" cap="none" strike="noStrike">
              <a:solidFill>
                <a:srgbClr val="006F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1" marL="469900" marR="5080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 interdependency  of  each  compartmentalized  activity  or  task  must  be determined.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1" marL="469900" marR="5080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tasks must occur in sequence while others can occur in parallel.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1" marL="469900" marR="5080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activities cannot commence until the work product produced by another is available. Other activities can occur independently.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1735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Time allocation </a:t>
            </a:r>
            <a:endParaRPr/>
          </a:p>
          <a:p>
            <a:pPr indent="-127000" lvl="1" marL="457200" marR="0" rtl="0" algn="l">
              <a:spcBef>
                <a:spcPts val="17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task to be scheduled must be allocated some number of work units (e.g., person- days of effort). In addition, each task must be assigned a start date and a completion date that are a function of the interdependencies and whether work will be conducted on a full-time or part-time basis.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12700" marR="5715" rtl="0" algn="just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159766" lvl="0" marL="12700" marR="5080" rtl="0" algn="just">
              <a:lnSpc>
                <a:spcPct val="898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92500"/>
              <a:buFont typeface="Arial"/>
              <a:buChar char="•"/>
            </a:pPr>
            <a:r>
              <a:rPr b="1" lang="en-US" u="sng">
                <a:solidFill>
                  <a:srgbClr val="006FC0"/>
                </a:solidFill>
              </a:rPr>
              <a:t>Effort validation</a:t>
            </a:r>
            <a:r>
              <a:rPr lang="en-US"/>
              <a:t>. </a:t>
            </a:r>
            <a:endParaRPr/>
          </a:p>
          <a:p>
            <a:pPr indent="-159766" lvl="0" marL="12700" marR="5080" rtl="0" algn="just">
              <a:lnSpc>
                <a:spcPct val="898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92500"/>
              <a:buFont typeface="Arial"/>
              <a:buChar char="•"/>
            </a:pPr>
            <a:r>
              <a:rPr lang="en-US"/>
              <a:t>Every project has a defined number of staff members. </a:t>
            </a:r>
            <a:endParaRPr/>
          </a:p>
          <a:p>
            <a:pPr indent="-159766" lvl="0" marL="12700" marR="5080" rtl="0" algn="just">
              <a:lnSpc>
                <a:spcPct val="898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92500"/>
              <a:buFont typeface="Arial"/>
              <a:buChar char="•"/>
            </a:pPr>
            <a:r>
              <a:rPr lang="en-US"/>
              <a:t>As time allocation occurs, the project manager must ensure that no more than the allocated number of people have been scheduled at any given time. </a:t>
            </a:r>
            <a:endParaRPr/>
          </a:p>
          <a:p>
            <a:pPr indent="-159766" lvl="0" marL="12700" marR="5080" rtl="0" algn="just">
              <a:lnSpc>
                <a:spcPct val="898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92500"/>
              <a:buFont typeface="Arial"/>
              <a:buChar char="•"/>
            </a:pPr>
            <a:r>
              <a:rPr lang="en-US"/>
              <a:t>For example, consider a project that has three assigned staff members (e.g., 3 person-days are available per day of assigned efforts). </a:t>
            </a:r>
            <a:endParaRPr/>
          </a:p>
          <a:p>
            <a:pPr indent="-159766" lvl="0" marL="12700" marR="5080" rtl="0" algn="just">
              <a:lnSpc>
                <a:spcPct val="898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ct val="92500"/>
              <a:buFont typeface="Arial"/>
              <a:buChar char="•"/>
            </a:pPr>
            <a:r>
              <a:rPr lang="en-US"/>
              <a:t>On a given day, seven concurrent tasks must be accomplished. Each task requires 0.50 person days of effort. More effort has been allocated than there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65" name="Google Shape;165;p12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2"/>
          <p:cNvSpPr txBox="1"/>
          <p:nvPr/>
        </p:nvSpPr>
        <p:spPr>
          <a:xfrm>
            <a:off x="418643" y="1002030"/>
            <a:ext cx="8037671" cy="56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171448" lvl="0" marL="12700" marR="6985" rtl="0" algn="just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Define responsibilities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task that is scheduled should be assigned to a specific team member.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48" lvl="0" marL="12700" marR="5080" rtl="0" algn="just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Define outcomes </a:t>
            </a:r>
            <a:r>
              <a:rPr b="1" i="0" lang="en-US" sz="28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task that is scheduled should have a defined outcome. For software projects, the outcome is normally a work product (e.g., the design of a module) or a part of a work product. Work products are often combined in deliverables.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48" lvl="0" marL="12700" marR="5080" rtl="0" algn="just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Define milestones</a:t>
            </a:r>
            <a:r>
              <a:rPr b="1" i="0" lang="en-US" sz="28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task or group of tasks should be associated with a project milestone. A milestone is accomplished when one or more work products has been reviewed for quality and has been approved.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72" name="Google Shape;172;p13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3"/>
          <p:cNvSpPr txBox="1"/>
          <p:nvPr>
            <p:ph type="title"/>
          </p:nvPr>
        </p:nvSpPr>
        <p:spPr>
          <a:xfrm>
            <a:off x="401717" y="141432"/>
            <a:ext cx="82296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308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facts about Scheduling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687705" y="797396"/>
            <a:ext cx="7657624" cy="534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6500">
            <a:spAutoFit/>
          </a:bodyPr>
          <a:lstStyle/>
          <a:p>
            <a:pPr indent="-171448" lvl="0" marL="136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85622"/>
                </a:solidFill>
                <a:latin typeface="Calibri"/>
                <a:ea typeface="Calibri"/>
                <a:cs typeface="Calibri"/>
                <a:sym typeface="Calibri"/>
              </a:rPr>
              <a:t>Experienced resources would need less time for development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48" lvl="0" marL="13716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85622"/>
                </a:solidFill>
                <a:latin typeface="Calibri"/>
                <a:ea typeface="Calibri"/>
                <a:cs typeface="Calibri"/>
                <a:sym typeface="Calibri"/>
              </a:rPr>
              <a:t>Familiar tools &amp; defined process will reduce the development efforts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48" lvl="0" marL="12700" marR="433705" rtl="0" algn="l">
              <a:lnSpc>
                <a:spcPct val="107142"/>
              </a:lnSpc>
              <a:spcBef>
                <a:spcPts val="10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Adding more programmers/ developers will NOT ALWAYS reduce the project duration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12700" marR="5080" rtl="0" algn="l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 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distribution (not rules) of effort across the definition and development phases is often referred to as the 40–20–40 rule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12700" marR="5080" rtl="0" algn="l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of effort is allocated to front-end analysis and design </a:t>
            </a:r>
            <a:endParaRPr/>
          </a:p>
          <a:p>
            <a:pPr indent="-142875" lvl="0" marL="12700" marR="5080" rtl="0" algn="l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20%  for coding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12700" marR="5080" rtl="0" algn="l">
              <a:lnSpc>
                <a:spcPct val="89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40%Forty percent applied to back-end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80" name="Google Shape;180;p14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4"/>
          <p:cNvSpPr txBox="1"/>
          <p:nvPr>
            <p:ph type="title"/>
          </p:nvPr>
        </p:nvSpPr>
        <p:spPr>
          <a:xfrm>
            <a:off x="429100" y="309932"/>
            <a:ext cx="8229600" cy="69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31375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Defining Task set</a:t>
            </a:r>
            <a:endParaRPr sz="4400"/>
          </a:p>
        </p:txBody>
      </p:sp>
      <p:sp>
        <p:nvSpPr>
          <p:cNvPr id="182" name="Google Shape;182;p14"/>
          <p:cNvSpPr txBox="1"/>
          <p:nvPr/>
        </p:nvSpPr>
        <p:spPr>
          <a:xfrm>
            <a:off x="687704" y="1000506"/>
            <a:ext cx="7712393" cy="574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-171448" lvl="0" marL="12700" marR="5080" rtl="0" algn="l">
              <a:lnSpc>
                <a:spcPct val="8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Irrespective of the process model used for development, task set that enable a software team to define, develop, and ultimately support computer software.</a:t>
            </a:r>
            <a:endParaRPr/>
          </a:p>
          <a:p>
            <a:pPr indent="-171448" lvl="0" marL="12700" marR="5080" rtl="0" algn="l">
              <a:lnSpc>
                <a:spcPct val="897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 task set is a collection of software engineering work tasks, milestones, and deliverables that must be accomplished to complete a particular project.</a:t>
            </a:r>
            <a:endParaRPr/>
          </a:p>
          <a:p>
            <a:pPr indent="-171448" lvl="0" marL="12700" marR="5080" rtl="0" algn="l">
              <a:lnSpc>
                <a:spcPct val="897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task set to be chosen must provide enough discipline to achieve high software quality.</a:t>
            </a:r>
            <a:endParaRPr/>
          </a:p>
          <a:p>
            <a:pPr indent="-171448" lvl="0" marL="12700" marR="5080" rtl="0" algn="l">
              <a:lnSpc>
                <a:spcPct val="897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must NOT burden the project team with unnecessary work.</a:t>
            </a:r>
            <a:endParaRPr/>
          </a:p>
          <a:p>
            <a:pPr indent="-171448" lvl="0" marL="12700" marR="5080" rtl="0" algn="l">
              <a:lnSpc>
                <a:spcPct val="897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order to develop a project schedule, a task set must be distributed on the project timeline.</a:t>
            </a:r>
            <a:endParaRPr/>
          </a:p>
          <a:p>
            <a:pPr indent="0" lvl="0" marL="12700" marR="5080" rtl="0" algn="l">
              <a:lnSpc>
                <a:spcPct val="897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88" name="Google Shape;188;p15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5"/>
          <p:cNvSpPr txBox="1"/>
          <p:nvPr>
            <p:ph type="title"/>
          </p:nvPr>
        </p:nvSpPr>
        <p:spPr>
          <a:xfrm>
            <a:off x="362923" y="125233"/>
            <a:ext cx="8229600" cy="56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31375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Defining Task set</a:t>
            </a:r>
            <a:endParaRPr sz="3600"/>
          </a:p>
        </p:txBody>
      </p:sp>
      <p:sp>
        <p:nvSpPr>
          <p:cNvPr id="190" name="Google Shape;190;p15"/>
          <p:cNvSpPr txBox="1"/>
          <p:nvPr/>
        </p:nvSpPr>
        <p:spPr>
          <a:xfrm>
            <a:off x="467544" y="836712"/>
            <a:ext cx="8064896" cy="51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-171667" lvl="0" marL="141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3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Based on phase of the project identify the various major tasks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20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Concept , Analysis , Design, Coding, Maintenance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18745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Concept scoping</a:t>
            </a:r>
            <a:r>
              <a:rPr b="1" i="0" lang="en-US" sz="20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the overall scope of the project.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2700" marR="102870" rtl="0" algn="l">
              <a:lnSpc>
                <a:spcPct val="1155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Preliminary concept planning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establishes the organization’s ability to undertake the work implied by the project scope.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2700" marR="46990" rtl="0" algn="l">
              <a:lnSpc>
                <a:spcPct val="80000"/>
              </a:lnSpc>
              <a:spcBef>
                <a:spcPts val="1025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Technology risk assessment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evaluates the risk associated with the technology to be implemented as part of project scope.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2700" marR="106679" rtl="0" algn="l">
              <a:lnSpc>
                <a:spcPct val="1155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	Proof of concept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the feasibility of a new technology in the software context.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18745" marR="0" rtl="0" algn="l">
              <a:lnSpc>
                <a:spcPct val="1295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Concept implementation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the concept representation in a manner that can be reviewed by a customer and is used for “marketing” purposes when a concept must be sold to other customers or management.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2" lvl="0" marL="118745" marR="0" rtl="0" algn="l">
              <a:lnSpc>
                <a:spcPct val="1295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Char char="•"/>
            </a:pPr>
            <a:r>
              <a:rPr b="1" i="0" lang="en-US" sz="2000" u="sng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Customer reaction</a:t>
            </a:r>
            <a:r>
              <a:rPr b="1" i="0" lang="en-US" sz="2000" u="none" cap="none" strike="noStrike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concept solicits feedback on a new technology concept and targets specific customer applications.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457200" y="141676"/>
            <a:ext cx="8229600" cy="1408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175">
            <a:spAutoFit/>
          </a:bodyPr>
          <a:lstStyle/>
          <a:p>
            <a:pPr indent="0" lvl="0" marL="1847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Sample Linear Development Approach Tasks</a:t>
            </a:r>
            <a:endParaRPr/>
          </a:p>
        </p:txBody>
      </p:sp>
      <p:pic>
        <p:nvPicPr>
          <p:cNvPr id="196" name="Google Shape;1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874" y="1993496"/>
            <a:ext cx="7590635" cy="305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198" name="Google Shape;198;p16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457200" y="141676"/>
            <a:ext cx="8229600" cy="1408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175">
            <a:spAutoFit/>
          </a:bodyPr>
          <a:lstStyle/>
          <a:p>
            <a:pPr indent="0" lvl="0" marL="241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Sample Spiral Development Approach Tasks</a:t>
            </a:r>
            <a:endParaRPr/>
          </a:p>
        </p:txBody>
      </p:sp>
      <p:pic>
        <p:nvPicPr>
          <p:cNvPr id="204" name="Google Shape;2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932" y="1136560"/>
            <a:ext cx="6645607" cy="527426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06" name="Google Shape;206;p17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457200" y="500851"/>
            <a:ext cx="8229600" cy="69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28886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Sample Task Table</a:t>
            </a:r>
            <a:endParaRPr sz="4400"/>
          </a:p>
        </p:txBody>
      </p:sp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7" y="1268760"/>
            <a:ext cx="6509889" cy="490449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14" name="Google Shape;214;p18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457200" y="162297"/>
            <a:ext cx="8229600" cy="1367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4287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Sample Task Network Diagram</a:t>
            </a:r>
            <a:endParaRPr sz="4400"/>
          </a:p>
        </p:txBody>
      </p:sp>
      <p:pic>
        <p:nvPicPr>
          <p:cNvPr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841167"/>
            <a:ext cx="6184518" cy="41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22" name="Google Shape;222;p19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-540568" y="260648"/>
            <a:ext cx="9011344" cy="505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39128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Scheduling Methods and tools</a:t>
            </a:r>
            <a:endParaRPr sz="3200"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323528" y="1556792"/>
            <a:ext cx="4464496" cy="45365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Project Scheduling methods: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62280" rtl="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703"/>
              <a:buChar char="•"/>
            </a:pPr>
            <a:r>
              <a:rPr lang="en-US"/>
              <a:t>Critical Path Method (CPM)</a:t>
            </a:r>
            <a:endParaRPr/>
          </a:p>
          <a:p>
            <a:pPr indent="-457200" lvl="0" marL="46228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703"/>
              <a:buChar char="•"/>
            </a:pPr>
            <a:r>
              <a:rPr lang="en-US"/>
              <a:t>Program Evaluation &amp; Review Technique (PERT)</a:t>
            </a:r>
            <a:endParaRPr/>
          </a:p>
          <a:p>
            <a:pPr indent="-457200" lvl="0" marL="462280" rtl="0" algn="l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703"/>
              <a:buChar char="•"/>
            </a:pPr>
            <a:r>
              <a:rPr lang="en-US"/>
              <a:t>Gantt chart</a:t>
            </a:r>
            <a:endParaRPr/>
          </a:p>
          <a:p>
            <a:pPr indent="-165100" lvl="0" marL="342900" rtl="0" algn="l">
              <a:spcBef>
                <a:spcPts val="13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>
            <p:ph idx="2" type="body"/>
          </p:nvPr>
        </p:nvSpPr>
        <p:spPr>
          <a:xfrm>
            <a:off x="4932040" y="1556792"/>
            <a:ext cx="4038600" cy="45259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Project Scheduling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Microsoft Project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Monday.com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ProjectManager.com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SmartTask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ProofHub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GanttPRO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Zoho Projects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31" name="Google Shape;23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484784"/>
            <a:ext cx="8082850" cy="3656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489988" y="74130"/>
            <a:ext cx="8229600" cy="69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39128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Gantt Chart</a:t>
            </a:r>
            <a:endParaRPr sz="4400"/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980728"/>
            <a:ext cx="7868130" cy="510883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46" name="Google Shape;246;p22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idx="4294967295" type="ftr"/>
          </p:nvPr>
        </p:nvSpPr>
        <p:spPr>
          <a:xfrm>
            <a:off x="4145947" y="6420407"/>
            <a:ext cx="829913" cy="48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43180" rtl="0" algn="ct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1</a:t>
            </a:r>
            <a:endParaRPr/>
          </a:p>
        </p:txBody>
      </p:sp>
      <p:sp>
        <p:nvSpPr>
          <p:cNvPr id="252" name="Google Shape;252;p23"/>
          <p:cNvSpPr txBox="1"/>
          <p:nvPr>
            <p:ph idx="4294967295" type="sldNum"/>
          </p:nvPr>
        </p:nvSpPr>
        <p:spPr>
          <a:xfrm>
            <a:off x="8164259" y="6420407"/>
            <a:ext cx="320802" cy="252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38100" rtl="0" algn="r">
              <a:lnSpc>
                <a:spcPct val="155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23"/>
          <p:cNvSpPr txBox="1"/>
          <p:nvPr>
            <p:ph type="title"/>
          </p:nvPr>
        </p:nvSpPr>
        <p:spPr>
          <a:xfrm>
            <a:off x="451559" y="260648"/>
            <a:ext cx="82296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2771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Tracking the Schedule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67792" y="823340"/>
            <a:ext cx="8152800" cy="58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120650" lvl="0" marL="105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schedule provides a road 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2700" marR="390525" rtl="0" algn="l">
              <a:lnSpc>
                <a:spcPct val="106666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Properly developed project schedule defines the tasks and milestones that must be tracked and controlled as the project proceeds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05410" marR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Tracking can be accomplished by: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2700" marR="504825" rtl="0" algn="l">
              <a:lnSpc>
                <a:spcPct val="106666"/>
              </a:lnSpc>
              <a:spcBef>
                <a:spcPts val="106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Conducting periodic project status meetings in which each team member reports progress and problems.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05410" marR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Evaluating the results of all reviews conducted throughout the software engineering process.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2700" marR="895350" rtl="0" algn="l">
              <a:lnSpc>
                <a:spcPct val="107619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Determining whether formal project milestones (the diamonds shown in Figure) have been accomplished by the scheduled 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0541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Comparing actual start-date to planned start-date for each project task listed in the resource table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05410" marR="0" rtl="0" algn="l">
              <a:lnSpc>
                <a:spcPct val="113333"/>
              </a:lnSpc>
              <a:spcBef>
                <a:spcPts val="74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Meeting informally with practitioners to obtain their subjective assessment of progress to date and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on the horizon.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0541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earned value analysis to assess progress quantitatively.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2024-07-26T06:02:14Z</dcterms:created>
  <dc:creator>kjscecomp</dc:creator>
</cp:coreProperties>
</file>
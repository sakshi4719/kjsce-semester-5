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9" roundtripDataSignature="AMtx7mhIuYNW0A8PMeO7vdkBnGmACFeZ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49346DC-24D2-4D6E-88B0-007E61DDD6C5}">
  <a:tblStyle styleId="{749346DC-24D2-4D6E-88B0-007E61DDD6C5}"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4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1" name="Google Shape;31;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8" name="Google Shape;38;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4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4" name="Google Shape;44;p4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5" name="Google Shape;45;p4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6" name="Google Shape;46;p4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7" name="Google Shape;47;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2"/>
          <p:cNvSpPr/>
          <p:nvPr>
            <p:ph idx="2" type="pic"/>
          </p:nvPr>
        </p:nvSpPr>
        <p:spPr>
          <a:xfrm>
            <a:off x="1792288" y="612775"/>
            <a:ext cx="5486400" cy="4114800"/>
          </a:xfrm>
          <a:prstGeom prst="rect">
            <a:avLst/>
          </a:prstGeom>
          <a:noFill/>
          <a:ln>
            <a:noFill/>
          </a:ln>
        </p:spPr>
      </p:sp>
      <p:sp>
        <p:nvSpPr>
          <p:cNvPr id="64" name="Google Shape;64;p5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1.pn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8.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1.3 Software Planning &amp; Estimation </a:t>
            </a:r>
            <a:endParaRPr/>
          </a:p>
        </p:txBody>
      </p:sp>
      <p:sp>
        <p:nvSpPr>
          <p:cNvPr id="85" name="Google Shape;85;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US"/>
              <a:t>Module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91" name="Google Shape;91;p2"/>
          <p:cNvPicPr preferRelativeResize="0"/>
          <p:nvPr/>
        </p:nvPicPr>
        <p:blipFill rotWithShape="1">
          <a:blip r:embed="rId3">
            <a:alphaModFix/>
          </a:blip>
          <a:srcRect b="0" l="0" r="0" t="0"/>
          <a:stretch/>
        </p:blipFill>
        <p:spPr>
          <a:xfrm>
            <a:off x="619843" y="1916832"/>
            <a:ext cx="7896225" cy="2095500"/>
          </a:xfrm>
          <a:prstGeom prst="rect">
            <a:avLst/>
          </a:prstGeom>
          <a:noFill/>
          <a:ln>
            <a:noFill/>
          </a:ln>
        </p:spPr>
      </p:pic>
      <p:sp>
        <p:nvSpPr>
          <p:cNvPr id="92" name="Google Shape;92;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id="93" name="Google Shape;93;p2"/>
          <p:cNvPicPr preferRelativeResize="0"/>
          <p:nvPr/>
        </p:nvPicPr>
        <p:blipFill rotWithShape="1">
          <a:blip r:embed="rId4">
            <a:alphaModFix/>
          </a:blip>
          <a:srcRect b="0" l="0" r="0" t="0"/>
          <a:stretch/>
        </p:blipFill>
        <p:spPr>
          <a:xfrm>
            <a:off x="1424283" y="4012332"/>
            <a:ext cx="6287344" cy="194421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Steps for software product estimation</a:t>
            </a:r>
            <a:endParaRPr/>
          </a:p>
        </p:txBody>
      </p:sp>
      <p:pic>
        <p:nvPicPr>
          <p:cNvPr id="99" name="Google Shape;99;p3"/>
          <p:cNvPicPr preferRelativeResize="0"/>
          <p:nvPr/>
        </p:nvPicPr>
        <p:blipFill rotWithShape="1">
          <a:blip r:embed="rId3">
            <a:alphaModFix/>
          </a:blip>
          <a:srcRect b="0" l="0" r="0" t="0"/>
          <a:stretch/>
        </p:blipFill>
        <p:spPr>
          <a:xfrm>
            <a:off x="1403648" y="1196752"/>
            <a:ext cx="6552728" cy="550309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105" name="Google Shape;105;p4"/>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150495" rtl="0" algn="r">
              <a:lnSpc>
                <a:spcPct val="155333"/>
              </a:lnSpc>
              <a:spcBef>
                <a:spcPts val="0"/>
              </a:spcBef>
              <a:spcAft>
                <a:spcPts val="0"/>
              </a:spcAft>
              <a:buNone/>
            </a:pPr>
            <a:fld id="{00000000-1234-1234-1234-123412341234}" type="slidenum">
              <a:rPr lang="en-US"/>
              <a:t>‹#›</a:t>
            </a:fld>
            <a:endParaRPr/>
          </a:p>
        </p:txBody>
      </p:sp>
      <p:sp>
        <p:nvSpPr>
          <p:cNvPr id="106" name="Google Shape;106;p4"/>
          <p:cNvSpPr txBox="1"/>
          <p:nvPr>
            <p:ph type="title"/>
          </p:nvPr>
        </p:nvSpPr>
        <p:spPr>
          <a:xfrm>
            <a:off x="310515" y="404664"/>
            <a:ext cx="8229600" cy="627736"/>
          </a:xfrm>
          <a:prstGeom prst="rect">
            <a:avLst/>
          </a:prstGeom>
          <a:noFill/>
          <a:ln>
            <a:noFill/>
          </a:ln>
        </p:spPr>
        <p:txBody>
          <a:bodyPr anchorCtr="0" anchor="ctr" bIns="0" lIns="0" spcFirstLastPara="1" rIns="0" wrap="square" tIns="12050">
            <a:spAutoFit/>
          </a:bodyPr>
          <a:lstStyle/>
          <a:p>
            <a:pPr indent="0" lvl="0" marL="2589530" rtl="0" algn="ctr">
              <a:lnSpc>
                <a:spcPct val="100000"/>
              </a:lnSpc>
              <a:spcBef>
                <a:spcPts val="0"/>
              </a:spcBef>
              <a:spcAft>
                <a:spcPts val="0"/>
              </a:spcAft>
              <a:buClr>
                <a:schemeClr val="dk1"/>
              </a:buClr>
              <a:buSzPts val="4000"/>
              <a:buFont typeface="Calibri"/>
              <a:buNone/>
            </a:pPr>
            <a:r>
              <a:rPr lang="en-US" sz="4000"/>
              <a:t>Software </a:t>
            </a:r>
            <a:r>
              <a:rPr b="1" lang="en-US" sz="4000">
                <a:solidFill>
                  <a:srgbClr val="006FC0"/>
                </a:solidFill>
                <a:latin typeface="Arial"/>
                <a:ea typeface="Arial"/>
                <a:cs typeface="Arial"/>
                <a:sym typeface="Arial"/>
              </a:rPr>
              <a:t>Measurement</a:t>
            </a:r>
            <a:endParaRPr/>
          </a:p>
        </p:txBody>
      </p:sp>
      <p:sp>
        <p:nvSpPr>
          <p:cNvPr id="107" name="Google Shape;107;p4"/>
          <p:cNvSpPr txBox="1"/>
          <p:nvPr/>
        </p:nvSpPr>
        <p:spPr>
          <a:xfrm>
            <a:off x="330134" y="1340768"/>
            <a:ext cx="8426291" cy="4029710"/>
          </a:xfrm>
          <a:prstGeom prst="rect">
            <a:avLst/>
          </a:prstGeom>
          <a:noFill/>
          <a:ln>
            <a:noFill/>
          </a:ln>
        </p:spPr>
        <p:txBody>
          <a:bodyPr anchorCtr="0" anchor="t" bIns="0" lIns="0" spcFirstLastPara="1" rIns="0" wrap="square" tIns="62850">
            <a:spAutoFit/>
          </a:bodyPr>
          <a:lstStyle/>
          <a:p>
            <a:pPr indent="-171448" lvl="0" marL="12700" marR="78740" rtl="0" algn="l">
              <a:lnSpc>
                <a:spcPct val="107142"/>
              </a:lnSpc>
              <a:spcBef>
                <a:spcPts val="0"/>
              </a:spcBef>
              <a:spcAft>
                <a:spcPts val="0"/>
              </a:spcAft>
              <a:buClr>
                <a:srgbClr val="000000"/>
              </a:buClr>
              <a:buSzPts val="2700"/>
              <a:buFont typeface="Arial"/>
              <a:buChar char="•"/>
            </a:pPr>
            <a:r>
              <a:rPr b="1" i="0" lang="en-US" sz="2800" u="none" cap="none" strike="noStrike">
                <a:solidFill>
                  <a:srgbClr val="006FC0"/>
                </a:solidFill>
                <a:latin typeface="Calibri"/>
                <a:ea typeface="Calibri"/>
                <a:cs typeface="Calibri"/>
                <a:sym typeface="Calibri"/>
              </a:rPr>
              <a:t>	Direct measures </a:t>
            </a:r>
            <a:r>
              <a:rPr b="0" i="0" lang="en-US" sz="2800" u="none" cap="none" strike="noStrike">
                <a:solidFill>
                  <a:schemeClr val="dk1"/>
                </a:solidFill>
                <a:latin typeface="Calibri"/>
                <a:ea typeface="Calibri"/>
                <a:cs typeface="Calibri"/>
                <a:sym typeface="Calibri"/>
              </a:rPr>
              <a:t>of the software engineering </a:t>
            </a:r>
            <a:r>
              <a:rPr b="0" i="0" lang="en-US" sz="2800" u="none" cap="none" strike="noStrike">
                <a:solidFill>
                  <a:srgbClr val="006FC0"/>
                </a:solidFill>
                <a:latin typeface="Calibri"/>
                <a:ea typeface="Calibri"/>
                <a:cs typeface="Calibri"/>
                <a:sym typeface="Calibri"/>
              </a:rPr>
              <a:t>process </a:t>
            </a:r>
            <a:r>
              <a:rPr b="0" i="0" lang="en-US" sz="2800" u="none" cap="none" strike="noStrike">
                <a:solidFill>
                  <a:schemeClr val="dk1"/>
                </a:solidFill>
                <a:latin typeface="Calibri"/>
                <a:ea typeface="Calibri"/>
                <a:cs typeface="Calibri"/>
                <a:sym typeface="Calibri"/>
              </a:rPr>
              <a:t>include </a:t>
            </a:r>
            <a:r>
              <a:rPr b="0" i="0" lang="en-US" sz="2800" u="none" cap="none" strike="noStrike">
                <a:solidFill>
                  <a:srgbClr val="006FC0"/>
                </a:solidFill>
                <a:latin typeface="Calibri"/>
                <a:ea typeface="Calibri"/>
                <a:cs typeface="Calibri"/>
                <a:sym typeface="Calibri"/>
              </a:rPr>
              <a:t>cost and effort applied.</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1595"/>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171448" lvl="0" marL="12700" marR="5080" rtl="0" algn="l">
              <a:lnSpc>
                <a:spcPct val="89700"/>
              </a:lnSpc>
              <a:spcBef>
                <a:spcPts val="0"/>
              </a:spcBef>
              <a:spcAft>
                <a:spcPts val="0"/>
              </a:spcAft>
              <a:buClr>
                <a:srgbClr val="000000"/>
              </a:buClr>
              <a:buSzPts val="2700"/>
              <a:buFont typeface="Arial"/>
              <a:buChar char="•"/>
            </a:pPr>
            <a:r>
              <a:rPr b="1" i="0" lang="en-US" sz="2800" u="none" cap="none" strike="noStrike">
                <a:solidFill>
                  <a:srgbClr val="006FC0"/>
                </a:solidFill>
                <a:latin typeface="Calibri"/>
                <a:ea typeface="Calibri"/>
                <a:cs typeface="Calibri"/>
                <a:sym typeface="Calibri"/>
              </a:rPr>
              <a:t>	Direct measures </a:t>
            </a:r>
            <a:r>
              <a:rPr b="0" i="0" lang="en-US" sz="2800" u="none" cap="none" strike="noStrike">
                <a:solidFill>
                  <a:schemeClr val="dk1"/>
                </a:solidFill>
                <a:latin typeface="Calibri"/>
                <a:ea typeface="Calibri"/>
                <a:cs typeface="Calibri"/>
                <a:sym typeface="Calibri"/>
              </a:rPr>
              <a:t>of the </a:t>
            </a:r>
            <a:r>
              <a:rPr b="0" i="0" lang="en-US" sz="2800" u="none" cap="none" strike="noStrike">
                <a:solidFill>
                  <a:srgbClr val="006FC0"/>
                </a:solidFill>
                <a:latin typeface="Calibri"/>
                <a:ea typeface="Calibri"/>
                <a:cs typeface="Calibri"/>
                <a:sym typeface="Calibri"/>
              </a:rPr>
              <a:t>product </a:t>
            </a:r>
            <a:r>
              <a:rPr b="0" i="0" lang="en-US" sz="2800" u="none" cap="none" strike="noStrike">
                <a:solidFill>
                  <a:schemeClr val="dk1"/>
                </a:solidFill>
                <a:latin typeface="Calibri"/>
                <a:ea typeface="Calibri"/>
                <a:cs typeface="Calibri"/>
                <a:sym typeface="Calibri"/>
              </a:rPr>
              <a:t>include </a:t>
            </a:r>
            <a:r>
              <a:rPr b="1" i="0" lang="en-US" sz="2800" u="none" cap="none" strike="noStrike">
                <a:solidFill>
                  <a:srgbClr val="006FC0"/>
                </a:solidFill>
                <a:latin typeface="Calibri"/>
                <a:ea typeface="Calibri"/>
                <a:cs typeface="Calibri"/>
                <a:sym typeface="Calibri"/>
              </a:rPr>
              <a:t>lines of code (LOC) produced, execution speed, memory size</a:t>
            </a:r>
            <a:r>
              <a:rPr b="0" i="0" lang="en-US" sz="2800" u="none" cap="none" strike="noStrike">
                <a:solidFill>
                  <a:schemeClr val="dk1"/>
                </a:solidFill>
                <a:latin typeface="Calibri"/>
                <a:ea typeface="Calibri"/>
                <a:cs typeface="Calibri"/>
                <a:sym typeface="Calibri"/>
              </a:rPr>
              <a:t>, and </a:t>
            </a:r>
            <a:r>
              <a:rPr b="1" i="0" lang="en-US" sz="2800" u="none" cap="none" strike="noStrike">
                <a:solidFill>
                  <a:srgbClr val="006FC0"/>
                </a:solidFill>
                <a:latin typeface="Calibri"/>
                <a:ea typeface="Calibri"/>
                <a:cs typeface="Calibri"/>
                <a:sym typeface="Calibri"/>
              </a:rPr>
              <a:t>defects </a:t>
            </a:r>
            <a:r>
              <a:rPr b="0" i="0" lang="en-US" sz="2800" u="none" cap="none" strike="noStrike">
                <a:solidFill>
                  <a:schemeClr val="dk1"/>
                </a:solidFill>
                <a:latin typeface="Calibri"/>
                <a:ea typeface="Calibri"/>
                <a:cs typeface="Calibri"/>
                <a:sym typeface="Calibri"/>
              </a:rPr>
              <a:t>reported over some set period of time.</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1695"/>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171448" lvl="0" marL="12700" marR="81915" rtl="0" algn="l">
              <a:lnSpc>
                <a:spcPct val="107142"/>
              </a:lnSpc>
              <a:spcBef>
                <a:spcPts val="5"/>
              </a:spcBef>
              <a:spcAft>
                <a:spcPts val="0"/>
              </a:spcAft>
              <a:buClr>
                <a:srgbClr val="000000"/>
              </a:buClr>
              <a:buSzPts val="2700"/>
              <a:buFont typeface="Arial"/>
              <a:buChar char="•"/>
            </a:pPr>
            <a:r>
              <a:rPr b="1" i="0" lang="en-US" sz="2800" u="none" cap="none" strike="noStrike">
                <a:solidFill>
                  <a:srgbClr val="006FC0"/>
                </a:solidFill>
                <a:latin typeface="Calibri"/>
                <a:ea typeface="Calibri"/>
                <a:cs typeface="Calibri"/>
                <a:sym typeface="Calibri"/>
              </a:rPr>
              <a:t>	Indirect measures </a:t>
            </a:r>
            <a:r>
              <a:rPr b="0" i="0" lang="en-US" sz="2800" u="none" cap="none" strike="noStrike">
                <a:solidFill>
                  <a:schemeClr val="dk1"/>
                </a:solidFill>
                <a:latin typeface="Calibri"/>
                <a:ea typeface="Calibri"/>
                <a:cs typeface="Calibri"/>
                <a:sym typeface="Calibri"/>
              </a:rPr>
              <a:t>of the </a:t>
            </a:r>
            <a:r>
              <a:rPr b="1" i="0" lang="en-US" sz="2800" u="none" cap="none" strike="noStrike">
                <a:solidFill>
                  <a:srgbClr val="006FC0"/>
                </a:solidFill>
                <a:latin typeface="Calibri"/>
                <a:ea typeface="Calibri"/>
                <a:cs typeface="Calibri"/>
                <a:sym typeface="Calibri"/>
              </a:rPr>
              <a:t>product </a:t>
            </a:r>
            <a:r>
              <a:rPr b="0" i="0" lang="en-US" sz="2800" u="none" cap="none" strike="noStrike">
                <a:solidFill>
                  <a:schemeClr val="dk1"/>
                </a:solidFill>
                <a:latin typeface="Calibri"/>
                <a:ea typeface="Calibri"/>
                <a:cs typeface="Calibri"/>
                <a:sym typeface="Calibri"/>
              </a:rPr>
              <a:t>include </a:t>
            </a:r>
            <a:r>
              <a:rPr b="1" i="0" lang="en-US" sz="2800" u="none" cap="none" strike="noStrike">
                <a:solidFill>
                  <a:srgbClr val="006FC0"/>
                </a:solidFill>
                <a:latin typeface="Calibri"/>
                <a:ea typeface="Calibri"/>
                <a:cs typeface="Calibri"/>
                <a:sym typeface="Calibri"/>
              </a:rPr>
              <a:t>functionality, quality, complexity, efficiency, reliability, maintainability</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113" name="Google Shape;113;p5"/>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150495" rtl="0" algn="r">
              <a:lnSpc>
                <a:spcPct val="155333"/>
              </a:lnSpc>
              <a:spcBef>
                <a:spcPts val="0"/>
              </a:spcBef>
              <a:spcAft>
                <a:spcPts val="0"/>
              </a:spcAft>
              <a:buNone/>
            </a:pPr>
            <a:fld id="{00000000-1234-1234-1234-123412341234}" type="slidenum">
              <a:rPr lang="en-US"/>
              <a:t>‹#›</a:t>
            </a:fld>
            <a:endParaRPr/>
          </a:p>
        </p:txBody>
      </p:sp>
      <p:sp>
        <p:nvSpPr>
          <p:cNvPr id="114" name="Google Shape;114;p5"/>
          <p:cNvSpPr txBox="1"/>
          <p:nvPr>
            <p:ph type="title"/>
          </p:nvPr>
        </p:nvSpPr>
        <p:spPr>
          <a:xfrm>
            <a:off x="971600" y="268170"/>
            <a:ext cx="5987891" cy="504625"/>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rgbClr val="C00000"/>
              </a:buClr>
              <a:buSzPts val="3200"/>
              <a:buFont typeface="Calibri"/>
              <a:buNone/>
            </a:pPr>
            <a:r>
              <a:rPr lang="en-US" sz="3200">
                <a:solidFill>
                  <a:srgbClr val="C00000"/>
                </a:solidFill>
              </a:rPr>
              <a:t>Software Planning &amp; Estimation</a:t>
            </a:r>
            <a:endParaRPr/>
          </a:p>
        </p:txBody>
      </p:sp>
      <p:sp>
        <p:nvSpPr>
          <p:cNvPr id="115" name="Google Shape;115;p5"/>
          <p:cNvSpPr txBox="1"/>
          <p:nvPr/>
        </p:nvSpPr>
        <p:spPr>
          <a:xfrm>
            <a:off x="418643" y="772795"/>
            <a:ext cx="8126254" cy="5949064"/>
          </a:xfrm>
          <a:prstGeom prst="rect">
            <a:avLst/>
          </a:prstGeom>
          <a:noFill/>
          <a:ln>
            <a:noFill/>
          </a:ln>
        </p:spPr>
        <p:txBody>
          <a:bodyPr anchorCtr="0" anchor="t" bIns="0" lIns="0" spcFirstLastPara="1" rIns="0" wrap="square" tIns="54600">
            <a:spAutoFit/>
          </a:bodyPr>
          <a:lstStyle/>
          <a:p>
            <a:pPr indent="0" lvl="0" marL="12700" marR="5080" rtl="0" algn="l">
              <a:lnSpc>
                <a:spcPct val="90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Accurate estimation of project size is central to satisfactory estimation of all other project parameters such as effort, completion time, and total project cost.</a:t>
            </a:r>
            <a:endParaRPr b="0" i="0" sz="2400" u="none" cap="none" strike="noStrike">
              <a:solidFill>
                <a:schemeClr val="dk1"/>
              </a:solidFill>
              <a:latin typeface="Times New Roman"/>
              <a:ea typeface="Times New Roman"/>
              <a:cs typeface="Times New Roman"/>
              <a:sym typeface="Times New Roman"/>
            </a:endParaRPr>
          </a:p>
          <a:p>
            <a:pPr indent="-146956" lvl="0" marL="133985" marR="0" rtl="0" algn="l">
              <a:lnSpc>
                <a:spcPct val="100000"/>
              </a:lnSpc>
              <a:spcBef>
                <a:spcPts val="660"/>
              </a:spcBef>
              <a:spcAft>
                <a:spcPts val="0"/>
              </a:spcAft>
              <a:buClr>
                <a:schemeClr val="dk1"/>
              </a:buClr>
              <a:buSzPts val="2314"/>
              <a:buFont typeface="Times New Roman"/>
              <a:buChar char="•"/>
            </a:pPr>
            <a:r>
              <a:rPr b="0" i="0" lang="en-US" sz="2400" u="none" cap="none" strike="noStrike">
                <a:solidFill>
                  <a:schemeClr val="dk1"/>
                </a:solidFill>
                <a:latin typeface="Times New Roman"/>
                <a:ea typeface="Times New Roman"/>
                <a:cs typeface="Times New Roman"/>
                <a:sym typeface="Times New Roman"/>
              </a:rPr>
              <a:t>Product Metrics estimations : LOC, FP, COCOMO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86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a:p>
            <a:pPr indent="0" lvl="0" marL="12700" marR="1021714" rtl="0" algn="l">
              <a:lnSpc>
                <a:spcPct val="125833"/>
              </a:lnSpc>
              <a:spcBef>
                <a:spcPts val="0"/>
              </a:spcBef>
              <a:spcAft>
                <a:spcPts val="0"/>
              </a:spcAft>
              <a:buNone/>
            </a:pPr>
            <a:r>
              <a:rPr b="1" i="0" lang="en-US" sz="2400" u="none" cap="none" strike="noStrike">
                <a:solidFill>
                  <a:srgbClr val="006FC0"/>
                </a:solidFill>
                <a:latin typeface="Times New Roman"/>
                <a:ea typeface="Times New Roman"/>
                <a:cs typeface="Times New Roman"/>
                <a:sym typeface="Times New Roman"/>
              </a:rPr>
              <a:t>LOC : This metric measures the size of a project by counting the number of source instructions in the developed program.</a:t>
            </a:r>
            <a:endParaRPr b="0" i="0" sz="2400" u="none" cap="none" strike="noStrike">
              <a:solidFill>
                <a:schemeClr val="dk1"/>
              </a:solidFill>
              <a:latin typeface="Times New Roman"/>
              <a:ea typeface="Times New Roman"/>
              <a:cs typeface="Times New Roman"/>
              <a:sym typeface="Times New Roman"/>
            </a:endParaRPr>
          </a:p>
          <a:p>
            <a:pPr indent="0" lvl="0" marL="12700" marR="931544" rtl="0" algn="l">
              <a:lnSpc>
                <a:spcPct val="120000"/>
              </a:lnSpc>
              <a:spcBef>
                <a:spcPts val="0"/>
              </a:spcBef>
              <a:spcAft>
                <a:spcPts val="0"/>
              </a:spcAft>
              <a:buNone/>
            </a:pPr>
            <a:r>
              <a:rPr b="1" i="0" lang="en-US" sz="2400" u="none" cap="none" strike="noStrike">
                <a:solidFill>
                  <a:srgbClr val="006FC0"/>
                </a:solidFill>
                <a:latin typeface="Times New Roman"/>
                <a:ea typeface="Times New Roman"/>
                <a:cs typeface="Times New Roman"/>
                <a:sym typeface="Times New Roman"/>
              </a:rPr>
              <a:t>FP(Function point metric): FP has several advantages over LOC. </a:t>
            </a:r>
            <a:endParaRPr b="1" i="0" sz="2400" u="none" cap="none" strike="noStrike">
              <a:solidFill>
                <a:srgbClr val="006FC0"/>
              </a:solidFill>
              <a:latin typeface="Times New Roman"/>
              <a:ea typeface="Times New Roman"/>
              <a:cs typeface="Times New Roman"/>
              <a:sym typeface="Times New Roman"/>
            </a:endParaRPr>
          </a:p>
          <a:p>
            <a:pPr indent="0" lvl="0" marL="12700" marR="931544" rtl="0" algn="l">
              <a:lnSpc>
                <a:spcPct val="120000"/>
              </a:lnSpc>
              <a:spcBef>
                <a:spcPts val="0"/>
              </a:spcBef>
              <a:spcAft>
                <a:spcPts val="0"/>
              </a:spcAft>
              <a:buNone/>
            </a:pPr>
            <a:r>
              <a:rPr b="1" i="0" lang="en-US" sz="2400" u="none" cap="none" strike="noStrike">
                <a:solidFill>
                  <a:srgbClr val="6F2F9F"/>
                </a:solidFill>
                <a:latin typeface="Times New Roman"/>
                <a:ea typeface="Times New Roman"/>
                <a:cs typeface="Times New Roman"/>
                <a:sym typeface="Times New Roman"/>
              </a:rPr>
              <a:t>FP can be easily computed from the problem specification itself.</a:t>
            </a:r>
            <a:endParaRPr b="0" i="0" sz="2400" u="none" cap="none" strike="noStrike">
              <a:solidFill>
                <a:schemeClr val="dk1"/>
              </a:solidFill>
              <a:latin typeface="Times New Roman"/>
              <a:ea typeface="Times New Roman"/>
              <a:cs typeface="Times New Roman"/>
              <a:sym typeface="Times New Roman"/>
            </a:endParaRPr>
          </a:p>
          <a:p>
            <a:pPr indent="0" lvl="0" marL="12700" marR="393065" rtl="0" algn="l">
              <a:lnSpc>
                <a:spcPct val="125833"/>
              </a:lnSpc>
              <a:spcBef>
                <a:spcPts val="1045"/>
              </a:spcBef>
              <a:spcAft>
                <a:spcPts val="0"/>
              </a:spcAft>
              <a:buNone/>
            </a:pPr>
            <a:r>
              <a:rPr b="1" i="0" lang="en-US" sz="2400" u="none" cap="none" strike="noStrike">
                <a:solidFill>
                  <a:srgbClr val="6F2F9F"/>
                </a:solidFill>
                <a:latin typeface="Times New Roman"/>
                <a:ea typeface="Times New Roman"/>
                <a:cs typeface="Times New Roman"/>
                <a:sym typeface="Times New Roman"/>
              </a:rPr>
              <a:t>Using LOC, size can be accurately determined only after code can be fully written.</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121" name="Google Shape;121;p6"/>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150495" rtl="0" algn="r">
              <a:lnSpc>
                <a:spcPct val="155333"/>
              </a:lnSpc>
              <a:spcBef>
                <a:spcPts val="0"/>
              </a:spcBef>
              <a:spcAft>
                <a:spcPts val="0"/>
              </a:spcAft>
              <a:buNone/>
            </a:pPr>
            <a:fld id="{00000000-1234-1234-1234-123412341234}" type="slidenum">
              <a:rPr lang="en-US"/>
              <a:t>‹#›</a:t>
            </a:fld>
            <a:endParaRPr/>
          </a:p>
        </p:txBody>
      </p:sp>
      <p:sp>
        <p:nvSpPr>
          <p:cNvPr id="122" name="Google Shape;122;p6"/>
          <p:cNvSpPr txBox="1"/>
          <p:nvPr>
            <p:ph type="title"/>
          </p:nvPr>
        </p:nvSpPr>
        <p:spPr>
          <a:xfrm>
            <a:off x="395536" y="217536"/>
            <a:ext cx="8229600" cy="566181"/>
          </a:xfrm>
          <a:prstGeom prst="rect">
            <a:avLst/>
          </a:prstGeom>
          <a:noFill/>
          <a:ln>
            <a:noFill/>
          </a:ln>
        </p:spPr>
        <p:txBody>
          <a:bodyPr anchorCtr="0" anchor="ctr" bIns="0" lIns="0" spcFirstLastPara="1" rIns="0" wrap="square" tIns="12050">
            <a:spAutoFit/>
          </a:bodyPr>
          <a:lstStyle/>
          <a:p>
            <a:pPr indent="0" lvl="0" marL="2376170" rtl="0" algn="l">
              <a:lnSpc>
                <a:spcPct val="100000"/>
              </a:lnSpc>
              <a:spcBef>
                <a:spcPts val="0"/>
              </a:spcBef>
              <a:spcAft>
                <a:spcPts val="0"/>
              </a:spcAft>
              <a:buClr>
                <a:schemeClr val="dk1"/>
              </a:buClr>
              <a:buSzPts val="3600"/>
              <a:buFont typeface="Calibri"/>
              <a:buNone/>
            </a:pPr>
            <a:r>
              <a:rPr lang="en-US" sz="3600"/>
              <a:t>Software </a:t>
            </a:r>
            <a:r>
              <a:rPr b="1" lang="en-US" sz="3600">
                <a:solidFill>
                  <a:srgbClr val="006FC0"/>
                </a:solidFill>
                <a:latin typeface="Arial"/>
                <a:ea typeface="Arial"/>
                <a:cs typeface="Arial"/>
                <a:sym typeface="Arial"/>
              </a:rPr>
              <a:t>Product </a:t>
            </a:r>
            <a:r>
              <a:rPr lang="en-US" sz="3600"/>
              <a:t>metrics</a:t>
            </a:r>
            <a:endParaRPr/>
          </a:p>
        </p:txBody>
      </p:sp>
      <p:sp>
        <p:nvSpPr>
          <p:cNvPr id="123" name="Google Shape;123;p6"/>
          <p:cNvSpPr txBox="1"/>
          <p:nvPr/>
        </p:nvSpPr>
        <p:spPr>
          <a:xfrm>
            <a:off x="827584" y="1340768"/>
            <a:ext cx="7787640" cy="4123180"/>
          </a:xfrm>
          <a:prstGeom prst="rect">
            <a:avLst/>
          </a:prstGeom>
          <a:noFill/>
          <a:ln>
            <a:noFill/>
          </a:ln>
        </p:spPr>
        <p:txBody>
          <a:bodyPr anchorCtr="0" anchor="t" bIns="0" lIns="0" spcFirstLastPara="1" rIns="0" wrap="square" tIns="50800">
            <a:spAutoFit/>
          </a:bodyPr>
          <a:lstStyle/>
          <a:p>
            <a:pPr indent="-146049" lvl="0" marL="12700" marR="153670" rtl="0" algn="l">
              <a:lnSpc>
                <a:spcPct val="89600"/>
              </a:lnSpc>
              <a:spcBef>
                <a:spcPts val="0"/>
              </a:spcBef>
              <a:spcAft>
                <a:spcPts val="0"/>
              </a:spcAft>
              <a:buClr>
                <a:schemeClr val="dk1"/>
              </a:buClr>
              <a:buSzPts val="2300"/>
              <a:buFont typeface="Arial"/>
              <a:buChar char="•"/>
            </a:pPr>
            <a:r>
              <a:rPr b="0" i="0" lang="en-US" sz="2400" u="none" cap="none" strike="noStrike">
                <a:solidFill>
                  <a:schemeClr val="dk1"/>
                </a:solidFill>
                <a:latin typeface="Calibri"/>
                <a:ea typeface="Calibri"/>
                <a:cs typeface="Calibri"/>
                <a:sym typeface="Calibri"/>
              </a:rPr>
              <a:t>	Software </a:t>
            </a:r>
            <a:r>
              <a:rPr b="0" i="0" lang="en-US" sz="2400" u="sng" cap="none" strike="noStrike">
                <a:solidFill>
                  <a:schemeClr val="dk1"/>
                </a:solidFill>
                <a:latin typeface="Calibri"/>
                <a:ea typeface="Calibri"/>
                <a:cs typeface="Calibri"/>
                <a:sym typeface="Calibri"/>
              </a:rPr>
              <a:t>project measures</a:t>
            </a:r>
            <a:r>
              <a:rPr b="0" i="0" lang="en-US" sz="2400" u="none" cap="none" strike="noStrike">
                <a:solidFill>
                  <a:schemeClr val="dk1"/>
                </a:solidFill>
                <a:latin typeface="Calibri"/>
                <a:ea typeface="Calibri"/>
                <a:cs typeface="Calibri"/>
                <a:sym typeface="Calibri"/>
              </a:rPr>
              <a:t> are tactical; project metrics and the indicators derived from them </a:t>
            </a:r>
            <a:r>
              <a:rPr b="0" i="0" lang="en-US" sz="2400" u="sng" cap="none" strike="noStrike">
                <a:solidFill>
                  <a:schemeClr val="dk1"/>
                </a:solidFill>
                <a:latin typeface="Calibri"/>
                <a:ea typeface="Calibri"/>
                <a:cs typeface="Calibri"/>
                <a:sym typeface="Calibri"/>
              </a:rPr>
              <a:t>are used </a:t>
            </a:r>
            <a:r>
              <a:rPr b="0" i="0" lang="en-US" sz="2400" u="none" cap="none" strike="noStrike">
                <a:solidFill>
                  <a:schemeClr val="dk1"/>
                </a:solidFill>
                <a:latin typeface="Calibri"/>
                <a:ea typeface="Calibri"/>
                <a:cs typeface="Calibri"/>
                <a:sym typeface="Calibri"/>
              </a:rPr>
              <a:t>by a project manager and a software team </a:t>
            </a:r>
            <a:r>
              <a:rPr b="0" i="0" lang="en-US" sz="2400" u="sng" cap="none" strike="noStrike">
                <a:solidFill>
                  <a:schemeClr val="dk1"/>
                </a:solidFill>
                <a:latin typeface="Calibri"/>
                <a:ea typeface="Calibri"/>
                <a:cs typeface="Calibri"/>
                <a:sym typeface="Calibri"/>
              </a:rPr>
              <a:t>to adapt project</a:t>
            </a:r>
            <a:r>
              <a:rPr b="0" i="0" lang="en-US" sz="2400" u="none" cap="none" strike="noStrike">
                <a:solidFill>
                  <a:schemeClr val="dk1"/>
                </a:solidFill>
                <a:latin typeface="Calibri"/>
                <a:ea typeface="Calibri"/>
                <a:cs typeface="Calibri"/>
                <a:sym typeface="Calibri"/>
              </a:rPr>
              <a:t> </a:t>
            </a:r>
            <a:r>
              <a:rPr b="0" i="0" lang="en-US" sz="2400" u="sng" cap="none" strike="noStrike">
                <a:solidFill>
                  <a:schemeClr val="dk1"/>
                </a:solidFill>
                <a:latin typeface="Calibri"/>
                <a:ea typeface="Calibri"/>
                <a:cs typeface="Calibri"/>
                <a:sym typeface="Calibri"/>
              </a:rPr>
              <a:t>workflow and technical activities</a:t>
            </a:r>
            <a:r>
              <a:rPr b="0" i="0" lang="en-US" sz="2400" u="none" cap="none" strike="noStrike">
                <a:solidFill>
                  <a:schemeClr val="dk1"/>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a:p>
            <a:pPr indent="0" lvl="0" marL="12700" marR="153670" rtl="0" algn="l">
              <a:lnSpc>
                <a:spcPct val="89600"/>
              </a:lnSpc>
              <a:spcBef>
                <a:spcPts val="400"/>
              </a:spcBef>
              <a:spcAft>
                <a:spcPts val="0"/>
              </a:spcAft>
              <a:buClr>
                <a:schemeClr val="dk1"/>
              </a:buClr>
              <a:buSzPts val="2300"/>
              <a:buFont typeface="Arial"/>
              <a:buNone/>
            </a:pPr>
            <a:r>
              <a:t/>
            </a:r>
            <a:endParaRPr b="0" i="0" sz="2400" u="none" cap="none" strike="noStrike">
              <a:solidFill>
                <a:schemeClr val="dk1"/>
              </a:solidFill>
              <a:latin typeface="Calibri"/>
              <a:ea typeface="Calibri"/>
              <a:cs typeface="Calibri"/>
              <a:sym typeface="Calibri"/>
            </a:endParaRPr>
          </a:p>
          <a:p>
            <a:pPr indent="-146049" lvl="0" marL="118745" marR="0" rtl="0" algn="l">
              <a:lnSpc>
                <a:spcPct val="102708"/>
              </a:lnSpc>
              <a:spcBef>
                <a:spcPts val="0"/>
              </a:spcBef>
              <a:spcAft>
                <a:spcPts val="0"/>
              </a:spcAft>
              <a:buClr>
                <a:schemeClr val="dk1"/>
              </a:buClr>
              <a:buSzPts val="2300"/>
              <a:buFont typeface="Arial"/>
              <a:buChar char="•"/>
            </a:pPr>
            <a:r>
              <a:rPr b="0" i="0" lang="en-US" sz="2400" u="none" cap="none" strike="noStrike">
                <a:solidFill>
                  <a:schemeClr val="dk1"/>
                </a:solidFill>
                <a:latin typeface="Calibri"/>
                <a:ea typeface="Calibri"/>
                <a:cs typeface="Calibri"/>
                <a:sym typeface="Calibri"/>
              </a:rPr>
              <a:t>The first application of project metrics on most software projects occurs during estimation.</a:t>
            </a:r>
            <a:endParaRPr b="0" i="0" sz="2400" u="none" cap="none" strike="noStrike">
              <a:solidFill>
                <a:schemeClr val="dk1"/>
              </a:solidFill>
              <a:latin typeface="Calibri"/>
              <a:ea typeface="Calibri"/>
              <a:cs typeface="Calibri"/>
              <a:sym typeface="Calibri"/>
            </a:endParaRPr>
          </a:p>
          <a:p>
            <a:pPr indent="0" lvl="0" marL="12700" marR="5080" rtl="0" algn="l">
              <a:lnSpc>
                <a:spcPct val="107083"/>
              </a:lnSpc>
              <a:spcBef>
                <a:spcPts val="210"/>
              </a:spcBef>
              <a:spcAft>
                <a:spcPts val="0"/>
              </a:spcAft>
              <a:buClr>
                <a:schemeClr val="dk1"/>
              </a:buClr>
              <a:buSzPts val="2300"/>
              <a:buFont typeface="Arial"/>
              <a:buNone/>
            </a:pPr>
            <a:r>
              <a:t/>
            </a:r>
            <a:endParaRPr b="0" i="0" sz="2400" u="none" cap="none" strike="noStrike">
              <a:solidFill>
                <a:schemeClr val="dk1"/>
              </a:solidFill>
              <a:latin typeface="Calibri"/>
              <a:ea typeface="Calibri"/>
              <a:cs typeface="Calibri"/>
              <a:sym typeface="Calibri"/>
            </a:endParaRPr>
          </a:p>
          <a:p>
            <a:pPr indent="-146049" lvl="0" marL="12700" marR="5080" rtl="0" algn="l">
              <a:lnSpc>
                <a:spcPct val="107083"/>
              </a:lnSpc>
              <a:spcBef>
                <a:spcPts val="210"/>
              </a:spcBef>
              <a:spcAft>
                <a:spcPts val="0"/>
              </a:spcAft>
              <a:buClr>
                <a:schemeClr val="dk1"/>
              </a:buClr>
              <a:buSzPts val="2300"/>
              <a:buFont typeface="Arial"/>
              <a:buChar char="•"/>
            </a:pPr>
            <a:r>
              <a:rPr b="0" i="0" lang="en-US" sz="2400" u="none" cap="none" strike="noStrike">
                <a:solidFill>
                  <a:schemeClr val="dk1"/>
                </a:solidFill>
                <a:latin typeface="Calibri"/>
                <a:ea typeface="Calibri"/>
                <a:cs typeface="Calibri"/>
                <a:sym typeface="Calibri"/>
              </a:rPr>
              <a:t>	Metrics collected from past projects are used as a basis from which effort and time estimates are made for current software work.</a:t>
            </a:r>
            <a:endParaRPr b="0" i="0" sz="2400" u="none" cap="none" strike="noStrike">
              <a:solidFill>
                <a:schemeClr val="dk1"/>
              </a:solidFill>
              <a:latin typeface="Calibri"/>
              <a:ea typeface="Calibri"/>
              <a:cs typeface="Calibri"/>
              <a:sym typeface="Calibri"/>
            </a:endParaRPr>
          </a:p>
          <a:p>
            <a:pPr indent="0" lvl="0" marL="12700" marR="459105" rtl="0" algn="l">
              <a:lnSpc>
                <a:spcPct val="89600"/>
              </a:lnSpc>
              <a:spcBef>
                <a:spcPts val="0"/>
              </a:spcBef>
              <a:spcAft>
                <a:spcPts val="0"/>
              </a:spcAft>
              <a:buClr>
                <a:schemeClr val="dk1"/>
              </a:buClr>
              <a:buSzPts val="2300"/>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29" name="Google Shape;129;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46049" lvl="0" marL="12700" marR="459105" rtl="0" algn="l">
              <a:lnSpc>
                <a:spcPct val="89600"/>
              </a:lnSpc>
              <a:spcBef>
                <a:spcPts val="0"/>
              </a:spcBef>
              <a:spcAft>
                <a:spcPts val="0"/>
              </a:spcAft>
              <a:buClr>
                <a:schemeClr val="dk1"/>
              </a:buClr>
              <a:buSzPts val="2300"/>
              <a:buFont typeface="Arial"/>
              <a:buChar char="•"/>
            </a:pPr>
            <a:r>
              <a:rPr lang="en-US" sz="2400"/>
              <a:t>As a project proceeds, measures of effort and calendar time expended are compared to original estimates (and the project schedule). </a:t>
            </a:r>
            <a:endParaRPr sz="2400"/>
          </a:p>
          <a:p>
            <a:pPr indent="-146049" lvl="0" marL="12700" marR="459105" rtl="0" algn="l">
              <a:lnSpc>
                <a:spcPct val="89600"/>
              </a:lnSpc>
              <a:spcBef>
                <a:spcPts val="480"/>
              </a:spcBef>
              <a:spcAft>
                <a:spcPts val="0"/>
              </a:spcAft>
              <a:buClr>
                <a:schemeClr val="dk1"/>
              </a:buClr>
              <a:buSzPts val="2300"/>
              <a:buFont typeface="Arial"/>
              <a:buChar char="•"/>
            </a:pPr>
            <a:r>
              <a:rPr lang="en-US" sz="2400"/>
              <a:t>The project manager uses these data to monitor and control progress.</a:t>
            </a:r>
            <a:endParaRPr sz="2400"/>
          </a:p>
          <a:p>
            <a:pPr indent="-12700" lvl="0" marL="12700" rtl="0" algn="l">
              <a:lnSpc>
                <a:spcPct val="102500"/>
              </a:lnSpc>
              <a:spcBef>
                <a:spcPts val="480"/>
              </a:spcBef>
              <a:spcAft>
                <a:spcPts val="0"/>
              </a:spcAft>
              <a:buClr>
                <a:schemeClr val="dk1"/>
              </a:buClr>
              <a:buSzPts val="2400"/>
              <a:buChar char="•"/>
            </a:pPr>
            <a:r>
              <a:rPr b="1" lang="en-US" sz="2400">
                <a:latin typeface="Arial"/>
                <a:ea typeface="Arial"/>
                <a:cs typeface="Arial"/>
                <a:sym typeface="Arial"/>
              </a:rPr>
              <a:t>Used to :</a:t>
            </a:r>
            <a:endParaRPr sz="2400">
              <a:latin typeface="Arial"/>
              <a:ea typeface="Arial"/>
              <a:cs typeface="Arial"/>
              <a:sym typeface="Arial"/>
            </a:endParaRPr>
          </a:p>
          <a:p>
            <a:pPr indent="-380365" lvl="1" marL="469265" rtl="0" algn="l">
              <a:lnSpc>
                <a:spcPct val="107500"/>
              </a:lnSpc>
              <a:spcBef>
                <a:spcPts val="480"/>
              </a:spcBef>
              <a:spcAft>
                <a:spcPts val="0"/>
              </a:spcAft>
              <a:buClr>
                <a:schemeClr val="dk1"/>
              </a:buClr>
              <a:buSzPts val="2400"/>
              <a:buAutoNum type="arabicPeriod"/>
            </a:pPr>
            <a:r>
              <a:rPr b="1" lang="en-US" sz="2400"/>
              <a:t>minimize the development schedule </a:t>
            </a:r>
            <a:r>
              <a:rPr lang="en-US" sz="2400"/>
              <a:t>by making the adjustments necessary to avoid delays and mitigate potential problems and risks.</a:t>
            </a:r>
            <a:endParaRPr sz="2400"/>
          </a:p>
          <a:p>
            <a:pPr indent="-381000" lvl="1" marL="469265" marR="436880" rtl="0" algn="l">
              <a:lnSpc>
                <a:spcPct val="107916"/>
              </a:lnSpc>
              <a:spcBef>
                <a:spcPts val="185"/>
              </a:spcBef>
              <a:spcAft>
                <a:spcPts val="0"/>
              </a:spcAft>
              <a:buClr>
                <a:schemeClr val="dk1"/>
              </a:buClr>
              <a:buSzPts val="2400"/>
              <a:buAutoNum type="arabicPeriod"/>
            </a:pPr>
            <a:r>
              <a:rPr b="1" lang="en-US" sz="2400"/>
              <a:t>assess product quality </a:t>
            </a:r>
            <a:r>
              <a:rPr lang="en-US" sz="2400"/>
              <a:t>on an ongoing basis and, when necessary, modify the technical approach to improve quality.</a:t>
            </a:r>
            <a:endParaRPr sz="2400"/>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8"/>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135" name="Google Shape;135;p8"/>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150495" rtl="0" algn="r">
              <a:lnSpc>
                <a:spcPct val="155333"/>
              </a:lnSpc>
              <a:spcBef>
                <a:spcPts val="0"/>
              </a:spcBef>
              <a:spcAft>
                <a:spcPts val="0"/>
              </a:spcAft>
              <a:buNone/>
            </a:pPr>
            <a:fld id="{00000000-1234-1234-1234-123412341234}" type="slidenum">
              <a:rPr lang="en-US"/>
              <a:t>‹#›</a:t>
            </a:fld>
            <a:endParaRPr/>
          </a:p>
        </p:txBody>
      </p:sp>
      <p:sp>
        <p:nvSpPr>
          <p:cNvPr id="136" name="Google Shape;136;p8"/>
          <p:cNvSpPr txBox="1"/>
          <p:nvPr>
            <p:ph type="title"/>
          </p:nvPr>
        </p:nvSpPr>
        <p:spPr>
          <a:xfrm>
            <a:off x="683568" y="126515"/>
            <a:ext cx="7272807" cy="566181"/>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chemeClr val="dk1"/>
              </a:buClr>
              <a:buSzPts val="3600"/>
              <a:buFont typeface="Calibri"/>
              <a:buNone/>
            </a:pPr>
            <a:r>
              <a:rPr lang="en-US" sz="3600"/>
              <a:t>Types of Software </a:t>
            </a:r>
            <a:r>
              <a:rPr b="1" lang="en-US" sz="3600">
                <a:solidFill>
                  <a:srgbClr val="0A5293"/>
                </a:solidFill>
                <a:latin typeface="Arial"/>
                <a:ea typeface="Arial"/>
                <a:cs typeface="Arial"/>
                <a:sym typeface="Arial"/>
              </a:rPr>
              <a:t>product </a:t>
            </a:r>
            <a:r>
              <a:rPr lang="en-US" sz="3600"/>
              <a:t>Metrics</a:t>
            </a:r>
            <a:endParaRPr/>
          </a:p>
        </p:txBody>
      </p:sp>
      <p:sp>
        <p:nvSpPr>
          <p:cNvPr id="137" name="Google Shape;137;p8"/>
          <p:cNvSpPr txBox="1"/>
          <p:nvPr/>
        </p:nvSpPr>
        <p:spPr>
          <a:xfrm>
            <a:off x="418643" y="813283"/>
            <a:ext cx="7296300" cy="5885400"/>
          </a:xfrm>
          <a:prstGeom prst="rect">
            <a:avLst/>
          </a:prstGeom>
          <a:noFill/>
          <a:ln>
            <a:noFill/>
          </a:ln>
        </p:spPr>
        <p:txBody>
          <a:bodyPr anchorCtr="0" anchor="t" bIns="0" lIns="0" spcFirstLastPara="1" rIns="0" wrap="square" tIns="102225">
            <a:spAutoFit/>
          </a:bodyPr>
          <a:lstStyle/>
          <a:p>
            <a:pPr indent="0" lvl="0" marL="76200" marR="0" rtl="0" algn="l">
              <a:lnSpc>
                <a:spcPct val="100000"/>
              </a:lnSpc>
              <a:spcBef>
                <a:spcPts val="0"/>
              </a:spcBef>
              <a:spcAft>
                <a:spcPts val="0"/>
              </a:spcAft>
              <a:buNone/>
            </a:pPr>
            <a:r>
              <a:rPr b="1" i="0" lang="en-US" sz="2400" u="none" cap="none" strike="noStrike">
                <a:solidFill>
                  <a:srgbClr val="006FC0"/>
                </a:solidFill>
                <a:latin typeface="Calibri"/>
                <a:ea typeface="Calibri"/>
                <a:cs typeface="Calibri"/>
                <a:sym typeface="Calibri"/>
              </a:rPr>
              <a:t>1.	Size-Oriented Metrics</a:t>
            </a:r>
            <a:endParaRPr b="0" i="0" sz="2400" u="none" cap="none" strike="noStrike">
              <a:solidFill>
                <a:schemeClr val="dk1"/>
              </a:solidFill>
              <a:latin typeface="Calibri"/>
              <a:ea typeface="Calibri"/>
              <a:cs typeface="Calibri"/>
              <a:sym typeface="Calibri"/>
            </a:endParaRPr>
          </a:p>
          <a:p>
            <a:pPr indent="-152400" lvl="0" marL="12700" marR="5080" rtl="0" algn="l">
              <a:lnSpc>
                <a:spcPct val="107692"/>
              </a:lnSpc>
              <a:spcBef>
                <a:spcPts val="107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metrics derived by normalizing quality and/or productivity measures by considering the size of the software that has been produced.</a:t>
            </a:r>
            <a:endParaRPr b="0" i="0" sz="2400" u="none" cap="none" strike="noStrike">
              <a:solidFill>
                <a:schemeClr val="dk1"/>
              </a:solidFill>
              <a:latin typeface="Calibri"/>
              <a:ea typeface="Calibri"/>
              <a:cs typeface="Calibri"/>
              <a:sym typeface="Calibri"/>
            </a:endParaRPr>
          </a:p>
          <a:p>
            <a:pPr indent="-152400" lvl="0" marL="128270" marR="0" rtl="0" algn="l">
              <a:lnSpc>
                <a:spcPct val="100000"/>
              </a:lnSpc>
              <a:spcBef>
                <a:spcPts val="665"/>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 set of simple size-oriented metrics can be developed for each project:</a:t>
            </a:r>
            <a:endParaRPr b="0" i="0" sz="2400" u="none" cap="none" strike="noStrike">
              <a:solidFill>
                <a:schemeClr val="dk1"/>
              </a:solidFill>
              <a:latin typeface="Calibri"/>
              <a:ea typeface="Calibri"/>
              <a:cs typeface="Calibri"/>
              <a:sym typeface="Calibri"/>
            </a:endParaRPr>
          </a:p>
          <a:p>
            <a:pPr indent="-213994" lvl="1" marL="671195" marR="0" rtl="0" algn="l">
              <a:lnSpc>
                <a:spcPct val="100000"/>
              </a:lnSpc>
              <a:spcBef>
                <a:spcPts val="234"/>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Errors per KLOC (thousand lines of code).</a:t>
            </a:r>
            <a:endParaRPr b="0" i="0" sz="2400" u="none" cap="none" strike="noStrike">
              <a:solidFill>
                <a:schemeClr val="dk1"/>
              </a:solidFill>
              <a:latin typeface="Calibri"/>
              <a:ea typeface="Calibri"/>
              <a:cs typeface="Calibri"/>
              <a:sym typeface="Calibri"/>
            </a:endParaRPr>
          </a:p>
          <a:p>
            <a:pPr indent="-213994" lvl="1" marL="671195" marR="0" rtl="0" algn="l">
              <a:lnSpc>
                <a:spcPct val="100000"/>
              </a:lnSpc>
              <a:spcBef>
                <a:spcPts val="24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Defects per KLOC.</a:t>
            </a:r>
            <a:endParaRPr b="0" i="0" sz="2400" u="none" cap="none" strike="noStrike">
              <a:solidFill>
                <a:schemeClr val="dk1"/>
              </a:solidFill>
              <a:latin typeface="Calibri"/>
              <a:ea typeface="Calibri"/>
              <a:cs typeface="Calibri"/>
              <a:sym typeface="Calibri"/>
            </a:endParaRPr>
          </a:p>
          <a:p>
            <a:pPr indent="-213994" lvl="1" marL="671195" marR="0" rtl="0" algn="l">
              <a:lnSpc>
                <a:spcPct val="100000"/>
              </a:lnSpc>
              <a:spcBef>
                <a:spcPts val="24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 per LOC.</a:t>
            </a:r>
            <a:endParaRPr b="0" i="0" sz="2400" u="none" cap="none" strike="noStrike">
              <a:solidFill>
                <a:schemeClr val="dk1"/>
              </a:solidFill>
              <a:latin typeface="Calibri"/>
              <a:ea typeface="Calibri"/>
              <a:cs typeface="Calibri"/>
              <a:sym typeface="Calibri"/>
            </a:endParaRPr>
          </a:p>
          <a:p>
            <a:pPr indent="-213994" lvl="1" marL="671195" marR="0" rtl="0" algn="l">
              <a:lnSpc>
                <a:spcPct val="100000"/>
              </a:lnSpc>
              <a:spcBef>
                <a:spcPts val="229"/>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Page of documentation per KLOC.</a:t>
            </a:r>
            <a:endParaRPr b="0" i="0" sz="2400" u="none" cap="none" strike="noStrike">
              <a:solidFill>
                <a:schemeClr val="dk1"/>
              </a:solidFill>
              <a:latin typeface="Calibri"/>
              <a:ea typeface="Calibri"/>
              <a:cs typeface="Calibri"/>
              <a:sym typeface="Calibri"/>
            </a:endParaRPr>
          </a:p>
          <a:p>
            <a:pPr indent="0" lvl="0" marL="12700" marR="0" rtl="0" algn="l">
              <a:lnSpc>
                <a:spcPct val="100000"/>
              </a:lnSpc>
              <a:spcBef>
                <a:spcPts val="665"/>
              </a:spcBef>
              <a:spcAft>
                <a:spcPts val="0"/>
              </a:spcAft>
              <a:buNone/>
            </a:pPr>
            <a:r>
              <a:rPr b="0" i="0" lang="en-US" sz="2400" u="none" cap="none" strike="noStrike">
                <a:solidFill>
                  <a:schemeClr val="dk1"/>
                </a:solidFill>
                <a:latin typeface="Calibri"/>
                <a:ea typeface="Calibri"/>
                <a:cs typeface="Calibri"/>
                <a:sym typeface="Calibri"/>
              </a:rPr>
              <a:t>In addition, other interesting metrics can be computed:</a:t>
            </a:r>
            <a:endParaRPr b="0" i="0" sz="2400" u="none" cap="none" strike="noStrike">
              <a:solidFill>
                <a:schemeClr val="dk1"/>
              </a:solidFill>
              <a:latin typeface="Calibri"/>
              <a:ea typeface="Calibri"/>
              <a:cs typeface="Calibri"/>
              <a:sym typeface="Calibri"/>
            </a:endParaRPr>
          </a:p>
          <a:p>
            <a:pPr indent="-213994" lvl="1" marL="671195" marR="0" rtl="0" algn="l">
              <a:lnSpc>
                <a:spcPct val="100000"/>
              </a:lnSpc>
              <a:spcBef>
                <a:spcPts val="26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Errors per person-month.</a:t>
            </a:r>
            <a:endParaRPr b="0" i="0" sz="2400" u="none" cap="none" strike="noStrike">
              <a:solidFill>
                <a:schemeClr val="dk1"/>
              </a:solidFill>
              <a:latin typeface="Calibri"/>
              <a:ea typeface="Calibri"/>
              <a:cs typeface="Calibri"/>
              <a:sym typeface="Calibri"/>
            </a:endParaRPr>
          </a:p>
          <a:p>
            <a:pPr indent="-213994" lvl="1" marL="671195" marR="0" rtl="0" algn="l">
              <a:lnSpc>
                <a:spcPct val="100000"/>
              </a:lnSpc>
              <a:spcBef>
                <a:spcPts val="24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LOC per person-month.</a:t>
            </a:r>
            <a:endParaRPr b="0" i="0" sz="2400" u="none" cap="none" strike="noStrike">
              <a:solidFill>
                <a:schemeClr val="dk1"/>
              </a:solidFill>
              <a:latin typeface="Calibri"/>
              <a:ea typeface="Calibri"/>
              <a:cs typeface="Calibri"/>
              <a:sym typeface="Calibri"/>
            </a:endParaRPr>
          </a:p>
          <a:p>
            <a:pPr indent="-213994" lvl="1" marL="671195" marR="0" rtl="0" algn="l">
              <a:lnSpc>
                <a:spcPct val="100000"/>
              </a:lnSpc>
              <a:spcBef>
                <a:spcPts val="25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 per page of documentation.</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LOC</a:t>
            </a:r>
            <a:endParaRPr/>
          </a:p>
        </p:txBody>
      </p:sp>
      <p:sp>
        <p:nvSpPr>
          <p:cNvPr id="143" name="Google Shape;143;p9"/>
          <p:cNvSpPr txBox="1"/>
          <p:nvPr>
            <p:ph idx="1" type="body"/>
          </p:nvPr>
        </p:nvSpPr>
        <p:spPr>
          <a:xfrm>
            <a:off x="539552" y="1196752"/>
            <a:ext cx="8147248" cy="4929411"/>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lang="en-US"/>
              <a:t>A </a:t>
            </a:r>
            <a:r>
              <a:rPr b="1" lang="en-US"/>
              <a:t>line of code (LOC)</a:t>
            </a:r>
            <a:r>
              <a:rPr lang="en-US"/>
              <a:t> is any line of text in a code that is not a comment or blank line.</a:t>
            </a:r>
            <a:endParaRPr/>
          </a:p>
          <a:p>
            <a:pPr indent="-342900" lvl="0" marL="342900" rtl="0" algn="l">
              <a:spcBef>
                <a:spcPts val="496"/>
              </a:spcBef>
              <a:spcAft>
                <a:spcPts val="0"/>
              </a:spcAft>
              <a:buClr>
                <a:schemeClr val="dk1"/>
              </a:buClr>
              <a:buSzPct val="100000"/>
              <a:buChar char="•"/>
            </a:pPr>
            <a:r>
              <a:rPr b="1" lang="en-US"/>
              <a:t>Size Estimation</a:t>
            </a:r>
            <a:endParaRPr/>
          </a:p>
          <a:p>
            <a:pPr indent="-342900" lvl="0" marL="342900" rtl="0" algn="l">
              <a:spcBef>
                <a:spcPts val="496"/>
              </a:spcBef>
              <a:spcAft>
                <a:spcPts val="0"/>
              </a:spcAft>
              <a:buClr>
                <a:schemeClr val="dk1"/>
              </a:buClr>
              <a:buSzPct val="100000"/>
              <a:buChar char="•"/>
            </a:pPr>
            <a:r>
              <a:rPr lang="en-US"/>
              <a:t>Depends on programming language.</a:t>
            </a:r>
            <a:endParaRPr/>
          </a:p>
          <a:p>
            <a:pPr indent="-342900" lvl="0" marL="342900" rtl="0" algn="l">
              <a:spcBef>
                <a:spcPts val="496"/>
              </a:spcBef>
              <a:spcAft>
                <a:spcPts val="0"/>
              </a:spcAft>
              <a:buClr>
                <a:schemeClr val="dk1"/>
              </a:buClr>
              <a:buSzPct val="100000"/>
              <a:buChar char="•"/>
            </a:pPr>
            <a:r>
              <a:rPr b="1" lang="en-US"/>
              <a:t>Example:</a:t>
            </a:r>
            <a:endParaRPr/>
          </a:p>
          <a:p>
            <a:pPr indent="0" lvl="1" marL="457200" rtl="0" algn="l">
              <a:spcBef>
                <a:spcPts val="434"/>
              </a:spcBef>
              <a:spcAft>
                <a:spcPts val="0"/>
              </a:spcAft>
              <a:buClr>
                <a:schemeClr val="dk1"/>
              </a:buClr>
              <a:buSzPct val="100000"/>
              <a:buNone/>
            </a:pPr>
            <a:r>
              <a:rPr lang="en-US"/>
              <a:t>Void main() {</a:t>
            </a:r>
            <a:endParaRPr/>
          </a:p>
          <a:p>
            <a:pPr indent="0" lvl="1" marL="457200" rtl="0" algn="l">
              <a:spcBef>
                <a:spcPts val="434"/>
              </a:spcBef>
              <a:spcAft>
                <a:spcPts val="0"/>
              </a:spcAft>
              <a:buClr>
                <a:schemeClr val="dk1"/>
              </a:buClr>
              <a:buSzPct val="100000"/>
              <a:buNone/>
            </a:pPr>
            <a:r>
              <a:rPr i="1" lang="en-US"/>
              <a:t>//print 1 to 10 no.s </a:t>
            </a:r>
            <a:endParaRPr i="1"/>
          </a:p>
          <a:p>
            <a:pPr indent="0" lvl="1" marL="457200" rtl="0" algn="l">
              <a:spcBef>
                <a:spcPts val="434"/>
              </a:spcBef>
              <a:spcAft>
                <a:spcPts val="0"/>
              </a:spcAft>
              <a:buClr>
                <a:schemeClr val="dk1"/>
              </a:buClr>
              <a:buSzPct val="100000"/>
              <a:buNone/>
            </a:pPr>
            <a:r>
              <a:rPr i="1" lang="en-US"/>
              <a:t>int I;</a:t>
            </a:r>
            <a:endParaRPr i="1"/>
          </a:p>
          <a:p>
            <a:pPr indent="0" lvl="1" marL="457200" rtl="0" algn="l">
              <a:spcBef>
                <a:spcPts val="434"/>
              </a:spcBef>
              <a:spcAft>
                <a:spcPts val="0"/>
              </a:spcAft>
              <a:buClr>
                <a:schemeClr val="dk1"/>
              </a:buClr>
              <a:buSzPct val="100000"/>
              <a:buNone/>
            </a:pPr>
            <a:r>
              <a:rPr b="1" lang="en-US"/>
              <a:t>for</a:t>
            </a:r>
            <a:r>
              <a:rPr lang="en-US"/>
              <a:t> (i = 1; i &lt;= 10; i++) </a:t>
            </a:r>
            <a:endParaRPr/>
          </a:p>
          <a:p>
            <a:pPr indent="0" lvl="1" marL="457200" rtl="0" algn="l">
              <a:spcBef>
                <a:spcPts val="434"/>
              </a:spcBef>
              <a:spcAft>
                <a:spcPts val="0"/>
              </a:spcAft>
              <a:buClr>
                <a:schemeClr val="dk1"/>
              </a:buClr>
              <a:buSzPct val="100000"/>
              <a:buNone/>
            </a:pPr>
            <a:r>
              <a:rPr lang="en-US"/>
              <a:t>{ </a:t>
            </a:r>
            <a:endParaRPr/>
          </a:p>
          <a:p>
            <a:pPr indent="0" lvl="1" marL="457200" rtl="0" algn="l">
              <a:spcBef>
                <a:spcPts val="434"/>
              </a:spcBef>
              <a:spcAft>
                <a:spcPts val="0"/>
              </a:spcAft>
              <a:buClr>
                <a:schemeClr val="dk1"/>
              </a:buClr>
              <a:buSzPct val="100000"/>
              <a:buNone/>
            </a:pPr>
            <a:r>
              <a:rPr lang="en-US"/>
              <a:t>   printf(i); //print value of i</a:t>
            </a:r>
            <a:endParaRPr/>
          </a:p>
          <a:p>
            <a:pPr indent="0" lvl="1" marL="457200" rtl="0" algn="l">
              <a:spcBef>
                <a:spcPts val="434"/>
              </a:spcBef>
              <a:spcAft>
                <a:spcPts val="0"/>
              </a:spcAft>
              <a:buClr>
                <a:schemeClr val="dk1"/>
              </a:buClr>
              <a:buSzPct val="100000"/>
              <a:buNone/>
            </a:pPr>
            <a:r>
              <a:rPr lang="en-US"/>
              <a:t>}</a:t>
            </a:r>
            <a:endParaRPr/>
          </a:p>
          <a:p>
            <a:pPr indent="-342900" lvl="0" marL="342900" rtl="0" algn="l">
              <a:spcBef>
                <a:spcPts val="496"/>
              </a:spcBef>
              <a:spcAft>
                <a:spcPts val="0"/>
              </a:spcAft>
              <a:buClr>
                <a:schemeClr val="dk1"/>
              </a:buClr>
              <a:buSzPct val="100000"/>
              <a:buChar char="•"/>
            </a:pPr>
            <a:r>
              <a:rPr lang="en-US"/>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0"/>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149" name="Google Shape;149;p10"/>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150495" rtl="0" algn="r">
              <a:lnSpc>
                <a:spcPct val="155333"/>
              </a:lnSpc>
              <a:spcBef>
                <a:spcPts val="0"/>
              </a:spcBef>
              <a:spcAft>
                <a:spcPts val="0"/>
              </a:spcAft>
              <a:buNone/>
            </a:pPr>
            <a:fld id="{00000000-1234-1234-1234-123412341234}" type="slidenum">
              <a:rPr lang="en-US"/>
              <a:t>‹#›</a:t>
            </a:fld>
            <a:endParaRPr/>
          </a:p>
        </p:txBody>
      </p:sp>
      <p:sp>
        <p:nvSpPr>
          <p:cNvPr id="150" name="Google Shape;150;p10"/>
          <p:cNvSpPr txBox="1"/>
          <p:nvPr>
            <p:ph type="title"/>
          </p:nvPr>
        </p:nvSpPr>
        <p:spPr>
          <a:xfrm>
            <a:off x="423186" y="260648"/>
            <a:ext cx="8229600" cy="689291"/>
          </a:xfrm>
          <a:prstGeom prst="rect">
            <a:avLst/>
          </a:prstGeom>
          <a:noFill/>
          <a:ln>
            <a:noFill/>
          </a:ln>
        </p:spPr>
        <p:txBody>
          <a:bodyPr anchorCtr="0" anchor="ctr" bIns="0" lIns="0" spcFirstLastPara="1" rIns="0" wrap="square" tIns="12050">
            <a:spAutoFit/>
          </a:bodyPr>
          <a:lstStyle/>
          <a:p>
            <a:pPr indent="0" lvl="0" marL="3449954" rtl="0" algn="ctr">
              <a:lnSpc>
                <a:spcPct val="100000"/>
              </a:lnSpc>
              <a:spcBef>
                <a:spcPts val="0"/>
              </a:spcBef>
              <a:spcAft>
                <a:spcPts val="0"/>
              </a:spcAft>
              <a:buClr>
                <a:srgbClr val="0A5293"/>
              </a:buClr>
              <a:buSzPts val="4400"/>
              <a:buFont typeface="Arial"/>
              <a:buNone/>
            </a:pPr>
            <a:r>
              <a:rPr b="1" lang="en-US">
                <a:solidFill>
                  <a:srgbClr val="0A5293"/>
                </a:solidFill>
                <a:latin typeface="Arial"/>
                <a:ea typeface="Arial"/>
                <a:cs typeface="Arial"/>
                <a:sym typeface="Arial"/>
              </a:rPr>
              <a:t>Product </a:t>
            </a:r>
            <a:r>
              <a:rPr lang="en-US"/>
              <a:t>Metrics</a:t>
            </a:r>
            <a:endParaRPr/>
          </a:p>
        </p:txBody>
      </p:sp>
      <p:sp>
        <p:nvSpPr>
          <p:cNvPr id="151" name="Google Shape;151;p10"/>
          <p:cNvSpPr txBox="1"/>
          <p:nvPr/>
        </p:nvSpPr>
        <p:spPr>
          <a:xfrm>
            <a:off x="323529" y="980728"/>
            <a:ext cx="8640960" cy="5768246"/>
          </a:xfrm>
          <a:prstGeom prst="rect">
            <a:avLst/>
          </a:prstGeom>
          <a:noFill/>
          <a:ln>
            <a:noFill/>
          </a:ln>
        </p:spPr>
        <p:txBody>
          <a:bodyPr anchorCtr="0" anchor="t" bIns="0" lIns="0" spcFirstLastPara="1" rIns="0" wrap="square" tIns="91425">
            <a:spAutoFit/>
          </a:bodyPr>
          <a:lstStyle/>
          <a:p>
            <a:pPr indent="-330200" lvl="0" marL="342900" marR="0" rtl="0" algn="l">
              <a:lnSpc>
                <a:spcPct val="100000"/>
              </a:lnSpc>
              <a:spcBef>
                <a:spcPts val="0"/>
              </a:spcBef>
              <a:spcAft>
                <a:spcPts val="0"/>
              </a:spcAft>
              <a:buClr>
                <a:srgbClr val="0A5293"/>
              </a:buClr>
              <a:buSzPts val="2400"/>
              <a:buFont typeface="Times New Roman"/>
              <a:buAutoNum type="arabicPeriod" startAt="2"/>
            </a:pPr>
            <a:r>
              <a:rPr b="1" i="0" lang="en-US" sz="2400" u="none" cap="none" strike="noStrike">
                <a:solidFill>
                  <a:srgbClr val="0A5293"/>
                </a:solidFill>
                <a:latin typeface="Times New Roman"/>
                <a:ea typeface="Times New Roman"/>
                <a:cs typeface="Times New Roman"/>
                <a:sym typeface="Times New Roman"/>
              </a:rPr>
              <a:t>Function-oriented Metrics</a:t>
            </a:r>
            <a:endParaRPr b="0" i="0" sz="2400" u="none" cap="none" strike="noStrike">
              <a:solidFill>
                <a:schemeClr val="dk1"/>
              </a:solidFill>
              <a:latin typeface="Times New Roman"/>
              <a:ea typeface="Times New Roman"/>
              <a:cs typeface="Times New Roman"/>
              <a:sym typeface="Times New Roman"/>
            </a:endParaRPr>
          </a:p>
          <a:p>
            <a:pPr indent="-146537" lvl="1" marL="12700" marR="1393825" rtl="0" algn="l">
              <a:lnSpc>
                <a:spcPct val="116666"/>
              </a:lnSpc>
              <a:spcBef>
                <a:spcPts val="985"/>
              </a:spcBef>
              <a:spcAft>
                <a:spcPts val="0"/>
              </a:spcAft>
              <a:buClr>
                <a:schemeClr val="dk1"/>
              </a:buClr>
              <a:buSzPts val="2308"/>
              <a:buFont typeface="Arial"/>
              <a:buChar char="•"/>
            </a:pPr>
            <a:r>
              <a:rPr b="0" i="0" lang="en-US" sz="2400" u="none" cap="none" strike="noStrike">
                <a:solidFill>
                  <a:schemeClr val="dk1"/>
                </a:solidFill>
                <a:latin typeface="Calibri"/>
                <a:ea typeface="Calibri"/>
                <a:cs typeface="Calibri"/>
                <a:sym typeface="Calibri"/>
              </a:rPr>
              <a:t>	software metrics use a measure of the functionality delivered by the application</a:t>
            </a:r>
            <a:endParaRPr b="0" i="0" sz="2400" u="none" cap="none" strike="noStrike">
              <a:solidFill>
                <a:schemeClr val="dk1"/>
              </a:solidFill>
              <a:latin typeface="Calibri"/>
              <a:ea typeface="Calibri"/>
              <a:cs typeface="Calibri"/>
              <a:sym typeface="Calibri"/>
            </a:endParaRPr>
          </a:p>
          <a:p>
            <a:pPr indent="-146537" lvl="1" marL="128270" marR="0" rtl="0" algn="l">
              <a:lnSpc>
                <a:spcPct val="100000"/>
              </a:lnSpc>
              <a:spcBef>
                <a:spcPts val="670"/>
              </a:spcBef>
              <a:spcAft>
                <a:spcPts val="0"/>
              </a:spcAft>
              <a:buClr>
                <a:schemeClr val="dk1"/>
              </a:buClr>
              <a:buSzPts val="2308"/>
              <a:buFont typeface="Arial"/>
              <a:buChar char="•"/>
            </a:pPr>
            <a:r>
              <a:rPr b="0" i="0" lang="en-US" sz="2400" u="none" cap="none" strike="noStrike">
                <a:solidFill>
                  <a:schemeClr val="dk1"/>
                </a:solidFill>
                <a:latin typeface="Calibri"/>
                <a:ea typeface="Calibri"/>
                <a:cs typeface="Calibri"/>
                <a:sym typeface="Calibri"/>
              </a:rPr>
              <a:t>Function points derived from direct measures of the information domain.</a:t>
            </a:r>
            <a:endParaRPr b="0" i="0" sz="2400" u="none" cap="none" strike="noStrike">
              <a:solidFill>
                <a:schemeClr val="dk1"/>
              </a:solidFill>
              <a:latin typeface="Calibri"/>
              <a:ea typeface="Calibri"/>
              <a:cs typeface="Calibri"/>
              <a:sym typeface="Calibri"/>
            </a:endParaRPr>
          </a:p>
          <a:p>
            <a:pPr indent="-203199" lvl="0" marL="213359" marR="0" rtl="0" algn="l">
              <a:lnSpc>
                <a:spcPct val="100000"/>
              </a:lnSpc>
              <a:spcBef>
                <a:spcPts val="805"/>
              </a:spcBef>
              <a:spcAft>
                <a:spcPts val="0"/>
              </a:spcAft>
              <a:buClr>
                <a:srgbClr val="000000"/>
              </a:buClr>
              <a:buSzPts val="1705"/>
              <a:buFont typeface="Arial"/>
              <a:buAutoNum type="arabicPeriod"/>
            </a:pPr>
            <a:r>
              <a:rPr b="1" i="0" lang="en-US" sz="1800" u="none" cap="none" strike="noStrike">
                <a:solidFill>
                  <a:srgbClr val="4471C4"/>
                </a:solidFill>
                <a:latin typeface="Calibri"/>
                <a:ea typeface="Calibri"/>
                <a:cs typeface="Calibri"/>
                <a:sym typeface="Calibri"/>
              </a:rPr>
              <a:t>Number of user inputs</a:t>
            </a:r>
            <a:r>
              <a:rPr b="1" i="0" lang="en-US" sz="1800" u="none" cap="none" strike="noStrike">
                <a:solidFill>
                  <a:schemeClr val="dk1"/>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Each user input that provides distinct application oriented data to the software</a:t>
            </a:r>
            <a:endParaRPr b="0" i="0" sz="1800" u="none" cap="none" strike="noStrike">
              <a:solidFill>
                <a:schemeClr val="dk1"/>
              </a:solidFill>
              <a:latin typeface="Calibri"/>
              <a:ea typeface="Calibri"/>
              <a:cs typeface="Calibri"/>
              <a:sym typeface="Calibri"/>
            </a:endParaRPr>
          </a:p>
          <a:p>
            <a:pPr indent="-108283" lvl="0" marL="12700" marR="340360" rtl="0" algn="l">
              <a:lnSpc>
                <a:spcPct val="113277"/>
              </a:lnSpc>
              <a:spcBef>
                <a:spcPts val="1035"/>
              </a:spcBef>
              <a:spcAft>
                <a:spcPts val="0"/>
              </a:spcAft>
              <a:buClr>
                <a:srgbClr val="000000"/>
              </a:buClr>
              <a:buSzPts val="1705"/>
              <a:buFont typeface="Arial"/>
              <a:buAutoNum type="arabicPeriod"/>
            </a:pPr>
            <a:r>
              <a:rPr b="1" i="0" lang="en-US" sz="1800" u="none" cap="none" strike="noStrike">
                <a:solidFill>
                  <a:srgbClr val="4471C4"/>
                </a:solidFill>
                <a:latin typeface="Calibri"/>
                <a:ea typeface="Calibri"/>
                <a:cs typeface="Calibri"/>
                <a:sym typeface="Calibri"/>
              </a:rPr>
              <a:t>	Number of user outputs</a:t>
            </a:r>
            <a:r>
              <a:rPr b="0" i="0" lang="en-US" sz="1800" u="none" cap="none" strike="noStrike">
                <a:solidFill>
                  <a:schemeClr val="dk1"/>
                </a:solidFill>
                <a:latin typeface="Calibri"/>
                <a:ea typeface="Calibri"/>
                <a:cs typeface="Calibri"/>
                <a:sym typeface="Calibri"/>
              </a:rPr>
              <a:t>. Each user output that provides application oriented information to the user is counted. In this context output refers to reports, screens, error messages, etc.</a:t>
            </a:r>
            <a:endParaRPr b="0" i="0" sz="1800" u="none" cap="none" strike="noStrike">
              <a:solidFill>
                <a:schemeClr val="dk1"/>
              </a:solidFill>
              <a:latin typeface="Calibri"/>
              <a:ea typeface="Calibri"/>
              <a:cs typeface="Calibri"/>
              <a:sym typeface="Calibri"/>
            </a:endParaRPr>
          </a:p>
          <a:p>
            <a:pPr indent="-108283" lvl="0" marL="12700" marR="417830" rtl="0" algn="l">
              <a:lnSpc>
                <a:spcPct val="120000"/>
              </a:lnSpc>
              <a:spcBef>
                <a:spcPts val="1000"/>
              </a:spcBef>
              <a:spcAft>
                <a:spcPts val="0"/>
              </a:spcAft>
              <a:buClr>
                <a:srgbClr val="000000"/>
              </a:buClr>
              <a:buSzPts val="1705"/>
              <a:buFont typeface="Arial"/>
              <a:buAutoNum type="arabicPeriod"/>
            </a:pPr>
            <a:r>
              <a:rPr b="1" i="0" lang="en-US" sz="1800" u="none" cap="none" strike="noStrike">
                <a:solidFill>
                  <a:srgbClr val="4471C4"/>
                </a:solidFill>
                <a:latin typeface="Calibri"/>
                <a:ea typeface="Calibri"/>
                <a:cs typeface="Calibri"/>
                <a:sym typeface="Calibri"/>
              </a:rPr>
              <a:t>	Number of user inquiries. </a:t>
            </a:r>
            <a:r>
              <a:rPr b="0" i="0" lang="en-US" sz="1800" u="none" cap="none" strike="noStrike">
                <a:solidFill>
                  <a:schemeClr val="dk1"/>
                </a:solidFill>
                <a:latin typeface="Calibri"/>
                <a:ea typeface="Calibri"/>
                <a:cs typeface="Calibri"/>
                <a:sym typeface="Calibri"/>
              </a:rPr>
              <a:t>An inquiry is defined as an on-line input that results in the generation of some immediate software response in the form of an on-line output.</a:t>
            </a:r>
            <a:endParaRPr b="0" i="0" sz="1800" u="none" cap="none" strike="noStrike">
              <a:solidFill>
                <a:schemeClr val="dk1"/>
              </a:solidFill>
              <a:latin typeface="Calibri"/>
              <a:ea typeface="Calibri"/>
              <a:cs typeface="Calibri"/>
              <a:sym typeface="Calibri"/>
            </a:endParaRPr>
          </a:p>
          <a:p>
            <a:pPr indent="-108283" lvl="0" marL="12700" marR="5080" rtl="0" algn="l">
              <a:lnSpc>
                <a:spcPct val="120000"/>
              </a:lnSpc>
              <a:spcBef>
                <a:spcPts val="994"/>
              </a:spcBef>
              <a:spcAft>
                <a:spcPts val="0"/>
              </a:spcAft>
              <a:buClr>
                <a:srgbClr val="000000"/>
              </a:buClr>
              <a:buSzPts val="1705"/>
              <a:buFont typeface="Arial"/>
              <a:buAutoNum type="arabicPeriod"/>
            </a:pPr>
            <a:r>
              <a:rPr b="1" i="0" lang="en-US" sz="1800" u="none" cap="none" strike="noStrike">
                <a:solidFill>
                  <a:srgbClr val="4471C4"/>
                </a:solidFill>
                <a:latin typeface="Calibri"/>
                <a:ea typeface="Calibri"/>
                <a:cs typeface="Calibri"/>
                <a:sym typeface="Calibri"/>
              </a:rPr>
              <a:t>	Number of files</a:t>
            </a:r>
            <a:r>
              <a:rPr b="0" i="0" lang="en-US" sz="1800" u="none" cap="none" strike="noStrike">
                <a:solidFill>
                  <a:schemeClr val="dk1"/>
                </a:solidFill>
                <a:latin typeface="Calibri"/>
                <a:ea typeface="Calibri"/>
                <a:cs typeface="Calibri"/>
                <a:sym typeface="Calibri"/>
              </a:rPr>
              <a:t>. Each logical master file (i.e., a logical grouping of data that may be one part of a large database or a separate file) is counted.</a:t>
            </a:r>
            <a:endParaRPr b="0" i="0" sz="1800" u="none" cap="none" strike="noStrike">
              <a:solidFill>
                <a:schemeClr val="dk1"/>
              </a:solidFill>
              <a:latin typeface="Calibri"/>
              <a:ea typeface="Calibri"/>
              <a:cs typeface="Calibri"/>
              <a:sym typeface="Calibri"/>
            </a:endParaRPr>
          </a:p>
          <a:p>
            <a:pPr indent="-108283" lvl="0" marL="12700" marR="74930" rtl="0" algn="l">
              <a:lnSpc>
                <a:spcPct val="120555"/>
              </a:lnSpc>
              <a:spcBef>
                <a:spcPts val="1005"/>
              </a:spcBef>
              <a:spcAft>
                <a:spcPts val="0"/>
              </a:spcAft>
              <a:buClr>
                <a:srgbClr val="000000"/>
              </a:buClr>
              <a:buSzPts val="1705"/>
              <a:buFont typeface="Arial"/>
              <a:buAutoNum type="arabicPeriod"/>
            </a:pPr>
            <a:r>
              <a:rPr b="1" i="0" lang="en-US" sz="1800" u="none" cap="none" strike="noStrike">
                <a:solidFill>
                  <a:srgbClr val="4471C4"/>
                </a:solidFill>
                <a:latin typeface="Calibri"/>
                <a:ea typeface="Calibri"/>
                <a:cs typeface="Calibri"/>
                <a:sym typeface="Calibri"/>
              </a:rPr>
              <a:t>	Number of external interfaces</a:t>
            </a:r>
            <a:r>
              <a:rPr b="0" i="0" lang="en-US" sz="1800" u="none" cap="none" strike="noStrike">
                <a:solidFill>
                  <a:schemeClr val="dk1"/>
                </a:solidFill>
                <a:latin typeface="Calibri"/>
                <a:ea typeface="Calibri"/>
                <a:cs typeface="Calibri"/>
                <a:sym typeface="Calibri"/>
              </a:rPr>
              <a:t>. All machine readable interfaces (e.g., data files on storage media) that are used to transmit information to another system are counted.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1"/>
          <p:cNvSpPr txBox="1"/>
          <p:nvPr>
            <p:ph type="title"/>
          </p:nvPr>
        </p:nvSpPr>
        <p:spPr>
          <a:xfrm>
            <a:off x="539552" y="274638"/>
            <a:ext cx="8147248"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FP (Function Point) </a:t>
            </a:r>
            <a:endParaRPr/>
          </a:p>
        </p:txBody>
      </p:sp>
      <p:sp>
        <p:nvSpPr>
          <p:cNvPr id="157" name="Google Shape;157;p11"/>
          <p:cNvSpPr txBox="1"/>
          <p:nvPr>
            <p:ph idx="1" type="body"/>
          </p:nvPr>
        </p:nvSpPr>
        <p:spPr>
          <a:xfrm>
            <a:off x="467544" y="980728"/>
            <a:ext cx="8229600" cy="481399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Char char="•"/>
            </a:pPr>
            <a:r>
              <a:rPr lang="en-US" sz="2000"/>
              <a:t>Functional Point Analysis (FPA):</a:t>
            </a:r>
            <a:endParaRPr/>
          </a:p>
          <a:p>
            <a:pPr indent="-342900" lvl="0" marL="342900" rtl="0" algn="l">
              <a:spcBef>
                <a:spcPts val="400"/>
              </a:spcBef>
              <a:spcAft>
                <a:spcPts val="0"/>
              </a:spcAft>
              <a:buClr>
                <a:schemeClr val="dk1"/>
              </a:buClr>
              <a:buSzPts val="2000"/>
              <a:buChar char="•"/>
            </a:pPr>
            <a:r>
              <a:rPr lang="en-US" sz="2000"/>
              <a:t>It is a software measurement technique used to assess the </a:t>
            </a:r>
            <a:r>
              <a:rPr b="1" lang="en-US" sz="2000"/>
              <a:t>size and complexity of a software </a:t>
            </a:r>
            <a:r>
              <a:rPr lang="en-US" sz="2000"/>
              <a:t>system based on its functionality.</a:t>
            </a:r>
            <a:endParaRPr/>
          </a:p>
          <a:p>
            <a:pPr indent="-342900" lvl="0" marL="342900" rtl="0" algn="l">
              <a:spcBef>
                <a:spcPts val="400"/>
              </a:spcBef>
              <a:spcAft>
                <a:spcPts val="0"/>
              </a:spcAft>
              <a:buClr>
                <a:schemeClr val="dk1"/>
              </a:buClr>
              <a:buSzPts val="2000"/>
              <a:buChar char="•"/>
            </a:pPr>
            <a:r>
              <a:rPr lang="en-US" sz="2000"/>
              <a:t>It involves categorizing the functions of the software, such as input screens, output reports, inquiries, files, and interfaces, and assigning weights to each based on their complexity. </a:t>
            </a:r>
            <a:endParaRPr sz="2000"/>
          </a:p>
          <a:p>
            <a:pPr indent="-342900" lvl="0" marL="342900" rtl="0" algn="l">
              <a:spcBef>
                <a:spcPts val="400"/>
              </a:spcBef>
              <a:spcAft>
                <a:spcPts val="0"/>
              </a:spcAft>
              <a:buClr>
                <a:schemeClr val="dk1"/>
              </a:buClr>
              <a:buSzPts val="2000"/>
              <a:buChar char="•"/>
            </a:pPr>
            <a:r>
              <a:rPr lang="en-US" sz="2000"/>
              <a:t>By quantifying these functions and their associated weights, FPA provides an objective measure of the software’s size and complexity.</a:t>
            </a:r>
            <a:endParaRPr sz="2000"/>
          </a:p>
          <a:p>
            <a:pPr indent="-215900" lvl="0" marL="342900" rtl="0" algn="l">
              <a:spcBef>
                <a:spcPts val="400"/>
              </a:spcBef>
              <a:spcAft>
                <a:spcPts val="0"/>
              </a:spcAft>
              <a:buClr>
                <a:schemeClr val="dk1"/>
              </a:buClr>
              <a:buSzPts val="2000"/>
              <a:buNone/>
            </a:pPr>
            <a:r>
              <a:t/>
            </a:r>
            <a:endParaRPr sz="2000"/>
          </a:p>
        </p:txBody>
      </p:sp>
      <p:pic>
        <p:nvPicPr>
          <p:cNvPr id="158" name="Google Shape;158;p11"/>
          <p:cNvPicPr preferRelativeResize="0"/>
          <p:nvPr/>
        </p:nvPicPr>
        <p:blipFill rotWithShape="1">
          <a:blip r:embed="rId3">
            <a:alphaModFix/>
          </a:blip>
          <a:srcRect b="0" l="0" r="0" t="0"/>
          <a:stretch/>
        </p:blipFill>
        <p:spPr>
          <a:xfrm>
            <a:off x="1979712" y="3861048"/>
            <a:ext cx="4442156" cy="213630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2"/>
          <p:cNvSpPr txBox="1"/>
          <p:nvPr>
            <p:ph idx="1" type="body"/>
          </p:nvPr>
        </p:nvSpPr>
        <p:spPr>
          <a:xfrm>
            <a:off x="179512" y="188640"/>
            <a:ext cx="8712968" cy="619268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800"/>
              <a:buChar char="•"/>
            </a:pPr>
            <a:r>
              <a:rPr b="1" lang="en-US" sz="1800"/>
              <a:t>EI: </a:t>
            </a:r>
            <a:r>
              <a:rPr lang="en-US" sz="1800"/>
              <a:t>These are user inputs that update internal logical files.</a:t>
            </a:r>
            <a:endParaRPr/>
          </a:p>
          <a:p>
            <a:pPr indent="-285750" lvl="1" marL="742950" rtl="0" algn="l">
              <a:spcBef>
                <a:spcPts val="360"/>
              </a:spcBef>
              <a:spcAft>
                <a:spcPts val="0"/>
              </a:spcAft>
              <a:buClr>
                <a:schemeClr val="dk1"/>
              </a:buClr>
              <a:buSzPts val="1800"/>
              <a:buChar char="–"/>
            </a:pPr>
            <a:r>
              <a:rPr b="1" lang="en-US" sz="1800"/>
              <a:t>Example:</a:t>
            </a:r>
            <a:r>
              <a:rPr lang="en-US" sz="1800"/>
              <a:t> A form on a website where users enter their contact details (name, email, phone number) to sign up for a newsletter.</a:t>
            </a:r>
            <a:endParaRPr/>
          </a:p>
          <a:p>
            <a:pPr indent="-228600" lvl="0" marL="342900" rtl="0" algn="l">
              <a:spcBef>
                <a:spcPts val="360"/>
              </a:spcBef>
              <a:spcAft>
                <a:spcPts val="0"/>
              </a:spcAft>
              <a:buClr>
                <a:schemeClr val="dk1"/>
              </a:buClr>
              <a:buSzPts val="1800"/>
              <a:buNone/>
            </a:pPr>
            <a:r>
              <a:t/>
            </a:r>
            <a:endParaRPr b="1" sz="1800"/>
          </a:p>
          <a:p>
            <a:pPr indent="-342900" lvl="0" marL="342900" rtl="0" algn="l">
              <a:spcBef>
                <a:spcPts val="360"/>
              </a:spcBef>
              <a:spcAft>
                <a:spcPts val="0"/>
              </a:spcAft>
              <a:buClr>
                <a:schemeClr val="dk1"/>
              </a:buClr>
              <a:buSzPts val="1800"/>
              <a:buChar char="•"/>
            </a:pPr>
            <a:r>
              <a:rPr b="1" lang="en-US" sz="1800"/>
              <a:t>EO:</a:t>
            </a:r>
            <a:r>
              <a:rPr lang="en-US" sz="1800"/>
              <a:t>These are user outputs that provide data derived from internal logical files or from external interface files.</a:t>
            </a:r>
            <a:endParaRPr/>
          </a:p>
          <a:p>
            <a:pPr indent="-285750" lvl="1" marL="742950" rtl="0" algn="l">
              <a:spcBef>
                <a:spcPts val="360"/>
              </a:spcBef>
              <a:spcAft>
                <a:spcPts val="0"/>
              </a:spcAft>
              <a:buClr>
                <a:schemeClr val="dk1"/>
              </a:buClr>
              <a:buSzPts val="1800"/>
              <a:buChar char="–"/>
            </a:pPr>
            <a:r>
              <a:rPr b="1" lang="en-US" sz="1800"/>
              <a:t>Example:</a:t>
            </a:r>
            <a:r>
              <a:rPr lang="en-US" sz="1800"/>
              <a:t> A report generated by a software system that displays sales statistics for a given period.</a:t>
            </a:r>
            <a:endParaRPr/>
          </a:p>
          <a:p>
            <a:pPr indent="-228600" lvl="0" marL="342900" rtl="0" algn="l">
              <a:spcBef>
                <a:spcPts val="360"/>
              </a:spcBef>
              <a:spcAft>
                <a:spcPts val="0"/>
              </a:spcAft>
              <a:buClr>
                <a:schemeClr val="dk1"/>
              </a:buClr>
              <a:buSzPts val="1800"/>
              <a:buNone/>
            </a:pPr>
            <a:r>
              <a:t/>
            </a:r>
            <a:endParaRPr b="1" sz="1800"/>
          </a:p>
          <a:p>
            <a:pPr indent="-342900" lvl="0" marL="342900" rtl="0" algn="l">
              <a:spcBef>
                <a:spcPts val="360"/>
              </a:spcBef>
              <a:spcAft>
                <a:spcPts val="0"/>
              </a:spcAft>
              <a:buClr>
                <a:schemeClr val="dk1"/>
              </a:buClr>
              <a:buSzPts val="1800"/>
              <a:buChar char="•"/>
            </a:pPr>
            <a:r>
              <a:rPr b="1" lang="en-US" sz="1800"/>
              <a:t>EQ: </a:t>
            </a:r>
            <a:r>
              <a:rPr lang="en-US" sz="1800"/>
              <a:t>These involve inputs that result in the generation of immediate output.</a:t>
            </a:r>
            <a:endParaRPr/>
          </a:p>
          <a:p>
            <a:pPr indent="-285750" lvl="1" marL="742950" rtl="0" algn="l">
              <a:spcBef>
                <a:spcPts val="360"/>
              </a:spcBef>
              <a:spcAft>
                <a:spcPts val="0"/>
              </a:spcAft>
              <a:buClr>
                <a:schemeClr val="dk1"/>
              </a:buClr>
              <a:buSzPts val="1800"/>
              <a:buChar char="–"/>
            </a:pPr>
            <a:r>
              <a:rPr b="1" lang="en-US" sz="1800"/>
              <a:t>Example:</a:t>
            </a:r>
            <a:r>
              <a:rPr lang="en-US" sz="1800"/>
              <a:t> A search functionality on a website where users can look up products by entering keywords and immediately seeing the search results.</a:t>
            </a:r>
            <a:endParaRPr/>
          </a:p>
          <a:p>
            <a:pPr indent="-228600" lvl="0" marL="342900" rtl="0" algn="l">
              <a:spcBef>
                <a:spcPts val="360"/>
              </a:spcBef>
              <a:spcAft>
                <a:spcPts val="0"/>
              </a:spcAft>
              <a:buClr>
                <a:schemeClr val="dk1"/>
              </a:buClr>
              <a:buSzPts val="1800"/>
              <a:buNone/>
            </a:pPr>
            <a:r>
              <a:t/>
            </a:r>
            <a:endParaRPr b="1" sz="1800"/>
          </a:p>
          <a:p>
            <a:pPr indent="-342900" lvl="0" marL="342900" rtl="0" algn="l">
              <a:spcBef>
                <a:spcPts val="360"/>
              </a:spcBef>
              <a:spcAft>
                <a:spcPts val="0"/>
              </a:spcAft>
              <a:buClr>
                <a:schemeClr val="dk1"/>
              </a:buClr>
              <a:buSzPts val="1800"/>
              <a:buChar char="•"/>
            </a:pPr>
            <a:r>
              <a:rPr b="1" lang="en-US" sz="1800"/>
              <a:t>ILF: </a:t>
            </a:r>
            <a:r>
              <a:rPr lang="en-US" sz="1800"/>
              <a:t>These are user identifiable groups of logically related data or control information maintained within the system.</a:t>
            </a:r>
            <a:endParaRPr/>
          </a:p>
          <a:p>
            <a:pPr indent="-285750" lvl="1" marL="742950" rtl="0" algn="l">
              <a:spcBef>
                <a:spcPts val="360"/>
              </a:spcBef>
              <a:spcAft>
                <a:spcPts val="0"/>
              </a:spcAft>
              <a:buClr>
                <a:schemeClr val="dk1"/>
              </a:buClr>
              <a:buSzPts val="1800"/>
              <a:buChar char="–"/>
            </a:pPr>
            <a:r>
              <a:rPr b="1" lang="en-US" sz="1800"/>
              <a:t>Example:</a:t>
            </a:r>
            <a:r>
              <a:rPr lang="en-US" sz="1800"/>
              <a:t> A database table that stores user information such as user IDs, names, and passwords.</a:t>
            </a:r>
            <a:endParaRPr/>
          </a:p>
          <a:p>
            <a:pPr indent="-342900" lvl="0" marL="342900" rtl="0" algn="l">
              <a:spcBef>
                <a:spcPts val="360"/>
              </a:spcBef>
              <a:spcAft>
                <a:spcPts val="0"/>
              </a:spcAft>
              <a:buClr>
                <a:schemeClr val="dk1"/>
              </a:buClr>
              <a:buSzPts val="1800"/>
              <a:buChar char="•"/>
            </a:pPr>
            <a:r>
              <a:rPr b="1" lang="en-US" sz="1800"/>
              <a:t>EIF: </a:t>
            </a:r>
            <a:r>
              <a:rPr lang="en-US" sz="1800"/>
              <a:t>These are user identifiable groups of logically related data or control information that are used by the system but maintained within another system.</a:t>
            </a:r>
            <a:endParaRPr/>
          </a:p>
          <a:p>
            <a:pPr indent="-285750" lvl="1" marL="742950" rtl="0" algn="l">
              <a:spcBef>
                <a:spcPts val="360"/>
              </a:spcBef>
              <a:spcAft>
                <a:spcPts val="0"/>
              </a:spcAft>
              <a:buClr>
                <a:schemeClr val="dk1"/>
              </a:buClr>
              <a:buSzPts val="1800"/>
              <a:buChar char="–"/>
            </a:pPr>
            <a:r>
              <a:rPr b="1" lang="en-US" sz="1800"/>
              <a:t>Example:</a:t>
            </a:r>
            <a:r>
              <a:rPr lang="en-US" sz="1800"/>
              <a:t> A table in a remote database accessed by the software system to get product pricing information.</a:t>
            </a:r>
            <a:endParaRPr b="1"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3"/>
          <p:cNvSpPr txBox="1"/>
          <p:nvPr>
            <p:ph type="title"/>
          </p:nvPr>
        </p:nvSpPr>
        <p:spPr>
          <a:xfrm>
            <a:off x="457200" y="501492"/>
            <a:ext cx="8229600" cy="689291"/>
          </a:xfrm>
          <a:prstGeom prst="rect">
            <a:avLst/>
          </a:prstGeom>
          <a:noFill/>
          <a:ln>
            <a:noFill/>
          </a:ln>
        </p:spPr>
        <p:txBody>
          <a:bodyPr anchorCtr="0" anchor="ctr" bIns="0" lIns="0" spcFirstLastPara="1" rIns="0" wrap="square" tIns="12050">
            <a:spAutoFit/>
          </a:bodyPr>
          <a:lstStyle/>
          <a:p>
            <a:pPr indent="0" lvl="0" marL="3519804" rtl="0" algn="ctr">
              <a:lnSpc>
                <a:spcPct val="100000"/>
              </a:lnSpc>
              <a:spcBef>
                <a:spcPts val="0"/>
              </a:spcBef>
              <a:spcAft>
                <a:spcPts val="0"/>
              </a:spcAft>
              <a:buClr>
                <a:srgbClr val="006FC0"/>
              </a:buClr>
              <a:buSzPts val="4400"/>
              <a:buFont typeface="Arial"/>
              <a:buNone/>
            </a:pPr>
            <a:r>
              <a:rPr b="1" lang="en-US">
                <a:solidFill>
                  <a:srgbClr val="006FC0"/>
                </a:solidFill>
                <a:latin typeface="Arial"/>
                <a:ea typeface="Arial"/>
                <a:cs typeface="Arial"/>
                <a:sym typeface="Arial"/>
              </a:rPr>
              <a:t>Product </a:t>
            </a:r>
            <a:r>
              <a:rPr lang="en-US"/>
              <a:t>Metrics</a:t>
            </a:r>
            <a:endParaRPr/>
          </a:p>
        </p:txBody>
      </p:sp>
      <p:sp>
        <p:nvSpPr>
          <p:cNvPr id="169" name="Google Shape;169;p13"/>
          <p:cNvSpPr txBox="1"/>
          <p:nvPr/>
        </p:nvSpPr>
        <p:spPr>
          <a:xfrm>
            <a:off x="976694" y="881253"/>
            <a:ext cx="2655094" cy="1367682"/>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0" i="0" lang="en-US" sz="4400" u="none" cap="none" strike="noStrike">
                <a:solidFill>
                  <a:schemeClr val="dk1"/>
                </a:solidFill>
                <a:latin typeface="Arial"/>
                <a:ea typeface="Arial"/>
                <a:cs typeface="Arial"/>
                <a:sym typeface="Arial"/>
              </a:rPr>
              <a:t>FP calculation</a:t>
            </a:r>
            <a:endParaRPr b="0" i="0" sz="4400" u="none" cap="none" strike="noStrike">
              <a:solidFill>
                <a:schemeClr val="dk1"/>
              </a:solidFill>
              <a:latin typeface="Arial"/>
              <a:ea typeface="Arial"/>
              <a:cs typeface="Arial"/>
              <a:sym typeface="Arial"/>
            </a:endParaRPr>
          </a:p>
        </p:txBody>
      </p:sp>
      <p:pic>
        <p:nvPicPr>
          <p:cNvPr id="170" name="Google Shape;170;p13"/>
          <p:cNvPicPr preferRelativeResize="0"/>
          <p:nvPr/>
        </p:nvPicPr>
        <p:blipFill rotWithShape="1">
          <a:blip r:embed="rId3">
            <a:alphaModFix/>
          </a:blip>
          <a:srcRect b="0" l="0" r="0" t="0"/>
          <a:stretch/>
        </p:blipFill>
        <p:spPr>
          <a:xfrm>
            <a:off x="628651" y="1511809"/>
            <a:ext cx="7190327" cy="4386707"/>
          </a:xfrm>
          <a:prstGeom prst="rect">
            <a:avLst/>
          </a:prstGeom>
          <a:noFill/>
          <a:ln>
            <a:noFill/>
          </a:ln>
        </p:spPr>
      </p:pic>
      <p:sp>
        <p:nvSpPr>
          <p:cNvPr id="171" name="Google Shape;171;p13"/>
          <p:cNvSpPr txBox="1"/>
          <p:nvPr/>
        </p:nvSpPr>
        <p:spPr>
          <a:xfrm>
            <a:off x="1691680" y="5967781"/>
            <a:ext cx="6127298" cy="350737"/>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i="0" lang="en-US" sz="2200" u="none" cap="none" strike="noStrike">
                <a:solidFill>
                  <a:srgbClr val="1C4586"/>
                </a:solidFill>
                <a:latin typeface="Arial"/>
                <a:ea typeface="Arial"/>
                <a:cs typeface="Arial"/>
                <a:sym typeface="Arial"/>
              </a:rPr>
              <a:t>FP = Count total	* ( 0.65 + 0.01 * ∑ Fi)</a:t>
            </a:r>
            <a:endParaRPr b="0" i="0" sz="2200" u="none" cap="none" strike="noStrike">
              <a:solidFill>
                <a:schemeClr val="dk1"/>
              </a:solidFill>
              <a:latin typeface="Arial"/>
              <a:ea typeface="Arial"/>
              <a:cs typeface="Arial"/>
              <a:sym typeface="Arial"/>
            </a:endParaRPr>
          </a:p>
        </p:txBody>
      </p:sp>
      <p:sp>
        <p:nvSpPr>
          <p:cNvPr id="172" name="Google Shape;172;p13"/>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173" name="Google Shape;173;p13"/>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150495" rtl="0" algn="r">
              <a:lnSpc>
                <a:spcPct val="155333"/>
              </a:lnSpc>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4"/>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179" name="Google Shape;179;p14"/>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150495" rtl="0" algn="r">
              <a:lnSpc>
                <a:spcPct val="155333"/>
              </a:lnSpc>
              <a:spcBef>
                <a:spcPts val="0"/>
              </a:spcBef>
              <a:spcAft>
                <a:spcPts val="0"/>
              </a:spcAft>
              <a:buNone/>
            </a:pPr>
            <a:fld id="{00000000-1234-1234-1234-123412341234}" type="slidenum">
              <a:rPr lang="en-US"/>
              <a:t>‹#›</a:t>
            </a:fld>
            <a:endParaRPr/>
          </a:p>
        </p:txBody>
      </p:sp>
      <p:sp>
        <p:nvSpPr>
          <p:cNvPr id="180" name="Google Shape;180;p14"/>
          <p:cNvSpPr txBox="1"/>
          <p:nvPr/>
        </p:nvSpPr>
        <p:spPr>
          <a:xfrm>
            <a:off x="467790" y="260648"/>
            <a:ext cx="8173403" cy="6127318"/>
          </a:xfrm>
          <a:prstGeom prst="rect">
            <a:avLst/>
          </a:prstGeom>
          <a:noFill/>
          <a:ln>
            <a:noFill/>
          </a:ln>
        </p:spPr>
        <p:txBody>
          <a:bodyPr anchorCtr="0" anchor="t" bIns="0" lIns="0" spcFirstLastPara="1" rIns="0" wrap="square" tIns="60950">
            <a:spAutoFit/>
          </a:bodyPr>
          <a:lstStyle/>
          <a:p>
            <a:pPr indent="0" lvl="0" marL="12700" marR="0" rtl="0" algn="l">
              <a:lnSpc>
                <a:spcPct val="100000"/>
              </a:lnSpc>
              <a:spcBef>
                <a:spcPts val="0"/>
              </a:spcBef>
              <a:spcAft>
                <a:spcPts val="0"/>
              </a:spcAft>
              <a:buNone/>
            </a:pPr>
            <a:r>
              <a:rPr b="0" i="0" lang="en-US" sz="2000" u="none" cap="none" strike="noStrike">
                <a:solidFill>
                  <a:schemeClr val="dk1"/>
                </a:solidFill>
                <a:latin typeface="Calibri"/>
                <a:ea typeface="Calibri"/>
                <a:cs typeface="Calibri"/>
                <a:sym typeface="Calibri"/>
              </a:rPr>
              <a:t>The Fi (i = 1 to 14) are "complexity adjustment values" based on responses to the following questions</a:t>
            </a:r>
            <a:endParaRPr b="0" i="0" sz="2000" u="none" cap="none" strike="noStrike">
              <a:solidFill>
                <a:schemeClr val="dk1"/>
              </a:solidFill>
              <a:latin typeface="Calibri"/>
              <a:ea typeface="Calibri"/>
              <a:cs typeface="Calibri"/>
              <a:sym typeface="Calibri"/>
            </a:endParaRPr>
          </a:p>
          <a:p>
            <a:pPr indent="-212725" lvl="0" marL="681990" marR="0" rtl="0" algn="l">
              <a:lnSpc>
                <a:spcPct val="100000"/>
              </a:lnSpc>
              <a:spcBef>
                <a:spcPts val="320"/>
              </a:spcBef>
              <a:spcAft>
                <a:spcPts val="0"/>
              </a:spcAft>
              <a:buClr>
                <a:schemeClr val="dk1"/>
              </a:buClr>
              <a:buSzPts val="1700"/>
              <a:buFont typeface="Calibri"/>
              <a:buAutoNum type="arabicPeriod"/>
            </a:pPr>
            <a:r>
              <a:rPr b="0" i="0" lang="en-US" sz="1700" u="none" cap="none" strike="noStrike">
                <a:solidFill>
                  <a:schemeClr val="dk1"/>
                </a:solidFill>
                <a:latin typeface="Calibri"/>
                <a:ea typeface="Calibri"/>
                <a:cs typeface="Calibri"/>
                <a:sym typeface="Calibri"/>
              </a:rPr>
              <a:t>Does the system require reliable backup and recovery?</a:t>
            </a:r>
            <a:endParaRPr b="0" i="0" sz="1700" u="none" cap="none" strike="noStrike">
              <a:solidFill>
                <a:schemeClr val="dk1"/>
              </a:solidFill>
              <a:latin typeface="Calibri"/>
              <a:ea typeface="Calibri"/>
              <a:cs typeface="Calibri"/>
              <a:sym typeface="Calibri"/>
            </a:endParaRPr>
          </a:p>
          <a:p>
            <a:pPr indent="-212725" lvl="0" marL="681990" marR="0" rtl="0" algn="l">
              <a:lnSpc>
                <a:spcPct val="100000"/>
              </a:lnSpc>
              <a:spcBef>
                <a:spcPts val="290"/>
              </a:spcBef>
              <a:spcAft>
                <a:spcPts val="0"/>
              </a:spcAft>
              <a:buClr>
                <a:schemeClr val="dk1"/>
              </a:buClr>
              <a:buSzPts val="1700"/>
              <a:buFont typeface="Calibri"/>
              <a:buAutoNum type="arabicPeriod"/>
            </a:pPr>
            <a:r>
              <a:rPr b="0" i="0" lang="en-US" sz="1700" u="none" cap="none" strike="noStrike">
                <a:solidFill>
                  <a:schemeClr val="dk1"/>
                </a:solidFill>
                <a:latin typeface="Calibri"/>
                <a:ea typeface="Calibri"/>
                <a:cs typeface="Calibri"/>
                <a:sym typeface="Calibri"/>
              </a:rPr>
              <a:t>Are data communications required?</a:t>
            </a:r>
            <a:endParaRPr b="0" i="0" sz="1700" u="none" cap="none" strike="noStrike">
              <a:solidFill>
                <a:schemeClr val="dk1"/>
              </a:solidFill>
              <a:latin typeface="Calibri"/>
              <a:ea typeface="Calibri"/>
              <a:cs typeface="Calibri"/>
              <a:sym typeface="Calibri"/>
            </a:endParaRPr>
          </a:p>
          <a:p>
            <a:pPr indent="-212725" lvl="0" marL="681990" marR="0" rtl="0" algn="l">
              <a:lnSpc>
                <a:spcPct val="100000"/>
              </a:lnSpc>
              <a:spcBef>
                <a:spcPts val="305"/>
              </a:spcBef>
              <a:spcAft>
                <a:spcPts val="0"/>
              </a:spcAft>
              <a:buClr>
                <a:schemeClr val="dk1"/>
              </a:buClr>
              <a:buSzPts val="1700"/>
              <a:buFont typeface="Calibri"/>
              <a:buAutoNum type="arabicPeriod"/>
            </a:pPr>
            <a:r>
              <a:rPr b="0" i="0" lang="en-US" sz="1700" u="none" cap="none" strike="noStrike">
                <a:solidFill>
                  <a:schemeClr val="dk1"/>
                </a:solidFill>
                <a:latin typeface="Calibri"/>
                <a:ea typeface="Calibri"/>
                <a:cs typeface="Calibri"/>
                <a:sym typeface="Calibri"/>
              </a:rPr>
              <a:t>Are there distributed processing functions?</a:t>
            </a:r>
            <a:endParaRPr b="0" i="0" sz="1700" u="none" cap="none" strike="noStrike">
              <a:solidFill>
                <a:schemeClr val="dk1"/>
              </a:solidFill>
              <a:latin typeface="Calibri"/>
              <a:ea typeface="Calibri"/>
              <a:cs typeface="Calibri"/>
              <a:sym typeface="Calibri"/>
            </a:endParaRPr>
          </a:p>
          <a:p>
            <a:pPr indent="-212725" lvl="0" marL="681990" marR="0" rtl="0" algn="l">
              <a:lnSpc>
                <a:spcPct val="100000"/>
              </a:lnSpc>
              <a:spcBef>
                <a:spcPts val="300"/>
              </a:spcBef>
              <a:spcAft>
                <a:spcPts val="0"/>
              </a:spcAft>
              <a:buClr>
                <a:schemeClr val="dk1"/>
              </a:buClr>
              <a:buSzPts val="1700"/>
              <a:buFont typeface="Calibri"/>
              <a:buAutoNum type="arabicPeriod"/>
            </a:pPr>
            <a:r>
              <a:rPr b="0" i="0" lang="en-US" sz="1700" u="none" cap="none" strike="noStrike">
                <a:solidFill>
                  <a:schemeClr val="dk1"/>
                </a:solidFill>
                <a:latin typeface="Calibri"/>
                <a:ea typeface="Calibri"/>
                <a:cs typeface="Calibri"/>
                <a:sym typeface="Calibri"/>
              </a:rPr>
              <a:t>Is performance critical?</a:t>
            </a:r>
            <a:endParaRPr b="0" i="0" sz="1700" u="none" cap="none" strike="noStrike">
              <a:solidFill>
                <a:schemeClr val="dk1"/>
              </a:solidFill>
              <a:latin typeface="Calibri"/>
              <a:ea typeface="Calibri"/>
              <a:cs typeface="Calibri"/>
              <a:sym typeface="Calibri"/>
            </a:endParaRPr>
          </a:p>
          <a:p>
            <a:pPr indent="-212725" lvl="0" marL="681990" marR="0" rtl="0" algn="l">
              <a:lnSpc>
                <a:spcPct val="100000"/>
              </a:lnSpc>
              <a:spcBef>
                <a:spcPts val="285"/>
              </a:spcBef>
              <a:spcAft>
                <a:spcPts val="0"/>
              </a:spcAft>
              <a:buClr>
                <a:schemeClr val="dk1"/>
              </a:buClr>
              <a:buSzPts val="1700"/>
              <a:buFont typeface="Calibri"/>
              <a:buAutoNum type="arabicPeriod"/>
            </a:pPr>
            <a:r>
              <a:rPr b="0" i="0" lang="en-US" sz="1700" u="none" cap="none" strike="noStrike">
                <a:solidFill>
                  <a:schemeClr val="dk1"/>
                </a:solidFill>
                <a:latin typeface="Calibri"/>
                <a:ea typeface="Calibri"/>
                <a:cs typeface="Calibri"/>
                <a:sym typeface="Calibri"/>
              </a:rPr>
              <a:t>Will the system run in an existing, heavily utilized operational environment?</a:t>
            </a:r>
            <a:endParaRPr b="0" i="0" sz="1700" u="none" cap="none" strike="noStrike">
              <a:solidFill>
                <a:schemeClr val="dk1"/>
              </a:solidFill>
              <a:latin typeface="Calibri"/>
              <a:ea typeface="Calibri"/>
              <a:cs typeface="Calibri"/>
              <a:sym typeface="Calibri"/>
            </a:endParaRPr>
          </a:p>
          <a:p>
            <a:pPr indent="-212725" lvl="0" marL="681990" marR="0" rtl="0" algn="l">
              <a:lnSpc>
                <a:spcPct val="100000"/>
              </a:lnSpc>
              <a:spcBef>
                <a:spcPts val="300"/>
              </a:spcBef>
              <a:spcAft>
                <a:spcPts val="0"/>
              </a:spcAft>
              <a:buClr>
                <a:schemeClr val="dk1"/>
              </a:buClr>
              <a:buSzPts val="1700"/>
              <a:buFont typeface="Calibri"/>
              <a:buAutoNum type="arabicPeriod"/>
            </a:pPr>
            <a:r>
              <a:rPr b="0" i="0" lang="en-US" sz="1700" u="none" cap="none" strike="noStrike">
                <a:solidFill>
                  <a:schemeClr val="dk1"/>
                </a:solidFill>
                <a:latin typeface="Calibri"/>
                <a:ea typeface="Calibri"/>
                <a:cs typeface="Calibri"/>
                <a:sym typeface="Calibri"/>
              </a:rPr>
              <a:t>Does the system require on-line data entry?</a:t>
            </a:r>
            <a:endParaRPr b="0" i="0" sz="1700" u="none" cap="none" strike="noStrike">
              <a:solidFill>
                <a:schemeClr val="dk1"/>
              </a:solidFill>
              <a:latin typeface="Calibri"/>
              <a:ea typeface="Calibri"/>
              <a:cs typeface="Calibri"/>
              <a:sym typeface="Calibri"/>
            </a:endParaRPr>
          </a:p>
          <a:p>
            <a:pPr indent="-212725" lvl="0" marL="681990" marR="0" rtl="0" algn="l">
              <a:lnSpc>
                <a:spcPct val="100000"/>
              </a:lnSpc>
              <a:spcBef>
                <a:spcPts val="300"/>
              </a:spcBef>
              <a:spcAft>
                <a:spcPts val="0"/>
              </a:spcAft>
              <a:buClr>
                <a:schemeClr val="dk1"/>
              </a:buClr>
              <a:buSzPts val="1700"/>
              <a:buFont typeface="Calibri"/>
              <a:buAutoNum type="arabicPeriod"/>
            </a:pPr>
            <a:r>
              <a:rPr b="0" i="0" lang="en-US" sz="1700" u="none" cap="none" strike="noStrike">
                <a:solidFill>
                  <a:schemeClr val="dk1"/>
                </a:solidFill>
                <a:latin typeface="Calibri"/>
                <a:ea typeface="Calibri"/>
                <a:cs typeface="Calibri"/>
                <a:sym typeface="Calibri"/>
              </a:rPr>
              <a:t>Does the on-line data entry require the input transaction to be built over multiple screens or operations?</a:t>
            </a:r>
            <a:endParaRPr b="0" i="0" sz="1700" u="none" cap="none" strike="noStrike">
              <a:solidFill>
                <a:schemeClr val="dk1"/>
              </a:solidFill>
              <a:latin typeface="Calibri"/>
              <a:ea typeface="Calibri"/>
              <a:cs typeface="Calibri"/>
              <a:sym typeface="Calibri"/>
            </a:endParaRPr>
          </a:p>
          <a:p>
            <a:pPr indent="-212725" lvl="0" marL="681990" marR="0" rtl="0" algn="l">
              <a:lnSpc>
                <a:spcPct val="100000"/>
              </a:lnSpc>
              <a:spcBef>
                <a:spcPts val="290"/>
              </a:spcBef>
              <a:spcAft>
                <a:spcPts val="0"/>
              </a:spcAft>
              <a:buClr>
                <a:schemeClr val="dk1"/>
              </a:buClr>
              <a:buSzPts val="1700"/>
              <a:buFont typeface="Calibri"/>
              <a:buAutoNum type="arabicPeriod"/>
            </a:pPr>
            <a:r>
              <a:rPr b="0" i="0" lang="en-US" sz="1700" u="none" cap="none" strike="noStrike">
                <a:solidFill>
                  <a:schemeClr val="dk1"/>
                </a:solidFill>
                <a:latin typeface="Calibri"/>
                <a:ea typeface="Calibri"/>
                <a:cs typeface="Calibri"/>
                <a:sym typeface="Calibri"/>
              </a:rPr>
              <a:t>Are the master files updated on-line?</a:t>
            </a:r>
            <a:endParaRPr b="0" i="0" sz="1700" u="none" cap="none" strike="noStrike">
              <a:solidFill>
                <a:schemeClr val="dk1"/>
              </a:solidFill>
              <a:latin typeface="Calibri"/>
              <a:ea typeface="Calibri"/>
              <a:cs typeface="Calibri"/>
              <a:sym typeface="Calibri"/>
            </a:endParaRPr>
          </a:p>
          <a:p>
            <a:pPr indent="-212725" lvl="0" marL="681990" marR="0" rtl="0" algn="l">
              <a:lnSpc>
                <a:spcPct val="100000"/>
              </a:lnSpc>
              <a:spcBef>
                <a:spcPts val="300"/>
              </a:spcBef>
              <a:spcAft>
                <a:spcPts val="0"/>
              </a:spcAft>
              <a:buClr>
                <a:schemeClr val="dk1"/>
              </a:buClr>
              <a:buSzPts val="1700"/>
              <a:buFont typeface="Calibri"/>
              <a:buAutoNum type="arabicPeriod"/>
            </a:pPr>
            <a:r>
              <a:rPr b="0" i="0" lang="en-US" sz="1700" u="none" cap="none" strike="noStrike">
                <a:solidFill>
                  <a:schemeClr val="dk1"/>
                </a:solidFill>
                <a:latin typeface="Calibri"/>
                <a:ea typeface="Calibri"/>
                <a:cs typeface="Calibri"/>
                <a:sym typeface="Calibri"/>
              </a:rPr>
              <a:t>Are the inputs, outputs, files, or inquiries complex?</a:t>
            </a:r>
            <a:endParaRPr b="0" i="0" sz="1700" u="none" cap="none" strike="noStrike">
              <a:solidFill>
                <a:schemeClr val="dk1"/>
              </a:solidFill>
              <a:latin typeface="Calibri"/>
              <a:ea typeface="Calibri"/>
              <a:cs typeface="Calibri"/>
              <a:sym typeface="Calibri"/>
            </a:endParaRPr>
          </a:p>
          <a:p>
            <a:pPr indent="-320040" lvl="0" marL="789305" marR="0" rtl="0" algn="l">
              <a:lnSpc>
                <a:spcPct val="100000"/>
              </a:lnSpc>
              <a:spcBef>
                <a:spcPts val="300"/>
              </a:spcBef>
              <a:spcAft>
                <a:spcPts val="0"/>
              </a:spcAft>
              <a:buClr>
                <a:schemeClr val="dk1"/>
              </a:buClr>
              <a:buSzPts val="1700"/>
              <a:buFont typeface="Calibri"/>
              <a:buAutoNum type="arabicPeriod"/>
            </a:pPr>
            <a:r>
              <a:rPr b="0" i="0" lang="en-US" sz="1700" u="none" cap="none" strike="noStrike">
                <a:solidFill>
                  <a:schemeClr val="dk1"/>
                </a:solidFill>
                <a:latin typeface="Calibri"/>
                <a:ea typeface="Calibri"/>
                <a:cs typeface="Calibri"/>
                <a:sym typeface="Calibri"/>
              </a:rPr>
              <a:t>Is the internal processing complex?</a:t>
            </a:r>
            <a:endParaRPr b="0" i="0" sz="1700" u="none" cap="none" strike="noStrike">
              <a:solidFill>
                <a:schemeClr val="dk1"/>
              </a:solidFill>
              <a:latin typeface="Calibri"/>
              <a:ea typeface="Calibri"/>
              <a:cs typeface="Calibri"/>
              <a:sym typeface="Calibri"/>
            </a:endParaRPr>
          </a:p>
          <a:p>
            <a:pPr indent="-320040" lvl="0" marL="789305" marR="0" rtl="0" algn="l">
              <a:lnSpc>
                <a:spcPct val="100000"/>
              </a:lnSpc>
              <a:spcBef>
                <a:spcPts val="290"/>
              </a:spcBef>
              <a:spcAft>
                <a:spcPts val="0"/>
              </a:spcAft>
              <a:buClr>
                <a:schemeClr val="dk1"/>
              </a:buClr>
              <a:buSzPts val="1700"/>
              <a:buFont typeface="Calibri"/>
              <a:buAutoNum type="arabicPeriod"/>
            </a:pPr>
            <a:r>
              <a:rPr b="0" i="0" lang="en-US" sz="1700" u="none" cap="none" strike="noStrike">
                <a:solidFill>
                  <a:schemeClr val="dk1"/>
                </a:solidFill>
                <a:latin typeface="Calibri"/>
                <a:ea typeface="Calibri"/>
                <a:cs typeface="Calibri"/>
                <a:sym typeface="Calibri"/>
              </a:rPr>
              <a:t>Is the code designed to be reusable?</a:t>
            </a:r>
            <a:endParaRPr b="0" i="0" sz="1700" u="none" cap="none" strike="noStrike">
              <a:solidFill>
                <a:schemeClr val="dk1"/>
              </a:solidFill>
              <a:latin typeface="Calibri"/>
              <a:ea typeface="Calibri"/>
              <a:cs typeface="Calibri"/>
              <a:sym typeface="Calibri"/>
            </a:endParaRPr>
          </a:p>
          <a:p>
            <a:pPr indent="-320040" lvl="0" marL="789305" marR="0" rtl="0" algn="l">
              <a:lnSpc>
                <a:spcPct val="100000"/>
              </a:lnSpc>
              <a:spcBef>
                <a:spcPts val="300"/>
              </a:spcBef>
              <a:spcAft>
                <a:spcPts val="0"/>
              </a:spcAft>
              <a:buClr>
                <a:schemeClr val="dk1"/>
              </a:buClr>
              <a:buSzPts val="1700"/>
              <a:buFont typeface="Calibri"/>
              <a:buAutoNum type="arabicPeriod"/>
            </a:pPr>
            <a:r>
              <a:rPr b="0" i="0" lang="en-US" sz="1700" u="none" cap="none" strike="noStrike">
                <a:solidFill>
                  <a:schemeClr val="dk1"/>
                </a:solidFill>
                <a:latin typeface="Calibri"/>
                <a:ea typeface="Calibri"/>
                <a:cs typeface="Calibri"/>
                <a:sym typeface="Calibri"/>
              </a:rPr>
              <a:t>Are conversion and installation included in the design?</a:t>
            </a:r>
            <a:endParaRPr b="0" i="0" sz="1700" u="none" cap="none" strike="noStrike">
              <a:solidFill>
                <a:schemeClr val="dk1"/>
              </a:solidFill>
              <a:latin typeface="Calibri"/>
              <a:ea typeface="Calibri"/>
              <a:cs typeface="Calibri"/>
              <a:sym typeface="Calibri"/>
            </a:endParaRPr>
          </a:p>
          <a:p>
            <a:pPr indent="-320040" lvl="0" marL="789305" marR="0" rtl="0" algn="l">
              <a:lnSpc>
                <a:spcPct val="100000"/>
              </a:lnSpc>
              <a:spcBef>
                <a:spcPts val="300"/>
              </a:spcBef>
              <a:spcAft>
                <a:spcPts val="0"/>
              </a:spcAft>
              <a:buClr>
                <a:schemeClr val="dk1"/>
              </a:buClr>
              <a:buSzPts val="1700"/>
              <a:buFont typeface="Calibri"/>
              <a:buAutoNum type="arabicPeriod"/>
            </a:pPr>
            <a:r>
              <a:rPr b="0" i="0" lang="en-US" sz="1700" u="none" cap="none" strike="noStrike">
                <a:solidFill>
                  <a:schemeClr val="dk1"/>
                </a:solidFill>
                <a:latin typeface="Calibri"/>
                <a:ea typeface="Calibri"/>
                <a:cs typeface="Calibri"/>
                <a:sym typeface="Calibri"/>
              </a:rPr>
              <a:t>Is the system designed for multiple installations in different organizations?</a:t>
            </a:r>
            <a:endParaRPr b="0" i="0" sz="1700" u="none" cap="none" strike="noStrike">
              <a:solidFill>
                <a:schemeClr val="dk1"/>
              </a:solidFill>
              <a:latin typeface="Calibri"/>
              <a:ea typeface="Calibri"/>
              <a:cs typeface="Calibri"/>
              <a:sym typeface="Calibri"/>
            </a:endParaRPr>
          </a:p>
          <a:p>
            <a:pPr indent="-320040" lvl="0" marL="789305" marR="0" rtl="0" algn="l">
              <a:lnSpc>
                <a:spcPct val="100000"/>
              </a:lnSpc>
              <a:spcBef>
                <a:spcPts val="290"/>
              </a:spcBef>
              <a:spcAft>
                <a:spcPts val="0"/>
              </a:spcAft>
              <a:buClr>
                <a:schemeClr val="dk1"/>
              </a:buClr>
              <a:buSzPts val="1700"/>
              <a:buFont typeface="Calibri"/>
              <a:buAutoNum type="arabicPeriod"/>
            </a:pPr>
            <a:r>
              <a:rPr b="0" i="0" lang="en-US" sz="1700" u="none" cap="none" strike="noStrike">
                <a:solidFill>
                  <a:schemeClr val="dk1"/>
                </a:solidFill>
                <a:latin typeface="Calibri"/>
                <a:ea typeface="Calibri"/>
                <a:cs typeface="Calibri"/>
                <a:sym typeface="Calibri"/>
              </a:rPr>
              <a:t>Is the application designed to facilitate change and ease of use by the user?</a:t>
            </a:r>
            <a:endParaRPr b="0" i="0" sz="1700" u="none" cap="none" strike="noStrike">
              <a:solidFill>
                <a:schemeClr val="dk1"/>
              </a:solidFill>
              <a:latin typeface="Calibri"/>
              <a:ea typeface="Calibri"/>
              <a:cs typeface="Calibri"/>
              <a:sym typeface="Calibri"/>
            </a:endParaRPr>
          </a:p>
          <a:p>
            <a:pPr indent="-120650" lvl="0" marL="100330" marR="0" rtl="0" algn="l">
              <a:lnSpc>
                <a:spcPct val="113750"/>
              </a:lnSpc>
              <a:spcBef>
                <a:spcPts val="755"/>
              </a:spcBef>
              <a:spcAft>
                <a:spcPts val="0"/>
              </a:spcAft>
              <a:buClr>
                <a:srgbClr val="000000"/>
              </a:buClr>
              <a:buSzPts val="1900"/>
              <a:buFont typeface="Arial"/>
              <a:buChar char="•"/>
            </a:pPr>
            <a:r>
              <a:rPr b="1" i="0" lang="en-US" sz="2000" u="none" cap="none" strike="noStrike">
                <a:solidFill>
                  <a:srgbClr val="4471C4"/>
                </a:solidFill>
                <a:latin typeface="Calibri"/>
                <a:ea typeface="Calibri"/>
                <a:cs typeface="Calibri"/>
                <a:sym typeface="Calibri"/>
              </a:rPr>
              <a:t>Each of these questions is answered using a scale that ranges from 0 (not important or applicable) to 5</a:t>
            </a:r>
            <a:endParaRPr b="0" i="0" sz="2000" u="none" cap="none" strike="noStrike">
              <a:solidFill>
                <a:schemeClr val="dk1"/>
              </a:solidFill>
              <a:latin typeface="Calibri"/>
              <a:ea typeface="Calibri"/>
              <a:cs typeface="Calibri"/>
              <a:sym typeface="Calibri"/>
            </a:endParaRPr>
          </a:p>
          <a:p>
            <a:pPr indent="0" lvl="0" marL="12700" marR="0" rtl="0" algn="l">
              <a:lnSpc>
                <a:spcPct val="113750"/>
              </a:lnSpc>
              <a:spcBef>
                <a:spcPts val="0"/>
              </a:spcBef>
              <a:spcAft>
                <a:spcPts val="0"/>
              </a:spcAft>
              <a:buNone/>
            </a:pPr>
            <a:r>
              <a:rPr b="1" i="0" lang="en-US" sz="2000" u="none" cap="none" strike="noStrike">
                <a:solidFill>
                  <a:srgbClr val="4471C4"/>
                </a:solidFill>
                <a:latin typeface="Calibri"/>
                <a:ea typeface="Calibri"/>
                <a:cs typeface="Calibri"/>
                <a:sym typeface="Calibri"/>
              </a:rPr>
              <a:t>(absolutely essential)</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5"/>
          <p:cNvSpPr txBox="1"/>
          <p:nvPr>
            <p:ph idx="1" type="body"/>
          </p:nvPr>
        </p:nvSpPr>
        <p:spPr>
          <a:xfrm>
            <a:off x="467544" y="235185"/>
            <a:ext cx="8424936" cy="6218151"/>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a:t>Example 1:</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Unadjusted function point: (count-total)</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Complexity adjustment factor: here, we assume: 3</a:t>
            </a:r>
            <a:endParaRPr/>
          </a:p>
          <a:p>
            <a:pPr indent="0" lvl="0" marL="0" rtl="0" algn="l">
              <a:spcBef>
                <a:spcPts val="480"/>
              </a:spcBef>
              <a:spcAft>
                <a:spcPts val="0"/>
              </a:spcAft>
              <a:buClr>
                <a:schemeClr val="dk1"/>
              </a:buClr>
              <a:buSzPts val="2400"/>
              <a:buNone/>
            </a:pPr>
            <a:r>
              <a:rPr lang="en-US" sz="2400"/>
              <a:t>   14 questions are used for FPA, </a:t>
            </a:r>
            <a:endParaRPr/>
          </a:p>
          <a:p>
            <a:pPr indent="0" lvl="0" marL="0" rtl="0" algn="l">
              <a:spcBef>
                <a:spcPts val="480"/>
              </a:spcBef>
              <a:spcAft>
                <a:spcPts val="0"/>
              </a:spcAft>
              <a:buClr>
                <a:schemeClr val="dk1"/>
              </a:buClr>
              <a:buSzPts val="2400"/>
              <a:buNone/>
            </a:pPr>
            <a:r>
              <a:rPr lang="en-US" sz="2400"/>
              <a:t>   ∑(fi)= 42</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pic>
        <p:nvPicPr>
          <p:cNvPr id="186" name="Google Shape;186;p15"/>
          <p:cNvPicPr preferRelativeResize="0"/>
          <p:nvPr/>
        </p:nvPicPr>
        <p:blipFill rotWithShape="1">
          <a:blip r:embed="rId3">
            <a:alphaModFix/>
          </a:blip>
          <a:srcRect b="0" l="0" r="0" t="0"/>
          <a:stretch/>
        </p:blipFill>
        <p:spPr>
          <a:xfrm>
            <a:off x="539552" y="836712"/>
            <a:ext cx="3962635" cy="1800200"/>
          </a:xfrm>
          <a:prstGeom prst="rect">
            <a:avLst/>
          </a:prstGeom>
          <a:noFill/>
          <a:ln>
            <a:noFill/>
          </a:ln>
        </p:spPr>
      </p:pic>
      <p:pic>
        <p:nvPicPr>
          <p:cNvPr id="187" name="Google Shape;187;p15"/>
          <p:cNvPicPr preferRelativeResize="0"/>
          <p:nvPr/>
        </p:nvPicPr>
        <p:blipFill rotWithShape="1">
          <a:blip r:embed="rId4">
            <a:alphaModFix/>
          </a:blip>
          <a:srcRect b="0" l="0" r="0" t="0"/>
          <a:stretch/>
        </p:blipFill>
        <p:spPr>
          <a:xfrm>
            <a:off x="3419872" y="836712"/>
            <a:ext cx="4817437" cy="1800200"/>
          </a:xfrm>
          <a:prstGeom prst="rect">
            <a:avLst/>
          </a:prstGeom>
          <a:noFill/>
          <a:ln>
            <a:noFill/>
          </a:ln>
        </p:spPr>
      </p:pic>
      <p:pic>
        <p:nvPicPr>
          <p:cNvPr id="188" name="Google Shape;188;p15"/>
          <p:cNvPicPr preferRelativeResize="0"/>
          <p:nvPr/>
        </p:nvPicPr>
        <p:blipFill rotWithShape="1">
          <a:blip r:embed="rId5">
            <a:alphaModFix/>
          </a:blip>
          <a:srcRect b="0" l="0" r="0" t="0"/>
          <a:stretch/>
        </p:blipFill>
        <p:spPr>
          <a:xfrm>
            <a:off x="780487" y="3212976"/>
            <a:ext cx="4539635" cy="1800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Function point value </a:t>
            </a:r>
            <a:endParaRPr/>
          </a:p>
          <a:p>
            <a:pPr indent="-342900" lvl="0" marL="342900" rtl="0" algn="l">
              <a:spcBef>
                <a:spcPts val="640"/>
              </a:spcBef>
              <a:spcAft>
                <a:spcPts val="0"/>
              </a:spcAft>
              <a:buClr>
                <a:schemeClr val="dk1"/>
              </a:buClr>
              <a:buSzPts val="3200"/>
              <a:buChar char="•"/>
            </a:pPr>
            <a:r>
              <a:rPr lang="en-US"/>
              <a:t>= count-total * [0.65+0.01* ∑(fi)]</a:t>
            </a:r>
            <a:endParaRPr/>
          </a:p>
          <a:p>
            <a:pPr indent="-342900" lvl="0" marL="342900" rtl="0" algn="l">
              <a:spcBef>
                <a:spcPts val="640"/>
              </a:spcBef>
              <a:spcAft>
                <a:spcPts val="0"/>
              </a:spcAft>
              <a:buClr>
                <a:schemeClr val="dk1"/>
              </a:buClr>
              <a:buSzPts val="3200"/>
              <a:buChar char="•"/>
            </a:pPr>
            <a:r>
              <a:rPr lang="en-US"/>
              <a:t>= 628 * [0.65+0.01* 42]</a:t>
            </a:r>
            <a:endParaRPr/>
          </a:p>
          <a:p>
            <a:pPr indent="-342900" lvl="0" marL="342900" rtl="0" algn="l">
              <a:spcBef>
                <a:spcPts val="640"/>
              </a:spcBef>
              <a:spcAft>
                <a:spcPts val="0"/>
              </a:spcAft>
              <a:buClr>
                <a:schemeClr val="dk1"/>
              </a:buClr>
              <a:buSzPts val="3200"/>
              <a:buChar char="•"/>
            </a:pPr>
            <a:r>
              <a:rPr lang="en-US"/>
              <a:t>=671.96</a:t>
            </a:r>
            <a:endParaRPr/>
          </a:p>
          <a:p>
            <a:pPr indent="-139700" lvl="0" marL="342900" rtl="0" algn="l">
              <a:spcBef>
                <a:spcPts val="640"/>
              </a:spcBef>
              <a:spcAft>
                <a:spcPts val="0"/>
              </a:spcAft>
              <a:buClr>
                <a:schemeClr val="dk1"/>
              </a:buClr>
              <a:buSzPts val="3200"/>
              <a:buNone/>
            </a:pPr>
            <a:r>
              <a:t/>
            </a:r>
            <a:endParaRPr/>
          </a:p>
        </p:txBody>
      </p:sp>
      <p:sp>
        <p:nvSpPr>
          <p:cNvPr id="194" name="Google Shape;194;p16"/>
          <p:cNvSpPr txBox="1"/>
          <p:nvPr/>
        </p:nvSpPr>
        <p:spPr>
          <a:xfrm>
            <a:off x="1115616" y="764704"/>
            <a:ext cx="6127298" cy="350737"/>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i="0" lang="en-US" sz="2200" u="none" cap="none" strike="noStrike">
                <a:solidFill>
                  <a:srgbClr val="1C4586"/>
                </a:solidFill>
                <a:latin typeface="Arial"/>
                <a:ea typeface="Arial"/>
                <a:cs typeface="Arial"/>
                <a:sym typeface="Arial"/>
              </a:rPr>
              <a:t>FP = Count total	* ( 0.65 + 0.01 * ∑ Fi)</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7"/>
          <p:cNvSpPr txBox="1"/>
          <p:nvPr>
            <p:ph type="title"/>
          </p:nvPr>
        </p:nvSpPr>
        <p:spPr>
          <a:xfrm>
            <a:off x="458266" y="274638"/>
            <a:ext cx="8228534" cy="34605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Calibri"/>
              <a:buNone/>
            </a:pPr>
            <a:r>
              <a:rPr lang="en-US"/>
              <a:t>Example 2</a:t>
            </a:r>
            <a:endParaRPr/>
          </a:p>
        </p:txBody>
      </p:sp>
      <p:sp>
        <p:nvSpPr>
          <p:cNvPr id="200" name="Google Shape;200;p17"/>
          <p:cNvSpPr txBox="1"/>
          <p:nvPr>
            <p:ph idx="11" type="ftr"/>
          </p:nvPr>
        </p:nvSpPr>
        <p:spPr>
          <a:xfrm>
            <a:off x="3124200" y="6356350"/>
            <a:ext cx="2895600" cy="365125"/>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201" name="Google Shape;201;p17"/>
          <p:cNvSpPr txBox="1"/>
          <p:nvPr>
            <p:ph idx="12" type="sldNum"/>
          </p:nvPr>
        </p:nvSpPr>
        <p:spPr>
          <a:xfrm>
            <a:off x="6553200" y="6356350"/>
            <a:ext cx="2133600" cy="365125"/>
          </a:xfrm>
          <a:prstGeom prst="rect">
            <a:avLst/>
          </a:prstGeom>
          <a:noFill/>
          <a:ln>
            <a:noFill/>
          </a:ln>
        </p:spPr>
        <p:txBody>
          <a:bodyPr anchorCtr="0" anchor="ctr" bIns="0" lIns="0" spcFirstLastPara="1" rIns="0" wrap="square" tIns="0">
            <a:spAutoFit/>
          </a:bodyPr>
          <a:lstStyle/>
          <a:p>
            <a:pPr indent="0" lvl="0" marL="150495" rtl="0" algn="r">
              <a:lnSpc>
                <a:spcPct val="155333"/>
              </a:lnSpc>
              <a:spcBef>
                <a:spcPts val="0"/>
              </a:spcBef>
              <a:spcAft>
                <a:spcPts val="0"/>
              </a:spcAft>
              <a:buNone/>
            </a:pPr>
            <a:fld id="{00000000-1234-1234-1234-123412341234}" type="slidenum">
              <a:rPr lang="en-US"/>
              <a:t>‹#›</a:t>
            </a:fld>
            <a:endParaRPr/>
          </a:p>
        </p:txBody>
      </p:sp>
      <p:sp>
        <p:nvSpPr>
          <p:cNvPr id="202" name="Google Shape;202;p17"/>
          <p:cNvSpPr txBox="1"/>
          <p:nvPr/>
        </p:nvSpPr>
        <p:spPr>
          <a:xfrm>
            <a:off x="458266" y="899542"/>
            <a:ext cx="7857173" cy="6011902"/>
          </a:xfrm>
          <a:prstGeom prst="rect">
            <a:avLst/>
          </a:prstGeom>
          <a:noFill/>
          <a:ln>
            <a:noFill/>
          </a:ln>
        </p:spPr>
        <p:txBody>
          <a:bodyPr anchorCtr="0" anchor="t" bIns="0" lIns="0" spcFirstLastPara="1" rIns="0" wrap="square" tIns="60950">
            <a:spAutoFit/>
          </a:bodyPr>
          <a:lstStyle/>
          <a:p>
            <a:pPr indent="0" lvl="0" marL="25400" marR="17780" rtl="0" algn="l">
              <a:lnSpc>
                <a:spcPct val="125833"/>
              </a:lnSpc>
              <a:spcBef>
                <a:spcPts val="0"/>
              </a:spcBef>
              <a:spcAft>
                <a:spcPts val="0"/>
              </a:spcAft>
              <a:buNone/>
            </a:pPr>
            <a:r>
              <a:rPr b="0" i="0" lang="en-US" sz="2400" u="none" cap="none" strike="noStrike">
                <a:solidFill>
                  <a:schemeClr val="dk1"/>
                </a:solidFill>
                <a:latin typeface="Calibri"/>
                <a:ea typeface="Calibri"/>
                <a:cs typeface="Calibri"/>
                <a:sym typeface="Calibri"/>
              </a:rPr>
              <a:t>Given the following values, </a:t>
            </a:r>
            <a:r>
              <a:rPr b="1" i="0" lang="en-US" sz="2400" u="none" cap="none" strike="noStrike">
                <a:solidFill>
                  <a:srgbClr val="4471C4"/>
                </a:solidFill>
                <a:latin typeface="Calibri"/>
                <a:ea typeface="Calibri"/>
                <a:cs typeface="Calibri"/>
                <a:sym typeface="Calibri"/>
              </a:rPr>
              <a:t>compute function point </a:t>
            </a:r>
            <a:r>
              <a:rPr b="0" i="0" lang="en-US" sz="2400" u="none" cap="none" strike="noStrike">
                <a:solidFill>
                  <a:schemeClr val="dk1"/>
                </a:solidFill>
                <a:latin typeface="Calibri"/>
                <a:ea typeface="Calibri"/>
                <a:cs typeface="Calibri"/>
                <a:sym typeface="Calibri"/>
              </a:rPr>
              <a:t>when all complexity adjustment factor (CAF) are average and weighting factors are</a:t>
            </a:r>
            <a:endParaRPr b="0" i="0" sz="2400" u="none" cap="none" strike="noStrike">
              <a:solidFill>
                <a:schemeClr val="dk1"/>
              </a:solidFill>
              <a:latin typeface="Calibri"/>
              <a:ea typeface="Calibri"/>
              <a:cs typeface="Calibri"/>
              <a:sym typeface="Calibri"/>
            </a:endParaRPr>
          </a:p>
          <a:p>
            <a:pPr indent="-146956" lvl="0" marL="605790" marR="0" rtl="0" algn="l">
              <a:lnSpc>
                <a:spcPct val="118541"/>
              </a:lnSpc>
              <a:spcBef>
                <a:spcPts val="0"/>
              </a:spcBef>
              <a:spcAft>
                <a:spcPts val="0"/>
              </a:spcAft>
              <a:buClr>
                <a:schemeClr val="dk1"/>
              </a:buClr>
              <a:buSzPts val="2314"/>
              <a:buFont typeface="Arial"/>
              <a:buChar char="•"/>
            </a:pPr>
            <a:r>
              <a:rPr b="0" i="0" lang="en-US" sz="2400" u="none" cap="none" strike="noStrike">
                <a:solidFill>
                  <a:schemeClr val="dk1"/>
                </a:solidFill>
                <a:latin typeface="Calibri"/>
                <a:ea typeface="Calibri"/>
                <a:cs typeface="Calibri"/>
                <a:sym typeface="Calibri"/>
              </a:rPr>
              <a:t>User Input =	40	Simple</a:t>
            </a:r>
            <a:endParaRPr b="0" i="0" sz="2400" u="none" cap="none" strike="noStrike">
              <a:solidFill>
                <a:schemeClr val="dk1"/>
              </a:solidFill>
              <a:latin typeface="Calibri"/>
              <a:ea typeface="Calibri"/>
              <a:cs typeface="Calibri"/>
              <a:sym typeface="Calibri"/>
            </a:endParaRPr>
          </a:p>
          <a:p>
            <a:pPr indent="-146956" lvl="0" marL="606425" marR="0" rtl="0" algn="l">
              <a:lnSpc>
                <a:spcPct val="126041"/>
              </a:lnSpc>
              <a:spcBef>
                <a:spcPts val="0"/>
              </a:spcBef>
              <a:spcAft>
                <a:spcPts val="0"/>
              </a:spcAft>
              <a:buClr>
                <a:schemeClr val="dk1"/>
              </a:buClr>
              <a:buSzPts val="2314"/>
              <a:buFont typeface="Arial"/>
              <a:buChar char="•"/>
            </a:pPr>
            <a:r>
              <a:rPr b="0" i="0" lang="en-US" sz="2400" u="none" cap="none" strike="noStrike">
                <a:solidFill>
                  <a:schemeClr val="dk1"/>
                </a:solidFill>
                <a:latin typeface="Calibri"/>
                <a:ea typeface="Calibri"/>
                <a:cs typeface="Calibri"/>
                <a:sym typeface="Calibri"/>
              </a:rPr>
              <a:t>User Output = 35	Complex</a:t>
            </a:r>
            <a:endParaRPr b="0" i="0" sz="2400" u="none" cap="none" strike="noStrike">
              <a:solidFill>
                <a:schemeClr val="dk1"/>
              </a:solidFill>
              <a:latin typeface="Calibri"/>
              <a:ea typeface="Calibri"/>
              <a:cs typeface="Calibri"/>
              <a:sym typeface="Calibri"/>
            </a:endParaRPr>
          </a:p>
          <a:p>
            <a:pPr indent="-146956" lvl="0" marL="606425" marR="0" rtl="0" algn="l">
              <a:lnSpc>
                <a:spcPct val="126041"/>
              </a:lnSpc>
              <a:spcBef>
                <a:spcPts val="0"/>
              </a:spcBef>
              <a:spcAft>
                <a:spcPts val="0"/>
              </a:spcAft>
              <a:buClr>
                <a:schemeClr val="dk1"/>
              </a:buClr>
              <a:buSzPts val="2314"/>
              <a:buFont typeface="Arial"/>
              <a:buChar char="•"/>
            </a:pPr>
            <a:r>
              <a:rPr b="0" i="0" lang="en-US" sz="2400" u="none" cap="none" strike="noStrike">
                <a:solidFill>
                  <a:schemeClr val="dk1"/>
                </a:solidFill>
                <a:latin typeface="Calibri"/>
                <a:ea typeface="Calibri"/>
                <a:cs typeface="Calibri"/>
                <a:sym typeface="Calibri"/>
              </a:rPr>
              <a:t>User Inquiries = 30	Simple</a:t>
            </a:r>
            <a:endParaRPr b="0" i="0" sz="2400" u="none" cap="none" strike="noStrike">
              <a:solidFill>
                <a:schemeClr val="dk1"/>
              </a:solidFill>
              <a:latin typeface="Calibri"/>
              <a:ea typeface="Calibri"/>
              <a:cs typeface="Calibri"/>
              <a:sym typeface="Calibri"/>
            </a:endParaRPr>
          </a:p>
          <a:p>
            <a:pPr indent="-146956" lvl="0" marL="606425" marR="0" rtl="0" algn="l">
              <a:lnSpc>
                <a:spcPct val="126041"/>
              </a:lnSpc>
              <a:spcBef>
                <a:spcPts val="0"/>
              </a:spcBef>
              <a:spcAft>
                <a:spcPts val="0"/>
              </a:spcAft>
              <a:buClr>
                <a:schemeClr val="dk1"/>
              </a:buClr>
              <a:buSzPts val="2314"/>
              <a:buFont typeface="Arial"/>
              <a:buChar char="•"/>
            </a:pPr>
            <a:r>
              <a:rPr b="0" i="0" lang="en-US" sz="2400" u="none" cap="none" strike="noStrike">
                <a:solidFill>
                  <a:schemeClr val="dk1"/>
                </a:solidFill>
                <a:latin typeface="Calibri"/>
                <a:ea typeface="Calibri"/>
                <a:cs typeface="Calibri"/>
                <a:sym typeface="Calibri"/>
              </a:rPr>
              <a:t>User Files = 8	Average</a:t>
            </a:r>
            <a:endParaRPr b="0" i="0" sz="2400" u="none" cap="none" strike="noStrike">
              <a:solidFill>
                <a:schemeClr val="dk1"/>
              </a:solidFill>
              <a:latin typeface="Calibri"/>
              <a:ea typeface="Calibri"/>
              <a:cs typeface="Calibri"/>
              <a:sym typeface="Calibri"/>
            </a:endParaRPr>
          </a:p>
          <a:p>
            <a:pPr indent="-146956" lvl="0" marL="605790" marR="0" rtl="0" algn="l">
              <a:lnSpc>
                <a:spcPct val="133125"/>
              </a:lnSpc>
              <a:spcBef>
                <a:spcPts val="0"/>
              </a:spcBef>
              <a:spcAft>
                <a:spcPts val="0"/>
              </a:spcAft>
              <a:buClr>
                <a:schemeClr val="dk1"/>
              </a:buClr>
              <a:buSzPts val="2314"/>
              <a:buFont typeface="Arial"/>
              <a:buChar char="•"/>
            </a:pPr>
            <a:r>
              <a:rPr b="0" i="0" lang="en-US" sz="2400" u="none" cap="none" strike="noStrike">
                <a:solidFill>
                  <a:schemeClr val="dk1"/>
                </a:solidFill>
                <a:latin typeface="Calibri"/>
                <a:ea typeface="Calibri"/>
                <a:cs typeface="Calibri"/>
                <a:sym typeface="Calibri"/>
              </a:rPr>
              <a:t>External Interface = 6	Average</a:t>
            </a:r>
            <a:endParaRPr b="0" i="0" sz="2400" u="none" cap="none" strike="noStrike">
              <a:solidFill>
                <a:schemeClr val="dk1"/>
              </a:solidFill>
              <a:latin typeface="Calibri"/>
              <a:ea typeface="Calibri"/>
              <a:cs typeface="Calibri"/>
              <a:sym typeface="Calibri"/>
            </a:endParaRPr>
          </a:p>
          <a:p>
            <a:pPr indent="0" lvl="0" marL="472440" marR="0" rtl="0" algn="l">
              <a:lnSpc>
                <a:spcPct val="133125"/>
              </a:lnSpc>
              <a:spcBef>
                <a:spcPts val="0"/>
              </a:spcBef>
              <a:spcAft>
                <a:spcPts val="0"/>
              </a:spcAft>
              <a:buNone/>
            </a:pPr>
            <a:r>
              <a:t/>
            </a:r>
            <a:endParaRPr b="0" i="0" sz="2400" u="none" cap="none" strike="noStrike">
              <a:solidFill>
                <a:schemeClr val="dk1"/>
              </a:solidFill>
              <a:latin typeface="Calibri"/>
              <a:ea typeface="Calibri"/>
              <a:cs typeface="Calibri"/>
              <a:sym typeface="Calibri"/>
            </a:endParaRPr>
          </a:p>
          <a:p>
            <a:pPr indent="0" lvl="0" marL="472440" marR="0" rtl="0" algn="l">
              <a:lnSpc>
                <a:spcPct val="133125"/>
              </a:lnSpc>
              <a:spcBef>
                <a:spcPts val="0"/>
              </a:spcBef>
              <a:spcAft>
                <a:spcPts val="0"/>
              </a:spcAft>
              <a:buNone/>
            </a:pPr>
            <a:r>
              <a:rPr b="0" i="0" lang="en-US" sz="2400" u="none" cap="none" strike="noStrike">
                <a:solidFill>
                  <a:srgbClr val="538CD5"/>
                </a:solidFill>
                <a:latin typeface="Calibri"/>
                <a:ea typeface="Calibri"/>
                <a:cs typeface="Calibri"/>
                <a:sym typeface="Calibri"/>
              </a:rPr>
              <a:t>Count Total = 40* 3 + 35 * 7 + 30 * 3 + 8 *10 +6 *7=577</a:t>
            </a:r>
            <a:endParaRPr b="0" i="0" sz="2400" u="none" cap="none" strike="noStrike">
              <a:solidFill>
                <a:srgbClr val="538CD5"/>
              </a:solidFill>
              <a:latin typeface="Calibri"/>
              <a:ea typeface="Calibri"/>
              <a:cs typeface="Calibri"/>
              <a:sym typeface="Calibri"/>
            </a:endParaRPr>
          </a:p>
          <a:p>
            <a:pPr indent="0" lvl="0" marL="472440" marR="0" rtl="0" algn="l">
              <a:lnSpc>
                <a:spcPct val="133125"/>
              </a:lnSpc>
              <a:spcBef>
                <a:spcPts val="0"/>
              </a:spcBef>
              <a:spcAft>
                <a:spcPts val="0"/>
              </a:spcAft>
              <a:buNone/>
            </a:pPr>
            <a:r>
              <a:rPr b="0" i="0" lang="en-US" sz="2400" u="none" cap="none" strike="noStrike">
                <a:solidFill>
                  <a:srgbClr val="538CD5"/>
                </a:solidFill>
                <a:latin typeface="Calibri"/>
                <a:ea typeface="Calibri"/>
                <a:cs typeface="Calibri"/>
                <a:sym typeface="Calibri"/>
              </a:rPr>
              <a:t>Σ(Fi) = 14* 3 = 42 </a:t>
            </a:r>
            <a:r>
              <a:rPr b="0" i="0" lang="en-US" sz="2000" u="none" cap="none" strike="noStrike">
                <a:solidFill>
                  <a:srgbClr val="538CD5"/>
                </a:solidFill>
                <a:latin typeface="Calibri"/>
                <a:ea typeface="Calibri"/>
                <a:cs typeface="Calibri"/>
                <a:sym typeface="Calibri"/>
              </a:rPr>
              <a:t>(total 14 Fi Each is average on scale of 1-5 hence 3) </a:t>
            </a:r>
            <a:endParaRPr b="0" i="0" sz="2000" u="none" cap="none" strike="noStrike">
              <a:solidFill>
                <a:srgbClr val="538CD5"/>
              </a:solidFill>
              <a:latin typeface="Calibri"/>
              <a:ea typeface="Calibri"/>
              <a:cs typeface="Calibri"/>
              <a:sym typeface="Calibri"/>
            </a:endParaRPr>
          </a:p>
          <a:p>
            <a:pPr indent="0" lvl="0" marL="472440" marR="0" rtl="0" algn="l">
              <a:lnSpc>
                <a:spcPct val="133125"/>
              </a:lnSpc>
              <a:spcBef>
                <a:spcPts val="0"/>
              </a:spcBef>
              <a:spcAft>
                <a:spcPts val="0"/>
              </a:spcAft>
              <a:buNone/>
            </a:pPr>
            <a:r>
              <a:rPr b="0" i="0" lang="en-US" sz="2400" u="none" cap="none" strike="noStrike">
                <a:solidFill>
                  <a:srgbClr val="538CD5"/>
                </a:solidFill>
                <a:latin typeface="Calibri"/>
                <a:ea typeface="Calibri"/>
                <a:cs typeface="Calibri"/>
                <a:sym typeface="Calibri"/>
              </a:rPr>
              <a:t>FP = count total [0.65 + 0.01 Σ(Fi)]</a:t>
            </a:r>
            <a:endParaRPr/>
          </a:p>
          <a:p>
            <a:pPr indent="0" lvl="0" marL="472440" marR="0" rtl="0" algn="l">
              <a:lnSpc>
                <a:spcPct val="133125"/>
              </a:lnSpc>
              <a:spcBef>
                <a:spcPts val="0"/>
              </a:spcBef>
              <a:spcAft>
                <a:spcPts val="0"/>
              </a:spcAft>
              <a:buNone/>
            </a:pPr>
            <a:r>
              <a:rPr b="0" i="0" lang="en-US" sz="2400" u="none" cap="none" strike="noStrike">
                <a:solidFill>
                  <a:srgbClr val="538CD5"/>
                </a:solidFill>
                <a:latin typeface="Calibri"/>
                <a:ea typeface="Calibri"/>
                <a:cs typeface="Calibri"/>
                <a:sym typeface="Calibri"/>
              </a:rPr>
              <a:t>FP = 577 * (0.65+ 0.42)</a:t>
            </a:r>
            <a:endParaRPr/>
          </a:p>
          <a:p>
            <a:pPr indent="0" lvl="0" marL="472440" marR="0" rtl="0" algn="l">
              <a:lnSpc>
                <a:spcPct val="133125"/>
              </a:lnSpc>
              <a:spcBef>
                <a:spcPts val="0"/>
              </a:spcBef>
              <a:spcAft>
                <a:spcPts val="0"/>
              </a:spcAft>
              <a:buNone/>
            </a:pPr>
            <a:r>
              <a:rPr b="0" i="0" lang="en-US" sz="2400" u="none" cap="none" strike="noStrike">
                <a:solidFill>
                  <a:srgbClr val="538CD5"/>
                </a:solidFill>
                <a:latin typeface="Calibri"/>
                <a:ea typeface="Calibri"/>
                <a:cs typeface="Calibri"/>
                <a:sym typeface="Calibri"/>
              </a:rPr>
              <a:t>= 617.39</a:t>
            </a:r>
            <a:endParaRPr/>
          </a:p>
          <a:p>
            <a:pPr indent="0" lvl="0" marL="605790" marR="0" rtl="0" algn="l">
              <a:lnSpc>
                <a:spcPct val="133125"/>
              </a:lnSpc>
              <a:spcBef>
                <a:spcPts val="0"/>
              </a:spcBef>
              <a:spcAft>
                <a:spcPts val="0"/>
              </a:spcAft>
              <a:buClr>
                <a:schemeClr val="dk1"/>
              </a:buClr>
              <a:buSzPts val="2314"/>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8"/>
          <p:cNvSpPr txBox="1"/>
          <p:nvPr>
            <p:ph idx="1" type="body"/>
          </p:nvPr>
        </p:nvSpPr>
        <p:spPr>
          <a:xfrm>
            <a:off x="395536" y="476672"/>
            <a:ext cx="8291264" cy="5649491"/>
          </a:xfrm>
          <a:prstGeom prst="rect">
            <a:avLst/>
          </a:prstGeom>
          <a:noFill/>
          <a:ln>
            <a:noFill/>
          </a:ln>
        </p:spPr>
        <p:txBody>
          <a:bodyPr anchorCtr="0" anchor="t" bIns="45700" lIns="91425" spcFirstLastPara="1" rIns="91425" wrap="square" tIns="45700">
            <a:normAutofit fontScale="92500"/>
          </a:bodyPr>
          <a:lstStyle/>
          <a:p>
            <a:pPr indent="0" lvl="0" marL="0" rtl="0" algn="ctr">
              <a:spcBef>
                <a:spcPts val="0"/>
              </a:spcBef>
              <a:spcAft>
                <a:spcPts val="0"/>
              </a:spcAft>
              <a:buClr>
                <a:schemeClr val="dk1"/>
              </a:buClr>
              <a:buSzPct val="100000"/>
              <a:buNone/>
            </a:pPr>
            <a:r>
              <a:rPr b="1" lang="en-US" sz="2400"/>
              <a:t>Assignment:   </a:t>
            </a:r>
            <a:endParaRPr b="1" sz="2400"/>
          </a:p>
          <a:p>
            <a:pPr indent="-342900" lvl="0" marL="342900" rtl="0" algn="l">
              <a:spcBef>
                <a:spcPts val="444"/>
              </a:spcBef>
              <a:spcAft>
                <a:spcPts val="0"/>
              </a:spcAft>
              <a:buClr>
                <a:schemeClr val="dk1"/>
              </a:buClr>
              <a:buSzPct val="100000"/>
              <a:buChar char="•"/>
            </a:pPr>
            <a:r>
              <a:rPr b="1" lang="en-US" sz="2400"/>
              <a:t>Consider a software project with the following information domain characteristic for the calculation of function point metric.</a:t>
            </a:r>
            <a:endParaRPr/>
          </a:p>
          <a:p>
            <a:pPr indent="-342900" lvl="0" marL="342900" rtl="0" algn="l">
              <a:spcBef>
                <a:spcPts val="444"/>
              </a:spcBef>
              <a:spcAft>
                <a:spcPts val="0"/>
              </a:spcAft>
              <a:buClr>
                <a:schemeClr val="dk1"/>
              </a:buClr>
              <a:buSzPct val="100000"/>
              <a:buChar char="•"/>
            </a:pPr>
            <a:r>
              <a:rPr i="1" lang="en-US" sz="2400"/>
              <a:t>Number of external inputs (I) = 30</a:t>
            </a:r>
            <a:endParaRPr/>
          </a:p>
          <a:p>
            <a:pPr indent="-342900" lvl="0" marL="342900" rtl="0" algn="l">
              <a:spcBef>
                <a:spcPts val="444"/>
              </a:spcBef>
              <a:spcAft>
                <a:spcPts val="0"/>
              </a:spcAft>
              <a:buClr>
                <a:schemeClr val="dk1"/>
              </a:buClr>
              <a:buSzPct val="100000"/>
              <a:buChar char="•"/>
            </a:pPr>
            <a:r>
              <a:rPr i="1" lang="en-US" sz="2400"/>
              <a:t>Number of external output (O) = 60</a:t>
            </a:r>
            <a:endParaRPr/>
          </a:p>
          <a:p>
            <a:pPr indent="-342900" lvl="0" marL="342900" rtl="0" algn="l">
              <a:spcBef>
                <a:spcPts val="444"/>
              </a:spcBef>
              <a:spcAft>
                <a:spcPts val="0"/>
              </a:spcAft>
              <a:buClr>
                <a:schemeClr val="dk1"/>
              </a:buClr>
              <a:buSzPct val="100000"/>
              <a:buChar char="•"/>
            </a:pPr>
            <a:r>
              <a:rPr i="1" lang="en-US" sz="2400"/>
              <a:t>Number of external inquiries (E) = 23</a:t>
            </a:r>
            <a:endParaRPr/>
          </a:p>
          <a:p>
            <a:pPr indent="-342900" lvl="0" marL="342900" rtl="0" algn="l">
              <a:spcBef>
                <a:spcPts val="444"/>
              </a:spcBef>
              <a:spcAft>
                <a:spcPts val="0"/>
              </a:spcAft>
              <a:buClr>
                <a:schemeClr val="dk1"/>
              </a:buClr>
              <a:buSzPct val="100000"/>
              <a:buChar char="•"/>
            </a:pPr>
            <a:r>
              <a:rPr i="1" lang="en-US" sz="2400"/>
              <a:t>Number of files (F) = 08</a:t>
            </a:r>
            <a:endParaRPr/>
          </a:p>
          <a:p>
            <a:pPr indent="-342900" lvl="0" marL="342900" rtl="0" algn="l">
              <a:spcBef>
                <a:spcPts val="444"/>
              </a:spcBef>
              <a:spcAft>
                <a:spcPts val="0"/>
              </a:spcAft>
              <a:buClr>
                <a:schemeClr val="dk1"/>
              </a:buClr>
              <a:buSzPct val="100000"/>
              <a:buChar char="•"/>
            </a:pPr>
            <a:r>
              <a:rPr i="1" lang="en-US" sz="2400"/>
              <a:t>Number of external interfaces (N) = 02</a:t>
            </a:r>
            <a:endParaRPr/>
          </a:p>
          <a:p>
            <a:pPr indent="-342900" lvl="0" marL="342900" rtl="0" algn="l">
              <a:spcBef>
                <a:spcPts val="444"/>
              </a:spcBef>
              <a:spcAft>
                <a:spcPts val="0"/>
              </a:spcAft>
              <a:buClr>
                <a:schemeClr val="dk1"/>
              </a:buClr>
              <a:buSzPct val="100000"/>
              <a:buChar char="•"/>
            </a:pPr>
            <a:r>
              <a:rPr b="1" lang="en-US" sz="2400"/>
              <a:t>It is given that the complexity weighting factors for I, O, E, F, and N are 4, 5, 4, 10, and 7, respectively. It is also given that, out of fourteen value adjustment factors that influence the development effort, four factors are not applicable, each of the other four factors has value 3, and each of the remaining factors has value 4. The computed value of the function point metric is ?</a:t>
            </a:r>
            <a:endParaRPr i="1" sz="2400"/>
          </a:p>
          <a:p>
            <a:pPr indent="-201930" lvl="0" marL="342900" rtl="0" algn="l">
              <a:spcBef>
                <a:spcPts val="444"/>
              </a:spcBef>
              <a:spcAft>
                <a:spcPts val="0"/>
              </a:spcAft>
              <a:buClr>
                <a:schemeClr val="dk1"/>
              </a:buClr>
              <a:buSzPct val="100000"/>
              <a:buNone/>
            </a:pPr>
            <a:r>
              <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9"/>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213" name="Google Shape;213;p19"/>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150495" rtl="0" algn="r">
              <a:lnSpc>
                <a:spcPct val="155333"/>
              </a:lnSpc>
              <a:spcBef>
                <a:spcPts val="0"/>
              </a:spcBef>
              <a:spcAft>
                <a:spcPts val="0"/>
              </a:spcAft>
              <a:buNone/>
            </a:pPr>
            <a:fld id="{00000000-1234-1234-1234-123412341234}" type="slidenum">
              <a:rPr lang="en-US"/>
              <a:t>‹#›</a:t>
            </a:fld>
            <a:endParaRPr/>
          </a:p>
        </p:txBody>
      </p:sp>
      <p:sp>
        <p:nvSpPr>
          <p:cNvPr id="214" name="Google Shape;214;p19"/>
          <p:cNvSpPr txBox="1"/>
          <p:nvPr/>
        </p:nvSpPr>
        <p:spPr>
          <a:xfrm>
            <a:off x="299846" y="654253"/>
            <a:ext cx="8576310" cy="5883662"/>
          </a:xfrm>
          <a:prstGeom prst="rect">
            <a:avLst/>
          </a:prstGeom>
          <a:noFill/>
          <a:ln>
            <a:noFill/>
          </a:ln>
        </p:spPr>
        <p:txBody>
          <a:bodyPr anchorCtr="0" anchor="t" bIns="0" lIns="0" spcFirstLastPara="1" rIns="0" wrap="square" tIns="56500">
            <a:spAutoFit/>
          </a:bodyPr>
          <a:lstStyle/>
          <a:p>
            <a:pPr indent="-171448" lvl="0" marL="25400" marR="434340" rtl="0" algn="l">
              <a:lnSpc>
                <a:spcPct val="89600"/>
              </a:lnSpc>
              <a:spcBef>
                <a:spcPts val="0"/>
              </a:spcBef>
              <a:spcAft>
                <a:spcPts val="0"/>
              </a:spcAft>
              <a:buClr>
                <a:schemeClr val="dk1"/>
              </a:buClr>
              <a:buSzPts val="2700"/>
              <a:buFont typeface="Arial"/>
              <a:buChar char="•"/>
            </a:pPr>
            <a:r>
              <a:rPr b="0" i="0" lang="en-US" sz="2800" u="none" cap="none" strike="noStrike">
                <a:solidFill>
                  <a:schemeClr val="dk1"/>
                </a:solidFill>
                <a:latin typeface="Calibri"/>
                <a:ea typeface="Calibri"/>
                <a:cs typeface="Calibri"/>
                <a:sym typeface="Calibri"/>
              </a:rPr>
              <a:t>	Once function points have been calculated, they are used in a manner analogous to LOC as a way to normalize measures for software productivity, quality, and other attributes:</a:t>
            </a:r>
            <a:endParaRPr b="0" i="0" sz="2800" u="none" cap="none" strike="noStrike">
              <a:solidFill>
                <a:schemeClr val="dk1"/>
              </a:solidFill>
              <a:latin typeface="Calibri"/>
              <a:ea typeface="Calibri"/>
              <a:cs typeface="Calibri"/>
              <a:sym typeface="Calibri"/>
            </a:endParaRPr>
          </a:p>
          <a:p>
            <a:pPr indent="-219709" lvl="1" marL="702310" marR="0" rtl="0" algn="l">
              <a:lnSpc>
                <a:spcPct val="100000"/>
              </a:lnSpc>
              <a:spcBef>
                <a:spcPts val="235"/>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Errors per FP.</a:t>
            </a:r>
            <a:endParaRPr b="0" i="0" sz="2400" u="none" cap="none" strike="noStrike">
              <a:solidFill>
                <a:schemeClr val="dk1"/>
              </a:solidFill>
              <a:latin typeface="Calibri"/>
              <a:ea typeface="Calibri"/>
              <a:cs typeface="Calibri"/>
              <a:sym typeface="Calibri"/>
            </a:endParaRPr>
          </a:p>
          <a:p>
            <a:pPr indent="-219075" lvl="1" marL="701675" marR="0" rtl="0" algn="l">
              <a:lnSpc>
                <a:spcPct val="100000"/>
              </a:lnSpc>
              <a:spcBef>
                <a:spcPts val="215"/>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Defects per FP.</a:t>
            </a:r>
            <a:endParaRPr b="0" i="0" sz="2400" u="none" cap="none" strike="noStrike">
              <a:solidFill>
                <a:schemeClr val="dk1"/>
              </a:solidFill>
              <a:latin typeface="Calibri"/>
              <a:ea typeface="Calibri"/>
              <a:cs typeface="Calibri"/>
              <a:sym typeface="Calibri"/>
            </a:endParaRPr>
          </a:p>
          <a:p>
            <a:pPr indent="-219075" lvl="1" marL="701675" marR="0" rtl="0" algn="l">
              <a:lnSpc>
                <a:spcPct val="100000"/>
              </a:lnSpc>
              <a:spcBef>
                <a:spcPts val="215"/>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 per FP.</a:t>
            </a:r>
            <a:endParaRPr b="0" i="0" sz="2400" u="none" cap="none" strike="noStrike">
              <a:solidFill>
                <a:schemeClr val="dk1"/>
              </a:solidFill>
              <a:latin typeface="Calibri"/>
              <a:ea typeface="Calibri"/>
              <a:cs typeface="Calibri"/>
              <a:sym typeface="Calibri"/>
            </a:endParaRPr>
          </a:p>
          <a:p>
            <a:pPr indent="-219709" lvl="1" marL="702310" marR="0" rtl="0" algn="l">
              <a:lnSpc>
                <a:spcPct val="100000"/>
              </a:lnSpc>
              <a:spcBef>
                <a:spcPts val="209"/>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Pages of documentation per FP.</a:t>
            </a:r>
            <a:endParaRPr b="0" i="0" sz="2400" u="none" cap="none" strike="noStrike">
              <a:solidFill>
                <a:schemeClr val="dk1"/>
              </a:solidFill>
              <a:latin typeface="Calibri"/>
              <a:ea typeface="Calibri"/>
              <a:cs typeface="Calibri"/>
              <a:sym typeface="Calibri"/>
            </a:endParaRPr>
          </a:p>
          <a:p>
            <a:pPr indent="-219075" lvl="1" marL="701675" marR="0" rtl="0" algn="l">
              <a:lnSpc>
                <a:spcPct val="100000"/>
              </a:lnSpc>
              <a:spcBef>
                <a:spcPts val="215"/>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FP per person-month.</a:t>
            </a:r>
            <a:endParaRPr b="0" i="0" sz="2400" u="none" cap="none" strike="noStrike">
              <a:solidFill>
                <a:schemeClr val="dk1"/>
              </a:solidFill>
              <a:latin typeface="Calibri"/>
              <a:ea typeface="Calibri"/>
              <a:cs typeface="Calibri"/>
              <a:sym typeface="Calibri"/>
            </a:endParaRPr>
          </a:p>
          <a:p>
            <a:pPr indent="0" lvl="0" marL="58419" marR="0" rtl="0" algn="l">
              <a:lnSpc>
                <a:spcPct val="112500"/>
              </a:lnSpc>
              <a:spcBef>
                <a:spcPts val="2910"/>
              </a:spcBef>
              <a:spcAft>
                <a:spcPts val="0"/>
              </a:spcAft>
              <a:buNone/>
            </a:pPr>
            <a:r>
              <a:rPr b="1" i="0" lang="en-US" sz="2800" u="none" cap="none" strike="noStrike">
                <a:solidFill>
                  <a:srgbClr val="3C85C5"/>
                </a:solidFill>
                <a:latin typeface="Arial"/>
                <a:ea typeface="Arial"/>
                <a:cs typeface="Arial"/>
                <a:sym typeface="Arial"/>
              </a:rPr>
              <a:t>Reference:</a:t>
            </a:r>
            <a:endParaRPr b="0" i="0" sz="2800" u="none" cap="none" strike="noStrike">
              <a:solidFill>
                <a:schemeClr val="dk1"/>
              </a:solidFill>
              <a:latin typeface="Arial"/>
              <a:ea typeface="Arial"/>
              <a:cs typeface="Arial"/>
              <a:sym typeface="Arial"/>
            </a:endParaRPr>
          </a:p>
          <a:p>
            <a:pPr indent="-171448" lvl="0" marL="58419" marR="273050" rtl="0" algn="l">
              <a:lnSpc>
                <a:spcPct val="107142"/>
              </a:lnSpc>
              <a:spcBef>
                <a:spcPts val="190"/>
              </a:spcBef>
              <a:spcAft>
                <a:spcPts val="0"/>
              </a:spcAft>
              <a:buClr>
                <a:schemeClr val="dk1"/>
              </a:buClr>
              <a:buSzPts val="2700"/>
              <a:buFont typeface="Arial"/>
              <a:buAutoNum type="arabicPeriod"/>
            </a:pPr>
            <a:r>
              <a:rPr b="1" i="0" lang="en-US" sz="2800" u="none" cap="none" strike="noStrike">
                <a:solidFill>
                  <a:schemeClr val="dk1"/>
                </a:solidFill>
                <a:latin typeface="Calibri"/>
                <a:ea typeface="Calibri"/>
                <a:cs typeface="Calibri"/>
                <a:sym typeface="Calibri"/>
              </a:rPr>
              <a:t>Rajesh Narang, Software Engineering Principles &amp; Practices, McGraw Hill, (318-329)</a:t>
            </a:r>
            <a:endParaRPr b="0" i="0" sz="2800" u="none" cap="none" strike="noStrike">
              <a:solidFill>
                <a:schemeClr val="dk1"/>
              </a:solidFill>
              <a:latin typeface="Calibri"/>
              <a:ea typeface="Calibri"/>
              <a:cs typeface="Calibri"/>
              <a:sym typeface="Calibri"/>
            </a:endParaRPr>
          </a:p>
          <a:p>
            <a:pPr indent="-355599" lvl="0" marL="414019" marR="0" rtl="0" algn="l">
              <a:lnSpc>
                <a:spcPct val="101071"/>
              </a:lnSpc>
              <a:spcBef>
                <a:spcPts val="0"/>
              </a:spcBef>
              <a:spcAft>
                <a:spcPts val="0"/>
              </a:spcAft>
              <a:buClr>
                <a:schemeClr val="dk1"/>
              </a:buClr>
              <a:buSzPts val="2800"/>
              <a:buFont typeface="Calibri"/>
              <a:buAutoNum type="arabicPeriod"/>
            </a:pPr>
            <a:r>
              <a:rPr b="1" i="0" lang="en-US" sz="2800" u="none" cap="none" strike="noStrike">
                <a:solidFill>
                  <a:schemeClr val="dk1"/>
                </a:solidFill>
                <a:latin typeface="Calibri"/>
                <a:ea typeface="Calibri"/>
                <a:cs typeface="Calibri"/>
                <a:sym typeface="Calibri"/>
              </a:rPr>
              <a:t>Roger S. Pressman Software Engineering Practitioner’s Approach, McGraw Hill, 5</a:t>
            </a:r>
            <a:r>
              <a:rPr b="1" baseline="30000" i="0" lang="en-US" sz="2775" u="none" cap="none" strike="noStrike">
                <a:solidFill>
                  <a:schemeClr val="dk1"/>
                </a:solidFill>
                <a:latin typeface="Calibri"/>
                <a:ea typeface="Calibri"/>
                <a:cs typeface="Calibri"/>
                <a:sym typeface="Calibri"/>
              </a:rPr>
              <a:t>th </a:t>
            </a:r>
            <a:r>
              <a:rPr b="1" i="0" lang="en-US" sz="2800" u="none" cap="none" strike="noStrike">
                <a:solidFill>
                  <a:schemeClr val="dk1"/>
                </a:solidFill>
                <a:latin typeface="Calibri"/>
                <a:ea typeface="Calibri"/>
                <a:cs typeface="Calibri"/>
                <a:sym typeface="Calibri"/>
              </a:rPr>
              <a:t>edition	(89-91)</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0"/>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220" name="Google Shape;220;p20"/>
          <p:cNvSpPr txBox="1"/>
          <p:nvPr>
            <p:ph idx="4294967295" type="sldNum"/>
          </p:nvPr>
        </p:nvSpPr>
        <p:spPr>
          <a:xfrm>
            <a:off x="8164259" y="6420407"/>
            <a:ext cx="320802" cy="487313"/>
          </a:xfrm>
          <a:prstGeom prst="rect">
            <a:avLst/>
          </a:prstGeom>
          <a:noFill/>
          <a:ln>
            <a:noFill/>
          </a:ln>
        </p:spPr>
        <p:txBody>
          <a:bodyPr anchorCtr="0" anchor="ctr" bIns="0" lIns="0" spcFirstLastPara="1" rIns="0" wrap="square" tIns="0">
            <a:spAutoFit/>
          </a:bodyPr>
          <a:lstStyle/>
          <a:p>
            <a:pPr indent="0" lvl="0" marL="150495" rtl="0" algn="r">
              <a:lnSpc>
                <a:spcPct val="155333"/>
              </a:lnSpc>
              <a:spcBef>
                <a:spcPts val="0"/>
              </a:spcBef>
              <a:spcAft>
                <a:spcPts val="0"/>
              </a:spcAft>
              <a:buNone/>
            </a:pPr>
            <a:fld id="{00000000-1234-1234-1234-123412341234}" type="slidenum">
              <a:rPr lang="en-US"/>
              <a:t>‹#›</a:t>
            </a:fld>
            <a:endParaRPr/>
          </a:p>
        </p:txBody>
      </p:sp>
      <p:sp>
        <p:nvSpPr>
          <p:cNvPr id="221" name="Google Shape;221;p20"/>
          <p:cNvSpPr txBox="1"/>
          <p:nvPr>
            <p:ph type="title"/>
          </p:nvPr>
        </p:nvSpPr>
        <p:spPr>
          <a:xfrm>
            <a:off x="270681" y="-72970"/>
            <a:ext cx="8676208" cy="1519647"/>
          </a:xfrm>
          <a:prstGeom prst="rect">
            <a:avLst/>
          </a:prstGeom>
          <a:noFill/>
          <a:ln>
            <a:noFill/>
          </a:ln>
        </p:spPr>
        <p:txBody>
          <a:bodyPr anchorCtr="0" anchor="ctr" bIns="0" lIns="0" spcFirstLastPara="1" rIns="0" wrap="square" tIns="133350">
            <a:spAutoFit/>
          </a:bodyPr>
          <a:lstStyle/>
          <a:p>
            <a:pPr indent="0" lvl="0" marL="833755" rtl="0" algn="l">
              <a:spcBef>
                <a:spcPts val="0"/>
              </a:spcBef>
              <a:spcAft>
                <a:spcPts val="0"/>
              </a:spcAft>
              <a:buClr>
                <a:schemeClr val="dk1"/>
              </a:buClr>
              <a:buSzPts val="1800"/>
              <a:buFont typeface="Calibri"/>
              <a:buNone/>
            </a:pPr>
            <a:r>
              <a:rPr lang="en-US" sz="1800"/>
              <a:t>Software Product Estimation</a:t>
            </a:r>
            <a:br>
              <a:rPr lang="en-US" sz="2800"/>
            </a:br>
            <a:r>
              <a:rPr b="1" lang="en-US" sz="3600">
                <a:solidFill>
                  <a:srgbClr val="538CD5"/>
                </a:solidFill>
              </a:rPr>
              <a:t>COCOMO model </a:t>
            </a:r>
            <a:br>
              <a:rPr b="1" lang="en-US" sz="3600">
                <a:solidFill>
                  <a:srgbClr val="538CD5"/>
                </a:solidFill>
              </a:rPr>
            </a:br>
            <a:r>
              <a:rPr b="1" lang="en-US" sz="3600">
                <a:solidFill>
                  <a:srgbClr val="538CD5"/>
                </a:solidFill>
              </a:rPr>
              <a:t>(Constructive Cost Estimation Model)</a:t>
            </a:r>
            <a:endParaRPr b="1" sz="3600">
              <a:solidFill>
                <a:srgbClr val="538CD5"/>
              </a:solidFill>
              <a:latin typeface="Calibri"/>
              <a:ea typeface="Calibri"/>
              <a:cs typeface="Calibri"/>
              <a:sym typeface="Calibri"/>
            </a:endParaRPr>
          </a:p>
        </p:txBody>
      </p:sp>
      <p:sp>
        <p:nvSpPr>
          <p:cNvPr id="222" name="Google Shape;222;p20"/>
          <p:cNvSpPr txBox="1"/>
          <p:nvPr/>
        </p:nvSpPr>
        <p:spPr>
          <a:xfrm>
            <a:off x="467791" y="1484784"/>
            <a:ext cx="8281988" cy="5207964"/>
          </a:xfrm>
          <a:prstGeom prst="rect">
            <a:avLst/>
          </a:prstGeom>
          <a:noFill/>
          <a:ln>
            <a:noFill/>
          </a:ln>
        </p:spPr>
        <p:txBody>
          <a:bodyPr anchorCtr="0" anchor="t" bIns="0" lIns="0" spcFirstLastPara="1" rIns="0" wrap="square" tIns="62850">
            <a:spAutoFit/>
          </a:bodyPr>
          <a:lstStyle/>
          <a:p>
            <a:pPr indent="-171448" lvl="0" marL="12700" marR="548640" rtl="0" algn="l">
              <a:lnSpc>
                <a:spcPct val="107142"/>
              </a:lnSpc>
              <a:spcBef>
                <a:spcPts val="0"/>
              </a:spcBef>
              <a:spcAft>
                <a:spcPts val="0"/>
              </a:spcAft>
              <a:buClr>
                <a:schemeClr val="dk1"/>
              </a:buClr>
              <a:buSzPts val="2700"/>
              <a:buFont typeface="Arial"/>
              <a:buChar char="•"/>
            </a:pPr>
            <a:r>
              <a:rPr b="0" i="0" lang="en-US" sz="2800" u="none" cap="none" strike="noStrike">
                <a:solidFill>
                  <a:schemeClr val="dk1"/>
                </a:solidFill>
                <a:latin typeface="Calibri"/>
                <a:ea typeface="Calibri"/>
                <a:cs typeface="Calibri"/>
                <a:sym typeface="Calibri"/>
              </a:rPr>
              <a:t>	B</a:t>
            </a:r>
            <a:r>
              <a:rPr b="0" i="0" lang="en-US" sz="2800" u="sng" cap="none" strike="noStrike">
                <a:solidFill>
                  <a:schemeClr val="dk1"/>
                </a:solidFill>
                <a:latin typeface="Calibri"/>
                <a:ea typeface="Calibri"/>
                <a:cs typeface="Calibri"/>
                <a:sym typeface="Calibri"/>
              </a:rPr>
              <a:t>asic Effort Estimation Model uses size of Code </a:t>
            </a:r>
            <a:r>
              <a:rPr b="0" i="0" lang="en-US" sz="2800" u="none" cap="none" strike="noStrike">
                <a:solidFill>
                  <a:schemeClr val="dk1"/>
                </a:solidFill>
                <a:latin typeface="Calibri"/>
                <a:ea typeface="Calibri"/>
                <a:cs typeface="Calibri"/>
                <a:sym typeface="Calibri"/>
              </a:rPr>
              <a:t>to estimate </a:t>
            </a:r>
            <a:r>
              <a:rPr b="1" i="0" lang="en-US" sz="2800" u="none" cap="none" strike="noStrike">
                <a:solidFill>
                  <a:srgbClr val="1F4E79"/>
                </a:solidFill>
                <a:latin typeface="Calibri"/>
                <a:ea typeface="Calibri"/>
                <a:cs typeface="Calibri"/>
                <a:sym typeface="Calibri"/>
              </a:rPr>
              <a:t>man month effort </a:t>
            </a:r>
            <a:r>
              <a:rPr b="0" i="0" lang="en-US" sz="2800" u="none" cap="none" strike="noStrike">
                <a:solidFill>
                  <a:schemeClr val="dk1"/>
                </a:solidFill>
                <a:latin typeface="Calibri"/>
                <a:ea typeface="Calibri"/>
                <a:cs typeface="Calibri"/>
                <a:sym typeface="Calibri"/>
              </a:rPr>
              <a:t>and </a:t>
            </a:r>
            <a:r>
              <a:rPr b="1" i="0" lang="en-US" sz="2800" u="none" cap="none" strike="noStrike">
                <a:solidFill>
                  <a:srgbClr val="1F4E79"/>
                </a:solidFill>
                <a:latin typeface="Calibri"/>
                <a:ea typeface="Calibri"/>
                <a:cs typeface="Calibri"/>
                <a:sym typeface="Calibri"/>
              </a:rPr>
              <a:t>project duration in month.</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166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171448" lvl="0" marL="12700" marR="859789" rtl="0" algn="l">
              <a:lnSpc>
                <a:spcPct val="107142"/>
              </a:lnSpc>
              <a:spcBef>
                <a:spcPts val="0"/>
              </a:spcBef>
              <a:spcAft>
                <a:spcPts val="0"/>
              </a:spcAft>
              <a:buClr>
                <a:srgbClr val="000000"/>
              </a:buClr>
              <a:buSzPts val="2700"/>
              <a:buFont typeface="Arial"/>
              <a:buChar char="•"/>
            </a:pPr>
            <a:r>
              <a:rPr b="1" i="0" lang="en-US" sz="2800" u="none" cap="none" strike="noStrike">
                <a:solidFill>
                  <a:srgbClr val="001F5F"/>
                </a:solidFill>
                <a:latin typeface="Calibri"/>
                <a:ea typeface="Calibri"/>
                <a:cs typeface="Calibri"/>
                <a:sym typeface="Calibri"/>
              </a:rPr>
              <a:t>	Effort: </a:t>
            </a:r>
            <a:r>
              <a:rPr b="0" i="0" lang="en-US" sz="2800" u="none" cap="none" strike="noStrike">
                <a:solidFill>
                  <a:schemeClr val="dk1"/>
                </a:solidFill>
                <a:latin typeface="Calibri"/>
                <a:ea typeface="Calibri"/>
                <a:cs typeface="Calibri"/>
                <a:sym typeface="Calibri"/>
              </a:rPr>
              <a:t>Amount of labour that will be required to complete a task. It is measured in person-months units.</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1595"/>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171448" lvl="0" marL="12700" marR="5080" rtl="0" algn="l">
              <a:lnSpc>
                <a:spcPct val="90000"/>
              </a:lnSpc>
              <a:spcBef>
                <a:spcPts val="0"/>
              </a:spcBef>
              <a:spcAft>
                <a:spcPts val="0"/>
              </a:spcAft>
              <a:buClr>
                <a:srgbClr val="000000"/>
              </a:buClr>
              <a:buSzPts val="2700"/>
              <a:buFont typeface="Arial"/>
              <a:buChar char="•"/>
            </a:pPr>
            <a:r>
              <a:rPr b="1" i="0" lang="en-US" sz="2800" u="none" cap="none" strike="noStrike">
                <a:solidFill>
                  <a:srgbClr val="001F5F"/>
                </a:solidFill>
                <a:latin typeface="Calibri"/>
                <a:ea typeface="Calibri"/>
                <a:cs typeface="Calibri"/>
                <a:sym typeface="Calibri"/>
              </a:rPr>
              <a:t>	Schedule: </a:t>
            </a:r>
            <a:r>
              <a:rPr b="0" i="0" lang="en-US" sz="2800" u="none" cap="none" strike="noStrike">
                <a:solidFill>
                  <a:schemeClr val="dk1"/>
                </a:solidFill>
                <a:latin typeface="Calibri"/>
                <a:ea typeface="Calibri"/>
                <a:cs typeface="Calibri"/>
                <a:sym typeface="Calibri"/>
              </a:rPr>
              <a:t>Simply means the amount of time required for the completion of the job, which is, of course, proportional to the effort put. It is measured in the units of time such as weeks, months.</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1"/>
          <p:cNvSpPr txBox="1"/>
          <p:nvPr/>
        </p:nvSpPr>
        <p:spPr>
          <a:xfrm>
            <a:off x="467792" y="654812"/>
            <a:ext cx="8448199" cy="6072432"/>
          </a:xfrm>
          <a:prstGeom prst="rect">
            <a:avLst/>
          </a:prstGeom>
          <a:noFill/>
          <a:ln>
            <a:noFill/>
          </a:ln>
        </p:spPr>
        <p:txBody>
          <a:bodyPr anchorCtr="0" anchor="t" bIns="0" lIns="0" spcFirstLastPara="1" rIns="0" wrap="square" tIns="0">
            <a:spAutoFit/>
          </a:bodyPr>
          <a:lstStyle/>
          <a:p>
            <a:pPr indent="-158748" lvl="0" marL="128270" marR="0" rtl="0" algn="just">
              <a:lnSpc>
                <a:spcPct val="125833"/>
              </a:lnSpc>
              <a:spcBef>
                <a:spcPts val="0"/>
              </a:spcBef>
              <a:spcAft>
                <a:spcPts val="0"/>
              </a:spcAft>
              <a:buClr>
                <a:srgbClr val="000000"/>
              </a:buClr>
              <a:buSzPts val="2500"/>
              <a:buFont typeface="Arial"/>
              <a:buChar char="•"/>
            </a:pPr>
            <a:r>
              <a:rPr b="1" i="0" lang="en-US" sz="2400" u="none" cap="none" strike="noStrike">
                <a:solidFill>
                  <a:srgbClr val="1F4E79"/>
                </a:solidFill>
                <a:latin typeface="Calibri"/>
                <a:ea typeface="Calibri"/>
                <a:cs typeface="Calibri"/>
                <a:sym typeface="Calibri"/>
              </a:rPr>
              <a:t>Software are categorized into :</a:t>
            </a:r>
            <a:endParaRPr b="0" i="0" sz="2400" u="none" cap="none" strike="noStrike">
              <a:solidFill>
                <a:schemeClr val="dk1"/>
              </a:solidFill>
              <a:latin typeface="Calibri"/>
              <a:ea typeface="Calibri"/>
              <a:cs typeface="Calibri"/>
              <a:sym typeface="Calibri"/>
            </a:endParaRPr>
          </a:p>
          <a:p>
            <a:pPr indent="-142875" lvl="0" marL="12700" marR="6350" rtl="0" algn="just">
              <a:lnSpc>
                <a:spcPct val="89800"/>
              </a:lnSpc>
              <a:spcBef>
                <a:spcPts val="0"/>
              </a:spcBef>
              <a:spcAft>
                <a:spcPts val="0"/>
              </a:spcAft>
              <a:buClr>
                <a:srgbClr val="000000"/>
              </a:buClr>
              <a:buSzPts val="2250"/>
              <a:buFont typeface="Arial"/>
              <a:buAutoNum type="arabicPeriod"/>
            </a:pPr>
            <a:r>
              <a:rPr b="1" i="0" lang="en-US" sz="2400" u="none" cap="none" strike="noStrike">
                <a:solidFill>
                  <a:srgbClr val="1F4E79"/>
                </a:solidFill>
                <a:latin typeface="Calibri"/>
                <a:ea typeface="Calibri"/>
                <a:cs typeface="Calibri"/>
                <a:sym typeface="Calibri"/>
              </a:rPr>
              <a:t>Organic: </a:t>
            </a:r>
            <a:endParaRPr b="1" i="0" sz="2400" u="none" cap="none" strike="noStrike">
              <a:solidFill>
                <a:srgbClr val="1F4E79"/>
              </a:solidFill>
              <a:latin typeface="Calibri"/>
              <a:ea typeface="Calibri"/>
              <a:cs typeface="Calibri"/>
              <a:sym typeface="Calibri"/>
            </a:endParaRPr>
          </a:p>
          <a:p>
            <a:pPr indent="-342900" lvl="1" marL="803910" marR="6350" rtl="0" algn="just">
              <a:lnSpc>
                <a:spcPct val="89800"/>
              </a:lnSpc>
              <a:spcBef>
                <a:spcPts val="0"/>
              </a:spcBef>
              <a:spcAft>
                <a:spcPts val="0"/>
              </a:spcAft>
              <a:buClr>
                <a:srgbClr val="000000"/>
              </a:buClr>
              <a:buSzPts val="2250"/>
              <a:buFont typeface="Arial"/>
              <a:buChar char="•"/>
            </a:pPr>
            <a:r>
              <a:rPr b="0" i="0" lang="en-US" sz="2400" u="none" cap="none" strike="noStrike">
                <a:solidFill>
                  <a:schemeClr val="dk1"/>
                </a:solidFill>
                <a:latin typeface="Calibri"/>
                <a:ea typeface="Calibri"/>
                <a:cs typeface="Calibri"/>
                <a:sym typeface="Calibri"/>
              </a:rPr>
              <a:t>If the team size required is adequately small, the problem is well understood and has been solved in the past and also the team members have a nominal experience regarding the problem.</a:t>
            </a:r>
            <a:endParaRPr b="0" i="0" sz="2400" u="none" cap="none" strike="noStrike">
              <a:solidFill>
                <a:schemeClr val="dk1"/>
              </a:solidFill>
              <a:latin typeface="Calibri"/>
              <a:ea typeface="Calibri"/>
              <a:cs typeface="Calibri"/>
              <a:sym typeface="Calibri"/>
            </a:endParaRPr>
          </a:p>
          <a:p>
            <a:pPr indent="0" lvl="0" marL="3810" marR="6350" rtl="0" algn="just">
              <a:lnSpc>
                <a:spcPct val="89800"/>
              </a:lnSpc>
              <a:spcBef>
                <a:spcPts val="0"/>
              </a:spcBef>
              <a:spcAft>
                <a:spcPts val="0"/>
              </a:spcAft>
              <a:buNone/>
            </a:pPr>
            <a:r>
              <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1" i="0" lang="en-US" sz="2400" u="none" cap="none" strike="noStrike">
                <a:solidFill>
                  <a:srgbClr val="1F4E79"/>
                </a:solidFill>
                <a:latin typeface="Calibri"/>
                <a:ea typeface="Calibri"/>
                <a:cs typeface="Calibri"/>
                <a:sym typeface="Calibri"/>
              </a:rPr>
              <a:t>2. Semi-detached  projects</a:t>
            </a:r>
            <a:r>
              <a:rPr b="0" i="0" lang="en-US" sz="2400" u="none" cap="none" strike="noStrike">
                <a:solidFill>
                  <a:schemeClr val="dk1"/>
                </a:solidFill>
                <a:latin typeface="Calibri"/>
                <a:ea typeface="Calibri"/>
                <a:cs typeface="Calibri"/>
                <a:sym typeface="Calibri"/>
              </a:rPr>
              <a:t>:  </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If  the  vital  characteristics  such  as  team-size,  experience, knowledge of the various programming environment lie in between that of organic and Embedded.</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projects classified as Semi-Detached are comparatively less familiar and difficult to develop  compared  to  the  organic  ones  and  require  more  experience  and  better guidance and creativity.</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Eg: Compilers or different Embedded Systems can be considered of Semi-Detached type</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33" name="Google Shape;233;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3.</a:t>
            </a:r>
            <a:r>
              <a:rPr b="1" lang="en-US">
                <a:solidFill>
                  <a:srgbClr val="1F4E79"/>
                </a:solidFill>
              </a:rPr>
              <a:t> Embedded Projects:  </a:t>
            </a:r>
            <a:endParaRPr b="1">
              <a:solidFill>
                <a:srgbClr val="1F4E79"/>
              </a:solidFill>
            </a:endParaRPr>
          </a:p>
          <a:p>
            <a:pPr indent="-342900" lvl="0" marL="342900" rtl="0" algn="l">
              <a:spcBef>
                <a:spcPts val="640"/>
              </a:spcBef>
              <a:spcAft>
                <a:spcPts val="0"/>
              </a:spcAft>
              <a:buClr>
                <a:schemeClr val="dk1"/>
              </a:buClr>
              <a:buSzPts val="3200"/>
              <a:buChar char="•"/>
            </a:pPr>
            <a:r>
              <a:rPr lang="en-US"/>
              <a:t>A software project with requiring the highest level of complexity, creativity, and experience requirement fall under this category. </a:t>
            </a:r>
            <a:endParaRPr/>
          </a:p>
          <a:p>
            <a:pPr indent="-342900" lvl="0" marL="342900" rtl="0" algn="l">
              <a:spcBef>
                <a:spcPts val="640"/>
              </a:spcBef>
              <a:spcAft>
                <a:spcPts val="0"/>
              </a:spcAft>
              <a:buClr>
                <a:schemeClr val="dk1"/>
              </a:buClr>
              <a:buSzPts val="3200"/>
              <a:buChar char="•"/>
            </a:pPr>
            <a:r>
              <a:rPr lang="en-US"/>
              <a:t>Such software requires a larger team size than the other two models and also the developers need to be sufficiently experienced and creative to develop such complex models.</a:t>
            </a:r>
            <a:endParaRPr/>
          </a:p>
          <a:p>
            <a:pPr indent="0" lvl="0" marL="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3"/>
          <p:cNvSpPr txBox="1"/>
          <p:nvPr>
            <p:ph type="title"/>
          </p:nvPr>
        </p:nvSpPr>
        <p:spPr>
          <a:xfrm>
            <a:off x="395536" y="274638"/>
            <a:ext cx="8291264" cy="63408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Comparison </a:t>
            </a:r>
            <a:endParaRPr/>
          </a:p>
        </p:txBody>
      </p:sp>
      <p:sp>
        <p:nvSpPr>
          <p:cNvPr id="239" name="Google Shape;239;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id="240" name="Google Shape;240;p23"/>
          <p:cNvPicPr preferRelativeResize="0"/>
          <p:nvPr/>
        </p:nvPicPr>
        <p:blipFill rotWithShape="1">
          <a:blip r:embed="rId3">
            <a:alphaModFix/>
          </a:blip>
          <a:srcRect b="0" l="0" r="0" t="0"/>
          <a:stretch/>
        </p:blipFill>
        <p:spPr>
          <a:xfrm>
            <a:off x="755576" y="1124744"/>
            <a:ext cx="7644623" cy="524671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Stages of COCOMO </a:t>
            </a:r>
            <a:endParaRPr/>
          </a:p>
        </p:txBody>
      </p:sp>
      <p:sp>
        <p:nvSpPr>
          <p:cNvPr id="246" name="Google Shape;246;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Basic </a:t>
            </a:r>
            <a:endParaRPr/>
          </a:p>
          <a:p>
            <a:pPr indent="-285750" lvl="1" marL="742950" rtl="0" algn="l">
              <a:spcBef>
                <a:spcPts val="560"/>
              </a:spcBef>
              <a:spcAft>
                <a:spcPts val="0"/>
              </a:spcAft>
              <a:buClr>
                <a:schemeClr val="dk1"/>
              </a:buClr>
              <a:buSzPts val="2800"/>
              <a:buChar char="–"/>
            </a:pPr>
            <a:r>
              <a:rPr lang="en-US"/>
              <a:t>Computes the basic estimation of project</a:t>
            </a:r>
            <a:endParaRPr/>
          </a:p>
          <a:p>
            <a:pPr indent="-342900" lvl="0" marL="342900" rtl="0" algn="l">
              <a:spcBef>
                <a:spcPts val="640"/>
              </a:spcBef>
              <a:spcAft>
                <a:spcPts val="0"/>
              </a:spcAft>
              <a:buClr>
                <a:schemeClr val="dk1"/>
              </a:buClr>
              <a:buSzPts val="3200"/>
              <a:buChar char="•"/>
            </a:pPr>
            <a:r>
              <a:rPr lang="en-US"/>
              <a:t>Intermediate</a:t>
            </a:r>
            <a:endParaRPr/>
          </a:p>
          <a:p>
            <a:pPr indent="-285750" lvl="1" marL="742950" rtl="0" algn="l">
              <a:spcBef>
                <a:spcPts val="560"/>
              </a:spcBef>
              <a:spcAft>
                <a:spcPts val="0"/>
              </a:spcAft>
              <a:buClr>
                <a:schemeClr val="dk1"/>
              </a:buClr>
              <a:buSzPts val="2800"/>
              <a:buChar char="–"/>
            </a:pPr>
            <a:r>
              <a:rPr lang="en-US"/>
              <a:t>It is the extension of basic model</a:t>
            </a:r>
            <a:endParaRPr/>
          </a:p>
          <a:p>
            <a:pPr indent="-285750" lvl="1" marL="742950" rtl="0" algn="l">
              <a:spcBef>
                <a:spcPts val="560"/>
              </a:spcBef>
              <a:spcAft>
                <a:spcPts val="0"/>
              </a:spcAft>
              <a:buClr>
                <a:schemeClr val="dk1"/>
              </a:buClr>
              <a:buSzPts val="2800"/>
              <a:buChar char="–"/>
            </a:pPr>
            <a:r>
              <a:rPr lang="en-US"/>
              <a:t>It refines the estimate obtained by basic model</a:t>
            </a:r>
            <a:endParaRPr/>
          </a:p>
          <a:p>
            <a:pPr indent="-342900" lvl="0" marL="342900" rtl="0" algn="l">
              <a:spcBef>
                <a:spcPts val="640"/>
              </a:spcBef>
              <a:spcAft>
                <a:spcPts val="0"/>
              </a:spcAft>
              <a:buClr>
                <a:schemeClr val="dk1"/>
              </a:buClr>
              <a:buSzPts val="3200"/>
              <a:buChar char="•"/>
            </a:pPr>
            <a:r>
              <a:rPr lang="en-US"/>
              <a:t>Detailed</a:t>
            </a:r>
            <a:endParaRPr/>
          </a:p>
          <a:p>
            <a:pPr indent="-139700" lvl="0" marL="34290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Basic COCOMO</a:t>
            </a:r>
            <a:endParaRPr/>
          </a:p>
        </p:txBody>
      </p:sp>
      <p:pic>
        <p:nvPicPr>
          <p:cNvPr id="252" name="Google Shape;252;p25"/>
          <p:cNvPicPr preferRelativeResize="0"/>
          <p:nvPr>
            <p:ph idx="1" type="body"/>
          </p:nvPr>
        </p:nvPicPr>
        <p:blipFill rotWithShape="1">
          <a:blip r:embed="rId3">
            <a:alphaModFix/>
          </a:blip>
          <a:srcRect b="0" l="0" r="0" t="0"/>
          <a:stretch/>
        </p:blipFill>
        <p:spPr>
          <a:xfrm>
            <a:off x="251520" y="2348880"/>
            <a:ext cx="8799378" cy="187220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6"/>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258" name="Google Shape;258;p26"/>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38100" rtl="0" algn="r">
              <a:lnSpc>
                <a:spcPct val="155333"/>
              </a:lnSpc>
              <a:spcBef>
                <a:spcPts val="0"/>
              </a:spcBef>
              <a:spcAft>
                <a:spcPts val="0"/>
              </a:spcAft>
              <a:buNone/>
            </a:pPr>
            <a:fld id="{00000000-1234-1234-1234-123412341234}" type="slidenum">
              <a:rPr lang="en-US"/>
              <a:t>‹#›</a:t>
            </a:fld>
            <a:endParaRPr/>
          </a:p>
        </p:txBody>
      </p:sp>
      <p:sp>
        <p:nvSpPr>
          <p:cNvPr id="259" name="Google Shape;259;p26"/>
          <p:cNvSpPr txBox="1"/>
          <p:nvPr>
            <p:ph type="title"/>
          </p:nvPr>
        </p:nvSpPr>
        <p:spPr>
          <a:xfrm>
            <a:off x="458267" y="125821"/>
            <a:ext cx="8229600" cy="689291"/>
          </a:xfrm>
          <a:prstGeom prst="rect">
            <a:avLst/>
          </a:prstGeom>
          <a:noFill/>
          <a:ln>
            <a:noFill/>
          </a:ln>
        </p:spPr>
        <p:txBody>
          <a:bodyPr anchorCtr="0" anchor="ctr" bIns="0" lIns="0" spcFirstLastPara="1" rIns="0" wrap="square" tIns="12050">
            <a:spAutoFit/>
          </a:bodyPr>
          <a:lstStyle/>
          <a:p>
            <a:pPr indent="0" lvl="0" marL="4128134" rtl="0" algn="ctr">
              <a:lnSpc>
                <a:spcPct val="100000"/>
              </a:lnSpc>
              <a:spcBef>
                <a:spcPts val="0"/>
              </a:spcBef>
              <a:spcAft>
                <a:spcPts val="0"/>
              </a:spcAft>
              <a:buClr>
                <a:schemeClr val="dk1"/>
              </a:buClr>
              <a:buSzPts val="4400"/>
              <a:buFont typeface="Calibri"/>
              <a:buNone/>
            </a:pPr>
            <a:r>
              <a:rPr lang="en-US"/>
              <a:t>COCOMO</a:t>
            </a:r>
            <a:endParaRPr/>
          </a:p>
        </p:txBody>
      </p:sp>
      <p:sp>
        <p:nvSpPr>
          <p:cNvPr id="260" name="Google Shape;260;p26"/>
          <p:cNvSpPr txBox="1"/>
          <p:nvPr/>
        </p:nvSpPr>
        <p:spPr>
          <a:xfrm>
            <a:off x="458267" y="815112"/>
            <a:ext cx="8002165" cy="3431709"/>
          </a:xfrm>
          <a:prstGeom prst="rect">
            <a:avLst/>
          </a:prstGeom>
          <a:noFill/>
          <a:ln>
            <a:noFill/>
          </a:ln>
        </p:spPr>
        <p:txBody>
          <a:bodyPr anchorCtr="0" anchor="t" bIns="0" lIns="0" spcFirstLastPara="1" rIns="0" wrap="square" tIns="96500">
            <a:spAutoFit/>
          </a:bodyPr>
          <a:lstStyle/>
          <a:p>
            <a:pPr indent="0" lvl="0" marL="25400" marR="0" rtl="0" algn="l">
              <a:lnSpc>
                <a:spcPct val="100000"/>
              </a:lnSpc>
              <a:spcBef>
                <a:spcPts val="0"/>
              </a:spcBef>
              <a:spcAft>
                <a:spcPts val="0"/>
              </a:spcAft>
              <a:buNone/>
            </a:pPr>
            <a:r>
              <a:rPr b="1" lang="en-US" sz="2800">
                <a:solidFill>
                  <a:srgbClr val="1154CC"/>
                </a:solidFill>
                <a:latin typeface="Calibri"/>
                <a:ea typeface="Calibri"/>
                <a:cs typeface="Calibri"/>
                <a:sym typeface="Calibri"/>
              </a:rPr>
              <a:t>Coefficients Related to Basic Model</a:t>
            </a:r>
            <a:endParaRPr sz="2800">
              <a:solidFill>
                <a:schemeClr val="dk1"/>
              </a:solidFill>
              <a:latin typeface="Calibri"/>
              <a:ea typeface="Calibri"/>
              <a:cs typeface="Calibri"/>
              <a:sym typeface="Calibri"/>
            </a:endParaRPr>
          </a:p>
          <a:p>
            <a:pPr indent="0" lvl="0" marL="25400" marR="17780" rtl="0" algn="l">
              <a:lnSpc>
                <a:spcPct val="108214"/>
              </a:lnSpc>
              <a:spcBef>
                <a:spcPts val="1035"/>
              </a:spcBef>
              <a:spcAft>
                <a:spcPts val="0"/>
              </a:spcAft>
              <a:buNone/>
            </a:pPr>
            <a:r>
              <a:rPr lang="en-US" sz="2800">
                <a:solidFill>
                  <a:schemeClr val="dk1"/>
                </a:solidFill>
                <a:latin typeface="Calibri"/>
                <a:ea typeface="Calibri"/>
                <a:cs typeface="Calibri"/>
                <a:sym typeface="Calibri"/>
              </a:rPr>
              <a:t>Estimation at the early design stage where </a:t>
            </a:r>
            <a:r>
              <a:rPr lang="en-US" sz="2800" u="sng">
                <a:solidFill>
                  <a:schemeClr val="dk1"/>
                </a:solidFill>
                <a:latin typeface="Calibri"/>
                <a:ea typeface="Calibri"/>
                <a:cs typeface="Calibri"/>
                <a:sym typeface="Calibri"/>
              </a:rPr>
              <a:t>ONLY User Requirements </a:t>
            </a:r>
            <a:r>
              <a:rPr lang="en-US" sz="2800">
                <a:solidFill>
                  <a:schemeClr val="dk1"/>
                </a:solidFill>
                <a:latin typeface="Calibri"/>
                <a:ea typeface="Calibri"/>
                <a:cs typeface="Calibri"/>
                <a:sym typeface="Calibri"/>
              </a:rPr>
              <a:t>are defined</a:t>
            </a:r>
            <a:endParaRPr sz="2800">
              <a:solidFill>
                <a:schemeClr val="dk1"/>
              </a:solidFill>
              <a:latin typeface="Calibri"/>
              <a:ea typeface="Calibri"/>
              <a:cs typeface="Calibri"/>
              <a:sym typeface="Calibri"/>
            </a:endParaRPr>
          </a:p>
          <a:p>
            <a:pPr indent="0" lvl="0" marL="25400" marR="17780" rtl="0" algn="l">
              <a:lnSpc>
                <a:spcPct val="108214"/>
              </a:lnSpc>
              <a:spcBef>
                <a:spcPts val="1035"/>
              </a:spcBef>
              <a:spcAft>
                <a:spcPts val="0"/>
              </a:spcAft>
              <a:buNone/>
            </a:pPr>
            <a:r>
              <a:t/>
            </a:r>
            <a:endParaRPr sz="2800">
              <a:solidFill>
                <a:schemeClr val="dk1"/>
              </a:solidFill>
              <a:latin typeface="Calibri"/>
              <a:ea typeface="Calibri"/>
              <a:cs typeface="Calibri"/>
              <a:sym typeface="Calibri"/>
            </a:endParaRPr>
          </a:p>
          <a:p>
            <a:pPr indent="-342900" lvl="0" marL="368300" marR="0" rtl="0" algn="l">
              <a:lnSpc>
                <a:spcPct val="100000"/>
              </a:lnSpc>
              <a:spcBef>
                <a:spcPts val="61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Effort (E)= a* (KLOC)^b</a:t>
            </a:r>
            <a:endParaRPr sz="2000">
              <a:solidFill>
                <a:schemeClr val="dk1"/>
              </a:solidFill>
              <a:latin typeface="Calibri"/>
              <a:ea typeface="Calibri"/>
              <a:cs typeface="Calibri"/>
              <a:sym typeface="Calibri"/>
            </a:endParaRPr>
          </a:p>
          <a:p>
            <a:pPr indent="-342900" lvl="0" marL="368300" marR="1395730" rtl="0" algn="l">
              <a:lnSpc>
                <a:spcPct val="119700"/>
              </a:lnSpc>
              <a:spcBef>
                <a:spcPts val="1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Project Duration (Development time)</a:t>
            </a:r>
            <a:endParaRPr/>
          </a:p>
          <a:p>
            <a:pPr indent="0" lvl="0" marL="25400" marR="1395730" rtl="0" algn="l">
              <a:lnSpc>
                <a:spcPct val="119700"/>
              </a:lnSpc>
              <a:spcBef>
                <a:spcPts val="10"/>
              </a:spcBef>
              <a:spcAft>
                <a:spcPts val="0"/>
              </a:spcAft>
              <a:buNone/>
            </a:pPr>
            <a:r>
              <a:rPr lang="en-US" sz="2000">
                <a:solidFill>
                  <a:schemeClr val="dk1"/>
                </a:solidFill>
                <a:latin typeface="Calibri"/>
                <a:ea typeface="Calibri"/>
                <a:cs typeface="Calibri"/>
                <a:sym typeface="Calibri"/>
              </a:rPr>
              <a:t>                       (D) = c* (Effort)^d   (represented in Months) </a:t>
            </a:r>
            <a:endParaRPr sz="2000">
              <a:solidFill>
                <a:schemeClr val="dk1"/>
              </a:solidFill>
              <a:latin typeface="Calibri"/>
              <a:ea typeface="Calibri"/>
              <a:cs typeface="Calibri"/>
              <a:sym typeface="Calibri"/>
            </a:endParaRPr>
          </a:p>
          <a:p>
            <a:pPr indent="-342900" lvl="0" marL="368300" marR="1395730" rtl="0" algn="l">
              <a:lnSpc>
                <a:spcPct val="119700"/>
              </a:lnSpc>
              <a:spcBef>
                <a:spcPts val="1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Person Required = Effort /Project Duration</a:t>
            </a:r>
            <a:endParaRPr/>
          </a:p>
        </p:txBody>
      </p:sp>
      <p:graphicFrame>
        <p:nvGraphicFramePr>
          <p:cNvPr id="261" name="Google Shape;261;p26"/>
          <p:cNvGraphicFramePr/>
          <p:nvPr/>
        </p:nvGraphicFramePr>
        <p:xfrm>
          <a:off x="1246651" y="4365104"/>
          <a:ext cx="3000000" cy="3000000"/>
        </p:xfrm>
        <a:graphic>
          <a:graphicData uri="http://schemas.openxmlformats.org/drawingml/2006/table">
            <a:tbl>
              <a:tblPr bandRow="1" firstRow="1">
                <a:noFill/>
                <a:tableStyleId>{749346DC-24D2-4D6E-88B0-007E61DDD6C5}</a:tableStyleId>
              </a:tblPr>
              <a:tblGrid>
                <a:gridCol w="1964525"/>
                <a:gridCol w="857250"/>
                <a:gridCol w="1178725"/>
                <a:gridCol w="892975"/>
                <a:gridCol w="1193000"/>
              </a:tblGrid>
              <a:tr h="507275">
                <a:tc>
                  <a:txBody>
                    <a:bodyPr/>
                    <a:lstStyle/>
                    <a:p>
                      <a:pPr indent="0" lvl="0" marL="91440" marR="0" rtl="0" algn="l">
                        <a:lnSpc>
                          <a:spcPct val="100000"/>
                        </a:lnSpc>
                        <a:spcBef>
                          <a:spcPts val="0"/>
                        </a:spcBef>
                        <a:spcAft>
                          <a:spcPts val="0"/>
                        </a:spcAft>
                        <a:buNone/>
                      </a:pPr>
                      <a:r>
                        <a:rPr b="1" lang="en-US" sz="2200" u="none" cap="none" strike="noStrike">
                          <a:solidFill>
                            <a:srgbClr val="FFFFFF"/>
                          </a:solidFill>
                          <a:latin typeface="Calibri"/>
                          <a:ea typeface="Calibri"/>
                          <a:cs typeface="Calibri"/>
                          <a:sym typeface="Calibri"/>
                        </a:rPr>
                        <a:t>Development Model</a:t>
                      </a:r>
                      <a:endParaRPr sz="2200" u="none" cap="none" strike="noStrike">
                        <a:latin typeface="Calibri"/>
                        <a:ea typeface="Calibri"/>
                        <a:cs typeface="Calibri"/>
                        <a:sym typeface="Calibri"/>
                      </a:endParaRPr>
                    </a:p>
                  </a:txBody>
                  <a:tcPr marT="660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1C4"/>
                    </a:solidFill>
                  </a:tcPr>
                </a:tc>
                <a:tc>
                  <a:txBody>
                    <a:bodyPr/>
                    <a:lstStyle/>
                    <a:p>
                      <a:pPr indent="0" lvl="0" marL="0" marR="0" rtl="0" algn="ctr">
                        <a:lnSpc>
                          <a:spcPct val="100000"/>
                        </a:lnSpc>
                        <a:spcBef>
                          <a:spcPts val="0"/>
                        </a:spcBef>
                        <a:spcAft>
                          <a:spcPts val="0"/>
                        </a:spcAft>
                        <a:buNone/>
                      </a:pPr>
                      <a:r>
                        <a:rPr b="1" lang="en-US" sz="2200" u="none" cap="none" strike="noStrike">
                          <a:solidFill>
                            <a:srgbClr val="FFFFFF"/>
                          </a:solidFill>
                          <a:latin typeface="Calibri"/>
                          <a:ea typeface="Calibri"/>
                          <a:cs typeface="Calibri"/>
                          <a:sym typeface="Calibri"/>
                        </a:rPr>
                        <a:t>a</a:t>
                      </a:r>
                      <a:endParaRPr sz="2200" u="none" cap="none" strike="noStrike">
                        <a:latin typeface="Calibri"/>
                        <a:ea typeface="Calibri"/>
                        <a:cs typeface="Calibri"/>
                        <a:sym typeface="Calibri"/>
                      </a:endParaRPr>
                    </a:p>
                  </a:txBody>
                  <a:tcPr marT="660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1C4"/>
                    </a:solidFill>
                  </a:tcPr>
                </a:tc>
                <a:tc>
                  <a:txBody>
                    <a:bodyPr/>
                    <a:lstStyle/>
                    <a:p>
                      <a:pPr indent="0" lvl="0" marL="635" marR="0" rtl="0" algn="ctr">
                        <a:lnSpc>
                          <a:spcPct val="100000"/>
                        </a:lnSpc>
                        <a:spcBef>
                          <a:spcPts val="0"/>
                        </a:spcBef>
                        <a:spcAft>
                          <a:spcPts val="0"/>
                        </a:spcAft>
                        <a:buNone/>
                      </a:pPr>
                      <a:r>
                        <a:rPr b="1" lang="en-US" sz="2200" u="none" cap="none" strike="noStrike">
                          <a:solidFill>
                            <a:srgbClr val="FFFFFF"/>
                          </a:solidFill>
                          <a:latin typeface="Calibri"/>
                          <a:ea typeface="Calibri"/>
                          <a:cs typeface="Calibri"/>
                          <a:sym typeface="Calibri"/>
                        </a:rPr>
                        <a:t>b</a:t>
                      </a:r>
                      <a:endParaRPr sz="2200" u="none" cap="none" strike="noStrike">
                        <a:latin typeface="Calibri"/>
                        <a:ea typeface="Calibri"/>
                        <a:cs typeface="Calibri"/>
                        <a:sym typeface="Calibri"/>
                      </a:endParaRPr>
                    </a:p>
                  </a:txBody>
                  <a:tcPr marT="660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1C4"/>
                    </a:solidFill>
                  </a:tcPr>
                </a:tc>
                <a:tc>
                  <a:txBody>
                    <a:bodyPr/>
                    <a:lstStyle/>
                    <a:p>
                      <a:pPr indent="0" lvl="0" marL="0" marR="0" rtl="0" algn="ctr">
                        <a:lnSpc>
                          <a:spcPct val="100000"/>
                        </a:lnSpc>
                        <a:spcBef>
                          <a:spcPts val="0"/>
                        </a:spcBef>
                        <a:spcAft>
                          <a:spcPts val="0"/>
                        </a:spcAft>
                        <a:buNone/>
                      </a:pPr>
                      <a:r>
                        <a:rPr b="1" lang="en-US" sz="2200" u="none" cap="none" strike="noStrike">
                          <a:solidFill>
                            <a:srgbClr val="FFFFFF"/>
                          </a:solidFill>
                          <a:latin typeface="Calibri"/>
                          <a:ea typeface="Calibri"/>
                          <a:cs typeface="Calibri"/>
                          <a:sym typeface="Calibri"/>
                        </a:rPr>
                        <a:t>c</a:t>
                      </a:r>
                      <a:endParaRPr sz="2200" u="none" cap="none" strike="noStrike">
                        <a:latin typeface="Calibri"/>
                        <a:ea typeface="Calibri"/>
                        <a:cs typeface="Calibri"/>
                        <a:sym typeface="Calibri"/>
                      </a:endParaRPr>
                    </a:p>
                  </a:txBody>
                  <a:tcPr marT="660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1C4"/>
                    </a:solidFill>
                  </a:tcPr>
                </a:tc>
                <a:tc>
                  <a:txBody>
                    <a:bodyPr/>
                    <a:lstStyle/>
                    <a:p>
                      <a:pPr indent="0" lvl="0" marL="635" marR="0" rtl="0" algn="ctr">
                        <a:lnSpc>
                          <a:spcPct val="100000"/>
                        </a:lnSpc>
                        <a:spcBef>
                          <a:spcPts val="0"/>
                        </a:spcBef>
                        <a:spcAft>
                          <a:spcPts val="0"/>
                        </a:spcAft>
                        <a:buNone/>
                      </a:pPr>
                      <a:r>
                        <a:rPr b="1" lang="en-US" sz="2200" u="none" cap="none" strike="noStrike">
                          <a:solidFill>
                            <a:srgbClr val="FFFFFF"/>
                          </a:solidFill>
                          <a:latin typeface="Calibri"/>
                          <a:ea typeface="Calibri"/>
                          <a:cs typeface="Calibri"/>
                          <a:sym typeface="Calibri"/>
                        </a:rPr>
                        <a:t>d</a:t>
                      </a:r>
                      <a:endParaRPr sz="2200" u="none" cap="none" strike="noStrike">
                        <a:latin typeface="Calibri"/>
                        <a:ea typeface="Calibri"/>
                        <a:cs typeface="Calibri"/>
                        <a:sym typeface="Calibri"/>
                      </a:endParaRPr>
                    </a:p>
                  </a:txBody>
                  <a:tcPr marT="660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1C4"/>
                    </a:solidFill>
                  </a:tcPr>
                </a:tc>
              </a:tr>
              <a:tr h="495925">
                <a:tc>
                  <a:txBody>
                    <a:bodyPr/>
                    <a:lstStyle/>
                    <a:p>
                      <a:pPr indent="0" lvl="0" marL="91440" marR="0" rtl="0" algn="l">
                        <a:lnSpc>
                          <a:spcPct val="100000"/>
                        </a:lnSpc>
                        <a:spcBef>
                          <a:spcPts val="0"/>
                        </a:spcBef>
                        <a:spcAft>
                          <a:spcPts val="0"/>
                        </a:spcAft>
                        <a:buNone/>
                      </a:pPr>
                      <a:r>
                        <a:rPr lang="en-US" sz="2200" u="none" cap="none" strike="noStrike">
                          <a:latin typeface="Calibri"/>
                          <a:ea typeface="Calibri"/>
                          <a:cs typeface="Calibri"/>
                          <a:sym typeface="Calibri"/>
                        </a:rPr>
                        <a:t>Organic</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2.4</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1.05</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635" marR="0" rtl="0" algn="ctr">
                        <a:lnSpc>
                          <a:spcPct val="100000"/>
                        </a:lnSpc>
                        <a:spcBef>
                          <a:spcPts val="0"/>
                        </a:spcBef>
                        <a:spcAft>
                          <a:spcPts val="0"/>
                        </a:spcAft>
                        <a:buNone/>
                      </a:pPr>
                      <a:r>
                        <a:rPr lang="en-US" sz="2200" u="none" cap="none" strike="noStrike">
                          <a:latin typeface="Calibri"/>
                          <a:ea typeface="Calibri"/>
                          <a:cs typeface="Calibri"/>
                          <a:sym typeface="Calibri"/>
                        </a:rPr>
                        <a:t>2.5</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1270" marR="0" rtl="0" algn="ctr">
                        <a:lnSpc>
                          <a:spcPct val="100000"/>
                        </a:lnSpc>
                        <a:spcBef>
                          <a:spcPts val="0"/>
                        </a:spcBef>
                        <a:spcAft>
                          <a:spcPts val="0"/>
                        </a:spcAft>
                        <a:buNone/>
                      </a:pPr>
                      <a:r>
                        <a:rPr lang="en-US" sz="2200" u="none" cap="none" strike="noStrike">
                          <a:latin typeface="Calibri"/>
                          <a:ea typeface="Calibri"/>
                          <a:cs typeface="Calibri"/>
                          <a:sym typeface="Calibri"/>
                        </a:rPr>
                        <a:t>0.38</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r>
              <a:tr h="495925">
                <a:tc>
                  <a:txBody>
                    <a:bodyPr/>
                    <a:lstStyle/>
                    <a:p>
                      <a:pPr indent="0" lvl="0" marL="91440" marR="0" rtl="0" algn="l">
                        <a:lnSpc>
                          <a:spcPct val="100000"/>
                        </a:lnSpc>
                        <a:spcBef>
                          <a:spcPts val="0"/>
                        </a:spcBef>
                        <a:spcAft>
                          <a:spcPts val="0"/>
                        </a:spcAft>
                        <a:buNone/>
                      </a:pPr>
                      <a:r>
                        <a:rPr lang="en-US" sz="2200" u="none" cap="none" strike="noStrike">
                          <a:latin typeface="Calibri"/>
                          <a:ea typeface="Calibri"/>
                          <a:cs typeface="Calibri"/>
                          <a:sym typeface="Calibri"/>
                        </a:rPr>
                        <a:t>Embedded</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3.6</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1.20</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635" marR="0" rtl="0" algn="ctr">
                        <a:lnSpc>
                          <a:spcPct val="100000"/>
                        </a:lnSpc>
                        <a:spcBef>
                          <a:spcPts val="0"/>
                        </a:spcBef>
                        <a:spcAft>
                          <a:spcPts val="0"/>
                        </a:spcAft>
                        <a:buNone/>
                      </a:pPr>
                      <a:r>
                        <a:rPr lang="en-US" sz="2200" u="none" cap="none" strike="noStrike">
                          <a:latin typeface="Calibri"/>
                          <a:ea typeface="Calibri"/>
                          <a:cs typeface="Calibri"/>
                          <a:sym typeface="Calibri"/>
                        </a:rPr>
                        <a:t>2.5</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1905" marR="0" rtl="0" algn="ctr">
                        <a:lnSpc>
                          <a:spcPct val="100000"/>
                        </a:lnSpc>
                        <a:spcBef>
                          <a:spcPts val="0"/>
                        </a:spcBef>
                        <a:spcAft>
                          <a:spcPts val="0"/>
                        </a:spcAft>
                        <a:buNone/>
                      </a:pPr>
                      <a:r>
                        <a:rPr lang="en-US" sz="2200" u="none" cap="none" strike="noStrike">
                          <a:latin typeface="Calibri"/>
                          <a:ea typeface="Calibri"/>
                          <a:cs typeface="Calibri"/>
                          <a:sym typeface="Calibri"/>
                        </a:rPr>
                        <a:t>0.32</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r>
              <a:tr h="495925">
                <a:tc>
                  <a:txBody>
                    <a:bodyPr/>
                    <a:lstStyle/>
                    <a:p>
                      <a:pPr indent="0" lvl="0" marL="91440" marR="0" rtl="0" algn="l">
                        <a:lnSpc>
                          <a:spcPct val="100000"/>
                        </a:lnSpc>
                        <a:spcBef>
                          <a:spcPts val="0"/>
                        </a:spcBef>
                        <a:spcAft>
                          <a:spcPts val="0"/>
                        </a:spcAft>
                        <a:buNone/>
                      </a:pPr>
                      <a:r>
                        <a:rPr lang="en-US" sz="2200" u="none" cap="none" strike="noStrike">
                          <a:latin typeface="Calibri"/>
                          <a:ea typeface="Calibri"/>
                          <a:cs typeface="Calibri"/>
                          <a:sym typeface="Calibri"/>
                        </a:rPr>
                        <a:t>Semi detached</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BF5"/>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3.0</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BF5"/>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1.12</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BF5"/>
                    </a:solidFill>
                  </a:tcPr>
                </a:tc>
                <a:tc>
                  <a:txBody>
                    <a:bodyPr/>
                    <a:lstStyle/>
                    <a:p>
                      <a:pPr indent="0" lvl="0" marL="635" marR="0" rtl="0" algn="ctr">
                        <a:lnSpc>
                          <a:spcPct val="100000"/>
                        </a:lnSpc>
                        <a:spcBef>
                          <a:spcPts val="0"/>
                        </a:spcBef>
                        <a:spcAft>
                          <a:spcPts val="0"/>
                        </a:spcAft>
                        <a:buNone/>
                      </a:pPr>
                      <a:r>
                        <a:rPr lang="en-US" sz="2200" u="none" cap="none" strike="noStrike">
                          <a:latin typeface="Calibri"/>
                          <a:ea typeface="Calibri"/>
                          <a:cs typeface="Calibri"/>
                          <a:sym typeface="Calibri"/>
                        </a:rPr>
                        <a:t>2.5</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BF5"/>
                    </a:solidFill>
                  </a:tcPr>
                </a:tc>
                <a:tc>
                  <a:txBody>
                    <a:bodyPr/>
                    <a:lstStyle/>
                    <a:p>
                      <a:pPr indent="0" lvl="0" marL="1270" marR="0" rtl="0" algn="ctr">
                        <a:lnSpc>
                          <a:spcPct val="100000"/>
                        </a:lnSpc>
                        <a:spcBef>
                          <a:spcPts val="0"/>
                        </a:spcBef>
                        <a:spcAft>
                          <a:spcPts val="0"/>
                        </a:spcAft>
                        <a:buNone/>
                      </a:pPr>
                      <a:r>
                        <a:rPr lang="en-US" sz="2200" u="none" cap="none" strike="noStrike">
                          <a:latin typeface="Calibri"/>
                          <a:ea typeface="Calibri"/>
                          <a:cs typeface="Calibri"/>
                          <a:sym typeface="Calibri"/>
                        </a:rPr>
                        <a:t>0.35</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BF5"/>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Example </a:t>
            </a:r>
            <a:endParaRPr/>
          </a:p>
        </p:txBody>
      </p:sp>
      <p:sp>
        <p:nvSpPr>
          <p:cNvPr id="267" name="Google Shape;267;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8100" lvl="0" marL="38100" marR="30480" rtl="0" algn="l">
              <a:lnSpc>
                <a:spcPct val="94375"/>
              </a:lnSpc>
              <a:spcBef>
                <a:spcPts val="0"/>
              </a:spcBef>
              <a:spcAft>
                <a:spcPts val="0"/>
              </a:spcAft>
              <a:buClr>
                <a:schemeClr val="dk1"/>
              </a:buClr>
              <a:buSzPts val="3200"/>
              <a:buChar char="•"/>
            </a:pPr>
            <a:r>
              <a:rPr lang="en-US"/>
              <a:t>Suppose a project manager has used FP analysis to estimate lines of source code required to develop a project and finds that the code size is 10,000.</a:t>
            </a:r>
            <a:endParaRPr/>
          </a:p>
          <a:p>
            <a:pPr indent="-38100" lvl="0" marL="38100" rtl="0" algn="l">
              <a:lnSpc>
                <a:spcPct val="88125"/>
              </a:lnSpc>
              <a:spcBef>
                <a:spcPts val="640"/>
              </a:spcBef>
              <a:spcAft>
                <a:spcPts val="0"/>
              </a:spcAft>
              <a:buClr>
                <a:schemeClr val="dk1"/>
              </a:buClr>
              <a:buSzPts val="3200"/>
              <a:buChar char="•"/>
            </a:pPr>
            <a:r>
              <a:rPr lang="en-US"/>
              <a:t>Estimate duration of the project and number of persons required.</a:t>
            </a:r>
            <a:endParaRPr/>
          </a:p>
          <a:p>
            <a:pPr indent="-406400" lvl="0" marL="494665" rtl="0" algn="l">
              <a:lnSpc>
                <a:spcPct val="94531"/>
              </a:lnSpc>
              <a:spcBef>
                <a:spcPts val="640"/>
              </a:spcBef>
              <a:spcAft>
                <a:spcPts val="0"/>
              </a:spcAft>
              <a:buClr>
                <a:schemeClr val="dk1"/>
              </a:buClr>
              <a:buSzPts val="3200"/>
              <a:buAutoNum type="alphaLcParenR"/>
            </a:pPr>
            <a:r>
              <a:rPr lang="en-US"/>
              <a:t>Assume the project is classified as </a:t>
            </a:r>
            <a:r>
              <a:rPr b="1" lang="en-US">
                <a:solidFill>
                  <a:srgbClr val="1F4E79"/>
                </a:solidFill>
              </a:rPr>
              <a:t>Embedded Project.</a:t>
            </a:r>
            <a:endParaRPr/>
          </a:p>
          <a:p>
            <a:pPr indent="-375285" lvl="0" marL="413384" rtl="0" algn="l">
              <a:lnSpc>
                <a:spcPct val="99687"/>
              </a:lnSpc>
              <a:spcBef>
                <a:spcPts val="640"/>
              </a:spcBef>
              <a:spcAft>
                <a:spcPts val="0"/>
              </a:spcAft>
              <a:buClr>
                <a:schemeClr val="dk1"/>
              </a:buClr>
              <a:buSzPts val="3200"/>
              <a:buAutoNum type="alphaLcParenR"/>
            </a:pPr>
            <a:r>
              <a:rPr lang="en-US"/>
              <a:t>Assume the project is classified as </a:t>
            </a:r>
            <a:r>
              <a:rPr b="1" lang="en-US">
                <a:solidFill>
                  <a:srgbClr val="1F4E79"/>
                </a:solidFill>
              </a:rPr>
              <a:t>Organic Project.</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8"/>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273" name="Google Shape;273;p28"/>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38100" rtl="0" algn="r">
              <a:lnSpc>
                <a:spcPct val="155333"/>
              </a:lnSpc>
              <a:spcBef>
                <a:spcPts val="0"/>
              </a:spcBef>
              <a:spcAft>
                <a:spcPts val="0"/>
              </a:spcAft>
              <a:buNone/>
            </a:pPr>
            <a:fld id="{00000000-1234-1234-1234-123412341234}" type="slidenum">
              <a:rPr lang="en-US"/>
              <a:t>‹#›</a:t>
            </a:fld>
            <a:endParaRPr/>
          </a:p>
        </p:txBody>
      </p:sp>
      <p:sp>
        <p:nvSpPr>
          <p:cNvPr id="274" name="Google Shape;274;p28"/>
          <p:cNvSpPr txBox="1"/>
          <p:nvPr>
            <p:ph type="title"/>
          </p:nvPr>
        </p:nvSpPr>
        <p:spPr>
          <a:xfrm>
            <a:off x="448742" y="205343"/>
            <a:ext cx="8229600" cy="566181"/>
          </a:xfrm>
          <a:prstGeom prst="rect">
            <a:avLst/>
          </a:prstGeom>
          <a:noFill/>
          <a:ln>
            <a:noFill/>
          </a:ln>
        </p:spPr>
        <p:txBody>
          <a:bodyPr anchorCtr="0" anchor="ctr" bIns="0" lIns="0" spcFirstLastPara="1" rIns="0" wrap="square" tIns="12050">
            <a:spAutoFit/>
          </a:bodyPr>
          <a:lstStyle/>
          <a:p>
            <a:pPr indent="0" lvl="0" marL="2589530" rtl="0" algn="ctr">
              <a:lnSpc>
                <a:spcPct val="100000"/>
              </a:lnSpc>
              <a:spcBef>
                <a:spcPts val="0"/>
              </a:spcBef>
              <a:spcAft>
                <a:spcPts val="0"/>
              </a:spcAft>
              <a:buClr>
                <a:schemeClr val="dk1"/>
              </a:buClr>
              <a:buSzPts val="3600"/>
              <a:buFont typeface="Calibri"/>
              <a:buNone/>
            </a:pPr>
            <a:r>
              <a:rPr lang="en-US" sz="3600"/>
              <a:t>Software </a:t>
            </a:r>
            <a:r>
              <a:rPr b="1" lang="en-US" sz="3600">
                <a:solidFill>
                  <a:srgbClr val="006FC0"/>
                </a:solidFill>
                <a:latin typeface="Arial"/>
                <a:ea typeface="Arial"/>
                <a:cs typeface="Arial"/>
                <a:sym typeface="Arial"/>
              </a:rPr>
              <a:t>Measurement</a:t>
            </a:r>
            <a:endParaRPr/>
          </a:p>
        </p:txBody>
      </p:sp>
      <p:graphicFrame>
        <p:nvGraphicFramePr>
          <p:cNvPr id="275" name="Google Shape;275;p28"/>
          <p:cNvGraphicFramePr/>
          <p:nvPr/>
        </p:nvGraphicFramePr>
        <p:xfrm>
          <a:off x="1043608" y="3717032"/>
          <a:ext cx="3000000" cy="3000000"/>
        </p:xfrm>
        <a:graphic>
          <a:graphicData uri="http://schemas.openxmlformats.org/drawingml/2006/table">
            <a:tbl>
              <a:tblPr bandRow="1" firstRow="1">
                <a:noFill/>
                <a:tableStyleId>{749346DC-24D2-4D6E-88B0-007E61DDD6C5}</a:tableStyleId>
              </a:tblPr>
              <a:tblGrid>
                <a:gridCol w="1829000"/>
                <a:gridCol w="576075"/>
                <a:gridCol w="792100"/>
                <a:gridCol w="720075"/>
                <a:gridCol w="782875"/>
              </a:tblGrid>
              <a:tr h="881375">
                <a:tc>
                  <a:txBody>
                    <a:bodyPr/>
                    <a:lstStyle/>
                    <a:p>
                      <a:pPr indent="0" lvl="0" marL="91440" marR="0" rtl="0" algn="l">
                        <a:lnSpc>
                          <a:spcPct val="100000"/>
                        </a:lnSpc>
                        <a:spcBef>
                          <a:spcPts val="0"/>
                        </a:spcBef>
                        <a:spcAft>
                          <a:spcPts val="0"/>
                        </a:spcAft>
                        <a:buNone/>
                      </a:pPr>
                      <a:r>
                        <a:rPr b="1" lang="en-US" sz="2200" u="none" cap="none" strike="noStrike">
                          <a:solidFill>
                            <a:srgbClr val="FFFFFF"/>
                          </a:solidFill>
                          <a:latin typeface="Calibri"/>
                          <a:ea typeface="Calibri"/>
                          <a:cs typeface="Calibri"/>
                          <a:sym typeface="Calibri"/>
                        </a:rPr>
                        <a:t>Development</a:t>
                      </a:r>
                      <a:endParaRPr sz="2200" u="none" cap="none" strike="noStrike">
                        <a:latin typeface="Calibri"/>
                        <a:ea typeface="Calibri"/>
                        <a:cs typeface="Calibri"/>
                        <a:sym typeface="Calibri"/>
                      </a:endParaRPr>
                    </a:p>
                    <a:p>
                      <a:pPr indent="0" lvl="0" marL="91440" marR="0" rtl="0" algn="l">
                        <a:lnSpc>
                          <a:spcPct val="100000"/>
                        </a:lnSpc>
                        <a:spcBef>
                          <a:spcPts val="400"/>
                        </a:spcBef>
                        <a:spcAft>
                          <a:spcPts val="0"/>
                        </a:spcAft>
                        <a:buNone/>
                      </a:pPr>
                      <a:r>
                        <a:rPr b="1" lang="en-US" sz="2200" u="none" cap="none" strike="noStrike">
                          <a:solidFill>
                            <a:srgbClr val="FFFFFF"/>
                          </a:solidFill>
                          <a:latin typeface="Calibri"/>
                          <a:ea typeface="Calibri"/>
                          <a:cs typeface="Calibri"/>
                          <a:sym typeface="Calibri"/>
                        </a:rPr>
                        <a:t>Model</a:t>
                      </a:r>
                      <a:endParaRPr sz="2200" u="none" cap="none" strike="noStrike">
                        <a:latin typeface="Calibri"/>
                        <a:ea typeface="Calibri"/>
                        <a:cs typeface="Calibri"/>
                        <a:sym typeface="Calibri"/>
                      </a:endParaRPr>
                    </a:p>
                  </a:txBody>
                  <a:tcPr marT="660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1C4"/>
                    </a:solidFill>
                  </a:tcPr>
                </a:tc>
                <a:tc>
                  <a:txBody>
                    <a:bodyPr/>
                    <a:lstStyle/>
                    <a:p>
                      <a:pPr indent="0" lvl="0" marL="635" marR="0" rtl="0" algn="ctr">
                        <a:lnSpc>
                          <a:spcPct val="100000"/>
                        </a:lnSpc>
                        <a:spcBef>
                          <a:spcPts val="0"/>
                        </a:spcBef>
                        <a:spcAft>
                          <a:spcPts val="0"/>
                        </a:spcAft>
                        <a:buNone/>
                      </a:pPr>
                      <a:r>
                        <a:rPr b="1" lang="en-US" sz="2200" u="none" cap="none" strike="noStrike">
                          <a:solidFill>
                            <a:srgbClr val="FFFFFF"/>
                          </a:solidFill>
                          <a:latin typeface="Calibri"/>
                          <a:ea typeface="Calibri"/>
                          <a:cs typeface="Calibri"/>
                          <a:sym typeface="Calibri"/>
                        </a:rPr>
                        <a:t>a</a:t>
                      </a:r>
                      <a:endParaRPr sz="2200" u="none" cap="none" strike="noStrike">
                        <a:latin typeface="Calibri"/>
                        <a:ea typeface="Calibri"/>
                        <a:cs typeface="Calibri"/>
                        <a:sym typeface="Calibri"/>
                      </a:endParaRPr>
                    </a:p>
                  </a:txBody>
                  <a:tcPr marT="660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1C4"/>
                    </a:solidFill>
                  </a:tcPr>
                </a:tc>
                <a:tc>
                  <a:txBody>
                    <a:bodyPr/>
                    <a:lstStyle/>
                    <a:p>
                      <a:pPr indent="0" lvl="0" marL="635" marR="0" rtl="0" algn="ctr">
                        <a:lnSpc>
                          <a:spcPct val="100000"/>
                        </a:lnSpc>
                        <a:spcBef>
                          <a:spcPts val="0"/>
                        </a:spcBef>
                        <a:spcAft>
                          <a:spcPts val="0"/>
                        </a:spcAft>
                        <a:buNone/>
                      </a:pPr>
                      <a:r>
                        <a:rPr b="1" lang="en-US" sz="2200" u="none" cap="none" strike="noStrike">
                          <a:solidFill>
                            <a:srgbClr val="FFFFFF"/>
                          </a:solidFill>
                          <a:latin typeface="Calibri"/>
                          <a:ea typeface="Calibri"/>
                          <a:cs typeface="Calibri"/>
                          <a:sym typeface="Calibri"/>
                        </a:rPr>
                        <a:t>b</a:t>
                      </a:r>
                      <a:endParaRPr sz="2200" u="none" cap="none" strike="noStrike">
                        <a:latin typeface="Calibri"/>
                        <a:ea typeface="Calibri"/>
                        <a:cs typeface="Calibri"/>
                        <a:sym typeface="Calibri"/>
                      </a:endParaRPr>
                    </a:p>
                  </a:txBody>
                  <a:tcPr marT="660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1C4"/>
                    </a:solidFill>
                  </a:tcPr>
                </a:tc>
                <a:tc>
                  <a:txBody>
                    <a:bodyPr/>
                    <a:lstStyle/>
                    <a:p>
                      <a:pPr indent="0" lvl="0" marL="0" marR="0" rtl="0" algn="ctr">
                        <a:lnSpc>
                          <a:spcPct val="100000"/>
                        </a:lnSpc>
                        <a:spcBef>
                          <a:spcPts val="0"/>
                        </a:spcBef>
                        <a:spcAft>
                          <a:spcPts val="0"/>
                        </a:spcAft>
                        <a:buNone/>
                      </a:pPr>
                      <a:r>
                        <a:rPr b="1" lang="en-US" sz="2200" u="none" cap="none" strike="noStrike">
                          <a:solidFill>
                            <a:srgbClr val="FFFFFF"/>
                          </a:solidFill>
                          <a:latin typeface="Calibri"/>
                          <a:ea typeface="Calibri"/>
                          <a:cs typeface="Calibri"/>
                          <a:sym typeface="Calibri"/>
                        </a:rPr>
                        <a:t>c</a:t>
                      </a:r>
                      <a:endParaRPr sz="2200" u="none" cap="none" strike="noStrike">
                        <a:latin typeface="Calibri"/>
                        <a:ea typeface="Calibri"/>
                        <a:cs typeface="Calibri"/>
                        <a:sym typeface="Calibri"/>
                      </a:endParaRPr>
                    </a:p>
                  </a:txBody>
                  <a:tcPr marT="660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1C4"/>
                    </a:solidFill>
                  </a:tcPr>
                </a:tc>
                <a:tc>
                  <a:txBody>
                    <a:bodyPr/>
                    <a:lstStyle/>
                    <a:p>
                      <a:pPr indent="0" lvl="0" marL="0" marR="0" rtl="0" algn="ctr">
                        <a:lnSpc>
                          <a:spcPct val="100000"/>
                        </a:lnSpc>
                        <a:spcBef>
                          <a:spcPts val="0"/>
                        </a:spcBef>
                        <a:spcAft>
                          <a:spcPts val="0"/>
                        </a:spcAft>
                        <a:buNone/>
                      </a:pPr>
                      <a:r>
                        <a:rPr b="1" lang="en-US" sz="2200" u="none" cap="none" strike="noStrike">
                          <a:solidFill>
                            <a:srgbClr val="FFFFFF"/>
                          </a:solidFill>
                          <a:latin typeface="Calibri"/>
                          <a:ea typeface="Calibri"/>
                          <a:cs typeface="Calibri"/>
                          <a:sym typeface="Calibri"/>
                        </a:rPr>
                        <a:t>d</a:t>
                      </a:r>
                      <a:endParaRPr sz="2200" u="none" cap="none" strike="noStrike">
                        <a:latin typeface="Calibri"/>
                        <a:ea typeface="Calibri"/>
                        <a:cs typeface="Calibri"/>
                        <a:sym typeface="Calibri"/>
                      </a:endParaRPr>
                    </a:p>
                  </a:txBody>
                  <a:tcPr marT="660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1C4"/>
                    </a:solidFill>
                  </a:tcPr>
                </a:tc>
              </a:tr>
              <a:tr h="495925">
                <a:tc>
                  <a:txBody>
                    <a:bodyPr/>
                    <a:lstStyle/>
                    <a:p>
                      <a:pPr indent="0" lvl="0" marL="91440" marR="0" rtl="0" algn="l">
                        <a:lnSpc>
                          <a:spcPct val="100000"/>
                        </a:lnSpc>
                        <a:spcBef>
                          <a:spcPts val="0"/>
                        </a:spcBef>
                        <a:spcAft>
                          <a:spcPts val="0"/>
                        </a:spcAft>
                        <a:buNone/>
                      </a:pPr>
                      <a:r>
                        <a:rPr lang="en-US" sz="2200" u="none" cap="none" strike="noStrike">
                          <a:latin typeface="Calibri"/>
                          <a:ea typeface="Calibri"/>
                          <a:cs typeface="Calibri"/>
                          <a:sym typeface="Calibri"/>
                        </a:rPr>
                        <a:t>Organic</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2.4</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1.05</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2.5</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0.38</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r>
              <a:tr h="495925">
                <a:tc>
                  <a:txBody>
                    <a:bodyPr/>
                    <a:lstStyle/>
                    <a:p>
                      <a:pPr indent="0" lvl="0" marL="91440" marR="0" rtl="0" algn="l">
                        <a:lnSpc>
                          <a:spcPct val="100000"/>
                        </a:lnSpc>
                        <a:spcBef>
                          <a:spcPts val="0"/>
                        </a:spcBef>
                        <a:spcAft>
                          <a:spcPts val="0"/>
                        </a:spcAft>
                        <a:buNone/>
                      </a:pPr>
                      <a:r>
                        <a:rPr lang="en-US" sz="2200" u="none" cap="none" strike="noStrike">
                          <a:latin typeface="Calibri"/>
                          <a:ea typeface="Calibri"/>
                          <a:cs typeface="Calibri"/>
                          <a:sym typeface="Calibri"/>
                        </a:rPr>
                        <a:t>Embedded</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3.6</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1.20</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2.5</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0.32</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4EA"/>
                    </a:solidFill>
                  </a:tcPr>
                </a:tc>
              </a:tr>
              <a:tr h="495925">
                <a:tc>
                  <a:txBody>
                    <a:bodyPr/>
                    <a:lstStyle/>
                    <a:p>
                      <a:pPr indent="0" lvl="0" marL="91440" marR="0" rtl="0" algn="l">
                        <a:lnSpc>
                          <a:spcPct val="100000"/>
                        </a:lnSpc>
                        <a:spcBef>
                          <a:spcPts val="0"/>
                        </a:spcBef>
                        <a:spcAft>
                          <a:spcPts val="0"/>
                        </a:spcAft>
                        <a:buNone/>
                      </a:pPr>
                      <a:r>
                        <a:rPr lang="en-US" sz="2200" u="none" cap="none" strike="noStrike">
                          <a:latin typeface="Calibri"/>
                          <a:ea typeface="Calibri"/>
                          <a:cs typeface="Calibri"/>
                          <a:sym typeface="Calibri"/>
                        </a:rPr>
                        <a:t>Semi detached</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BF5"/>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3.0</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BF5"/>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1.12</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BF5"/>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2.5</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BF5"/>
                    </a:solidFill>
                  </a:tcPr>
                </a:tc>
                <a:tc>
                  <a:txBody>
                    <a:bodyPr/>
                    <a:lstStyle/>
                    <a:p>
                      <a:pPr indent="0" lvl="0" marL="0" marR="0" rtl="0" algn="ctr">
                        <a:lnSpc>
                          <a:spcPct val="100000"/>
                        </a:lnSpc>
                        <a:spcBef>
                          <a:spcPts val="0"/>
                        </a:spcBef>
                        <a:spcAft>
                          <a:spcPts val="0"/>
                        </a:spcAft>
                        <a:buNone/>
                      </a:pPr>
                      <a:r>
                        <a:rPr lang="en-US" sz="2200" u="none" cap="none" strike="noStrike">
                          <a:latin typeface="Calibri"/>
                          <a:ea typeface="Calibri"/>
                          <a:cs typeface="Calibri"/>
                          <a:sym typeface="Calibri"/>
                        </a:rPr>
                        <a:t>0.35</a:t>
                      </a:r>
                      <a:endParaRPr sz="2200" u="none" cap="none" strike="noStrike">
                        <a:latin typeface="Calibri"/>
                        <a:ea typeface="Calibri"/>
                        <a:cs typeface="Calibri"/>
                        <a:sym typeface="Calibri"/>
                      </a:endParaRPr>
                    </a:p>
                  </a:txBody>
                  <a:tcPr marT="666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9EBF5"/>
                    </a:solidFill>
                  </a:tcPr>
                </a:tc>
              </a:tr>
            </a:tbl>
          </a:graphicData>
        </a:graphic>
      </p:graphicFrame>
      <p:sp>
        <p:nvSpPr>
          <p:cNvPr id="276" name="Google Shape;276;p28"/>
          <p:cNvSpPr txBox="1"/>
          <p:nvPr/>
        </p:nvSpPr>
        <p:spPr>
          <a:xfrm>
            <a:off x="323528" y="771525"/>
            <a:ext cx="8496944" cy="3344505"/>
          </a:xfrm>
          <a:prstGeom prst="rect">
            <a:avLst/>
          </a:prstGeom>
          <a:noFill/>
          <a:ln>
            <a:noFill/>
          </a:ln>
        </p:spPr>
        <p:txBody>
          <a:bodyPr anchorCtr="0" anchor="t" bIns="0" lIns="0" spcFirstLastPara="1" rIns="0" wrap="square" tIns="60950">
            <a:spAutoFit/>
          </a:bodyPr>
          <a:lstStyle/>
          <a:p>
            <a:pPr indent="0" lvl="1" marL="101600" marR="0" rtl="0" algn="l">
              <a:lnSpc>
                <a:spcPct val="114107"/>
              </a:lnSpc>
              <a:spcBef>
                <a:spcPts val="0"/>
              </a:spcBef>
              <a:spcAft>
                <a:spcPts val="0"/>
              </a:spcAft>
              <a:buNone/>
            </a:pPr>
            <a:r>
              <a:rPr b="1" i="0" lang="en-US" sz="2800" u="none" cap="none" strike="noStrike">
                <a:solidFill>
                  <a:schemeClr val="dk1"/>
                </a:solidFill>
                <a:latin typeface="Calibri"/>
                <a:ea typeface="Calibri"/>
                <a:cs typeface="Calibri"/>
                <a:sym typeface="Calibri"/>
              </a:rPr>
              <a:t>For Embedded:</a:t>
            </a:r>
            <a:endParaRPr b="0" i="0" sz="2800" u="none" cap="none" strike="noStrike">
              <a:solidFill>
                <a:schemeClr val="dk1"/>
              </a:solidFill>
              <a:latin typeface="Calibri"/>
              <a:ea typeface="Calibri"/>
              <a:cs typeface="Calibri"/>
              <a:sym typeface="Calibri"/>
            </a:endParaRPr>
          </a:p>
          <a:p>
            <a:pPr indent="0" lvl="1" marL="101600" marR="0" rtl="0" algn="l">
              <a:lnSpc>
                <a:spcPct val="114107"/>
              </a:lnSpc>
              <a:spcBef>
                <a:spcPts val="0"/>
              </a:spcBef>
              <a:spcAft>
                <a:spcPts val="0"/>
              </a:spcAft>
              <a:buNone/>
            </a:pPr>
            <a:r>
              <a:rPr b="0" i="0" lang="en-US" sz="2800" u="none" cap="none" strike="noStrike">
                <a:solidFill>
                  <a:schemeClr val="dk1"/>
                </a:solidFill>
                <a:latin typeface="Calibri"/>
                <a:ea typeface="Calibri"/>
                <a:cs typeface="Calibri"/>
                <a:sym typeface="Calibri"/>
              </a:rPr>
              <a:t>Effort = 57.06 , Project duration = 9.12 months and person =6.26  i.e. 6</a:t>
            </a:r>
            <a:endParaRPr/>
          </a:p>
          <a:p>
            <a:pPr indent="0" lvl="1" marL="101600" marR="0" rtl="0" algn="l">
              <a:lnSpc>
                <a:spcPct val="114107"/>
              </a:lnSpc>
              <a:spcBef>
                <a:spcPts val="0"/>
              </a:spcBef>
              <a:spcAft>
                <a:spcPts val="0"/>
              </a:spcAft>
              <a:buNone/>
            </a:pPr>
            <a:r>
              <a:t/>
            </a:r>
            <a:endParaRPr b="1" i="0" sz="2800" u="none" cap="none" strike="noStrike">
              <a:solidFill>
                <a:schemeClr val="dk1"/>
              </a:solidFill>
              <a:latin typeface="Calibri"/>
              <a:ea typeface="Calibri"/>
              <a:cs typeface="Calibri"/>
              <a:sym typeface="Calibri"/>
            </a:endParaRPr>
          </a:p>
          <a:p>
            <a:pPr indent="0" lvl="1" marL="101600" marR="0" rtl="0" algn="l">
              <a:lnSpc>
                <a:spcPct val="114107"/>
              </a:lnSpc>
              <a:spcBef>
                <a:spcPts val="0"/>
              </a:spcBef>
              <a:spcAft>
                <a:spcPts val="0"/>
              </a:spcAft>
              <a:buNone/>
            </a:pPr>
            <a:r>
              <a:rPr b="1" i="0" lang="en-US" sz="2800" u="none" cap="none" strike="noStrike">
                <a:solidFill>
                  <a:schemeClr val="dk1"/>
                </a:solidFill>
                <a:latin typeface="Calibri"/>
                <a:ea typeface="Calibri"/>
                <a:cs typeface="Calibri"/>
                <a:sym typeface="Calibri"/>
              </a:rPr>
              <a:t>For organic:</a:t>
            </a:r>
            <a:endParaRPr/>
          </a:p>
          <a:p>
            <a:pPr indent="0" lvl="1" marL="101600" marR="0" rtl="0" algn="l">
              <a:lnSpc>
                <a:spcPct val="114107"/>
              </a:lnSpc>
              <a:spcBef>
                <a:spcPts val="0"/>
              </a:spcBef>
              <a:spcAft>
                <a:spcPts val="0"/>
              </a:spcAft>
              <a:buNone/>
            </a:pPr>
            <a:r>
              <a:rPr b="0" i="0" lang="en-US" sz="2800" u="none" cap="none" strike="noStrike">
                <a:solidFill>
                  <a:schemeClr val="dk1"/>
                </a:solidFill>
                <a:latin typeface="Calibri"/>
                <a:ea typeface="Calibri"/>
                <a:cs typeface="Calibri"/>
                <a:sym typeface="Calibri"/>
              </a:rPr>
              <a:t>Effort = 26.92 , Project duration = 8.72 moths and person =3.08  i.e. 3</a:t>
            </a:r>
            <a:endParaRPr/>
          </a:p>
          <a:p>
            <a:pPr indent="0" lvl="1" marL="101600" marR="0" rtl="0" algn="l">
              <a:lnSpc>
                <a:spcPct val="114107"/>
              </a:lnSpc>
              <a:spcBef>
                <a:spcPts val="0"/>
              </a:spcBef>
              <a:spcAft>
                <a:spcPts val="0"/>
              </a:spcAft>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Example </a:t>
            </a:r>
            <a:endParaRPr/>
          </a:p>
        </p:txBody>
      </p:sp>
      <p:sp>
        <p:nvSpPr>
          <p:cNvPr id="282" name="Google Shape;282;p29"/>
          <p:cNvSpPr txBox="1"/>
          <p:nvPr>
            <p:ph idx="1" type="body"/>
          </p:nvPr>
        </p:nvSpPr>
        <p:spPr>
          <a:xfrm>
            <a:off x="395536" y="1412776"/>
            <a:ext cx="8291264" cy="4713387"/>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lang="en-US"/>
              <a:t>A project size of 200 KLOC is to be developed. Software development team has average experience on similar type of projects. The project schedule is not very tight. Calculate the Effort, development time, average staff size, and productivity of the project.</a:t>
            </a:r>
            <a:endParaRPr/>
          </a:p>
          <a:p>
            <a:pPr indent="-342900" lvl="0" marL="342900" rtl="0" algn="l">
              <a:spcBef>
                <a:spcPts val="544"/>
              </a:spcBef>
              <a:spcAft>
                <a:spcPts val="0"/>
              </a:spcAft>
              <a:buClr>
                <a:schemeClr val="dk1"/>
              </a:buClr>
              <a:buSzPct val="100000"/>
              <a:buChar char="•"/>
            </a:pPr>
            <a:r>
              <a:rPr b="1" lang="en-US"/>
              <a:t>Sol:</a:t>
            </a:r>
            <a:endParaRPr/>
          </a:p>
          <a:p>
            <a:pPr indent="-342900" lvl="0" marL="342900" rtl="0" algn="l">
              <a:spcBef>
                <a:spcPts val="544"/>
              </a:spcBef>
              <a:spcAft>
                <a:spcPts val="0"/>
              </a:spcAft>
              <a:buClr>
                <a:schemeClr val="dk1"/>
              </a:buClr>
              <a:buSzPct val="100000"/>
              <a:buChar char="•"/>
            </a:pPr>
            <a:r>
              <a:rPr lang="en-US"/>
              <a:t>The semidetached mode is the most appropriate mode, keeping in view the size, schedule and experience of development time.</a:t>
            </a:r>
            <a:endParaRPr/>
          </a:p>
          <a:p>
            <a:pPr indent="-342900" lvl="0" marL="342900" rtl="0" algn="l">
              <a:spcBef>
                <a:spcPts val="544"/>
              </a:spcBef>
              <a:spcAft>
                <a:spcPts val="0"/>
              </a:spcAft>
              <a:buClr>
                <a:schemeClr val="dk1"/>
              </a:buClr>
              <a:buSzPct val="100000"/>
              <a:buChar char="•"/>
            </a:pPr>
            <a:r>
              <a:rPr lang="en-US"/>
              <a:t>Hence     </a:t>
            </a:r>
            <a:endParaRPr/>
          </a:p>
          <a:p>
            <a:pPr indent="-342900" lvl="0" marL="342900" rtl="0" algn="l">
              <a:spcBef>
                <a:spcPts val="544"/>
              </a:spcBef>
              <a:spcAft>
                <a:spcPts val="0"/>
              </a:spcAft>
              <a:buClr>
                <a:schemeClr val="dk1"/>
              </a:buClr>
              <a:buSzPct val="100000"/>
              <a:buChar char="•"/>
            </a:pPr>
            <a:r>
              <a:rPr lang="en-US"/>
              <a:t>E=3.0(200)^1.12=1133.12PM</a:t>
            </a:r>
            <a:br>
              <a:rPr lang="en-US"/>
            </a:br>
            <a:r>
              <a:rPr lang="en-US"/>
              <a:t>D=2.5(1133.12)^0.35=29.3PM</a:t>
            </a:r>
            <a:endParaRPr/>
          </a:p>
          <a:p>
            <a:pPr indent="-170180" lvl="0" marL="342900" rtl="0" algn="l">
              <a:spcBef>
                <a:spcPts val="544"/>
              </a:spcBef>
              <a:spcAft>
                <a:spcPts val="0"/>
              </a:spcAft>
              <a:buClr>
                <a:schemeClr val="dk1"/>
              </a:buClr>
              <a:buSzPct val="100000"/>
              <a:buNone/>
            </a:pPr>
            <a:r>
              <a:t/>
            </a:r>
            <a:endParaRPr/>
          </a:p>
        </p:txBody>
      </p:sp>
      <p:pic>
        <p:nvPicPr>
          <p:cNvPr id="283" name="Google Shape;283;p29"/>
          <p:cNvPicPr preferRelativeResize="0"/>
          <p:nvPr/>
        </p:nvPicPr>
        <p:blipFill rotWithShape="1">
          <a:blip r:embed="rId3">
            <a:alphaModFix/>
          </a:blip>
          <a:srcRect b="0" l="0" r="0" t="0"/>
          <a:stretch/>
        </p:blipFill>
        <p:spPr>
          <a:xfrm>
            <a:off x="5076056" y="4437112"/>
            <a:ext cx="3765452" cy="187220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Assignment </a:t>
            </a:r>
            <a:endParaRPr/>
          </a:p>
        </p:txBody>
      </p:sp>
      <p:sp>
        <p:nvSpPr>
          <p:cNvPr id="289" name="Google Shape;289;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Suppose that a Basic project was estimated to be 400 KLOC (kilo lines of code). Calculate effort and time for each of the three modes of development.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Intermediate COCOMO I </a:t>
            </a:r>
            <a:endParaRPr/>
          </a:p>
        </p:txBody>
      </p:sp>
      <p:sp>
        <p:nvSpPr>
          <p:cNvPr id="295" name="Google Shape;295;p31"/>
          <p:cNvSpPr txBox="1"/>
          <p:nvPr>
            <p:ph idx="1" type="body"/>
          </p:nvPr>
        </p:nvSpPr>
        <p:spPr>
          <a:xfrm>
            <a:off x="467544" y="1412776"/>
            <a:ext cx="8219256" cy="471338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600"/>
              <a:buChar char="•"/>
            </a:pPr>
            <a:r>
              <a:rPr lang="en-US" sz="2600"/>
              <a:t>The basic COCOMO model considers that the effort is only a function of the number of lines of code and some constants calculated according to the various software systems. </a:t>
            </a:r>
            <a:endParaRPr sz="2600"/>
          </a:p>
          <a:p>
            <a:pPr indent="-342900" lvl="0" marL="342900" rtl="0" algn="l">
              <a:spcBef>
                <a:spcPts val="520"/>
              </a:spcBef>
              <a:spcAft>
                <a:spcPts val="0"/>
              </a:spcAft>
              <a:buClr>
                <a:schemeClr val="dk1"/>
              </a:buClr>
              <a:buSzPts val="2600"/>
              <a:buChar char="•"/>
            </a:pPr>
            <a:r>
              <a:rPr lang="en-US" sz="2600"/>
              <a:t>The intermediate COCOMO model recognizes these facts and refines the initial estimates obtained through the basic COCOMO model by using a set of </a:t>
            </a:r>
            <a:r>
              <a:rPr b="1" lang="en-US" sz="2600"/>
              <a:t>15 cost drivers </a:t>
            </a:r>
            <a:r>
              <a:rPr lang="en-US" sz="2600"/>
              <a:t>based on various attributes of software engineering.</a:t>
            </a:r>
            <a:endParaRPr sz="2600"/>
          </a:p>
          <a:p>
            <a:pPr indent="-139700" lvl="0" marL="342900" rtl="0" algn="l">
              <a:spcBef>
                <a:spcPts val="640"/>
              </a:spcBef>
              <a:spcAft>
                <a:spcPts val="0"/>
              </a:spcAft>
              <a:buClr>
                <a:schemeClr val="dk1"/>
              </a:buClr>
              <a:buSzPts val="3200"/>
              <a:buNone/>
            </a:pPr>
            <a:r>
              <a:t/>
            </a:r>
            <a:endParaRPr/>
          </a:p>
          <a:p>
            <a:pPr indent="0" lvl="0" marL="0" rtl="0" algn="l">
              <a:spcBef>
                <a:spcPts val="320"/>
              </a:spcBef>
              <a:spcAft>
                <a:spcPts val="0"/>
              </a:spcAft>
              <a:buClr>
                <a:schemeClr val="dk1"/>
              </a:buClr>
              <a:buSzPts val="1600"/>
              <a:buNone/>
            </a:pPr>
            <a:r>
              <a:rPr lang="en-US" sz="1600"/>
              <a:t>	EAF (Error Adjustment Factor)</a:t>
            </a:r>
            <a:endParaRPr/>
          </a:p>
          <a:p>
            <a:pPr indent="-139700" lvl="0" marL="342900" rtl="0" algn="l">
              <a:spcBef>
                <a:spcPts val="640"/>
              </a:spcBef>
              <a:spcAft>
                <a:spcPts val="0"/>
              </a:spcAft>
              <a:buClr>
                <a:schemeClr val="dk1"/>
              </a:buClr>
              <a:buSzPts val="3200"/>
              <a:buNone/>
            </a:pPr>
            <a:r>
              <a:t/>
            </a:r>
            <a:endParaRPr/>
          </a:p>
        </p:txBody>
      </p:sp>
      <p:pic>
        <p:nvPicPr>
          <p:cNvPr id="296" name="Google Shape;296;p31"/>
          <p:cNvPicPr preferRelativeResize="0"/>
          <p:nvPr/>
        </p:nvPicPr>
        <p:blipFill rotWithShape="1">
          <a:blip r:embed="rId3">
            <a:alphaModFix/>
          </a:blip>
          <a:srcRect b="0" l="0" r="0" t="0"/>
          <a:stretch/>
        </p:blipFill>
        <p:spPr>
          <a:xfrm>
            <a:off x="4932040" y="4823445"/>
            <a:ext cx="3709290" cy="1584176"/>
          </a:xfrm>
          <a:prstGeom prst="rect">
            <a:avLst/>
          </a:prstGeom>
          <a:noFill/>
          <a:ln>
            <a:noFill/>
          </a:ln>
        </p:spPr>
      </p:pic>
      <p:pic>
        <p:nvPicPr>
          <p:cNvPr id="297" name="Google Shape;297;p31"/>
          <p:cNvPicPr preferRelativeResize="0"/>
          <p:nvPr/>
        </p:nvPicPr>
        <p:blipFill rotWithShape="1">
          <a:blip r:embed="rId4">
            <a:alphaModFix/>
          </a:blip>
          <a:srcRect b="0" l="0" r="0" t="0"/>
          <a:stretch/>
        </p:blipFill>
        <p:spPr>
          <a:xfrm>
            <a:off x="806949" y="4826798"/>
            <a:ext cx="2808312" cy="440766"/>
          </a:xfrm>
          <a:prstGeom prst="rect">
            <a:avLst/>
          </a:prstGeom>
          <a:noFill/>
          <a:ln>
            <a:noFill/>
          </a:ln>
        </p:spPr>
      </p:pic>
      <p:pic>
        <p:nvPicPr>
          <p:cNvPr id="298" name="Google Shape;298;p31"/>
          <p:cNvPicPr preferRelativeResize="0"/>
          <p:nvPr/>
        </p:nvPicPr>
        <p:blipFill rotWithShape="1">
          <a:blip r:embed="rId5">
            <a:alphaModFix/>
          </a:blip>
          <a:srcRect b="0" l="0" r="0" t="0"/>
          <a:stretch/>
        </p:blipFill>
        <p:spPr>
          <a:xfrm>
            <a:off x="971600" y="5767174"/>
            <a:ext cx="2550142" cy="47013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04" name="Google Shape;304;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The product of all effort multipliers results in an effort adjustment factor (EAF). </a:t>
            </a:r>
            <a:endParaRPr/>
          </a:p>
          <a:p>
            <a:pPr indent="-342900" lvl="0" marL="342900" rtl="0" algn="l">
              <a:spcBef>
                <a:spcPts val="640"/>
              </a:spcBef>
              <a:spcAft>
                <a:spcPts val="0"/>
              </a:spcAft>
              <a:buClr>
                <a:schemeClr val="dk1"/>
              </a:buClr>
              <a:buSzPts val="3200"/>
              <a:buChar char="•"/>
            </a:pPr>
            <a:r>
              <a:rPr lang="en-US"/>
              <a:t>Typical values for EAF range from 0.9 to 1.4.</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10" name="Google Shape;310;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id="311" name="Google Shape;311;p33"/>
          <p:cNvPicPr preferRelativeResize="0"/>
          <p:nvPr/>
        </p:nvPicPr>
        <p:blipFill rotWithShape="1">
          <a:blip r:embed="rId3">
            <a:alphaModFix/>
          </a:blip>
          <a:srcRect b="0" l="0" r="0" t="0"/>
          <a:stretch/>
        </p:blipFill>
        <p:spPr>
          <a:xfrm>
            <a:off x="251520" y="1772816"/>
            <a:ext cx="4535399" cy="3826743"/>
          </a:xfrm>
          <a:prstGeom prst="rect">
            <a:avLst/>
          </a:prstGeom>
          <a:noFill/>
          <a:ln>
            <a:noFill/>
          </a:ln>
        </p:spPr>
      </p:pic>
      <p:pic>
        <p:nvPicPr>
          <p:cNvPr id="312" name="Google Shape;312;p33"/>
          <p:cNvPicPr preferRelativeResize="0"/>
          <p:nvPr/>
        </p:nvPicPr>
        <p:blipFill rotWithShape="1">
          <a:blip r:embed="rId4">
            <a:alphaModFix/>
          </a:blip>
          <a:srcRect b="0" l="0" r="0" t="0"/>
          <a:stretch/>
        </p:blipFill>
        <p:spPr>
          <a:xfrm>
            <a:off x="5084670" y="1970075"/>
            <a:ext cx="4059330" cy="343222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4"/>
          <p:cNvSpPr txBox="1"/>
          <p:nvPr>
            <p:ph idx="1" type="body"/>
          </p:nvPr>
        </p:nvSpPr>
        <p:spPr>
          <a:xfrm>
            <a:off x="395536" y="404664"/>
            <a:ext cx="8424936" cy="612068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b="1" lang="en-US"/>
              <a:t>Product attributes:</a:t>
            </a:r>
            <a:endParaRPr/>
          </a:p>
          <a:p>
            <a:pPr indent="-285750" lvl="1" marL="742950" rtl="0" algn="l">
              <a:spcBef>
                <a:spcPts val="392"/>
              </a:spcBef>
              <a:spcAft>
                <a:spcPts val="0"/>
              </a:spcAft>
              <a:buClr>
                <a:schemeClr val="dk1"/>
              </a:buClr>
              <a:buSzPct val="100000"/>
              <a:buChar char="–"/>
            </a:pPr>
            <a:r>
              <a:rPr lang="en-US"/>
              <a:t>Required software reliability extent</a:t>
            </a:r>
            <a:endParaRPr/>
          </a:p>
          <a:p>
            <a:pPr indent="-285750" lvl="1" marL="742950" rtl="0" algn="l">
              <a:spcBef>
                <a:spcPts val="392"/>
              </a:spcBef>
              <a:spcAft>
                <a:spcPts val="0"/>
              </a:spcAft>
              <a:buClr>
                <a:schemeClr val="dk1"/>
              </a:buClr>
              <a:buSzPct val="100000"/>
              <a:buChar char="–"/>
            </a:pPr>
            <a:r>
              <a:rPr lang="en-US"/>
              <a:t>Size of the application database</a:t>
            </a:r>
            <a:endParaRPr/>
          </a:p>
          <a:p>
            <a:pPr indent="-285750" lvl="1" marL="742950" rtl="0" algn="l">
              <a:spcBef>
                <a:spcPts val="392"/>
              </a:spcBef>
              <a:spcAft>
                <a:spcPts val="0"/>
              </a:spcAft>
              <a:buClr>
                <a:schemeClr val="dk1"/>
              </a:buClr>
              <a:buSzPct val="100000"/>
              <a:buChar char="–"/>
            </a:pPr>
            <a:r>
              <a:rPr lang="en-US"/>
              <a:t>The complexity of the product</a:t>
            </a:r>
            <a:endParaRPr/>
          </a:p>
          <a:p>
            <a:pPr indent="-342900" lvl="0" marL="342900" rtl="0" algn="l">
              <a:spcBef>
                <a:spcPts val="448"/>
              </a:spcBef>
              <a:spcAft>
                <a:spcPts val="0"/>
              </a:spcAft>
              <a:buClr>
                <a:schemeClr val="dk1"/>
              </a:buClr>
              <a:buSzPct val="100000"/>
              <a:buChar char="•"/>
            </a:pPr>
            <a:r>
              <a:rPr b="1" lang="en-US"/>
              <a:t>Hardware attributes</a:t>
            </a:r>
            <a:endParaRPr/>
          </a:p>
          <a:p>
            <a:pPr indent="-285750" lvl="1" marL="742950" rtl="0" algn="l">
              <a:spcBef>
                <a:spcPts val="392"/>
              </a:spcBef>
              <a:spcAft>
                <a:spcPts val="0"/>
              </a:spcAft>
              <a:buClr>
                <a:schemeClr val="dk1"/>
              </a:buClr>
              <a:buSzPct val="100000"/>
              <a:buChar char="–"/>
            </a:pPr>
            <a:r>
              <a:rPr lang="en-US"/>
              <a:t>Run-time performance constraints</a:t>
            </a:r>
            <a:endParaRPr/>
          </a:p>
          <a:p>
            <a:pPr indent="-285750" lvl="1" marL="742950" rtl="0" algn="l">
              <a:spcBef>
                <a:spcPts val="392"/>
              </a:spcBef>
              <a:spcAft>
                <a:spcPts val="0"/>
              </a:spcAft>
              <a:buClr>
                <a:schemeClr val="dk1"/>
              </a:buClr>
              <a:buSzPct val="100000"/>
              <a:buChar char="–"/>
            </a:pPr>
            <a:r>
              <a:rPr lang="en-US"/>
              <a:t>Memory constraints</a:t>
            </a:r>
            <a:endParaRPr/>
          </a:p>
          <a:p>
            <a:pPr indent="-285750" lvl="1" marL="742950" rtl="0" algn="l">
              <a:spcBef>
                <a:spcPts val="392"/>
              </a:spcBef>
              <a:spcAft>
                <a:spcPts val="0"/>
              </a:spcAft>
              <a:buClr>
                <a:schemeClr val="dk1"/>
              </a:buClr>
              <a:buSzPct val="100000"/>
              <a:buChar char="–"/>
            </a:pPr>
            <a:r>
              <a:rPr lang="en-US"/>
              <a:t>The volatility of the virtual machine environment</a:t>
            </a:r>
            <a:endParaRPr/>
          </a:p>
          <a:p>
            <a:pPr indent="-285750" lvl="1" marL="742950" rtl="0" algn="l">
              <a:spcBef>
                <a:spcPts val="392"/>
              </a:spcBef>
              <a:spcAft>
                <a:spcPts val="0"/>
              </a:spcAft>
              <a:buClr>
                <a:schemeClr val="dk1"/>
              </a:buClr>
              <a:buSzPct val="100000"/>
              <a:buChar char="–"/>
            </a:pPr>
            <a:r>
              <a:rPr lang="en-US"/>
              <a:t>Required turnabout time</a:t>
            </a:r>
            <a:endParaRPr/>
          </a:p>
          <a:p>
            <a:pPr indent="-342900" lvl="0" marL="342900" rtl="0" algn="l">
              <a:spcBef>
                <a:spcPts val="448"/>
              </a:spcBef>
              <a:spcAft>
                <a:spcPts val="0"/>
              </a:spcAft>
              <a:buClr>
                <a:schemeClr val="dk1"/>
              </a:buClr>
              <a:buSzPct val="100000"/>
              <a:buChar char="•"/>
            </a:pPr>
            <a:r>
              <a:rPr b="1" lang="en-US"/>
              <a:t>Personal attributes</a:t>
            </a:r>
            <a:endParaRPr/>
          </a:p>
          <a:p>
            <a:pPr indent="-285750" lvl="1" marL="742950" rtl="0" algn="l">
              <a:spcBef>
                <a:spcPts val="392"/>
              </a:spcBef>
              <a:spcAft>
                <a:spcPts val="0"/>
              </a:spcAft>
              <a:buClr>
                <a:schemeClr val="dk1"/>
              </a:buClr>
              <a:buSzPct val="100000"/>
              <a:buChar char="–"/>
            </a:pPr>
            <a:r>
              <a:rPr lang="en-US"/>
              <a:t>Analyst capability</a:t>
            </a:r>
            <a:endParaRPr/>
          </a:p>
          <a:p>
            <a:pPr indent="-285750" lvl="1" marL="742950" rtl="0" algn="l">
              <a:spcBef>
                <a:spcPts val="392"/>
              </a:spcBef>
              <a:spcAft>
                <a:spcPts val="0"/>
              </a:spcAft>
              <a:buClr>
                <a:schemeClr val="dk1"/>
              </a:buClr>
              <a:buSzPct val="100000"/>
              <a:buChar char="–"/>
            </a:pPr>
            <a:r>
              <a:rPr lang="en-US"/>
              <a:t>Software engineering capability</a:t>
            </a:r>
            <a:endParaRPr/>
          </a:p>
          <a:p>
            <a:pPr indent="-285750" lvl="1" marL="742950" rtl="0" algn="l">
              <a:spcBef>
                <a:spcPts val="392"/>
              </a:spcBef>
              <a:spcAft>
                <a:spcPts val="0"/>
              </a:spcAft>
              <a:buClr>
                <a:schemeClr val="dk1"/>
              </a:buClr>
              <a:buSzPct val="100000"/>
              <a:buChar char="–"/>
            </a:pPr>
            <a:r>
              <a:rPr lang="en-US"/>
              <a:t>Application experience</a:t>
            </a:r>
            <a:endParaRPr/>
          </a:p>
          <a:p>
            <a:pPr indent="-285750" lvl="1" marL="742950" rtl="0" algn="l">
              <a:spcBef>
                <a:spcPts val="392"/>
              </a:spcBef>
              <a:spcAft>
                <a:spcPts val="0"/>
              </a:spcAft>
              <a:buClr>
                <a:schemeClr val="dk1"/>
              </a:buClr>
              <a:buSzPct val="100000"/>
              <a:buChar char="–"/>
            </a:pPr>
            <a:r>
              <a:rPr lang="en-US"/>
              <a:t>Virtual machine experience</a:t>
            </a:r>
            <a:endParaRPr/>
          </a:p>
          <a:p>
            <a:pPr indent="-285750" lvl="1" marL="742950" rtl="0" algn="l">
              <a:spcBef>
                <a:spcPts val="392"/>
              </a:spcBef>
              <a:spcAft>
                <a:spcPts val="0"/>
              </a:spcAft>
              <a:buClr>
                <a:schemeClr val="dk1"/>
              </a:buClr>
              <a:buSzPct val="100000"/>
              <a:buChar char="–"/>
            </a:pPr>
            <a:r>
              <a:rPr lang="en-US"/>
              <a:t>Programming language experience</a:t>
            </a:r>
            <a:endParaRPr/>
          </a:p>
          <a:p>
            <a:pPr indent="-342900" lvl="0" marL="342900" rtl="0" algn="l">
              <a:spcBef>
                <a:spcPts val="448"/>
              </a:spcBef>
              <a:spcAft>
                <a:spcPts val="0"/>
              </a:spcAft>
              <a:buClr>
                <a:schemeClr val="dk1"/>
              </a:buClr>
              <a:buSzPct val="100000"/>
              <a:buChar char="•"/>
            </a:pPr>
            <a:r>
              <a:rPr b="1" lang="en-US"/>
              <a:t>Project attributes</a:t>
            </a:r>
            <a:endParaRPr/>
          </a:p>
          <a:p>
            <a:pPr indent="-285750" lvl="1" marL="742950" rtl="0" algn="l">
              <a:spcBef>
                <a:spcPts val="392"/>
              </a:spcBef>
              <a:spcAft>
                <a:spcPts val="0"/>
              </a:spcAft>
              <a:buClr>
                <a:schemeClr val="dk1"/>
              </a:buClr>
              <a:buSzPct val="100000"/>
              <a:buChar char="–"/>
            </a:pPr>
            <a:r>
              <a:rPr lang="en-US"/>
              <a:t>Use of software tools</a:t>
            </a:r>
            <a:endParaRPr/>
          </a:p>
          <a:p>
            <a:pPr indent="-285750" lvl="1" marL="742950" rtl="0" algn="l">
              <a:spcBef>
                <a:spcPts val="392"/>
              </a:spcBef>
              <a:spcAft>
                <a:spcPts val="0"/>
              </a:spcAft>
              <a:buClr>
                <a:schemeClr val="dk1"/>
              </a:buClr>
              <a:buSzPct val="100000"/>
              <a:buChar char="–"/>
            </a:pPr>
            <a:r>
              <a:rPr lang="en-US"/>
              <a:t>Application of software engineering methods</a:t>
            </a:r>
            <a:endParaRPr/>
          </a:p>
          <a:p>
            <a:pPr indent="-285750" lvl="1" marL="742950" rtl="0" algn="l">
              <a:spcBef>
                <a:spcPts val="392"/>
              </a:spcBef>
              <a:spcAft>
                <a:spcPts val="0"/>
              </a:spcAft>
              <a:buClr>
                <a:schemeClr val="dk1"/>
              </a:buClr>
              <a:buSzPct val="100000"/>
              <a:buChar char="–"/>
            </a:pPr>
            <a:r>
              <a:rPr lang="en-US"/>
              <a:t>Required development schedule</a:t>
            </a:r>
            <a:endParaRPr/>
          </a:p>
          <a:p>
            <a:pPr indent="-200660" lvl="0" marL="342900" rtl="0" algn="l">
              <a:spcBef>
                <a:spcPts val="448"/>
              </a:spcBef>
              <a:spcAft>
                <a:spcPts val="0"/>
              </a:spcAft>
              <a:buClr>
                <a:schemeClr val="dk1"/>
              </a:buClr>
              <a:buSzPct val="100000"/>
              <a:buNone/>
            </a:pPr>
            <a:r>
              <a:t/>
            </a:r>
            <a:endParaRPr b="1"/>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Example </a:t>
            </a:r>
            <a:endParaRPr/>
          </a:p>
        </p:txBody>
      </p:sp>
      <p:sp>
        <p:nvSpPr>
          <p:cNvPr id="323" name="Google Shape;323;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id="324" name="Google Shape;324;p35"/>
          <p:cNvPicPr preferRelativeResize="0"/>
          <p:nvPr/>
        </p:nvPicPr>
        <p:blipFill rotWithShape="1">
          <a:blip r:embed="rId3">
            <a:alphaModFix/>
          </a:blip>
          <a:srcRect b="0" l="0" r="0" t="0"/>
          <a:stretch/>
        </p:blipFill>
        <p:spPr>
          <a:xfrm>
            <a:off x="395536" y="1628920"/>
            <a:ext cx="8660923" cy="129602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detailed cocomo</a:t>
            </a:r>
            <a:endParaRPr/>
          </a:p>
        </p:txBody>
      </p:sp>
      <p:sp>
        <p:nvSpPr>
          <p:cNvPr id="330" name="Google Shape;330;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US"/>
              <a:t>In detailed cocomo, the whole software is differentiated into multiple modules, and then we apply COCOMO in various modules to estimate effort and then sum the effort.</a:t>
            </a:r>
            <a:endParaRPr/>
          </a:p>
          <a:p>
            <a:pPr indent="0" lvl="1" marL="457200" rtl="0" algn="l">
              <a:spcBef>
                <a:spcPts val="518"/>
              </a:spcBef>
              <a:spcAft>
                <a:spcPts val="0"/>
              </a:spcAft>
              <a:buClr>
                <a:schemeClr val="dk1"/>
              </a:buClr>
              <a:buSzPct val="100000"/>
              <a:buNone/>
            </a:pPr>
            <a:r>
              <a:rPr lang="en-US"/>
              <a:t>The Six phases of detailed COCOMO are:</a:t>
            </a:r>
            <a:endParaRPr/>
          </a:p>
          <a:p>
            <a:pPr indent="-285750" lvl="1" marL="742950" rtl="0" algn="l">
              <a:spcBef>
                <a:spcPts val="518"/>
              </a:spcBef>
              <a:spcAft>
                <a:spcPts val="0"/>
              </a:spcAft>
              <a:buClr>
                <a:schemeClr val="dk1"/>
              </a:buClr>
              <a:buSzPct val="100000"/>
              <a:buChar char="–"/>
            </a:pPr>
            <a:r>
              <a:rPr lang="en-US"/>
              <a:t>Planning and requirements</a:t>
            </a:r>
            <a:endParaRPr/>
          </a:p>
          <a:p>
            <a:pPr indent="-285750" lvl="1" marL="742950" rtl="0" algn="l">
              <a:spcBef>
                <a:spcPts val="518"/>
              </a:spcBef>
              <a:spcAft>
                <a:spcPts val="0"/>
              </a:spcAft>
              <a:buClr>
                <a:schemeClr val="dk1"/>
              </a:buClr>
              <a:buSzPct val="100000"/>
              <a:buChar char="–"/>
            </a:pPr>
            <a:r>
              <a:rPr lang="en-US"/>
              <a:t>System structure</a:t>
            </a:r>
            <a:endParaRPr/>
          </a:p>
          <a:p>
            <a:pPr indent="-285750" lvl="1" marL="742950" rtl="0" algn="l">
              <a:spcBef>
                <a:spcPts val="518"/>
              </a:spcBef>
              <a:spcAft>
                <a:spcPts val="0"/>
              </a:spcAft>
              <a:buClr>
                <a:schemeClr val="dk1"/>
              </a:buClr>
              <a:buSzPct val="100000"/>
              <a:buChar char="–"/>
            </a:pPr>
            <a:r>
              <a:rPr lang="en-US"/>
              <a:t>Complete structure</a:t>
            </a:r>
            <a:endParaRPr/>
          </a:p>
          <a:p>
            <a:pPr indent="-285750" lvl="1" marL="742950" rtl="0" algn="l">
              <a:spcBef>
                <a:spcPts val="518"/>
              </a:spcBef>
              <a:spcAft>
                <a:spcPts val="0"/>
              </a:spcAft>
              <a:buClr>
                <a:schemeClr val="dk1"/>
              </a:buClr>
              <a:buSzPct val="100000"/>
              <a:buChar char="–"/>
            </a:pPr>
            <a:r>
              <a:rPr lang="en-US"/>
              <a:t>Module code and test</a:t>
            </a:r>
            <a:endParaRPr/>
          </a:p>
          <a:p>
            <a:pPr indent="-285750" lvl="1" marL="742950" rtl="0" algn="l">
              <a:spcBef>
                <a:spcPts val="518"/>
              </a:spcBef>
              <a:spcAft>
                <a:spcPts val="0"/>
              </a:spcAft>
              <a:buClr>
                <a:schemeClr val="dk1"/>
              </a:buClr>
              <a:buSzPct val="100000"/>
              <a:buChar char="–"/>
            </a:pPr>
            <a:r>
              <a:rPr lang="en-US"/>
              <a:t>Integration and test</a:t>
            </a:r>
            <a:endParaRPr/>
          </a:p>
          <a:p>
            <a:pPr indent="-285750" lvl="1" marL="742950" rtl="0" algn="l">
              <a:spcBef>
                <a:spcPts val="518"/>
              </a:spcBef>
              <a:spcAft>
                <a:spcPts val="0"/>
              </a:spcAft>
              <a:buClr>
                <a:schemeClr val="dk1"/>
              </a:buClr>
              <a:buSzPct val="100000"/>
              <a:buChar char="–"/>
            </a:pPr>
            <a:r>
              <a:rPr lang="en-US"/>
              <a:t>Cost Constructive model</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7"/>
          <p:cNvSpPr txBox="1"/>
          <p:nvPr>
            <p:ph type="title"/>
          </p:nvPr>
        </p:nvSpPr>
        <p:spPr>
          <a:xfrm>
            <a:off x="467544" y="274638"/>
            <a:ext cx="8219256" cy="63408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COCOMO II</a:t>
            </a:r>
            <a:endParaRPr/>
          </a:p>
        </p:txBody>
      </p:sp>
      <p:sp>
        <p:nvSpPr>
          <p:cNvPr id="336" name="Google Shape;336;p37"/>
          <p:cNvSpPr txBox="1"/>
          <p:nvPr>
            <p:ph idx="1" type="body"/>
          </p:nvPr>
        </p:nvSpPr>
        <p:spPr>
          <a:xfrm>
            <a:off x="467544" y="1124744"/>
            <a:ext cx="8291264" cy="4785395"/>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b="1" lang="en-US"/>
              <a:t>Effort Estimation</a:t>
            </a:r>
            <a:r>
              <a:rPr lang="en-US"/>
              <a:t>: The primary formula used in Intermediate COCOMO II is:</a:t>
            </a:r>
            <a:endParaRPr/>
          </a:p>
          <a:p>
            <a:pPr indent="-154940" lvl="0" marL="342900" rtl="0" algn="l">
              <a:spcBef>
                <a:spcPts val="592"/>
              </a:spcBef>
              <a:spcAft>
                <a:spcPts val="0"/>
              </a:spcAft>
              <a:buClr>
                <a:schemeClr val="dk1"/>
              </a:buClr>
              <a:buSzPct val="100000"/>
              <a:buNone/>
            </a:pPr>
            <a:r>
              <a:t/>
            </a:r>
            <a:endParaRPr/>
          </a:p>
          <a:p>
            <a:pPr indent="-285750" lvl="1" marL="742950" rtl="0" algn="l">
              <a:spcBef>
                <a:spcPts val="518"/>
              </a:spcBef>
              <a:spcAft>
                <a:spcPts val="0"/>
              </a:spcAft>
              <a:buClr>
                <a:schemeClr val="dk1"/>
              </a:buClr>
              <a:buSzPct val="100000"/>
              <a:buChar char="–"/>
            </a:pPr>
            <a:r>
              <a:rPr b="1" lang="en-US"/>
              <a:t>A:</a:t>
            </a:r>
            <a:r>
              <a:rPr lang="en-US"/>
              <a:t>Constant scale factor (typically 2.94 for the Intermediate COCOMO II model)</a:t>
            </a:r>
            <a:endParaRPr/>
          </a:p>
          <a:p>
            <a:pPr indent="-285750" lvl="1" marL="742950" rtl="0" algn="l">
              <a:spcBef>
                <a:spcPts val="518"/>
              </a:spcBef>
              <a:spcAft>
                <a:spcPts val="0"/>
              </a:spcAft>
              <a:buClr>
                <a:schemeClr val="dk1"/>
              </a:buClr>
              <a:buSzPct val="100000"/>
              <a:buChar char="–"/>
            </a:pPr>
            <a:r>
              <a:rPr b="1" lang="en-US"/>
              <a:t>Size</a:t>
            </a:r>
            <a:r>
              <a:rPr lang="en-US"/>
              <a:t>: Estimated size of the project in KLOC (thousands of lines of code)</a:t>
            </a:r>
            <a:endParaRPr/>
          </a:p>
          <a:p>
            <a:pPr indent="-285750" lvl="1" marL="742950" rtl="0" algn="l">
              <a:spcBef>
                <a:spcPts val="518"/>
              </a:spcBef>
              <a:spcAft>
                <a:spcPts val="0"/>
              </a:spcAft>
              <a:buClr>
                <a:schemeClr val="dk1"/>
              </a:buClr>
              <a:buSzPct val="100000"/>
              <a:buChar char="–"/>
            </a:pPr>
            <a:r>
              <a:rPr b="1" lang="en-US"/>
              <a:t>B</a:t>
            </a:r>
            <a:r>
              <a:rPr lang="en-US"/>
              <a:t>: Exponent derived from five scale factors</a:t>
            </a:r>
            <a:endParaRPr/>
          </a:p>
          <a:p>
            <a:pPr indent="-285750" lvl="1" marL="742950" rtl="0" algn="l">
              <a:spcBef>
                <a:spcPts val="518"/>
              </a:spcBef>
              <a:spcAft>
                <a:spcPts val="0"/>
              </a:spcAft>
              <a:buClr>
                <a:schemeClr val="dk1"/>
              </a:buClr>
              <a:buSzPct val="100000"/>
              <a:buChar char="–"/>
            </a:pPr>
            <a:r>
              <a:rPr b="1" lang="en-US"/>
              <a:t>EAF</a:t>
            </a:r>
            <a:r>
              <a:rPr lang="en-US"/>
              <a:t>: Effort Adjustment Factor, a product of the 17 cost drivers</a:t>
            </a:r>
            <a:endParaRPr/>
          </a:p>
          <a:p>
            <a:pPr indent="-342900" lvl="0" marL="342900" rtl="0" algn="l">
              <a:spcBef>
                <a:spcPts val="592"/>
              </a:spcBef>
              <a:spcAft>
                <a:spcPts val="0"/>
              </a:spcAft>
              <a:buClr>
                <a:schemeClr val="dk1"/>
              </a:buClr>
              <a:buSzPct val="100000"/>
              <a:buChar char="•"/>
            </a:pPr>
            <a:r>
              <a:rPr lang="en-US"/>
              <a:t>The formula for calculating BBB is:</a:t>
            </a:r>
            <a:endParaRPr/>
          </a:p>
          <a:p>
            <a:pPr indent="-154940" lvl="0" marL="342900" rtl="0" algn="l">
              <a:spcBef>
                <a:spcPts val="592"/>
              </a:spcBef>
              <a:spcAft>
                <a:spcPts val="0"/>
              </a:spcAft>
              <a:buClr>
                <a:schemeClr val="dk1"/>
              </a:buClr>
              <a:buSzPct val="100000"/>
              <a:buNone/>
            </a:pPr>
            <a:r>
              <a:t/>
            </a:r>
            <a:endParaRPr/>
          </a:p>
        </p:txBody>
      </p:sp>
      <p:pic>
        <p:nvPicPr>
          <p:cNvPr id="337" name="Google Shape;337;p37"/>
          <p:cNvPicPr preferRelativeResize="0"/>
          <p:nvPr/>
        </p:nvPicPr>
        <p:blipFill rotWithShape="1">
          <a:blip r:embed="rId3">
            <a:alphaModFix/>
          </a:blip>
          <a:srcRect b="0" l="0" r="0" t="0"/>
          <a:stretch/>
        </p:blipFill>
        <p:spPr>
          <a:xfrm>
            <a:off x="2584376" y="1935235"/>
            <a:ext cx="3338553" cy="576064"/>
          </a:xfrm>
          <a:prstGeom prst="rect">
            <a:avLst/>
          </a:prstGeom>
          <a:noFill/>
          <a:ln>
            <a:noFill/>
          </a:ln>
        </p:spPr>
      </p:pic>
      <p:pic>
        <p:nvPicPr>
          <p:cNvPr id="338" name="Google Shape;338;p37"/>
          <p:cNvPicPr preferRelativeResize="0"/>
          <p:nvPr/>
        </p:nvPicPr>
        <p:blipFill rotWithShape="1">
          <a:blip r:embed="rId4">
            <a:alphaModFix/>
          </a:blip>
          <a:srcRect b="0" l="0" r="0" t="0"/>
          <a:stretch/>
        </p:blipFill>
        <p:spPr>
          <a:xfrm>
            <a:off x="1745525" y="5860892"/>
            <a:ext cx="4141489" cy="79208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44" name="Google Shape;344;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pic>
        <p:nvPicPr>
          <p:cNvPr id="345" name="Google Shape;345;p38"/>
          <p:cNvPicPr preferRelativeResize="0"/>
          <p:nvPr/>
        </p:nvPicPr>
        <p:blipFill rotWithShape="1">
          <a:blip r:embed="rId3">
            <a:alphaModFix/>
          </a:blip>
          <a:srcRect b="0" l="0" r="0" t="0"/>
          <a:stretch/>
        </p:blipFill>
        <p:spPr>
          <a:xfrm>
            <a:off x="539552" y="1700808"/>
            <a:ext cx="7087547" cy="243001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9"/>
          <p:cNvSpPr txBox="1"/>
          <p:nvPr>
            <p:ph type="title"/>
          </p:nvPr>
        </p:nvSpPr>
        <p:spPr>
          <a:xfrm>
            <a:off x="457200" y="501492"/>
            <a:ext cx="8229600" cy="689291"/>
          </a:xfrm>
          <a:prstGeom prst="rect">
            <a:avLst/>
          </a:prstGeom>
          <a:noFill/>
          <a:ln>
            <a:noFill/>
          </a:ln>
        </p:spPr>
        <p:txBody>
          <a:bodyPr anchorCtr="0" anchor="ctr" bIns="0" lIns="0" spcFirstLastPara="1" rIns="0" wrap="square" tIns="12050">
            <a:spAutoFit/>
          </a:bodyPr>
          <a:lstStyle/>
          <a:p>
            <a:pPr indent="0" lvl="0" marL="3912870" rtl="0" algn="ctr">
              <a:lnSpc>
                <a:spcPct val="100000"/>
              </a:lnSpc>
              <a:spcBef>
                <a:spcPts val="0"/>
              </a:spcBef>
              <a:spcAft>
                <a:spcPts val="0"/>
              </a:spcAft>
              <a:buClr>
                <a:schemeClr val="dk1"/>
              </a:buClr>
              <a:buSzPts val="4400"/>
              <a:buFont typeface="Calibri"/>
              <a:buNone/>
            </a:pPr>
            <a:r>
              <a:rPr lang="en-US"/>
              <a:t>COCOMO II</a:t>
            </a:r>
            <a:endParaRPr/>
          </a:p>
        </p:txBody>
      </p:sp>
      <p:pic>
        <p:nvPicPr>
          <p:cNvPr id="351" name="Google Shape;351;p39"/>
          <p:cNvPicPr preferRelativeResize="0"/>
          <p:nvPr/>
        </p:nvPicPr>
        <p:blipFill rotWithShape="1">
          <a:blip r:embed="rId3">
            <a:alphaModFix/>
          </a:blip>
          <a:srcRect b="0" l="0" r="0" t="0"/>
          <a:stretch/>
        </p:blipFill>
        <p:spPr>
          <a:xfrm>
            <a:off x="597707" y="1235594"/>
            <a:ext cx="7791104" cy="4680786"/>
          </a:xfrm>
          <a:prstGeom prst="rect">
            <a:avLst/>
          </a:prstGeom>
          <a:noFill/>
          <a:ln>
            <a:noFill/>
          </a:ln>
        </p:spPr>
      </p:pic>
      <p:sp>
        <p:nvSpPr>
          <p:cNvPr id="352" name="Google Shape;352;p39"/>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353" name="Google Shape;353;p39"/>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38100" rtl="0" algn="r">
              <a:lnSpc>
                <a:spcPct val="155333"/>
              </a:lnSpc>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0"/>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359" name="Google Shape;359;p40"/>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38100" rtl="0" algn="r">
              <a:lnSpc>
                <a:spcPct val="155333"/>
              </a:lnSpc>
              <a:spcBef>
                <a:spcPts val="0"/>
              </a:spcBef>
              <a:spcAft>
                <a:spcPts val="0"/>
              </a:spcAft>
              <a:buNone/>
            </a:pPr>
            <a:fld id="{00000000-1234-1234-1234-123412341234}" type="slidenum">
              <a:rPr lang="en-US"/>
              <a:t>‹#›</a:t>
            </a:fld>
            <a:endParaRPr/>
          </a:p>
        </p:txBody>
      </p:sp>
      <p:sp>
        <p:nvSpPr>
          <p:cNvPr id="360" name="Google Shape;360;p40"/>
          <p:cNvSpPr txBox="1"/>
          <p:nvPr>
            <p:ph type="title"/>
          </p:nvPr>
        </p:nvSpPr>
        <p:spPr>
          <a:xfrm>
            <a:off x="482646" y="250195"/>
            <a:ext cx="6836624" cy="567463"/>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chemeClr val="dk1"/>
              </a:buClr>
              <a:buSzPts val="3600"/>
              <a:buFont typeface="Calibri"/>
              <a:buNone/>
            </a:pPr>
            <a:r>
              <a:rPr lang="en-US" sz="3600"/>
              <a:t>COCOMO	II model</a:t>
            </a:r>
            <a:endParaRPr sz="3600"/>
          </a:p>
        </p:txBody>
      </p:sp>
      <p:sp>
        <p:nvSpPr>
          <p:cNvPr id="361" name="Google Shape;361;p40"/>
          <p:cNvSpPr txBox="1"/>
          <p:nvPr/>
        </p:nvSpPr>
        <p:spPr>
          <a:xfrm>
            <a:off x="467544" y="908720"/>
            <a:ext cx="8064896" cy="5850191"/>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3200">
                <a:solidFill>
                  <a:srgbClr val="1F4E79"/>
                </a:solidFill>
                <a:latin typeface="Calibri"/>
                <a:ea typeface="Calibri"/>
                <a:cs typeface="Calibri"/>
                <a:sym typeface="Calibri"/>
              </a:rPr>
              <a:t>Scale factors (5 factors):</a:t>
            </a:r>
            <a:endParaRPr sz="3200">
              <a:solidFill>
                <a:schemeClr val="dk1"/>
              </a:solidFill>
              <a:latin typeface="Calibri"/>
              <a:ea typeface="Calibri"/>
              <a:cs typeface="Calibri"/>
              <a:sym typeface="Calibri"/>
            </a:endParaRPr>
          </a:p>
          <a:p>
            <a:pPr indent="-197221" lvl="0" marL="12700" marR="1045844" rtl="0" algn="l">
              <a:lnSpc>
                <a:spcPct val="80000"/>
              </a:lnSpc>
              <a:spcBef>
                <a:spcPts val="1010"/>
              </a:spcBef>
              <a:spcAft>
                <a:spcPts val="0"/>
              </a:spcAft>
              <a:buClr>
                <a:srgbClr val="000000"/>
              </a:buClr>
              <a:buSzPts val="3106"/>
              <a:buFont typeface="Arial"/>
              <a:buAutoNum type="arabicPeriod"/>
            </a:pPr>
            <a:r>
              <a:rPr b="1" lang="en-US" sz="3200">
                <a:solidFill>
                  <a:srgbClr val="001F5F"/>
                </a:solidFill>
                <a:latin typeface="Calibri"/>
                <a:ea typeface="Calibri"/>
                <a:cs typeface="Calibri"/>
                <a:sym typeface="Calibri"/>
              </a:rPr>
              <a:t>	Precedentness or Previous Experience: </a:t>
            </a:r>
            <a:r>
              <a:rPr lang="en-US" sz="3200">
                <a:solidFill>
                  <a:schemeClr val="dk1"/>
                </a:solidFill>
                <a:latin typeface="Calibri"/>
                <a:ea typeface="Calibri"/>
                <a:cs typeface="Calibri"/>
                <a:sym typeface="Calibri"/>
              </a:rPr>
              <a:t>Higher experience lesser time</a:t>
            </a:r>
            <a:endParaRPr sz="3200">
              <a:solidFill>
                <a:schemeClr val="dk1"/>
              </a:solidFill>
              <a:latin typeface="Calibri"/>
              <a:ea typeface="Calibri"/>
              <a:cs typeface="Calibri"/>
              <a:sym typeface="Calibri"/>
            </a:endParaRPr>
          </a:p>
          <a:p>
            <a:pPr indent="-197221" lvl="0" marL="12700" marR="384810" rtl="0" algn="l">
              <a:lnSpc>
                <a:spcPct val="102187"/>
              </a:lnSpc>
              <a:spcBef>
                <a:spcPts val="965"/>
              </a:spcBef>
              <a:spcAft>
                <a:spcPts val="0"/>
              </a:spcAft>
              <a:buClr>
                <a:srgbClr val="000000"/>
              </a:buClr>
              <a:buSzPts val="3106"/>
              <a:buFont typeface="Arial"/>
              <a:buAutoNum type="arabicPeriod"/>
            </a:pPr>
            <a:r>
              <a:rPr b="1" lang="en-US" sz="3200">
                <a:solidFill>
                  <a:srgbClr val="001F5F"/>
                </a:solidFill>
                <a:latin typeface="Calibri"/>
                <a:ea typeface="Calibri"/>
                <a:cs typeface="Calibri"/>
                <a:sym typeface="Calibri"/>
              </a:rPr>
              <a:t>	Development Flexibility</a:t>
            </a:r>
            <a:r>
              <a:rPr b="1" lang="en-US" sz="3200">
                <a:solidFill>
                  <a:srgbClr val="2E5496"/>
                </a:solidFill>
                <a:latin typeface="Calibri"/>
                <a:ea typeface="Calibri"/>
                <a:cs typeface="Calibri"/>
                <a:sym typeface="Calibri"/>
              </a:rPr>
              <a:t>: </a:t>
            </a:r>
            <a:r>
              <a:rPr lang="en-US" sz="3200">
                <a:solidFill>
                  <a:schemeClr val="dk1"/>
                </a:solidFill>
                <a:latin typeface="Calibri"/>
                <a:ea typeface="Calibri"/>
                <a:cs typeface="Calibri"/>
                <a:sym typeface="Calibri"/>
              </a:rPr>
              <a:t>More freedom to choose convenient development process less time</a:t>
            </a:r>
            <a:endParaRPr sz="3200">
              <a:solidFill>
                <a:schemeClr val="dk1"/>
              </a:solidFill>
              <a:latin typeface="Calibri"/>
              <a:ea typeface="Calibri"/>
              <a:cs typeface="Calibri"/>
              <a:sym typeface="Calibri"/>
            </a:endParaRPr>
          </a:p>
          <a:p>
            <a:pPr indent="-361950" lvl="0" marL="371475" marR="0" rtl="0" algn="l">
              <a:lnSpc>
                <a:spcPct val="100000"/>
              </a:lnSpc>
              <a:spcBef>
                <a:spcPts val="200"/>
              </a:spcBef>
              <a:spcAft>
                <a:spcPts val="0"/>
              </a:spcAft>
              <a:buClr>
                <a:srgbClr val="000000"/>
              </a:buClr>
              <a:buSzPts val="3106"/>
              <a:buFont typeface="Arial"/>
              <a:buAutoNum type="arabicPeriod"/>
            </a:pPr>
            <a:r>
              <a:rPr b="1" lang="en-US" sz="3200">
                <a:solidFill>
                  <a:srgbClr val="001F5F"/>
                </a:solidFill>
                <a:latin typeface="Calibri"/>
                <a:ea typeface="Calibri"/>
                <a:cs typeface="Calibri"/>
                <a:sym typeface="Calibri"/>
              </a:rPr>
              <a:t>Risk Resolution: </a:t>
            </a:r>
            <a:r>
              <a:rPr lang="en-US" sz="3200">
                <a:solidFill>
                  <a:schemeClr val="dk1"/>
                </a:solidFill>
                <a:latin typeface="Calibri"/>
                <a:ea typeface="Calibri"/>
                <a:cs typeface="Calibri"/>
                <a:sym typeface="Calibri"/>
              </a:rPr>
              <a:t>Lesser analysis done more time</a:t>
            </a:r>
            <a:endParaRPr sz="3200">
              <a:solidFill>
                <a:schemeClr val="dk1"/>
              </a:solidFill>
              <a:latin typeface="Calibri"/>
              <a:ea typeface="Calibri"/>
              <a:cs typeface="Calibri"/>
              <a:sym typeface="Calibri"/>
            </a:endParaRPr>
          </a:p>
          <a:p>
            <a:pPr indent="-361950" lvl="0" marL="371475" marR="0" rtl="0" algn="l">
              <a:lnSpc>
                <a:spcPct val="100000"/>
              </a:lnSpc>
              <a:spcBef>
                <a:spcPts val="195"/>
              </a:spcBef>
              <a:spcAft>
                <a:spcPts val="0"/>
              </a:spcAft>
              <a:buClr>
                <a:srgbClr val="000000"/>
              </a:buClr>
              <a:buSzPts val="3106"/>
              <a:buFont typeface="Arial"/>
              <a:buAutoNum type="arabicPeriod"/>
            </a:pPr>
            <a:r>
              <a:rPr b="1" lang="en-US" sz="3200">
                <a:solidFill>
                  <a:srgbClr val="001F5F"/>
                </a:solidFill>
                <a:latin typeface="Calibri"/>
                <a:ea typeface="Calibri"/>
                <a:cs typeface="Calibri"/>
                <a:sym typeface="Calibri"/>
              </a:rPr>
              <a:t>Team Cohesion: </a:t>
            </a:r>
            <a:r>
              <a:rPr lang="en-US" sz="3200">
                <a:solidFill>
                  <a:schemeClr val="dk1"/>
                </a:solidFill>
                <a:latin typeface="Calibri"/>
                <a:ea typeface="Calibri"/>
                <a:cs typeface="Calibri"/>
                <a:sym typeface="Calibri"/>
              </a:rPr>
              <a:t>more seamless interaction less time</a:t>
            </a:r>
            <a:endParaRPr sz="3200">
              <a:solidFill>
                <a:schemeClr val="dk1"/>
              </a:solidFill>
              <a:latin typeface="Calibri"/>
              <a:ea typeface="Calibri"/>
              <a:cs typeface="Calibri"/>
              <a:sym typeface="Calibri"/>
            </a:endParaRPr>
          </a:p>
          <a:p>
            <a:pPr indent="-361950" lvl="0" marL="371475" marR="0" rtl="0" algn="l">
              <a:lnSpc>
                <a:spcPct val="100000"/>
              </a:lnSpc>
              <a:spcBef>
                <a:spcPts val="180"/>
              </a:spcBef>
              <a:spcAft>
                <a:spcPts val="0"/>
              </a:spcAft>
              <a:buClr>
                <a:srgbClr val="000000"/>
              </a:buClr>
              <a:buSzPts val="3106"/>
              <a:buFont typeface="Arial"/>
              <a:buAutoNum type="arabicPeriod"/>
            </a:pPr>
            <a:r>
              <a:rPr b="1" lang="en-US" sz="3200">
                <a:solidFill>
                  <a:srgbClr val="001F5F"/>
                </a:solidFill>
                <a:latin typeface="Calibri"/>
                <a:ea typeface="Calibri"/>
                <a:cs typeface="Calibri"/>
                <a:sym typeface="Calibri"/>
              </a:rPr>
              <a:t>Process Maturity: </a:t>
            </a:r>
            <a:r>
              <a:rPr lang="en-US" sz="3200">
                <a:solidFill>
                  <a:schemeClr val="dk1"/>
                </a:solidFill>
                <a:latin typeface="Calibri"/>
                <a:ea typeface="Calibri"/>
                <a:cs typeface="Calibri"/>
                <a:sym typeface="Calibri"/>
              </a:rPr>
              <a:t>More matured process less time</a:t>
            </a:r>
            <a:endParaRPr sz="32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1"/>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367" name="Google Shape;367;p41"/>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38100" rtl="0" algn="r">
              <a:lnSpc>
                <a:spcPct val="155333"/>
              </a:lnSpc>
              <a:spcBef>
                <a:spcPts val="0"/>
              </a:spcBef>
              <a:spcAft>
                <a:spcPts val="0"/>
              </a:spcAft>
              <a:buNone/>
            </a:pPr>
            <a:fld id="{00000000-1234-1234-1234-123412341234}" type="slidenum">
              <a:rPr lang="en-US"/>
              <a:t>‹#›</a:t>
            </a:fld>
            <a:endParaRPr/>
          </a:p>
        </p:txBody>
      </p:sp>
      <p:sp>
        <p:nvSpPr>
          <p:cNvPr id="368" name="Google Shape;368;p41"/>
          <p:cNvSpPr txBox="1"/>
          <p:nvPr>
            <p:ph type="title"/>
          </p:nvPr>
        </p:nvSpPr>
        <p:spPr>
          <a:xfrm>
            <a:off x="457200" y="501492"/>
            <a:ext cx="8229600" cy="689291"/>
          </a:xfrm>
          <a:prstGeom prst="rect">
            <a:avLst/>
          </a:prstGeom>
          <a:noFill/>
          <a:ln>
            <a:noFill/>
          </a:ln>
        </p:spPr>
        <p:txBody>
          <a:bodyPr anchorCtr="0" anchor="ctr" bIns="0" lIns="0" spcFirstLastPara="1" rIns="0" wrap="square" tIns="12050">
            <a:spAutoFit/>
          </a:bodyPr>
          <a:lstStyle/>
          <a:p>
            <a:pPr indent="0" lvl="0" marL="3912870" rtl="0" algn="ctr">
              <a:lnSpc>
                <a:spcPct val="100000"/>
              </a:lnSpc>
              <a:spcBef>
                <a:spcPts val="0"/>
              </a:spcBef>
              <a:spcAft>
                <a:spcPts val="0"/>
              </a:spcAft>
              <a:buClr>
                <a:schemeClr val="dk1"/>
              </a:buClr>
              <a:buSzPts val="4400"/>
              <a:buFont typeface="Calibri"/>
              <a:buNone/>
            </a:pPr>
            <a:r>
              <a:rPr lang="en-US"/>
              <a:t>COCOMO II</a:t>
            </a:r>
            <a:endParaRPr/>
          </a:p>
        </p:txBody>
      </p:sp>
      <p:sp>
        <p:nvSpPr>
          <p:cNvPr id="369" name="Google Shape;369;p41"/>
          <p:cNvSpPr txBox="1"/>
          <p:nvPr/>
        </p:nvSpPr>
        <p:spPr>
          <a:xfrm>
            <a:off x="755576" y="980728"/>
            <a:ext cx="7780020" cy="5191806"/>
          </a:xfrm>
          <a:prstGeom prst="rect">
            <a:avLst/>
          </a:prstGeom>
          <a:noFill/>
          <a:ln>
            <a:noFill/>
          </a:ln>
        </p:spPr>
        <p:txBody>
          <a:bodyPr anchorCtr="0" anchor="t" bIns="0" lIns="0" spcFirstLastPara="1" rIns="0" wrap="square" tIns="86975">
            <a:spAutoFit/>
          </a:bodyPr>
          <a:lstStyle/>
          <a:p>
            <a:pPr indent="0" lvl="0" marL="12700" marR="0" rtl="0" algn="l">
              <a:lnSpc>
                <a:spcPct val="100000"/>
              </a:lnSpc>
              <a:spcBef>
                <a:spcPts val="0"/>
              </a:spcBef>
              <a:spcAft>
                <a:spcPts val="0"/>
              </a:spcAft>
              <a:buNone/>
            </a:pPr>
            <a:r>
              <a:rPr b="1" lang="en-US" sz="3200">
                <a:solidFill>
                  <a:srgbClr val="1F4E79"/>
                </a:solidFill>
                <a:latin typeface="Calibri"/>
                <a:ea typeface="Calibri"/>
                <a:cs typeface="Calibri"/>
                <a:sym typeface="Calibri"/>
              </a:rPr>
              <a:t>EAF = Early Adjustment Cost Factors (7 major):</a:t>
            </a:r>
            <a:endParaRPr sz="3200">
              <a:solidFill>
                <a:schemeClr val="dk1"/>
              </a:solidFill>
              <a:latin typeface="Calibri"/>
              <a:ea typeface="Calibri"/>
              <a:cs typeface="Calibri"/>
              <a:sym typeface="Calibri"/>
            </a:endParaRPr>
          </a:p>
          <a:p>
            <a:pPr indent="-393700" lvl="0" marL="403225" marR="0" rtl="0" algn="l">
              <a:lnSpc>
                <a:spcPct val="100000"/>
              </a:lnSpc>
              <a:spcBef>
                <a:spcPts val="590"/>
              </a:spcBef>
              <a:spcAft>
                <a:spcPts val="0"/>
              </a:spcAft>
              <a:buClr>
                <a:srgbClr val="000000"/>
              </a:buClr>
              <a:buSzPts val="3114"/>
              <a:buFont typeface="Arial"/>
              <a:buAutoNum type="arabicPeriod"/>
            </a:pPr>
            <a:r>
              <a:rPr b="1" lang="en-US" sz="3200">
                <a:solidFill>
                  <a:srgbClr val="1F4E79"/>
                </a:solidFill>
                <a:latin typeface="Calibri"/>
                <a:ea typeface="Calibri"/>
                <a:cs typeface="Calibri"/>
                <a:sym typeface="Calibri"/>
              </a:rPr>
              <a:t>Product Attributes</a:t>
            </a:r>
            <a:endParaRPr sz="3200">
              <a:solidFill>
                <a:schemeClr val="dk1"/>
              </a:solidFill>
              <a:latin typeface="Calibri"/>
              <a:ea typeface="Calibri"/>
              <a:cs typeface="Calibri"/>
              <a:sym typeface="Calibri"/>
            </a:endParaRPr>
          </a:p>
          <a:p>
            <a:pPr indent="-351154" lvl="1" marL="818514" marR="0" rtl="0" algn="l">
              <a:lnSpc>
                <a:spcPct val="100000"/>
              </a:lnSpc>
              <a:spcBef>
                <a:spcPts val="125"/>
              </a:spcBef>
              <a:spcAft>
                <a:spcPts val="0"/>
              </a:spcAft>
              <a:buClr>
                <a:schemeClr val="dk1"/>
              </a:buClr>
              <a:buSzPts val="2327"/>
              <a:buFont typeface="Arial"/>
              <a:buAutoNum type="arabicPeriod"/>
            </a:pPr>
            <a:r>
              <a:rPr b="0" i="0" lang="en-US" sz="2400" u="none" cap="none" strike="noStrike">
                <a:solidFill>
                  <a:schemeClr val="dk1"/>
                </a:solidFill>
                <a:latin typeface="Calibri"/>
                <a:ea typeface="Calibri"/>
                <a:cs typeface="Calibri"/>
                <a:sym typeface="Calibri"/>
              </a:rPr>
              <a:t>S/w Reliability req. more reliable more time</a:t>
            </a:r>
            <a:endParaRPr b="0" i="0" sz="2400" u="none" cap="none" strike="noStrike">
              <a:solidFill>
                <a:schemeClr val="dk1"/>
              </a:solidFill>
              <a:latin typeface="Calibri"/>
              <a:ea typeface="Calibri"/>
              <a:cs typeface="Calibri"/>
              <a:sym typeface="Calibri"/>
            </a:endParaRPr>
          </a:p>
          <a:p>
            <a:pPr indent="-351154" lvl="1" marL="818514" marR="0" rtl="0" algn="l">
              <a:lnSpc>
                <a:spcPct val="100000"/>
              </a:lnSpc>
              <a:spcBef>
                <a:spcPts val="110"/>
              </a:spcBef>
              <a:spcAft>
                <a:spcPts val="0"/>
              </a:spcAft>
              <a:buClr>
                <a:schemeClr val="dk1"/>
              </a:buClr>
              <a:buSzPts val="2327"/>
              <a:buFont typeface="Arial"/>
              <a:buAutoNum type="arabicPeriod"/>
            </a:pPr>
            <a:r>
              <a:rPr b="0" i="0" lang="en-US" sz="2400" u="none" cap="none" strike="noStrike">
                <a:solidFill>
                  <a:schemeClr val="dk1"/>
                </a:solidFill>
                <a:latin typeface="Calibri"/>
                <a:ea typeface="Calibri"/>
                <a:cs typeface="Calibri"/>
                <a:sym typeface="Calibri"/>
              </a:rPr>
              <a:t>Size of application data : more data size more time</a:t>
            </a:r>
            <a:endParaRPr b="0" i="0" sz="2400" u="none" cap="none" strike="noStrike">
              <a:solidFill>
                <a:schemeClr val="dk1"/>
              </a:solidFill>
              <a:latin typeface="Calibri"/>
              <a:ea typeface="Calibri"/>
              <a:cs typeface="Calibri"/>
              <a:sym typeface="Calibri"/>
            </a:endParaRPr>
          </a:p>
          <a:p>
            <a:pPr indent="-351154" lvl="1" marL="818514" marR="0" rtl="0" algn="l">
              <a:lnSpc>
                <a:spcPct val="100000"/>
              </a:lnSpc>
              <a:spcBef>
                <a:spcPts val="100"/>
              </a:spcBef>
              <a:spcAft>
                <a:spcPts val="0"/>
              </a:spcAft>
              <a:buClr>
                <a:schemeClr val="dk1"/>
              </a:buClr>
              <a:buSzPts val="2327"/>
              <a:buFont typeface="Arial"/>
              <a:buAutoNum type="arabicPeriod"/>
            </a:pPr>
            <a:r>
              <a:rPr b="0" i="0" lang="en-US" sz="2400" u="none" cap="none" strike="noStrike">
                <a:solidFill>
                  <a:schemeClr val="dk1"/>
                </a:solidFill>
                <a:latin typeface="Calibri"/>
                <a:ea typeface="Calibri"/>
                <a:cs typeface="Calibri"/>
                <a:sym typeface="Calibri"/>
              </a:rPr>
              <a:t>Complexity of product : complex will require more time</a:t>
            </a:r>
            <a:endParaRPr b="0" i="0" sz="2400" u="none" cap="none" strike="noStrike">
              <a:solidFill>
                <a:schemeClr val="dk1"/>
              </a:solidFill>
              <a:latin typeface="Calibri"/>
              <a:ea typeface="Calibri"/>
              <a:cs typeface="Calibri"/>
              <a:sym typeface="Calibri"/>
            </a:endParaRPr>
          </a:p>
          <a:p>
            <a:pPr indent="0" lvl="0" marL="12700" marR="0" rtl="0" algn="l">
              <a:lnSpc>
                <a:spcPct val="100000"/>
              </a:lnSpc>
              <a:spcBef>
                <a:spcPts val="590"/>
              </a:spcBef>
              <a:spcAft>
                <a:spcPts val="0"/>
              </a:spcAft>
              <a:buNone/>
            </a:pPr>
            <a:r>
              <a:rPr b="1" lang="en-US" sz="3200">
                <a:solidFill>
                  <a:srgbClr val="1F4E79"/>
                </a:solidFill>
                <a:latin typeface="Calibri"/>
                <a:ea typeface="Calibri"/>
                <a:cs typeface="Calibri"/>
                <a:sym typeface="Calibri"/>
              </a:rPr>
              <a:t>2.Platform (H/W Attributes):</a:t>
            </a:r>
            <a:endParaRPr/>
          </a:p>
          <a:p>
            <a:pPr indent="0" lvl="0" marL="456565" marR="0" rtl="0" algn="l">
              <a:lnSpc>
                <a:spcPct val="100000"/>
              </a:lnSpc>
              <a:spcBef>
                <a:spcPts val="125"/>
              </a:spcBef>
              <a:spcAft>
                <a:spcPts val="0"/>
              </a:spcAft>
              <a:buNone/>
            </a:pPr>
            <a:r>
              <a:rPr lang="en-US" sz="2400">
                <a:solidFill>
                  <a:schemeClr val="dk1"/>
                </a:solidFill>
                <a:latin typeface="Calibri"/>
                <a:ea typeface="Calibri"/>
                <a:cs typeface="Calibri"/>
                <a:sym typeface="Calibri"/>
              </a:rPr>
              <a:t>4. Execution time constraint: higher constraint more time</a:t>
            </a:r>
            <a:endParaRPr/>
          </a:p>
          <a:p>
            <a:pPr indent="0" lvl="0" marL="456565" marR="0" rtl="0" algn="l">
              <a:lnSpc>
                <a:spcPct val="100000"/>
              </a:lnSpc>
              <a:spcBef>
                <a:spcPts val="125"/>
              </a:spcBef>
              <a:spcAft>
                <a:spcPts val="0"/>
              </a:spcAft>
              <a:buNone/>
            </a:pPr>
            <a:r>
              <a:rPr lang="en-US" sz="2400">
                <a:solidFill>
                  <a:schemeClr val="dk1"/>
                </a:solidFill>
                <a:latin typeface="Calibri"/>
                <a:ea typeface="Calibri"/>
                <a:cs typeface="Calibri"/>
                <a:sym typeface="Calibri"/>
              </a:rPr>
              <a:t>5. Main storage constraint : higher constraint more time</a:t>
            </a:r>
            <a:endParaRPr/>
          </a:p>
          <a:p>
            <a:pPr indent="0" lvl="0" marL="456565" marR="42545" rtl="0" algn="l">
              <a:lnSpc>
                <a:spcPct val="147500"/>
              </a:lnSpc>
              <a:spcBef>
                <a:spcPts val="565"/>
              </a:spcBef>
              <a:spcAft>
                <a:spcPts val="0"/>
              </a:spcAft>
              <a:buNone/>
            </a:pPr>
            <a:r>
              <a:rPr lang="en-US" sz="2400">
                <a:solidFill>
                  <a:schemeClr val="dk1"/>
                </a:solidFill>
                <a:latin typeface="Calibri"/>
                <a:ea typeface="Calibri"/>
                <a:cs typeface="Calibri"/>
                <a:sym typeface="Calibri"/>
              </a:rPr>
              <a:t>6. Platform volatility (OS/RDBMS/Browser change): More    flexibility more time</a:t>
            </a:r>
            <a:endParaRPr/>
          </a:p>
          <a:p>
            <a:pPr indent="0" lvl="0" marL="456565" marR="42545" rtl="0" algn="l">
              <a:lnSpc>
                <a:spcPct val="147500"/>
              </a:lnSpc>
              <a:spcBef>
                <a:spcPts val="565"/>
              </a:spcBef>
              <a:spcAft>
                <a:spcPts val="0"/>
              </a:spcAft>
              <a:buNone/>
            </a:pPr>
            <a:r>
              <a:rPr lang="en-US" sz="2400">
                <a:solidFill>
                  <a:schemeClr val="dk1"/>
                </a:solidFill>
                <a:latin typeface="Calibri"/>
                <a:ea typeface="Calibri"/>
                <a:cs typeface="Calibri"/>
                <a:sym typeface="Calibri"/>
              </a:rPr>
              <a:t>7. Required turnabout time</a:t>
            </a:r>
            <a:endParaRPr sz="24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2"/>
          <p:cNvSpPr txBox="1"/>
          <p:nvPr>
            <p:ph idx="4294967295" type="ftr"/>
          </p:nvPr>
        </p:nvSpPr>
        <p:spPr>
          <a:xfrm>
            <a:off x="4145947" y="6420407"/>
            <a:ext cx="829913" cy="487313"/>
          </a:xfrm>
          <a:prstGeom prst="rect">
            <a:avLst/>
          </a:prstGeom>
          <a:noFill/>
          <a:ln>
            <a:noFill/>
          </a:ln>
        </p:spPr>
        <p:txBody>
          <a:bodyPr anchorCtr="0" anchor="ctr" bIns="0" lIns="0" spcFirstLastPara="1" rIns="0" wrap="square" tIns="0">
            <a:spAutoFit/>
          </a:bodyPr>
          <a:lstStyle/>
          <a:p>
            <a:pPr indent="0" lvl="0" marL="43180" rtl="0" algn="ctr">
              <a:lnSpc>
                <a:spcPct val="155333"/>
              </a:lnSpc>
              <a:spcBef>
                <a:spcPts val="0"/>
              </a:spcBef>
              <a:spcAft>
                <a:spcPts val="0"/>
              </a:spcAft>
              <a:buNone/>
            </a:pPr>
            <a:r>
              <a:rPr lang="en-US"/>
              <a:t>MODULE 1</a:t>
            </a:r>
            <a:endParaRPr/>
          </a:p>
        </p:txBody>
      </p:sp>
      <p:sp>
        <p:nvSpPr>
          <p:cNvPr id="375" name="Google Shape;375;p42"/>
          <p:cNvSpPr txBox="1"/>
          <p:nvPr>
            <p:ph idx="4294967295" type="sldNum"/>
          </p:nvPr>
        </p:nvSpPr>
        <p:spPr>
          <a:xfrm>
            <a:off x="8164259" y="6420407"/>
            <a:ext cx="320802" cy="252095"/>
          </a:xfrm>
          <a:prstGeom prst="rect">
            <a:avLst/>
          </a:prstGeom>
          <a:noFill/>
          <a:ln>
            <a:noFill/>
          </a:ln>
        </p:spPr>
        <p:txBody>
          <a:bodyPr anchorCtr="0" anchor="ctr" bIns="0" lIns="0" spcFirstLastPara="1" rIns="0" wrap="square" tIns="0">
            <a:spAutoFit/>
          </a:bodyPr>
          <a:lstStyle/>
          <a:p>
            <a:pPr indent="0" lvl="0" marL="38100" rtl="0" algn="r">
              <a:lnSpc>
                <a:spcPct val="155333"/>
              </a:lnSpc>
              <a:spcBef>
                <a:spcPts val="0"/>
              </a:spcBef>
              <a:spcAft>
                <a:spcPts val="0"/>
              </a:spcAft>
              <a:buNone/>
            </a:pPr>
            <a:fld id="{00000000-1234-1234-1234-123412341234}" type="slidenum">
              <a:rPr lang="en-US"/>
              <a:t>‹#›</a:t>
            </a:fld>
            <a:endParaRPr/>
          </a:p>
        </p:txBody>
      </p:sp>
      <p:sp>
        <p:nvSpPr>
          <p:cNvPr id="376" name="Google Shape;376;p42"/>
          <p:cNvSpPr txBox="1"/>
          <p:nvPr>
            <p:ph type="title"/>
          </p:nvPr>
        </p:nvSpPr>
        <p:spPr>
          <a:xfrm>
            <a:off x="457200" y="501492"/>
            <a:ext cx="8229600" cy="689291"/>
          </a:xfrm>
          <a:prstGeom prst="rect">
            <a:avLst/>
          </a:prstGeom>
          <a:noFill/>
          <a:ln>
            <a:noFill/>
          </a:ln>
        </p:spPr>
        <p:txBody>
          <a:bodyPr anchorCtr="0" anchor="ctr" bIns="0" lIns="0" spcFirstLastPara="1" rIns="0" wrap="square" tIns="12050">
            <a:spAutoFit/>
          </a:bodyPr>
          <a:lstStyle/>
          <a:p>
            <a:pPr indent="0" lvl="0" marL="3912870" rtl="0" algn="ctr">
              <a:lnSpc>
                <a:spcPct val="100000"/>
              </a:lnSpc>
              <a:spcBef>
                <a:spcPts val="0"/>
              </a:spcBef>
              <a:spcAft>
                <a:spcPts val="0"/>
              </a:spcAft>
              <a:buClr>
                <a:schemeClr val="dk1"/>
              </a:buClr>
              <a:buSzPts val="4400"/>
              <a:buFont typeface="Calibri"/>
              <a:buNone/>
            </a:pPr>
            <a:r>
              <a:rPr lang="en-US"/>
              <a:t>COCOMO II</a:t>
            </a:r>
            <a:endParaRPr/>
          </a:p>
        </p:txBody>
      </p:sp>
      <p:sp>
        <p:nvSpPr>
          <p:cNvPr id="377" name="Google Shape;377;p42"/>
          <p:cNvSpPr txBox="1"/>
          <p:nvPr/>
        </p:nvSpPr>
        <p:spPr>
          <a:xfrm>
            <a:off x="609944" y="1110400"/>
            <a:ext cx="8138520" cy="5414944"/>
          </a:xfrm>
          <a:prstGeom prst="rect">
            <a:avLst/>
          </a:prstGeom>
          <a:noFill/>
          <a:ln>
            <a:noFill/>
          </a:ln>
        </p:spPr>
        <p:txBody>
          <a:bodyPr anchorCtr="0" anchor="t" bIns="0" lIns="0" spcFirstLastPara="1" rIns="0" wrap="square" tIns="86975">
            <a:spAutoFit/>
          </a:bodyPr>
          <a:lstStyle/>
          <a:p>
            <a:pPr indent="0" lvl="0" marL="12700" marR="0" rtl="0" algn="l">
              <a:lnSpc>
                <a:spcPct val="100000"/>
              </a:lnSpc>
              <a:spcBef>
                <a:spcPts val="0"/>
              </a:spcBef>
              <a:spcAft>
                <a:spcPts val="0"/>
              </a:spcAft>
              <a:buNone/>
            </a:pPr>
            <a:r>
              <a:rPr b="1" lang="en-US" sz="2800">
                <a:solidFill>
                  <a:srgbClr val="1F4E79"/>
                </a:solidFill>
                <a:latin typeface="Calibri"/>
                <a:ea typeface="Calibri"/>
                <a:cs typeface="Calibri"/>
                <a:sym typeface="Calibri"/>
              </a:rPr>
              <a:t>EAF = Early Adjustment Cost Factors (7 major):</a:t>
            </a:r>
            <a:endParaRPr sz="2800">
              <a:solidFill>
                <a:schemeClr val="dk1"/>
              </a:solidFill>
              <a:latin typeface="Calibri"/>
              <a:ea typeface="Calibri"/>
              <a:cs typeface="Calibri"/>
              <a:sym typeface="Calibri"/>
            </a:endParaRPr>
          </a:p>
          <a:p>
            <a:pPr indent="0" lvl="0" marL="5080" marR="0" rtl="0" algn="l">
              <a:lnSpc>
                <a:spcPct val="100000"/>
              </a:lnSpc>
              <a:spcBef>
                <a:spcPts val="515"/>
              </a:spcBef>
              <a:spcAft>
                <a:spcPts val="0"/>
              </a:spcAft>
              <a:buNone/>
            </a:pPr>
            <a:r>
              <a:rPr b="1" lang="en-US" sz="3200">
                <a:solidFill>
                  <a:srgbClr val="1F3863"/>
                </a:solidFill>
                <a:latin typeface="Calibri"/>
                <a:ea typeface="Calibri"/>
                <a:cs typeface="Calibri"/>
                <a:sym typeface="Calibri"/>
              </a:rPr>
              <a:t>3. Personnel Attribute:</a:t>
            </a:r>
            <a:endParaRPr sz="3200">
              <a:solidFill>
                <a:schemeClr val="dk1"/>
              </a:solidFill>
              <a:latin typeface="Calibri"/>
              <a:ea typeface="Calibri"/>
              <a:cs typeface="Calibri"/>
              <a:sym typeface="Calibri"/>
            </a:endParaRPr>
          </a:p>
          <a:p>
            <a:pPr indent="0" lvl="1" marL="467360" marR="0" rtl="0" algn="l">
              <a:lnSpc>
                <a:spcPct val="100000"/>
              </a:lnSpc>
              <a:spcBef>
                <a:spcPts val="125"/>
              </a:spcBef>
              <a:spcAft>
                <a:spcPts val="0"/>
              </a:spcAft>
              <a:buNone/>
            </a:pPr>
            <a:r>
              <a:rPr b="0" i="0" lang="en-US" sz="2000" u="none" cap="none" strike="noStrike">
                <a:solidFill>
                  <a:schemeClr val="dk1"/>
                </a:solidFill>
                <a:latin typeface="Calibri"/>
                <a:ea typeface="Calibri"/>
                <a:cs typeface="Calibri"/>
                <a:sym typeface="Calibri"/>
              </a:rPr>
              <a:t>8. Analyst Capability: More ability less time</a:t>
            </a:r>
            <a:endParaRPr/>
          </a:p>
          <a:p>
            <a:pPr indent="0" lvl="1" marL="467360" marR="0" rtl="0" algn="l">
              <a:lnSpc>
                <a:spcPct val="100000"/>
              </a:lnSpc>
              <a:spcBef>
                <a:spcPts val="105"/>
              </a:spcBef>
              <a:spcAft>
                <a:spcPts val="0"/>
              </a:spcAft>
              <a:buNone/>
            </a:pPr>
            <a:r>
              <a:rPr b="0" i="0" lang="en-US" sz="2000" u="none" cap="none" strike="noStrike">
                <a:solidFill>
                  <a:schemeClr val="dk1"/>
                </a:solidFill>
                <a:latin typeface="Calibri"/>
                <a:ea typeface="Calibri"/>
                <a:cs typeface="Calibri"/>
                <a:sym typeface="Calibri"/>
              </a:rPr>
              <a:t>9. Programmer Capability: More ability less time</a:t>
            </a:r>
            <a:endParaRPr/>
          </a:p>
          <a:p>
            <a:pPr indent="0" lvl="1" marL="467360" marR="0" rtl="0" algn="l">
              <a:lnSpc>
                <a:spcPct val="100000"/>
              </a:lnSpc>
              <a:spcBef>
                <a:spcPts val="110"/>
              </a:spcBef>
              <a:spcAft>
                <a:spcPts val="0"/>
              </a:spcAft>
              <a:buNone/>
            </a:pPr>
            <a:r>
              <a:rPr b="0" i="0" lang="en-US" sz="2000" u="none" cap="none" strike="noStrike">
                <a:solidFill>
                  <a:schemeClr val="dk1"/>
                </a:solidFill>
                <a:latin typeface="Calibri"/>
                <a:ea typeface="Calibri"/>
                <a:cs typeface="Calibri"/>
                <a:sym typeface="Calibri"/>
              </a:rPr>
              <a:t>10.Personnel Continuity : More ability less time</a:t>
            </a:r>
            <a:endParaRPr b="0" i="0" sz="2000" u="none" cap="none" strike="noStrike">
              <a:solidFill>
                <a:schemeClr val="dk1"/>
              </a:solidFill>
              <a:latin typeface="Calibri"/>
              <a:ea typeface="Calibri"/>
              <a:cs typeface="Calibri"/>
              <a:sym typeface="Calibri"/>
            </a:endParaRPr>
          </a:p>
          <a:p>
            <a:pPr indent="0" lvl="1" marL="466723" marR="0" rtl="0" algn="l">
              <a:lnSpc>
                <a:spcPct val="100000"/>
              </a:lnSpc>
              <a:spcBef>
                <a:spcPts val="135"/>
              </a:spcBef>
              <a:spcAft>
                <a:spcPts val="0"/>
              </a:spcAft>
              <a:buNone/>
            </a:pPr>
            <a:r>
              <a:rPr b="0" i="0" lang="en-US" sz="2000" u="none" cap="none" strike="noStrike">
                <a:solidFill>
                  <a:schemeClr val="dk1"/>
                </a:solidFill>
                <a:latin typeface="Calibri"/>
                <a:ea typeface="Calibri"/>
                <a:cs typeface="Calibri"/>
                <a:sym typeface="Calibri"/>
              </a:rPr>
              <a:t>11. Application Experience : More experience less time</a:t>
            </a:r>
            <a:endParaRPr/>
          </a:p>
          <a:p>
            <a:pPr indent="0" lvl="1" marL="466725" marR="0" rtl="0" algn="l">
              <a:lnSpc>
                <a:spcPct val="100000"/>
              </a:lnSpc>
              <a:spcBef>
                <a:spcPts val="100"/>
              </a:spcBef>
              <a:spcAft>
                <a:spcPts val="0"/>
              </a:spcAft>
              <a:buNone/>
            </a:pPr>
            <a:r>
              <a:rPr b="0" i="0" lang="en-US" sz="2000" u="none" cap="none" strike="noStrike">
                <a:solidFill>
                  <a:schemeClr val="dk1"/>
                </a:solidFill>
                <a:latin typeface="Calibri"/>
                <a:ea typeface="Calibri"/>
                <a:cs typeface="Calibri"/>
                <a:sym typeface="Calibri"/>
              </a:rPr>
              <a:t>12. Virtual Machine Experience : More experience less time</a:t>
            </a:r>
            <a:endParaRPr/>
          </a:p>
          <a:p>
            <a:pPr indent="0" lvl="1" marL="466723" marR="0" rtl="0" algn="l">
              <a:lnSpc>
                <a:spcPct val="100000"/>
              </a:lnSpc>
              <a:spcBef>
                <a:spcPts val="110"/>
              </a:spcBef>
              <a:spcAft>
                <a:spcPts val="0"/>
              </a:spcAft>
              <a:buNone/>
            </a:pPr>
            <a:r>
              <a:rPr b="0" i="0" lang="en-US" sz="2000" u="none" cap="none" strike="noStrike">
                <a:solidFill>
                  <a:schemeClr val="dk1"/>
                </a:solidFill>
                <a:latin typeface="Calibri"/>
                <a:ea typeface="Calibri"/>
                <a:cs typeface="Calibri"/>
                <a:sym typeface="Calibri"/>
              </a:rPr>
              <a:t>13. Language &amp; Tool Experience : More experience less time</a:t>
            </a:r>
            <a:endParaRPr/>
          </a:p>
          <a:p>
            <a:pPr indent="0" lvl="0" marL="9525" marR="0" rtl="0" algn="l">
              <a:lnSpc>
                <a:spcPct val="100000"/>
              </a:lnSpc>
              <a:spcBef>
                <a:spcPts val="95"/>
              </a:spcBef>
              <a:spcAft>
                <a:spcPts val="0"/>
              </a:spcAft>
              <a:buNone/>
            </a:pPr>
            <a:r>
              <a:t/>
            </a:r>
            <a:endParaRPr b="1" sz="3200">
              <a:solidFill>
                <a:srgbClr val="1F4E79"/>
              </a:solidFill>
              <a:latin typeface="Calibri"/>
              <a:ea typeface="Calibri"/>
              <a:cs typeface="Calibri"/>
              <a:sym typeface="Calibri"/>
            </a:endParaRPr>
          </a:p>
          <a:p>
            <a:pPr indent="0" lvl="0" marL="9525" marR="0" rtl="0" algn="l">
              <a:lnSpc>
                <a:spcPct val="100000"/>
              </a:lnSpc>
              <a:spcBef>
                <a:spcPts val="95"/>
              </a:spcBef>
              <a:spcAft>
                <a:spcPts val="0"/>
              </a:spcAft>
              <a:buNone/>
            </a:pPr>
            <a:r>
              <a:rPr b="1" lang="en-US" sz="3200">
                <a:solidFill>
                  <a:srgbClr val="1F4E79"/>
                </a:solidFill>
                <a:latin typeface="Calibri"/>
                <a:ea typeface="Calibri"/>
                <a:cs typeface="Calibri"/>
                <a:sym typeface="Calibri"/>
              </a:rPr>
              <a:t>4. Project Attributes:</a:t>
            </a:r>
            <a:endParaRPr sz="3200">
              <a:solidFill>
                <a:schemeClr val="dk1"/>
              </a:solidFill>
              <a:latin typeface="Calibri"/>
              <a:ea typeface="Calibri"/>
              <a:cs typeface="Calibri"/>
              <a:sym typeface="Calibri"/>
            </a:endParaRPr>
          </a:p>
          <a:p>
            <a:pPr indent="0" lvl="1" marL="466725" marR="0" rtl="0" algn="l">
              <a:spcBef>
                <a:spcPts val="125"/>
              </a:spcBef>
              <a:spcAft>
                <a:spcPts val="0"/>
              </a:spcAft>
              <a:buNone/>
            </a:pPr>
            <a:r>
              <a:rPr b="0" i="0" lang="en-US" sz="2000" u="none" cap="none" strike="noStrike">
                <a:solidFill>
                  <a:schemeClr val="dk1"/>
                </a:solidFill>
                <a:latin typeface="Calibri"/>
                <a:ea typeface="Calibri"/>
                <a:cs typeface="Calibri"/>
                <a:sym typeface="Calibri"/>
              </a:rPr>
              <a:t>13. Use of Software tools More tools less time</a:t>
            </a:r>
            <a:endParaRPr/>
          </a:p>
          <a:p>
            <a:pPr indent="0" lvl="1" marL="466723" marR="0" rtl="0" algn="l">
              <a:spcBef>
                <a:spcPts val="110"/>
              </a:spcBef>
              <a:spcAft>
                <a:spcPts val="0"/>
              </a:spcAft>
              <a:buNone/>
            </a:pPr>
            <a:r>
              <a:rPr b="0" i="0" lang="en-US" sz="2000" u="none" cap="none" strike="noStrike">
                <a:solidFill>
                  <a:schemeClr val="dk1"/>
                </a:solidFill>
                <a:latin typeface="Calibri"/>
                <a:ea typeface="Calibri"/>
                <a:cs typeface="Calibri"/>
                <a:sym typeface="Calibri"/>
              </a:rPr>
              <a:t>14. (Application of SE methods )Multisite: More places more time</a:t>
            </a:r>
            <a:endParaRPr/>
          </a:p>
          <a:p>
            <a:pPr indent="0" lvl="1" marL="466723" marR="0" rtl="0" algn="l">
              <a:spcBef>
                <a:spcPts val="135"/>
              </a:spcBef>
              <a:spcAft>
                <a:spcPts val="0"/>
              </a:spcAft>
              <a:buNone/>
            </a:pPr>
            <a:r>
              <a:rPr b="0" i="0" lang="en-US" sz="2000" u="none" cap="none" strike="noStrike">
                <a:solidFill>
                  <a:schemeClr val="dk1"/>
                </a:solidFill>
                <a:latin typeface="Calibri"/>
                <a:ea typeface="Calibri"/>
                <a:cs typeface="Calibri"/>
                <a:sym typeface="Calibri"/>
              </a:rPr>
              <a:t>15. (Required development schedule) Normal or compressed</a:t>
            </a:r>
            <a:endParaRPr b="0" i="0" sz="2000" u="none" cap="none" strike="noStrike">
              <a:solidFill>
                <a:schemeClr val="dk1"/>
              </a:solidFill>
              <a:latin typeface="Calibri"/>
              <a:ea typeface="Calibri"/>
              <a:cs typeface="Calibri"/>
              <a:sym typeface="Calibri"/>
            </a:endParaRPr>
          </a:p>
          <a:p>
            <a:pPr indent="-203374" lvl="1" marL="818514" marR="0" rtl="0" algn="l">
              <a:spcBef>
                <a:spcPts val="110"/>
              </a:spcBef>
              <a:spcAft>
                <a:spcPts val="0"/>
              </a:spcAft>
              <a:buClr>
                <a:schemeClr val="dk1"/>
              </a:buClr>
              <a:buSzPts val="2327"/>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2024-07-22T09:11:52Z</dcterms:created>
  <dc:creator>kjscecomp</dc:creator>
</cp:coreProperties>
</file>